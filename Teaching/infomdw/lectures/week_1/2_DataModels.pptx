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63"/>
  </p:notesMasterIdLst>
  <p:sldIdLst>
    <p:sldId id="256" r:id="rId5"/>
    <p:sldId id="258" r:id="rId6"/>
    <p:sldId id="274" r:id="rId7"/>
    <p:sldId id="367" r:id="rId8"/>
    <p:sldId id="370" r:id="rId9"/>
    <p:sldId id="371" r:id="rId10"/>
    <p:sldId id="2233" r:id="rId11"/>
    <p:sldId id="259" r:id="rId12"/>
    <p:sldId id="398" r:id="rId13"/>
    <p:sldId id="2243" r:id="rId14"/>
    <p:sldId id="2245" r:id="rId15"/>
    <p:sldId id="2246" r:id="rId16"/>
    <p:sldId id="2247" r:id="rId17"/>
    <p:sldId id="2249" r:id="rId18"/>
    <p:sldId id="369" r:id="rId19"/>
    <p:sldId id="2244" r:id="rId20"/>
    <p:sldId id="2248" r:id="rId21"/>
    <p:sldId id="368" r:id="rId22"/>
    <p:sldId id="268" r:id="rId23"/>
    <p:sldId id="2250" r:id="rId24"/>
    <p:sldId id="273" r:id="rId25"/>
    <p:sldId id="2252" r:id="rId26"/>
    <p:sldId id="269" r:id="rId27"/>
    <p:sldId id="2234" r:id="rId28"/>
    <p:sldId id="290" r:id="rId29"/>
    <p:sldId id="270" r:id="rId30"/>
    <p:sldId id="278" r:id="rId31"/>
    <p:sldId id="276" r:id="rId32"/>
    <p:sldId id="279" r:id="rId33"/>
    <p:sldId id="2253" r:id="rId34"/>
    <p:sldId id="2254" r:id="rId35"/>
    <p:sldId id="2255" r:id="rId36"/>
    <p:sldId id="2256" r:id="rId37"/>
    <p:sldId id="2251" r:id="rId38"/>
    <p:sldId id="264" r:id="rId39"/>
    <p:sldId id="265" r:id="rId40"/>
    <p:sldId id="2257" r:id="rId41"/>
    <p:sldId id="261" r:id="rId42"/>
    <p:sldId id="262" r:id="rId43"/>
    <p:sldId id="263" r:id="rId44"/>
    <p:sldId id="266" r:id="rId45"/>
    <p:sldId id="267" r:id="rId46"/>
    <p:sldId id="2258" r:id="rId47"/>
    <p:sldId id="275" r:id="rId48"/>
    <p:sldId id="272" r:id="rId49"/>
    <p:sldId id="2266" r:id="rId50"/>
    <p:sldId id="2259" r:id="rId51"/>
    <p:sldId id="282" r:id="rId52"/>
    <p:sldId id="2265" r:id="rId53"/>
    <p:sldId id="2260" r:id="rId54"/>
    <p:sldId id="2269" r:id="rId55"/>
    <p:sldId id="2261" r:id="rId56"/>
    <p:sldId id="2262" r:id="rId57"/>
    <p:sldId id="2267" r:id="rId58"/>
    <p:sldId id="2263" r:id="rId59"/>
    <p:sldId id="2268" r:id="rId60"/>
    <p:sldId id="363" r:id="rId61"/>
    <p:sldId id="910" r:id="rId6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58" autoAdjust="0"/>
    <p:restoredTop sz="94658"/>
  </p:normalViewPr>
  <p:slideViewPr>
    <p:cSldViewPr snapToGrid="0">
      <p:cViewPr varScale="1">
        <p:scale>
          <a:sx n="107" d="100"/>
          <a:sy n="107" d="100"/>
        </p:scale>
        <p:origin x="1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15-04-2026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noProof="0" dirty="0">
              <a:solidFill>
                <a:schemeClr val="tx1"/>
              </a:solidFill>
              <a:effectLst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911CA4-2CAE-4AA3-9455-6345782AD4A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5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7408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6F6A5-1236-40E7-B937-7650038E63C3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7013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1B7BEC7-5220-3745-A4DF-98E77540D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0"/>
            <a:ext cx="297497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E399F5B-578D-D246-9C6F-7A3BC4543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936625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15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69F83645-D497-C74B-BCFB-14F83552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F88EBECF-3541-A14B-8543-426C7CBB3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ADE11B4-F8D7-BC45-8929-158FD804B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1042E50C-ACFE-5544-BF82-8F843E3433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</p:spTree>
    <p:extLst>
      <p:ext uri="{BB962C8B-B14F-4D97-AF65-F5344CB8AC3E}">
        <p14:creationId xmlns:p14="http://schemas.microsoft.com/office/powerpoint/2010/main" val="166762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1B7BEC7-5220-3745-A4DF-98E77540D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0"/>
            <a:ext cx="297497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E399F5B-578D-D246-9C6F-7A3BC4543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936625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15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69F83645-D497-C74B-BCFB-14F83552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F88EBECF-3541-A14B-8543-426C7CBB3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2ADE11B4-F8D7-BC45-8929-158FD804B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1042E50C-ACFE-5544-BF82-8F843E3433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373875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A2E9693-0383-4549-AFF4-8584B3529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0"/>
            <a:ext cx="2974975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78AED30-A9BA-4348-BC06-844D7218D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defTabSz="936625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16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25C20BD-E458-5C4C-97D1-B5652798B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E2240DD3-2022-8F4D-A871-C2A039C4A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5F4F7A86-568F-3245-920A-4BE0AAA9F5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2308F6B2-F049-B741-A626-5822958D7B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29200" cy="4114800"/>
          </a:xfrm>
          <a:ln/>
        </p:spPr>
        <p:txBody>
          <a:bodyPr lIns="93663" tIns="46038" rIns="93663" bIns="46038"/>
          <a:lstStyle/>
          <a:p>
            <a:pPr defTabSz="936625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4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09B1295-9E2E-3347-BFF1-03312CE7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A77F18E-8309-F446-AE65-819A4576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10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98663FFD-7C7B-2C42-B7A3-BBA8478A3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2A2FD12D-3EA7-0E41-8301-DFA919C0A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2AD16782-8AC2-BC4B-A042-89D20E3D1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5E3E5547-6ED2-BD48-AA56-3E1CAF2D0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22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09B1295-9E2E-3347-BFF1-03312CE7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A77F18E-8309-F446-AE65-819A4576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10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98663FFD-7C7B-2C42-B7A3-BBA8478A3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2A2FD12D-3EA7-0E41-8301-DFA919C0A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2AD16782-8AC2-BC4B-A042-89D20E3D1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5E3E5547-6ED2-BD48-AA56-3E1CAF2D0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3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09B1295-9E2E-3347-BFF1-03312CE74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A77F18E-8309-F446-AE65-819A45763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>
              <a:defRPr/>
            </a:pPr>
            <a:r>
              <a:rPr lang="en-US" sz="1000" i="1">
                <a:latin typeface="Times New Roman" charset="0"/>
                <a:ea typeface="ＭＳ Ｐゴシック" charset="0"/>
              </a:rPr>
              <a:t>10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98663FFD-7C7B-2C42-B7A3-BBA8478A3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2A2FD12D-3EA7-0E41-8301-DFA919C0A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2AD16782-8AC2-BC4B-A042-89D20E3D1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5E3E5547-6ED2-BD48-AA56-3E1CAF2D0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70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58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93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emf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tiff"/><Relationship Id="rId13" Type="http://schemas.openxmlformats.org/officeDocument/2006/relationships/image" Target="../media/image29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3.png"/><Relationship Id="rId12" Type="http://schemas.openxmlformats.org/officeDocument/2006/relationships/image" Target="../media/image28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22.jp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7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7.pn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8.emf"/><Relationship Id="rId5" Type="http://schemas.openxmlformats.org/officeDocument/2006/relationships/image" Target="../media/image39.jpg"/><Relationship Id="rId10" Type="http://schemas.openxmlformats.org/officeDocument/2006/relationships/image" Target="../media/image45.svg"/><Relationship Id="rId4" Type="http://schemas.openxmlformats.org/officeDocument/2006/relationships/image" Target="../media/image38.jpg"/><Relationship Id="rId9" Type="http://schemas.openxmlformats.org/officeDocument/2006/relationships/image" Target="../media/image44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8203" y="5316032"/>
            <a:ext cx="5038747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Qahtan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INFOMDW: Data Wrangling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40E628-8C67-4F61-A3CE-7B1142BE8C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154068"/>
              </p:ext>
            </p:extLst>
          </p:nvPr>
        </p:nvGraphicFramePr>
        <p:xfrm>
          <a:off x="6763195" y="550403"/>
          <a:ext cx="4911970" cy="6077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057764" imgH="6257805" progId="Acrobat.Document.DC">
                  <p:embed/>
                </p:oleObj>
              </mc:Choice>
              <mc:Fallback>
                <p:oleObj name="Acrobat Document" r:id="rId2" imgW="5057764" imgH="6257805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A40E628-8C67-4F61-A3CE-7B1142BE8C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63195" y="550403"/>
                        <a:ext cx="4911970" cy="6077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>
            <a:extLst>
              <a:ext uri="{FF2B5EF4-FFF2-40B4-BE49-F238E27FC236}">
                <a16:creationId xmlns:a16="http://schemas.microsoft.com/office/drawing/2014/main" id="{36849FCC-587A-D1B3-9A3B-021C2F6191FE}"/>
              </a:ext>
            </a:extLst>
          </p:cNvPr>
          <p:cNvSpPr txBox="1">
            <a:spLocks noChangeArrowheads="1"/>
          </p:cNvSpPr>
          <p:nvPr/>
        </p:nvSpPr>
        <p:spPr>
          <a:xfrm>
            <a:off x="300110" y="4126006"/>
            <a:ext cx="6692827" cy="199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Database System Concepts (7</a:t>
            </a:r>
            <a:r>
              <a:rPr lang="en-US" sz="2400" baseline="30000" dirty="0"/>
              <a:t>th</a:t>
            </a:r>
            <a:r>
              <a:rPr lang="en-US" sz="2400" dirty="0"/>
              <a:t> Edition)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/>
              <a:t>	CH 1, 3.2, 3.9</a:t>
            </a:r>
          </a:p>
          <a:p>
            <a:pPr marL="0" indent="0"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/>
              <a:t>Office Hours: upon request by email</a:t>
            </a:r>
            <a:endParaRPr lang="en-US" sz="2400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10B2257-2676-E44D-2F81-93638E322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574" y="1257268"/>
            <a:ext cx="6692826" cy="294661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Reading Material for Today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7540C9-FF66-8DE0-9C10-84DFC6EF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A5E2B7-A042-F73B-7AB4-A4903847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90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Introduction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36EE7-556C-F4DF-9FC1-9E0707CD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1DF1F-276E-BF5D-E471-D057413B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9740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521C3E0B-EB05-EB4C-8769-6D582E91E966}"/>
              </a:ext>
            </a:extLst>
          </p:cNvPr>
          <p:cNvSpPr txBox="1"/>
          <p:nvPr/>
        </p:nvSpPr>
        <p:spPr>
          <a:xfrm>
            <a:off x="10681650" y="6604084"/>
            <a:ext cx="15103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/>
              <a:t>© Yannis </a:t>
            </a:r>
            <a:r>
              <a:rPr lang="en-US" sz="1050" dirty="0" err="1"/>
              <a:t>Velegrakis</a:t>
            </a:r>
            <a:r>
              <a:rPr lang="en-US" sz="1050" dirty="0"/>
              <a:t>, UU</a:t>
            </a:r>
          </a:p>
        </p:txBody>
      </p:sp>
      <p:pic>
        <p:nvPicPr>
          <p:cNvPr id="29" name="Picture 28" descr="A picture containing music&#10;&#10;Description automatically generated">
            <a:extLst>
              <a:ext uri="{FF2B5EF4-FFF2-40B4-BE49-F238E27FC236}">
                <a16:creationId xmlns:a16="http://schemas.microsoft.com/office/drawing/2014/main" id="{53C58E4A-73C5-8D48-934F-200FB80FB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463" y="1913087"/>
            <a:ext cx="5607050" cy="303182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A9D01F-435E-1F9E-511A-52F63079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AD4D6-03A7-9293-4E55-40B9FA22F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368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Collect Huge Amount of Data</a:t>
            </a:r>
            <a:endParaRPr lang="nl-NL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AAB26-966D-5E46-97E3-D45D7419BB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259" y="1730781"/>
            <a:ext cx="2314575" cy="13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E9FF2-F00B-904B-AD63-2A0199054E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182" y="1730781"/>
            <a:ext cx="1964948" cy="1371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8F9D2D-5647-3546-9B08-DA07731CD66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2656" r="64789" b="24844"/>
          <a:stretch/>
        </p:blipFill>
        <p:spPr>
          <a:xfrm>
            <a:off x="1930902" y="4414260"/>
            <a:ext cx="2514600" cy="2057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07B95-CBF0-8C44-97C6-B772255875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8667" y="1893277"/>
            <a:ext cx="1541711" cy="13716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B659B1-8CC8-2F4C-A906-1F4DE2AFBA51}"/>
              </a:ext>
            </a:extLst>
          </p:cNvPr>
          <p:cNvSpPr/>
          <p:nvPr/>
        </p:nvSpPr>
        <p:spPr>
          <a:xfrm>
            <a:off x="4758966" y="3432487"/>
            <a:ext cx="1981200" cy="764095"/>
          </a:xfrm>
          <a:prstGeom prst="roundRect">
            <a:avLst/>
          </a:prstGeom>
          <a:gradFill>
            <a:gsLst>
              <a:gs pos="0">
                <a:schemeClr val="bg1"/>
              </a:gs>
              <a:gs pos="35000">
                <a:schemeClr val="bg1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Data Streams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D1AE1F-88DE-774E-9776-0FCE8841BA12}"/>
              </a:ext>
            </a:extLst>
          </p:cNvPr>
          <p:cNvSpPr/>
          <p:nvPr/>
        </p:nvSpPr>
        <p:spPr>
          <a:xfrm>
            <a:off x="4870171" y="4987211"/>
            <a:ext cx="1075287" cy="764095"/>
          </a:xfrm>
          <a:prstGeom prst="roundRect">
            <a:avLst/>
          </a:prstGeom>
          <a:gradFill>
            <a:gsLst>
              <a:gs pos="0">
                <a:schemeClr val="bg1"/>
              </a:gs>
              <a:gs pos="35000">
                <a:schemeClr val="bg1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Static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38131F-BD61-2649-B4BB-22FD8402D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612884" y="3096564"/>
            <a:ext cx="222413" cy="3615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EDDE1C-6F57-0A4C-BB64-28E0B2B43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119916" flipH="1">
            <a:off x="4188996" y="2665411"/>
            <a:ext cx="225372" cy="10226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981C9B-5D29-694B-8C6A-407E497B2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558246">
            <a:off x="7122395" y="2612846"/>
            <a:ext cx="223872" cy="13040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01F0E0-3827-DA43-A465-D17E6C888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644876">
            <a:off x="4436980" y="5030700"/>
            <a:ext cx="216727" cy="67055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8A59B-F97B-D747-8CF5-CC30945C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7958" y="3826658"/>
            <a:ext cx="5180823" cy="239714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v"/>
            </a:pPr>
            <a:r>
              <a:rPr lang="en-US" altLang="en-US" sz="20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Merck (a pharma company) has: </a:t>
            </a:r>
          </a:p>
          <a:p>
            <a:pPr marL="619125" lvl="1" indent="-219075">
              <a:lnSpc>
                <a:spcPct val="100000"/>
              </a:lnSpc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~ 4000 Oracle databases </a:t>
            </a:r>
          </a:p>
          <a:p>
            <a:pPr marL="619125" lvl="1" indent="-219075">
              <a:lnSpc>
                <a:spcPct val="100000"/>
              </a:lnSpc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a data lake</a:t>
            </a:r>
          </a:p>
          <a:p>
            <a:pPr marL="619125" lvl="1" indent="-219075">
              <a:lnSpc>
                <a:spcPct val="100000"/>
              </a:lnSpc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untold files </a:t>
            </a:r>
          </a:p>
          <a:p>
            <a:pPr marL="619125" lvl="1" indent="-219075">
              <a:lnSpc>
                <a:spcPct val="100000"/>
              </a:lnSpc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untold spreadsheets</a:t>
            </a:r>
          </a:p>
          <a:p>
            <a:pPr marL="619125" lvl="1" indent="-219075">
              <a:lnSpc>
                <a:spcPct val="100000"/>
              </a:lnSpc>
              <a:buFontTx/>
              <a:buChar char="•"/>
            </a:pPr>
            <a:r>
              <a:rPr lang="en-US" altLang="en-US" sz="2000" dirty="0">
                <a:solidFill>
                  <a:srgbClr val="000000"/>
                </a:solidFill>
                <a:ea typeface="Verdana" charset="0"/>
                <a:cs typeface="Verdana" charset="0"/>
                <a:sym typeface="Verdana" charset="0"/>
              </a:rPr>
              <a:t>Plus they are interested in public data from the web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DCC847-EEF4-4449-A181-F57A51AFB4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232732" y="4972078"/>
            <a:ext cx="216727" cy="79359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9BCEB-E2CE-4E9E-7705-854EFA820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43D68-9141-FA48-4194-0D14D474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14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Value from the Data</a:t>
            </a:r>
            <a:endParaRPr lang="nl-NL" sz="3200" b="1" dirty="0"/>
          </a:p>
        </p:txBody>
      </p:sp>
      <p:pic>
        <p:nvPicPr>
          <p:cNvPr id="3" name="Shape 105">
            <a:extLst>
              <a:ext uri="{FF2B5EF4-FFF2-40B4-BE49-F238E27FC236}">
                <a16:creationId xmlns:a16="http://schemas.microsoft.com/office/drawing/2014/main" id="{85499235-21D7-A145-9022-BE0422AE3B6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2" t="11574" r="13251" b="57478"/>
          <a:stretch>
            <a:fillRect/>
          </a:stretch>
        </p:blipFill>
        <p:spPr bwMode="auto">
          <a:xfrm>
            <a:off x="9683632" y="2360107"/>
            <a:ext cx="2338388" cy="159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710D447-120D-AC61-B2EE-8563D11533E7}"/>
              </a:ext>
            </a:extLst>
          </p:cNvPr>
          <p:cNvGrpSpPr/>
          <p:nvPr/>
        </p:nvGrpSpPr>
        <p:grpSpPr>
          <a:xfrm>
            <a:off x="395921" y="2377482"/>
            <a:ext cx="2217738" cy="1704975"/>
            <a:chOff x="2496864" y="2388368"/>
            <a:chExt cx="2217738" cy="1704975"/>
          </a:xfrm>
        </p:grpSpPr>
        <p:pic>
          <p:nvPicPr>
            <p:cNvPr id="4" name="Shape 106">
              <a:extLst>
                <a:ext uri="{FF2B5EF4-FFF2-40B4-BE49-F238E27FC236}">
                  <a16:creationId xmlns:a16="http://schemas.microsoft.com/office/drawing/2014/main" id="{D86AB12A-8566-E648-A8C2-6255531857D3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453"/>
            <a:stretch>
              <a:fillRect/>
            </a:stretch>
          </p:blipFill>
          <p:spPr bwMode="auto">
            <a:xfrm>
              <a:off x="2496864" y="2388368"/>
              <a:ext cx="2217738" cy="170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Shape 107">
              <a:extLst>
                <a:ext uri="{FF2B5EF4-FFF2-40B4-BE49-F238E27FC236}">
                  <a16:creationId xmlns:a16="http://schemas.microsoft.com/office/drawing/2014/main" id="{09FB33D1-1BC3-6E41-AAF9-202F0D8A994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75" t="19753" r="52547" b="60233"/>
            <a:stretch>
              <a:fillRect/>
            </a:stretch>
          </p:blipFill>
          <p:spPr bwMode="auto">
            <a:xfrm>
              <a:off x="2710270" y="3523290"/>
              <a:ext cx="315912" cy="334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Shape 108">
            <a:extLst>
              <a:ext uri="{FF2B5EF4-FFF2-40B4-BE49-F238E27FC236}">
                <a16:creationId xmlns:a16="http://schemas.microsoft.com/office/drawing/2014/main" id="{11EE6C4A-C9B9-9B49-B40E-BF90D1F2A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2673" y="2825016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pic>
        <p:nvPicPr>
          <p:cNvPr id="12" name="Picture 11" descr="A graphic of a graph and diagram&#10;&#10;Description automatically generated with medium confidence">
            <a:extLst>
              <a:ext uri="{FF2B5EF4-FFF2-40B4-BE49-F238E27FC236}">
                <a16:creationId xmlns:a16="http://schemas.microsoft.com/office/drawing/2014/main" id="{3F623BA2-3DA9-EF8C-C167-4D9779690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636" y="2449834"/>
            <a:ext cx="2708410" cy="1604984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E6D349B-B6AA-898F-7034-54CBD00DB56D}"/>
              </a:ext>
            </a:extLst>
          </p:cNvPr>
          <p:cNvGrpSpPr/>
          <p:nvPr/>
        </p:nvGrpSpPr>
        <p:grpSpPr>
          <a:xfrm>
            <a:off x="3571128" y="2123574"/>
            <a:ext cx="2197834" cy="2197834"/>
            <a:chOff x="3571128" y="2123574"/>
            <a:chExt cx="2197834" cy="219783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FA98C3C-13ED-1752-F193-15C05CE12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1128" y="2123574"/>
              <a:ext cx="2197834" cy="2197834"/>
            </a:xfrm>
            <a:prstGeom prst="rect">
              <a:avLst/>
            </a:prstGeom>
          </p:spPr>
        </p:pic>
        <p:pic>
          <p:nvPicPr>
            <p:cNvPr id="15" name="Graphic 14" descr="Branching diagram outline">
              <a:extLst>
                <a:ext uri="{FF2B5EF4-FFF2-40B4-BE49-F238E27FC236}">
                  <a16:creationId xmlns:a16="http://schemas.microsoft.com/office/drawing/2014/main" id="{36B328CC-F6F8-07DE-F6E1-8FCA8F3E08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3759911" y="2990586"/>
              <a:ext cx="331304" cy="331304"/>
            </a:xfrm>
            <a:prstGeom prst="rect">
              <a:avLst/>
            </a:prstGeom>
          </p:spPr>
        </p:pic>
        <p:pic>
          <p:nvPicPr>
            <p:cNvPr id="16" name="Graphic 15" descr="CheckList outline">
              <a:extLst>
                <a:ext uri="{FF2B5EF4-FFF2-40B4-BE49-F238E27FC236}">
                  <a16:creationId xmlns:a16="http://schemas.microsoft.com/office/drawing/2014/main" id="{35186E2A-37CC-9BEB-B7DF-7F5E2CD903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210247" y="3047840"/>
              <a:ext cx="364258" cy="364258"/>
            </a:xfrm>
            <a:prstGeom prst="rect">
              <a:avLst/>
            </a:prstGeom>
          </p:spPr>
        </p:pic>
        <p:pic>
          <p:nvPicPr>
            <p:cNvPr id="20" name="Graphic 19" descr="Mop and bucket with solid fill">
              <a:extLst>
                <a:ext uri="{FF2B5EF4-FFF2-40B4-BE49-F238E27FC236}">
                  <a16:creationId xmlns:a16="http://schemas.microsoft.com/office/drawing/2014/main" id="{01AB7E64-271E-5C93-FCA3-69BF85435D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98451" y="3543920"/>
              <a:ext cx="298888" cy="298888"/>
            </a:xfrm>
            <a:prstGeom prst="rect">
              <a:avLst/>
            </a:prstGeom>
          </p:spPr>
        </p:pic>
        <p:pic>
          <p:nvPicPr>
            <p:cNvPr id="26" name="Graphic 25" descr="Document with solid fill">
              <a:extLst>
                <a:ext uri="{FF2B5EF4-FFF2-40B4-BE49-F238E27FC236}">
                  <a16:creationId xmlns:a16="http://schemas.microsoft.com/office/drawing/2014/main" id="{572F3632-7E66-B419-D9DD-F6B6BD4370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13946" y="2360107"/>
              <a:ext cx="403658" cy="403658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3A3E9CB-33E8-50E3-8175-4DBB7BBEEEBB}"/>
                </a:ext>
              </a:extLst>
            </p:cNvPr>
            <p:cNvGrpSpPr/>
            <p:nvPr/>
          </p:nvGrpSpPr>
          <p:grpSpPr>
            <a:xfrm>
              <a:off x="4813946" y="3585333"/>
              <a:ext cx="480971" cy="497124"/>
              <a:chOff x="5683774" y="2994822"/>
              <a:chExt cx="914400" cy="914400"/>
            </a:xfrm>
          </p:grpSpPr>
          <p:pic>
            <p:nvPicPr>
              <p:cNvPr id="28" name="Graphic 27" descr="World outline">
                <a:extLst>
                  <a:ext uri="{FF2B5EF4-FFF2-40B4-BE49-F238E27FC236}">
                    <a16:creationId xmlns:a16="http://schemas.microsoft.com/office/drawing/2014/main" id="{846E17AD-B865-8CE7-89EC-A0307C28A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83774" y="2994822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D40F9A75-CA10-7290-F7A5-559474F4A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1482" y="3222491"/>
                <a:ext cx="504000" cy="74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8369BF3-5BB1-324C-2E6C-CF477C364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8231" y="3653348"/>
                <a:ext cx="504000" cy="747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Shape 108">
            <a:extLst>
              <a:ext uri="{FF2B5EF4-FFF2-40B4-BE49-F238E27FC236}">
                <a16:creationId xmlns:a16="http://schemas.microsoft.com/office/drawing/2014/main" id="{816DF86D-C2E5-DA03-3800-4C9964303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038" y="2844557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39" name="Shape 108">
            <a:extLst>
              <a:ext uri="{FF2B5EF4-FFF2-40B4-BE49-F238E27FC236}">
                <a16:creationId xmlns:a16="http://schemas.microsoft.com/office/drawing/2014/main" id="{988178CC-14C1-C828-78D4-7B6A44E8C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3753" y="2844558"/>
            <a:ext cx="851675" cy="687388"/>
          </a:xfrm>
          <a:prstGeom prst="rightArrow">
            <a:avLst>
              <a:gd name="adj1" fmla="val 50000"/>
              <a:gd name="adj2" fmla="val 50077"/>
            </a:avLst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/>
          <a:lstStyle>
            <a:lvl1pPr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/>
            <a:endParaRPr lang="en-US" altLang="en-US" sz="180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Calibri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72F6B0-8FE4-9F7A-40B7-454671662516}"/>
              </a:ext>
            </a:extLst>
          </p:cNvPr>
          <p:cNvSpPr txBox="1"/>
          <p:nvPr/>
        </p:nvSpPr>
        <p:spPr>
          <a:xfrm>
            <a:off x="9753909" y="1867900"/>
            <a:ext cx="21978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Information</a:t>
            </a:r>
          </a:p>
          <a:p>
            <a:pPr algn="ctr"/>
            <a:endParaRPr lang="en-US" sz="2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CFA1E0-1096-9D87-49F1-07D6F08BF966}"/>
              </a:ext>
            </a:extLst>
          </p:cNvPr>
          <p:cNvSpPr txBox="1"/>
          <p:nvPr/>
        </p:nvSpPr>
        <p:spPr>
          <a:xfrm>
            <a:off x="274280" y="1631980"/>
            <a:ext cx="219783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tx1"/>
                </a:solidFill>
              </a:rPr>
              <a:t>Data</a:t>
            </a:r>
          </a:p>
          <a:p>
            <a:pPr algn="ctr"/>
            <a:endParaRPr lang="en-US" sz="2600" dirty="0"/>
          </a:p>
        </p:txBody>
      </p:sp>
      <p:pic>
        <p:nvPicPr>
          <p:cNvPr id="44" name="Graphic 43" descr="Eye with solid fill">
            <a:extLst>
              <a:ext uri="{FF2B5EF4-FFF2-40B4-BE49-F238E27FC236}">
                <a16:creationId xmlns:a16="http://schemas.microsoft.com/office/drawing/2014/main" id="{AF06AAAD-14C6-CFFE-9F1A-9FE1C3D3C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16667" y="2353554"/>
            <a:ext cx="513442" cy="513442"/>
          </a:xfrm>
          <a:prstGeom prst="rect">
            <a:avLst/>
          </a:prstGeom>
        </p:spPr>
      </p:pic>
      <p:pic>
        <p:nvPicPr>
          <p:cNvPr id="46" name="Graphic 45" descr="Cause And Effect with solid fill">
            <a:extLst>
              <a:ext uri="{FF2B5EF4-FFF2-40B4-BE49-F238E27FC236}">
                <a16:creationId xmlns:a16="http://schemas.microsoft.com/office/drawing/2014/main" id="{8E0A7CDB-6B82-7BBC-A65A-62572801A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30701" y="3693364"/>
            <a:ext cx="388036" cy="388036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22EBE5A-4B56-8E67-716D-14BC0409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D4E45-0CE0-80C8-AE8B-DB5E5D7E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419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1C4D2BA-2097-2446-A903-427F73D3A9AD}"/>
              </a:ext>
            </a:extLst>
          </p:cNvPr>
          <p:cNvSpPr/>
          <p:nvPr/>
        </p:nvSpPr>
        <p:spPr bwMode="auto">
          <a:xfrm>
            <a:off x="2695389" y="2845809"/>
            <a:ext cx="833717" cy="2101103"/>
          </a:xfrm>
          <a:prstGeom prst="ellipse">
            <a:avLst/>
          </a:prstGeom>
          <a:noFill/>
          <a:ln w="88900" cap="flat" cmpd="sng" algn="ctr">
            <a:solidFill>
              <a:srgbClr val="9A02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FC981F-5ECF-CA45-A348-D564C1A2BBB3}"/>
              </a:ext>
            </a:extLst>
          </p:cNvPr>
          <p:cNvSpPr/>
          <p:nvPr/>
        </p:nvSpPr>
        <p:spPr bwMode="auto">
          <a:xfrm>
            <a:off x="3128750" y="2823508"/>
            <a:ext cx="658905" cy="2175027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4D0C5BB-DE3D-1F43-9D8F-54F3EB22DB51}"/>
              </a:ext>
            </a:extLst>
          </p:cNvPr>
          <p:cNvSpPr/>
          <p:nvPr/>
        </p:nvSpPr>
        <p:spPr bwMode="auto">
          <a:xfrm>
            <a:off x="3054169" y="1628162"/>
            <a:ext cx="2275601" cy="1258849"/>
          </a:xfrm>
          <a:prstGeom prst="parallelogram">
            <a:avLst>
              <a:gd name="adj" fmla="val 62306"/>
            </a:avLst>
          </a:prstGeom>
          <a:solidFill>
            <a:srgbClr val="9A02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A25BE-DFBC-944F-893B-93949D8FAC57}"/>
              </a:ext>
            </a:extLst>
          </p:cNvPr>
          <p:cNvSpPr txBox="1"/>
          <p:nvPr/>
        </p:nvSpPr>
        <p:spPr>
          <a:xfrm rot="18086065">
            <a:off x="3518947" y="1675289"/>
            <a:ext cx="13067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Acquisition</a:t>
            </a:r>
            <a:r>
              <a:rPr lang="it-IT" b="1" dirty="0">
                <a:solidFill>
                  <a:schemeClr val="bg1"/>
                </a:solidFill>
              </a:rPr>
              <a:t> </a:t>
            </a:r>
          </a:p>
          <a:p>
            <a:r>
              <a:rPr lang="it-IT" b="1" dirty="0">
                <a:solidFill>
                  <a:schemeClr val="bg1"/>
                </a:solidFill>
              </a:rPr>
              <a:t>&amp; </a:t>
            </a:r>
          </a:p>
          <a:p>
            <a:r>
              <a:rPr lang="it-IT" b="1" dirty="0">
                <a:solidFill>
                  <a:schemeClr val="bg1"/>
                </a:solidFill>
              </a:rPr>
              <a:t>Storage</a:t>
            </a:r>
          </a:p>
          <a:p>
            <a:pPr algn="l"/>
            <a:endParaRPr lang="it-IT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F50B606B-051C-BF46-9EEA-31F82A77F4C5}"/>
              </a:ext>
            </a:extLst>
          </p:cNvPr>
          <p:cNvSpPr/>
          <p:nvPr/>
        </p:nvSpPr>
        <p:spPr bwMode="auto">
          <a:xfrm>
            <a:off x="4417897" y="1627929"/>
            <a:ext cx="2356308" cy="1259081"/>
          </a:xfrm>
          <a:prstGeom prst="parallelogram">
            <a:avLst>
              <a:gd name="adj" fmla="val 62306"/>
            </a:avLst>
          </a:prstGeom>
          <a:solidFill>
            <a:srgbClr val="F633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9E496-08A5-8B41-A42B-6B6913267FDF}"/>
              </a:ext>
            </a:extLst>
          </p:cNvPr>
          <p:cNvSpPr txBox="1"/>
          <p:nvPr/>
        </p:nvSpPr>
        <p:spPr>
          <a:xfrm rot="18086065">
            <a:off x="4442062" y="220363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Cleaning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ED16A2-8B56-7143-965F-BDCE0C3309A3}"/>
              </a:ext>
            </a:extLst>
          </p:cNvPr>
          <p:cNvSpPr txBox="1"/>
          <p:nvPr/>
        </p:nvSpPr>
        <p:spPr>
          <a:xfrm rot="18086065">
            <a:off x="4695551" y="2121719"/>
            <a:ext cx="126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Annotation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E624C2-E1F9-BA46-AEB5-1C10C6C97DF5}"/>
              </a:ext>
            </a:extLst>
          </p:cNvPr>
          <p:cNvSpPr txBox="1"/>
          <p:nvPr/>
        </p:nvSpPr>
        <p:spPr>
          <a:xfrm rot="18086065">
            <a:off x="5037809" y="2108572"/>
            <a:ext cx="1240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Integration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D4BD38-2912-DD4E-8D9A-BEF56B3DE9C4}"/>
              </a:ext>
            </a:extLst>
          </p:cNvPr>
          <p:cNvSpPr txBox="1"/>
          <p:nvPr/>
        </p:nvSpPr>
        <p:spPr>
          <a:xfrm rot="18086065">
            <a:off x="5315301" y="2063609"/>
            <a:ext cx="133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Aggregation</a:t>
            </a:r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3FE6A3CB-47E1-C345-A76D-4D67964C4220}"/>
              </a:ext>
            </a:extLst>
          </p:cNvPr>
          <p:cNvSpPr/>
          <p:nvPr/>
        </p:nvSpPr>
        <p:spPr bwMode="auto">
          <a:xfrm>
            <a:off x="5893562" y="1626648"/>
            <a:ext cx="2526973" cy="1260866"/>
          </a:xfrm>
          <a:prstGeom prst="parallelogram">
            <a:avLst>
              <a:gd name="adj" fmla="val 62306"/>
            </a:avLst>
          </a:prstGeom>
          <a:solidFill>
            <a:srgbClr val="1F688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79A670-F2BE-AA4A-8239-BA1B4F153541}"/>
              </a:ext>
            </a:extLst>
          </p:cNvPr>
          <p:cNvSpPr txBox="1"/>
          <p:nvPr/>
        </p:nvSpPr>
        <p:spPr>
          <a:xfrm rot="18086065">
            <a:off x="6088353" y="2096289"/>
            <a:ext cx="127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Exploration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6BF3D39-DD01-9242-B0F3-F53908CA3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775" y="3218032"/>
            <a:ext cx="945373" cy="58038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92E949F-2C5E-0F44-A36E-C082C08035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458" y="3574739"/>
            <a:ext cx="564776" cy="56477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A3042E0-7EA4-004C-ABFE-3AB0196DD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986" y="4283974"/>
            <a:ext cx="567687" cy="56768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57FF7DE-C827-8647-AD48-317655A1C0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56" y="2836220"/>
            <a:ext cx="891697" cy="604278"/>
          </a:xfrm>
          <a:prstGeom prst="rect">
            <a:avLst/>
          </a:prstGeom>
        </p:spPr>
      </p:pic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E4A63BC-A30A-1B4B-9E16-5DDD6D639EA4}"/>
              </a:ext>
            </a:extLst>
          </p:cNvPr>
          <p:cNvCxnSpPr>
            <a:cxnSpLocks/>
            <a:stCxn id="62" idx="3"/>
          </p:cNvCxnSpPr>
          <p:nvPr/>
        </p:nvCxnSpPr>
        <p:spPr bwMode="auto">
          <a:xfrm>
            <a:off x="2610052" y="3138360"/>
            <a:ext cx="406016" cy="80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F8B778A-F59F-D74A-B20F-ED7A880BB575}"/>
              </a:ext>
            </a:extLst>
          </p:cNvPr>
          <p:cNvCxnSpPr>
            <a:cxnSpLocks/>
            <a:stCxn id="58" idx="3"/>
          </p:cNvCxnSpPr>
          <p:nvPr/>
        </p:nvCxnSpPr>
        <p:spPr bwMode="auto">
          <a:xfrm>
            <a:off x="2370234" y="3857127"/>
            <a:ext cx="6458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198EE9F-D69C-2248-BCB8-E70573B2CAA6}"/>
              </a:ext>
            </a:extLst>
          </p:cNvPr>
          <p:cNvCxnSpPr>
            <a:cxnSpLocks/>
            <a:stCxn id="60" idx="3"/>
          </p:cNvCxnSpPr>
          <p:nvPr/>
        </p:nvCxnSpPr>
        <p:spPr bwMode="auto">
          <a:xfrm>
            <a:off x="2420672" y="4567817"/>
            <a:ext cx="62310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1554F72-52B6-4743-91EA-5AAAD667BD53}"/>
              </a:ext>
            </a:extLst>
          </p:cNvPr>
          <p:cNvSpPr txBox="1"/>
          <p:nvPr/>
        </p:nvSpPr>
        <p:spPr>
          <a:xfrm rot="18086065">
            <a:off x="6894627" y="2155250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&amp;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F202FC-90F4-BA42-B96B-374D6C8552B3}"/>
              </a:ext>
            </a:extLst>
          </p:cNvPr>
          <p:cNvSpPr txBox="1"/>
          <p:nvPr/>
        </p:nvSpPr>
        <p:spPr>
          <a:xfrm rot="18086065">
            <a:off x="6976824" y="2118043"/>
            <a:ext cx="111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Querying </a:t>
            </a:r>
          </a:p>
        </p:txBody>
      </p:sp>
      <p:sp>
        <p:nvSpPr>
          <p:cNvPr id="85" name="Right Brace 84">
            <a:extLst>
              <a:ext uri="{FF2B5EF4-FFF2-40B4-BE49-F238E27FC236}">
                <a16:creationId xmlns:a16="http://schemas.microsoft.com/office/drawing/2014/main" id="{C4CD0C17-0CD6-8844-91DF-212B215D38FB}"/>
              </a:ext>
            </a:extLst>
          </p:cNvPr>
          <p:cNvSpPr/>
          <p:nvPr/>
        </p:nvSpPr>
        <p:spPr bwMode="auto">
          <a:xfrm rot="5400000">
            <a:off x="5188598" y="3041343"/>
            <a:ext cx="326994" cy="4479697"/>
          </a:xfrm>
          <a:prstGeom prst="rightBrace">
            <a:avLst>
              <a:gd name="adj1" fmla="val 26264"/>
              <a:gd name="adj2" fmla="val 49682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0E6C85-AF5C-1745-A691-B83FC6524B7F}"/>
              </a:ext>
            </a:extLst>
          </p:cNvPr>
          <p:cNvSpPr txBox="1"/>
          <p:nvPr/>
        </p:nvSpPr>
        <p:spPr>
          <a:xfrm>
            <a:off x="1439917" y="5821181"/>
            <a:ext cx="8177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sz="1400" dirty="0"/>
              <a:t>Data scientists, according to interviews and expert estimates, spend </a:t>
            </a:r>
            <a:r>
              <a:rPr kumimoji="1" lang="en-US" sz="1400" b="1" dirty="0"/>
              <a:t>50% to 80%</a:t>
            </a:r>
            <a:r>
              <a:rPr kumimoji="1" lang="en-US" sz="1400" dirty="0"/>
              <a:t> of their time mired in the mundane labor of collecting and preparing unruly digital data, before it can be explored for useful nuggets</a:t>
            </a:r>
          </a:p>
          <a:p>
            <a:pPr algn="just"/>
            <a:endParaRPr kumimoji="1" lang="en-US" sz="1400" dirty="0"/>
          </a:p>
          <a:p>
            <a:pPr algn="r"/>
            <a:r>
              <a:rPr lang="it-IT" sz="1400" i="1" dirty="0"/>
              <a:t>(New York Times)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A7D63879-DECF-1A43-B49B-CE8A04D93010}"/>
              </a:ext>
            </a:extLst>
          </p:cNvPr>
          <p:cNvSpPr/>
          <p:nvPr/>
        </p:nvSpPr>
        <p:spPr bwMode="auto">
          <a:xfrm>
            <a:off x="7547710" y="1626648"/>
            <a:ext cx="2314304" cy="1260379"/>
          </a:xfrm>
          <a:prstGeom prst="parallelogram">
            <a:avLst>
              <a:gd name="adj" fmla="val 62306"/>
            </a:avLst>
          </a:prstGeom>
          <a:solidFill>
            <a:srgbClr val="6633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17AB3D-50F7-134C-B351-1D38EAB292A4}"/>
              </a:ext>
            </a:extLst>
          </p:cNvPr>
          <p:cNvSpPr txBox="1"/>
          <p:nvPr/>
        </p:nvSpPr>
        <p:spPr>
          <a:xfrm rot="18086065">
            <a:off x="7752063" y="2091307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</a:rPr>
              <a:t>Modeling &amp;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A25AF9-B76B-6D4D-8993-2109D1487467}"/>
              </a:ext>
            </a:extLst>
          </p:cNvPr>
          <p:cNvSpPr txBox="1"/>
          <p:nvPr/>
        </p:nvSpPr>
        <p:spPr>
          <a:xfrm rot="18086065">
            <a:off x="8236095" y="2076779"/>
            <a:ext cx="1069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solidFill>
                  <a:schemeClr val="bg1"/>
                </a:solidFill>
              </a:rPr>
              <a:t>Data </a:t>
            </a:r>
          </a:p>
          <a:p>
            <a:pPr algn="l"/>
            <a:r>
              <a:rPr lang="en-US" b="1" dirty="0">
                <a:solidFill>
                  <a:schemeClr val="bg1"/>
                </a:solidFill>
              </a:rPr>
              <a:t>  Analysis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143C26-8CAB-A94D-A850-DE80E95C1232}"/>
              </a:ext>
            </a:extLst>
          </p:cNvPr>
          <p:cNvCxnSpPr>
            <a:cxnSpLocks/>
            <a:stCxn id="2" idx="4"/>
            <a:endCxn id="7" idx="4"/>
          </p:cNvCxnSpPr>
          <p:nvPr/>
        </p:nvCxnSpPr>
        <p:spPr bwMode="auto">
          <a:xfrm>
            <a:off x="3112247" y="4946912"/>
            <a:ext cx="1372596" cy="10085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9A02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8480A49-F3DF-BE49-9B98-0F0E4D24142E}"/>
              </a:ext>
            </a:extLst>
          </p:cNvPr>
          <p:cNvSpPr/>
          <p:nvPr/>
        </p:nvSpPr>
        <p:spPr bwMode="auto">
          <a:xfrm>
            <a:off x="4067985" y="2845808"/>
            <a:ext cx="833717" cy="2111188"/>
          </a:xfrm>
          <a:prstGeom prst="ellipse">
            <a:avLst/>
          </a:prstGeom>
          <a:noFill/>
          <a:ln w="88900" cap="flat" cmpd="sng" algn="ctr">
            <a:solidFill>
              <a:srgbClr val="F633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16844E-DE3D-1F48-B341-B824FD0831B6}"/>
              </a:ext>
            </a:extLst>
          </p:cNvPr>
          <p:cNvSpPr/>
          <p:nvPr/>
        </p:nvSpPr>
        <p:spPr bwMode="auto">
          <a:xfrm>
            <a:off x="4483846" y="2887008"/>
            <a:ext cx="658905" cy="2111526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B2384F-FBB7-4E40-8513-C2FB49781823}"/>
              </a:ext>
            </a:extLst>
          </p:cNvPr>
          <p:cNvCxnSpPr>
            <a:cxnSpLocks/>
            <a:stCxn id="7" idx="4"/>
            <a:endCxn id="13" idx="4"/>
          </p:cNvCxnSpPr>
          <p:nvPr/>
        </p:nvCxnSpPr>
        <p:spPr bwMode="auto">
          <a:xfrm>
            <a:off x="4484844" y="4956996"/>
            <a:ext cx="1478599" cy="0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F6330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E3DB22A-DB8C-EF46-845A-6C0F69E5851B}"/>
              </a:ext>
            </a:extLst>
          </p:cNvPr>
          <p:cNvSpPr/>
          <p:nvPr/>
        </p:nvSpPr>
        <p:spPr bwMode="auto">
          <a:xfrm>
            <a:off x="5546584" y="2845808"/>
            <a:ext cx="833717" cy="2111188"/>
          </a:xfrm>
          <a:prstGeom prst="ellipse">
            <a:avLst/>
          </a:prstGeom>
          <a:noFill/>
          <a:ln w="88900" cap="flat" cmpd="sng" algn="ctr">
            <a:solidFill>
              <a:srgbClr val="1F688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3F16CA-3B77-D642-876F-915EC4F27C4C}"/>
              </a:ext>
            </a:extLst>
          </p:cNvPr>
          <p:cNvSpPr/>
          <p:nvPr/>
        </p:nvSpPr>
        <p:spPr bwMode="auto">
          <a:xfrm>
            <a:off x="5970216" y="2887009"/>
            <a:ext cx="658905" cy="2111525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DDDC016-5FAF-614F-B9C2-71214FCE76CB}"/>
              </a:ext>
            </a:extLst>
          </p:cNvPr>
          <p:cNvCxnSpPr>
            <a:cxnSpLocks/>
            <a:stCxn id="13" idx="4"/>
            <a:endCxn id="14" idx="4"/>
          </p:cNvCxnSpPr>
          <p:nvPr/>
        </p:nvCxnSpPr>
        <p:spPr bwMode="auto">
          <a:xfrm flipV="1">
            <a:off x="5963442" y="4936828"/>
            <a:ext cx="1671090" cy="20169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1F6888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3D041B2-ECAE-C64F-8E49-3EF93E0DA2BD}"/>
              </a:ext>
            </a:extLst>
          </p:cNvPr>
          <p:cNvSpPr/>
          <p:nvPr/>
        </p:nvSpPr>
        <p:spPr bwMode="auto">
          <a:xfrm>
            <a:off x="7217674" y="2845809"/>
            <a:ext cx="833717" cy="2091019"/>
          </a:xfrm>
          <a:prstGeom prst="ellipse">
            <a:avLst/>
          </a:prstGeom>
          <a:noFill/>
          <a:ln w="88900" cap="flat" cmpd="sng" algn="ctr">
            <a:solidFill>
              <a:srgbClr val="66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DFBAF36-1565-C64D-95BB-A9C83B74BAFB}"/>
              </a:ext>
            </a:extLst>
          </p:cNvPr>
          <p:cNvSpPr/>
          <p:nvPr/>
        </p:nvSpPr>
        <p:spPr bwMode="auto">
          <a:xfrm>
            <a:off x="7646745" y="2887008"/>
            <a:ext cx="658905" cy="2078812"/>
          </a:xfrm>
          <a:prstGeom prst="rect">
            <a:avLst/>
          </a:prstGeom>
          <a:solidFill>
            <a:schemeClr val="bg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1EDE14C-E942-9446-BA5B-AF8A7A598977}"/>
              </a:ext>
            </a:extLst>
          </p:cNvPr>
          <p:cNvCxnSpPr>
            <a:cxnSpLocks/>
            <a:stCxn id="14" idx="4"/>
            <a:endCxn id="15" idx="4"/>
          </p:cNvCxnSpPr>
          <p:nvPr/>
        </p:nvCxnSpPr>
        <p:spPr bwMode="auto">
          <a:xfrm flipV="1">
            <a:off x="7634532" y="4914525"/>
            <a:ext cx="1442200" cy="22302"/>
          </a:xfrm>
          <a:prstGeom prst="line">
            <a:avLst/>
          </a:prstGeom>
          <a:solidFill>
            <a:schemeClr val="accent1"/>
          </a:solidFill>
          <a:ln w="88900" cap="flat" cmpd="sng" algn="ctr">
            <a:solidFill>
              <a:srgbClr val="6633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5A01627-B2E9-8D48-86EA-AF2DD05DDE9D}"/>
              </a:ext>
            </a:extLst>
          </p:cNvPr>
          <p:cNvSpPr/>
          <p:nvPr/>
        </p:nvSpPr>
        <p:spPr bwMode="auto">
          <a:xfrm>
            <a:off x="8659874" y="2845809"/>
            <a:ext cx="833717" cy="2068717"/>
          </a:xfrm>
          <a:prstGeom prst="ellipse">
            <a:avLst/>
          </a:prstGeom>
          <a:noFill/>
          <a:ln w="88900" cap="flat" cmpd="sng" algn="ctr">
            <a:solidFill>
              <a:srgbClr val="A47D1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it-IT" sz="1400">
              <a:latin typeface="Verdana" pitchFamily="34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A078B6-0234-9F40-8B78-E6C573B00FF2}"/>
              </a:ext>
            </a:extLst>
          </p:cNvPr>
          <p:cNvCxnSpPr>
            <a:cxnSpLocks/>
            <a:endCxn id="43" idx="1"/>
          </p:cNvCxnSpPr>
          <p:nvPr/>
        </p:nvCxnSpPr>
        <p:spPr bwMode="auto">
          <a:xfrm>
            <a:off x="9114978" y="3858927"/>
            <a:ext cx="517052" cy="565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59E9554A-B7EB-904E-B3C0-1AFBDC2C85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030" y="3508224"/>
            <a:ext cx="916346" cy="71271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E0EC82D3-94F8-734B-9F1D-843E39ED88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047" y="2994474"/>
            <a:ext cx="777237" cy="777237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5871CEB6-9ACE-A24F-A017-FEB47D11D8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472" y="4051338"/>
            <a:ext cx="751296" cy="75129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4ACCE9-8EBA-184E-B170-427FCDC52F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697" y="3393731"/>
            <a:ext cx="998268" cy="84852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66608EB-9F59-5E44-B5B2-72553CA2831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475" y="3193319"/>
            <a:ext cx="787262" cy="62981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7BE2261-6445-2345-93F6-C73B705DE1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944" y="3691098"/>
            <a:ext cx="987314" cy="958003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774812AD-E232-CA4B-AB09-34C89456660B}"/>
              </a:ext>
            </a:extLst>
          </p:cNvPr>
          <p:cNvSpPr txBox="1"/>
          <p:nvPr/>
        </p:nvSpPr>
        <p:spPr>
          <a:xfrm>
            <a:off x="4211092" y="5470740"/>
            <a:ext cx="1651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000" b="1" dirty="0"/>
              <a:t>Data </a:t>
            </a:r>
            <a:r>
              <a:rPr lang="en-US" sz="2000" b="1" dirty="0"/>
              <a:t>Curation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BFE9F35-3044-1E4E-9411-4264E7D81481}"/>
              </a:ext>
            </a:extLst>
          </p:cNvPr>
          <p:cNvCxnSpPr>
            <a:cxnSpLocks/>
          </p:cNvCxnSpPr>
          <p:nvPr/>
        </p:nvCxnSpPr>
        <p:spPr bwMode="auto">
          <a:xfrm>
            <a:off x="2749574" y="3136212"/>
            <a:ext cx="4884959" cy="102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BF40C56-C5F6-A142-8F24-6C3F6D760817}"/>
              </a:ext>
            </a:extLst>
          </p:cNvPr>
          <p:cNvCxnSpPr>
            <a:cxnSpLocks/>
          </p:cNvCxnSpPr>
          <p:nvPr/>
        </p:nvCxnSpPr>
        <p:spPr bwMode="auto">
          <a:xfrm flipV="1">
            <a:off x="2509756" y="3798418"/>
            <a:ext cx="5082189" cy="565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C1D32E-F535-9848-B0E3-106ECD430AAB}"/>
              </a:ext>
            </a:extLst>
          </p:cNvPr>
          <p:cNvCxnSpPr>
            <a:cxnSpLocks/>
          </p:cNvCxnSpPr>
          <p:nvPr/>
        </p:nvCxnSpPr>
        <p:spPr bwMode="auto">
          <a:xfrm>
            <a:off x="2560194" y="4565669"/>
            <a:ext cx="498751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lg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0" name="Picture 49" descr="A picture containing person, indoor, wall, woman&#10;&#10;Description automatically generated">
            <a:extLst>
              <a:ext uri="{FF2B5EF4-FFF2-40B4-BE49-F238E27FC236}">
                <a16:creationId xmlns:a16="http://schemas.microsoft.com/office/drawing/2014/main" id="{67A8F6B6-3A0C-974F-B7AA-03F772F235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252" y="2893346"/>
            <a:ext cx="3511876" cy="231598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9042F81-0031-6842-853D-0CA3DACC996B}"/>
              </a:ext>
            </a:extLst>
          </p:cNvPr>
          <p:cNvSpPr txBox="1"/>
          <p:nvPr/>
        </p:nvSpPr>
        <p:spPr>
          <a:xfrm>
            <a:off x="10681650" y="6604084"/>
            <a:ext cx="15103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dirty="0"/>
              <a:t>© Yannis </a:t>
            </a:r>
            <a:r>
              <a:rPr lang="en-US" sz="1050" dirty="0" err="1"/>
              <a:t>Velegrakis</a:t>
            </a:r>
            <a:r>
              <a:rPr lang="en-US" sz="1050" dirty="0"/>
              <a:t>, UU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F4F7A33D-1DD7-0D4A-B6B6-F4D97A929FC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96637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Processing Pipeline</a:t>
            </a:r>
            <a:endParaRPr lang="nl-NL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98F96-67DC-FE00-A0E6-4EDEF65D8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8B1B-632C-2FED-CC78-03BBCA3B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7</a:t>
            </a:fld>
            <a:endParaRPr lang="nl-N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115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/>
      <p:bldP spid="10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OSEMN Framework</a:t>
            </a:r>
            <a:endParaRPr lang="nl-NL" sz="32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FE769C5-70C4-4EA4-9926-8752C5FCAB05}"/>
              </a:ext>
            </a:extLst>
          </p:cNvPr>
          <p:cNvGrpSpPr/>
          <p:nvPr/>
        </p:nvGrpSpPr>
        <p:grpSpPr>
          <a:xfrm>
            <a:off x="383043" y="1717588"/>
            <a:ext cx="1927669" cy="3965104"/>
            <a:chOff x="593110" y="1717588"/>
            <a:chExt cx="1927669" cy="396510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F405D1C-6C97-4BA9-ACB6-F56379E5C198}"/>
                </a:ext>
              </a:extLst>
            </p:cNvPr>
            <p:cNvGrpSpPr/>
            <p:nvPr/>
          </p:nvGrpSpPr>
          <p:grpSpPr>
            <a:xfrm>
              <a:off x="593110" y="1717588"/>
              <a:ext cx="1927669" cy="3965104"/>
              <a:chOff x="593110" y="1717588"/>
              <a:chExt cx="1927669" cy="3965104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93A768A-36C6-4BFC-A0DC-86EE9BDCF302}"/>
                  </a:ext>
                </a:extLst>
              </p:cNvPr>
              <p:cNvSpPr/>
              <p:nvPr/>
            </p:nvSpPr>
            <p:spPr>
              <a:xfrm>
                <a:off x="593125" y="1717588"/>
                <a:ext cx="1927654" cy="3965104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2" name="Wave 11">
                <a:extLst>
                  <a:ext uri="{FF2B5EF4-FFF2-40B4-BE49-F238E27FC236}">
                    <a16:creationId xmlns:a16="http://schemas.microsoft.com/office/drawing/2014/main" id="{91A3317F-88AD-46B9-B734-B4847F54EF7D}"/>
                  </a:ext>
                </a:extLst>
              </p:cNvPr>
              <p:cNvSpPr/>
              <p:nvPr/>
            </p:nvSpPr>
            <p:spPr>
              <a:xfrm rot="10800000" flipV="1">
                <a:off x="593122" y="2100648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3" name="Wave 12">
                <a:extLst>
                  <a:ext uri="{FF2B5EF4-FFF2-40B4-BE49-F238E27FC236}">
                    <a16:creationId xmlns:a16="http://schemas.microsoft.com/office/drawing/2014/main" id="{129B4720-AA6B-4839-A30B-CCBB095399CE}"/>
                  </a:ext>
                </a:extLst>
              </p:cNvPr>
              <p:cNvSpPr/>
              <p:nvPr/>
            </p:nvSpPr>
            <p:spPr>
              <a:xfrm rot="10800000" flipV="1">
                <a:off x="593121" y="4012466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4" name="Wave 13">
                <a:extLst>
                  <a:ext uri="{FF2B5EF4-FFF2-40B4-BE49-F238E27FC236}">
                    <a16:creationId xmlns:a16="http://schemas.microsoft.com/office/drawing/2014/main" id="{F974C78F-A1DB-49A7-8D14-DA89B1B9D228}"/>
                  </a:ext>
                </a:extLst>
              </p:cNvPr>
              <p:cNvSpPr/>
              <p:nvPr/>
            </p:nvSpPr>
            <p:spPr>
              <a:xfrm rot="10800000" flipV="1">
                <a:off x="593110" y="2908273"/>
                <a:ext cx="1902941" cy="1960285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Gather data from relevant sources</a:t>
                </a:r>
                <a:endParaRPr lang="nl-NL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5F628D6-ED83-40EF-8E09-5C5D6BDE3A71}"/>
                  </a:ext>
                </a:extLst>
              </p:cNvPr>
              <p:cNvSpPr/>
              <p:nvPr/>
            </p:nvSpPr>
            <p:spPr>
              <a:xfrm>
                <a:off x="593118" y="2520778"/>
                <a:ext cx="1927654" cy="535780"/>
              </a:xfrm>
              <a:prstGeom prst="rect">
                <a:avLst/>
              </a:prstGeom>
              <a:gradFill flip="none" rotWithShape="1">
                <a:gsLst>
                  <a:gs pos="0">
                    <a:srgbClr val="00B0F0"/>
                  </a:gs>
                  <a:gs pos="80000">
                    <a:srgbClr val="00B0F0"/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Obtain</a:t>
                </a:r>
                <a:endParaRPr lang="nl-NL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68951D2-F803-412F-BA76-AAFC9D4CE63B}"/>
                  </a:ext>
                </a:extLst>
              </p:cNvPr>
              <p:cNvSpPr/>
              <p:nvPr/>
            </p:nvSpPr>
            <p:spPr>
              <a:xfrm>
                <a:off x="593118" y="1717588"/>
                <a:ext cx="1927654" cy="3965104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962EC64-E8C8-482D-AA3C-4D4111931128}"/>
                </a:ext>
              </a:extLst>
            </p:cNvPr>
            <p:cNvSpPr txBox="1"/>
            <p:nvPr/>
          </p:nvSpPr>
          <p:spPr>
            <a:xfrm>
              <a:off x="838200" y="1816443"/>
              <a:ext cx="6198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</a:rPr>
                <a:t>O</a:t>
              </a:r>
              <a:endParaRPr lang="nl-NL" sz="2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12ACC74-52CF-468F-A8FD-457BFD1648C4}"/>
              </a:ext>
            </a:extLst>
          </p:cNvPr>
          <p:cNvGrpSpPr/>
          <p:nvPr/>
        </p:nvGrpSpPr>
        <p:grpSpPr>
          <a:xfrm>
            <a:off x="2702000" y="1717588"/>
            <a:ext cx="2026511" cy="3965104"/>
            <a:chOff x="494268" y="1717588"/>
            <a:chExt cx="2026511" cy="396510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7375734-9C8D-4F44-9473-945AC28E4A2C}"/>
                </a:ext>
              </a:extLst>
            </p:cNvPr>
            <p:cNvGrpSpPr/>
            <p:nvPr/>
          </p:nvGrpSpPr>
          <p:grpSpPr>
            <a:xfrm>
              <a:off x="494268" y="1717588"/>
              <a:ext cx="2026511" cy="3965104"/>
              <a:chOff x="494268" y="1717588"/>
              <a:chExt cx="2026511" cy="3965104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6967D2BE-DF1B-443B-9D57-E77566441321}"/>
                  </a:ext>
                </a:extLst>
              </p:cNvPr>
              <p:cNvSpPr/>
              <p:nvPr/>
            </p:nvSpPr>
            <p:spPr>
              <a:xfrm>
                <a:off x="593125" y="1717588"/>
                <a:ext cx="1927654" cy="3965104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3" name="Wave 22">
                <a:extLst>
                  <a:ext uri="{FF2B5EF4-FFF2-40B4-BE49-F238E27FC236}">
                    <a16:creationId xmlns:a16="http://schemas.microsoft.com/office/drawing/2014/main" id="{76D7DADA-90B7-475A-BE04-C48F5B1B1A70}"/>
                  </a:ext>
                </a:extLst>
              </p:cNvPr>
              <p:cNvSpPr/>
              <p:nvPr/>
            </p:nvSpPr>
            <p:spPr>
              <a:xfrm rot="10800000" flipV="1">
                <a:off x="593122" y="2100648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4" name="Wave 23">
                <a:extLst>
                  <a:ext uri="{FF2B5EF4-FFF2-40B4-BE49-F238E27FC236}">
                    <a16:creationId xmlns:a16="http://schemas.microsoft.com/office/drawing/2014/main" id="{37D0D835-C46D-458C-89C5-31DD3A3AD0E6}"/>
                  </a:ext>
                </a:extLst>
              </p:cNvPr>
              <p:cNvSpPr/>
              <p:nvPr/>
            </p:nvSpPr>
            <p:spPr>
              <a:xfrm rot="10800000" flipV="1">
                <a:off x="593121" y="4012466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5" name="Wave 24">
                <a:extLst>
                  <a:ext uri="{FF2B5EF4-FFF2-40B4-BE49-F238E27FC236}">
                    <a16:creationId xmlns:a16="http://schemas.microsoft.com/office/drawing/2014/main" id="{399E3E47-AFE6-49C5-855A-F66C9FF46ADD}"/>
                  </a:ext>
                </a:extLst>
              </p:cNvPr>
              <p:cNvSpPr/>
              <p:nvPr/>
            </p:nvSpPr>
            <p:spPr>
              <a:xfrm rot="10800000" flipV="1">
                <a:off x="494268" y="2908273"/>
                <a:ext cx="2026503" cy="1960285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Clean data to formats that machine understands</a:t>
                </a:r>
                <a:endParaRPr lang="nl-NL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3D35858-80B8-4AAB-9AC6-BF42E5E71D01}"/>
                  </a:ext>
                </a:extLst>
              </p:cNvPr>
              <p:cNvSpPr/>
              <p:nvPr/>
            </p:nvSpPr>
            <p:spPr>
              <a:xfrm>
                <a:off x="593118" y="2520778"/>
                <a:ext cx="1927654" cy="53578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8000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Scrub</a:t>
                </a:r>
                <a:endParaRPr lang="nl-NL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848ABE4D-63AE-4E82-B312-BBD0B03680DB}"/>
                  </a:ext>
                </a:extLst>
              </p:cNvPr>
              <p:cNvSpPr/>
              <p:nvPr/>
            </p:nvSpPr>
            <p:spPr>
              <a:xfrm>
                <a:off x="593118" y="1717588"/>
                <a:ext cx="1927654" cy="3965104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FFC2B7-D721-4FF1-B075-B9A6030AE9B1}"/>
                </a:ext>
              </a:extLst>
            </p:cNvPr>
            <p:cNvSpPr txBox="1"/>
            <p:nvPr/>
          </p:nvSpPr>
          <p:spPr>
            <a:xfrm>
              <a:off x="838200" y="1816443"/>
              <a:ext cx="6198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</a:rPr>
                <a:t>S</a:t>
              </a:r>
              <a:endParaRPr lang="nl-NL" sz="2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4610C3A-441F-4248-9EAA-85441F79672C}"/>
              </a:ext>
            </a:extLst>
          </p:cNvPr>
          <p:cNvGrpSpPr/>
          <p:nvPr/>
        </p:nvGrpSpPr>
        <p:grpSpPr>
          <a:xfrm>
            <a:off x="5025067" y="1717588"/>
            <a:ext cx="2026511" cy="3965104"/>
            <a:chOff x="494268" y="1717588"/>
            <a:chExt cx="2026511" cy="396510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7BAA8CB-FF05-499D-B346-BF04CFA012AB}"/>
                </a:ext>
              </a:extLst>
            </p:cNvPr>
            <p:cNvGrpSpPr/>
            <p:nvPr/>
          </p:nvGrpSpPr>
          <p:grpSpPr>
            <a:xfrm>
              <a:off x="494268" y="1717588"/>
              <a:ext cx="2026511" cy="3965104"/>
              <a:chOff x="494268" y="1717588"/>
              <a:chExt cx="2026511" cy="3965104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44F779DF-91CF-4343-96F5-4ACBA04AD472}"/>
                  </a:ext>
                </a:extLst>
              </p:cNvPr>
              <p:cNvSpPr/>
              <p:nvPr/>
            </p:nvSpPr>
            <p:spPr>
              <a:xfrm>
                <a:off x="593125" y="1717588"/>
                <a:ext cx="1927654" cy="3965104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2" name="Wave 31">
                <a:extLst>
                  <a:ext uri="{FF2B5EF4-FFF2-40B4-BE49-F238E27FC236}">
                    <a16:creationId xmlns:a16="http://schemas.microsoft.com/office/drawing/2014/main" id="{0BF134F7-4D64-4A6D-9423-08EEC318A4FE}"/>
                  </a:ext>
                </a:extLst>
              </p:cNvPr>
              <p:cNvSpPr/>
              <p:nvPr/>
            </p:nvSpPr>
            <p:spPr>
              <a:xfrm rot="10800000" flipV="1">
                <a:off x="593122" y="2100648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3" name="Wave 32">
                <a:extLst>
                  <a:ext uri="{FF2B5EF4-FFF2-40B4-BE49-F238E27FC236}">
                    <a16:creationId xmlns:a16="http://schemas.microsoft.com/office/drawing/2014/main" id="{965887C0-C0DC-4831-96B5-F96B290FF013}"/>
                  </a:ext>
                </a:extLst>
              </p:cNvPr>
              <p:cNvSpPr/>
              <p:nvPr/>
            </p:nvSpPr>
            <p:spPr>
              <a:xfrm rot="10800000" flipV="1">
                <a:off x="593121" y="4012466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34" name="Wave 33">
                <a:extLst>
                  <a:ext uri="{FF2B5EF4-FFF2-40B4-BE49-F238E27FC236}">
                    <a16:creationId xmlns:a16="http://schemas.microsoft.com/office/drawing/2014/main" id="{93DBCE3F-9F17-447E-AEAD-2BC942181D0D}"/>
                  </a:ext>
                </a:extLst>
              </p:cNvPr>
              <p:cNvSpPr/>
              <p:nvPr/>
            </p:nvSpPr>
            <p:spPr>
              <a:xfrm rot="10800000" flipV="1">
                <a:off x="494268" y="2908273"/>
                <a:ext cx="2026503" cy="1960285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Find significant patterns and trends using statistical methods</a:t>
                </a:r>
                <a:endParaRPr lang="nl-NL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9576B69-D534-418C-98CC-B6E0EC530419}"/>
                  </a:ext>
                </a:extLst>
              </p:cNvPr>
              <p:cNvSpPr/>
              <p:nvPr/>
            </p:nvSpPr>
            <p:spPr>
              <a:xfrm>
                <a:off x="593118" y="2520778"/>
                <a:ext cx="1927654" cy="53578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75000"/>
                    </a:schemeClr>
                  </a:gs>
                  <a:gs pos="80000">
                    <a:schemeClr val="accent1">
                      <a:lumMod val="75000"/>
                    </a:schemeClr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Explore</a:t>
                </a:r>
                <a:endParaRPr lang="nl-NL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C46DFF5A-9B4C-4B1A-BB28-8E812B90F4E7}"/>
                  </a:ext>
                </a:extLst>
              </p:cNvPr>
              <p:cNvSpPr/>
              <p:nvPr/>
            </p:nvSpPr>
            <p:spPr>
              <a:xfrm>
                <a:off x="593118" y="1717588"/>
                <a:ext cx="1927654" cy="3965104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AD231DC-A21B-41EC-9D50-6D103855720B}"/>
                </a:ext>
              </a:extLst>
            </p:cNvPr>
            <p:cNvSpPr txBox="1"/>
            <p:nvPr/>
          </p:nvSpPr>
          <p:spPr>
            <a:xfrm>
              <a:off x="838200" y="1816443"/>
              <a:ext cx="6198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</a:rPr>
                <a:t>E</a:t>
              </a:r>
              <a:endParaRPr lang="nl-NL" sz="2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B861C7-1A6D-4EAE-B3D4-A238B76B013D}"/>
              </a:ext>
            </a:extLst>
          </p:cNvPr>
          <p:cNvGrpSpPr/>
          <p:nvPr/>
        </p:nvGrpSpPr>
        <p:grpSpPr>
          <a:xfrm>
            <a:off x="7407858" y="1717588"/>
            <a:ext cx="2131556" cy="3965104"/>
            <a:chOff x="494266" y="1717588"/>
            <a:chExt cx="2026513" cy="3965104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118AA64-D225-47BA-890C-869E23F7596F}"/>
                </a:ext>
              </a:extLst>
            </p:cNvPr>
            <p:cNvGrpSpPr/>
            <p:nvPr/>
          </p:nvGrpSpPr>
          <p:grpSpPr>
            <a:xfrm>
              <a:off x="494266" y="1717588"/>
              <a:ext cx="2026513" cy="3965104"/>
              <a:chOff x="494266" y="1717588"/>
              <a:chExt cx="2026513" cy="3965104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59455FAA-56E8-467F-9C54-813518DC9A91}"/>
                  </a:ext>
                </a:extLst>
              </p:cNvPr>
              <p:cNvSpPr/>
              <p:nvPr/>
            </p:nvSpPr>
            <p:spPr>
              <a:xfrm>
                <a:off x="593125" y="1717588"/>
                <a:ext cx="1927654" cy="3965104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41" name="Wave 40">
                <a:extLst>
                  <a:ext uri="{FF2B5EF4-FFF2-40B4-BE49-F238E27FC236}">
                    <a16:creationId xmlns:a16="http://schemas.microsoft.com/office/drawing/2014/main" id="{A03FC945-7821-4BD9-80E5-02086B0A16EF}"/>
                  </a:ext>
                </a:extLst>
              </p:cNvPr>
              <p:cNvSpPr/>
              <p:nvPr/>
            </p:nvSpPr>
            <p:spPr>
              <a:xfrm rot="10800000" flipV="1">
                <a:off x="593122" y="2100648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42" name="Wave 41">
                <a:extLst>
                  <a:ext uri="{FF2B5EF4-FFF2-40B4-BE49-F238E27FC236}">
                    <a16:creationId xmlns:a16="http://schemas.microsoft.com/office/drawing/2014/main" id="{7E0D10CA-7653-4259-87A6-AF0B346422F6}"/>
                  </a:ext>
                </a:extLst>
              </p:cNvPr>
              <p:cNvSpPr/>
              <p:nvPr/>
            </p:nvSpPr>
            <p:spPr>
              <a:xfrm rot="10800000" flipV="1">
                <a:off x="593121" y="4012466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43" name="Wave 42">
                <a:extLst>
                  <a:ext uri="{FF2B5EF4-FFF2-40B4-BE49-F238E27FC236}">
                    <a16:creationId xmlns:a16="http://schemas.microsoft.com/office/drawing/2014/main" id="{1E4E8508-133C-4282-9FC7-C033782F2D39}"/>
                  </a:ext>
                </a:extLst>
              </p:cNvPr>
              <p:cNvSpPr/>
              <p:nvPr/>
            </p:nvSpPr>
            <p:spPr>
              <a:xfrm rot="10800000" flipV="1">
                <a:off x="494266" y="2908273"/>
                <a:ext cx="2026505" cy="1960285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Construct models to predict and forecast</a:t>
                </a:r>
                <a:endParaRPr lang="nl-NL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8E4377D-1B50-4896-9A5C-B3BFBBFACC5A}"/>
                  </a:ext>
                </a:extLst>
              </p:cNvPr>
              <p:cNvSpPr/>
              <p:nvPr/>
            </p:nvSpPr>
            <p:spPr>
              <a:xfrm>
                <a:off x="593118" y="2520778"/>
                <a:ext cx="1927654" cy="53578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80000">
                    <a:schemeClr val="accent6">
                      <a:lumMod val="75000"/>
                    </a:schemeClr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Model</a:t>
                </a:r>
                <a:endParaRPr lang="nl-NL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906881B-46FE-49F7-A959-B958D962B9B5}"/>
                  </a:ext>
                </a:extLst>
              </p:cNvPr>
              <p:cNvSpPr/>
              <p:nvPr/>
            </p:nvSpPr>
            <p:spPr>
              <a:xfrm>
                <a:off x="593118" y="1717588"/>
                <a:ext cx="1927654" cy="3965104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AD79ACB-4D17-4C68-9B09-61576C8F7127}"/>
                </a:ext>
              </a:extLst>
            </p:cNvPr>
            <p:cNvSpPr txBox="1"/>
            <p:nvPr/>
          </p:nvSpPr>
          <p:spPr>
            <a:xfrm>
              <a:off x="838200" y="1816443"/>
              <a:ext cx="6198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</a:rPr>
                <a:t>M</a:t>
              </a:r>
              <a:endParaRPr lang="nl-NL" sz="2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639DD5A-39B9-4BC4-80B9-077C0150BE9F}"/>
              </a:ext>
            </a:extLst>
          </p:cNvPr>
          <p:cNvGrpSpPr/>
          <p:nvPr/>
        </p:nvGrpSpPr>
        <p:grpSpPr>
          <a:xfrm>
            <a:off x="9777585" y="1717588"/>
            <a:ext cx="2131556" cy="3965104"/>
            <a:chOff x="494266" y="1717588"/>
            <a:chExt cx="2026513" cy="3965104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6066A28-FE44-4632-81EB-D597EEA52B4D}"/>
                </a:ext>
              </a:extLst>
            </p:cNvPr>
            <p:cNvGrpSpPr/>
            <p:nvPr/>
          </p:nvGrpSpPr>
          <p:grpSpPr>
            <a:xfrm>
              <a:off x="494266" y="1717588"/>
              <a:ext cx="2026513" cy="3965104"/>
              <a:chOff x="494266" y="1717588"/>
              <a:chExt cx="2026513" cy="3965104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18A99385-1A2D-484D-92A6-EE4C2B83DB07}"/>
                  </a:ext>
                </a:extLst>
              </p:cNvPr>
              <p:cNvSpPr/>
              <p:nvPr/>
            </p:nvSpPr>
            <p:spPr>
              <a:xfrm>
                <a:off x="593125" y="1717588"/>
                <a:ext cx="1927654" cy="3965104"/>
              </a:xfrm>
              <a:prstGeom prst="round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1" name="Wave 50">
                <a:extLst>
                  <a:ext uri="{FF2B5EF4-FFF2-40B4-BE49-F238E27FC236}">
                    <a16:creationId xmlns:a16="http://schemas.microsoft.com/office/drawing/2014/main" id="{8938C503-E419-4899-9613-46C9B918898D}"/>
                  </a:ext>
                </a:extLst>
              </p:cNvPr>
              <p:cNvSpPr/>
              <p:nvPr/>
            </p:nvSpPr>
            <p:spPr>
              <a:xfrm rot="10800000" flipV="1">
                <a:off x="593122" y="2100648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2" name="Wave 51">
                <a:extLst>
                  <a:ext uri="{FF2B5EF4-FFF2-40B4-BE49-F238E27FC236}">
                    <a16:creationId xmlns:a16="http://schemas.microsoft.com/office/drawing/2014/main" id="{46CD5E06-5D1F-4412-B55D-654021D1F563}"/>
                  </a:ext>
                </a:extLst>
              </p:cNvPr>
              <p:cNvSpPr/>
              <p:nvPr/>
            </p:nvSpPr>
            <p:spPr>
              <a:xfrm rot="10800000" flipV="1">
                <a:off x="593121" y="4012466"/>
                <a:ext cx="1927655" cy="1328351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3" name="Wave 52">
                <a:extLst>
                  <a:ext uri="{FF2B5EF4-FFF2-40B4-BE49-F238E27FC236}">
                    <a16:creationId xmlns:a16="http://schemas.microsoft.com/office/drawing/2014/main" id="{338AF6AF-516D-4CC6-BA1A-94AE6C8F0351}"/>
                  </a:ext>
                </a:extLst>
              </p:cNvPr>
              <p:cNvSpPr/>
              <p:nvPr/>
            </p:nvSpPr>
            <p:spPr>
              <a:xfrm rot="10800000" flipV="1">
                <a:off x="494266" y="2908273"/>
                <a:ext cx="2026505" cy="1960285"/>
              </a:xfrm>
              <a:prstGeom prst="wav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Put the results into good use</a:t>
                </a:r>
                <a:endParaRPr lang="nl-NL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64A93BB-41E6-4815-BAA1-279ED763D01E}"/>
                  </a:ext>
                </a:extLst>
              </p:cNvPr>
              <p:cNvSpPr/>
              <p:nvPr/>
            </p:nvSpPr>
            <p:spPr>
              <a:xfrm>
                <a:off x="593118" y="2520778"/>
                <a:ext cx="1927654" cy="53578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6">
                      <a:lumMod val="50000"/>
                    </a:schemeClr>
                  </a:gs>
                  <a:gs pos="80000">
                    <a:schemeClr val="accent6">
                      <a:lumMod val="50000"/>
                    </a:schemeClr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bg1"/>
                    </a:solidFill>
                  </a:rPr>
                  <a:t>INterpret</a:t>
                </a:r>
                <a:endParaRPr lang="nl-NL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88A20D74-2F9B-4DCB-858D-1F4C280BDF01}"/>
                  </a:ext>
                </a:extLst>
              </p:cNvPr>
              <p:cNvSpPr/>
              <p:nvPr/>
            </p:nvSpPr>
            <p:spPr>
              <a:xfrm>
                <a:off x="593118" y="1717588"/>
                <a:ext cx="1927654" cy="3965104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A8EBCC1-7832-421F-BCDF-C0A3FC05454C}"/>
                </a:ext>
              </a:extLst>
            </p:cNvPr>
            <p:cNvSpPr txBox="1"/>
            <p:nvPr/>
          </p:nvSpPr>
          <p:spPr>
            <a:xfrm>
              <a:off x="838200" y="1816443"/>
              <a:ext cx="61989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chemeClr val="bg1"/>
                  </a:solidFill>
                </a:rPr>
                <a:t>N</a:t>
              </a:r>
              <a:endParaRPr lang="nl-NL" sz="2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65158-EDE8-A3E5-8175-1E0D69B65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F6F61-7FED-A1B6-4AF8-BB1F6091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83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CRISP-DM</a:t>
            </a:r>
            <a:endParaRPr lang="nl-NL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07E80-41C8-4D70-89EF-51E3C169C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810" y="385533"/>
            <a:ext cx="5709278" cy="5720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568B71-2C0D-E0E7-1E8E-F48CE674F807}"/>
              </a:ext>
            </a:extLst>
          </p:cNvPr>
          <p:cNvSpPr txBox="1"/>
          <p:nvPr/>
        </p:nvSpPr>
        <p:spPr>
          <a:xfrm>
            <a:off x="4310269" y="6295694"/>
            <a:ext cx="6235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CRISP-DM  = </a:t>
            </a:r>
            <a:r>
              <a:rPr lang="en-US" dirty="0" err="1"/>
              <a:t>CRoss</a:t>
            </a:r>
            <a:r>
              <a:rPr lang="en-US" dirty="0"/>
              <a:t> Industry Standard Process for Data Mining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B6CB8D-ED09-BE3E-AEFC-F037F1528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54D47C-6056-5F56-5C07-88E1C4C4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4312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KDD Process</a:t>
            </a:r>
            <a:endParaRPr lang="nl-NL" sz="3200" b="1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1AD1709-B664-29BC-FA12-C510C0EA34BF}"/>
              </a:ext>
            </a:extLst>
          </p:cNvPr>
          <p:cNvGrpSpPr/>
          <p:nvPr/>
        </p:nvGrpSpPr>
        <p:grpSpPr>
          <a:xfrm>
            <a:off x="1875670" y="186712"/>
            <a:ext cx="10000097" cy="6475489"/>
            <a:chOff x="1875670" y="186712"/>
            <a:chExt cx="10000097" cy="6475489"/>
          </a:xfrm>
        </p:grpSpPr>
        <p:pic>
          <p:nvPicPr>
            <p:cNvPr id="3" name="Graphic 2" descr="Database with solid fill">
              <a:extLst>
                <a:ext uri="{FF2B5EF4-FFF2-40B4-BE49-F238E27FC236}">
                  <a16:creationId xmlns:a16="http://schemas.microsoft.com/office/drawing/2014/main" id="{602AFC9B-0643-80E7-6DD9-CE34673C35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93993" y="5747801"/>
              <a:ext cx="914400" cy="914400"/>
            </a:xfrm>
            <a:prstGeom prst="rect">
              <a:avLst/>
            </a:prstGeom>
          </p:spPr>
        </p:pic>
        <p:pic>
          <p:nvPicPr>
            <p:cNvPr id="4" name="Graphic 3" descr="Database with solid fill">
              <a:extLst>
                <a:ext uri="{FF2B5EF4-FFF2-40B4-BE49-F238E27FC236}">
                  <a16:creationId xmlns:a16="http://schemas.microsoft.com/office/drawing/2014/main" id="{5A325565-EE20-7E6A-0988-03A980DF0C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05567" y="4945827"/>
              <a:ext cx="429718" cy="429718"/>
            </a:xfrm>
            <a:prstGeom prst="rect">
              <a:avLst/>
            </a:prstGeom>
          </p:spPr>
        </p:pic>
        <p:pic>
          <p:nvPicPr>
            <p:cNvPr id="5" name="Graphic 4" descr="Database with solid fill">
              <a:extLst>
                <a:ext uri="{FF2B5EF4-FFF2-40B4-BE49-F238E27FC236}">
                  <a16:creationId xmlns:a16="http://schemas.microsoft.com/office/drawing/2014/main" id="{682B50C5-84E6-B15E-E6CE-731D1FCBEE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57967" y="5098227"/>
              <a:ext cx="429718" cy="429718"/>
            </a:xfrm>
            <a:prstGeom prst="rect">
              <a:avLst/>
            </a:prstGeom>
          </p:spPr>
        </p:pic>
        <p:pic>
          <p:nvPicPr>
            <p:cNvPr id="6" name="Graphic 5" descr="Database with solid fill">
              <a:extLst>
                <a:ext uri="{FF2B5EF4-FFF2-40B4-BE49-F238E27FC236}">
                  <a16:creationId xmlns:a16="http://schemas.microsoft.com/office/drawing/2014/main" id="{514320F9-D6CD-AFE1-9FE3-05F022A2EC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72826" y="5003290"/>
              <a:ext cx="429718" cy="429718"/>
            </a:xfrm>
            <a:prstGeom prst="rect">
              <a:avLst/>
            </a:prstGeom>
          </p:spPr>
        </p:pic>
        <p:pic>
          <p:nvPicPr>
            <p:cNvPr id="8" name="Graphic 7" descr="Database with solid fill">
              <a:extLst>
                <a:ext uri="{FF2B5EF4-FFF2-40B4-BE49-F238E27FC236}">
                  <a16:creationId xmlns:a16="http://schemas.microsoft.com/office/drawing/2014/main" id="{53E9F1E4-DF65-BB29-5432-D6B50B966A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05567" y="5195039"/>
              <a:ext cx="429718" cy="42971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F2B39C-8F5A-E136-D835-38408232DAD6}"/>
                </a:ext>
              </a:extLst>
            </p:cNvPr>
            <p:cNvSpPr txBox="1"/>
            <p:nvPr/>
          </p:nvSpPr>
          <p:spPr>
            <a:xfrm>
              <a:off x="1875670" y="5888082"/>
              <a:ext cx="1104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Data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B95FD1F-D128-328C-AA6B-25592D737855}"/>
                </a:ext>
              </a:extLst>
            </p:cNvPr>
            <p:cNvCxnSpPr/>
            <p:nvPr/>
          </p:nvCxnSpPr>
          <p:spPr>
            <a:xfrm flipV="1">
              <a:off x="3455993" y="5527945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E384F0-BEDA-651F-D7E9-7022FCA1B54B}"/>
                </a:ext>
              </a:extLst>
            </p:cNvPr>
            <p:cNvSpPr/>
            <p:nvPr/>
          </p:nvSpPr>
          <p:spPr>
            <a:xfrm>
              <a:off x="3608393" y="5661197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0C776157-11CE-A96E-DAC1-127060ADAA48}"/>
                </a:ext>
              </a:extLst>
            </p:cNvPr>
            <p:cNvSpPr/>
            <p:nvPr/>
          </p:nvSpPr>
          <p:spPr>
            <a:xfrm>
              <a:off x="1904511" y="4644775"/>
              <a:ext cx="1341620" cy="35851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8BDD3B-E534-D401-2331-576084A20F84}"/>
                </a:ext>
              </a:extLst>
            </p:cNvPr>
            <p:cNvSpPr txBox="1"/>
            <p:nvPr/>
          </p:nvSpPr>
          <p:spPr>
            <a:xfrm>
              <a:off x="2171758" y="4633958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Select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C569B5F-4460-03D3-0F83-52202FD9DAEC}"/>
                </a:ext>
              </a:extLst>
            </p:cNvPr>
            <p:cNvCxnSpPr>
              <a:cxnSpLocks/>
              <a:stCxn id="13" idx="2"/>
              <a:endCxn id="11" idx="1"/>
            </p:cNvCxnSpPr>
            <p:nvPr/>
          </p:nvCxnSpPr>
          <p:spPr>
            <a:xfrm>
              <a:off x="2546220" y="5003290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5DCADAD-55FC-7C81-920D-61FE64B8E942}"/>
                </a:ext>
              </a:extLst>
            </p:cNvPr>
            <p:cNvCxnSpPr/>
            <p:nvPr/>
          </p:nvCxnSpPr>
          <p:spPr>
            <a:xfrm flipV="1">
              <a:off x="4797613" y="4602716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144E387-5EAC-5833-6835-73DB3BF86532}"/>
                </a:ext>
              </a:extLst>
            </p:cNvPr>
            <p:cNvSpPr/>
            <p:nvPr/>
          </p:nvSpPr>
          <p:spPr>
            <a:xfrm>
              <a:off x="4950013" y="4735968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5D6ADD0C-BCAB-F1C0-2CF9-207B864B2A0C}"/>
                </a:ext>
              </a:extLst>
            </p:cNvPr>
            <p:cNvSpPr/>
            <p:nvPr/>
          </p:nvSpPr>
          <p:spPr>
            <a:xfrm>
              <a:off x="3246131" y="3719546"/>
              <a:ext cx="1341620" cy="35851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2D909CF1-028E-62EB-706C-2E8B1F320434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3887840" y="4078061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4C81FE-98AD-0610-CD88-C66F8057EF08}"/>
                </a:ext>
              </a:extLst>
            </p:cNvPr>
            <p:cNvSpPr txBox="1"/>
            <p:nvPr/>
          </p:nvSpPr>
          <p:spPr>
            <a:xfrm>
              <a:off x="3195289" y="3724350"/>
              <a:ext cx="14923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Preprocessing</a:t>
              </a:r>
            </a:p>
          </p:txBody>
        </p:sp>
        <p:pic>
          <p:nvPicPr>
            <p:cNvPr id="20" name="Graphic 19" descr="Table with solid fill">
              <a:extLst>
                <a:ext uri="{FF2B5EF4-FFF2-40B4-BE49-F238E27FC236}">
                  <a16:creationId xmlns:a16="http://schemas.microsoft.com/office/drawing/2014/main" id="{E2CFAEB0-80BE-EE64-6F6B-B852DB2367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59449" y="3851545"/>
              <a:ext cx="1243561" cy="124356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C11F6B-B119-BF83-FAA4-ADACAC91E42C}"/>
                </a:ext>
              </a:extLst>
            </p:cNvPr>
            <p:cNvSpPr txBox="1"/>
            <p:nvPr/>
          </p:nvSpPr>
          <p:spPr>
            <a:xfrm>
              <a:off x="4172686" y="5564917"/>
              <a:ext cx="8175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Target </a:t>
              </a:r>
            </a:p>
            <a:p>
              <a:r>
                <a:rPr lang="en-US" dirty="0"/>
                <a:t>Data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3097C63-08DB-518D-49F5-8F1C1366AD36}"/>
                </a:ext>
              </a:extLst>
            </p:cNvPr>
            <p:cNvSpPr txBox="1"/>
            <p:nvPr/>
          </p:nvSpPr>
          <p:spPr>
            <a:xfrm>
              <a:off x="5315076" y="4837520"/>
              <a:ext cx="14988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Preprocessed </a:t>
              </a:r>
            </a:p>
            <a:p>
              <a:r>
                <a:rPr lang="en-US" dirty="0"/>
                <a:t>Data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6D3CA96-25C4-555A-7276-58F475584B6C}"/>
                </a:ext>
              </a:extLst>
            </p:cNvPr>
            <p:cNvCxnSpPr/>
            <p:nvPr/>
          </p:nvCxnSpPr>
          <p:spPr>
            <a:xfrm flipV="1">
              <a:off x="5892689" y="3612234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DA67D8A-89FD-C4C9-F126-C00117316FD4}"/>
                </a:ext>
              </a:extLst>
            </p:cNvPr>
            <p:cNvSpPr/>
            <p:nvPr/>
          </p:nvSpPr>
          <p:spPr>
            <a:xfrm>
              <a:off x="6045089" y="3745486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1ECBC267-E742-3C2D-FE09-2C0BE55591ED}"/>
                </a:ext>
              </a:extLst>
            </p:cNvPr>
            <p:cNvSpPr/>
            <p:nvPr/>
          </p:nvSpPr>
          <p:spPr>
            <a:xfrm>
              <a:off x="4105567" y="2761139"/>
              <a:ext cx="1577260" cy="326440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6D988A8-2098-CEE7-0AFF-C03B0C409BDD}"/>
                </a:ext>
              </a:extLst>
            </p:cNvPr>
            <p:cNvSpPr txBox="1"/>
            <p:nvPr/>
          </p:nvSpPr>
          <p:spPr>
            <a:xfrm>
              <a:off x="4095847" y="2734538"/>
              <a:ext cx="1796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Transformation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84907B5-24CF-D0DE-C355-5DE0C12E9442}"/>
                </a:ext>
              </a:extLst>
            </p:cNvPr>
            <p:cNvCxnSpPr>
              <a:cxnSpLocks/>
            </p:cNvCxnSpPr>
            <p:nvPr/>
          </p:nvCxnSpPr>
          <p:spPr>
            <a:xfrm>
              <a:off x="4950013" y="3106272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FDC5C42-09A1-BD02-C307-3F9A6410907C}"/>
                </a:ext>
              </a:extLst>
            </p:cNvPr>
            <p:cNvSpPr/>
            <p:nvPr/>
          </p:nvSpPr>
          <p:spPr>
            <a:xfrm>
              <a:off x="6603010" y="24162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525566B-94E0-67B2-1A76-04888D462367}"/>
                </a:ext>
              </a:extLst>
            </p:cNvPr>
            <p:cNvSpPr/>
            <p:nvPr/>
          </p:nvSpPr>
          <p:spPr>
            <a:xfrm>
              <a:off x="6755410" y="25686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DB27997-6C0C-5007-5D9B-A1A4E5E3148C}"/>
                </a:ext>
              </a:extLst>
            </p:cNvPr>
            <p:cNvSpPr/>
            <p:nvPr/>
          </p:nvSpPr>
          <p:spPr>
            <a:xfrm>
              <a:off x="6907810" y="27210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7AAF34B-07EF-1717-18B8-743959214219}"/>
                </a:ext>
              </a:extLst>
            </p:cNvPr>
            <p:cNvSpPr/>
            <p:nvPr/>
          </p:nvSpPr>
          <p:spPr>
            <a:xfrm>
              <a:off x="7060210" y="2873437"/>
              <a:ext cx="330701" cy="1390119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286230E-AD10-8FCD-643F-AECF4260C511}"/>
                </a:ext>
              </a:extLst>
            </p:cNvPr>
            <p:cNvSpPr txBox="1"/>
            <p:nvPr/>
          </p:nvSpPr>
          <p:spPr>
            <a:xfrm>
              <a:off x="6724446" y="4279550"/>
              <a:ext cx="14201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Transformed </a:t>
              </a:r>
            </a:p>
            <a:p>
              <a:r>
                <a:rPr lang="en-US" dirty="0"/>
                <a:t>Data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CB9E4ED-CBB7-0C74-353F-CA50083F5951}"/>
                </a:ext>
              </a:extLst>
            </p:cNvPr>
            <p:cNvCxnSpPr/>
            <p:nvPr/>
          </p:nvCxnSpPr>
          <p:spPr>
            <a:xfrm flipV="1">
              <a:off x="7244029" y="2397462"/>
              <a:ext cx="649574" cy="49239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31FB93-1F30-DBBB-FF0B-F6D3EB2A1444}"/>
                </a:ext>
              </a:extLst>
            </p:cNvPr>
            <p:cNvSpPr/>
            <p:nvPr/>
          </p:nvSpPr>
          <p:spPr>
            <a:xfrm>
              <a:off x="7396429" y="2530714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59758BB-2CF3-EFBA-F6ED-CC2FDB05AF21}"/>
                </a:ext>
              </a:extLst>
            </p:cNvPr>
            <p:cNvSpPr/>
            <p:nvPr/>
          </p:nvSpPr>
          <p:spPr>
            <a:xfrm>
              <a:off x="5456907" y="1546367"/>
              <a:ext cx="1577260" cy="326440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D81203-BB73-B86D-D296-0CB1E86C83AA}"/>
                </a:ext>
              </a:extLst>
            </p:cNvPr>
            <p:cNvSpPr txBox="1"/>
            <p:nvPr/>
          </p:nvSpPr>
          <p:spPr>
            <a:xfrm>
              <a:off x="5447187" y="1519766"/>
              <a:ext cx="17968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Transformation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EED5AEF-0E26-B8BE-C224-0C4D970C9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01353" y="1891500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aphic 53" descr="Bar chart outline">
              <a:extLst>
                <a:ext uri="{FF2B5EF4-FFF2-40B4-BE49-F238E27FC236}">
                  <a16:creationId xmlns:a16="http://schemas.microsoft.com/office/drawing/2014/main" id="{ADCB345A-D30F-82EF-BE15-49C332478754}"/>
                </a:ext>
              </a:extLst>
            </p:cNvPr>
            <p:cNvGrpSpPr/>
            <p:nvPr/>
          </p:nvGrpSpPr>
          <p:grpSpPr>
            <a:xfrm>
              <a:off x="7981580" y="1559648"/>
              <a:ext cx="661958" cy="887045"/>
              <a:chOff x="6566117" y="1183362"/>
              <a:chExt cx="661958" cy="887045"/>
            </a:xfrm>
            <a:solidFill>
              <a:srgbClr val="000000"/>
            </a:solidFill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E214B62-A48F-796F-5954-EB42B7858EDE}"/>
                  </a:ext>
                </a:extLst>
              </p:cNvPr>
              <p:cNvSpPr/>
              <p:nvPr/>
            </p:nvSpPr>
            <p:spPr>
              <a:xfrm>
                <a:off x="6566117" y="1493834"/>
                <a:ext cx="177361" cy="576573"/>
              </a:xfrm>
              <a:custGeom>
                <a:avLst/>
                <a:gdLst>
                  <a:gd name="connsiteX0" fmla="*/ 177362 w 177361"/>
                  <a:gd name="connsiteY0" fmla="*/ 576573 h 576573"/>
                  <a:gd name="connsiteX1" fmla="*/ 177362 w 177361"/>
                  <a:gd name="connsiteY1" fmla="*/ 0 h 576573"/>
                  <a:gd name="connsiteX2" fmla="*/ 0 w 177361"/>
                  <a:gd name="connsiteY2" fmla="*/ 0 h 576573"/>
                  <a:gd name="connsiteX3" fmla="*/ 0 w 177361"/>
                  <a:gd name="connsiteY3" fmla="*/ 576573 h 576573"/>
                  <a:gd name="connsiteX4" fmla="*/ 29560 w 177361"/>
                  <a:gd name="connsiteY4" fmla="*/ 29560 h 576573"/>
                  <a:gd name="connsiteX5" fmla="*/ 147801 w 177361"/>
                  <a:gd name="connsiteY5" fmla="*/ 29560 h 576573"/>
                  <a:gd name="connsiteX6" fmla="*/ 147801 w 177361"/>
                  <a:gd name="connsiteY6" fmla="*/ 547013 h 576573"/>
                  <a:gd name="connsiteX7" fmla="*/ 29560 w 177361"/>
                  <a:gd name="connsiteY7" fmla="*/ 547013 h 57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576573">
                    <a:moveTo>
                      <a:pt x="177362" y="576573"/>
                    </a:moveTo>
                    <a:lnTo>
                      <a:pt x="177362" y="0"/>
                    </a:lnTo>
                    <a:lnTo>
                      <a:pt x="0" y="0"/>
                    </a:lnTo>
                    <a:lnTo>
                      <a:pt x="0" y="576573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547013"/>
                    </a:lnTo>
                    <a:lnTo>
                      <a:pt x="29560" y="547013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11A10C4F-894F-0249-BA95-0DCF4834FFFE}"/>
                  </a:ext>
                </a:extLst>
              </p:cNvPr>
              <p:cNvSpPr/>
              <p:nvPr/>
            </p:nvSpPr>
            <p:spPr>
              <a:xfrm>
                <a:off x="6802600" y="1183362"/>
                <a:ext cx="177361" cy="887044"/>
              </a:xfrm>
              <a:custGeom>
                <a:avLst/>
                <a:gdLst>
                  <a:gd name="connsiteX0" fmla="*/ 177362 w 177361"/>
                  <a:gd name="connsiteY0" fmla="*/ 887045 h 887044"/>
                  <a:gd name="connsiteX1" fmla="*/ 177362 w 177361"/>
                  <a:gd name="connsiteY1" fmla="*/ 0 h 887044"/>
                  <a:gd name="connsiteX2" fmla="*/ 0 w 177361"/>
                  <a:gd name="connsiteY2" fmla="*/ 0 h 887044"/>
                  <a:gd name="connsiteX3" fmla="*/ 0 w 177361"/>
                  <a:gd name="connsiteY3" fmla="*/ 887045 h 887044"/>
                  <a:gd name="connsiteX4" fmla="*/ 29560 w 177361"/>
                  <a:gd name="connsiteY4" fmla="*/ 29560 h 887044"/>
                  <a:gd name="connsiteX5" fmla="*/ 147801 w 177361"/>
                  <a:gd name="connsiteY5" fmla="*/ 29560 h 887044"/>
                  <a:gd name="connsiteX6" fmla="*/ 147801 w 177361"/>
                  <a:gd name="connsiteY6" fmla="*/ 857484 h 887044"/>
                  <a:gd name="connsiteX7" fmla="*/ 29560 w 177361"/>
                  <a:gd name="connsiteY7" fmla="*/ 857484 h 887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887044">
                    <a:moveTo>
                      <a:pt x="177362" y="887045"/>
                    </a:moveTo>
                    <a:lnTo>
                      <a:pt x="177362" y="0"/>
                    </a:lnTo>
                    <a:lnTo>
                      <a:pt x="0" y="0"/>
                    </a:lnTo>
                    <a:lnTo>
                      <a:pt x="0" y="887045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857484"/>
                    </a:lnTo>
                    <a:lnTo>
                      <a:pt x="29560" y="857484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DBB05343-B8D4-7FDC-AD41-1F8137D33F11}"/>
                  </a:ext>
                </a:extLst>
              </p:cNvPr>
              <p:cNvSpPr/>
              <p:nvPr/>
            </p:nvSpPr>
            <p:spPr>
              <a:xfrm>
                <a:off x="7050714" y="1745170"/>
                <a:ext cx="177361" cy="325236"/>
              </a:xfrm>
              <a:custGeom>
                <a:avLst/>
                <a:gdLst>
                  <a:gd name="connsiteX0" fmla="*/ 0 w 177361"/>
                  <a:gd name="connsiteY0" fmla="*/ 325237 h 325236"/>
                  <a:gd name="connsiteX1" fmla="*/ 177362 w 177361"/>
                  <a:gd name="connsiteY1" fmla="*/ 325237 h 325236"/>
                  <a:gd name="connsiteX2" fmla="*/ 177362 w 177361"/>
                  <a:gd name="connsiteY2" fmla="*/ 0 h 325236"/>
                  <a:gd name="connsiteX3" fmla="*/ 0 w 177361"/>
                  <a:gd name="connsiteY3" fmla="*/ 0 h 325236"/>
                  <a:gd name="connsiteX4" fmla="*/ 29560 w 177361"/>
                  <a:gd name="connsiteY4" fmla="*/ 29560 h 325236"/>
                  <a:gd name="connsiteX5" fmla="*/ 147801 w 177361"/>
                  <a:gd name="connsiteY5" fmla="*/ 29560 h 325236"/>
                  <a:gd name="connsiteX6" fmla="*/ 147801 w 177361"/>
                  <a:gd name="connsiteY6" fmla="*/ 295677 h 325236"/>
                  <a:gd name="connsiteX7" fmla="*/ 29560 w 177361"/>
                  <a:gd name="connsiteY7" fmla="*/ 295677 h 325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361" h="325236">
                    <a:moveTo>
                      <a:pt x="0" y="325237"/>
                    </a:moveTo>
                    <a:lnTo>
                      <a:pt x="177362" y="325237"/>
                    </a:lnTo>
                    <a:lnTo>
                      <a:pt x="177362" y="0"/>
                    </a:lnTo>
                    <a:lnTo>
                      <a:pt x="0" y="0"/>
                    </a:lnTo>
                    <a:close/>
                    <a:moveTo>
                      <a:pt x="29560" y="29560"/>
                    </a:moveTo>
                    <a:lnTo>
                      <a:pt x="147801" y="29560"/>
                    </a:lnTo>
                    <a:lnTo>
                      <a:pt x="147801" y="295677"/>
                    </a:lnTo>
                    <a:lnTo>
                      <a:pt x="29560" y="295677"/>
                    </a:lnTo>
                    <a:close/>
                  </a:path>
                </a:pathLst>
              </a:custGeom>
              <a:solidFill>
                <a:srgbClr val="C00000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96D047B-F862-D460-9441-FA7C3866AC8F}"/>
                </a:ext>
              </a:extLst>
            </p:cNvPr>
            <p:cNvSpPr/>
            <p:nvPr/>
          </p:nvSpPr>
          <p:spPr>
            <a:xfrm>
              <a:off x="8724365" y="1411896"/>
              <a:ext cx="172127" cy="1034797"/>
            </a:xfrm>
            <a:custGeom>
              <a:avLst/>
              <a:gdLst>
                <a:gd name="connsiteX0" fmla="*/ 177362 w 177361"/>
                <a:gd name="connsiteY0" fmla="*/ 576573 h 576573"/>
                <a:gd name="connsiteX1" fmla="*/ 177362 w 177361"/>
                <a:gd name="connsiteY1" fmla="*/ 0 h 576573"/>
                <a:gd name="connsiteX2" fmla="*/ 0 w 177361"/>
                <a:gd name="connsiteY2" fmla="*/ 0 h 576573"/>
                <a:gd name="connsiteX3" fmla="*/ 0 w 177361"/>
                <a:gd name="connsiteY3" fmla="*/ 576573 h 576573"/>
                <a:gd name="connsiteX4" fmla="*/ 29560 w 177361"/>
                <a:gd name="connsiteY4" fmla="*/ 29560 h 576573"/>
                <a:gd name="connsiteX5" fmla="*/ 147801 w 177361"/>
                <a:gd name="connsiteY5" fmla="*/ 29560 h 576573"/>
                <a:gd name="connsiteX6" fmla="*/ 147801 w 177361"/>
                <a:gd name="connsiteY6" fmla="*/ 547013 h 576573"/>
                <a:gd name="connsiteX7" fmla="*/ 29560 w 177361"/>
                <a:gd name="connsiteY7" fmla="*/ 547013 h 576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7361" h="576573">
                  <a:moveTo>
                    <a:pt x="177362" y="576573"/>
                  </a:moveTo>
                  <a:lnTo>
                    <a:pt x="177362" y="0"/>
                  </a:lnTo>
                  <a:lnTo>
                    <a:pt x="0" y="0"/>
                  </a:lnTo>
                  <a:lnTo>
                    <a:pt x="0" y="576573"/>
                  </a:lnTo>
                  <a:close/>
                  <a:moveTo>
                    <a:pt x="29560" y="29560"/>
                  </a:moveTo>
                  <a:lnTo>
                    <a:pt x="147801" y="29560"/>
                  </a:lnTo>
                  <a:lnTo>
                    <a:pt x="147801" y="547013"/>
                  </a:lnTo>
                  <a:lnTo>
                    <a:pt x="29560" y="547013"/>
                  </a:lnTo>
                  <a:close/>
                </a:path>
              </a:pathLst>
            </a:custGeom>
            <a:solidFill>
              <a:srgbClr val="FFC000"/>
            </a:solidFill>
            <a:ln w="146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88730D-DD03-CF6C-40E7-7EC3AB426E6D}"/>
                </a:ext>
              </a:extLst>
            </p:cNvPr>
            <p:cNvSpPr txBox="1"/>
            <p:nvPr/>
          </p:nvSpPr>
          <p:spPr>
            <a:xfrm>
              <a:off x="7907323" y="2591106"/>
              <a:ext cx="9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Patterns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5EC70D0-C4A7-4369-F427-016ADD3A01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8470" y="1395858"/>
              <a:ext cx="725143" cy="5919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81C3849-8A77-FBEB-8E88-07F517E7D765}"/>
                </a:ext>
              </a:extLst>
            </p:cNvPr>
            <p:cNvSpPr/>
            <p:nvPr/>
          </p:nvSpPr>
          <p:spPr>
            <a:xfrm>
              <a:off x="9186439" y="1529110"/>
              <a:ext cx="288000" cy="288000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11D36942-77A9-EFCA-CC66-86CEC2A41B1D}"/>
                </a:ext>
              </a:extLst>
            </p:cNvPr>
            <p:cNvSpPr/>
            <p:nvPr/>
          </p:nvSpPr>
          <p:spPr>
            <a:xfrm>
              <a:off x="7246917" y="220711"/>
              <a:ext cx="1577260" cy="65049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A1F0CE8-F857-D6DC-B72F-E6D91F0B9633}"/>
                </a:ext>
              </a:extLst>
            </p:cNvPr>
            <p:cNvSpPr txBox="1"/>
            <p:nvPr/>
          </p:nvSpPr>
          <p:spPr>
            <a:xfrm>
              <a:off x="7225560" y="186712"/>
              <a:ext cx="17968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Interpretation /</a:t>
              </a:r>
            </a:p>
            <a:p>
              <a:r>
                <a:rPr lang="en-US" dirty="0"/>
                <a:t>Evaluation 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8C7694A-785D-0958-C459-C4FE378F6281}"/>
                </a:ext>
              </a:extLst>
            </p:cNvPr>
            <p:cNvCxnSpPr>
              <a:cxnSpLocks/>
            </p:cNvCxnSpPr>
            <p:nvPr/>
          </p:nvCxnSpPr>
          <p:spPr>
            <a:xfrm>
              <a:off x="8091363" y="889896"/>
              <a:ext cx="1104350" cy="70008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A077BA0A-2794-AA66-F29A-D1BD14F41423}"/>
                </a:ext>
              </a:extLst>
            </p:cNvPr>
            <p:cNvSpPr/>
            <p:nvPr/>
          </p:nvSpPr>
          <p:spPr>
            <a:xfrm>
              <a:off x="9761137" y="683759"/>
              <a:ext cx="2016970" cy="989351"/>
            </a:xfrm>
            <a:prstGeom prst="cub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0CCFEE7-E747-36C4-2609-3EE38453650E}"/>
                </a:ext>
              </a:extLst>
            </p:cNvPr>
            <p:cNvSpPr txBox="1"/>
            <p:nvPr/>
          </p:nvSpPr>
          <p:spPr>
            <a:xfrm>
              <a:off x="10078925" y="222094"/>
              <a:ext cx="1796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Knowledge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B48827B-258A-1BEC-0C52-D93CD7A725B7}"/>
              </a:ext>
            </a:extLst>
          </p:cNvPr>
          <p:cNvSpPr txBox="1"/>
          <p:nvPr/>
        </p:nvSpPr>
        <p:spPr>
          <a:xfrm>
            <a:off x="6724445" y="6060327"/>
            <a:ext cx="4288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KDD = Knowledge Discovery in Databases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1EA3F1-4620-33D8-83F0-1F54CCDFA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888A99C8-F775-B9A4-4400-09A29AADF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4730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Wrangling?</a:t>
            </a:r>
            <a:endParaRPr lang="nl-NL" sz="3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964B8D-43DB-95A5-E585-8F77A202937C}"/>
              </a:ext>
            </a:extLst>
          </p:cNvPr>
          <p:cNvSpPr txBox="1"/>
          <p:nvPr/>
        </p:nvSpPr>
        <p:spPr>
          <a:xfrm>
            <a:off x="10395158" y="3738008"/>
            <a:ext cx="179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Validating</a:t>
            </a:r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AFB5DFD6-BA1B-BA8F-F978-A7AB1F549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44595"/>
            <a:ext cx="3744081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Data Wrangling (Munging): an iterative process to convert the raw data into more understandable format. 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82447A4-600F-D7F0-BA2B-22EA18369C81}"/>
              </a:ext>
            </a:extLst>
          </p:cNvPr>
          <p:cNvGrpSpPr/>
          <p:nvPr/>
        </p:nvGrpSpPr>
        <p:grpSpPr>
          <a:xfrm>
            <a:off x="4582281" y="1283368"/>
            <a:ext cx="6804861" cy="5408530"/>
            <a:chOff x="4582281" y="1283368"/>
            <a:chExt cx="6804861" cy="540853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FBA2FC-4445-A2BD-07F7-ECBDCC5D7497}"/>
                </a:ext>
              </a:extLst>
            </p:cNvPr>
            <p:cNvGrpSpPr/>
            <p:nvPr/>
          </p:nvGrpSpPr>
          <p:grpSpPr>
            <a:xfrm>
              <a:off x="5544967" y="1283368"/>
              <a:ext cx="5400000" cy="5400000"/>
              <a:chOff x="3571128" y="2123574"/>
              <a:chExt cx="2197834" cy="2197834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31516432-7ECE-FD36-11E4-CD45A3A5F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71128" y="2123574"/>
                <a:ext cx="2197834" cy="2197834"/>
              </a:xfrm>
              <a:prstGeom prst="rect">
                <a:avLst/>
              </a:prstGeom>
            </p:spPr>
          </p:pic>
          <p:pic>
            <p:nvPicPr>
              <p:cNvPr id="54" name="Graphic 53" descr="Branching diagram outline">
                <a:extLst>
                  <a:ext uri="{FF2B5EF4-FFF2-40B4-BE49-F238E27FC236}">
                    <a16:creationId xmlns:a16="http://schemas.microsoft.com/office/drawing/2014/main" id="{006AC5D2-0C2D-2197-FD14-F5962FA5C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3759911" y="2990586"/>
                <a:ext cx="331304" cy="331304"/>
              </a:xfrm>
              <a:prstGeom prst="rect">
                <a:avLst/>
              </a:prstGeom>
            </p:spPr>
          </p:pic>
          <p:pic>
            <p:nvPicPr>
              <p:cNvPr id="55" name="Graphic 54" descr="CheckList outline">
                <a:extLst>
                  <a:ext uri="{FF2B5EF4-FFF2-40B4-BE49-F238E27FC236}">
                    <a16:creationId xmlns:a16="http://schemas.microsoft.com/office/drawing/2014/main" id="{92A4CDC6-C2B0-B99B-6ABC-24DEDA564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10247" y="3047840"/>
                <a:ext cx="364258" cy="364258"/>
              </a:xfrm>
              <a:prstGeom prst="rect">
                <a:avLst/>
              </a:prstGeom>
            </p:spPr>
          </p:pic>
          <p:pic>
            <p:nvPicPr>
              <p:cNvPr id="57" name="Graphic 56" descr="Mop and bucket with solid fill">
                <a:extLst>
                  <a:ext uri="{FF2B5EF4-FFF2-40B4-BE49-F238E27FC236}">
                    <a16:creationId xmlns:a16="http://schemas.microsoft.com/office/drawing/2014/main" id="{94445150-CBF9-F6AE-0CD3-E812A50EE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978597" y="3578893"/>
                <a:ext cx="298888" cy="298888"/>
              </a:xfrm>
              <a:prstGeom prst="rect">
                <a:avLst/>
              </a:prstGeom>
            </p:spPr>
          </p:pic>
          <p:pic>
            <p:nvPicPr>
              <p:cNvPr id="58" name="Graphic 57" descr="Document with solid fill">
                <a:extLst>
                  <a:ext uri="{FF2B5EF4-FFF2-40B4-BE49-F238E27FC236}">
                    <a16:creationId xmlns:a16="http://schemas.microsoft.com/office/drawing/2014/main" id="{BFA83134-273F-3651-4E95-82D9B7B903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813946" y="2360107"/>
                <a:ext cx="403658" cy="403658"/>
              </a:xfrm>
              <a:prstGeom prst="rect">
                <a:avLst/>
              </a:prstGeom>
            </p:spPr>
          </p:pic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F41E36A-D7BC-FC90-CFA2-B80C29B60306}"/>
                  </a:ext>
                </a:extLst>
              </p:cNvPr>
              <p:cNvGrpSpPr/>
              <p:nvPr/>
            </p:nvGrpSpPr>
            <p:grpSpPr>
              <a:xfrm>
                <a:off x="4813946" y="3585333"/>
                <a:ext cx="480971" cy="497124"/>
                <a:chOff x="5683774" y="2994822"/>
                <a:chExt cx="914400" cy="914400"/>
              </a:xfrm>
            </p:grpSpPr>
            <p:pic>
              <p:nvPicPr>
                <p:cNvPr id="60" name="Graphic 59" descr="World outline">
                  <a:extLst>
                    <a:ext uri="{FF2B5EF4-FFF2-40B4-BE49-F238E27FC236}">
                      <a16:creationId xmlns:a16="http://schemas.microsoft.com/office/drawing/2014/main" id="{1E6F7014-227A-0462-2BBF-D79271B58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83774" y="2994822"/>
                  <a:ext cx="914400" cy="914400"/>
                </a:xfrm>
                <a:prstGeom prst="rect">
                  <a:avLst/>
                </a:prstGeom>
              </p:spPr>
            </p:pic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FFD13740-7C56-02BE-9F6B-9689CA907B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01482" y="3222491"/>
                  <a:ext cx="504000" cy="74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7A81F404-9D95-2B10-C1DD-F6B4B6C6E7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78231" y="3653348"/>
                  <a:ext cx="504000" cy="747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624BCB0-AC87-F1A5-1060-784C162FF883}"/>
                </a:ext>
              </a:extLst>
            </p:cNvPr>
            <p:cNvSpPr txBox="1"/>
            <p:nvPr/>
          </p:nvSpPr>
          <p:spPr>
            <a:xfrm>
              <a:off x="5432963" y="1868340"/>
              <a:ext cx="1796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Discovering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37EBCD0-F9CA-C9CA-23B8-56F6AACD6891}"/>
                </a:ext>
              </a:extLst>
            </p:cNvPr>
            <p:cNvSpPr txBox="1"/>
            <p:nvPr/>
          </p:nvSpPr>
          <p:spPr>
            <a:xfrm>
              <a:off x="4582281" y="3469328"/>
              <a:ext cx="1796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Structuring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BA1AE28-4761-EABE-E405-AF500961FF79}"/>
                </a:ext>
              </a:extLst>
            </p:cNvPr>
            <p:cNvSpPr txBox="1"/>
            <p:nvPr/>
          </p:nvSpPr>
          <p:spPr>
            <a:xfrm>
              <a:off x="6033736" y="5860901"/>
              <a:ext cx="24202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Cleaning &amp; Transformation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DBA753D-76FA-349E-B5F1-1B23BED873F2}"/>
                </a:ext>
              </a:extLst>
            </p:cNvPr>
            <p:cNvSpPr txBox="1"/>
            <p:nvPr/>
          </p:nvSpPr>
          <p:spPr>
            <a:xfrm>
              <a:off x="9083475" y="5854365"/>
              <a:ext cx="1796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Enriching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037D260-2731-51C7-01CA-F0F946F46F9E}"/>
                </a:ext>
              </a:extLst>
            </p:cNvPr>
            <p:cNvSpPr txBox="1"/>
            <p:nvPr/>
          </p:nvSpPr>
          <p:spPr>
            <a:xfrm>
              <a:off x="9590300" y="2049022"/>
              <a:ext cx="1796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Publishing</a:t>
              </a:r>
            </a:p>
          </p:txBody>
        </p:sp>
        <p:pic>
          <p:nvPicPr>
            <p:cNvPr id="72" name="Graphic 71" descr="Eye with solid fill">
              <a:extLst>
                <a:ext uri="{FF2B5EF4-FFF2-40B4-BE49-F238E27FC236}">
                  <a16:creationId xmlns:a16="http://schemas.microsoft.com/office/drawing/2014/main" id="{A700F7B7-52B8-312D-914B-03B1291C8A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64567" y="1931393"/>
              <a:ext cx="1158586" cy="1158586"/>
            </a:xfrm>
            <a:prstGeom prst="rect">
              <a:avLst/>
            </a:prstGeom>
          </p:spPr>
        </p:pic>
        <p:pic>
          <p:nvPicPr>
            <p:cNvPr id="73" name="Graphic 72" descr="Cause And Effect with solid fill">
              <a:extLst>
                <a:ext uri="{FF2B5EF4-FFF2-40B4-BE49-F238E27FC236}">
                  <a16:creationId xmlns:a16="http://schemas.microsoft.com/office/drawing/2014/main" id="{F6C8E9CE-3E21-70E4-0322-62C5EA13EB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84555" y="5102316"/>
              <a:ext cx="836492" cy="836492"/>
            </a:xfrm>
            <a:prstGeom prst="rect">
              <a:avLst/>
            </a:prstGeom>
          </p:spPr>
        </p:pic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5AE06-35BD-62CC-6AA8-6CEE955E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017A8-32BE-C4BC-54A3-2906E2DB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18972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</a:t>
            </a:r>
            <a:endParaRPr lang="nl-NL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Discovering</a:t>
            </a:r>
          </a:p>
          <a:p>
            <a:pPr lvl="1"/>
            <a:r>
              <a:rPr lang="en-US" altLang="nl-NL" dirty="0"/>
              <a:t>Understanding the data with respect to the application</a:t>
            </a:r>
          </a:p>
          <a:p>
            <a:pPr lvl="1"/>
            <a:r>
              <a:rPr lang="en-US" altLang="nl-NL" dirty="0"/>
              <a:t>Creating a plan for preparing the data (structuring, cleaning and normalizing the data).</a:t>
            </a:r>
          </a:p>
          <a:p>
            <a:endParaRPr lang="en-US" dirty="0"/>
          </a:p>
          <a:p>
            <a:r>
              <a:rPr lang="en-US" dirty="0"/>
              <a:t>Structuring</a:t>
            </a:r>
          </a:p>
          <a:p>
            <a:pPr lvl="1"/>
            <a:r>
              <a:rPr lang="en-US" dirty="0"/>
              <a:t>Defining a structure that suits the analytical model </a:t>
            </a:r>
          </a:p>
          <a:p>
            <a:pPr lvl="1"/>
            <a:r>
              <a:rPr lang="en-US" dirty="0"/>
              <a:t>Various datasets should be in compatible formats</a:t>
            </a:r>
          </a:p>
          <a:p>
            <a:pPr lvl="1"/>
            <a:r>
              <a:rPr lang="en-US" dirty="0"/>
              <a:t>Data may come from different sources (Union, Join)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BA283-631A-4747-97E3-B996EAA03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8DB1C-0C4E-8580-FDB8-6C8FE7A6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0770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</a:t>
            </a:r>
            <a:endParaRPr lang="nl-NL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Transformation and cleaning involve</a:t>
            </a:r>
          </a:p>
          <a:p>
            <a:pPr lvl="1"/>
            <a:r>
              <a:rPr lang="en-US" dirty="0"/>
              <a:t>Normalizing the data, removing redundant and irrelevant data, combining multiple datasets. </a:t>
            </a:r>
          </a:p>
          <a:p>
            <a:pPr lvl="1"/>
            <a:r>
              <a:rPr lang="en-US" dirty="0"/>
              <a:t>Removing errors, de-duplication, fixing inaccuracies and inconsistences, and handling data bias.</a:t>
            </a:r>
          </a:p>
          <a:p>
            <a:r>
              <a:rPr lang="en-US" dirty="0"/>
              <a:t>Enriching</a:t>
            </a:r>
          </a:p>
          <a:p>
            <a:pPr lvl="1"/>
            <a:r>
              <a:rPr lang="en-US" dirty="0"/>
              <a:t>Do you have the required data to perform accurate analysis?</a:t>
            </a:r>
          </a:p>
          <a:p>
            <a:pPr lvl="1"/>
            <a:r>
              <a:rPr lang="en-US" dirty="0"/>
              <a:t>If the data is not enough, can we add more examples/features?</a:t>
            </a:r>
          </a:p>
          <a:p>
            <a:pPr lvl="1"/>
            <a:r>
              <a:rPr lang="en-US" dirty="0"/>
              <a:t>What about enriching with synthetic data?</a:t>
            </a:r>
          </a:p>
          <a:p>
            <a:pPr lvl="1"/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1BEBD-01F2-DEFB-D5A4-993F61FE0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2BBC2-BF6E-403E-99E2-195762AA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3367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</a:t>
            </a:r>
            <a:endParaRPr lang="nl-NL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Validating</a:t>
            </a:r>
          </a:p>
          <a:p>
            <a:pPr lvl="1"/>
            <a:r>
              <a:rPr lang="en-US" dirty="0"/>
              <a:t>Confirm whether the steps that were done during the structuring, transformation and cleaning are correct or not.</a:t>
            </a:r>
          </a:p>
          <a:p>
            <a:r>
              <a:rPr lang="en-US" dirty="0"/>
              <a:t>Publishing</a:t>
            </a:r>
          </a:p>
          <a:p>
            <a:pPr lvl="1"/>
            <a:r>
              <a:rPr lang="en-US" dirty="0"/>
              <a:t>Choose the file format</a:t>
            </a:r>
          </a:p>
          <a:p>
            <a:pPr lvl="1"/>
            <a:r>
              <a:rPr lang="en-US" dirty="0"/>
              <a:t>Store the data in a place where it can be accessed by others</a:t>
            </a:r>
          </a:p>
          <a:p>
            <a:pPr lvl="1"/>
            <a:r>
              <a:rPr lang="en-US" dirty="0"/>
              <a:t>In many cases, data privacy should be considered before sharing the data (anonymize the data).</a:t>
            </a:r>
          </a:p>
          <a:p>
            <a:pPr lvl="1"/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E8420-86C1-8C24-639D-7FE1E3A0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BAF44-790C-F4D4-E4D1-B1D44E63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958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We Collect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Huge Amount of Data</a:t>
            </a:r>
            <a:endParaRPr lang="nl-NL" sz="3200" b="1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DFEFF49-7114-5A49-BA2E-462A2590B1B9}"/>
              </a:ext>
            </a:extLst>
          </p:cNvPr>
          <p:cNvGrpSpPr/>
          <p:nvPr/>
        </p:nvGrpSpPr>
        <p:grpSpPr>
          <a:xfrm>
            <a:off x="5806369" y="1227282"/>
            <a:ext cx="546100" cy="614363"/>
            <a:chOff x="3578225" y="2987675"/>
            <a:chExt cx="546100" cy="614363"/>
          </a:xfrm>
        </p:grpSpPr>
        <p:sp>
          <p:nvSpPr>
            <p:cNvPr id="19" name="Freeform 60">
              <a:extLst>
                <a:ext uri="{FF2B5EF4-FFF2-40B4-BE49-F238E27FC236}">
                  <a16:creationId xmlns:a16="http://schemas.microsoft.com/office/drawing/2014/main" id="{5A7FA9B5-D2E0-C347-AACA-CE996F9B57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383 h 433"/>
                <a:gd name="T2" fmla="*/ 0 w 387"/>
                <a:gd name="T3" fmla="*/ 383 h 433"/>
                <a:gd name="T4" fmla="*/ 333 w 387"/>
                <a:gd name="T5" fmla="*/ 332 h 433"/>
                <a:gd name="T6" fmla="*/ 333 w 387"/>
                <a:gd name="T7" fmla="*/ 68 h 433"/>
                <a:gd name="T8" fmla="*/ 0 w 387"/>
                <a:gd name="T9" fmla="*/ 68 h 433"/>
                <a:gd name="T10" fmla="*/ 0 w 387"/>
                <a:gd name="T11" fmla="*/ 383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333 w 387"/>
                <a:gd name="T25" fmla="*/ 68 h 433"/>
                <a:gd name="T26" fmla="*/ 28 w 387"/>
                <a:gd name="T27" fmla="*/ 68 h 433"/>
                <a:gd name="T28" fmla="*/ 54 w 387"/>
                <a:gd name="T29" fmla="*/ 33 h 433"/>
                <a:gd name="T30" fmla="*/ 54 w 387"/>
                <a:gd name="T31" fmla="*/ 33 h 433"/>
                <a:gd name="T32" fmla="*/ 54 w 387"/>
                <a:gd name="T33" fmla="*/ 0 h 433"/>
                <a:gd name="T34" fmla="*/ 387 w 387"/>
                <a:gd name="T35" fmla="*/ 0 h 433"/>
                <a:gd name="T36" fmla="*/ 387 w 387"/>
                <a:gd name="T37" fmla="*/ 265 h 433"/>
                <a:gd name="T38" fmla="*/ 358 w 387"/>
                <a:gd name="T39" fmla="*/ 266 h 433"/>
                <a:gd name="T40" fmla="*/ 358 w 387"/>
                <a:gd name="T41" fmla="*/ 33 h 433"/>
                <a:gd name="T42" fmla="*/ 54 w 387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7" h="433">
                  <a:moveTo>
                    <a:pt x="0" y="383"/>
                  </a:moveTo>
                  <a:lnTo>
                    <a:pt x="0" y="383"/>
                  </a:lnTo>
                  <a:cubicBezTo>
                    <a:pt x="167" y="433"/>
                    <a:pt x="167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8" y="68"/>
                  </a:lnTo>
                  <a:close/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4" y="33"/>
                  </a:lnTo>
                  <a:close/>
                </a:path>
              </a:pathLst>
            </a:custGeom>
            <a:solidFill>
              <a:srgbClr val="B4C7E7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0" name="Freeform 61">
              <a:extLst>
                <a:ext uri="{FF2B5EF4-FFF2-40B4-BE49-F238E27FC236}">
                  <a16:creationId xmlns:a16="http://schemas.microsoft.com/office/drawing/2014/main" id="{FDF82993-69EF-2A45-B501-9B67CFC40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68 h 433"/>
                <a:gd name="T2" fmla="*/ 0 w 387"/>
                <a:gd name="T3" fmla="*/ 68 h 433"/>
                <a:gd name="T4" fmla="*/ 333 w 387"/>
                <a:gd name="T5" fmla="*/ 68 h 433"/>
                <a:gd name="T6" fmla="*/ 333 w 387"/>
                <a:gd name="T7" fmla="*/ 332 h 433"/>
                <a:gd name="T8" fmla="*/ 0 w 387"/>
                <a:gd name="T9" fmla="*/ 383 h 433"/>
                <a:gd name="T10" fmla="*/ 0 w 387"/>
                <a:gd name="T11" fmla="*/ 68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54 w 387"/>
                <a:gd name="T25" fmla="*/ 33 h 433"/>
                <a:gd name="T26" fmla="*/ 54 w 387"/>
                <a:gd name="T27" fmla="*/ 33 h 433"/>
                <a:gd name="T28" fmla="*/ 54 w 387"/>
                <a:gd name="T29" fmla="*/ 0 h 433"/>
                <a:gd name="T30" fmla="*/ 387 w 387"/>
                <a:gd name="T31" fmla="*/ 0 h 433"/>
                <a:gd name="T32" fmla="*/ 387 w 387"/>
                <a:gd name="T33" fmla="*/ 265 h 433"/>
                <a:gd name="T34" fmla="*/ 358 w 387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7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7" y="332"/>
                    <a:pt x="167" y="433"/>
                    <a:pt x="0" y="383"/>
                  </a:cubicBezTo>
                  <a:lnTo>
                    <a:pt x="0" y="68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1" name="Rectangle 62">
              <a:extLst>
                <a:ext uri="{FF2B5EF4-FFF2-40B4-BE49-F238E27FC236}">
                  <a16:creationId xmlns:a16="http://schemas.microsoft.com/office/drawing/2014/main" id="{92AAB5EC-7AA6-5C43-A3D4-8A81EA092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963" y="3206750"/>
              <a:ext cx="1317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J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63">
              <a:extLst>
                <a:ext uri="{FF2B5EF4-FFF2-40B4-BE49-F238E27FC236}">
                  <a16:creationId xmlns:a16="http://schemas.microsoft.com/office/drawing/2014/main" id="{A59715C0-8DC6-3B4B-92ED-9822548DF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350" y="3206750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C31A03E-BA53-7D4D-AA6A-5434F8623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788" y="3206750"/>
              <a:ext cx="1841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O</a:t>
              </a:r>
              <a:endPara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65">
              <a:extLst>
                <a:ext uri="{FF2B5EF4-FFF2-40B4-BE49-F238E27FC236}">
                  <a16:creationId xmlns:a16="http://schemas.microsoft.com/office/drawing/2014/main" id="{38FA7BB4-5336-4443-9672-1B0FC9173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3206750"/>
              <a:ext cx="1825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N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915C3A-CD2F-D24C-81A2-C62DAD62B99E}"/>
              </a:ext>
            </a:extLst>
          </p:cNvPr>
          <p:cNvGrpSpPr/>
          <p:nvPr/>
        </p:nvGrpSpPr>
        <p:grpSpPr>
          <a:xfrm>
            <a:off x="7464440" y="1612958"/>
            <a:ext cx="544513" cy="614363"/>
            <a:chOff x="1247599" y="2048139"/>
            <a:chExt cx="544513" cy="614363"/>
          </a:xfrm>
        </p:grpSpPr>
        <p:sp>
          <p:nvSpPr>
            <p:cNvPr id="26" name="Freeform 71">
              <a:extLst>
                <a:ext uri="{FF2B5EF4-FFF2-40B4-BE49-F238E27FC236}">
                  <a16:creationId xmlns:a16="http://schemas.microsoft.com/office/drawing/2014/main" id="{338F9DA1-CE51-C64D-88BC-BD4AE4434E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383 h 433"/>
                <a:gd name="T2" fmla="*/ 0 w 386"/>
                <a:gd name="T3" fmla="*/ 383 h 433"/>
                <a:gd name="T4" fmla="*/ 333 w 386"/>
                <a:gd name="T5" fmla="*/ 332 h 433"/>
                <a:gd name="T6" fmla="*/ 333 w 386"/>
                <a:gd name="T7" fmla="*/ 68 h 433"/>
                <a:gd name="T8" fmla="*/ 0 w 386"/>
                <a:gd name="T9" fmla="*/ 68 h 433"/>
                <a:gd name="T10" fmla="*/ 0 w 386"/>
                <a:gd name="T11" fmla="*/ 383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333 w 386"/>
                <a:gd name="T25" fmla="*/ 68 h 433"/>
                <a:gd name="T26" fmla="*/ 27 w 386"/>
                <a:gd name="T27" fmla="*/ 68 h 433"/>
                <a:gd name="T28" fmla="*/ 53 w 386"/>
                <a:gd name="T29" fmla="*/ 33 h 433"/>
                <a:gd name="T30" fmla="*/ 53 w 386"/>
                <a:gd name="T31" fmla="*/ 33 h 433"/>
                <a:gd name="T32" fmla="*/ 53 w 386"/>
                <a:gd name="T33" fmla="*/ 0 h 433"/>
                <a:gd name="T34" fmla="*/ 386 w 386"/>
                <a:gd name="T35" fmla="*/ 0 h 433"/>
                <a:gd name="T36" fmla="*/ 386 w 386"/>
                <a:gd name="T37" fmla="*/ 265 h 433"/>
                <a:gd name="T38" fmla="*/ 358 w 386"/>
                <a:gd name="T39" fmla="*/ 266 h 433"/>
                <a:gd name="T40" fmla="*/ 358 w 386"/>
                <a:gd name="T41" fmla="*/ 33 h 433"/>
                <a:gd name="T42" fmla="*/ 53 w 386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33">
                  <a:moveTo>
                    <a:pt x="0" y="383"/>
                  </a:moveTo>
                  <a:lnTo>
                    <a:pt x="0" y="383"/>
                  </a:lnTo>
                  <a:cubicBezTo>
                    <a:pt x="166" y="433"/>
                    <a:pt x="166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7" y="68"/>
                  </a:lnTo>
                  <a:close/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3" y="33"/>
                  </a:lnTo>
                  <a:close/>
                </a:path>
              </a:pathLst>
            </a:custGeom>
            <a:solidFill>
              <a:srgbClr val="F8CBAD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7" name="Freeform 72">
              <a:extLst>
                <a:ext uri="{FF2B5EF4-FFF2-40B4-BE49-F238E27FC236}">
                  <a16:creationId xmlns:a16="http://schemas.microsoft.com/office/drawing/2014/main" id="{92FB8E30-0692-8442-B82C-34663C0DA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68 h 433"/>
                <a:gd name="T2" fmla="*/ 0 w 386"/>
                <a:gd name="T3" fmla="*/ 68 h 433"/>
                <a:gd name="T4" fmla="*/ 333 w 386"/>
                <a:gd name="T5" fmla="*/ 68 h 433"/>
                <a:gd name="T6" fmla="*/ 333 w 386"/>
                <a:gd name="T7" fmla="*/ 332 h 433"/>
                <a:gd name="T8" fmla="*/ 0 w 386"/>
                <a:gd name="T9" fmla="*/ 383 h 433"/>
                <a:gd name="T10" fmla="*/ 0 w 386"/>
                <a:gd name="T11" fmla="*/ 68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53 w 386"/>
                <a:gd name="T25" fmla="*/ 33 h 433"/>
                <a:gd name="T26" fmla="*/ 53 w 386"/>
                <a:gd name="T27" fmla="*/ 33 h 433"/>
                <a:gd name="T28" fmla="*/ 53 w 386"/>
                <a:gd name="T29" fmla="*/ 0 h 433"/>
                <a:gd name="T30" fmla="*/ 386 w 386"/>
                <a:gd name="T31" fmla="*/ 0 h 433"/>
                <a:gd name="T32" fmla="*/ 386 w 386"/>
                <a:gd name="T33" fmla="*/ 265 h 433"/>
                <a:gd name="T34" fmla="*/ 358 w 386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6" y="332"/>
                    <a:pt x="166" y="433"/>
                    <a:pt x="0" y="383"/>
                  </a:cubicBezTo>
                  <a:lnTo>
                    <a:pt x="0" y="68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8" name="Rectangle 73">
              <a:extLst>
                <a:ext uri="{FF2B5EF4-FFF2-40B4-BE49-F238E27FC236}">
                  <a16:creationId xmlns:a16="http://schemas.microsoft.com/office/drawing/2014/main" id="{EDC0459D-3A4A-0D48-905E-19791FDFB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3324" y="2267214"/>
              <a:ext cx="1619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X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74">
              <a:extLst>
                <a:ext uri="{FF2B5EF4-FFF2-40B4-BE49-F238E27FC236}">
                  <a16:creationId xmlns:a16="http://schemas.microsoft.com/office/drawing/2014/main" id="{C8401974-F3DC-C94E-A950-B57463F7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699" y="2267214"/>
              <a:ext cx="2174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75">
              <a:extLst>
                <a:ext uri="{FF2B5EF4-FFF2-40B4-BE49-F238E27FC236}">
                  <a16:creationId xmlns:a16="http://schemas.microsoft.com/office/drawing/2014/main" id="{622B38DE-7C33-8640-AA07-59D1AC820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461" y="2267214"/>
              <a:ext cx="1476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L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C73389-FE82-A840-80FF-E1BFFD077E33}"/>
              </a:ext>
            </a:extLst>
          </p:cNvPr>
          <p:cNvGrpSpPr/>
          <p:nvPr/>
        </p:nvGrpSpPr>
        <p:grpSpPr>
          <a:xfrm>
            <a:off x="8434198" y="2715706"/>
            <a:ext cx="542925" cy="623888"/>
            <a:chOff x="1147057" y="993775"/>
            <a:chExt cx="542925" cy="623888"/>
          </a:xfrm>
        </p:grpSpPr>
        <p:sp>
          <p:nvSpPr>
            <p:cNvPr id="32" name="Freeform 103">
              <a:extLst>
                <a:ext uri="{FF2B5EF4-FFF2-40B4-BE49-F238E27FC236}">
                  <a16:creationId xmlns:a16="http://schemas.microsoft.com/office/drawing/2014/main" id="{836333DB-795A-E64C-81C6-4EFE2C4532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389 h 440"/>
                <a:gd name="T2" fmla="*/ 0 w 386"/>
                <a:gd name="T3" fmla="*/ 389 h 440"/>
                <a:gd name="T4" fmla="*/ 333 w 386"/>
                <a:gd name="T5" fmla="*/ 337 h 440"/>
                <a:gd name="T6" fmla="*/ 333 w 386"/>
                <a:gd name="T7" fmla="*/ 69 h 440"/>
                <a:gd name="T8" fmla="*/ 0 w 386"/>
                <a:gd name="T9" fmla="*/ 69 h 440"/>
                <a:gd name="T10" fmla="*/ 0 w 386"/>
                <a:gd name="T11" fmla="*/ 38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333 w 386"/>
                <a:gd name="T25" fmla="*/ 69 h 440"/>
                <a:gd name="T26" fmla="*/ 28 w 386"/>
                <a:gd name="T27" fmla="*/ 69 h 440"/>
                <a:gd name="T28" fmla="*/ 53 w 386"/>
                <a:gd name="T29" fmla="*/ 34 h 440"/>
                <a:gd name="T30" fmla="*/ 53 w 386"/>
                <a:gd name="T31" fmla="*/ 34 h 440"/>
                <a:gd name="T32" fmla="*/ 53 w 386"/>
                <a:gd name="T33" fmla="*/ 0 h 440"/>
                <a:gd name="T34" fmla="*/ 386 w 386"/>
                <a:gd name="T35" fmla="*/ 0 h 440"/>
                <a:gd name="T36" fmla="*/ 386 w 386"/>
                <a:gd name="T37" fmla="*/ 269 h 440"/>
                <a:gd name="T38" fmla="*/ 358 w 386"/>
                <a:gd name="T39" fmla="*/ 270 h 440"/>
                <a:gd name="T40" fmla="*/ 358 w 386"/>
                <a:gd name="T41" fmla="*/ 34 h 440"/>
                <a:gd name="T42" fmla="*/ 53 w 386"/>
                <a:gd name="T43" fmla="*/ 3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40">
                  <a:moveTo>
                    <a:pt x="0" y="389"/>
                  </a:moveTo>
                  <a:lnTo>
                    <a:pt x="0" y="389"/>
                  </a:lnTo>
                  <a:cubicBezTo>
                    <a:pt x="166" y="440"/>
                    <a:pt x="166" y="337"/>
                    <a:pt x="333" y="337"/>
                  </a:cubicBezTo>
                  <a:lnTo>
                    <a:pt x="333" y="69"/>
                  </a:lnTo>
                  <a:lnTo>
                    <a:pt x="0" y="69"/>
                  </a:lnTo>
                  <a:lnTo>
                    <a:pt x="0" y="38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lnTo>
                    <a:pt x="333" y="69"/>
                  </a:lnTo>
                  <a:lnTo>
                    <a:pt x="28" y="69"/>
                  </a:lnTo>
                  <a:close/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  <a:lnTo>
                    <a:pt x="358" y="34"/>
                  </a:lnTo>
                  <a:lnTo>
                    <a:pt x="53" y="34"/>
                  </a:lnTo>
                  <a:close/>
                </a:path>
              </a:pathLst>
            </a:custGeom>
            <a:solidFill>
              <a:srgbClr val="C5E0B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33" name="Freeform 104">
              <a:extLst>
                <a:ext uri="{FF2B5EF4-FFF2-40B4-BE49-F238E27FC236}">
                  <a16:creationId xmlns:a16="http://schemas.microsoft.com/office/drawing/2014/main" id="{FE47F326-5510-E34A-8C2F-4BC838598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69 h 440"/>
                <a:gd name="T2" fmla="*/ 0 w 386"/>
                <a:gd name="T3" fmla="*/ 69 h 440"/>
                <a:gd name="T4" fmla="*/ 333 w 386"/>
                <a:gd name="T5" fmla="*/ 69 h 440"/>
                <a:gd name="T6" fmla="*/ 333 w 386"/>
                <a:gd name="T7" fmla="*/ 337 h 440"/>
                <a:gd name="T8" fmla="*/ 0 w 386"/>
                <a:gd name="T9" fmla="*/ 389 h 440"/>
                <a:gd name="T10" fmla="*/ 0 w 386"/>
                <a:gd name="T11" fmla="*/ 6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53 w 386"/>
                <a:gd name="T25" fmla="*/ 34 h 440"/>
                <a:gd name="T26" fmla="*/ 53 w 386"/>
                <a:gd name="T27" fmla="*/ 34 h 440"/>
                <a:gd name="T28" fmla="*/ 53 w 386"/>
                <a:gd name="T29" fmla="*/ 0 h 440"/>
                <a:gd name="T30" fmla="*/ 386 w 386"/>
                <a:gd name="T31" fmla="*/ 0 h 440"/>
                <a:gd name="T32" fmla="*/ 386 w 386"/>
                <a:gd name="T33" fmla="*/ 269 h 440"/>
                <a:gd name="T34" fmla="*/ 358 w 386"/>
                <a:gd name="T35" fmla="*/ 27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40">
                  <a:moveTo>
                    <a:pt x="0" y="69"/>
                  </a:moveTo>
                  <a:lnTo>
                    <a:pt x="0" y="69"/>
                  </a:lnTo>
                  <a:lnTo>
                    <a:pt x="333" y="69"/>
                  </a:lnTo>
                  <a:lnTo>
                    <a:pt x="333" y="337"/>
                  </a:lnTo>
                  <a:cubicBezTo>
                    <a:pt x="166" y="337"/>
                    <a:pt x="166" y="440"/>
                    <a:pt x="0" y="389"/>
                  </a:cubicBezTo>
                  <a:lnTo>
                    <a:pt x="0" y="6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34" name="Rectangle 105">
              <a:extLst>
                <a:ext uri="{FF2B5EF4-FFF2-40B4-BE49-F238E27FC236}">
                  <a16:creationId xmlns:a16="http://schemas.microsoft.com/office/drawing/2014/main" id="{3C3940E4-A88C-F845-847E-0C5EFB468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657" y="1220788"/>
              <a:ext cx="1666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06">
              <a:extLst>
                <a:ext uri="{FF2B5EF4-FFF2-40B4-BE49-F238E27FC236}">
                  <a16:creationId xmlns:a16="http://schemas.microsoft.com/office/drawing/2014/main" id="{B98823A0-AAC9-7A4B-AF70-0B73D030D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557" y="1220788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107">
              <a:extLst>
                <a:ext uri="{FF2B5EF4-FFF2-40B4-BE49-F238E27FC236}">
                  <a16:creationId xmlns:a16="http://schemas.microsoft.com/office/drawing/2014/main" id="{FA33A539-D79E-C142-B9F9-6ED7E68CD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407" y="1220788"/>
              <a:ext cx="1698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V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3A84946-D36E-BF48-BC54-E23595038973}"/>
              </a:ext>
            </a:extLst>
          </p:cNvPr>
          <p:cNvGrpSpPr/>
          <p:nvPr/>
        </p:nvGrpSpPr>
        <p:grpSpPr>
          <a:xfrm>
            <a:off x="8586598" y="2868106"/>
            <a:ext cx="542925" cy="623888"/>
            <a:chOff x="1147057" y="993775"/>
            <a:chExt cx="542925" cy="623888"/>
          </a:xfrm>
        </p:grpSpPr>
        <p:sp>
          <p:nvSpPr>
            <p:cNvPr id="38" name="Freeform 103">
              <a:extLst>
                <a:ext uri="{FF2B5EF4-FFF2-40B4-BE49-F238E27FC236}">
                  <a16:creationId xmlns:a16="http://schemas.microsoft.com/office/drawing/2014/main" id="{0ACDA7AA-8775-1E4E-BCE8-E4440D8CCC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389 h 440"/>
                <a:gd name="T2" fmla="*/ 0 w 386"/>
                <a:gd name="T3" fmla="*/ 389 h 440"/>
                <a:gd name="T4" fmla="*/ 333 w 386"/>
                <a:gd name="T5" fmla="*/ 337 h 440"/>
                <a:gd name="T6" fmla="*/ 333 w 386"/>
                <a:gd name="T7" fmla="*/ 69 h 440"/>
                <a:gd name="T8" fmla="*/ 0 w 386"/>
                <a:gd name="T9" fmla="*/ 69 h 440"/>
                <a:gd name="T10" fmla="*/ 0 w 386"/>
                <a:gd name="T11" fmla="*/ 38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333 w 386"/>
                <a:gd name="T25" fmla="*/ 69 h 440"/>
                <a:gd name="T26" fmla="*/ 28 w 386"/>
                <a:gd name="T27" fmla="*/ 69 h 440"/>
                <a:gd name="T28" fmla="*/ 53 w 386"/>
                <a:gd name="T29" fmla="*/ 34 h 440"/>
                <a:gd name="T30" fmla="*/ 53 w 386"/>
                <a:gd name="T31" fmla="*/ 34 h 440"/>
                <a:gd name="T32" fmla="*/ 53 w 386"/>
                <a:gd name="T33" fmla="*/ 0 h 440"/>
                <a:gd name="T34" fmla="*/ 386 w 386"/>
                <a:gd name="T35" fmla="*/ 0 h 440"/>
                <a:gd name="T36" fmla="*/ 386 w 386"/>
                <a:gd name="T37" fmla="*/ 269 h 440"/>
                <a:gd name="T38" fmla="*/ 358 w 386"/>
                <a:gd name="T39" fmla="*/ 270 h 440"/>
                <a:gd name="T40" fmla="*/ 358 w 386"/>
                <a:gd name="T41" fmla="*/ 34 h 440"/>
                <a:gd name="T42" fmla="*/ 53 w 386"/>
                <a:gd name="T43" fmla="*/ 3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40">
                  <a:moveTo>
                    <a:pt x="0" y="389"/>
                  </a:moveTo>
                  <a:lnTo>
                    <a:pt x="0" y="389"/>
                  </a:lnTo>
                  <a:cubicBezTo>
                    <a:pt x="166" y="440"/>
                    <a:pt x="166" y="337"/>
                    <a:pt x="333" y="337"/>
                  </a:cubicBezTo>
                  <a:lnTo>
                    <a:pt x="333" y="69"/>
                  </a:lnTo>
                  <a:lnTo>
                    <a:pt x="0" y="69"/>
                  </a:lnTo>
                  <a:lnTo>
                    <a:pt x="0" y="38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lnTo>
                    <a:pt x="333" y="69"/>
                  </a:lnTo>
                  <a:lnTo>
                    <a:pt x="28" y="69"/>
                  </a:lnTo>
                  <a:close/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  <a:lnTo>
                    <a:pt x="358" y="34"/>
                  </a:lnTo>
                  <a:lnTo>
                    <a:pt x="53" y="34"/>
                  </a:lnTo>
                  <a:close/>
                </a:path>
              </a:pathLst>
            </a:custGeom>
            <a:solidFill>
              <a:srgbClr val="C5E0B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39" name="Freeform 104">
              <a:extLst>
                <a:ext uri="{FF2B5EF4-FFF2-40B4-BE49-F238E27FC236}">
                  <a16:creationId xmlns:a16="http://schemas.microsoft.com/office/drawing/2014/main" id="{75419131-7D42-A841-9A67-C18DAE1A4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69 h 440"/>
                <a:gd name="T2" fmla="*/ 0 w 386"/>
                <a:gd name="T3" fmla="*/ 69 h 440"/>
                <a:gd name="T4" fmla="*/ 333 w 386"/>
                <a:gd name="T5" fmla="*/ 69 h 440"/>
                <a:gd name="T6" fmla="*/ 333 w 386"/>
                <a:gd name="T7" fmla="*/ 337 h 440"/>
                <a:gd name="T8" fmla="*/ 0 w 386"/>
                <a:gd name="T9" fmla="*/ 389 h 440"/>
                <a:gd name="T10" fmla="*/ 0 w 386"/>
                <a:gd name="T11" fmla="*/ 6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53 w 386"/>
                <a:gd name="T25" fmla="*/ 34 h 440"/>
                <a:gd name="T26" fmla="*/ 53 w 386"/>
                <a:gd name="T27" fmla="*/ 34 h 440"/>
                <a:gd name="T28" fmla="*/ 53 w 386"/>
                <a:gd name="T29" fmla="*/ 0 h 440"/>
                <a:gd name="T30" fmla="*/ 386 w 386"/>
                <a:gd name="T31" fmla="*/ 0 h 440"/>
                <a:gd name="T32" fmla="*/ 386 w 386"/>
                <a:gd name="T33" fmla="*/ 269 h 440"/>
                <a:gd name="T34" fmla="*/ 358 w 386"/>
                <a:gd name="T35" fmla="*/ 27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40">
                  <a:moveTo>
                    <a:pt x="0" y="69"/>
                  </a:moveTo>
                  <a:lnTo>
                    <a:pt x="0" y="69"/>
                  </a:lnTo>
                  <a:lnTo>
                    <a:pt x="333" y="69"/>
                  </a:lnTo>
                  <a:lnTo>
                    <a:pt x="333" y="337"/>
                  </a:lnTo>
                  <a:cubicBezTo>
                    <a:pt x="166" y="337"/>
                    <a:pt x="166" y="440"/>
                    <a:pt x="0" y="389"/>
                  </a:cubicBezTo>
                  <a:lnTo>
                    <a:pt x="0" y="6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40" name="Rectangle 105">
              <a:extLst>
                <a:ext uri="{FF2B5EF4-FFF2-40B4-BE49-F238E27FC236}">
                  <a16:creationId xmlns:a16="http://schemas.microsoft.com/office/drawing/2014/main" id="{81B7D944-09DC-094E-822B-8AA5DFABB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657" y="1220788"/>
              <a:ext cx="1666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106">
              <a:extLst>
                <a:ext uri="{FF2B5EF4-FFF2-40B4-BE49-F238E27FC236}">
                  <a16:creationId xmlns:a16="http://schemas.microsoft.com/office/drawing/2014/main" id="{9916A5B8-128C-8449-A967-F294F4D16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557" y="1220788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107">
              <a:extLst>
                <a:ext uri="{FF2B5EF4-FFF2-40B4-BE49-F238E27FC236}">
                  <a16:creationId xmlns:a16="http://schemas.microsoft.com/office/drawing/2014/main" id="{2509E0AE-4254-8249-9AAB-BAE4EE165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407" y="1220788"/>
              <a:ext cx="1698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V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EAE6F7-DDBF-1140-9BD7-EB37340D863B}"/>
              </a:ext>
            </a:extLst>
          </p:cNvPr>
          <p:cNvGrpSpPr/>
          <p:nvPr/>
        </p:nvGrpSpPr>
        <p:grpSpPr>
          <a:xfrm>
            <a:off x="8738998" y="3020506"/>
            <a:ext cx="542925" cy="623888"/>
            <a:chOff x="1147057" y="993775"/>
            <a:chExt cx="542925" cy="623888"/>
          </a:xfrm>
        </p:grpSpPr>
        <p:sp>
          <p:nvSpPr>
            <p:cNvPr id="44" name="Freeform 103">
              <a:extLst>
                <a:ext uri="{FF2B5EF4-FFF2-40B4-BE49-F238E27FC236}">
                  <a16:creationId xmlns:a16="http://schemas.microsoft.com/office/drawing/2014/main" id="{82F0B17C-EA3B-404C-9F5D-5239C2CBD0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389 h 440"/>
                <a:gd name="T2" fmla="*/ 0 w 386"/>
                <a:gd name="T3" fmla="*/ 389 h 440"/>
                <a:gd name="T4" fmla="*/ 333 w 386"/>
                <a:gd name="T5" fmla="*/ 337 h 440"/>
                <a:gd name="T6" fmla="*/ 333 w 386"/>
                <a:gd name="T7" fmla="*/ 69 h 440"/>
                <a:gd name="T8" fmla="*/ 0 w 386"/>
                <a:gd name="T9" fmla="*/ 69 h 440"/>
                <a:gd name="T10" fmla="*/ 0 w 386"/>
                <a:gd name="T11" fmla="*/ 38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333 w 386"/>
                <a:gd name="T25" fmla="*/ 69 h 440"/>
                <a:gd name="T26" fmla="*/ 28 w 386"/>
                <a:gd name="T27" fmla="*/ 69 h 440"/>
                <a:gd name="T28" fmla="*/ 53 w 386"/>
                <a:gd name="T29" fmla="*/ 34 h 440"/>
                <a:gd name="T30" fmla="*/ 53 w 386"/>
                <a:gd name="T31" fmla="*/ 34 h 440"/>
                <a:gd name="T32" fmla="*/ 53 w 386"/>
                <a:gd name="T33" fmla="*/ 0 h 440"/>
                <a:gd name="T34" fmla="*/ 386 w 386"/>
                <a:gd name="T35" fmla="*/ 0 h 440"/>
                <a:gd name="T36" fmla="*/ 386 w 386"/>
                <a:gd name="T37" fmla="*/ 269 h 440"/>
                <a:gd name="T38" fmla="*/ 358 w 386"/>
                <a:gd name="T39" fmla="*/ 270 h 440"/>
                <a:gd name="T40" fmla="*/ 358 w 386"/>
                <a:gd name="T41" fmla="*/ 34 h 440"/>
                <a:gd name="T42" fmla="*/ 53 w 386"/>
                <a:gd name="T43" fmla="*/ 3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40">
                  <a:moveTo>
                    <a:pt x="0" y="389"/>
                  </a:moveTo>
                  <a:lnTo>
                    <a:pt x="0" y="389"/>
                  </a:lnTo>
                  <a:cubicBezTo>
                    <a:pt x="166" y="440"/>
                    <a:pt x="166" y="337"/>
                    <a:pt x="333" y="337"/>
                  </a:cubicBezTo>
                  <a:lnTo>
                    <a:pt x="333" y="69"/>
                  </a:lnTo>
                  <a:lnTo>
                    <a:pt x="0" y="69"/>
                  </a:lnTo>
                  <a:lnTo>
                    <a:pt x="0" y="38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lnTo>
                    <a:pt x="333" y="69"/>
                  </a:lnTo>
                  <a:lnTo>
                    <a:pt x="28" y="69"/>
                  </a:lnTo>
                  <a:close/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  <a:lnTo>
                    <a:pt x="358" y="34"/>
                  </a:lnTo>
                  <a:lnTo>
                    <a:pt x="53" y="34"/>
                  </a:lnTo>
                  <a:close/>
                </a:path>
              </a:pathLst>
            </a:custGeom>
            <a:solidFill>
              <a:srgbClr val="C5E0B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45" name="Freeform 104">
              <a:extLst>
                <a:ext uri="{FF2B5EF4-FFF2-40B4-BE49-F238E27FC236}">
                  <a16:creationId xmlns:a16="http://schemas.microsoft.com/office/drawing/2014/main" id="{15B64296-A18F-B14C-AB07-E0BA17207F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69 h 440"/>
                <a:gd name="T2" fmla="*/ 0 w 386"/>
                <a:gd name="T3" fmla="*/ 69 h 440"/>
                <a:gd name="T4" fmla="*/ 333 w 386"/>
                <a:gd name="T5" fmla="*/ 69 h 440"/>
                <a:gd name="T6" fmla="*/ 333 w 386"/>
                <a:gd name="T7" fmla="*/ 337 h 440"/>
                <a:gd name="T8" fmla="*/ 0 w 386"/>
                <a:gd name="T9" fmla="*/ 389 h 440"/>
                <a:gd name="T10" fmla="*/ 0 w 386"/>
                <a:gd name="T11" fmla="*/ 6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53 w 386"/>
                <a:gd name="T25" fmla="*/ 34 h 440"/>
                <a:gd name="T26" fmla="*/ 53 w 386"/>
                <a:gd name="T27" fmla="*/ 34 h 440"/>
                <a:gd name="T28" fmla="*/ 53 w 386"/>
                <a:gd name="T29" fmla="*/ 0 h 440"/>
                <a:gd name="T30" fmla="*/ 386 w 386"/>
                <a:gd name="T31" fmla="*/ 0 h 440"/>
                <a:gd name="T32" fmla="*/ 386 w 386"/>
                <a:gd name="T33" fmla="*/ 269 h 440"/>
                <a:gd name="T34" fmla="*/ 358 w 386"/>
                <a:gd name="T35" fmla="*/ 27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40">
                  <a:moveTo>
                    <a:pt x="0" y="69"/>
                  </a:moveTo>
                  <a:lnTo>
                    <a:pt x="0" y="69"/>
                  </a:lnTo>
                  <a:lnTo>
                    <a:pt x="333" y="69"/>
                  </a:lnTo>
                  <a:lnTo>
                    <a:pt x="333" y="337"/>
                  </a:lnTo>
                  <a:cubicBezTo>
                    <a:pt x="166" y="337"/>
                    <a:pt x="166" y="440"/>
                    <a:pt x="0" y="389"/>
                  </a:cubicBezTo>
                  <a:lnTo>
                    <a:pt x="0" y="6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46" name="Rectangle 105">
              <a:extLst>
                <a:ext uri="{FF2B5EF4-FFF2-40B4-BE49-F238E27FC236}">
                  <a16:creationId xmlns:a16="http://schemas.microsoft.com/office/drawing/2014/main" id="{D8F487E6-1474-D24E-A1F7-44C8D364D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657" y="1220788"/>
              <a:ext cx="1666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106">
              <a:extLst>
                <a:ext uri="{FF2B5EF4-FFF2-40B4-BE49-F238E27FC236}">
                  <a16:creationId xmlns:a16="http://schemas.microsoft.com/office/drawing/2014/main" id="{FF7376A0-8949-C143-93F1-A77E68D6E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557" y="1220788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107">
              <a:extLst>
                <a:ext uri="{FF2B5EF4-FFF2-40B4-BE49-F238E27FC236}">
                  <a16:creationId xmlns:a16="http://schemas.microsoft.com/office/drawing/2014/main" id="{4C7CD514-F190-CA47-8AAD-B0BABCEBD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407" y="1220788"/>
              <a:ext cx="1698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V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362A5C2-2412-8D43-AC99-56CFC5C7BC87}"/>
              </a:ext>
            </a:extLst>
          </p:cNvPr>
          <p:cNvGrpSpPr/>
          <p:nvPr/>
        </p:nvGrpSpPr>
        <p:grpSpPr>
          <a:xfrm>
            <a:off x="7616840" y="1765358"/>
            <a:ext cx="544513" cy="614363"/>
            <a:chOff x="1247599" y="2048139"/>
            <a:chExt cx="544513" cy="614363"/>
          </a:xfrm>
        </p:grpSpPr>
        <p:sp>
          <p:nvSpPr>
            <p:cNvPr id="50" name="Freeform 71">
              <a:extLst>
                <a:ext uri="{FF2B5EF4-FFF2-40B4-BE49-F238E27FC236}">
                  <a16:creationId xmlns:a16="http://schemas.microsoft.com/office/drawing/2014/main" id="{77BE4D25-FCBA-F843-98C0-73CB48F928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383 h 433"/>
                <a:gd name="T2" fmla="*/ 0 w 386"/>
                <a:gd name="T3" fmla="*/ 383 h 433"/>
                <a:gd name="T4" fmla="*/ 333 w 386"/>
                <a:gd name="T5" fmla="*/ 332 h 433"/>
                <a:gd name="T6" fmla="*/ 333 w 386"/>
                <a:gd name="T7" fmla="*/ 68 h 433"/>
                <a:gd name="T8" fmla="*/ 0 w 386"/>
                <a:gd name="T9" fmla="*/ 68 h 433"/>
                <a:gd name="T10" fmla="*/ 0 w 386"/>
                <a:gd name="T11" fmla="*/ 383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333 w 386"/>
                <a:gd name="T25" fmla="*/ 68 h 433"/>
                <a:gd name="T26" fmla="*/ 27 w 386"/>
                <a:gd name="T27" fmla="*/ 68 h 433"/>
                <a:gd name="T28" fmla="*/ 53 w 386"/>
                <a:gd name="T29" fmla="*/ 33 h 433"/>
                <a:gd name="T30" fmla="*/ 53 w 386"/>
                <a:gd name="T31" fmla="*/ 33 h 433"/>
                <a:gd name="T32" fmla="*/ 53 w 386"/>
                <a:gd name="T33" fmla="*/ 0 h 433"/>
                <a:gd name="T34" fmla="*/ 386 w 386"/>
                <a:gd name="T35" fmla="*/ 0 h 433"/>
                <a:gd name="T36" fmla="*/ 386 w 386"/>
                <a:gd name="T37" fmla="*/ 265 h 433"/>
                <a:gd name="T38" fmla="*/ 358 w 386"/>
                <a:gd name="T39" fmla="*/ 266 h 433"/>
                <a:gd name="T40" fmla="*/ 358 w 386"/>
                <a:gd name="T41" fmla="*/ 33 h 433"/>
                <a:gd name="T42" fmla="*/ 53 w 386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33">
                  <a:moveTo>
                    <a:pt x="0" y="383"/>
                  </a:moveTo>
                  <a:lnTo>
                    <a:pt x="0" y="383"/>
                  </a:lnTo>
                  <a:cubicBezTo>
                    <a:pt x="166" y="433"/>
                    <a:pt x="166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7" y="68"/>
                  </a:lnTo>
                  <a:close/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3" y="33"/>
                  </a:lnTo>
                  <a:close/>
                </a:path>
              </a:pathLst>
            </a:custGeom>
            <a:solidFill>
              <a:srgbClr val="F8CBAD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51" name="Freeform 72">
              <a:extLst>
                <a:ext uri="{FF2B5EF4-FFF2-40B4-BE49-F238E27FC236}">
                  <a16:creationId xmlns:a16="http://schemas.microsoft.com/office/drawing/2014/main" id="{6C1C75B9-B1BE-C24A-9505-B01FE6B78C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68 h 433"/>
                <a:gd name="T2" fmla="*/ 0 w 386"/>
                <a:gd name="T3" fmla="*/ 68 h 433"/>
                <a:gd name="T4" fmla="*/ 333 w 386"/>
                <a:gd name="T5" fmla="*/ 68 h 433"/>
                <a:gd name="T6" fmla="*/ 333 w 386"/>
                <a:gd name="T7" fmla="*/ 332 h 433"/>
                <a:gd name="T8" fmla="*/ 0 w 386"/>
                <a:gd name="T9" fmla="*/ 383 h 433"/>
                <a:gd name="T10" fmla="*/ 0 w 386"/>
                <a:gd name="T11" fmla="*/ 68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53 w 386"/>
                <a:gd name="T25" fmla="*/ 33 h 433"/>
                <a:gd name="T26" fmla="*/ 53 w 386"/>
                <a:gd name="T27" fmla="*/ 33 h 433"/>
                <a:gd name="T28" fmla="*/ 53 w 386"/>
                <a:gd name="T29" fmla="*/ 0 h 433"/>
                <a:gd name="T30" fmla="*/ 386 w 386"/>
                <a:gd name="T31" fmla="*/ 0 h 433"/>
                <a:gd name="T32" fmla="*/ 386 w 386"/>
                <a:gd name="T33" fmla="*/ 265 h 433"/>
                <a:gd name="T34" fmla="*/ 358 w 386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6" y="332"/>
                    <a:pt x="166" y="433"/>
                    <a:pt x="0" y="383"/>
                  </a:cubicBezTo>
                  <a:lnTo>
                    <a:pt x="0" y="68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52" name="Rectangle 73">
              <a:extLst>
                <a:ext uri="{FF2B5EF4-FFF2-40B4-BE49-F238E27FC236}">
                  <a16:creationId xmlns:a16="http://schemas.microsoft.com/office/drawing/2014/main" id="{368C59D6-E608-4B4F-B5FE-57166668B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3324" y="2267214"/>
              <a:ext cx="1619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X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74">
              <a:extLst>
                <a:ext uri="{FF2B5EF4-FFF2-40B4-BE49-F238E27FC236}">
                  <a16:creationId xmlns:a16="http://schemas.microsoft.com/office/drawing/2014/main" id="{C5702FB8-90AA-BD42-97FF-1D7ECE0D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699" y="2267214"/>
              <a:ext cx="2174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75">
              <a:extLst>
                <a:ext uri="{FF2B5EF4-FFF2-40B4-BE49-F238E27FC236}">
                  <a16:creationId xmlns:a16="http://schemas.microsoft.com/office/drawing/2014/main" id="{9F042D09-2418-CF4F-922E-5F7A4B1D5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461" y="2267214"/>
              <a:ext cx="1476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L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1EC4B26-B816-FC4B-B62B-74723950E6CE}"/>
              </a:ext>
            </a:extLst>
          </p:cNvPr>
          <p:cNvGrpSpPr/>
          <p:nvPr/>
        </p:nvGrpSpPr>
        <p:grpSpPr>
          <a:xfrm>
            <a:off x="7769240" y="1917758"/>
            <a:ext cx="544513" cy="614363"/>
            <a:chOff x="1247599" y="2048139"/>
            <a:chExt cx="544513" cy="614363"/>
          </a:xfrm>
        </p:grpSpPr>
        <p:sp>
          <p:nvSpPr>
            <p:cNvPr id="56" name="Freeform 71">
              <a:extLst>
                <a:ext uri="{FF2B5EF4-FFF2-40B4-BE49-F238E27FC236}">
                  <a16:creationId xmlns:a16="http://schemas.microsoft.com/office/drawing/2014/main" id="{F0511783-9842-034C-82AC-295AE385F8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383 h 433"/>
                <a:gd name="T2" fmla="*/ 0 w 386"/>
                <a:gd name="T3" fmla="*/ 383 h 433"/>
                <a:gd name="T4" fmla="*/ 333 w 386"/>
                <a:gd name="T5" fmla="*/ 332 h 433"/>
                <a:gd name="T6" fmla="*/ 333 w 386"/>
                <a:gd name="T7" fmla="*/ 68 h 433"/>
                <a:gd name="T8" fmla="*/ 0 w 386"/>
                <a:gd name="T9" fmla="*/ 68 h 433"/>
                <a:gd name="T10" fmla="*/ 0 w 386"/>
                <a:gd name="T11" fmla="*/ 383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333 w 386"/>
                <a:gd name="T25" fmla="*/ 68 h 433"/>
                <a:gd name="T26" fmla="*/ 27 w 386"/>
                <a:gd name="T27" fmla="*/ 68 h 433"/>
                <a:gd name="T28" fmla="*/ 53 w 386"/>
                <a:gd name="T29" fmla="*/ 33 h 433"/>
                <a:gd name="T30" fmla="*/ 53 w 386"/>
                <a:gd name="T31" fmla="*/ 33 h 433"/>
                <a:gd name="T32" fmla="*/ 53 w 386"/>
                <a:gd name="T33" fmla="*/ 0 h 433"/>
                <a:gd name="T34" fmla="*/ 386 w 386"/>
                <a:gd name="T35" fmla="*/ 0 h 433"/>
                <a:gd name="T36" fmla="*/ 386 w 386"/>
                <a:gd name="T37" fmla="*/ 265 h 433"/>
                <a:gd name="T38" fmla="*/ 358 w 386"/>
                <a:gd name="T39" fmla="*/ 266 h 433"/>
                <a:gd name="T40" fmla="*/ 358 w 386"/>
                <a:gd name="T41" fmla="*/ 33 h 433"/>
                <a:gd name="T42" fmla="*/ 53 w 386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33">
                  <a:moveTo>
                    <a:pt x="0" y="383"/>
                  </a:moveTo>
                  <a:lnTo>
                    <a:pt x="0" y="383"/>
                  </a:lnTo>
                  <a:cubicBezTo>
                    <a:pt x="166" y="433"/>
                    <a:pt x="166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7" y="68"/>
                  </a:lnTo>
                  <a:close/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3" y="33"/>
                  </a:lnTo>
                  <a:close/>
                </a:path>
              </a:pathLst>
            </a:custGeom>
            <a:solidFill>
              <a:srgbClr val="F8CBAD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57" name="Freeform 72">
              <a:extLst>
                <a:ext uri="{FF2B5EF4-FFF2-40B4-BE49-F238E27FC236}">
                  <a16:creationId xmlns:a16="http://schemas.microsoft.com/office/drawing/2014/main" id="{67A67EF3-3651-5042-BF69-185D78B3FD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68 h 433"/>
                <a:gd name="T2" fmla="*/ 0 w 386"/>
                <a:gd name="T3" fmla="*/ 68 h 433"/>
                <a:gd name="T4" fmla="*/ 333 w 386"/>
                <a:gd name="T5" fmla="*/ 68 h 433"/>
                <a:gd name="T6" fmla="*/ 333 w 386"/>
                <a:gd name="T7" fmla="*/ 332 h 433"/>
                <a:gd name="T8" fmla="*/ 0 w 386"/>
                <a:gd name="T9" fmla="*/ 383 h 433"/>
                <a:gd name="T10" fmla="*/ 0 w 386"/>
                <a:gd name="T11" fmla="*/ 68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53 w 386"/>
                <a:gd name="T25" fmla="*/ 33 h 433"/>
                <a:gd name="T26" fmla="*/ 53 w 386"/>
                <a:gd name="T27" fmla="*/ 33 h 433"/>
                <a:gd name="T28" fmla="*/ 53 w 386"/>
                <a:gd name="T29" fmla="*/ 0 h 433"/>
                <a:gd name="T30" fmla="*/ 386 w 386"/>
                <a:gd name="T31" fmla="*/ 0 h 433"/>
                <a:gd name="T32" fmla="*/ 386 w 386"/>
                <a:gd name="T33" fmla="*/ 265 h 433"/>
                <a:gd name="T34" fmla="*/ 358 w 386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6" y="332"/>
                    <a:pt x="166" y="433"/>
                    <a:pt x="0" y="383"/>
                  </a:cubicBezTo>
                  <a:lnTo>
                    <a:pt x="0" y="68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58" name="Rectangle 73">
              <a:extLst>
                <a:ext uri="{FF2B5EF4-FFF2-40B4-BE49-F238E27FC236}">
                  <a16:creationId xmlns:a16="http://schemas.microsoft.com/office/drawing/2014/main" id="{4DDD103E-4F37-354F-81DB-C1B7FADEA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3324" y="2267214"/>
              <a:ext cx="1619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X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74">
              <a:extLst>
                <a:ext uri="{FF2B5EF4-FFF2-40B4-BE49-F238E27FC236}">
                  <a16:creationId xmlns:a16="http://schemas.microsoft.com/office/drawing/2014/main" id="{7489273D-C4A1-0D4A-A855-D59B4577F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699" y="2267214"/>
              <a:ext cx="2174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</a:t>
              </a:r>
              <a:endPara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75">
              <a:extLst>
                <a:ext uri="{FF2B5EF4-FFF2-40B4-BE49-F238E27FC236}">
                  <a16:creationId xmlns:a16="http://schemas.microsoft.com/office/drawing/2014/main" id="{F3BF23BF-BE8E-1946-9051-EE5A7EB0B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461" y="2267214"/>
              <a:ext cx="1476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L</a:t>
              </a:r>
              <a:endPara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4526C42-EE27-9143-8E57-6B7856D18714}"/>
              </a:ext>
            </a:extLst>
          </p:cNvPr>
          <p:cNvGrpSpPr/>
          <p:nvPr/>
        </p:nvGrpSpPr>
        <p:grpSpPr>
          <a:xfrm>
            <a:off x="5958769" y="1379682"/>
            <a:ext cx="546100" cy="614363"/>
            <a:chOff x="3578225" y="2987675"/>
            <a:chExt cx="546100" cy="614363"/>
          </a:xfrm>
        </p:grpSpPr>
        <p:sp>
          <p:nvSpPr>
            <p:cNvPr id="62" name="Freeform 60">
              <a:extLst>
                <a:ext uri="{FF2B5EF4-FFF2-40B4-BE49-F238E27FC236}">
                  <a16:creationId xmlns:a16="http://schemas.microsoft.com/office/drawing/2014/main" id="{9379A5E5-0851-1B40-BD7C-2CC5820949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383 h 433"/>
                <a:gd name="T2" fmla="*/ 0 w 387"/>
                <a:gd name="T3" fmla="*/ 383 h 433"/>
                <a:gd name="T4" fmla="*/ 333 w 387"/>
                <a:gd name="T5" fmla="*/ 332 h 433"/>
                <a:gd name="T6" fmla="*/ 333 w 387"/>
                <a:gd name="T7" fmla="*/ 68 h 433"/>
                <a:gd name="T8" fmla="*/ 0 w 387"/>
                <a:gd name="T9" fmla="*/ 68 h 433"/>
                <a:gd name="T10" fmla="*/ 0 w 387"/>
                <a:gd name="T11" fmla="*/ 383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333 w 387"/>
                <a:gd name="T25" fmla="*/ 68 h 433"/>
                <a:gd name="T26" fmla="*/ 28 w 387"/>
                <a:gd name="T27" fmla="*/ 68 h 433"/>
                <a:gd name="T28" fmla="*/ 54 w 387"/>
                <a:gd name="T29" fmla="*/ 33 h 433"/>
                <a:gd name="T30" fmla="*/ 54 w 387"/>
                <a:gd name="T31" fmla="*/ 33 h 433"/>
                <a:gd name="T32" fmla="*/ 54 w 387"/>
                <a:gd name="T33" fmla="*/ 0 h 433"/>
                <a:gd name="T34" fmla="*/ 387 w 387"/>
                <a:gd name="T35" fmla="*/ 0 h 433"/>
                <a:gd name="T36" fmla="*/ 387 w 387"/>
                <a:gd name="T37" fmla="*/ 265 h 433"/>
                <a:gd name="T38" fmla="*/ 358 w 387"/>
                <a:gd name="T39" fmla="*/ 266 h 433"/>
                <a:gd name="T40" fmla="*/ 358 w 387"/>
                <a:gd name="T41" fmla="*/ 33 h 433"/>
                <a:gd name="T42" fmla="*/ 54 w 387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7" h="433">
                  <a:moveTo>
                    <a:pt x="0" y="383"/>
                  </a:moveTo>
                  <a:lnTo>
                    <a:pt x="0" y="383"/>
                  </a:lnTo>
                  <a:cubicBezTo>
                    <a:pt x="167" y="433"/>
                    <a:pt x="167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8" y="68"/>
                  </a:lnTo>
                  <a:close/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4" y="33"/>
                  </a:lnTo>
                  <a:close/>
                </a:path>
              </a:pathLst>
            </a:custGeom>
            <a:solidFill>
              <a:srgbClr val="B4C7E7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5289C8B5-6010-9343-9FFA-612BA3E1A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68 h 433"/>
                <a:gd name="T2" fmla="*/ 0 w 387"/>
                <a:gd name="T3" fmla="*/ 68 h 433"/>
                <a:gd name="T4" fmla="*/ 333 w 387"/>
                <a:gd name="T5" fmla="*/ 68 h 433"/>
                <a:gd name="T6" fmla="*/ 333 w 387"/>
                <a:gd name="T7" fmla="*/ 332 h 433"/>
                <a:gd name="T8" fmla="*/ 0 w 387"/>
                <a:gd name="T9" fmla="*/ 383 h 433"/>
                <a:gd name="T10" fmla="*/ 0 w 387"/>
                <a:gd name="T11" fmla="*/ 68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54 w 387"/>
                <a:gd name="T25" fmla="*/ 33 h 433"/>
                <a:gd name="T26" fmla="*/ 54 w 387"/>
                <a:gd name="T27" fmla="*/ 33 h 433"/>
                <a:gd name="T28" fmla="*/ 54 w 387"/>
                <a:gd name="T29" fmla="*/ 0 h 433"/>
                <a:gd name="T30" fmla="*/ 387 w 387"/>
                <a:gd name="T31" fmla="*/ 0 h 433"/>
                <a:gd name="T32" fmla="*/ 387 w 387"/>
                <a:gd name="T33" fmla="*/ 265 h 433"/>
                <a:gd name="T34" fmla="*/ 358 w 387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7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7" y="332"/>
                    <a:pt x="167" y="433"/>
                    <a:pt x="0" y="383"/>
                  </a:cubicBezTo>
                  <a:lnTo>
                    <a:pt x="0" y="68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64" name="Rectangle 62">
              <a:extLst>
                <a:ext uri="{FF2B5EF4-FFF2-40B4-BE49-F238E27FC236}">
                  <a16:creationId xmlns:a16="http://schemas.microsoft.com/office/drawing/2014/main" id="{C83A9F01-7CE3-A247-9096-6F89D6964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963" y="3206750"/>
              <a:ext cx="1317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J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63">
              <a:extLst>
                <a:ext uri="{FF2B5EF4-FFF2-40B4-BE49-F238E27FC236}">
                  <a16:creationId xmlns:a16="http://schemas.microsoft.com/office/drawing/2014/main" id="{48665443-5AC8-904D-A094-743CCD268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350" y="3206750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64">
              <a:extLst>
                <a:ext uri="{FF2B5EF4-FFF2-40B4-BE49-F238E27FC236}">
                  <a16:creationId xmlns:a16="http://schemas.microsoft.com/office/drawing/2014/main" id="{0BA34A23-2A52-6C4D-8667-09BD7E38A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788" y="3206750"/>
              <a:ext cx="1841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O</a:t>
              </a:r>
              <a:endPara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65">
              <a:extLst>
                <a:ext uri="{FF2B5EF4-FFF2-40B4-BE49-F238E27FC236}">
                  <a16:creationId xmlns:a16="http://schemas.microsoft.com/office/drawing/2014/main" id="{A0CC8A8B-889D-4542-B998-21D560272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3206750"/>
              <a:ext cx="1825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N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6DEC434-6AE3-9640-A452-F8E5564AB210}"/>
              </a:ext>
            </a:extLst>
          </p:cNvPr>
          <p:cNvGrpSpPr/>
          <p:nvPr/>
        </p:nvGrpSpPr>
        <p:grpSpPr>
          <a:xfrm>
            <a:off x="6111169" y="1532082"/>
            <a:ext cx="546100" cy="614363"/>
            <a:chOff x="3578225" y="2987675"/>
            <a:chExt cx="546100" cy="614363"/>
          </a:xfrm>
        </p:grpSpPr>
        <p:sp>
          <p:nvSpPr>
            <p:cNvPr id="69" name="Freeform 60">
              <a:extLst>
                <a:ext uri="{FF2B5EF4-FFF2-40B4-BE49-F238E27FC236}">
                  <a16:creationId xmlns:a16="http://schemas.microsoft.com/office/drawing/2014/main" id="{BB310F7D-D121-1A4A-A926-3714955EE7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383 h 433"/>
                <a:gd name="T2" fmla="*/ 0 w 387"/>
                <a:gd name="T3" fmla="*/ 383 h 433"/>
                <a:gd name="T4" fmla="*/ 333 w 387"/>
                <a:gd name="T5" fmla="*/ 332 h 433"/>
                <a:gd name="T6" fmla="*/ 333 w 387"/>
                <a:gd name="T7" fmla="*/ 68 h 433"/>
                <a:gd name="T8" fmla="*/ 0 w 387"/>
                <a:gd name="T9" fmla="*/ 68 h 433"/>
                <a:gd name="T10" fmla="*/ 0 w 387"/>
                <a:gd name="T11" fmla="*/ 383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333 w 387"/>
                <a:gd name="T25" fmla="*/ 68 h 433"/>
                <a:gd name="T26" fmla="*/ 28 w 387"/>
                <a:gd name="T27" fmla="*/ 68 h 433"/>
                <a:gd name="T28" fmla="*/ 54 w 387"/>
                <a:gd name="T29" fmla="*/ 33 h 433"/>
                <a:gd name="T30" fmla="*/ 54 w 387"/>
                <a:gd name="T31" fmla="*/ 33 h 433"/>
                <a:gd name="T32" fmla="*/ 54 w 387"/>
                <a:gd name="T33" fmla="*/ 0 h 433"/>
                <a:gd name="T34" fmla="*/ 387 w 387"/>
                <a:gd name="T35" fmla="*/ 0 h 433"/>
                <a:gd name="T36" fmla="*/ 387 w 387"/>
                <a:gd name="T37" fmla="*/ 265 h 433"/>
                <a:gd name="T38" fmla="*/ 358 w 387"/>
                <a:gd name="T39" fmla="*/ 266 h 433"/>
                <a:gd name="T40" fmla="*/ 358 w 387"/>
                <a:gd name="T41" fmla="*/ 33 h 433"/>
                <a:gd name="T42" fmla="*/ 54 w 387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7" h="433">
                  <a:moveTo>
                    <a:pt x="0" y="383"/>
                  </a:moveTo>
                  <a:lnTo>
                    <a:pt x="0" y="383"/>
                  </a:lnTo>
                  <a:cubicBezTo>
                    <a:pt x="167" y="433"/>
                    <a:pt x="167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8" y="68"/>
                  </a:lnTo>
                  <a:close/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4" y="33"/>
                  </a:lnTo>
                  <a:close/>
                </a:path>
              </a:pathLst>
            </a:custGeom>
            <a:solidFill>
              <a:srgbClr val="B4C7E7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70" name="Freeform 61">
              <a:extLst>
                <a:ext uri="{FF2B5EF4-FFF2-40B4-BE49-F238E27FC236}">
                  <a16:creationId xmlns:a16="http://schemas.microsoft.com/office/drawing/2014/main" id="{C5D6470D-5ECC-4D42-9246-0C0CDCC986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68 h 433"/>
                <a:gd name="T2" fmla="*/ 0 w 387"/>
                <a:gd name="T3" fmla="*/ 68 h 433"/>
                <a:gd name="T4" fmla="*/ 333 w 387"/>
                <a:gd name="T5" fmla="*/ 68 h 433"/>
                <a:gd name="T6" fmla="*/ 333 w 387"/>
                <a:gd name="T7" fmla="*/ 332 h 433"/>
                <a:gd name="T8" fmla="*/ 0 w 387"/>
                <a:gd name="T9" fmla="*/ 383 h 433"/>
                <a:gd name="T10" fmla="*/ 0 w 387"/>
                <a:gd name="T11" fmla="*/ 68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54 w 387"/>
                <a:gd name="T25" fmla="*/ 33 h 433"/>
                <a:gd name="T26" fmla="*/ 54 w 387"/>
                <a:gd name="T27" fmla="*/ 33 h 433"/>
                <a:gd name="T28" fmla="*/ 54 w 387"/>
                <a:gd name="T29" fmla="*/ 0 h 433"/>
                <a:gd name="T30" fmla="*/ 387 w 387"/>
                <a:gd name="T31" fmla="*/ 0 h 433"/>
                <a:gd name="T32" fmla="*/ 387 w 387"/>
                <a:gd name="T33" fmla="*/ 265 h 433"/>
                <a:gd name="T34" fmla="*/ 358 w 387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7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7" y="332"/>
                    <a:pt x="167" y="433"/>
                    <a:pt x="0" y="383"/>
                  </a:cubicBezTo>
                  <a:lnTo>
                    <a:pt x="0" y="68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71" name="Rectangle 62">
              <a:extLst>
                <a:ext uri="{FF2B5EF4-FFF2-40B4-BE49-F238E27FC236}">
                  <a16:creationId xmlns:a16="http://schemas.microsoft.com/office/drawing/2014/main" id="{EC33D13E-4ECD-6644-8D79-E6E343EF6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963" y="3206750"/>
              <a:ext cx="1317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J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63">
              <a:extLst>
                <a:ext uri="{FF2B5EF4-FFF2-40B4-BE49-F238E27FC236}">
                  <a16:creationId xmlns:a16="http://schemas.microsoft.com/office/drawing/2014/main" id="{6C5F1153-2164-D448-A725-FB07440BD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350" y="3206750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64">
              <a:extLst>
                <a:ext uri="{FF2B5EF4-FFF2-40B4-BE49-F238E27FC236}">
                  <a16:creationId xmlns:a16="http://schemas.microsoft.com/office/drawing/2014/main" id="{1590A1AA-40D6-E249-9C91-E930F7177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788" y="3206750"/>
              <a:ext cx="1841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O</a:t>
              </a:r>
              <a:endPara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65">
              <a:extLst>
                <a:ext uri="{FF2B5EF4-FFF2-40B4-BE49-F238E27FC236}">
                  <a16:creationId xmlns:a16="http://schemas.microsoft.com/office/drawing/2014/main" id="{61F5DA90-1366-1D47-9363-0B3E51CD3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3206750"/>
              <a:ext cx="1825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N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75" name="Picture 74" descr="A picture containing cup, mug&#10;&#10;Description automatically generated">
            <a:extLst>
              <a:ext uri="{FF2B5EF4-FFF2-40B4-BE49-F238E27FC236}">
                <a16:creationId xmlns:a16="http://schemas.microsoft.com/office/drawing/2014/main" id="{17B93ABF-2B5D-8849-BF19-2160A7F100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7" t="12222" r="9140" b="13334"/>
          <a:stretch/>
        </p:blipFill>
        <p:spPr>
          <a:xfrm>
            <a:off x="3273095" y="1565447"/>
            <a:ext cx="593371" cy="736220"/>
          </a:xfrm>
          <a:prstGeom prst="rect">
            <a:avLst/>
          </a:prstGeom>
        </p:spPr>
      </p:pic>
      <p:pic>
        <p:nvPicPr>
          <p:cNvPr id="76" name="Picture 75" descr="A picture containing cup, mug&#10;&#10;Description automatically generated">
            <a:extLst>
              <a:ext uri="{FF2B5EF4-FFF2-40B4-BE49-F238E27FC236}">
                <a16:creationId xmlns:a16="http://schemas.microsoft.com/office/drawing/2014/main" id="{C4CE6CAD-EE1C-0049-85F4-E4548A36BFF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7" t="12222" r="9140" b="13334"/>
          <a:stretch/>
        </p:blipFill>
        <p:spPr>
          <a:xfrm>
            <a:off x="3425495" y="1717847"/>
            <a:ext cx="593371" cy="736220"/>
          </a:xfrm>
          <a:prstGeom prst="rect">
            <a:avLst/>
          </a:prstGeom>
        </p:spPr>
      </p:pic>
      <p:pic>
        <p:nvPicPr>
          <p:cNvPr id="77" name="Picture 76" descr="A picture containing cup, mug&#10;&#10;Description automatically generated">
            <a:extLst>
              <a:ext uri="{FF2B5EF4-FFF2-40B4-BE49-F238E27FC236}">
                <a16:creationId xmlns:a16="http://schemas.microsoft.com/office/drawing/2014/main" id="{FC32FF3C-D0E2-134E-A6D8-F951335C40F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7" t="12222" r="9140" b="13334"/>
          <a:stretch/>
        </p:blipFill>
        <p:spPr>
          <a:xfrm>
            <a:off x="3577895" y="1870247"/>
            <a:ext cx="593371" cy="736220"/>
          </a:xfrm>
          <a:prstGeom prst="rect">
            <a:avLst/>
          </a:prstGeom>
        </p:spPr>
      </p:pic>
      <p:pic>
        <p:nvPicPr>
          <p:cNvPr id="78" name="Picture 77" descr="A close up of a logo&#10;&#10;Description automatically generated">
            <a:extLst>
              <a:ext uri="{FF2B5EF4-FFF2-40B4-BE49-F238E27FC236}">
                <a16:creationId xmlns:a16="http://schemas.microsoft.com/office/drawing/2014/main" id="{562D4FDC-19F5-904D-95C9-A33BCE12293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7" t="14179" r="20052" b="2239"/>
          <a:stretch/>
        </p:blipFill>
        <p:spPr>
          <a:xfrm>
            <a:off x="1740101" y="3935274"/>
            <a:ext cx="1292181" cy="854870"/>
          </a:xfrm>
          <a:prstGeom prst="rect">
            <a:avLst/>
          </a:prstGeom>
        </p:spPr>
      </p:pic>
      <p:pic>
        <p:nvPicPr>
          <p:cNvPr id="79" name="Picture 78" descr="A close up of a logo&#10;&#10;Description automatically generated">
            <a:extLst>
              <a:ext uri="{FF2B5EF4-FFF2-40B4-BE49-F238E27FC236}">
                <a16:creationId xmlns:a16="http://schemas.microsoft.com/office/drawing/2014/main" id="{3D9892EC-10B9-4E42-98CE-BE300E7699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7" t="14179" r="20052" b="2239"/>
          <a:stretch/>
        </p:blipFill>
        <p:spPr>
          <a:xfrm>
            <a:off x="1892501" y="4087674"/>
            <a:ext cx="1292181" cy="854870"/>
          </a:xfrm>
          <a:prstGeom prst="rect">
            <a:avLst/>
          </a:prstGeom>
        </p:spPr>
      </p:pic>
      <p:pic>
        <p:nvPicPr>
          <p:cNvPr id="80" name="Picture 79" descr="A close up of a logo&#10;&#10;Description automatically generated">
            <a:extLst>
              <a:ext uri="{FF2B5EF4-FFF2-40B4-BE49-F238E27FC236}">
                <a16:creationId xmlns:a16="http://schemas.microsoft.com/office/drawing/2014/main" id="{874C7560-FA2D-8248-8820-4EA8EDFEA9A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7" t="14179" r="20052" b="2239"/>
          <a:stretch/>
        </p:blipFill>
        <p:spPr>
          <a:xfrm>
            <a:off x="2044901" y="4240074"/>
            <a:ext cx="1292181" cy="854870"/>
          </a:xfrm>
          <a:prstGeom prst="rect">
            <a:avLst/>
          </a:prstGeom>
        </p:spPr>
      </p:pic>
      <p:pic>
        <p:nvPicPr>
          <p:cNvPr id="81" name="Picture 80" descr="A picture containing mug, cup, table&#10;&#10;Description automatically generated">
            <a:extLst>
              <a:ext uri="{FF2B5EF4-FFF2-40B4-BE49-F238E27FC236}">
                <a16:creationId xmlns:a16="http://schemas.microsoft.com/office/drawing/2014/main" id="{6E8032D2-0197-7645-95B6-C6D3109810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0" t="10645" r="9205" b="5555"/>
          <a:stretch/>
        </p:blipFill>
        <p:spPr>
          <a:xfrm>
            <a:off x="8911377" y="4059021"/>
            <a:ext cx="1159798" cy="986567"/>
          </a:xfrm>
          <a:prstGeom prst="rect">
            <a:avLst/>
          </a:prstGeom>
        </p:spPr>
      </p:pic>
      <p:pic>
        <p:nvPicPr>
          <p:cNvPr id="82" name="Picture 81" descr="A picture containing mug, cup, table&#10;&#10;Description automatically generated">
            <a:extLst>
              <a:ext uri="{FF2B5EF4-FFF2-40B4-BE49-F238E27FC236}">
                <a16:creationId xmlns:a16="http://schemas.microsoft.com/office/drawing/2014/main" id="{769401CF-55DD-4648-92F0-39674B72BA4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0" t="10645" r="9205" b="5555"/>
          <a:stretch/>
        </p:blipFill>
        <p:spPr>
          <a:xfrm>
            <a:off x="9063777" y="4211421"/>
            <a:ext cx="1159798" cy="986567"/>
          </a:xfrm>
          <a:prstGeom prst="rect">
            <a:avLst/>
          </a:prstGeom>
        </p:spPr>
      </p:pic>
      <p:pic>
        <p:nvPicPr>
          <p:cNvPr id="83" name="Picture 82" descr="A picture containing mug, cup, table&#10;&#10;Description automatically generated">
            <a:extLst>
              <a:ext uri="{FF2B5EF4-FFF2-40B4-BE49-F238E27FC236}">
                <a16:creationId xmlns:a16="http://schemas.microsoft.com/office/drawing/2014/main" id="{B89DEFA2-E7C7-4644-9F0D-4546D903CB1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0" t="10645" r="9205" b="5555"/>
          <a:stretch/>
        </p:blipFill>
        <p:spPr>
          <a:xfrm>
            <a:off x="9216177" y="4363821"/>
            <a:ext cx="1159798" cy="986567"/>
          </a:xfrm>
          <a:prstGeom prst="rect">
            <a:avLst/>
          </a:prstGeom>
        </p:spPr>
      </p:pic>
      <p:grpSp>
        <p:nvGrpSpPr>
          <p:cNvPr id="84" name="Group 83">
            <a:extLst>
              <a:ext uri="{FF2B5EF4-FFF2-40B4-BE49-F238E27FC236}">
                <a16:creationId xmlns:a16="http://schemas.microsoft.com/office/drawing/2014/main" id="{504CF793-5225-744F-8106-6132591F4B5B}"/>
              </a:ext>
            </a:extLst>
          </p:cNvPr>
          <p:cNvGrpSpPr/>
          <p:nvPr/>
        </p:nvGrpSpPr>
        <p:grpSpPr>
          <a:xfrm>
            <a:off x="4483366" y="2911930"/>
            <a:ext cx="2878473" cy="1868555"/>
            <a:chOff x="3056010" y="2209403"/>
            <a:chExt cx="2878473" cy="1868555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13B17BB-9B78-8E42-95EF-C7F4C4B8884A}"/>
                </a:ext>
              </a:extLst>
            </p:cNvPr>
            <p:cNvGrpSpPr/>
            <p:nvPr/>
          </p:nvGrpSpPr>
          <p:grpSpPr>
            <a:xfrm>
              <a:off x="3056010" y="2209403"/>
              <a:ext cx="2878473" cy="1868555"/>
              <a:chOff x="3261691" y="2166329"/>
              <a:chExt cx="2878473" cy="1868555"/>
            </a:xfrm>
          </p:grpSpPr>
          <p:pic>
            <p:nvPicPr>
              <p:cNvPr id="87" name="Picture 86" descr="A close up of a map&#10;&#10;Description automatically generated">
                <a:extLst>
                  <a:ext uri="{FF2B5EF4-FFF2-40B4-BE49-F238E27FC236}">
                    <a16:creationId xmlns:a16="http://schemas.microsoft.com/office/drawing/2014/main" id="{8D78CB74-04C9-224D-B932-2BDB32A2F6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99" t="31692" r="37500" b="32502"/>
              <a:stretch/>
            </p:blipFill>
            <p:spPr>
              <a:xfrm>
                <a:off x="3588697" y="2306548"/>
                <a:ext cx="2112254" cy="1728336"/>
              </a:xfrm>
              <a:prstGeom prst="rect">
                <a:avLst/>
              </a:prstGeom>
            </p:spPr>
          </p:pic>
          <p:sp>
            <p:nvSpPr>
              <p:cNvPr id="88" name="Isosceles Triangle 199">
                <a:extLst>
                  <a:ext uri="{FF2B5EF4-FFF2-40B4-BE49-F238E27FC236}">
                    <a16:creationId xmlns:a16="http://schemas.microsoft.com/office/drawing/2014/main" id="{0EDEC26F-C4D1-D141-BF13-A14817BFC838}"/>
                  </a:ext>
                </a:extLst>
              </p:cNvPr>
              <p:cNvSpPr/>
              <p:nvPr/>
            </p:nvSpPr>
            <p:spPr>
              <a:xfrm rot="4208926">
                <a:off x="5494727" y="3280544"/>
                <a:ext cx="766826" cy="524048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604395F-2F6E-2D44-86E8-8CA3A1260963}"/>
                  </a:ext>
                </a:extLst>
              </p:cNvPr>
              <p:cNvSpPr/>
              <p:nvPr/>
            </p:nvSpPr>
            <p:spPr>
              <a:xfrm>
                <a:off x="5501487" y="2187222"/>
                <a:ext cx="235976" cy="11102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1122AA46-DE85-1643-A7F6-A5B86CFC8EE7}"/>
                  </a:ext>
                </a:extLst>
              </p:cNvPr>
              <p:cNvSpPr/>
              <p:nvPr/>
            </p:nvSpPr>
            <p:spPr>
              <a:xfrm>
                <a:off x="5562600" y="2339622"/>
                <a:ext cx="235976" cy="11102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BAF3EBCF-E507-5742-AF08-737BE3ACBECE}"/>
                  </a:ext>
                </a:extLst>
              </p:cNvPr>
              <p:cNvSpPr/>
              <p:nvPr/>
            </p:nvSpPr>
            <p:spPr>
              <a:xfrm>
                <a:off x="3542660" y="2166329"/>
                <a:ext cx="343540" cy="11102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92" name="Isosceles Triangle 203">
                <a:extLst>
                  <a:ext uri="{FF2B5EF4-FFF2-40B4-BE49-F238E27FC236}">
                    <a16:creationId xmlns:a16="http://schemas.microsoft.com/office/drawing/2014/main" id="{9E0CB214-1939-1740-BC8F-2112C6FDB176}"/>
                  </a:ext>
                </a:extLst>
              </p:cNvPr>
              <p:cNvSpPr/>
              <p:nvPr/>
            </p:nvSpPr>
            <p:spPr>
              <a:xfrm rot="3161324">
                <a:off x="3166302" y="3119749"/>
                <a:ext cx="854754" cy="663975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</p:grp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AFEC6FC-8EB4-8246-89C0-D03C72C25BE6}"/>
                </a:ext>
              </a:extLst>
            </p:cNvPr>
            <p:cNvSpPr/>
            <p:nvPr/>
          </p:nvSpPr>
          <p:spPr>
            <a:xfrm>
              <a:off x="3745089" y="2398623"/>
              <a:ext cx="1464381" cy="8850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Data Analytics</a:t>
              </a:r>
              <a:endParaRPr lang="nl-NL" sz="2400" b="1" dirty="0"/>
            </a:p>
          </p:txBody>
        </p:sp>
      </p:grpSp>
      <p:pic>
        <p:nvPicPr>
          <p:cNvPr id="93" name="Picture 92">
            <a:extLst>
              <a:ext uri="{FF2B5EF4-FFF2-40B4-BE49-F238E27FC236}">
                <a16:creationId xmlns:a16="http://schemas.microsoft.com/office/drawing/2014/main" id="{BB3DC9F4-4126-3A44-9C1B-A6BABC8B92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173253">
            <a:off x="6879336" y="2098871"/>
            <a:ext cx="360000" cy="11956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B072F42E-DF70-934B-9860-CAFDF6090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1294677">
            <a:off x="5943700" y="2135654"/>
            <a:ext cx="360000" cy="870683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C9D18943-2DDB-A647-8E97-B4448A21E93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 rot="7573268">
            <a:off x="4366982" y="2220803"/>
            <a:ext cx="360000" cy="133589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BCBCEE94-957F-0240-BD81-D9776B7E8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5161188">
            <a:off x="7301490" y="2467851"/>
            <a:ext cx="360000" cy="172854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E9D2BBEB-1888-4045-9332-2384B11370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744414">
            <a:off x="7473998" y="3689288"/>
            <a:ext cx="360000" cy="169945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FED26DAC-91F0-7547-A5BF-6198C02FCF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884304">
            <a:off x="4064584" y="3758312"/>
            <a:ext cx="360000" cy="1427894"/>
          </a:xfrm>
          <a:prstGeom prst="rect">
            <a:avLst/>
          </a:prstGeom>
        </p:spPr>
      </p:pic>
      <p:sp>
        <p:nvSpPr>
          <p:cNvPr id="99" name="Rounded Rectangle 22">
            <a:extLst>
              <a:ext uri="{FF2B5EF4-FFF2-40B4-BE49-F238E27FC236}">
                <a16:creationId xmlns:a16="http://schemas.microsoft.com/office/drawing/2014/main" id="{2327FF77-C5D2-FB44-B94E-2051B6EC4DA1}"/>
              </a:ext>
            </a:extLst>
          </p:cNvPr>
          <p:cNvSpPr/>
          <p:nvPr/>
        </p:nvSpPr>
        <p:spPr>
          <a:xfrm>
            <a:off x="3559879" y="5698692"/>
            <a:ext cx="4975919" cy="5491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000" dirty="0"/>
              <a:t>Data is stored in </a:t>
            </a:r>
            <a:r>
              <a:rPr lang="en-US" sz="2000" b="1" dirty="0">
                <a:solidFill>
                  <a:srgbClr val="C00000"/>
                </a:solidFill>
              </a:rPr>
              <a:t>different formats 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85D048D-C315-E5A2-6536-17BB5396AAC2}"/>
              </a:ext>
            </a:extLst>
          </p:cNvPr>
          <p:cNvGrpSpPr/>
          <p:nvPr/>
        </p:nvGrpSpPr>
        <p:grpSpPr>
          <a:xfrm>
            <a:off x="1966325" y="2379721"/>
            <a:ext cx="849313" cy="919163"/>
            <a:chOff x="9796076" y="1102101"/>
            <a:chExt cx="849313" cy="91916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1254E70-FE2D-9B71-F60B-717344F15448}"/>
                </a:ext>
              </a:extLst>
            </p:cNvPr>
            <p:cNvGrpSpPr/>
            <p:nvPr/>
          </p:nvGrpSpPr>
          <p:grpSpPr>
            <a:xfrm>
              <a:off x="9796076" y="1102101"/>
              <a:ext cx="544513" cy="614363"/>
              <a:chOff x="9796076" y="1102101"/>
              <a:chExt cx="544513" cy="614363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C4A5C6F-AEE6-5C50-9DFB-09A514B217FB}"/>
                  </a:ext>
                </a:extLst>
              </p:cNvPr>
              <p:cNvGrpSpPr/>
              <p:nvPr/>
            </p:nvGrpSpPr>
            <p:grpSpPr>
              <a:xfrm>
                <a:off x="9796076" y="1102101"/>
                <a:ext cx="544513" cy="614363"/>
                <a:chOff x="1247599" y="2048139"/>
                <a:chExt cx="544513" cy="614363"/>
              </a:xfrm>
              <a:solidFill>
                <a:srgbClr val="00B0F0"/>
              </a:solidFill>
            </p:grpSpPr>
            <p:sp>
              <p:nvSpPr>
                <p:cNvPr id="4" name="Freeform 71">
                  <a:extLst>
                    <a:ext uri="{FF2B5EF4-FFF2-40B4-BE49-F238E27FC236}">
                      <a16:creationId xmlns:a16="http://schemas.microsoft.com/office/drawing/2014/main" id="{BD38244D-F743-61DF-0719-98ABDC52011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47599" y="2048139"/>
                  <a:ext cx="544513" cy="614363"/>
                </a:xfrm>
                <a:custGeom>
                  <a:avLst/>
                  <a:gdLst>
                    <a:gd name="T0" fmla="*/ 0 w 386"/>
                    <a:gd name="T1" fmla="*/ 383 h 433"/>
                    <a:gd name="T2" fmla="*/ 0 w 386"/>
                    <a:gd name="T3" fmla="*/ 383 h 433"/>
                    <a:gd name="T4" fmla="*/ 333 w 386"/>
                    <a:gd name="T5" fmla="*/ 332 h 433"/>
                    <a:gd name="T6" fmla="*/ 333 w 386"/>
                    <a:gd name="T7" fmla="*/ 68 h 433"/>
                    <a:gd name="T8" fmla="*/ 0 w 386"/>
                    <a:gd name="T9" fmla="*/ 68 h 433"/>
                    <a:gd name="T10" fmla="*/ 0 w 386"/>
                    <a:gd name="T11" fmla="*/ 383 h 433"/>
                    <a:gd name="T12" fmla="*/ 27 w 386"/>
                    <a:gd name="T13" fmla="*/ 68 h 433"/>
                    <a:gd name="T14" fmla="*/ 27 w 386"/>
                    <a:gd name="T15" fmla="*/ 68 h 433"/>
                    <a:gd name="T16" fmla="*/ 27 w 386"/>
                    <a:gd name="T17" fmla="*/ 33 h 433"/>
                    <a:gd name="T18" fmla="*/ 358 w 386"/>
                    <a:gd name="T19" fmla="*/ 33 h 433"/>
                    <a:gd name="T20" fmla="*/ 358 w 386"/>
                    <a:gd name="T21" fmla="*/ 299 h 433"/>
                    <a:gd name="T22" fmla="*/ 333 w 386"/>
                    <a:gd name="T23" fmla="*/ 301 h 433"/>
                    <a:gd name="T24" fmla="*/ 333 w 386"/>
                    <a:gd name="T25" fmla="*/ 68 h 433"/>
                    <a:gd name="T26" fmla="*/ 27 w 386"/>
                    <a:gd name="T27" fmla="*/ 68 h 433"/>
                    <a:gd name="T28" fmla="*/ 53 w 386"/>
                    <a:gd name="T29" fmla="*/ 33 h 433"/>
                    <a:gd name="T30" fmla="*/ 53 w 386"/>
                    <a:gd name="T31" fmla="*/ 33 h 433"/>
                    <a:gd name="T32" fmla="*/ 53 w 386"/>
                    <a:gd name="T33" fmla="*/ 0 h 433"/>
                    <a:gd name="T34" fmla="*/ 386 w 386"/>
                    <a:gd name="T35" fmla="*/ 0 h 433"/>
                    <a:gd name="T36" fmla="*/ 386 w 386"/>
                    <a:gd name="T37" fmla="*/ 265 h 433"/>
                    <a:gd name="T38" fmla="*/ 358 w 386"/>
                    <a:gd name="T39" fmla="*/ 266 h 433"/>
                    <a:gd name="T40" fmla="*/ 358 w 386"/>
                    <a:gd name="T41" fmla="*/ 33 h 433"/>
                    <a:gd name="T42" fmla="*/ 53 w 386"/>
                    <a:gd name="T43" fmla="*/ 33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86" h="433">
                      <a:moveTo>
                        <a:pt x="0" y="383"/>
                      </a:moveTo>
                      <a:lnTo>
                        <a:pt x="0" y="383"/>
                      </a:lnTo>
                      <a:cubicBezTo>
                        <a:pt x="166" y="433"/>
                        <a:pt x="166" y="332"/>
                        <a:pt x="333" y="332"/>
                      </a:cubicBezTo>
                      <a:lnTo>
                        <a:pt x="333" y="68"/>
                      </a:lnTo>
                      <a:lnTo>
                        <a:pt x="0" y="68"/>
                      </a:lnTo>
                      <a:lnTo>
                        <a:pt x="0" y="383"/>
                      </a:lnTo>
                      <a:close/>
                      <a:moveTo>
                        <a:pt x="27" y="68"/>
                      </a:moveTo>
                      <a:lnTo>
                        <a:pt x="27" y="68"/>
                      </a:lnTo>
                      <a:lnTo>
                        <a:pt x="27" y="33"/>
                      </a:lnTo>
                      <a:lnTo>
                        <a:pt x="358" y="33"/>
                      </a:lnTo>
                      <a:lnTo>
                        <a:pt x="358" y="299"/>
                      </a:lnTo>
                      <a:cubicBezTo>
                        <a:pt x="345" y="299"/>
                        <a:pt x="333" y="301"/>
                        <a:pt x="333" y="301"/>
                      </a:cubicBezTo>
                      <a:lnTo>
                        <a:pt x="333" y="68"/>
                      </a:lnTo>
                      <a:lnTo>
                        <a:pt x="27" y="68"/>
                      </a:lnTo>
                      <a:close/>
                      <a:moveTo>
                        <a:pt x="53" y="33"/>
                      </a:moveTo>
                      <a:lnTo>
                        <a:pt x="53" y="33"/>
                      </a:lnTo>
                      <a:lnTo>
                        <a:pt x="53" y="0"/>
                      </a:lnTo>
                      <a:lnTo>
                        <a:pt x="386" y="0"/>
                      </a:lnTo>
                      <a:lnTo>
                        <a:pt x="386" y="265"/>
                      </a:lnTo>
                      <a:cubicBezTo>
                        <a:pt x="372" y="265"/>
                        <a:pt x="358" y="266"/>
                        <a:pt x="358" y="266"/>
                      </a:cubicBezTo>
                      <a:lnTo>
                        <a:pt x="358" y="33"/>
                      </a:lnTo>
                      <a:lnTo>
                        <a:pt x="53" y="33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/>
                </a:p>
              </p:txBody>
            </p:sp>
            <p:sp>
              <p:nvSpPr>
                <p:cNvPr id="5" name="Freeform 72">
                  <a:extLst>
                    <a:ext uri="{FF2B5EF4-FFF2-40B4-BE49-F238E27FC236}">
                      <a16:creationId xmlns:a16="http://schemas.microsoft.com/office/drawing/2014/main" id="{BA8F772C-54BC-AE33-6002-3ED86717D3B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47599" y="2048139"/>
                  <a:ext cx="544513" cy="614363"/>
                </a:xfrm>
                <a:custGeom>
                  <a:avLst/>
                  <a:gdLst>
                    <a:gd name="T0" fmla="*/ 0 w 386"/>
                    <a:gd name="T1" fmla="*/ 68 h 433"/>
                    <a:gd name="T2" fmla="*/ 0 w 386"/>
                    <a:gd name="T3" fmla="*/ 68 h 433"/>
                    <a:gd name="T4" fmla="*/ 333 w 386"/>
                    <a:gd name="T5" fmla="*/ 68 h 433"/>
                    <a:gd name="T6" fmla="*/ 333 w 386"/>
                    <a:gd name="T7" fmla="*/ 332 h 433"/>
                    <a:gd name="T8" fmla="*/ 0 w 386"/>
                    <a:gd name="T9" fmla="*/ 383 h 433"/>
                    <a:gd name="T10" fmla="*/ 0 w 386"/>
                    <a:gd name="T11" fmla="*/ 68 h 433"/>
                    <a:gd name="T12" fmla="*/ 27 w 386"/>
                    <a:gd name="T13" fmla="*/ 68 h 433"/>
                    <a:gd name="T14" fmla="*/ 27 w 386"/>
                    <a:gd name="T15" fmla="*/ 68 h 433"/>
                    <a:gd name="T16" fmla="*/ 27 w 386"/>
                    <a:gd name="T17" fmla="*/ 33 h 433"/>
                    <a:gd name="T18" fmla="*/ 358 w 386"/>
                    <a:gd name="T19" fmla="*/ 33 h 433"/>
                    <a:gd name="T20" fmla="*/ 358 w 386"/>
                    <a:gd name="T21" fmla="*/ 299 h 433"/>
                    <a:gd name="T22" fmla="*/ 333 w 386"/>
                    <a:gd name="T23" fmla="*/ 301 h 433"/>
                    <a:gd name="T24" fmla="*/ 53 w 386"/>
                    <a:gd name="T25" fmla="*/ 33 h 433"/>
                    <a:gd name="T26" fmla="*/ 53 w 386"/>
                    <a:gd name="T27" fmla="*/ 33 h 433"/>
                    <a:gd name="T28" fmla="*/ 53 w 386"/>
                    <a:gd name="T29" fmla="*/ 0 h 433"/>
                    <a:gd name="T30" fmla="*/ 386 w 386"/>
                    <a:gd name="T31" fmla="*/ 0 h 433"/>
                    <a:gd name="T32" fmla="*/ 386 w 386"/>
                    <a:gd name="T33" fmla="*/ 265 h 433"/>
                    <a:gd name="T34" fmla="*/ 358 w 386"/>
                    <a:gd name="T35" fmla="*/ 266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86" h="433">
                      <a:moveTo>
                        <a:pt x="0" y="68"/>
                      </a:moveTo>
                      <a:lnTo>
                        <a:pt x="0" y="68"/>
                      </a:lnTo>
                      <a:lnTo>
                        <a:pt x="333" y="68"/>
                      </a:lnTo>
                      <a:lnTo>
                        <a:pt x="333" y="332"/>
                      </a:lnTo>
                      <a:cubicBezTo>
                        <a:pt x="166" y="332"/>
                        <a:pt x="166" y="433"/>
                        <a:pt x="0" y="383"/>
                      </a:cubicBezTo>
                      <a:lnTo>
                        <a:pt x="0" y="68"/>
                      </a:lnTo>
                      <a:close/>
                      <a:moveTo>
                        <a:pt x="27" y="68"/>
                      </a:moveTo>
                      <a:lnTo>
                        <a:pt x="27" y="68"/>
                      </a:lnTo>
                      <a:lnTo>
                        <a:pt x="27" y="33"/>
                      </a:lnTo>
                      <a:lnTo>
                        <a:pt x="358" y="33"/>
                      </a:lnTo>
                      <a:lnTo>
                        <a:pt x="358" y="299"/>
                      </a:lnTo>
                      <a:cubicBezTo>
                        <a:pt x="345" y="299"/>
                        <a:pt x="333" y="301"/>
                        <a:pt x="333" y="301"/>
                      </a:cubicBezTo>
                      <a:moveTo>
                        <a:pt x="53" y="33"/>
                      </a:moveTo>
                      <a:lnTo>
                        <a:pt x="53" y="33"/>
                      </a:lnTo>
                      <a:lnTo>
                        <a:pt x="53" y="0"/>
                      </a:lnTo>
                      <a:lnTo>
                        <a:pt x="386" y="0"/>
                      </a:lnTo>
                      <a:lnTo>
                        <a:pt x="386" y="265"/>
                      </a:lnTo>
                      <a:cubicBezTo>
                        <a:pt x="372" y="265"/>
                        <a:pt x="358" y="266"/>
                        <a:pt x="358" y="266"/>
                      </a:cubicBezTo>
                    </a:path>
                  </a:pathLst>
                </a:custGeom>
                <a:grpFill/>
                <a:ln w="7938" cap="flat">
                  <a:solidFill>
                    <a:srgbClr val="385723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/>
                </a:p>
              </p:txBody>
            </p:sp>
          </p:grpSp>
          <p:sp>
            <p:nvSpPr>
              <p:cNvPr id="9" name="Rectangle 74">
                <a:extLst>
                  <a:ext uri="{FF2B5EF4-FFF2-40B4-BE49-F238E27FC236}">
                    <a16:creationId xmlns:a16="http://schemas.microsoft.com/office/drawing/2014/main" id="{FC622A1A-B485-3EAF-FB83-B93A1411D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41981" y="1296594"/>
                <a:ext cx="367088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l-NL" altLang="nl-NL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HTML</a:t>
                </a:r>
                <a:endParaRPr kumimoji="0" lang="nl-NL" altLang="nl-NL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03C176A-D753-F3A8-63A2-17BDAAF48D9E}"/>
                </a:ext>
              </a:extLst>
            </p:cNvPr>
            <p:cNvGrpSpPr/>
            <p:nvPr/>
          </p:nvGrpSpPr>
          <p:grpSpPr>
            <a:xfrm>
              <a:off x="9948476" y="1254501"/>
              <a:ext cx="544513" cy="614363"/>
              <a:chOff x="9796076" y="1102101"/>
              <a:chExt cx="544513" cy="61436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84D361D-B717-79EA-CA54-4C84C6194D99}"/>
                  </a:ext>
                </a:extLst>
              </p:cNvPr>
              <p:cNvGrpSpPr/>
              <p:nvPr/>
            </p:nvGrpSpPr>
            <p:grpSpPr>
              <a:xfrm>
                <a:off x="9796076" y="1102101"/>
                <a:ext cx="544513" cy="614363"/>
                <a:chOff x="1247599" y="2048139"/>
                <a:chExt cx="544513" cy="614363"/>
              </a:xfrm>
              <a:solidFill>
                <a:srgbClr val="00B0F0"/>
              </a:solidFill>
            </p:grpSpPr>
            <p:sp>
              <p:nvSpPr>
                <p:cNvPr id="14" name="Freeform 71">
                  <a:extLst>
                    <a:ext uri="{FF2B5EF4-FFF2-40B4-BE49-F238E27FC236}">
                      <a16:creationId xmlns:a16="http://schemas.microsoft.com/office/drawing/2014/main" id="{7C952D05-D3B3-2FD6-C22B-CBAED5DC714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47599" y="2048139"/>
                  <a:ext cx="544513" cy="614363"/>
                </a:xfrm>
                <a:custGeom>
                  <a:avLst/>
                  <a:gdLst>
                    <a:gd name="T0" fmla="*/ 0 w 386"/>
                    <a:gd name="T1" fmla="*/ 383 h 433"/>
                    <a:gd name="T2" fmla="*/ 0 w 386"/>
                    <a:gd name="T3" fmla="*/ 383 h 433"/>
                    <a:gd name="T4" fmla="*/ 333 w 386"/>
                    <a:gd name="T5" fmla="*/ 332 h 433"/>
                    <a:gd name="T6" fmla="*/ 333 w 386"/>
                    <a:gd name="T7" fmla="*/ 68 h 433"/>
                    <a:gd name="T8" fmla="*/ 0 w 386"/>
                    <a:gd name="T9" fmla="*/ 68 h 433"/>
                    <a:gd name="T10" fmla="*/ 0 w 386"/>
                    <a:gd name="T11" fmla="*/ 383 h 433"/>
                    <a:gd name="T12" fmla="*/ 27 w 386"/>
                    <a:gd name="T13" fmla="*/ 68 h 433"/>
                    <a:gd name="T14" fmla="*/ 27 w 386"/>
                    <a:gd name="T15" fmla="*/ 68 h 433"/>
                    <a:gd name="T16" fmla="*/ 27 w 386"/>
                    <a:gd name="T17" fmla="*/ 33 h 433"/>
                    <a:gd name="T18" fmla="*/ 358 w 386"/>
                    <a:gd name="T19" fmla="*/ 33 h 433"/>
                    <a:gd name="T20" fmla="*/ 358 w 386"/>
                    <a:gd name="T21" fmla="*/ 299 h 433"/>
                    <a:gd name="T22" fmla="*/ 333 w 386"/>
                    <a:gd name="T23" fmla="*/ 301 h 433"/>
                    <a:gd name="T24" fmla="*/ 333 w 386"/>
                    <a:gd name="T25" fmla="*/ 68 h 433"/>
                    <a:gd name="T26" fmla="*/ 27 w 386"/>
                    <a:gd name="T27" fmla="*/ 68 h 433"/>
                    <a:gd name="T28" fmla="*/ 53 w 386"/>
                    <a:gd name="T29" fmla="*/ 33 h 433"/>
                    <a:gd name="T30" fmla="*/ 53 w 386"/>
                    <a:gd name="T31" fmla="*/ 33 h 433"/>
                    <a:gd name="T32" fmla="*/ 53 w 386"/>
                    <a:gd name="T33" fmla="*/ 0 h 433"/>
                    <a:gd name="T34" fmla="*/ 386 w 386"/>
                    <a:gd name="T35" fmla="*/ 0 h 433"/>
                    <a:gd name="T36" fmla="*/ 386 w 386"/>
                    <a:gd name="T37" fmla="*/ 265 h 433"/>
                    <a:gd name="T38" fmla="*/ 358 w 386"/>
                    <a:gd name="T39" fmla="*/ 266 h 433"/>
                    <a:gd name="T40" fmla="*/ 358 w 386"/>
                    <a:gd name="T41" fmla="*/ 33 h 433"/>
                    <a:gd name="T42" fmla="*/ 53 w 386"/>
                    <a:gd name="T43" fmla="*/ 33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86" h="433">
                      <a:moveTo>
                        <a:pt x="0" y="383"/>
                      </a:moveTo>
                      <a:lnTo>
                        <a:pt x="0" y="383"/>
                      </a:lnTo>
                      <a:cubicBezTo>
                        <a:pt x="166" y="433"/>
                        <a:pt x="166" y="332"/>
                        <a:pt x="333" y="332"/>
                      </a:cubicBezTo>
                      <a:lnTo>
                        <a:pt x="333" y="68"/>
                      </a:lnTo>
                      <a:lnTo>
                        <a:pt x="0" y="68"/>
                      </a:lnTo>
                      <a:lnTo>
                        <a:pt x="0" y="383"/>
                      </a:lnTo>
                      <a:close/>
                      <a:moveTo>
                        <a:pt x="27" y="68"/>
                      </a:moveTo>
                      <a:lnTo>
                        <a:pt x="27" y="68"/>
                      </a:lnTo>
                      <a:lnTo>
                        <a:pt x="27" y="33"/>
                      </a:lnTo>
                      <a:lnTo>
                        <a:pt x="358" y="33"/>
                      </a:lnTo>
                      <a:lnTo>
                        <a:pt x="358" y="299"/>
                      </a:lnTo>
                      <a:cubicBezTo>
                        <a:pt x="345" y="299"/>
                        <a:pt x="333" y="301"/>
                        <a:pt x="333" y="301"/>
                      </a:cubicBezTo>
                      <a:lnTo>
                        <a:pt x="333" y="68"/>
                      </a:lnTo>
                      <a:lnTo>
                        <a:pt x="27" y="68"/>
                      </a:lnTo>
                      <a:close/>
                      <a:moveTo>
                        <a:pt x="53" y="33"/>
                      </a:moveTo>
                      <a:lnTo>
                        <a:pt x="53" y="33"/>
                      </a:lnTo>
                      <a:lnTo>
                        <a:pt x="53" y="0"/>
                      </a:lnTo>
                      <a:lnTo>
                        <a:pt x="386" y="0"/>
                      </a:lnTo>
                      <a:lnTo>
                        <a:pt x="386" y="265"/>
                      </a:lnTo>
                      <a:cubicBezTo>
                        <a:pt x="372" y="265"/>
                        <a:pt x="358" y="266"/>
                        <a:pt x="358" y="266"/>
                      </a:cubicBezTo>
                      <a:lnTo>
                        <a:pt x="358" y="33"/>
                      </a:lnTo>
                      <a:lnTo>
                        <a:pt x="53" y="33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/>
                </a:p>
              </p:txBody>
            </p:sp>
            <p:sp>
              <p:nvSpPr>
                <p:cNvPr id="15" name="Freeform 72">
                  <a:extLst>
                    <a:ext uri="{FF2B5EF4-FFF2-40B4-BE49-F238E27FC236}">
                      <a16:creationId xmlns:a16="http://schemas.microsoft.com/office/drawing/2014/main" id="{7F67C09F-1526-6C23-1583-473CF4AC816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47599" y="2048139"/>
                  <a:ext cx="544513" cy="614363"/>
                </a:xfrm>
                <a:custGeom>
                  <a:avLst/>
                  <a:gdLst>
                    <a:gd name="T0" fmla="*/ 0 w 386"/>
                    <a:gd name="T1" fmla="*/ 68 h 433"/>
                    <a:gd name="T2" fmla="*/ 0 w 386"/>
                    <a:gd name="T3" fmla="*/ 68 h 433"/>
                    <a:gd name="T4" fmla="*/ 333 w 386"/>
                    <a:gd name="T5" fmla="*/ 68 h 433"/>
                    <a:gd name="T6" fmla="*/ 333 w 386"/>
                    <a:gd name="T7" fmla="*/ 332 h 433"/>
                    <a:gd name="T8" fmla="*/ 0 w 386"/>
                    <a:gd name="T9" fmla="*/ 383 h 433"/>
                    <a:gd name="T10" fmla="*/ 0 w 386"/>
                    <a:gd name="T11" fmla="*/ 68 h 433"/>
                    <a:gd name="T12" fmla="*/ 27 w 386"/>
                    <a:gd name="T13" fmla="*/ 68 h 433"/>
                    <a:gd name="T14" fmla="*/ 27 w 386"/>
                    <a:gd name="T15" fmla="*/ 68 h 433"/>
                    <a:gd name="T16" fmla="*/ 27 w 386"/>
                    <a:gd name="T17" fmla="*/ 33 h 433"/>
                    <a:gd name="T18" fmla="*/ 358 w 386"/>
                    <a:gd name="T19" fmla="*/ 33 h 433"/>
                    <a:gd name="T20" fmla="*/ 358 w 386"/>
                    <a:gd name="T21" fmla="*/ 299 h 433"/>
                    <a:gd name="T22" fmla="*/ 333 w 386"/>
                    <a:gd name="T23" fmla="*/ 301 h 433"/>
                    <a:gd name="T24" fmla="*/ 53 w 386"/>
                    <a:gd name="T25" fmla="*/ 33 h 433"/>
                    <a:gd name="T26" fmla="*/ 53 w 386"/>
                    <a:gd name="T27" fmla="*/ 33 h 433"/>
                    <a:gd name="T28" fmla="*/ 53 w 386"/>
                    <a:gd name="T29" fmla="*/ 0 h 433"/>
                    <a:gd name="T30" fmla="*/ 386 w 386"/>
                    <a:gd name="T31" fmla="*/ 0 h 433"/>
                    <a:gd name="T32" fmla="*/ 386 w 386"/>
                    <a:gd name="T33" fmla="*/ 265 h 433"/>
                    <a:gd name="T34" fmla="*/ 358 w 386"/>
                    <a:gd name="T35" fmla="*/ 266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86" h="433">
                      <a:moveTo>
                        <a:pt x="0" y="68"/>
                      </a:moveTo>
                      <a:lnTo>
                        <a:pt x="0" y="68"/>
                      </a:lnTo>
                      <a:lnTo>
                        <a:pt x="333" y="68"/>
                      </a:lnTo>
                      <a:lnTo>
                        <a:pt x="333" y="332"/>
                      </a:lnTo>
                      <a:cubicBezTo>
                        <a:pt x="166" y="332"/>
                        <a:pt x="166" y="433"/>
                        <a:pt x="0" y="383"/>
                      </a:cubicBezTo>
                      <a:lnTo>
                        <a:pt x="0" y="68"/>
                      </a:lnTo>
                      <a:close/>
                      <a:moveTo>
                        <a:pt x="27" y="68"/>
                      </a:moveTo>
                      <a:lnTo>
                        <a:pt x="27" y="68"/>
                      </a:lnTo>
                      <a:lnTo>
                        <a:pt x="27" y="33"/>
                      </a:lnTo>
                      <a:lnTo>
                        <a:pt x="358" y="33"/>
                      </a:lnTo>
                      <a:lnTo>
                        <a:pt x="358" y="299"/>
                      </a:lnTo>
                      <a:cubicBezTo>
                        <a:pt x="345" y="299"/>
                        <a:pt x="333" y="301"/>
                        <a:pt x="333" y="301"/>
                      </a:cubicBezTo>
                      <a:moveTo>
                        <a:pt x="53" y="33"/>
                      </a:moveTo>
                      <a:lnTo>
                        <a:pt x="53" y="33"/>
                      </a:lnTo>
                      <a:lnTo>
                        <a:pt x="53" y="0"/>
                      </a:lnTo>
                      <a:lnTo>
                        <a:pt x="386" y="0"/>
                      </a:lnTo>
                      <a:lnTo>
                        <a:pt x="386" y="265"/>
                      </a:lnTo>
                      <a:cubicBezTo>
                        <a:pt x="372" y="265"/>
                        <a:pt x="358" y="266"/>
                        <a:pt x="358" y="266"/>
                      </a:cubicBezTo>
                    </a:path>
                  </a:pathLst>
                </a:custGeom>
                <a:grpFill/>
                <a:ln w="7938" cap="flat">
                  <a:solidFill>
                    <a:srgbClr val="385723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/>
                </a:p>
              </p:txBody>
            </p:sp>
          </p:grpSp>
          <p:sp>
            <p:nvSpPr>
              <p:cNvPr id="13" name="Rectangle 74">
                <a:extLst>
                  <a:ext uri="{FF2B5EF4-FFF2-40B4-BE49-F238E27FC236}">
                    <a16:creationId xmlns:a16="http://schemas.microsoft.com/office/drawing/2014/main" id="{EE362C74-D47A-57A4-7106-1D1F63988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41981" y="1296594"/>
                <a:ext cx="367088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l-NL" altLang="nl-NL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HTML</a:t>
                </a:r>
                <a:endParaRPr kumimoji="0" lang="nl-NL" altLang="nl-NL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1E1A3F3-1D2B-B035-DEED-3BBE859AD4DC}"/>
                </a:ext>
              </a:extLst>
            </p:cNvPr>
            <p:cNvGrpSpPr/>
            <p:nvPr/>
          </p:nvGrpSpPr>
          <p:grpSpPr>
            <a:xfrm>
              <a:off x="10100876" y="1406901"/>
              <a:ext cx="544513" cy="614363"/>
              <a:chOff x="9796076" y="1102101"/>
              <a:chExt cx="544513" cy="61436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AD927686-62AD-6EEE-13F5-09932FC5A556}"/>
                  </a:ext>
                </a:extLst>
              </p:cNvPr>
              <p:cNvGrpSpPr/>
              <p:nvPr/>
            </p:nvGrpSpPr>
            <p:grpSpPr>
              <a:xfrm>
                <a:off x="9796076" y="1102101"/>
                <a:ext cx="544513" cy="614363"/>
                <a:chOff x="1247599" y="2048139"/>
                <a:chExt cx="544513" cy="614363"/>
              </a:xfrm>
              <a:solidFill>
                <a:srgbClr val="00B0F0"/>
              </a:solidFill>
            </p:grpSpPr>
            <p:sp>
              <p:nvSpPr>
                <p:cNvPr id="101" name="Freeform 71">
                  <a:extLst>
                    <a:ext uri="{FF2B5EF4-FFF2-40B4-BE49-F238E27FC236}">
                      <a16:creationId xmlns:a16="http://schemas.microsoft.com/office/drawing/2014/main" id="{2BC1BB35-4BF7-0976-003B-C0D2A5E3EB8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47599" y="2048139"/>
                  <a:ext cx="544513" cy="614363"/>
                </a:xfrm>
                <a:custGeom>
                  <a:avLst/>
                  <a:gdLst>
                    <a:gd name="T0" fmla="*/ 0 w 386"/>
                    <a:gd name="T1" fmla="*/ 383 h 433"/>
                    <a:gd name="T2" fmla="*/ 0 w 386"/>
                    <a:gd name="T3" fmla="*/ 383 h 433"/>
                    <a:gd name="T4" fmla="*/ 333 w 386"/>
                    <a:gd name="T5" fmla="*/ 332 h 433"/>
                    <a:gd name="T6" fmla="*/ 333 w 386"/>
                    <a:gd name="T7" fmla="*/ 68 h 433"/>
                    <a:gd name="T8" fmla="*/ 0 w 386"/>
                    <a:gd name="T9" fmla="*/ 68 h 433"/>
                    <a:gd name="T10" fmla="*/ 0 w 386"/>
                    <a:gd name="T11" fmla="*/ 383 h 433"/>
                    <a:gd name="T12" fmla="*/ 27 w 386"/>
                    <a:gd name="T13" fmla="*/ 68 h 433"/>
                    <a:gd name="T14" fmla="*/ 27 w 386"/>
                    <a:gd name="T15" fmla="*/ 68 h 433"/>
                    <a:gd name="T16" fmla="*/ 27 w 386"/>
                    <a:gd name="T17" fmla="*/ 33 h 433"/>
                    <a:gd name="T18" fmla="*/ 358 w 386"/>
                    <a:gd name="T19" fmla="*/ 33 h 433"/>
                    <a:gd name="T20" fmla="*/ 358 w 386"/>
                    <a:gd name="T21" fmla="*/ 299 h 433"/>
                    <a:gd name="T22" fmla="*/ 333 w 386"/>
                    <a:gd name="T23" fmla="*/ 301 h 433"/>
                    <a:gd name="T24" fmla="*/ 333 w 386"/>
                    <a:gd name="T25" fmla="*/ 68 h 433"/>
                    <a:gd name="T26" fmla="*/ 27 w 386"/>
                    <a:gd name="T27" fmla="*/ 68 h 433"/>
                    <a:gd name="T28" fmla="*/ 53 w 386"/>
                    <a:gd name="T29" fmla="*/ 33 h 433"/>
                    <a:gd name="T30" fmla="*/ 53 w 386"/>
                    <a:gd name="T31" fmla="*/ 33 h 433"/>
                    <a:gd name="T32" fmla="*/ 53 w 386"/>
                    <a:gd name="T33" fmla="*/ 0 h 433"/>
                    <a:gd name="T34" fmla="*/ 386 w 386"/>
                    <a:gd name="T35" fmla="*/ 0 h 433"/>
                    <a:gd name="T36" fmla="*/ 386 w 386"/>
                    <a:gd name="T37" fmla="*/ 265 h 433"/>
                    <a:gd name="T38" fmla="*/ 358 w 386"/>
                    <a:gd name="T39" fmla="*/ 266 h 433"/>
                    <a:gd name="T40" fmla="*/ 358 w 386"/>
                    <a:gd name="T41" fmla="*/ 33 h 433"/>
                    <a:gd name="T42" fmla="*/ 53 w 386"/>
                    <a:gd name="T43" fmla="*/ 33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86" h="433">
                      <a:moveTo>
                        <a:pt x="0" y="383"/>
                      </a:moveTo>
                      <a:lnTo>
                        <a:pt x="0" y="383"/>
                      </a:lnTo>
                      <a:cubicBezTo>
                        <a:pt x="166" y="433"/>
                        <a:pt x="166" y="332"/>
                        <a:pt x="333" y="332"/>
                      </a:cubicBezTo>
                      <a:lnTo>
                        <a:pt x="333" y="68"/>
                      </a:lnTo>
                      <a:lnTo>
                        <a:pt x="0" y="68"/>
                      </a:lnTo>
                      <a:lnTo>
                        <a:pt x="0" y="383"/>
                      </a:lnTo>
                      <a:close/>
                      <a:moveTo>
                        <a:pt x="27" y="68"/>
                      </a:moveTo>
                      <a:lnTo>
                        <a:pt x="27" y="68"/>
                      </a:lnTo>
                      <a:lnTo>
                        <a:pt x="27" y="33"/>
                      </a:lnTo>
                      <a:lnTo>
                        <a:pt x="358" y="33"/>
                      </a:lnTo>
                      <a:lnTo>
                        <a:pt x="358" y="299"/>
                      </a:lnTo>
                      <a:cubicBezTo>
                        <a:pt x="345" y="299"/>
                        <a:pt x="333" y="301"/>
                        <a:pt x="333" y="301"/>
                      </a:cubicBezTo>
                      <a:lnTo>
                        <a:pt x="333" y="68"/>
                      </a:lnTo>
                      <a:lnTo>
                        <a:pt x="27" y="68"/>
                      </a:lnTo>
                      <a:close/>
                      <a:moveTo>
                        <a:pt x="53" y="33"/>
                      </a:moveTo>
                      <a:lnTo>
                        <a:pt x="53" y="33"/>
                      </a:lnTo>
                      <a:lnTo>
                        <a:pt x="53" y="0"/>
                      </a:lnTo>
                      <a:lnTo>
                        <a:pt x="386" y="0"/>
                      </a:lnTo>
                      <a:lnTo>
                        <a:pt x="386" y="265"/>
                      </a:lnTo>
                      <a:cubicBezTo>
                        <a:pt x="372" y="265"/>
                        <a:pt x="358" y="266"/>
                        <a:pt x="358" y="266"/>
                      </a:cubicBezTo>
                      <a:lnTo>
                        <a:pt x="358" y="33"/>
                      </a:lnTo>
                      <a:lnTo>
                        <a:pt x="53" y="33"/>
                      </a:lnTo>
                      <a:close/>
                    </a:path>
                  </a:pathLst>
                </a:custGeom>
                <a:grpFill/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/>
                </a:p>
              </p:txBody>
            </p:sp>
            <p:sp>
              <p:nvSpPr>
                <p:cNvPr id="102" name="Freeform 72">
                  <a:extLst>
                    <a:ext uri="{FF2B5EF4-FFF2-40B4-BE49-F238E27FC236}">
                      <a16:creationId xmlns:a16="http://schemas.microsoft.com/office/drawing/2014/main" id="{8B629269-C029-F644-FAB0-9A18A9ABD54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47599" y="2048139"/>
                  <a:ext cx="544513" cy="614363"/>
                </a:xfrm>
                <a:custGeom>
                  <a:avLst/>
                  <a:gdLst>
                    <a:gd name="T0" fmla="*/ 0 w 386"/>
                    <a:gd name="T1" fmla="*/ 68 h 433"/>
                    <a:gd name="T2" fmla="*/ 0 w 386"/>
                    <a:gd name="T3" fmla="*/ 68 h 433"/>
                    <a:gd name="T4" fmla="*/ 333 w 386"/>
                    <a:gd name="T5" fmla="*/ 68 h 433"/>
                    <a:gd name="T6" fmla="*/ 333 w 386"/>
                    <a:gd name="T7" fmla="*/ 332 h 433"/>
                    <a:gd name="T8" fmla="*/ 0 w 386"/>
                    <a:gd name="T9" fmla="*/ 383 h 433"/>
                    <a:gd name="T10" fmla="*/ 0 w 386"/>
                    <a:gd name="T11" fmla="*/ 68 h 433"/>
                    <a:gd name="T12" fmla="*/ 27 w 386"/>
                    <a:gd name="T13" fmla="*/ 68 h 433"/>
                    <a:gd name="T14" fmla="*/ 27 w 386"/>
                    <a:gd name="T15" fmla="*/ 68 h 433"/>
                    <a:gd name="T16" fmla="*/ 27 w 386"/>
                    <a:gd name="T17" fmla="*/ 33 h 433"/>
                    <a:gd name="T18" fmla="*/ 358 w 386"/>
                    <a:gd name="T19" fmla="*/ 33 h 433"/>
                    <a:gd name="T20" fmla="*/ 358 w 386"/>
                    <a:gd name="T21" fmla="*/ 299 h 433"/>
                    <a:gd name="T22" fmla="*/ 333 w 386"/>
                    <a:gd name="T23" fmla="*/ 301 h 433"/>
                    <a:gd name="T24" fmla="*/ 53 w 386"/>
                    <a:gd name="T25" fmla="*/ 33 h 433"/>
                    <a:gd name="T26" fmla="*/ 53 w 386"/>
                    <a:gd name="T27" fmla="*/ 33 h 433"/>
                    <a:gd name="T28" fmla="*/ 53 w 386"/>
                    <a:gd name="T29" fmla="*/ 0 h 433"/>
                    <a:gd name="T30" fmla="*/ 386 w 386"/>
                    <a:gd name="T31" fmla="*/ 0 h 433"/>
                    <a:gd name="T32" fmla="*/ 386 w 386"/>
                    <a:gd name="T33" fmla="*/ 265 h 433"/>
                    <a:gd name="T34" fmla="*/ 358 w 386"/>
                    <a:gd name="T35" fmla="*/ 266 h 4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386" h="433">
                      <a:moveTo>
                        <a:pt x="0" y="68"/>
                      </a:moveTo>
                      <a:lnTo>
                        <a:pt x="0" y="68"/>
                      </a:lnTo>
                      <a:lnTo>
                        <a:pt x="333" y="68"/>
                      </a:lnTo>
                      <a:lnTo>
                        <a:pt x="333" y="332"/>
                      </a:lnTo>
                      <a:cubicBezTo>
                        <a:pt x="166" y="332"/>
                        <a:pt x="166" y="433"/>
                        <a:pt x="0" y="383"/>
                      </a:cubicBezTo>
                      <a:lnTo>
                        <a:pt x="0" y="68"/>
                      </a:lnTo>
                      <a:close/>
                      <a:moveTo>
                        <a:pt x="27" y="68"/>
                      </a:moveTo>
                      <a:lnTo>
                        <a:pt x="27" y="68"/>
                      </a:lnTo>
                      <a:lnTo>
                        <a:pt x="27" y="33"/>
                      </a:lnTo>
                      <a:lnTo>
                        <a:pt x="358" y="33"/>
                      </a:lnTo>
                      <a:lnTo>
                        <a:pt x="358" y="299"/>
                      </a:lnTo>
                      <a:cubicBezTo>
                        <a:pt x="345" y="299"/>
                        <a:pt x="333" y="301"/>
                        <a:pt x="333" y="301"/>
                      </a:cubicBezTo>
                      <a:moveTo>
                        <a:pt x="53" y="33"/>
                      </a:moveTo>
                      <a:lnTo>
                        <a:pt x="53" y="33"/>
                      </a:lnTo>
                      <a:lnTo>
                        <a:pt x="53" y="0"/>
                      </a:lnTo>
                      <a:lnTo>
                        <a:pt x="386" y="0"/>
                      </a:lnTo>
                      <a:lnTo>
                        <a:pt x="386" y="265"/>
                      </a:lnTo>
                      <a:cubicBezTo>
                        <a:pt x="372" y="265"/>
                        <a:pt x="358" y="266"/>
                        <a:pt x="358" y="266"/>
                      </a:cubicBezTo>
                    </a:path>
                  </a:pathLst>
                </a:custGeom>
                <a:grpFill/>
                <a:ln w="7938" cap="flat">
                  <a:solidFill>
                    <a:srgbClr val="385723"/>
                  </a:solidFill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/>
                </a:p>
              </p:txBody>
            </p:sp>
          </p:grpSp>
          <p:sp>
            <p:nvSpPr>
              <p:cNvPr id="100" name="Rectangle 74">
                <a:extLst>
                  <a:ext uri="{FF2B5EF4-FFF2-40B4-BE49-F238E27FC236}">
                    <a16:creationId xmlns:a16="http://schemas.microsoft.com/office/drawing/2014/main" id="{7DAD798D-85A7-5E51-A6AC-F234ED735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41981" y="1296594"/>
                <a:ext cx="367088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l-NL" altLang="nl-NL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</a:rPr>
                  <a:t>HTML</a:t>
                </a:r>
                <a:endParaRPr kumimoji="0" lang="nl-NL" altLang="nl-NL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7E651CA4-2A39-5A29-B6CA-144FF0DC0D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503969">
            <a:off x="3644855" y="2281329"/>
            <a:ext cx="360000" cy="2410412"/>
          </a:xfrm>
          <a:prstGeom prst="rect">
            <a:avLst/>
          </a:prstGeom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3A051B9-93AB-5FD6-5704-FF452993408C}"/>
              </a:ext>
            </a:extLst>
          </p:cNvPr>
          <p:cNvGrpSpPr/>
          <p:nvPr/>
        </p:nvGrpSpPr>
        <p:grpSpPr>
          <a:xfrm>
            <a:off x="4297557" y="1409951"/>
            <a:ext cx="1085056" cy="964255"/>
            <a:chOff x="4297557" y="1409951"/>
            <a:chExt cx="1085056" cy="964255"/>
          </a:xfrm>
        </p:grpSpPr>
        <p:pic>
          <p:nvPicPr>
            <p:cNvPr id="105" name="Graphic 104" descr="Document with solid fill">
              <a:extLst>
                <a:ext uri="{FF2B5EF4-FFF2-40B4-BE49-F238E27FC236}">
                  <a16:creationId xmlns:a16="http://schemas.microsoft.com/office/drawing/2014/main" id="{252ED1A1-0BE9-2609-FA90-D1AFE7CB96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97557" y="1409951"/>
              <a:ext cx="614363" cy="614363"/>
            </a:xfrm>
            <a:prstGeom prst="rect">
              <a:avLst/>
            </a:prstGeom>
          </p:spPr>
        </p:pic>
        <p:pic>
          <p:nvPicPr>
            <p:cNvPr id="108" name="Graphic 107" descr="Document with solid fill">
              <a:extLst>
                <a:ext uri="{FF2B5EF4-FFF2-40B4-BE49-F238E27FC236}">
                  <a16:creationId xmlns:a16="http://schemas.microsoft.com/office/drawing/2014/main" id="{8981CE58-9F41-E11D-8058-39D2ECCF2D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768250" y="1430950"/>
              <a:ext cx="614363" cy="614363"/>
            </a:xfrm>
            <a:prstGeom prst="rect">
              <a:avLst/>
            </a:prstGeom>
          </p:spPr>
        </p:pic>
        <p:pic>
          <p:nvPicPr>
            <p:cNvPr id="109" name="Graphic 108" descr="Document with solid fill">
              <a:extLst>
                <a:ext uri="{FF2B5EF4-FFF2-40B4-BE49-F238E27FC236}">
                  <a16:creationId xmlns:a16="http://schemas.microsoft.com/office/drawing/2014/main" id="{6E35F131-ACE1-0D53-8C20-74B8F85706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29415" y="1759843"/>
              <a:ext cx="614363" cy="614363"/>
            </a:xfrm>
            <a:prstGeom prst="rect">
              <a:avLst/>
            </a:prstGeom>
          </p:spPr>
        </p:pic>
      </p:grp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6480365-1084-FDA2-FD79-27CD53F683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9918206">
            <a:off x="5057009" y="2159913"/>
            <a:ext cx="360000" cy="88643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1F5C6-F50C-E3A5-7C10-D1D4BFAD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E613C-57EF-AD1F-9ABF-044BD9EC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9005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DFEFF49-7114-5A49-BA2E-462A2590B1B9}"/>
              </a:ext>
            </a:extLst>
          </p:cNvPr>
          <p:cNvGrpSpPr/>
          <p:nvPr/>
        </p:nvGrpSpPr>
        <p:grpSpPr>
          <a:xfrm>
            <a:off x="9627160" y="5030230"/>
            <a:ext cx="546100" cy="614363"/>
            <a:chOff x="3578225" y="2987675"/>
            <a:chExt cx="546100" cy="614363"/>
          </a:xfrm>
        </p:grpSpPr>
        <p:sp>
          <p:nvSpPr>
            <p:cNvPr id="19" name="Freeform 60">
              <a:extLst>
                <a:ext uri="{FF2B5EF4-FFF2-40B4-BE49-F238E27FC236}">
                  <a16:creationId xmlns:a16="http://schemas.microsoft.com/office/drawing/2014/main" id="{5A7FA9B5-D2E0-C347-AACA-CE996F9B57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383 h 433"/>
                <a:gd name="T2" fmla="*/ 0 w 387"/>
                <a:gd name="T3" fmla="*/ 383 h 433"/>
                <a:gd name="T4" fmla="*/ 333 w 387"/>
                <a:gd name="T5" fmla="*/ 332 h 433"/>
                <a:gd name="T6" fmla="*/ 333 w 387"/>
                <a:gd name="T7" fmla="*/ 68 h 433"/>
                <a:gd name="T8" fmla="*/ 0 w 387"/>
                <a:gd name="T9" fmla="*/ 68 h 433"/>
                <a:gd name="T10" fmla="*/ 0 w 387"/>
                <a:gd name="T11" fmla="*/ 383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333 w 387"/>
                <a:gd name="T25" fmla="*/ 68 h 433"/>
                <a:gd name="T26" fmla="*/ 28 w 387"/>
                <a:gd name="T27" fmla="*/ 68 h 433"/>
                <a:gd name="T28" fmla="*/ 54 w 387"/>
                <a:gd name="T29" fmla="*/ 33 h 433"/>
                <a:gd name="T30" fmla="*/ 54 w 387"/>
                <a:gd name="T31" fmla="*/ 33 h 433"/>
                <a:gd name="T32" fmla="*/ 54 w 387"/>
                <a:gd name="T33" fmla="*/ 0 h 433"/>
                <a:gd name="T34" fmla="*/ 387 w 387"/>
                <a:gd name="T35" fmla="*/ 0 h 433"/>
                <a:gd name="T36" fmla="*/ 387 w 387"/>
                <a:gd name="T37" fmla="*/ 265 h 433"/>
                <a:gd name="T38" fmla="*/ 358 w 387"/>
                <a:gd name="T39" fmla="*/ 266 h 433"/>
                <a:gd name="T40" fmla="*/ 358 w 387"/>
                <a:gd name="T41" fmla="*/ 33 h 433"/>
                <a:gd name="T42" fmla="*/ 54 w 387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7" h="433">
                  <a:moveTo>
                    <a:pt x="0" y="383"/>
                  </a:moveTo>
                  <a:lnTo>
                    <a:pt x="0" y="383"/>
                  </a:lnTo>
                  <a:cubicBezTo>
                    <a:pt x="167" y="433"/>
                    <a:pt x="167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8" y="68"/>
                  </a:lnTo>
                  <a:close/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4" y="33"/>
                  </a:lnTo>
                  <a:close/>
                </a:path>
              </a:pathLst>
            </a:custGeom>
            <a:solidFill>
              <a:srgbClr val="B4C7E7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0" name="Freeform 61">
              <a:extLst>
                <a:ext uri="{FF2B5EF4-FFF2-40B4-BE49-F238E27FC236}">
                  <a16:creationId xmlns:a16="http://schemas.microsoft.com/office/drawing/2014/main" id="{FDF82993-69EF-2A45-B501-9B67CFC40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8225" y="2987675"/>
              <a:ext cx="546100" cy="614363"/>
            </a:xfrm>
            <a:custGeom>
              <a:avLst/>
              <a:gdLst>
                <a:gd name="T0" fmla="*/ 0 w 387"/>
                <a:gd name="T1" fmla="*/ 68 h 433"/>
                <a:gd name="T2" fmla="*/ 0 w 387"/>
                <a:gd name="T3" fmla="*/ 68 h 433"/>
                <a:gd name="T4" fmla="*/ 333 w 387"/>
                <a:gd name="T5" fmla="*/ 68 h 433"/>
                <a:gd name="T6" fmla="*/ 333 w 387"/>
                <a:gd name="T7" fmla="*/ 332 h 433"/>
                <a:gd name="T8" fmla="*/ 0 w 387"/>
                <a:gd name="T9" fmla="*/ 383 h 433"/>
                <a:gd name="T10" fmla="*/ 0 w 387"/>
                <a:gd name="T11" fmla="*/ 68 h 433"/>
                <a:gd name="T12" fmla="*/ 28 w 387"/>
                <a:gd name="T13" fmla="*/ 68 h 433"/>
                <a:gd name="T14" fmla="*/ 28 w 387"/>
                <a:gd name="T15" fmla="*/ 68 h 433"/>
                <a:gd name="T16" fmla="*/ 28 w 387"/>
                <a:gd name="T17" fmla="*/ 33 h 433"/>
                <a:gd name="T18" fmla="*/ 358 w 387"/>
                <a:gd name="T19" fmla="*/ 33 h 433"/>
                <a:gd name="T20" fmla="*/ 358 w 387"/>
                <a:gd name="T21" fmla="*/ 299 h 433"/>
                <a:gd name="T22" fmla="*/ 333 w 387"/>
                <a:gd name="T23" fmla="*/ 301 h 433"/>
                <a:gd name="T24" fmla="*/ 54 w 387"/>
                <a:gd name="T25" fmla="*/ 33 h 433"/>
                <a:gd name="T26" fmla="*/ 54 w 387"/>
                <a:gd name="T27" fmla="*/ 33 h 433"/>
                <a:gd name="T28" fmla="*/ 54 w 387"/>
                <a:gd name="T29" fmla="*/ 0 h 433"/>
                <a:gd name="T30" fmla="*/ 387 w 387"/>
                <a:gd name="T31" fmla="*/ 0 h 433"/>
                <a:gd name="T32" fmla="*/ 387 w 387"/>
                <a:gd name="T33" fmla="*/ 265 h 433"/>
                <a:gd name="T34" fmla="*/ 358 w 387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7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7" y="332"/>
                    <a:pt x="167" y="433"/>
                    <a:pt x="0" y="383"/>
                  </a:cubicBezTo>
                  <a:lnTo>
                    <a:pt x="0" y="68"/>
                  </a:lnTo>
                  <a:close/>
                  <a:moveTo>
                    <a:pt x="28" y="68"/>
                  </a:moveTo>
                  <a:lnTo>
                    <a:pt x="28" y="68"/>
                  </a:lnTo>
                  <a:lnTo>
                    <a:pt x="28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4" y="33"/>
                  </a:moveTo>
                  <a:lnTo>
                    <a:pt x="54" y="33"/>
                  </a:lnTo>
                  <a:lnTo>
                    <a:pt x="54" y="0"/>
                  </a:lnTo>
                  <a:lnTo>
                    <a:pt x="387" y="0"/>
                  </a:lnTo>
                  <a:lnTo>
                    <a:pt x="387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1" name="Rectangle 62">
              <a:extLst>
                <a:ext uri="{FF2B5EF4-FFF2-40B4-BE49-F238E27FC236}">
                  <a16:creationId xmlns:a16="http://schemas.microsoft.com/office/drawing/2014/main" id="{92AAB5EC-7AA6-5C43-A3D4-8A81EA092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963" y="3206750"/>
              <a:ext cx="1317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J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63">
              <a:extLst>
                <a:ext uri="{FF2B5EF4-FFF2-40B4-BE49-F238E27FC236}">
                  <a16:creationId xmlns:a16="http://schemas.microsoft.com/office/drawing/2014/main" id="{A59715C0-8DC6-3B4B-92ED-9822548DF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350" y="3206750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C31A03E-BA53-7D4D-AA6A-5434F8623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788" y="3206750"/>
              <a:ext cx="1841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O</a:t>
              </a:r>
              <a:endPara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65">
              <a:extLst>
                <a:ext uri="{FF2B5EF4-FFF2-40B4-BE49-F238E27FC236}">
                  <a16:creationId xmlns:a16="http://schemas.microsoft.com/office/drawing/2014/main" id="{38FA7BB4-5336-4443-9672-1B0FC9173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3206750"/>
              <a:ext cx="1825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N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915C3A-CD2F-D24C-81A2-C62DAD62B99E}"/>
              </a:ext>
            </a:extLst>
          </p:cNvPr>
          <p:cNvGrpSpPr/>
          <p:nvPr/>
        </p:nvGrpSpPr>
        <p:grpSpPr>
          <a:xfrm>
            <a:off x="10304516" y="4842183"/>
            <a:ext cx="544513" cy="614363"/>
            <a:chOff x="1247599" y="2048139"/>
            <a:chExt cx="544513" cy="614363"/>
          </a:xfrm>
        </p:grpSpPr>
        <p:sp>
          <p:nvSpPr>
            <p:cNvPr id="26" name="Freeform 71">
              <a:extLst>
                <a:ext uri="{FF2B5EF4-FFF2-40B4-BE49-F238E27FC236}">
                  <a16:creationId xmlns:a16="http://schemas.microsoft.com/office/drawing/2014/main" id="{338F9DA1-CE51-C64D-88BC-BD4AE4434E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383 h 433"/>
                <a:gd name="T2" fmla="*/ 0 w 386"/>
                <a:gd name="T3" fmla="*/ 383 h 433"/>
                <a:gd name="T4" fmla="*/ 333 w 386"/>
                <a:gd name="T5" fmla="*/ 332 h 433"/>
                <a:gd name="T6" fmla="*/ 333 w 386"/>
                <a:gd name="T7" fmla="*/ 68 h 433"/>
                <a:gd name="T8" fmla="*/ 0 w 386"/>
                <a:gd name="T9" fmla="*/ 68 h 433"/>
                <a:gd name="T10" fmla="*/ 0 w 386"/>
                <a:gd name="T11" fmla="*/ 383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333 w 386"/>
                <a:gd name="T25" fmla="*/ 68 h 433"/>
                <a:gd name="T26" fmla="*/ 27 w 386"/>
                <a:gd name="T27" fmla="*/ 68 h 433"/>
                <a:gd name="T28" fmla="*/ 53 w 386"/>
                <a:gd name="T29" fmla="*/ 33 h 433"/>
                <a:gd name="T30" fmla="*/ 53 w 386"/>
                <a:gd name="T31" fmla="*/ 33 h 433"/>
                <a:gd name="T32" fmla="*/ 53 w 386"/>
                <a:gd name="T33" fmla="*/ 0 h 433"/>
                <a:gd name="T34" fmla="*/ 386 w 386"/>
                <a:gd name="T35" fmla="*/ 0 h 433"/>
                <a:gd name="T36" fmla="*/ 386 w 386"/>
                <a:gd name="T37" fmla="*/ 265 h 433"/>
                <a:gd name="T38" fmla="*/ 358 w 386"/>
                <a:gd name="T39" fmla="*/ 266 h 433"/>
                <a:gd name="T40" fmla="*/ 358 w 386"/>
                <a:gd name="T41" fmla="*/ 33 h 433"/>
                <a:gd name="T42" fmla="*/ 53 w 386"/>
                <a:gd name="T43" fmla="*/ 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33">
                  <a:moveTo>
                    <a:pt x="0" y="383"/>
                  </a:moveTo>
                  <a:lnTo>
                    <a:pt x="0" y="383"/>
                  </a:lnTo>
                  <a:cubicBezTo>
                    <a:pt x="166" y="433"/>
                    <a:pt x="166" y="332"/>
                    <a:pt x="333" y="332"/>
                  </a:cubicBezTo>
                  <a:lnTo>
                    <a:pt x="333" y="68"/>
                  </a:lnTo>
                  <a:lnTo>
                    <a:pt x="0" y="68"/>
                  </a:lnTo>
                  <a:lnTo>
                    <a:pt x="0" y="383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lnTo>
                    <a:pt x="333" y="68"/>
                  </a:lnTo>
                  <a:lnTo>
                    <a:pt x="27" y="68"/>
                  </a:lnTo>
                  <a:close/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  <a:lnTo>
                    <a:pt x="358" y="33"/>
                  </a:lnTo>
                  <a:lnTo>
                    <a:pt x="53" y="33"/>
                  </a:lnTo>
                  <a:close/>
                </a:path>
              </a:pathLst>
            </a:custGeom>
            <a:solidFill>
              <a:srgbClr val="F8CBAD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7" name="Freeform 72">
              <a:extLst>
                <a:ext uri="{FF2B5EF4-FFF2-40B4-BE49-F238E27FC236}">
                  <a16:creationId xmlns:a16="http://schemas.microsoft.com/office/drawing/2014/main" id="{92FB8E30-0692-8442-B82C-34663C0DA3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47599" y="2048139"/>
              <a:ext cx="544513" cy="614363"/>
            </a:xfrm>
            <a:custGeom>
              <a:avLst/>
              <a:gdLst>
                <a:gd name="T0" fmla="*/ 0 w 386"/>
                <a:gd name="T1" fmla="*/ 68 h 433"/>
                <a:gd name="T2" fmla="*/ 0 w 386"/>
                <a:gd name="T3" fmla="*/ 68 h 433"/>
                <a:gd name="T4" fmla="*/ 333 w 386"/>
                <a:gd name="T5" fmla="*/ 68 h 433"/>
                <a:gd name="T6" fmla="*/ 333 w 386"/>
                <a:gd name="T7" fmla="*/ 332 h 433"/>
                <a:gd name="T8" fmla="*/ 0 w 386"/>
                <a:gd name="T9" fmla="*/ 383 h 433"/>
                <a:gd name="T10" fmla="*/ 0 w 386"/>
                <a:gd name="T11" fmla="*/ 68 h 433"/>
                <a:gd name="T12" fmla="*/ 27 w 386"/>
                <a:gd name="T13" fmla="*/ 68 h 433"/>
                <a:gd name="T14" fmla="*/ 27 w 386"/>
                <a:gd name="T15" fmla="*/ 68 h 433"/>
                <a:gd name="T16" fmla="*/ 27 w 386"/>
                <a:gd name="T17" fmla="*/ 33 h 433"/>
                <a:gd name="T18" fmla="*/ 358 w 386"/>
                <a:gd name="T19" fmla="*/ 33 h 433"/>
                <a:gd name="T20" fmla="*/ 358 w 386"/>
                <a:gd name="T21" fmla="*/ 299 h 433"/>
                <a:gd name="T22" fmla="*/ 333 w 386"/>
                <a:gd name="T23" fmla="*/ 301 h 433"/>
                <a:gd name="T24" fmla="*/ 53 w 386"/>
                <a:gd name="T25" fmla="*/ 33 h 433"/>
                <a:gd name="T26" fmla="*/ 53 w 386"/>
                <a:gd name="T27" fmla="*/ 33 h 433"/>
                <a:gd name="T28" fmla="*/ 53 w 386"/>
                <a:gd name="T29" fmla="*/ 0 h 433"/>
                <a:gd name="T30" fmla="*/ 386 w 386"/>
                <a:gd name="T31" fmla="*/ 0 h 433"/>
                <a:gd name="T32" fmla="*/ 386 w 386"/>
                <a:gd name="T33" fmla="*/ 265 h 433"/>
                <a:gd name="T34" fmla="*/ 358 w 386"/>
                <a:gd name="T35" fmla="*/ 266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33">
                  <a:moveTo>
                    <a:pt x="0" y="68"/>
                  </a:moveTo>
                  <a:lnTo>
                    <a:pt x="0" y="68"/>
                  </a:lnTo>
                  <a:lnTo>
                    <a:pt x="333" y="68"/>
                  </a:lnTo>
                  <a:lnTo>
                    <a:pt x="333" y="332"/>
                  </a:lnTo>
                  <a:cubicBezTo>
                    <a:pt x="166" y="332"/>
                    <a:pt x="166" y="433"/>
                    <a:pt x="0" y="383"/>
                  </a:cubicBezTo>
                  <a:lnTo>
                    <a:pt x="0" y="68"/>
                  </a:lnTo>
                  <a:close/>
                  <a:moveTo>
                    <a:pt x="27" y="68"/>
                  </a:moveTo>
                  <a:lnTo>
                    <a:pt x="27" y="68"/>
                  </a:lnTo>
                  <a:lnTo>
                    <a:pt x="27" y="33"/>
                  </a:lnTo>
                  <a:lnTo>
                    <a:pt x="358" y="33"/>
                  </a:lnTo>
                  <a:lnTo>
                    <a:pt x="358" y="299"/>
                  </a:lnTo>
                  <a:cubicBezTo>
                    <a:pt x="345" y="299"/>
                    <a:pt x="333" y="301"/>
                    <a:pt x="333" y="301"/>
                  </a:cubicBezTo>
                  <a:moveTo>
                    <a:pt x="53" y="33"/>
                  </a:moveTo>
                  <a:lnTo>
                    <a:pt x="53" y="33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5"/>
                  </a:lnTo>
                  <a:cubicBezTo>
                    <a:pt x="372" y="265"/>
                    <a:pt x="358" y="266"/>
                    <a:pt x="358" y="266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28" name="Rectangle 73">
              <a:extLst>
                <a:ext uri="{FF2B5EF4-FFF2-40B4-BE49-F238E27FC236}">
                  <a16:creationId xmlns:a16="http://schemas.microsoft.com/office/drawing/2014/main" id="{EDC0459D-3A4A-0D48-905E-19791FDFB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3324" y="2267214"/>
              <a:ext cx="161925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X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74">
              <a:extLst>
                <a:ext uri="{FF2B5EF4-FFF2-40B4-BE49-F238E27FC236}">
                  <a16:creationId xmlns:a16="http://schemas.microsoft.com/office/drawing/2014/main" id="{C8401974-F3DC-C94E-A950-B57463F7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699" y="2267214"/>
              <a:ext cx="2174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M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75">
              <a:extLst>
                <a:ext uri="{FF2B5EF4-FFF2-40B4-BE49-F238E27FC236}">
                  <a16:creationId xmlns:a16="http://schemas.microsoft.com/office/drawing/2014/main" id="{622B38DE-7C33-8640-AA07-59D1AC820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461" y="2267214"/>
              <a:ext cx="14763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L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BC73389-FE82-A840-80FF-E1BFFD077E33}"/>
              </a:ext>
            </a:extLst>
          </p:cNvPr>
          <p:cNvGrpSpPr/>
          <p:nvPr/>
        </p:nvGrpSpPr>
        <p:grpSpPr>
          <a:xfrm>
            <a:off x="2044901" y="5599207"/>
            <a:ext cx="542925" cy="623888"/>
            <a:chOff x="1147057" y="993775"/>
            <a:chExt cx="542925" cy="623888"/>
          </a:xfrm>
        </p:grpSpPr>
        <p:sp>
          <p:nvSpPr>
            <p:cNvPr id="32" name="Freeform 103">
              <a:extLst>
                <a:ext uri="{FF2B5EF4-FFF2-40B4-BE49-F238E27FC236}">
                  <a16:creationId xmlns:a16="http://schemas.microsoft.com/office/drawing/2014/main" id="{836333DB-795A-E64C-81C6-4EFE2C4532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389 h 440"/>
                <a:gd name="T2" fmla="*/ 0 w 386"/>
                <a:gd name="T3" fmla="*/ 389 h 440"/>
                <a:gd name="T4" fmla="*/ 333 w 386"/>
                <a:gd name="T5" fmla="*/ 337 h 440"/>
                <a:gd name="T6" fmla="*/ 333 w 386"/>
                <a:gd name="T7" fmla="*/ 69 h 440"/>
                <a:gd name="T8" fmla="*/ 0 w 386"/>
                <a:gd name="T9" fmla="*/ 69 h 440"/>
                <a:gd name="T10" fmla="*/ 0 w 386"/>
                <a:gd name="T11" fmla="*/ 38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333 w 386"/>
                <a:gd name="T25" fmla="*/ 69 h 440"/>
                <a:gd name="T26" fmla="*/ 28 w 386"/>
                <a:gd name="T27" fmla="*/ 69 h 440"/>
                <a:gd name="T28" fmla="*/ 53 w 386"/>
                <a:gd name="T29" fmla="*/ 34 h 440"/>
                <a:gd name="T30" fmla="*/ 53 w 386"/>
                <a:gd name="T31" fmla="*/ 34 h 440"/>
                <a:gd name="T32" fmla="*/ 53 w 386"/>
                <a:gd name="T33" fmla="*/ 0 h 440"/>
                <a:gd name="T34" fmla="*/ 386 w 386"/>
                <a:gd name="T35" fmla="*/ 0 h 440"/>
                <a:gd name="T36" fmla="*/ 386 w 386"/>
                <a:gd name="T37" fmla="*/ 269 h 440"/>
                <a:gd name="T38" fmla="*/ 358 w 386"/>
                <a:gd name="T39" fmla="*/ 270 h 440"/>
                <a:gd name="T40" fmla="*/ 358 w 386"/>
                <a:gd name="T41" fmla="*/ 34 h 440"/>
                <a:gd name="T42" fmla="*/ 53 w 386"/>
                <a:gd name="T43" fmla="*/ 3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40">
                  <a:moveTo>
                    <a:pt x="0" y="389"/>
                  </a:moveTo>
                  <a:lnTo>
                    <a:pt x="0" y="389"/>
                  </a:lnTo>
                  <a:cubicBezTo>
                    <a:pt x="166" y="440"/>
                    <a:pt x="166" y="337"/>
                    <a:pt x="333" y="337"/>
                  </a:cubicBezTo>
                  <a:lnTo>
                    <a:pt x="333" y="69"/>
                  </a:lnTo>
                  <a:lnTo>
                    <a:pt x="0" y="69"/>
                  </a:lnTo>
                  <a:lnTo>
                    <a:pt x="0" y="38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lnTo>
                    <a:pt x="333" y="69"/>
                  </a:lnTo>
                  <a:lnTo>
                    <a:pt x="28" y="69"/>
                  </a:lnTo>
                  <a:close/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  <a:lnTo>
                    <a:pt x="358" y="34"/>
                  </a:lnTo>
                  <a:lnTo>
                    <a:pt x="53" y="34"/>
                  </a:lnTo>
                  <a:close/>
                </a:path>
              </a:pathLst>
            </a:custGeom>
            <a:solidFill>
              <a:srgbClr val="C5E0B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33" name="Freeform 104">
              <a:extLst>
                <a:ext uri="{FF2B5EF4-FFF2-40B4-BE49-F238E27FC236}">
                  <a16:creationId xmlns:a16="http://schemas.microsoft.com/office/drawing/2014/main" id="{FE47F326-5510-E34A-8C2F-4BC838598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69 h 440"/>
                <a:gd name="T2" fmla="*/ 0 w 386"/>
                <a:gd name="T3" fmla="*/ 69 h 440"/>
                <a:gd name="T4" fmla="*/ 333 w 386"/>
                <a:gd name="T5" fmla="*/ 69 h 440"/>
                <a:gd name="T6" fmla="*/ 333 w 386"/>
                <a:gd name="T7" fmla="*/ 337 h 440"/>
                <a:gd name="T8" fmla="*/ 0 w 386"/>
                <a:gd name="T9" fmla="*/ 389 h 440"/>
                <a:gd name="T10" fmla="*/ 0 w 386"/>
                <a:gd name="T11" fmla="*/ 6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53 w 386"/>
                <a:gd name="T25" fmla="*/ 34 h 440"/>
                <a:gd name="T26" fmla="*/ 53 w 386"/>
                <a:gd name="T27" fmla="*/ 34 h 440"/>
                <a:gd name="T28" fmla="*/ 53 w 386"/>
                <a:gd name="T29" fmla="*/ 0 h 440"/>
                <a:gd name="T30" fmla="*/ 386 w 386"/>
                <a:gd name="T31" fmla="*/ 0 h 440"/>
                <a:gd name="T32" fmla="*/ 386 w 386"/>
                <a:gd name="T33" fmla="*/ 269 h 440"/>
                <a:gd name="T34" fmla="*/ 358 w 386"/>
                <a:gd name="T35" fmla="*/ 27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40">
                  <a:moveTo>
                    <a:pt x="0" y="69"/>
                  </a:moveTo>
                  <a:lnTo>
                    <a:pt x="0" y="69"/>
                  </a:lnTo>
                  <a:lnTo>
                    <a:pt x="333" y="69"/>
                  </a:lnTo>
                  <a:lnTo>
                    <a:pt x="333" y="337"/>
                  </a:lnTo>
                  <a:cubicBezTo>
                    <a:pt x="166" y="337"/>
                    <a:pt x="166" y="440"/>
                    <a:pt x="0" y="389"/>
                  </a:cubicBezTo>
                  <a:lnTo>
                    <a:pt x="0" y="6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34" name="Rectangle 105">
              <a:extLst>
                <a:ext uri="{FF2B5EF4-FFF2-40B4-BE49-F238E27FC236}">
                  <a16:creationId xmlns:a16="http://schemas.microsoft.com/office/drawing/2014/main" id="{3C3940E4-A88C-F845-847E-0C5EFB468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657" y="1220788"/>
              <a:ext cx="1666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C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06">
              <a:extLst>
                <a:ext uri="{FF2B5EF4-FFF2-40B4-BE49-F238E27FC236}">
                  <a16:creationId xmlns:a16="http://schemas.microsoft.com/office/drawing/2014/main" id="{B98823A0-AAC9-7A4B-AF70-0B73D030D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557" y="1220788"/>
              <a:ext cx="153988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S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107">
              <a:extLst>
                <a:ext uri="{FF2B5EF4-FFF2-40B4-BE49-F238E27FC236}">
                  <a16:creationId xmlns:a16="http://schemas.microsoft.com/office/drawing/2014/main" id="{FA33A539-D79E-C142-B9F9-6ED7E68CD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407" y="1220788"/>
              <a:ext cx="1698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V</a:t>
              </a:r>
              <a:endParaRPr kumimoji="0" lang="nl-NL" altLang="nl-N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75" name="Picture 74" descr="A picture containing cup, mug&#10;&#10;Description automatically generated">
            <a:extLst>
              <a:ext uri="{FF2B5EF4-FFF2-40B4-BE49-F238E27FC236}">
                <a16:creationId xmlns:a16="http://schemas.microsoft.com/office/drawing/2014/main" id="{17B93ABF-2B5D-8849-BF19-2160A7F100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7" t="12222" r="9140" b="13334"/>
          <a:stretch/>
        </p:blipFill>
        <p:spPr>
          <a:xfrm>
            <a:off x="3097458" y="4254203"/>
            <a:ext cx="593371" cy="736220"/>
          </a:xfrm>
          <a:prstGeom prst="rect">
            <a:avLst/>
          </a:prstGeom>
        </p:spPr>
      </p:pic>
      <p:pic>
        <p:nvPicPr>
          <p:cNvPr id="78" name="Picture 77" descr="A close up of a logo&#10;&#10;Description automatically generated">
            <a:extLst>
              <a:ext uri="{FF2B5EF4-FFF2-40B4-BE49-F238E27FC236}">
                <a16:creationId xmlns:a16="http://schemas.microsoft.com/office/drawing/2014/main" id="{562D4FDC-19F5-904D-95C9-A33BCE12293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7" t="14179" r="20052" b="2239"/>
          <a:stretch/>
        </p:blipFill>
        <p:spPr>
          <a:xfrm>
            <a:off x="1767002" y="4135553"/>
            <a:ext cx="1292181" cy="854870"/>
          </a:xfrm>
          <a:prstGeom prst="rect">
            <a:avLst/>
          </a:prstGeom>
        </p:spPr>
      </p:pic>
      <p:pic>
        <p:nvPicPr>
          <p:cNvPr id="81" name="Picture 80" descr="A picture containing mug, cup, table&#10;&#10;Description automatically generated">
            <a:extLst>
              <a:ext uri="{FF2B5EF4-FFF2-40B4-BE49-F238E27FC236}">
                <a16:creationId xmlns:a16="http://schemas.microsoft.com/office/drawing/2014/main" id="{6E8032D2-0197-7645-95B6-C6D31098107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0" t="10645" r="9205" b="5555"/>
          <a:stretch/>
        </p:blipFill>
        <p:spPr>
          <a:xfrm>
            <a:off x="2653002" y="4981489"/>
            <a:ext cx="1159798" cy="98656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1254E70-FE2D-9B71-F60B-717344F15448}"/>
              </a:ext>
            </a:extLst>
          </p:cNvPr>
          <p:cNvGrpSpPr/>
          <p:nvPr/>
        </p:nvGrpSpPr>
        <p:grpSpPr>
          <a:xfrm>
            <a:off x="9856268" y="4537972"/>
            <a:ext cx="544513" cy="614363"/>
            <a:chOff x="9796076" y="1102101"/>
            <a:chExt cx="544513" cy="61436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C4A5C6F-AEE6-5C50-9DFB-09A514B217FB}"/>
                </a:ext>
              </a:extLst>
            </p:cNvPr>
            <p:cNvGrpSpPr/>
            <p:nvPr/>
          </p:nvGrpSpPr>
          <p:grpSpPr>
            <a:xfrm>
              <a:off x="9796076" y="1102101"/>
              <a:ext cx="544513" cy="614363"/>
              <a:chOff x="1247599" y="2048139"/>
              <a:chExt cx="544513" cy="614363"/>
            </a:xfrm>
            <a:solidFill>
              <a:srgbClr val="00B0F0"/>
            </a:solidFill>
          </p:grpSpPr>
          <p:sp>
            <p:nvSpPr>
              <p:cNvPr id="4" name="Freeform 71">
                <a:extLst>
                  <a:ext uri="{FF2B5EF4-FFF2-40B4-BE49-F238E27FC236}">
                    <a16:creationId xmlns:a16="http://schemas.microsoft.com/office/drawing/2014/main" id="{BD38244D-F743-61DF-0719-98ABDC5201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599" y="2048139"/>
                <a:ext cx="544513" cy="614363"/>
              </a:xfrm>
              <a:custGeom>
                <a:avLst/>
                <a:gdLst>
                  <a:gd name="T0" fmla="*/ 0 w 386"/>
                  <a:gd name="T1" fmla="*/ 383 h 433"/>
                  <a:gd name="T2" fmla="*/ 0 w 386"/>
                  <a:gd name="T3" fmla="*/ 383 h 433"/>
                  <a:gd name="T4" fmla="*/ 333 w 386"/>
                  <a:gd name="T5" fmla="*/ 332 h 433"/>
                  <a:gd name="T6" fmla="*/ 333 w 386"/>
                  <a:gd name="T7" fmla="*/ 68 h 433"/>
                  <a:gd name="T8" fmla="*/ 0 w 386"/>
                  <a:gd name="T9" fmla="*/ 68 h 433"/>
                  <a:gd name="T10" fmla="*/ 0 w 386"/>
                  <a:gd name="T11" fmla="*/ 383 h 433"/>
                  <a:gd name="T12" fmla="*/ 27 w 386"/>
                  <a:gd name="T13" fmla="*/ 68 h 433"/>
                  <a:gd name="T14" fmla="*/ 27 w 386"/>
                  <a:gd name="T15" fmla="*/ 68 h 433"/>
                  <a:gd name="T16" fmla="*/ 27 w 386"/>
                  <a:gd name="T17" fmla="*/ 33 h 433"/>
                  <a:gd name="T18" fmla="*/ 358 w 386"/>
                  <a:gd name="T19" fmla="*/ 33 h 433"/>
                  <a:gd name="T20" fmla="*/ 358 w 386"/>
                  <a:gd name="T21" fmla="*/ 299 h 433"/>
                  <a:gd name="T22" fmla="*/ 333 w 386"/>
                  <a:gd name="T23" fmla="*/ 301 h 433"/>
                  <a:gd name="T24" fmla="*/ 333 w 386"/>
                  <a:gd name="T25" fmla="*/ 68 h 433"/>
                  <a:gd name="T26" fmla="*/ 27 w 386"/>
                  <a:gd name="T27" fmla="*/ 68 h 433"/>
                  <a:gd name="T28" fmla="*/ 53 w 386"/>
                  <a:gd name="T29" fmla="*/ 33 h 433"/>
                  <a:gd name="T30" fmla="*/ 53 w 386"/>
                  <a:gd name="T31" fmla="*/ 33 h 433"/>
                  <a:gd name="T32" fmla="*/ 53 w 386"/>
                  <a:gd name="T33" fmla="*/ 0 h 433"/>
                  <a:gd name="T34" fmla="*/ 386 w 386"/>
                  <a:gd name="T35" fmla="*/ 0 h 433"/>
                  <a:gd name="T36" fmla="*/ 386 w 386"/>
                  <a:gd name="T37" fmla="*/ 265 h 433"/>
                  <a:gd name="T38" fmla="*/ 358 w 386"/>
                  <a:gd name="T39" fmla="*/ 266 h 433"/>
                  <a:gd name="T40" fmla="*/ 358 w 386"/>
                  <a:gd name="T41" fmla="*/ 33 h 433"/>
                  <a:gd name="T42" fmla="*/ 53 w 386"/>
                  <a:gd name="T43" fmla="*/ 33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86" h="433">
                    <a:moveTo>
                      <a:pt x="0" y="383"/>
                    </a:moveTo>
                    <a:lnTo>
                      <a:pt x="0" y="383"/>
                    </a:lnTo>
                    <a:cubicBezTo>
                      <a:pt x="166" y="433"/>
                      <a:pt x="166" y="332"/>
                      <a:pt x="333" y="332"/>
                    </a:cubicBezTo>
                    <a:lnTo>
                      <a:pt x="333" y="68"/>
                    </a:lnTo>
                    <a:lnTo>
                      <a:pt x="0" y="68"/>
                    </a:lnTo>
                    <a:lnTo>
                      <a:pt x="0" y="383"/>
                    </a:lnTo>
                    <a:close/>
                    <a:moveTo>
                      <a:pt x="27" y="68"/>
                    </a:moveTo>
                    <a:lnTo>
                      <a:pt x="27" y="68"/>
                    </a:lnTo>
                    <a:lnTo>
                      <a:pt x="27" y="33"/>
                    </a:lnTo>
                    <a:lnTo>
                      <a:pt x="358" y="33"/>
                    </a:lnTo>
                    <a:lnTo>
                      <a:pt x="358" y="299"/>
                    </a:lnTo>
                    <a:cubicBezTo>
                      <a:pt x="345" y="299"/>
                      <a:pt x="333" y="301"/>
                      <a:pt x="333" y="301"/>
                    </a:cubicBezTo>
                    <a:lnTo>
                      <a:pt x="333" y="68"/>
                    </a:lnTo>
                    <a:lnTo>
                      <a:pt x="27" y="68"/>
                    </a:lnTo>
                    <a:close/>
                    <a:moveTo>
                      <a:pt x="53" y="33"/>
                    </a:moveTo>
                    <a:lnTo>
                      <a:pt x="53" y="33"/>
                    </a:lnTo>
                    <a:lnTo>
                      <a:pt x="53" y="0"/>
                    </a:lnTo>
                    <a:lnTo>
                      <a:pt x="386" y="0"/>
                    </a:lnTo>
                    <a:lnTo>
                      <a:pt x="386" y="265"/>
                    </a:lnTo>
                    <a:cubicBezTo>
                      <a:pt x="372" y="265"/>
                      <a:pt x="358" y="266"/>
                      <a:pt x="358" y="266"/>
                    </a:cubicBezTo>
                    <a:lnTo>
                      <a:pt x="358" y="33"/>
                    </a:lnTo>
                    <a:lnTo>
                      <a:pt x="53" y="33"/>
                    </a:lnTo>
                    <a:close/>
                  </a:path>
                </a:pathLst>
              </a:custGeom>
              <a:grp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/>
              </a:p>
            </p:txBody>
          </p:sp>
          <p:sp>
            <p:nvSpPr>
              <p:cNvPr id="5" name="Freeform 72">
                <a:extLst>
                  <a:ext uri="{FF2B5EF4-FFF2-40B4-BE49-F238E27FC236}">
                    <a16:creationId xmlns:a16="http://schemas.microsoft.com/office/drawing/2014/main" id="{BA8F772C-54BC-AE33-6002-3ED86717D3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599" y="2048139"/>
                <a:ext cx="544513" cy="614363"/>
              </a:xfrm>
              <a:custGeom>
                <a:avLst/>
                <a:gdLst>
                  <a:gd name="T0" fmla="*/ 0 w 386"/>
                  <a:gd name="T1" fmla="*/ 68 h 433"/>
                  <a:gd name="T2" fmla="*/ 0 w 386"/>
                  <a:gd name="T3" fmla="*/ 68 h 433"/>
                  <a:gd name="T4" fmla="*/ 333 w 386"/>
                  <a:gd name="T5" fmla="*/ 68 h 433"/>
                  <a:gd name="T6" fmla="*/ 333 w 386"/>
                  <a:gd name="T7" fmla="*/ 332 h 433"/>
                  <a:gd name="T8" fmla="*/ 0 w 386"/>
                  <a:gd name="T9" fmla="*/ 383 h 433"/>
                  <a:gd name="T10" fmla="*/ 0 w 386"/>
                  <a:gd name="T11" fmla="*/ 68 h 433"/>
                  <a:gd name="T12" fmla="*/ 27 w 386"/>
                  <a:gd name="T13" fmla="*/ 68 h 433"/>
                  <a:gd name="T14" fmla="*/ 27 w 386"/>
                  <a:gd name="T15" fmla="*/ 68 h 433"/>
                  <a:gd name="T16" fmla="*/ 27 w 386"/>
                  <a:gd name="T17" fmla="*/ 33 h 433"/>
                  <a:gd name="T18" fmla="*/ 358 w 386"/>
                  <a:gd name="T19" fmla="*/ 33 h 433"/>
                  <a:gd name="T20" fmla="*/ 358 w 386"/>
                  <a:gd name="T21" fmla="*/ 299 h 433"/>
                  <a:gd name="T22" fmla="*/ 333 w 386"/>
                  <a:gd name="T23" fmla="*/ 301 h 433"/>
                  <a:gd name="T24" fmla="*/ 53 w 386"/>
                  <a:gd name="T25" fmla="*/ 33 h 433"/>
                  <a:gd name="T26" fmla="*/ 53 w 386"/>
                  <a:gd name="T27" fmla="*/ 33 h 433"/>
                  <a:gd name="T28" fmla="*/ 53 w 386"/>
                  <a:gd name="T29" fmla="*/ 0 h 433"/>
                  <a:gd name="T30" fmla="*/ 386 w 386"/>
                  <a:gd name="T31" fmla="*/ 0 h 433"/>
                  <a:gd name="T32" fmla="*/ 386 w 386"/>
                  <a:gd name="T33" fmla="*/ 265 h 433"/>
                  <a:gd name="T34" fmla="*/ 358 w 386"/>
                  <a:gd name="T35" fmla="*/ 266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86" h="433">
                    <a:moveTo>
                      <a:pt x="0" y="68"/>
                    </a:moveTo>
                    <a:lnTo>
                      <a:pt x="0" y="68"/>
                    </a:lnTo>
                    <a:lnTo>
                      <a:pt x="333" y="68"/>
                    </a:lnTo>
                    <a:lnTo>
                      <a:pt x="333" y="332"/>
                    </a:lnTo>
                    <a:cubicBezTo>
                      <a:pt x="166" y="332"/>
                      <a:pt x="166" y="433"/>
                      <a:pt x="0" y="383"/>
                    </a:cubicBezTo>
                    <a:lnTo>
                      <a:pt x="0" y="68"/>
                    </a:lnTo>
                    <a:close/>
                    <a:moveTo>
                      <a:pt x="27" y="68"/>
                    </a:moveTo>
                    <a:lnTo>
                      <a:pt x="27" y="68"/>
                    </a:lnTo>
                    <a:lnTo>
                      <a:pt x="27" y="33"/>
                    </a:lnTo>
                    <a:lnTo>
                      <a:pt x="358" y="33"/>
                    </a:lnTo>
                    <a:lnTo>
                      <a:pt x="358" y="299"/>
                    </a:lnTo>
                    <a:cubicBezTo>
                      <a:pt x="345" y="299"/>
                      <a:pt x="333" y="301"/>
                      <a:pt x="333" y="301"/>
                    </a:cubicBezTo>
                    <a:moveTo>
                      <a:pt x="53" y="33"/>
                    </a:moveTo>
                    <a:lnTo>
                      <a:pt x="53" y="33"/>
                    </a:lnTo>
                    <a:lnTo>
                      <a:pt x="53" y="0"/>
                    </a:lnTo>
                    <a:lnTo>
                      <a:pt x="386" y="0"/>
                    </a:lnTo>
                    <a:lnTo>
                      <a:pt x="386" y="265"/>
                    </a:lnTo>
                    <a:cubicBezTo>
                      <a:pt x="372" y="265"/>
                      <a:pt x="358" y="266"/>
                      <a:pt x="358" y="266"/>
                    </a:cubicBezTo>
                  </a:path>
                </a:pathLst>
              </a:custGeom>
              <a:grpFill/>
              <a:ln w="7938" cap="flat">
                <a:solidFill>
                  <a:srgbClr val="385723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/>
              </a:p>
            </p:txBody>
          </p:sp>
        </p:grpSp>
        <p:sp>
          <p:nvSpPr>
            <p:cNvPr id="9" name="Rectangle 74">
              <a:extLst>
                <a:ext uri="{FF2B5EF4-FFF2-40B4-BE49-F238E27FC236}">
                  <a16:creationId xmlns:a16="http://schemas.microsoft.com/office/drawing/2014/main" id="{FC622A1A-B485-3EAF-FB83-B93A1411D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1981" y="1296594"/>
              <a:ext cx="367088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pitchFamily="34" charset="0"/>
                </a:rPr>
                <a:t>HTML</a:t>
              </a:r>
              <a:endParaRPr kumimoji="0" lang="nl-NL" altLang="nl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105" name="Graphic 104" descr="Document with solid fill">
            <a:extLst>
              <a:ext uri="{FF2B5EF4-FFF2-40B4-BE49-F238E27FC236}">
                <a16:creationId xmlns:a16="http://schemas.microsoft.com/office/drawing/2014/main" id="{252ED1A1-0BE9-2609-FA90-D1AFE7CB9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3138" y="4631146"/>
            <a:ext cx="871013" cy="871013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CDC55AF-214D-3128-04A5-3825FA04D848}"/>
              </a:ext>
            </a:extLst>
          </p:cNvPr>
          <p:cNvGrpSpPr/>
          <p:nvPr/>
        </p:nvGrpSpPr>
        <p:grpSpPr>
          <a:xfrm>
            <a:off x="1758357" y="4970556"/>
            <a:ext cx="542925" cy="623888"/>
            <a:chOff x="1147057" y="993775"/>
            <a:chExt cx="542925" cy="623888"/>
          </a:xfrm>
        </p:grpSpPr>
        <p:sp>
          <p:nvSpPr>
            <p:cNvPr id="8" name="Freeform 103">
              <a:extLst>
                <a:ext uri="{FF2B5EF4-FFF2-40B4-BE49-F238E27FC236}">
                  <a16:creationId xmlns:a16="http://schemas.microsoft.com/office/drawing/2014/main" id="{DD17AD07-9CAD-3AEC-93D9-48F6653460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389 h 440"/>
                <a:gd name="T2" fmla="*/ 0 w 386"/>
                <a:gd name="T3" fmla="*/ 389 h 440"/>
                <a:gd name="T4" fmla="*/ 333 w 386"/>
                <a:gd name="T5" fmla="*/ 337 h 440"/>
                <a:gd name="T6" fmla="*/ 333 w 386"/>
                <a:gd name="T7" fmla="*/ 69 h 440"/>
                <a:gd name="T8" fmla="*/ 0 w 386"/>
                <a:gd name="T9" fmla="*/ 69 h 440"/>
                <a:gd name="T10" fmla="*/ 0 w 386"/>
                <a:gd name="T11" fmla="*/ 38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333 w 386"/>
                <a:gd name="T25" fmla="*/ 69 h 440"/>
                <a:gd name="T26" fmla="*/ 28 w 386"/>
                <a:gd name="T27" fmla="*/ 69 h 440"/>
                <a:gd name="T28" fmla="*/ 53 w 386"/>
                <a:gd name="T29" fmla="*/ 34 h 440"/>
                <a:gd name="T30" fmla="*/ 53 w 386"/>
                <a:gd name="T31" fmla="*/ 34 h 440"/>
                <a:gd name="T32" fmla="*/ 53 w 386"/>
                <a:gd name="T33" fmla="*/ 0 h 440"/>
                <a:gd name="T34" fmla="*/ 386 w 386"/>
                <a:gd name="T35" fmla="*/ 0 h 440"/>
                <a:gd name="T36" fmla="*/ 386 w 386"/>
                <a:gd name="T37" fmla="*/ 269 h 440"/>
                <a:gd name="T38" fmla="*/ 358 w 386"/>
                <a:gd name="T39" fmla="*/ 270 h 440"/>
                <a:gd name="T40" fmla="*/ 358 w 386"/>
                <a:gd name="T41" fmla="*/ 34 h 440"/>
                <a:gd name="T42" fmla="*/ 53 w 386"/>
                <a:gd name="T43" fmla="*/ 34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86" h="440">
                  <a:moveTo>
                    <a:pt x="0" y="389"/>
                  </a:moveTo>
                  <a:lnTo>
                    <a:pt x="0" y="389"/>
                  </a:lnTo>
                  <a:cubicBezTo>
                    <a:pt x="166" y="440"/>
                    <a:pt x="166" y="337"/>
                    <a:pt x="333" y="337"/>
                  </a:cubicBezTo>
                  <a:lnTo>
                    <a:pt x="333" y="69"/>
                  </a:lnTo>
                  <a:lnTo>
                    <a:pt x="0" y="69"/>
                  </a:lnTo>
                  <a:lnTo>
                    <a:pt x="0" y="38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lnTo>
                    <a:pt x="333" y="69"/>
                  </a:lnTo>
                  <a:lnTo>
                    <a:pt x="28" y="69"/>
                  </a:lnTo>
                  <a:close/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  <a:lnTo>
                    <a:pt x="358" y="34"/>
                  </a:lnTo>
                  <a:lnTo>
                    <a:pt x="53" y="34"/>
                  </a:lnTo>
                  <a:close/>
                </a:path>
              </a:pathLst>
            </a:custGeom>
            <a:solidFill>
              <a:srgbClr val="C5E0B4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06" name="Freeform 104">
              <a:extLst>
                <a:ext uri="{FF2B5EF4-FFF2-40B4-BE49-F238E27FC236}">
                  <a16:creationId xmlns:a16="http://schemas.microsoft.com/office/drawing/2014/main" id="{597297EF-FC63-3EBF-78C5-6A607BF8B3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7057" y="993775"/>
              <a:ext cx="542925" cy="623888"/>
            </a:xfrm>
            <a:custGeom>
              <a:avLst/>
              <a:gdLst>
                <a:gd name="T0" fmla="*/ 0 w 386"/>
                <a:gd name="T1" fmla="*/ 69 h 440"/>
                <a:gd name="T2" fmla="*/ 0 w 386"/>
                <a:gd name="T3" fmla="*/ 69 h 440"/>
                <a:gd name="T4" fmla="*/ 333 w 386"/>
                <a:gd name="T5" fmla="*/ 69 h 440"/>
                <a:gd name="T6" fmla="*/ 333 w 386"/>
                <a:gd name="T7" fmla="*/ 337 h 440"/>
                <a:gd name="T8" fmla="*/ 0 w 386"/>
                <a:gd name="T9" fmla="*/ 389 h 440"/>
                <a:gd name="T10" fmla="*/ 0 w 386"/>
                <a:gd name="T11" fmla="*/ 69 h 440"/>
                <a:gd name="T12" fmla="*/ 28 w 386"/>
                <a:gd name="T13" fmla="*/ 69 h 440"/>
                <a:gd name="T14" fmla="*/ 28 w 386"/>
                <a:gd name="T15" fmla="*/ 69 h 440"/>
                <a:gd name="T16" fmla="*/ 28 w 386"/>
                <a:gd name="T17" fmla="*/ 34 h 440"/>
                <a:gd name="T18" fmla="*/ 358 w 386"/>
                <a:gd name="T19" fmla="*/ 34 h 440"/>
                <a:gd name="T20" fmla="*/ 358 w 386"/>
                <a:gd name="T21" fmla="*/ 304 h 440"/>
                <a:gd name="T22" fmla="*/ 333 w 386"/>
                <a:gd name="T23" fmla="*/ 306 h 440"/>
                <a:gd name="T24" fmla="*/ 53 w 386"/>
                <a:gd name="T25" fmla="*/ 34 h 440"/>
                <a:gd name="T26" fmla="*/ 53 w 386"/>
                <a:gd name="T27" fmla="*/ 34 h 440"/>
                <a:gd name="T28" fmla="*/ 53 w 386"/>
                <a:gd name="T29" fmla="*/ 0 h 440"/>
                <a:gd name="T30" fmla="*/ 386 w 386"/>
                <a:gd name="T31" fmla="*/ 0 h 440"/>
                <a:gd name="T32" fmla="*/ 386 w 386"/>
                <a:gd name="T33" fmla="*/ 269 h 440"/>
                <a:gd name="T34" fmla="*/ 358 w 386"/>
                <a:gd name="T35" fmla="*/ 270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86" h="440">
                  <a:moveTo>
                    <a:pt x="0" y="69"/>
                  </a:moveTo>
                  <a:lnTo>
                    <a:pt x="0" y="69"/>
                  </a:lnTo>
                  <a:lnTo>
                    <a:pt x="333" y="69"/>
                  </a:lnTo>
                  <a:lnTo>
                    <a:pt x="333" y="337"/>
                  </a:lnTo>
                  <a:cubicBezTo>
                    <a:pt x="166" y="337"/>
                    <a:pt x="166" y="440"/>
                    <a:pt x="0" y="389"/>
                  </a:cubicBezTo>
                  <a:lnTo>
                    <a:pt x="0" y="69"/>
                  </a:lnTo>
                  <a:close/>
                  <a:moveTo>
                    <a:pt x="28" y="69"/>
                  </a:moveTo>
                  <a:lnTo>
                    <a:pt x="28" y="69"/>
                  </a:lnTo>
                  <a:lnTo>
                    <a:pt x="28" y="34"/>
                  </a:lnTo>
                  <a:lnTo>
                    <a:pt x="358" y="34"/>
                  </a:lnTo>
                  <a:lnTo>
                    <a:pt x="358" y="304"/>
                  </a:lnTo>
                  <a:cubicBezTo>
                    <a:pt x="345" y="304"/>
                    <a:pt x="333" y="306"/>
                    <a:pt x="333" y="306"/>
                  </a:cubicBezTo>
                  <a:moveTo>
                    <a:pt x="53" y="34"/>
                  </a:moveTo>
                  <a:lnTo>
                    <a:pt x="53" y="34"/>
                  </a:lnTo>
                  <a:lnTo>
                    <a:pt x="53" y="0"/>
                  </a:lnTo>
                  <a:lnTo>
                    <a:pt x="386" y="0"/>
                  </a:lnTo>
                  <a:lnTo>
                    <a:pt x="386" y="269"/>
                  </a:lnTo>
                  <a:cubicBezTo>
                    <a:pt x="372" y="269"/>
                    <a:pt x="358" y="270"/>
                    <a:pt x="358" y="270"/>
                  </a:cubicBezTo>
                </a:path>
              </a:pathLst>
            </a:custGeom>
            <a:noFill/>
            <a:ln w="7938" cap="flat">
              <a:solidFill>
                <a:srgbClr val="38572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/>
            </a:p>
          </p:txBody>
        </p:sp>
        <p:sp>
          <p:nvSpPr>
            <p:cNvPr id="107" name="Rectangle 105">
              <a:extLst>
                <a:ext uri="{FF2B5EF4-FFF2-40B4-BE49-F238E27FC236}">
                  <a16:creationId xmlns:a16="http://schemas.microsoft.com/office/drawing/2014/main" id="{07C64AB0-567D-ACC9-D5BB-4287DB91F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657" y="1220788"/>
              <a:ext cx="293991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nl-NL" altLang="nl-NL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XLSX</a:t>
              </a:r>
            </a:p>
          </p:txBody>
        </p:sp>
      </p:grpSp>
      <p:pic>
        <p:nvPicPr>
          <p:cNvPr id="124" name="Graphic 123" descr="Volume with solid fill">
            <a:extLst>
              <a:ext uri="{FF2B5EF4-FFF2-40B4-BE49-F238E27FC236}">
                <a16:creationId xmlns:a16="http://schemas.microsoft.com/office/drawing/2014/main" id="{71DDC5E9-5F76-D1AE-C548-8D2028916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98982" y="4688119"/>
            <a:ext cx="914400" cy="914400"/>
          </a:xfrm>
          <a:prstGeom prst="rect">
            <a:avLst/>
          </a:prstGeom>
        </p:spPr>
      </p:pic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1BF70287-1980-30DA-6C73-98EA23B5B469}"/>
              </a:ext>
            </a:extLst>
          </p:cNvPr>
          <p:cNvSpPr/>
          <p:nvPr/>
        </p:nvSpPr>
        <p:spPr>
          <a:xfrm>
            <a:off x="5010050" y="813070"/>
            <a:ext cx="2195700" cy="85414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49A67BC-3C51-9466-F0EA-CF68F7372872}"/>
              </a:ext>
            </a:extLst>
          </p:cNvPr>
          <p:cNvSpPr txBox="1"/>
          <p:nvPr/>
        </p:nvSpPr>
        <p:spPr>
          <a:xfrm>
            <a:off x="5010050" y="970108"/>
            <a:ext cx="2501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Data Formats</a:t>
            </a: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4F2203B-F6B7-2629-8D2C-35E01932C631}"/>
              </a:ext>
            </a:extLst>
          </p:cNvPr>
          <p:cNvSpPr/>
          <p:nvPr/>
        </p:nvSpPr>
        <p:spPr>
          <a:xfrm>
            <a:off x="9231019" y="2860946"/>
            <a:ext cx="2501380" cy="85414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22A424F2-3395-58C0-F54C-11D2C797D848}"/>
              </a:ext>
            </a:extLst>
          </p:cNvPr>
          <p:cNvSpPr/>
          <p:nvPr/>
        </p:nvSpPr>
        <p:spPr>
          <a:xfrm>
            <a:off x="5023526" y="2891736"/>
            <a:ext cx="2195700" cy="85414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A7600F99-D1C1-861F-3F74-D75739308E5C}"/>
              </a:ext>
            </a:extLst>
          </p:cNvPr>
          <p:cNvSpPr/>
          <p:nvPr/>
        </p:nvSpPr>
        <p:spPr>
          <a:xfrm>
            <a:off x="1555152" y="2860631"/>
            <a:ext cx="2195700" cy="854142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F858202-1D11-955B-093B-0673F9719847}"/>
              </a:ext>
            </a:extLst>
          </p:cNvPr>
          <p:cNvSpPr txBox="1"/>
          <p:nvPr/>
        </p:nvSpPr>
        <p:spPr>
          <a:xfrm>
            <a:off x="1660761" y="2835414"/>
            <a:ext cx="19528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Structured </a:t>
            </a:r>
          </a:p>
          <a:p>
            <a:pPr algn="ctr"/>
            <a:r>
              <a:rPr lang="en-US" sz="2800" dirty="0"/>
              <a:t>Data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853631D-C05A-5C74-3981-85A7A6508BAE}"/>
              </a:ext>
            </a:extLst>
          </p:cNvPr>
          <p:cNvSpPr txBox="1"/>
          <p:nvPr/>
        </p:nvSpPr>
        <p:spPr>
          <a:xfrm>
            <a:off x="5048015" y="2826395"/>
            <a:ext cx="22207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Unstructured </a:t>
            </a:r>
          </a:p>
          <a:p>
            <a:pPr algn="ctr"/>
            <a:r>
              <a:rPr lang="en-US" sz="2800" dirty="0"/>
              <a:t>Data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F9C4CC5-E510-6A2B-92C6-81214C610E51}"/>
              </a:ext>
            </a:extLst>
          </p:cNvPr>
          <p:cNvSpPr txBox="1"/>
          <p:nvPr/>
        </p:nvSpPr>
        <p:spPr>
          <a:xfrm>
            <a:off x="9280549" y="2830386"/>
            <a:ext cx="24447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Semistructured</a:t>
            </a:r>
            <a:r>
              <a:rPr lang="en-US" sz="2800" dirty="0"/>
              <a:t> </a:t>
            </a:r>
          </a:p>
          <a:p>
            <a:pPr algn="ctr"/>
            <a:r>
              <a:rPr lang="en-US" sz="2800" dirty="0"/>
              <a:t>Data</a:t>
            </a: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64571FB-765D-DF8E-A19E-F24A6481E623}"/>
              </a:ext>
            </a:extLst>
          </p:cNvPr>
          <p:cNvCxnSpPr>
            <a:cxnSpLocks/>
          </p:cNvCxnSpPr>
          <p:nvPr/>
        </p:nvCxnSpPr>
        <p:spPr>
          <a:xfrm>
            <a:off x="7143987" y="1601849"/>
            <a:ext cx="2136562" cy="133969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25268A2-C6D2-123B-8934-13F141C94D9E}"/>
              </a:ext>
            </a:extLst>
          </p:cNvPr>
          <p:cNvCxnSpPr>
            <a:cxnSpLocks/>
          </p:cNvCxnSpPr>
          <p:nvPr/>
        </p:nvCxnSpPr>
        <p:spPr>
          <a:xfrm>
            <a:off x="6058370" y="1670336"/>
            <a:ext cx="49530" cy="119029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9B13F56-06C4-D745-B206-E18873A18A65}"/>
              </a:ext>
            </a:extLst>
          </p:cNvPr>
          <p:cNvCxnSpPr>
            <a:cxnSpLocks/>
          </p:cNvCxnSpPr>
          <p:nvPr/>
        </p:nvCxnSpPr>
        <p:spPr>
          <a:xfrm flipH="1">
            <a:off x="3580048" y="1609435"/>
            <a:ext cx="1467967" cy="12429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4675311-29A2-190F-3B11-5E97EFC4A29D}"/>
              </a:ext>
            </a:extLst>
          </p:cNvPr>
          <p:cNvCxnSpPr>
            <a:cxnSpLocks/>
          </p:cNvCxnSpPr>
          <p:nvPr/>
        </p:nvCxnSpPr>
        <p:spPr>
          <a:xfrm flipH="1">
            <a:off x="10424998" y="3714773"/>
            <a:ext cx="7059" cy="7280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Graphic 148" descr="Presentation with media with solid fill">
            <a:extLst>
              <a:ext uri="{FF2B5EF4-FFF2-40B4-BE49-F238E27FC236}">
                <a16:creationId xmlns:a16="http://schemas.microsoft.com/office/drawing/2014/main" id="{FB11F2D0-D5E0-AC72-D68E-A209A49CD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0109" y="4691053"/>
            <a:ext cx="1017405" cy="1017405"/>
          </a:xfrm>
          <a:prstGeom prst="rect">
            <a:avLst/>
          </a:prstGeom>
        </p:spPr>
      </p:pic>
      <p:pic>
        <p:nvPicPr>
          <p:cNvPr id="151" name="Graphic 150" descr="Image with solid fill">
            <a:extLst>
              <a:ext uri="{FF2B5EF4-FFF2-40B4-BE49-F238E27FC236}">
                <a16:creationId xmlns:a16="http://schemas.microsoft.com/office/drawing/2014/main" id="{372F6497-90C6-0B11-2119-7B43490A45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5382" y="4631146"/>
            <a:ext cx="991011" cy="991011"/>
          </a:xfrm>
          <a:prstGeom prst="rect">
            <a:avLst/>
          </a:prstGeom>
        </p:spPr>
      </p:pic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283783AF-5071-E3F1-134B-392C8A93F813}"/>
              </a:ext>
            </a:extLst>
          </p:cNvPr>
          <p:cNvSpPr/>
          <p:nvPr/>
        </p:nvSpPr>
        <p:spPr>
          <a:xfrm>
            <a:off x="9574748" y="4473167"/>
            <a:ext cx="1798932" cy="1209569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A986F21F-121E-26BF-1275-B59510A38DA3}"/>
              </a:ext>
            </a:extLst>
          </p:cNvPr>
          <p:cNvSpPr/>
          <p:nvPr/>
        </p:nvSpPr>
        <p:spPr>
          <a:xfrm>
            <a:off x="4704002" y="4515039"/>
            <a:ext cx="3485332" cy="1209569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1E0AF1A6-5AC3-6932-2A7F-181C74E1DF3A}"/>
              </a:ext>
            </a:extLst>
          </p:cNvPr>
          <p:cNvCxnSpPr>
            <a:cxnSpLocks/>
          </p:cNvCxnSpPr>
          <p:nvPr/>
        </p:nvCxnSpPr>
        <p:spPr>
          <a:xfrm flipH="1">
            <a:off x="6136791" y="3748924"/>
            <a:ext cx="7059" cy="7280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964B54D6-B941-C3C5-C305-1CE09077A939}"/>
              </a:ext>
            </a:extLst>
          </p:cNvPr>
          <p:cNvSpPr/>
          <p:nvPr/>
        </p:nvSpPr>
        <p:spPr>
          <a:xfrm>
            <a:off x="1520118" y="4078797"/>
            <a:ext cx="2368013" cy="2268994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7ED8003-73CC-C017-2F28-4D5B08FD9CC8}"/>
              </a:ext>
            </a:extLst>
          </p:cNvPr>
          <p:cNvCxnSpPr>
            <a:cxnSpLocks/>
          </p:cNvCxnSpPr>
          <p:nvPr/>
        </p:nvCxnSpPr>
        <p:spPr>
          <a:xfrm>
            <a:off x="2555730" y="3709896"/>
            <a:ext cx="0" cy="3766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0" name="Graphic 159" descr="Network with solid fill">
            <a:extLst>
              <a:ext uri="{FF2B5EF4-FFF2-40B4-BE49-F238E27FC236}">
                <a16:creationId xmlns:a16="http://schemas.microsoft.com/office/drawing/2014/main" id="{6382FB6B-3B35-B4C5-CCB8-17E05C69A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38655" y="4560372"/>
            <a:ext cx="914400" cy="914400"/>
          </a:xfrm>
          <a:prstGeom prst="rect">
            <a:avLst/>
          </a:prstGeom>
        </p:spPr>
      </p:pic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96B02BE6-2B65-6522-E807-D47DDCCC12E8}"/>
              </a:ext>
            </a:extLst>
          </p:cNvPr>
          <p:cNvSpPr/>
          <p:nvPr/>
        </p:nvSpPr>
        <p:spPr>
          <a:xfrm>
            <a:off x="1128961" y="3814738"/>
            <a:ext cx="3294134" cy="266527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49D3889-F985-46F9-C110-F1ABE3F7D0BB}"/>
              </a:ext>
            </a:extLst>
          </p:cNvPr>
          <p:cNvSpPr txBox="1"/>
          <p:nvPr/>
        </p:nvSpPr>
        <p:spPr>
          <a:xfrm>
            <a:off x="6493125" y="6202855"/>
            <a:ext cx="3950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Our focus in this course</a:t>
            </a:r>
          </a:p>
        </p:txBody>
      </p:sp>
      <p:pic>
        <p:nvPicPr>
          <p:cNvPr id="168" name="Picture 167">
            <a:extLst>
              <a:ext uri="{FF2B5EF4-FFF2-40B4-BE49-F238E27FC236}">
                <a16:creationId xmlns:a16="http://schemas.microsoft.com/office/drawing/2014/main" id="{140B3239-90ED-5BE6-CC34-E597C73EB4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744414">
            <a:off x="5222808" y="5099228"/>
            <a:ext cx="360000" cy="23895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4A4B9-9093-F4E7-D60B-95256D2F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252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</a:t>
            </a:r>
            <a:endParaRPr lang="nl-NL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Data about data</a:t>
            </a:r>
          </a:p>
          <a:p>
            <a:pPr lvl="1"/>
            <a:r>
              <a:rPr lang="en-US" dirty="0"/>
              <a:t>Describes the context of the data, the attributes and their domains.</a:t>
            </a:r>
          </a:p>
          <a:p>
            <a:pPr lvl="1"/>
            <a:r>
              <a:rPr lang="en-US" dirty="0"/>
              <a:t>How the data was collected and where it is stored. </a:t>
            </a:r>
          </a:p>
          <a:p>
            <a:pPr lvl="1"/>
            <a:r>
              <a:rPr lang="nl-NL" dirty="0"/>
              <a:t>How </a:t>
            </a:r>
            <a:r>
              <a:rPr lang="nl-NL" dirty="0" err="1"/>
              <a:t>the</a:t>
            </a:r>
            <a:r>
              <a:rPr lang="nl-NL" dirty="0"/>
              <a:t> data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3504B-E735-7075-E983-97D49AA2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F380D-74E6-CE0B-34FB-E37CC616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256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Models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AA786E-8E00-392D-3755-6250E629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75A78-CE40-59C3-3627-168D4909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2247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485502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b="1" dirty="0">
                <a:ea typeface="ＭＳ Ｐゴシック" panose="020B0600070205080204" pitchFamily="34" charset="-128"/>
              </a:rPr>
              <a:t>Data model:</a:t>
            </a:r>
            <a:r>
              <a:rPr lang="en-US" altLang="nl-NL" dirty="0">
                <a:ea typeface="ＭＳ Ｐゴシック" panose="020B0600070205080204" pitchFamily="34" charset="-128"/>
              </a:rPr>
              <a:t> mathematical representation of the data</a:t>
            </a:r>
            <a:r>
              <a:rPr lang="en-US" altLang="nl-NL" b="1" dirty="0">
                <a:ea typeface="ＭＳ Ｐゴシック" panose="020B0600070205080204" pitchFamily="34" charset="-128"/>
              </a:rPr>
              <a:t>.</a:t>
            </a:r>
            <a:r>
              <a:rPr lang="en-US" altLang="nl-NL" dirty="0">
                <a:ea typeface="ＭＳ Ｐゴシック" panose="020B0600070205080204" pitchFamily="34" charset="-128"/>
              </a:rPr>
              <a:t> 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Relational model: uses tables to represent both data and relationships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Entity-Relationship (E-R) model:  Conceptual model 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Data is represented as a collection of entities (real-world objects) and the relationships among the objects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 err="1">
                <a:ea typeface="ＭＳ Ｐゴシック" panose="020B0600070205080204" pitchFamily="34" charset="-128"/>
              </a:rPr>
              <a:t>Semistructured</a:t>
            </a:r>
            <a:r>
              <a:rPr lang="en-US" altLang="nl-NL" dirty="0">
                <a:ea typeface="ＭＳ Ｐゴシック" panose="020B0600070205080204" pitchFamily="34" charset="-128"/>
              </a:rPr>
              <a:t> model: different objects may have different sets of attributes   (e.g. JSON and XML)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Object-Based data model: entities (real-world objects) are represented using objects. 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Currently, the concept of object is integrated into relational databases. 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endParaRPr lang="en-US" altLang="nl-NL" dirty="0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44EF9-CD8E-3231-F013-E2170E008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5633B-FD4D-7355-0392-63D4A825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9801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485502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Data models can be viewed as a collection of tools describing: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Data 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Data relationships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Data semantics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Data operations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endParaRPr lang="en-US" altLang="nl-NL" dirty="0">
              <a:ea typeface="ＭＳ Ｐゴシック" panose="020B0600070205080204" pitchFamily="34" charset="-128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7D0976-89CF-462E-2B97-627D5137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D626D-F4F7-BE83-8152-0D14F3D8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20</a:t>
            </a:fld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4F975-A763-3609-A55E-825296920D5F}"/>
              </a:ext>
            </a:extLst>
          </p:cNvPr>
          <p:cNvSpPr txBox="1"/>
          <p:nvPr/>
        </p:nvSpPr>
        <p:spPr>
          <a:xfrm>
            <a:off x="5791200" y="2070100"/>
            <a:ext cx="316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Structure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36EBAE9-9EDF-1FC9-DDC7-D101FF949DE9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2247900" y="2184400"/>
            <a:ext cx="3543300" cy="1165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B91B44-CE69-F4CB-0B85-1309F0B98AE1}"/>
              </a:ext>
            </a:extLst>
          </p:cNvPr>
          <p:cNvSpPr txBox="1"/>
          <p:nvPr/>
        </p:nvSpPr>
        <p:spPr>
          <a:xfrm>
            <a:off x="5791200" y="2776948"/>
            <a:ext cx="316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Constraints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95C8BB-498E-FEA9-B499-DDF2C4701FE3}"/>
              </a:ext>
            </a:extLst>
          </p:cNvPr>
          <p:cNvCxnSpPr>
            <a:cxnSpLocks/>
          </p:cNvCxnSpPr>
          <p:nvPr/>
        </p:nvCxnSpPr>
        <p:spPr>
          <a:xfrm flipH="1" flipV="1">
            <a:off x="4038600" y="2858018"/>
            <a:ext cx="1771650" cy="1165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Brace 12">
            <a:extLst>
              <a:ext uri="{FF2B5EF4-FFF2-40B4-BE49-F238E27FC236}">
                <a16:creationId xmlns:a16="http://schemas.microsoft.com/office/drawing/2014/main" id="{E08E6A98-F79E-CE40-D53F-43AA6AE05B9C}"/>
              </a:ext>
            </a:extLst>
          </p:cNvPr>
          <p:cNvSpPr/>
          <p:nvPr/>
        </p:nvSpPr>
        <p:spPr>
          <a:xfrm>
            <a:off x="3746500" y="2413000"/>
            <a:ext cx="292100" cy="692727"/>
          </a:xfrm>
          <a:prstGeom prst="rightBrace">
            <a:avLst/>
          </a:prstGeom>
          <a:ln w="381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56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Models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412"/>
            <a:ext cx="10515600" cy="5193462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3200" dirty="0">
                <a:ea typeface="ＭＳ Ｐゴシック" panose="020B0600070205080204" pitchFamily="34" charset="-128"/>
              </a:rPr>
              <a:t>Data models are said to contain three main components: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800" dirty="0">
                <a:ea typeface="ＭＳ Ｐゴシック" panose="020B0600070205080204" pitchFamily="34" charset="-128"/>
              </a:rPr>
              <a:t>Structures: define the format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Rows and columns?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Nodes and edges?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Key-value pairs? 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800" dirty="0">
                <a:ea typeface="ＭＳ Ｐゴシック" panose="020B0600070205080204" pitchFamily="34" charset="-128"/>
              </a:rPr>
              <a:t>Constraints: define the relationships and semantics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All rows must have the same number of columns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Column A3 contains numerical values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The age must be positive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800" dirty="0">
                <a:ea typeface="ＭＳ Ｐゴシック" panose="020B0600070205080204" pitchFamily="34" charset="-128"/>
              </a:rPr>
              <a:t>Operations: store and retrieve the data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Return the values of record x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sz="2400" dirty="0">
                <a:ea typeface="ＭＳ Ｐゴシック" panose="020B0600070205080204" pitchFamily="34" charset="-128"/>
              </a:rPr>
              <a:t>Find the rows where the column "</a:t>
            </a:r>
            <a:r>
              <a:rPr lang="en-US" altLang="nl-NL" sz="2400" dirty="0" err="1">
                <a:ea typeface="ＭＳ Ｐゴシック" panose="020B0600070205080204" pitchFamily="34" charset="-128"/>
              </a:rPr>
              <a:t>lastname</a:t>
            </a:r>
            <a:r>
              <a:rPr lang="en-US" altLang="nl-NL" sz="2400" dirty="0">
                <a:ea typeface="ＭＳ Ｐゴシック" panose="020B0600070205080204" pitchFamily="34" charset="-128"/>
              </a:rPr>
              <a:t>" is "Miller"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AAA39-FBA0-0067-97FD-D84BCC02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90DEA-B73D-4E33-90FB-E80D07B3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4300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Models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94F1AB2-1A31-72FD-9C7A-E57746EA9A40}"/>
              </a:ext>
            </a:extLst>
          </p:cNvPr>
          <p:cNvSpPr txBox="1">
            <a:spLocks/>
          </p:cNvSpPr>
          <p:nvPr/>
        </p:nvSpPr>
        <p:spPr>
          <a:xfrm>
            <a:off x="1029405" y="3628141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Structure – The Relational Model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25E48-8898-7F5E-D571-BA050FF8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41CAA-825C-17F3-AB82-25DCF025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1175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56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Relational Model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4"/>
            <a:ext cx="10515600" cy="4948279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Relation (R)</a:t>
            </a:r>
            <a:r>
              <a:rPr lang="en-US" sz="3200" dirty="0">
                <a:ea typeface="ＭＳ Ｐゴシック" panose="020B0600070205080204" pitchFamily="34" charset="-128"/>
              </a:rPr>
              <a:t>: made up of 2 parts:</a:t>
            </a:r>
          </a:p>
          <a:p>
            <a:pPr lvl="1">
              <a:buSzPct val="75000"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6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Instance</a:t>
            </a:r>
            <a:r>
              <a:rPr lang="en-US" sz="2600" dirty="0">
                <a:ea typeface="ＭＳ Ｐゴシック" panose="020B0600070205080204" pitchFamily="34" charset="-128"/>
              </a:rPr>
              <a:t>: a table, with rows and columns. </a:t>
            </a:r>
            <a:br>
              <a:rPr lang="en-US" sz="2600" dirty="0">
                <a:ea typeface="ＭＳ Ｐゴシック" panose="020B0600070205080204" pitchFamily="34" charset="-128"/>
              </a:rPr>
            </a:br>
            <a:r>
              <a:rPr lang="en-US" sz="2600" dirty="0">
                <a:ea typeface="ＭＳ Ｐゴシック" panose="020B0600070205080204" pitchFamily="34" charset="-128"/>
              </a:rPr>
              <a:t>#Rows = cardinality, #fields = degree / arity.</a:t>
            </a:r>
          </a:p>
          <a:p>
            <a:pPr lvl="1">
              <a:buSzPct val="75000"/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6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Schema</a:t>
            </a:r>
            <a:r>
              <a:rPr lang="en-US" sz="2600" dirty="0">
                <a:ea typeface="ＭＳ Ｐゴシック" panose="020B0600070205080204" pitchFamily="34" charset="-128"/>
              </a:rPr>
              <a:t>: specifies name of relation, plus name and type of each column.</a:t>
            </a:r>
          </a:p>
          <a:p>
            <a:pPr lvl="2"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>
                <a:ea typeface="ＭＳ Ｐゴシック" panose="020B0600070205080204" pitchFamily="34" charset="-128"/>
              </a:rPr>
              <a:t>E.G. Students(</a:t>
            </a:r>
            <a:r>
              <a:rPr lang="en-US" sz="2400" dirty="0" err="1">
                <a:ea typeface="ＭＳ Ｐゴシック" panose="020B0600070205080204" pitchFamily="34" charset="-128"/>
              </a:rPr>
              <a:t>sid</a:t>
            </a:r>
            <a:r>
              <a:rPr lang="en-US" sz="2400" dirty="0">
                <a:ea typeface="ＭＳ Ｐゴシック" panose="020B0600070205080204" pitchFamily="34" charset="-128"/>
              </a:rPr>
              <a:t> string, name string, login string, age integer, </a:t>
            </a:r>
            <a:r>
              <a:rPr lang="en-US" sz="2400" dirty="0" err="1">
                <a:ea typeface="ＭＳ Ｐゴシック" panose="020B0600070205080204" pitchFamily="34" charset="-128"/>
              </a:rPr>
              <a:t>gpa</a:t>
            </a:r>
            <a:r>
              <a:rPr lang="en-US" sz="2400" dirty="0">
                <a:ea typeface="ＭＳ Ｐゴシック" panose="020B0600070205080204" pitchFamily="34" charset="-128"/>
              </a:rPr>
              <a:t> real).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3200" dirty="0">
                <a:ea typeface="ＭＳ Ｐゴシック" panose="020B0600070205080204" pitchFamily="34" charset="-128"/>
              </a:rPr>
              <a:t>Relation: a set of rows or tuples (i.e., all rows are distinct).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800" dirty="0">
                <a:ea typeface="ＭＳ Ｐゴシック" panose="020B0600070205080204" pitchFamily="34" charset="-128"/>
              </a:rPr>
              <a:t>There should be a subset of the attributes where each tuple differs from the other in at least one value (the concept of Keys).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79B8E-49F0-2AED-E658-68245D00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34B79-B44A-DE9B-D876-25B54796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6791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56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Relational Model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1086310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Data stored in different tables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Example of tabular data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endParaRPr lang="en-US" altLang="nl-NL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A07A113-3943-4B90-8477-959D9E62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460955"/>
              </p:ext>
            </p:extLst>
          </p:nvPr>
        </p:nvGraphicFramePr>
        <p:xfrm>
          <a:off x="3636210" y="2704744"/>
          <a:ext cx="8128000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dept_name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22322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Einstein 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21212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Wu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32343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 Said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History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43521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Katz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Comp. Sci.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98531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Kim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78000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58763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Crick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Elec. Eng.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52187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Mozart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Music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33452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Katz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78000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425428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FCFD2A-A2C6-4591-8D23-206BD9641F22}"/>
              </a:ext>
            </a:extLst>
          </p:cNvPr>
          <p:cNvCxnSpPr>
            <a:cxnSpLocks/>
          </p:cNvCxnSpPr>
          <p:nvPr/>
        </p:nvCxnSpPr>
        <p:spPr>
          <a:xfrm flipH="1">
            <a:off x="6256422" y="2048758"/>
            <a:ext cx="3625515" cy="655986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18DC92-B41F-48C3-B43E-3F566C1F73E3}"/>
              </a:ext>
            </a:extLst>
          </p:cNvPr>
          <p:cNvCxnSpPr>
            <a:cxnSpLocks/>
          </p:cNvCxnSpPr>
          <p:nvPr/>
        </p:nvCxnSpPr>
        <p:spPr>
          <a:xfrm flipH="1">
            <a:off x="4146886" y="2048758"/>
            <a:ext cx="5735051" cy="655986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F68F2D-A688-4F2F-A1BC-F9BBCEC3C5D2}"/>
              </a:ext>
            </a:extLst>
          </p:cNvPr>
          <p:cNvCxnSpPr>
            <a:cxnSpLocks/>
          </p:cNvCxnSpPr>
          <p:nvPr/>
        </p:nvCxnSpPr>
        <p:spPr>
          <a:xfrm flipH="1">
            <a:off x="8013032" y="2048758"/>
            <a:ext cx="1868905" cy="655986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8C70D0-7B48-4C3D-8DFD-C85A650122F3}"/>
              </a:ext>
            </a:extLst>
          </p:cNvPr>
          <p:cNvCxnSpPr>
            <a:cxnSpLocks/>
          </p:cNvCxnSpPr>
          <p:nvPr/>
        </p:nvCxnSpPr>
        <p:spPr>
          <a:xfrm>
            <a:off x="9881937" y="2048758"/>
            <a:ext cx="240631" cy="655986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AF7CEA-EA81-498D-ABF4-0132B5AE6AB8}"/>
              </a:ext>
            </a:extLst>
          </p:cNvPr>
          <p:cNvSpPr txBox="1"/>
          <p:nvPr/>
        </p:nvSpPr>
        <p:spPr>
          <a:xfrm>
            <a:off x="6518995" y="994368"/>
            <a:ext cx="544239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Columns (Attributes, fields or Features)</a:t>
            </a:r>
          </a:p>
          <a:p>
            <a:r>
              <a:rPr lang="en-US" sz="2600" dirty="0"/>
              <a:t>#columns = degree</a:t>
            </a:r>
            <a:endParaRPr lang="nl-NL" sz="26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A4111C-73CC-4470-9AC5-6FCD814A5E2E}"/>
              </a:ext>
            </a:extLst>
          </p:cNvPr>
          <p:cNvCxnSpPr>
            <a:cxnSpLocks/>
          </p:cNvCxnSpPr>
          <p:nvPr/>
        </p:nvCxnSpPr>
        <p:spPr>
          <a:xfrm flipV="1">
            <a:off x="1969838" y="3285005"/>
            <a:ext cx="1666372" cy="491520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48E9CE-B241-4C7B-B37D-1CE27A2A244D}"/>
              </a:ext>
            </a:extLst>
          </p:cNvPr>
          <p:cNvCxnSpPr>
            <a:cxnSpLocks/>
          </p:cNvCxnSpPr>
          <p:nvPr/>
        </p:nvCxnSpPr>
        <p:spPr>
          <a:xfrm flipV="1">
            <a:off x="1969838" y="3699208"/>
            <a:ext cx="1666372" cy="77317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636CB7C-3D5C-42FF-94FB-D047E203121E}"/>
              </a:ext>
            </a:extLst>
          </p:cNvPr>
          <p:cNvCxnSpPr>
            <a:cxnSpLocks/>
          </p:cNvCxnSpPr>
          <p:nvPr/>
        </p:nvCxnSpPr>
        <p:spPr>
          <a:xfrm>
            <a:off x="1969838" y="3776525"/>
            <a:ext cx="1666372" cy="168443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045682-24D1-4F02-9EC3-F49D731D3B3A}"/>
              </a:ext>
            </a:extLst>
          </p:cNvPr>
          <p:cNvCxnSpPr>
            <a:cxnSpLocks/>
          </p:cNvCxnSpPr>
          <p:nvPr/>
        </p:nvCxnSpPr>
        <p:spPr>
          <a:xfrm>
            <a:off x="1969838" y="3776525"/>
            <a:ext cx="1666372" cy="2097336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6473A99-77B8-46F0-B85E-400DDBA09E1F}"/>
              </a:ext>
            </a:extLst>
          </p:cNvPr>
          <p:cNvSpPr txBox="1"/>
          <p:nvPr/>
        </p:nvSpPr>
        <p:spPr>
          <a:xfrm>
            <a:off x="157655" y="2978429"/>
            <a:ext cx="264536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Rows (Records or tuples)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#row = Cardinality</a:t>
            </a:r>
            <a:endParaRPr lang="nl-NL" sz="26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7DFB26-5AED-5723-8F21-CC7B40A0A4E9}"/>
              </a:ext>
            </a:extLst>
          </p:cNvPr>
          <p:cNvCxnSpPr>
            <a:cxnSpLocks/>
          </p:cNvCxnSpPr>
          <p:nvPr/>
        </p:nvCxnSpPr>
        <p:spPr>
          <a:xfrm flipH="1" flipV="1">
            <a:off x="3975652" y="6042304"/>
            <a:ext cx="834887" cy="510253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BA531D7-C7B2-FEC4-CF4E-3E6A2E97E24C}"/>
              </a:ext>
            </a:extLst>
          </p:cNvPr>
          <p:cNvSpPr txBox="1">
            <a:spLocks/>
          </p:cNvSpPr>
          <p:nvPr/>
        </p:nvSpPr>
        <p:spPr>
          <a:xfrm>
            <a:off x="4831111" y="6260367"/>
            <a:ext cx="6241774" cy="610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Values of ID are different for each tuple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endParaRPr lang="en-US" altLang="nl-NL" dirty="0">
              <a:ea typeface="ＭＳ Ｐゴシック" panose="020B0600070205080204" pitchFamily="34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4F43A-A826-F5CD-54BC-A73BA44D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7998E-352E-DB33-0B68-0DD9053A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0642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56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 are Unordered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A07A113-3943-4B90-8477-959D9E624C51}"/>
              </a:ext>
            </a:extLst>
          </p:cNvPr>
          <p:cNvGraphicFramePr>
            <a:graphicFrameLocks noGrp="1"/>
          </p:cNvGraphicFramePr>
          <p:nvPr/>
        </p:nvGraphicFramePr>
        <p:xfrm>
          <a:off x="2534683" y="3390900"/>
          <a:ext cx="8128000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dept_name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22322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Einstein 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21212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Wu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32343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 Said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History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43521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Katz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Comp. Sci.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98531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Kim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78000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58763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Crick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Elec. Eng.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52187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Mozart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Music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33452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Gold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87000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4254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2AF7CEA-EA81-498D-ABF4-0132B5AE6AB8}"/>
              </a:ext>
            </a:extLst>
          </p:cNvPr>
          <p:cNvSpPr txBox="1"/>
          <p:nvPr/>
        </p:nvSpPr>
        <p:spPr>
          <a:xfrm>
            <a:off x="276447" y="1557862"/>
            <a:ext cx="1148776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/>
              <a:t>Order of tuples is not considered (tuples might be stored in an arbitrary order)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/>
              <a:t>The same is also true in the case of attributes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/>
              <a:t>Example: putting “salary” before/after “</a:t>
            </a:r>
            <a:r>
              <a:rPr lang="en-US" sz="2600" err="1"/>
              <a:t>dept_name</a:t>
            </a:r>
            <a:r>
              <a:rPr lang="en-US" sz="2600"/>
              <a:t>” will have no effect on the relation (table)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6C8C3-B6AF-5A41-B8BB-2090792F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D1E0A-7514-09FC-DC6C-DB3B59C4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20675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391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Relational Model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371" y="1599885"/>
            <a:ext cx="4792581" cy="491520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The </a:t>
            </a:r>
            <a:r>
              <a:rPr lang="en-US" altLang="nl-NL" i="1" dirty="0">
                <a:ea typeface="ＭＳ Ｐゴシック" panose="020B0600070205080204" pitchFamily="34" charset="-128"/>
              </a:rPr>
              <a:t>instructor</a:t>
            </a:r>
            <a:r>
              <a:rPr lang="en-US" altLang="nl-NL" dirty="0">
                <a:ea typeface="ＭＳ Ｐゴシック" panose="020B0600070205080204" pitchFamily="34" charset="-128"/>
              </a:rPr>
              <a:t> table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A07A113-3943-4B90-8477-959D9E624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056768"/>
              </p:ext>
            </p:extLst>
          </p:nvPr>
        </p:nvGraphicFramePr>
        <p:xfrm>
          <a:off x="524041" y="2091405"/>
          <a:ext cx="5106740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76685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1276685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1276685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  <a:gridCol w="1276685">
                  <a:extLst>
                    <a:ext uri="{9D8B030D-6E8A-4147-A177-3AD203B41FA5}">
                      <a16:colId xmlns:a16="http://schemas.microsoft.com/office/drawing/2014/main" val="38379418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dept_name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22322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Einstein 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21212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Wu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32343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 Said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History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86000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43521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Katz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Comp. Sci.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98531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Kim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78000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58763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Crick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Elec. Eng.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52187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Mozart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Music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33452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Katz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425428"/>
                  </a:ext>
                </a:extLst>
              </a:tr>
            </a:tbl>
          </a:graphicData>
        </a:graphic>
      </p:graphicFrame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2AE71C19-DD22-4378-84E1-82C3F09E7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858893"/>
              </p:ext>
            </p:extLst>
          </p:nvPr>
        </p:nvGraphicFramePr>
        <p:xfrm>
          <a:off x="6561219" y="2017983"/>
          <a:ext cx="4792581" cy="33375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97527">
                  <a:extLst>
                    <a:ext uri="{9D8B030D-6E8A-4147-A177-3AD203B41FA5}">
                      <a16:colId xmlns:a16="http://schemas.microsoft.com/office/drawing/2014/main" val="2272113162"/>
                    </a:ext>
                  </a:extLst>
                </a:gridCol>
                <a:gridCol w="1714623">
                  <a:extLst>
                    <a:ext uri="{9D8B030D-6E8A-4147-A177-3AD203B41FA5}">
                      <a16:colId xmlns:a16="http://schemas.microsoft.com/office/drawing/2014/main" val="3462723877"/>
                    </a:ext>
                  </a:extLst>
                </a:gridCol>
                <a:gridCol w="1480431">
                  <a:extLst>
                    <a:ext uri="{9D8B030D-6E8A-4147-A177-3AD203B41FA5}">
                      <a16:colId xmlns:a16="http://schemas.microsoft.com/office/drawing/2014/main" val="3806736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dept_name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building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Budget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556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Comp. Sci.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Turing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68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Physics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Watson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800000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04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Chemistry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Ibn-</a:t>
                      </a:r>
                      <a:r>
                        <a:rPr lang="en-US" err="1"/>
                        <a:t>Hayyan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850000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93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Biology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AlRazi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800000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43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Elec. Eng. 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Taylor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690000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061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Music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Packard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423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Finance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Painter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1200000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438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History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Painter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500000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425428"/>
                  </a:ext>
                </a:extLst>
              </a:tr>
            </a:tbl>
          </a:graphicData>
        </a:graphic>
      </p:graphicFrame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7C8E1A-6190-4CFC-A67C-7EF1F6297917}"/>
              </a:ext>
            </a:extLst>
          </p:cNvPr>
          <p:cNvSpPr txBox="1">
            <a:spLocks/>
          </p:cNvSpPr>
          <p:nvPr/>
        </p:nvSpPr>
        <p:spPr>
          <a:xfrm>
            <a:off x="6872878" y="1514460"/>
            <a:ext cx="4792581" cy="49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The </a:t>
            </a:r>
            <a:r>
              <a:rPr lang="en-US" altLang="nl-NL" i="1" dirty="0">
                <a:ea typeface="ＭＳ Ｐゴシック" panose="020B0600070205080204" pitchFamily="34" charset="-128"/>
              </a:rPr>
              <a:t>department</a:t>
            </a:r>
            <a:r>
              <a:rPr lang="en-US" altLang="nl-NL" dirty="0">
                <a:ea typeface="ＭＳ Ｐゴシック" panose="020B0600070205080204" pitchFamily="34" charset="-128"/>
              </a:rPr>
              <a:t> table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61D51BB-78FD-733C-C1CD-D3921D72B599}"/>
              </a:ext>
            </a:extLst>
          </p:cNvPr>
          <p:cNvCxnSpPr>
            <a:cxnSpLocks/>
          </p:cNvCxnSpPr>
          <p:nvPr/>
        </p:nvCxnSpPr>
        <p:spPr>
          <a:xfrm flipV="1">
            <a:off x="6872878" y="5367546"/>
            <a:ext cx="0" cy="491520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1D21CC-0116-07E8-12C9-20B3B8A3647E}"/>
              </a:ext>
            </a:extLst>
          </p:cNvPr>
          <p:cNvSpPr txBox="1">
            <a:spLocks/>
          </p:cNvSpPr>
          <p:nvPr/>
        </p:nvSpPr>
        <p:spPr>
          <a:xfrm>
            <a:off x="6374296" y="5804081"/>
            <a:ext cx="2703440" cy="610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Unique values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endParaRPr lang="en-US" altLang="nl-NL" dirty="0">
              <a:ea typeface="ＭＳ Ｐゴシック" panose="020B0600070205080204" pitchFamily="34" charset="-128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FCBD7B-489B-A74A-85A0-E1C56388BEC6}"/>
              </a:ext>
            </a:extLst>
          </p:cNvPr>
          <p:cNvCxnSpPr>
            <a:cxnSpLocks/>
          </p:cNvCxnSpPr>
          <p:nvPr/>
        </p:nvCxnSpPr>
        <p:spPr>
          <a:xfrm flipV="1">
            <a:off x="849765" y="5403543"/>
            <a:ext cx="0" cy="491520"/>
          </a:xfrm>
          <a:prstGeom prst="straightConnector1">
            <a:avLst/>
          </a:prstGeom>
          <a:ln w="508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4531303-7CAF-05E7-CBC0-7B9D696672C2}"/>
              </a:ext>
            </a:extLst>
          </p:cNvPr>
          <p:cNvSpPr txBox="1">
            <a:spLocks/>
          </p:cNvSpPr>
          <p:nvPr/>
        </p:nvSpPr>
        <p:spPr>
          <a:xfrm>
            <a:off x="351183" y="5840078"/>
            <a:ext cx="2703440" cy="610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Unique values</a:t>
            </a:r>
          </a:p>
          <a:p>
            <a:pPr lvl="1">
              <a:tabLst>
                <a:tab pos="1820863" algn="l"/>
                <a:tab pos="3659188" algn="l"/>
                <a:tab pos="3943350" algn="l"/>
              </a:tabLst>
            </a:pPr>
            <a:endParaRPr lang="en-US" altLang="nl-NL" dirty="0">
              <a:ea typeface="ＭＳ Ｐゴシック" panose="020B0600070205080204" pitchFamily="34" charset="-128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19EB1B-43C1-7A68-09C7-6E35855B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E365BC2-8FC3-D2A7-15A1-05963DD9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9004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1704"/>
                <a:ext cx="10515600" cy="4650429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US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/>
                  <a:t> is a </a:t>
                </a:r>
                <a:r>
                  <a:rPr lang="en-US" err="1"/>
                  <a:t>superkey</a:t>
                </a:r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/>
                  <a:t> if values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/>
                  <a:t> are sufficient to identify a unique tuple of each possible relation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/>
                  <a:t>Example:  </a:t>
                </a:r>
                <a:r>
                  <a:rPr lang="en-US" i="1"/>
                  <a:t>{ID}</a:t>
                </a:r>
                <a:r>
                  <a:rPr lang="en-US"/>
                  <a:t> and </a:t>
                </a:r>
                <a:r>
                  <a:rPr lang="en-US" i="1"/>
                  <a:t>{</a:t>
                </a:r>
                <a:r>
                  <a:rPr lang="en-US" i="1" err="1"/>
                  <a:t>ID,name</a:t>
                </a:r>
                <a:r>
                  <a:rPr lang="en-US" i="1"/>
                  <a:t>}</a:t>
                </a:r>
                <a:r>
                  <a:rPr lang="en-US"/>
                  <a:t> are both </a:t>
                </a:r>
                <a:r>
                  <a:rPr lang="en-US" err="1"/>
                  <a:t>superkeys</a:t>
                </a:r>
                <a:r>
                  <a:rPr lang="en-US"/>
                  <a:t> of instructor.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err="1"/>
                  <a:t>Superkey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/>
                  <a:t> is a candidate key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/>
                  <a:t> is minimal</a:t>
                </a:r>
                <a:br>
                  <a:rPr lang="en-US"/>
                </a:br>
                <a:r>
                  <a:rPr lang="en-US"/>
                  <a:t>Example:  </a:t>
                </a:r>
                <a:r>
                  <a:rPr lang="en-US" i="1"/>
                  <a:t>{ID}</a:t>
                </a:r>
                <a:r>
                  <a:rPr lang="en-US"/>
                  <a:t> is a candidate key for Instructor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/>
                  <a:t>One of the candidate keys is selected to be the </a:t>
                </a:r>
                <a:r>
                  <a:rPr lang="en-US" b="1">
                    <a:solidFill>
                      <a:srgbClr val="C00000"/>
                    </a:solidFill>
                  </a:rPr>
                  <a:t>primary key</a:t>
                </a:r>
                <a:r>
                  <a:rPr lang="en-US"/>
                  <a:t>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/>
                  <a:t>Which one?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b="1">
                    <a:solidFill>
                      <a:srgbClr val="C00000"/>
                    </a:solidFill>
                  </a:rPr>
                  <a:t>Foreign key</a:t>
                </a:r>
                <a:r>
                  <a:rPr lang="en-US"/>
                  <a:t>: Value in one relation must appear in another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b="1"/>
                  <a:t>Referencing</a:t>
                </a:r>
                <a:r>
                  <a:rPr lang="en-US"/>
                  <a:t> relation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b="1"/>
                  <a:t>Referenced</a:t>
                </a:r>
                <a:r>
                  <a:rPr lang="en-US"/>
                  <a:t> relation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/>
                  <a:t>Example – </a:t>
                </a:r>
                <a:r>
                  <a:rPr lang="en-US" err="1"/>
                  <a:t>dept_name</a:t>
                </a:r>
                <a:r>
                  <a:rPr lang="en-US"/>
                  <a:t> in instructor is a foreign key in the instructor relation referencing department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1704"/>
                <a:ext cx="10515600" cy="4650429"/>
              </a:xfrm>
              <a:blipFill>
                <a:blip r:embed="rId2"/>
                <a:stretch>
                  <a:fillRect l="-696" t="-1575" b="-118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FE6B3-4276-A690-66FC-C8DF5C7E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24EEA-4AC2-F79E-4FF2-DD1EACDF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9484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Attribute Types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1704"/>
            <a:ext cx="10964333" cy="4650429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The set of allowed values for each attribute is called the </a:t>
            </a:r>
            <a:r>
              <a:rPr lang="en-US" altLang="en-US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domain</a:t>
            </a:r>
            <a:r>
              <a:rPr lang="en-US" altLang="en-US" dirty="0">
                <a:ea typeface="ＭＳ Ｐゴシック" panose="020B0600070205080204" pitchFamily="34" charset="-128"/>
              </a:rPr>
              <a:t> of the attribute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Attribute values are (normally) required to be </a:t>
            </a:r>
            <a:r>
              <a:rPr lang="en-US" altLang="en-US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atomic</a:t>
            </a:r>
            <a:r>
              <a:rPr lang="en-US" altLang="en-US" dirty="0">
                <a:ea typeface="ＭＳ Ｐゴシック" panose="020B0600070205080204" pitchFamily="34" charset="-128"/>
              </a:rPr>
              <a:t>; that is, indivisible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special value</a:t>
            </a:r>
            <a:r>
              <a:rPr lang="en-US" altLang="en-US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b="1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null</a:t>
            </a:r>
            <a:r>
              <a:rPr lang="en-US" altLang="en-US" dirty="0">
                <a:ea typeface="ＭＳ Ｐゴシック" panose="020B0600070205080204" pitchFamily="34" charset="-128"/>
              </a:rPr>
              <a:t>  is a member of every domain. Indicating that the value is "unknown"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null value causes complications in the definition of many operations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8EBCC-345D-F190-1A1C-DD1A19F5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8DD25-59E2-D7C8-D877-34D02638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6963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Relation Schema and Instance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11704"/>
                <a:ext cx="10964333" cy="4650429"/>
              </a:xfrm>
            </p:spPr>
            <p:txBody>
              <a:bodyPr>
                <a:normAutofit/>
              </a:bodyPr>
              <a:lstStyle/>
              <a:p>
                <a:r>
                  <a:rPr lang="en-US" b="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be the names of attributes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is a relation schema</a:t>
                </a:r>
              </a:p>
              <a:p>
                <a:r>
                  <a:rPr lang="en-US" altLang="en-US" dirty="0">
                    <a:ea typeface="ＭＳ Ｐゴシック" panose="020B0600070205080204" pitchFamily="34" charset="-128"/>
                  </a:rPr>
                  <a:t>Given sets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from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take their values, we 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a relation instance or simply a relation</a:t>
                </a:r>
              </a:p>
              <a:p>
                <a:r>
                  <a:rPr lang="en-US" altLang="en-US" dirty="0">
                    <a:ea typeface="ＭＳ Ｐゴシック" panose="020B0600070205080204" pitchFamily="34" charset="-128"/>
                  </a:rPr>
                  <a:t>An element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𝑡</m:t>
                    </m:r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𝑟</m:t>
                    </m:r>
                  </m:oMath>
                </a14:m>
                <a:r>
                  <a:rPr lang="en-US" altLang="en-US" dirty="0">
                    <a:ea typeface="ＭＳ Ｐゴシック" panose="020B0600070205080204" pitchFamily="34" charset="-128"/>
                  </a:rPr>
                  <a:t> is a tuple and represented as a row in the table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DDB1FA9-E983-4B1F-A3ED-1B02562B98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11704"/>
                <a:ext cx="10964333" cy="4650429"/>
              </a:xfrm>
              <a:blipFill>
                <a:blip r:embed="rId2"/>
                <a:stretch>
                  <a:fillRect l="-945" t="-223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8F7CD-8F95-B820-CFBA-69D7F641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A7046-47A4-639F-CAB4-D0EEB73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1590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Models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94F1AB2-1A31-72FD-9C7A-E57746EA9A40}"/>
              </a:ext>
            </a:extLst>
          </p:cNvPr>
          <p:cNvSpPr txBox="1">
            <a:spLocks/>
          </p:cNvSpPr>
          <p:nvPr/>
        </p:nvSpPr>
        <p:spPr>
          <a:xfrm>
            <a:off x="1029405" y="3628141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Constraints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9E407-2703-9515-D078-AB9050CA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A22F8-0196-6B07-EB19-1C2050E9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47513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1704"/>
            <a:ext cx="10964333" cy="4650429"/>
          </a:xfrm>
        </p:spPr>
        <p:txBody>
          <a:bodyPr>
            <a:normAutofit/>
          </a:bodyPr>
          <a:lstStyle/>
          <a:p>
            <a:r>
              <a:rPr lang="en-US" altLang="nl-NL" dirty="0">
                <a:ea typeface="ＭＳ Ｐゴシック" panose="020B0600070205080204" pitchFamily="34" charset="-128"/>
              </a:rPr>
              <a:t>Guard against accidental damage to the data </a:t>
            </a:r>
          </a:p>
          <a:p>
            <a:r>
              <a:rPr lang="en-US" altLang="nl-NL" dirty="0">
                <a:ea typeface="ＭＳ Ｐゴシック" panose="020B0600070205080204" pitchFamily="34" charset="-128"/>
              </a:rPr>
              <a:t>Ensure that authorized changes to the data do not violate data consistency. 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An account must have a balance greater than $10.00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A salary of a bank employee must be at least $4.00 per hour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A customer must have a (non-null) phone number</a:t>
            </a:r>
          </a:p>
          <a:p>
            <a:r>
              <a:rPr lang="en-US" altLang="nl-NL" dirty="0">
                <a:ea typeface="ＭＳ Ｐゴシック" panose="020B0600070205080204" pitchFamily="34" charset="-128"/>
              </a:rPr>
              <a:t>Constraints on a single relation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Not null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Primary key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Unique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Check (P), P is a predicate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47FA8C-74F7-FFEF-E2EE-EC8B4016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7FB2B-2C9D-D8E1-CCCB-961423E8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1774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Models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094F1AB2-1A31-72FD-9C7A-E57746EA9A40}"/>
              </a:ext>
            </a:extLst>
          </p:cNvPr>
          <p:cNvSpPr txBox="1">
            <a:spLocks/>
          </p:cNvSpPr>
          <p:nvPr/>
        </p:nvSpPr>
        <p:spPr>
          <a:xfrm>
            <a:off x="1029405" y="3628141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Operations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F90D3-1A37-A626-C837-34AF6C19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5216-C9F9-572F-60CC-860D20E0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1924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1704"/>
            <a:ext cx="10964333" cy="4650429"/>
          </a:xfrm>
        </p:spPr>
        <p:txBody>
          <a:bodyPr>
            <a:normAutofit/>
          </a:bodyPr>
          <a:lstStyle/>
          <a:p>
            <a:r>
              <a:rPr lang="en-US" altLang="nl-NL" dirty="0">
                <a:ea typeface="ＭＳ Ｐゴシック" panose="020B0600070205080204" pitchFamily="34" charset="-128"/>
              </a:rPr>
              <a:t>Define a set of operations for accessing and manipulating the data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Create a relation 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Add more records/attributes (tuples/columns)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Delete or alter a set of records/attributes/values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Retrieve a set of records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… </a:t>
            </a:r>
          </a:p>
          <a:p>
            <a:pPr lvl="1"/>
            <a:endParaRPr lang="en-US" altLang="nl-NL" dirty="0">
              <a:ea typeface="ＭＳ Ｐゴシック" panose="020B0600070205080204" pitchFamily="34" charset="-12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0DB95-CEF7-4775-DC9C-D323CA586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31CA2-BACE-1078-91C0-177D42A63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4069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How to store the data?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CA96E-81C2-0CC0-9C48-D8EEAF7FD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10F39-8901-4D16-2BCE-510AE6D7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2421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as data storage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>
                <a:ea typeface="ＭＳ Ｐゴシック" panose="020B0600070205080204" pitchFamily="34" charset="-128"/>
              </a:rPr>
              <a:t>Drawbacks of using file systems to store data include: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Data redundancy and inconsistency</a:t>
            </a:r>
          </a:p>
          <a:p>
            <a:pPr lvl="2"/>
            <a:r>
              <a:rPr lang="en-US" altLang="nl-NL" dirty="0">
                <a:ea typeface="ＭＳ Ｐゴシック" panose="020B0600070205080204" pitchFamily="34" charset="-128"/>
              </a:rPr>
              <a:t>Multiple file formats, duplication of information in different files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Difficulty in accessing data </a:t>
            </a:r>
          </a:p>
          <a:p>
            <a:pPr lvl="2"/>
            <a:r>
              <a:rPr lang="en-US" altLang="nl-NL" dirty="0">
                <a:ea typeface="ＭＳ Ｐゴシック" panose="020B0600070205080204" pitchFamily="34" charset="-128"/>
              </a:rPr>
              <a:t>Need to write a new program to carry out each new task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Data isolation </a:t>
            </a:r>
          </a:p>
          <a:p>
            <a:pPr lvl="2"/>
            <a:r>
              <a:rPr lang="en-US" altLang="nl-NL" dirty="0">
                <a:ea typeface="ＭＳ Ｐゴシック" panose="020B0600070205080204" pitchFamily="34" charset="-128"/>
              </a:rPr>
              <a:t>Data are scattered in various files with (possibly) different formats</a:t>
            </a:r>
          </a:p>
          <a:p>
            <a:pPr lvl="1"/>
            <a:r>
              <a:rPr lang="en-US" altLang="nl-NL" dirty="0">
                <a:ea typeface="ＭＳ Ｐゴシック" panose="020B0600070205080204" pitchFamily="34" charset="-128"/>
              </a:rPr>
              <a:t>Integrity problems</a:t>
            </a:r>
          </a:p>
          <a:p>
            <a:pPr lvl="2"/>
            <a:r>
              <a:rPr lang="en-US" altLang="nl-NL" dirty="0">
                <a:ea typeface="ＭＳ Ｐゴシック" panose="020B0600070205080204" pitchFamily="34" charset="-128"/>
              </a:rPr>
              <a:t>Integrity constraints  (e.g., account balance &gt; 0) become “buried” in program code rather than being stated explicitly</a:t>
            </a:r>
          </a:p>
          <a:p>
            <a:pPr lvl="2"/>
            <a:r>
              <a:rPr lang="en-US" altLang="nl-NL" dirty="0">
                <a:ea typeface="ＭＳ Ｐゴシック" panose="020B0600070205080204" pitchFamily="34" charset="-128"/>
              </a:rPr>
              <a:t>Hard to add new constraints or change existing ones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5C1BF6-10C4-FDA1-D12A-FF6C1EE3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22DF0-C200-F688-699C-524FF6E3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45388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6370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as data storage (Cont.)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485502"/>
          </a:xfrm>
        </p:spPr>
        <p:txBody>
          <a:bodyPr>
            <a:normAutofit/>
          </a:bodyPr>
          <a:lstStyle/>
          <a:p>
            <a:r>
              <a:rPr lang="en-US" altLang="nl-NL">
                <a:ea typeface="ＭＳ Ｐゴシック" panose="020B0600070205080204" pitchFamily="34" charset="-128"/>
              </a:rPr>
              <a:t>Drawbacks of using file systems to store data include: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Atomicity of updates</a:t>
            </a:r>
          </a:p>
          <a:p>
            <a:pPr lvl="2"/>
            <a:r>
              <a:rPr lang="en-US" altLang="nl-NL">
                <a:ea typeface="ＭＳ Ｐゴシック" panose="020B0600070205080204" pitchFamily="34" charset="-128"/>
              </a:rPr>
              <a:t>Failures may leave database in an inconsistent state with partial updates carried out</a:t>
            </a:r>
          </a:p>
          <a:p>
            <a:pPr lvl="2"/>
            <a:r>
              <a:rPr lang="en-US" altLang="nl-NL">
                <a:ea typeface="ＭＳ Ｐゴシック" panose="020B0600070205080204" pitchFamily="34" charset="-128"/>
              </a:rPr>
              <a:t>Example: Transfer of funds from one account to another should either complete or not happen at all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Concurrent access by multiple users</a:t>
            </a:r>
          </a:p>
          <a:p>
            <a:pPr lvl="2"/>
            <a:r>
              <a:rPr lang="en-US" altLang="nl-NL">
                <a:ea typeface="ＭＳ Ｐゴシック" panose="020B0600070205080204" pitchFamily="34" charset="-128"/>
              </a:rPr>
              <a:t>Concurrent access needed for performance</a:t>
            </a:r>
          </a:p>
          <a:p>
            <a:pPr lvl="2"/>
            <a:r>
              <a:rPr lang="en-US" altLang="nl-NL">
                <a:ea typeface="ＭＳ Ｐゴシック" panose="020B0600070205080204" pitchFamily="34" charset="-128"/>
              </a:rPr>
              <a:t>Uncontrolled concurrent accesses can lead to inconsistencies</a:t>
            </a:r>
          </a:p>
          <a:p>
            <a:pPr lvl="3"/>
            <a:r>
              <a:rPr lang="en-US" altLang="nl-NL">
                <a:ea typeface="ＭＳ Ｐゴシック" panose="020B0600070205080204" pitchFamily="34" charset="-128"/>
              </a:rPr>
              <a:t>Example: Two people reading a balance (say 100) and updating it by withdrawing money (say 50 each) at the same time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Security problems</a:t>
            </a:r>
          </a:p>
          <a:p>
            <a:pPr lvl="2"/>
            <a:r>
              <a:rPr lang="en-US" altLang="nl-NL">
                <a:ea typeface="ＭＳ Ｐゴシック" panose="020B0600070205080204" pitchFamily="34" charset="-128"/>
              </a:rPr>
              <a:t>Hard to provide user access to some, but not all,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B5EC55-0423-440F-A809-1F8BF414B27E}"/>
              </a:ext>
            </a:extLst>
          </p:cNvPr>
          <p:cNvSpPr/>
          <p:nvPr/>
        </p:nvSpPr>
        <p:spPr>
          <a:xfrm>
            <a:off x="1642275" y="5938107"/>
            <a:ext cx="89351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Monotype Sorts" pitchFamily="2" charset="2"/>
              <a:buNone/>
            </a:pPr>
            <a:r>
              <a:rPr lang="en-US" altLang="nl-NL" sz="2800" b="1">
                <a:solidFill>
                  <a:srgbClr val="FF0000"/>
                </a:solidFill>
                <a:ea typeface="ＭＳ Ｐゴシック" panose="020B0600070205080204" pitchFamily="34" charset="-128"/>
              </a:rPr>
              <a:t>Database systems offer solutions to all the above problems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0102-0EEE-F40F-D2F7-B0C5140F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5845C-64AB-4480-220C-64B12C7B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7696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Databases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ECB93-1DEF-5C74-7C53-C43BC252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223A9-8B3C-DEDC-2126-6F2B2BCD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9730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Databases </a:t>
            </a:r>
            <a:endParaRPr lang="nl-NL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 dirty="0"/>
              <a:t>Traditionally: systems that contain records about real world entities</a:t>
            </a:r>
          </a:p>
          <a:p>
            <a:pPr lvl="1"/>
            <a:r>
              <a:rPr lang="en-US" altLang="nl-NL" dirty="0"/>
              <a:t>Employee records, bank records, etc.</a:t>
            </a:r>
          </a:p>
          <a:p>
            <a:r>
              <a:rPr lang="en-US" altLang="nl-NL" dirty="0"/>
              <a:t>Today, the field covers all the largest sources of data, with many new ideas.</a:t>
            </a:r>
          </a:p>
          <a:p>
            <a:pPr lvl="1"/>
            <a:r>
              <a:rPr lang="en-US" altLang="nl-NL" dirty="0"/>
              <a:t>Web search.</a:t>
            </a:r>
          </a:p>
          <a:p>
            <a:pPr lvl="1"/>
            <a:r>
              <a:rPr lang="en-US" altLang="nl-NL" dirty="0"/>
              <a:t>Data mining.</a:t>
            </a:r>
          </a:p>
          <a:p>
            <a:pPr lvl="1"/>
            <a:r>
              <a:rPr lang="en-US" altLang="nl-NL" dirty="0"/>
              <a:t>Scientific and medical databases.</a:t>
            </a:r>
          </a:p>
          <a:p>
            <a:pPr lvl="1"/>
            <a:r>
              <a:rPr lang="en-US" altLang="nl-NL" dirty="0"/>
              <a:t>Graph databases.</a:t>
            </a:r>
          </a:p>
          <a:p>
            <a:pPr lvl="1"/>
            <a:r>
              <a:rPr lang="en-US" altLang="nl-NL" dirty="0"/>
              <a:t>Integrating information.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12AA1-4B5D-FD29-00A7-7A15B570E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38F5E-0E52-F6F0-9FFC-03FDCD55A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8587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2200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Databases – More  </a:t>
            </a:r>
            <a:endParaRPr lang="nl-NL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/>
              <a:t>You may not notice it, but databases are behind almost everything you do on the Web.</a:t>
            </a:r>
          </a:p>
          <a:p>
            <a:pPr lvl="1"/>
            <a:r>
              <a:rPr lang="en-US" altLang="nl-NL"/>
              <a:t>Google searches.</a:t>
            </a:r>
          </a:p>
          <a:p>
            <a:pPr lvl="1"/>
            <a:r>
              <a:rPr lang="en-US" altLang="nl-NL"/>
              <a:t>Queries at Amazon, eBay, etc.</a:t>
            </a:r>
          </a:p>
          <a:p>
            <a:r>
              <a:rPr lang="en-US" altLang="nl-NL">
                <a:ea typeface="ＭＳ Ｐゴシック" panose="020B0600070205080204" pitchFamily="34" charset="-128"/>
              </a:rPr>
              <a:t>DBMS contains information about a particular enterprise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Collection of interrelated data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Set of programs to access the data 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An environment that is both </a:t>
            </a:r>
            <a:r>
              <a:rPr lang="en-US" altLang="nl-NL" i="1">
                <a:ea typeface="ＭＳ Ｐゴシック" panose="020B0600070205080204" pitchFamily="34" charset="-128"/>
              </a:rPr>
              <a:t>convenient</a:t>
            </a:r>
            <a:r>
              <a:rPr lang="en-US" altLang="nl-NL">
                <a:ea typeface="ＭＳ Ｐゴシック" panose="020B0600070205080204" pitchFamily="34" charset="-128"/>
              </a:rPr>
              <a:t> and </a:t>
            </a:r>
            <a:r>
              <a:rPr lang="en-US" altLang="nl-NL" i="1">
                <a:ea typeface="ＭＳ Ｐゴシック" panose="020B0600070205080204" pitchFamily="34" charset="-128"/>
              </a:rPr>
              <a:t>efficient</a:t>
            </a:r>
            <a:r>
              <a:rPr lang="en-US" altLang="nl-NL">
                <a:ea typeface="ＭＳ Ｐゴシック" panose="020B0600070205080204" pitchFamily="34" charset="-128"/>
              </a:rPr>
              <a:t> to use</a:t>
            </a:r>
            <a:endParaRPr lang="en-US" alt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6FEC0-FBC3-9084-BB4F-14BB36BC6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130C9-814B-CF48-3C46-E8CE2E76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0917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 – Example  </a:t>
            </a:r>
            <a:endParaRPr lang="nl-NL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948280"/>
          </a:xfrm>
        </p:spPr>
        <p:txBody>
          <a:bodyPr>
            <a:normAutofit/>
          </a:bodyPr>
          <a:lstStyle/>
          <a:p>
            <a:r>
              <a:rPr lang="en-US" altLang="nl-NL">
                <a:ea typeface="ＭＳ Ｐゴシック" panose="020B0600070205080204" pitchFamily="34" charset="-128"/>
              </a:rPr>
              <a:t>University Database Example: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Add new students, instructors, and courses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Register students for courses, and generate class rosters</a:t>
            </a:r>
          </a:p>
          <a:p>
            <a:pPr lvl="1"/>
            <a:r>
              <a:rPr lang="en-US" altLang="nl-NL">
                <a:ea typeface="ＭＳ Ｐゴシック" panose="020B0600070205080204" pitchFamily="34" charset="-128"/>
              </a:rPr>
              <a:t>Assign grades to students, compute grade point averages (GPA) and generate transcripts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9815E-B32D-B410-4940-9879741F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58AA5-69C1-5502-31C1-C90B9415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898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 levels of abstraction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485502"/>
          </a:xfrm>
        </p:spPr>
        <p:txBody>
          <a:bodyPr>
            <a:normAutofit lnSpcReduction="10000"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Physical level:</a:t>
            </a:r>
            <a:r>
              <a:rPr lang="en-US" altLang="nl-NL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nl-NL" dirty="0">
                <a:ea typeface="ＭＳ Ｐゴシック" panose="020B0600070205080204" pitchFamily="34" charset="-128"/>
              </a:rPr>
              <a:t>describes how a record (e.g., instructor) is stored.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Logical level:</a:t>
            </a:r>
            <a:r>
              <a:rPr lang="en-US" altLang="nl-NL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nl-NL" dirty="0">
                <a:ea typeface="ＭＳ Ｐゴシック" panose="020B0600070205080204" pitchFamily="34" charset="-128"/>
              </a:rPr>
              <a:t>describes data stored in database, and the relationships among the data.</a:t>
            </a:r>
          </a:p>
          <a:p>
            <a:pPr lvl="1">
              <a:buFont typeface="Monotype Sorts" pitchFamily="2" charset="2"/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b="1" dirty="0">
                <a:ea typeface="ＭＳ Ｐゴシック" panose="020B0600070205080204" pitchFamily="34" charset="-128"/>
              </a:rPr>
              <a:t>	type</a:t>
            </a:r>
            <a:r>
              <a:rPr lang="en-US" altLang="nl-NL" dirty="0">
                <a:ea typeface="ＭＳ Ｐゴシック" panose="020B0600070205080204" pitchFamily="34" charset="-128"/>
              </a:rPr>
              <a:t> </a:t>
            </a:r>
            <a:r>
              <a:rPr lang="en-US" altLang="nl-NL" i="1" dirty="0">
                <a:ea typeface="ＭＳ Ｐゴシック" panose="020B0600070205080204" pitchFamily="34" charset="-128"/>
              </a:rPr>
              <a:t>instructor</a:t>
            </a:r>
            <a:r>
              <a:rPr lang="en-US" altLang="nl-NL" dirty="0">
                <a:ea typeface="ＭＳ Ｐゴシック" panose="020B0600070205080204" pitchFamily="34" charset="-128"/>
              </a:rPr>
              <a:t> = </a:t>
            </a:r>
            <a:r>
              <a:rPr lang="en-US" altLang="nl-NL" b="1" dirty="0">
                <a:ea typeface="ＭＳ Ｐゴシック" panose="020B0600070205080204" pitchFamily="34" charset="-128"/>
              </a:rPr>
              <a:t>record</a:t>
            </a:r>
            <a:endParaRPr lang="en-US" altLang="nl-NL" dirty="0">
              <a:ea typeface="ＭＳ Ｐゴシック" panose="020B0600070205080204" pitchFamily="34" charset="-128"/>
            </a:endParaRPr>
          </a:p>
          <a:p>
            <a:pPr lvl="1">
              <a:buFontTx/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dirty="0">
                <a:ea typeface="ＭＳ Ｐゴシック" panose="020B0600070205080204" pitchFamily="34" charset="-128"/>
              </a:rPr>
              <a:t>		</a:t>
            </a:r>
            <a:r>
              <a:rPr lang="en-US" altLang="nl-NL" i="1" dirty="0">
                <a:ea typeface="ＭＳ Ｐゴシック" panose="020B0600070205080204" pitchFamily="34" charset="-128"/>
              </a:rPr>
              <a:t>ID</a:t>
            </a:r>
            <a:r>
              <a:rPr lang="en-US" altLang="nl-NL" dirty="0">
                <a:ea typeface="ＭＳ Ｐゴシック" panose="020B0600070205080204" pitchFamily="34" charset="-128"/>
              </a:rPr>
              <a:t> : </a:t>
            </a:r>
            <a:r>
              <a:rPr lang="en-US" altLang="nl-NL" b="1" dirty="0">
                <a:ea typeface="ＭＳ Ｐゴシック" panose="020B0600070205080204" pitchFamily="34" charset="-128"/>
              </a:rPr>
              <a:t>string</a:t>
            </a:r>
            <a:r>
              <a:rPr lang="en-US" altLang="nl-NL" dirty="0">
                <a:ea typeface="ＭＳ Ｐゴシック" panose="020B0600070205080204" pitchFamily="34" charset="-128"/>
              </a:rPr>
              <a:t>; </a:t>
            </a:r>
            <a:br>
              <a:rPr lang="en-US" altLang="nl-NL" dirty="0">
                <a:ea typeface="ＭＳ Ｐゴシック" panose="020B0600070205080204" pitchFamily="34" charset="-128"/>
              </a:rPr>
            </a:br>
            <a:r>
              <a:rPr lang="en-US" altLang="nl-NL" dirty="0">
                <a:ea typeface="ＭＳ Ｐゴシック" panose="020B0600070205080204" pitchFamily="34" charset="-128"/>
              </a:rPr>
              <a:t>	</a:t>
            </a:r>
            <a:r>
              <a:rPr lang="en-US" altLang="nl-NL" i="1" dirty="0">
                <a:ea typeface="ＭＳ Ｐゴシック" panose="020B0600070205080204" pitchFamily="34" charset="-128"/>
              </a:rPr>
              <a:t>name</a:t>
            </a:r>
            <a:r>
              <a:rPr lang="en-US" altLang="nl-NL" dirty="0">
                <a:ea typeface="ＭＳ Ｐゴシック" panose="020B0600070205080204" pitchFamily="34" charset="-128"/>
              </a:rPr>
              <a:t> : </a:t>
            </a:r>
            <a:r>
              <a:rPr lang="en-US" altLang="nl-NL" b="1" dirty="0">
                <a:ea typeface="ＭＳ Ｐゴシック" panose="020B0600070205080204" pitchFamily="34" charset="-128"/>
              </a:rPr>
              <a:t>string</a:t>
            </a:r>
            <a:r>
              <a:rPr lang="en-US" altLang="nl-NL" dirty="0">
                <a:ea typeface="ＭＳ Ｐゴシック" panose="020B0600070205080204" pitchFamily="34" charset="-128"/>
              </a:rPr>
              <a:t>;</a:t>
            </a:r>
            <a:br>
              <a:rPr lang="en-US" altLang="nl-NL" dirty="0">
                <a:ea typeface="ＭＳ Ｐゴシック" panose="020B0600070205080204" pitchFamily="34" charset="-128"/>
              </a:rPr>
            </a:br>
            <a:r>
              <a:rPr lang="en-US" altLang="nl-NL" dirty="0">
                <a:ea typeface="ＭＳ Ｐゴシック" panose="020B0600070205080204" pitchFamily="34" charset="-128"/>
              </a:rPr>
              <a:t>	</a:t>
            </a:r>
            <a:r>
              <a:rPr lang="en-US" altLang="nl-NL" i="1" dirty="0" err="1">
                <a:ea typeface="ＭＳ Ｐゴシック" panose="020B0600070205080204" pitchFamily="34" charset="-128"/>
              </a:rPr>
              <a:t>dept_name</a:t>
            </a:r>
            <a:r>
              <a:rPr lang="en-US" altLang="nl-NL" dirty="0">
                <a:ea typeface="ＭＳ Ｐゴシック" panose="020B0600070205080204" pitchFamily="34" charset="-128"/>
              </a:rPr>
              <a:t> : </a:t>
            </a:r>
            <a:r>
              <a:rPr lang="en-US" altLang="nl-NL" b="1" dirty="0">
                <a:ea typeface="ＭＳ Ｐゴシック" panose="020B0600070205080204" pitchFamily="34" charset="-128"/>
              </a:rPr>
              <a:t>string</a:t>
            </a:r>
            <a:r>
              <a:rPr lang="en-US" altLang="nl-NL" dirty="0">
                <a:ea typeface="ＭＳ Ｐゴシック" panose="020B0600070205080204" pitchFamily="34" charset="-128"/>
              </a:rPr>
              <a:t>;</a:t>
            </a:r>
            <a:br>
              <a:rPr lang="en-US" altLang="nl-NL" dirty="0">
                <a:ea typeface="ＭＳ Ｐゴシック" panose="020B0600070205080204" pitchFamily="34" charset="-128"/>
              </a:rPr>
            </a:br>
            <a:r>
              <a:rPr lang="en-US" altLang="nl-NL" dirty="0">
                <a:ea typeface="ＭＳ Ｐゴシック" panose="020B0600070205080204" pitchFamily="34" charset="-128"/>
              </a:rPr>
              <a:t>	</a:t>
            </a:r>
            <a:r>
              <a:rPr lang="en-US" altLang="nl-NL" i="1" dirty="0">
                <a:ea typeface="ＭＳ Ｐゴシック" panose="020B0600070205080204" pitchFamily="34" charset="-128"/>
              </a:rPr>
              <a:t>salary</a:t>
            </a:r>
            <a:r>
              <a:rPr lang="en-US" altLang="nl-NL" dirty="0">
                <a:ea typeface="ＭＳ Ｐゴシック" panose="020B0600070205080204" pitchFamily="34" charset="-128"/>
              </a:rPr>
              <a:t> : </a:t>
            </a:r>
            <a:r>
              <a:rPr lang="en-US" altLang="nl-NL" b="1" dirty="0">
                <a:ea typeface="ＭＳ Ｐゴシック" panose="020B0600070205080204" pitchFamily="34" charset="-128"/>
              </a:rPr>
              <a:t>real</a:t>
            </a:r>
            <a:r>
              <a:rPr lang="en-US" altLang="nl-NL" dirty="0">
                <a:ea typeface="ＭＳ Ｐゴシック" panose="020B0600070205080204" pitchFamily="34" charset="-128"/>
              </a:rPr>
              <a:t>;</a:t>
            </a:r>
          </a:p>
          <a:p>
            <a:pPr lvl="4">
              <a:buFontTx/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b="1" dirty="0">
                <a:ea typeface="ＭＳ Ｐゴシック" panose="020B0600070205080204" pitchFamily="34" charset="-128"/>
              </a:rPr>
              <a:t>end</a:t>
            </a:r>
            <a:r>
              <a:rPr lang="en-US" altLang="nl-NL" dirty="0">
                <a:ea typeface="ＭＳ Ｐゴシック" panose="020B0600070205080204" pitchFamily="34" charset="-128"/>
              </a:rPr>
              <a:t>;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 b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View level:</a:t>
            </a:r>
            <a:r>
              <a:rPr lang="en-US" altLang="nl-NL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nl-NL" dirty="0">
                <a:ea typeface="ＭＳ Ｐゴシック" panose="020B0600070205080204" pitchFamily="34" charset="-128"/>
              </a:rPr>
              <a:t>application programs which hide details of data types.  Views can also hide information for security/privacy purposes (such as an employee’s salary).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9467F-08D9-CD15-298F-18D38EF5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57B0B-6050-4E76-D001-05CE5799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8249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4414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Database levels of abstraction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556054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 altLang="nl-NL">
                <a:ea typeface="ＭＳ Ｐゴシック" panose="020B0600070205080204" pitchFamily="34" charset="-128"/>
              </a:rPr>
              <a:t>Architecture of a database system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AAB0F6-8A5A-4532-A525-F11B496A4E0B}"/>
              </a:ext>
            </a:extLst>
          </p:cNvPr>
          <p:cNvSpPr/>
          <p:nvPr/>
        </p:nvSpPr>
        <p:spPr>
          <a:xfrm>
            <a:off x="1210962" y="2246742"/>
            <a:ext cx="10416746" cy="183098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43D24-0E13-4886-B42E-028955ED73C6}"/>
              </a:ext>
            </a:extLst>
          </p:cNvPr>
          <p:cNvSpPr txBox="1"/>
          <p:nvPr/>
        </p:nvSpPr>
        <p:spPr>
          <a:xfrm>
            <a:off x="5708820" y="2246742"/>
            <a:ext cx="1791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View Level</a:t>
            </a:r>
            <a:endParaRPr lang="nl-NL" sz="28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C696AC-9635-4315-899D-EF1C68AA075D}"/>
              </a:ext>
            </a:extLst>
          </p:cNvPr>
          <p:cNvSpPr/>
          <p:nvPr/>
        </p:nvSpPr>
        <p:spPr>
          <a:xfrm>
            <a:off x="1672280" y="2984155"/>
            <a:ext cx="2034746" cy="9185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View 1</a:t>
            </a:r>
            <a:endParaRPr lang="nl-NL" sz="260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07AA12-F541-4963-85C6-D1C82D720232}"/>
              </a:ext>
            </a:extLst>
          </p:cNvPr>
          <p:cNvSpPr/>
          <p:nvPr/>
        </p:nvSpPr>
        <p:spPr>
          <a:xfrm>
            <a:off x="4664675" y="3027404"/>
            <a:ext cx="2034746" cy="9185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View 2</a:t>
            </a:r>
            <a:endParaRPr lang="nl-NL" sz="260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51B439-8616-4D0B-8317-86407AF11CBC}"/>
              </a:ext>
            </a:extLst>
          </p:cNvPr>
          <p:cNvSpPr/>
          <p:nvPr/>
        </p:nvSpPr>
        <p:spPr>
          <a:xfrm>
            <a:off x="9135761" y="3002690"/>
            <a:ext cx="2034746" cy="91851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View </a:t>
            </a:r>
            <a:r>
              <a:rPr lang="en-US" sz="2600" i="1">
                <a:solidFill>
                  <a:schemeClr val="tx1"/>
                </a:solidFill>
              </a:rPr>
              <a:t>n</a:t>
            </a:r>
            <a:endParaRPr lang="nl-NL" sz="2600" i="1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036D6-F26F-496D-AB23-FB2AEFDE5739}"/>
              </a:ext>
            </a:extLst>
          </p:cNvPr>
          <p:cNvSpPr txBox="1"/>
          <p:nvPr/>
        </p:nvSpPr>
        <p:spPr>
          <a:xfrm>
            <a:off x="7664276" y="3045880"/>
            <a:ext cx="614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…</a:t>
            </a:r>
            <a:endParaRPr lang="nl-NL" sz="28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DB2AD43-04F1-485B-B69D-B6ED8D5887E5}"/>
              </a:ext>
            </a:extLst>
          </p:cNvPr>
          <p:cNvSpPr/>
          <p:nvPr/>
        </p:nvSpPr>
        <p:spPr>
          <a:xfrm>
            <a:off x="4977713" y="4399132"/>
            <a:ext cx="2249960" cy="9185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Logical View</a:t>
            </a:r>
            <a:endParaRPr lang="nl-NL" sz="260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B909588-D66F-455A-B707-8ED80E7E4A1D}"/>
              </a:ext>
            </a:extLst>
          </p:cNvPr>
          <p:cNvSpPr/>
          <p:nvPr/>
        </p:nvSpPr>
        <p:spPr>
          <a:xfrm>
            <a:off x="4980369" y="5643425"/>
            <a:ext cx="2263346" cy="91851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Physical View</a:t>
            </a:r>
            <a:endParaRPr lang="nl-NL" sz="2600">
              <a:solidFill>
                <a:schemeClr val="tx1"/>
              </a:solidFill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C276435-F238-48F9-9F76-370D1B818E05}"/>
              </a:ext>
            </a:extLst>
          </p:cNvPr>
          <p:cNvCxnSpPr>
            <a:cxnSpLocks/>
            <a:stCxn id="10" idx="0"/>
          </p:cNvCxnSpPr>
          <p:nvPr/>
        </p:nvCxnSpPr>
        <p:spPr>
          <a:xfrm rot="16200000" flipV="1">
            <a:off x="5938646" y="4235084"/>
            <a:ext cx="321402" cy="6693"/>
          </a:xfrm>
          <a:prstGeom prst="bentConnector3">
            <a:avLst/>
          </a:prstGeom>
          <a:ln w="4445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8C6A675-DFC8-4DFC-8683-DA8280EC2879}"/>
              </a:ext>
            </a:extLst>
          </p:cNvPr>
          <p:cNvCxnSpPr>
            <a:cxnSpLocks/>
            <a:endCxn id="10" idx="2"/>
          </p:cNvCxnSpPr>
          <p:nvPr/>
        </p:nvCxnSpPr>
        <p:spPr>
          <a:xfrm rot="5400000" flipH="1" flipV="1">
            <a:off x="5936458" y="5477193"/>
            <a:ext cx="325777" cy="6694"/>
          </a:xfrm>
          <a:prstGeom prst="bentConnector3">
            <a:avLst/>
          </a:prstGeom>
          <a:ln w="44450" cmpd="sng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DF8CDD6-7196-7393-4CAA-F5E2ECC5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3728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Modeling in Databases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32751-DF58-806F-F60B-85E0B5FD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C87E9-8DA3-35FC-C931-D603B78A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8440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 Language (DDL)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4"/>
            <a:ext cx="10515600" cy="5081169"/>
          </a:xfrm>
        </p:spPr>
        <p:txBody>
          <a:bodyPr>
            <a:normAutofit/>
          </a:bodyPr>
          <a:lstStyle/>
          <a:p>
            <a:r>
              <a:rPr lang="en-US" dirty="0"/>
              <a:t>Specification notation for defining the database schema</a:t>
            </a:r>
          </a:p>
          <a:p>
            <a:r>
              <a:rPr lang="en-US" dirty="0"/>
              <a:t>DDL is used to create and modify database objects such as tables, indexes and users</a:t>
            </a:r>
          </a:p>
          <a:p>
            <a:pPr marL="457200" lvl="1" indent="0">
              <a:buNone/>
            </a:pPr>
            <a:r>
              <a:rPr lang="en-US" dirty="0"/>
              <a:t>Example:	create table instructor (</a:t>
            </a:r>
            <a:br>
              <a:rPr lang="en-US" dirty="0"/>
            </a:br>
            <a:r>
              <a:rPr lang="en-US" dirty="0"/>
              <a:t>                             ID                </a:t>
            </a:r>
            <a:r>
              <a:rPr lang="en-US" b="1" dirty="0"/>
              <a:t>char</a:t>
            </a:r>
            <a:r>
              <a:rPr lang="en-US" dirty="0"/>
              <a:t>(5),</a:t>
            </a:r>
            <a:br>
              <a:rPr lang="en-US" dirty="0"/>
            </a:br>
            <a:r>
              <a:rPr lang="en-US" dirty="0"/>
              <a:t>                             name           </a:t>
            </a:r>
            <a:r>
              <a:rPr lang="en-US" b="1" dirty="0"/>
              <a:t>varchar</a:t>
            </a:r>
            <a:r>
              <a:rPr lang="en-US" dirty="0"/>
              <a:t>(20),</a:t>
            </a:r>
            <a:br>
              <a:rPr lang="en-US" dirty="0"/>
            </a:br>
            <a:r>
              <a:rPr lang="en-US" dirty="0"/>
              <a:t>                             </a:t>
            </a:r>
            <a:r>
              <a:rPr lang="en-US" dirty="0" err="1"/>
              <a:t>dept_name</a:t>
            </a:r>
            <a:r>
              <a:rPr lang="en-US" dirty="0"/>
              <a:t>  </a:t>
            </a:r>
            <a:r>
              <a:rPr lang="en-US" b="1" dirty="0"/>
              <a:t>varchar</a:t>
            </a:r>
            <a:r>
              <a:rPr lang="en-US" dirty="0"/>
              <a:t>(20),</a:t>
            </a:r>
            <a:br>
              <a:rPr lang="en-US" dirty="0"/>
            </a:br>
            <a:r>
              <a:rPr lang="en-US" dirty="0"/>
              <a:t>                             salary           </a:t>
            </a:r>
            <a:r>
              <a:rPr lang="en-US" b="1" dirty="0"/>
              <a:t>real</a:t>
            </a:r>
            <a:r>
              <a:rPr lang="en-US" dirty="0"/>
              <a:t>)</a:t>
            </a:r>
            <a:r>
              <a:rPr lang="nl-NL" dirty="0"/>
              <a:t>;</a:t>
            </a:r>
            <a:endParaRPr lang="en-US" dirty="0"/>
          </a:p>
          <a:p>
            <a:r>
              <a:rPr lang="en-US" dirty="0"/>
              <a:t>DDL include:</a:t>
            </a:r>
          </a:p>
          <a:p>
            <a:pPr lvl="1"/>
            <a:r>
              <a:rPr lang="en-GB" dirty="0"/>
              <a:t>Commands for specifying integrity constraints </a:t>
            </a:r>
          </a:p>
          <a:p>
            <a:pPr lvl="1"/>
            <a:r>
              <a:rPr lang="nl-NL" dirty="0" err="1"/>
              <a:t>Commands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defining</a:t>
            </a:r>
            <a:r>
              <a:rPr lang="nl-NL" dirty="0"/>
              <a:t> views</a:t>
            </a:r>
          </a:p>
          <a:p>
            <a:pPr lvl="1"/>
            <a:r>
              <a:rPr lang="nl-NL" dirty="0" err="1"/>
              <a:t>Commands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specifying</a:t>
            </a:r>
            <a:r>
              <a:rPr lang="nl-NL" dirty="0"/>
              <a:t> access </a:t>
            </a:r>
            <a:r>
              <a:rPr lang="nl-NL" dirty="0" err="1"/>
              <a:t>rights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3BA1A0-1A58-D110-DF84-561DE405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ED008-FB8C-E5F4-04B8-B957C81D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44533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Language (DML)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4"/>
            <a:ext cx="10515600" cy="5081169"/>
          </a:xfrm>
        </p:spPr>
        <p:txBody>
          <a:bodyPr>
            <a:normAutofit/>
          </a:bodyPr>
          <a:lstStyle/>
          <a:p>
            <a:r>
              <a:rPr lang="en-US" dirty="0"/>
              <a:t>Language for accessing and manipulating the data organized by the appropriate data model</a:t>
            </a:r>
          </a:p>
          <a:p>
            <a:pPr lvl="1"/>
            <a:r>
              <a:rPr lang="en-US" dirty="0"/>
              <a:t>DML also known as query language to retrieve information from the database</a:t>
            </a:r>
          </a:p>
          <a:p>
            <a:pPr lvl="1"/>
            <a:r>
              <a:rPr lang="en-US" dirty="0"/>
              <a:t>DML allows for adding (inserting), deleting, and modifying (updating) the records in a database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C96F02-441E-BB65-7DEB-CD148744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0F3EA-4F9C-02B1-8F66-5158E1D5F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10276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0504" y="2733260"/>
            <a:ext cx="9379226" cy="1391479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dirty="0"/>
              <a:t>DDL and DML are not two separate languages – they  form parts of a single database language (e.g. SQL)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52344B-30FD-35AE-7C74-E17BC603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1B23E-396F-861E-8D28-2605ED52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68795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02028" y="2620260"/>
            <a:ext cx="8277726" cy="609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SQL</a:t>
            </a:r>
            <a:endParaRPr lang="nl-NL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8A782-5E9C-2061-6875-4AFAC7C3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E5BC2-842D-C2F9-B436-A95C7027B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4669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 (SQL)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4"/>
            <a:ext cx="10515600" cy="5081169"/>
          </a:xfrm>
        </p:spPr>
        <p:txBody>
          <a:bodyPr>
            <a:normAutofit/>
          </a:bodyPr>
          <a:lstStyle/>
          <a:p>
            <a:r>
              <a:rPr lang="en-US" dirty="0"/>
              <a:t>High level language to manipulate relational data</a:t>
            </a:r>
          </a:p>
          <a:p>
            <a:pPr lvl="1"/>
            <a:r>
              <a:rPr lang="en-US" altLang="nl-NL" dirty="0"/>
              <a:t>Say “what to do” rather than “how to do it.”</a:t>
            </a:r>
          </a:p>
          <a:p>
            <a:pPr lvl="1"/>
            <a:r>
              <a:rPr lang="en-US" altLang="nl-NL" dirty="0"/>
              <a:t>Avoid a lot of data-manipulation details needed in procedural languages like C++ or Java.</a:t>
            </a:r>
          </a:p>
          <a:p>
            <a:r>
              <a:rPr lang="en-US" altLang="nl-NL" dirty="0"/>
              <a:t>Database management system figures out “best” way to execute query. </a:t>
            </a:r>
          </a:p>
          <a:p>
            <a:pPr lvl="1"/>
            <a:r>
              <a:rPr lang="en-US" altLang="nl-NL" dirty="0"/>
              <a:t>Called “query optimization.”</a:t>
            </a:r>
          </a:p>
          <a:p>
            <a:r>
              <a:rPr lang="en-US" dirty="0"/>
              <a:t>SQL has three categories based on the functionality involved </a:t>
            </a:r>
          </a:p>
          <a:p>
            <a:pPr lvl="1"/>
            <a:r>
              <a:rPr lang="en-US" dirty="0"/>
              <a:t>DDL: Data Definition Language </a:t>
            </a:r>
          </a:p>
          <a:p>
            <a:pPr lvl="1"/>
            <a:r>
              <a:rPr lang="en-US" dirty="0"/>
              <a:t>DML: Data Manipulation Language </a:t>
            </a:r>
          </a:p>
          <a:p>
            <a:pPr lvl="1"/>
            <a:r>
              <a:rPr lang="en-US" dirty="0"/>
              <a:t>DCL: Data Control Language -- used to grant and revoke authorization.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3D295-745A-CB5A-FD8A-E7E19DCE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D4C43-2972-259B-5810-5466A0FC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31257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242"/>
          </a:xfrm>
        </p:spPr>
        <p:txBody>
          <a:bodyPr>
            <a:no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 (SQL)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B1FA9-E983-4B1F-A3ED-1B02562B9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4"/>
            <a:ext cx="10515600" cy="5081169"/>
          </a:xfrm>
        </p:spPr>
        <p:txBody>
          <a:bodyPr>
            <a:normAutofit/>
          </a:bodyPr>
          <a:lstStyle/>
          <a:p>
            <a:r>
              <a:rPr lang="en-US" dirty="0"/>
              <a:t>SQL DDL is used to define:</a:t>
            </a:r>
          </a:p>
          <a:p>
            <a:pPr lvl="1"/>
            <a:r>
              <a:rPr lang="en-US" dirty="0"/>
              <a:t>The schema for each relation.</a:t>
            </a:r>
          </a:p>
          <a:p>
            <a:pPr lvl="1"/>
            <a:r>
              <a:rPr lang="en-US" dirty="0"/>
              <a:t>The types of values associated with each attribute.</a:t>
            </a:r>
          </a:p>
          <a:p>
            <a:pPr lvl="1"/>
            <a:r>
              <a:rPr lang="en-US" dirty="0"/>
              <a:t>The integrity constraints.</a:t>
            </a:r>
          </a:p>
          <a:p>
            <a:pPr lvl="1"/>
            <a:r>
              <a:rPr lang="en-US" dirty="0"/>
              <a:t>The security and authorization information for each relation.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CBB0E-A295-734A-27BF-4DC4306E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6467-6858-88FD-8ADD-3A9A4492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6709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F502D0-5CB1-412C-A664-69CBC110B8A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9715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Schema Diagram for University Database</a:t>
            </a:r>
            <a:endParaRPr lang="nl-NL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70DD3-9DF0-4E15-8A9B-9F96835A440D}"/>
              </a:ext>
            </a:extLst>
          </p:cNvPr>
          <p:cNvSpPr txBox="1"/>
          <p:nvPr/>
        </p:nvSpPr>
        <p:spPr>
          <a:xfrm>
            <a:off x="5795489" y="6246652"/>
            <a:ext cx="5251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Database System Concepts – 7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48CA3-C0B7-9E49-B0F4-43EB14B798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29" y="1169431"/>
            <a:ext cx="9813471" cy="532344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70715A-881A-AC2A-8BDF-C548F1E5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15D08-2D8F-8A4D-45CE-1B119B64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718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>
            <a:extLst>
              <a:ext uri="{FF2B5EF4-FFF2-40B4-BE49-F238E27FC236}">
                <a16:creationId xmlns:a16="http://schemas.microsoft.com/office/drawing/2014/main" id="{5AC15444-50D3-D040-9FD9-5084AEF42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Relations in SQL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91D2F4E6-A343-5048-AE5D-2A119E9C5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357" y="1690688"/>
            <a:ext cx="7543800" cy="4648200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dirty="0">
                <a:ea typeface="ＭＳ Ｐゴシック" panose="020B0600070205080204" pitchFamily="34" charset="-128"/>
              </a:rPr>
              <a:t>Creating relation in SQL can be done 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62" name="Rectangle 6">
                <a:extLst>
                  <a:ext uri="{FF2B5EF4-FFF2-40B4-BE49-F238E27FC236}">
                    <a16:creationId xmlns:a16="http://schemas.microsoft.com/office/drawing/2014/main" id="{7C3363DD-01B2-304C-9C30-635AB4A53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2873" y="2236713"/>
                <a:ext cx="4071427" cy="37830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 lIns="90488" tIns="44450" rIns="90488" bIns="44450">
                <a:spAutoFit/>
              </a:bodyPr>
              <a:lstStyle/>
              <a:p>
                <a:pPr>
                  <a:defRPr/>
                </a:pPr>
                <a:r>
                  <a:rPr lang="en-US" sz="2400" dirty="0">
                    <a:solidFill>
                      <a:srgbClr val="006600"/>
                    </a:solidFill>
                  </a:rPr>
                  <a:t>CREATE</a:t>
                </a:r>
                <a:r>
                  <a:rPr lang="en-US" sz="2400" dirty="0">
                    <a:latin typeface="Book Antiqua" charset="0"/>
                    <a:ea typeface="ＭＳ Ｐゴシック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</a:rPr>
                  <a:t>TABLE</a:t>
                </a:r>
                <a:r>
                  <a:rPr lang="en-US" sz="2400" dirty="0">
                    <a:latin typeface="Book Antiqua" charset="0"/>
                    <a:ea typeface="ＭＳ Ｐゴシック" charset="0"/>
                  </a:rPr>
                  <a:t> </a:t>
                </a:r>
                <a:r>
                  <a:rPr lang="en-US" sz="2400" dirty="0" err="1">
                    <a:latin typeface="Book Antiqua" charset="0"/>
                    <a:ea typeface="ＭＳ Ｐゴシック" charset="0"/>
                  </a:rPr>
                  <a:t>tab_name</a:t>
                </a:r>
                <a:r>
                  <a:rPr lang="en-US" sz="2400" dirty="0">
                    <a:latin typeface="Book Antiqua" charset="0"/>
                    <a:ea typeface="ＭＳ Ｐゴシック" charset="0"/>
                  </a:rPr>
                  <a:t> (</a:t>
                </a:r>
              </a:p>
              <a:p>
                <a:pPr>
                  <a:defRPr/>
                </a:pPr>
                <a:r>
                  <a:rPr lang="en-US" sz="2400" dirty="0">
                    <a:latin typeface="Book Antiqua" charset="0"/>
                    <a:ea typeface="ＭＳ Ｐゴシック" charset="0"/>
                  </a:rPr>
                  <a:t>	A1 </a:t>
                </a:r>
                <a:r>
                  <a:rPr lang="en-US" sz="2400" dirty="0">
                    <a:solidFill>
                      <a:srgbClr val="006600"/>
                    </a:solidFill>
                  </a:rPr>
                  <a:t>D1</a:t>
                </a:r>
                <a:r>
                  <a:rPr lang="en-US" sz="2400" dirty="0">
                    <a:latin typeface="Book Antiqua" charset="0"/>
                    <a:ea typeface="ＭＳ Ｐゴシック" charset="0"/>
                  </a:rPr>
                  <a:t>, </a:t>
                </a:r>
              </a:p>
              <a:p>
                <a:pPr>
                  <a:defRPr/>
                </a:pPr>
                <a:r>
                  <a:rPr lang="en-US" sz="2400" dirty="0">
                    <a:latin typeface="Book Antiqua" charset="0"/>
                    <a:ea typeface="ＭＳ Ｐゴシック" charset="0"/>
                  </a:rPr>
                  <a:t>	A2 </a:t>
                </a:r>
                <a:r>
                  <a:rPr lang="en-US" sz="2400" dirty="0">
                    <a:solidFill>
                      <a:srgbClr val="006600"/>
                    </a:solidFill>
                  </a:rPr>
                  <a:t>D2</a:t>
                </a:r>
                <a:r>
                  <a:rPr lang="en-US" sz="2400" dirty="0">
                    <a:latin typeface="Book Antiqua" charset="0"/>
                    <a:ea typeface="ＭＳ Ｐゴシック" charset="0"/>
                  </a:rPr>
                  <a:t>, </a:t>
                </a:r>
              </a:p>
              <a:p>
                <a:pPr lvl="2">
                  <a:defRPr/>
                </a:pPr>
                <a:r>
                  <a:rPr lang="en-US" sz="2400" dirty="0">
                    <a:latin typeface="Book Antiqua" charset="0"/>
                    <a:ea typeface="ＭＳ Ｐゴシック" charset="0"/>
                  </a:rPr>
                  <a:t>…,</a:t>
                </a:r>
              </a:p>
              <a:p>
                <a:pPr>
                  <a:defRPr/>
                </a:pPr>
                <a:r>
                  <a:rPr lang="en-US" sz="2400" dirty="0">
                    <a:latin typeface="Book Antiqua" charset="0"/>
                    <a:ea typeface="ＭＳ Ｐゴシック" charset="0"/>
                  </a:rPr>
                  <a:t>	An </a:t>
                </a:r>
                <a:r>
                  <a:rPr lang="en-US" sz="2400" dirty="0" err="1">
                    <a:solidFill>
                      <a:srgbClr val="006600"/>
                    </a:solidFill>
                  </a:rPr>
                  <a:t>Dn</a:t>
                </a:r>
                <a:r>
                  <a:rPr lang="en-US" sz="2400" dirty="0">
                    <a:solidFill>
                      <a:srgbClr val="006600"/>
                    </a:solidFill>
                  </a:rPr>
                  <a:t>,</a:t>
                </a:r>
              </a:p>
              <a:p>
                <a:pPr>
                  <a:defRPr/>
                </a:pPr>
                <a:r>
                  <a:rPr lang="en-US" sz="2400" dirty="0">
                    <a:solidFill>
                      <a:srgbClr val="006600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6600"/>
                            </a:solidFill>
                          </a:rPr>
                          <m:t>IC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6600"/>
                            </a:solidFill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,</a:t>
                </a:r>
              </a:p>
              <a:p>
                <a:pPr>
                  <a:defRPr/>
                </a:pPr>
                <a:r>
                  <a:rPr lang="en-US" sz="2400" dirty="0">
                    <a:solidFill>
                      <a:srgbClr val="006600"/>
                    </a:solidFill>
                  </a:rPr>
                  <a:t>	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6600"/>
                            </a:solidFill>
                          </a:rPr>
                          <m:t>IC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rgbClr val="006600"/>
                            </a:solidFill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6600"/>
                    </a:solidFill>
                  </a:rPr>
                  <a:t>,</a:t>
                </a:r>
              </a:p>
              <a:p>
                <a:pPr>
                  <a:defRPr/>
                </a:pPr>
                <a:r>
                  <a:rPr lang="en-US" sz="2400" dirty="0">
                    <a:solidFill>
                      <a:srgbClr val="006600"/>
                    </a:solidFill>
                  </a:rPr>
                  <a:t>	…,</a:t>
                </a:r>
              </a:p>
              <a:p>
                <a:pPr>
                  <a:defRPr/>
                </a:pPr>
                <a:r>
                  <a:rPr lang="en-US" sz="2400" dirty="0">
                    <a:solidFill>
                      <a:srgbClr val="006600"/>
                    </a:solidFill>
                  </a:rPr>
                  <a:t>	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006600"/>
                            </a:solidFill>
                          </a:rPr>
                          <m:t>IC</m:t>
                        </m:r>
                        <m:r>
                          <m:rPr>
                            <m:nor/>
                          </m:rPr>
                          <a:rPr lang="en-US" sz="2400" b="0" i="0" dirty="0" smtClean="0">
                            <a:solidFill>
                              <a:srgbClr val="006600"/>
                            </a:solidFill>
                          </a:rPr>
                          <m:t>n</m:t>
                        </m:r>
                      </m:e>
                    </m:d>
                  </m:oMath>
                </a14:m>
                <a:endParaRPr lang="en-US" sz="2400" dirty="0">
                  <a:solidFill>
                    <a:srgbClr val="006600"/>
                  </a:solidFill>
                </a:endParaRPr>
              </a:p>
              <a:p>
                <a:pPr>
                  <a:defRPr/>
                </a:pPr>
                <a:r>
                  <a:rPr lang="en-US" sz="2400" dirty="0">
                    <a:latin typeface="Book Antiqua" charset="0"/>
                    <a:ea typeface="ＭＳ Ｐゴシック" charset="0"/>
                  </a:rPr>
                  <a:t>	);  </a:t>
                </a:r>
              </a:p>
            </p:txBody>
          </p:sp>
        </mc:Choice>
        <mc:Fallback xmlns="">
          <p:sp>
            <p:nvSpPr>
              <p:cNvPr id="19462" name="Rectangle 6">
                <a:extLst>
                  <a:ext uri="{FF2B5EF4-FFF2-40B4-BE49-F238E27FC236}">
                    <a16:creationId xmlns:a16="http://schemas.microsoft.com/office/drawing/2014/main" id="{7C3363DD-01B2-304C-9C30-635AB4A535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2873" y="2236713"/>
                <a:ext cx="4071427" cy="3783087"/>
              </a:xfrm>
              <a:prstGeom prst="rect">
                <a:avLst/>
              </a:prstGeom>
              <a:blipFill>
                <a:blip r:embed="rId3"/>
                <a:stretch>
                  <a:fillRect l="-2492" t="-1338" b="-26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6">
            <a:extLst>
              <a:ext uri="{FF2B5EF4-FFF2-40B4-BE49-F238E27FC236}">
                <a16:creationId xmlns:a16="http://schemas.microsoft.com/office/drawing/2014/main" id="{A8B2CBA4-CCD7-BD3F-33CA-17790F8C3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322" y="3259936"/>
            <a:ext cx="4820478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6600"/>
                </a:solidFill>
              </a:rPr>
              <a:t>Di </a:t>
            </a:r>
            <a:r>
              <a:rPr lang="en-US" sz="2400" dirty="0"/>
              <a:t>is the domain of the values in attribute (column) Ai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6600"/>
                </a:solidFill>
                <a:latin typeface="Book Antiqua" charset="0"/>
                <a:ea typeface="ＭＳ Ｐゴシック" charset="0"/>
              </a:rPr>
              <a:t>IC </a:t>
            </a:r>
            <a:r>
              <a:rPr lang="en-US" sz="2400" dirty="0">
                <a:latin typeface="Book Antiqua" charset="0"/>
                <a:ea typeface="ＭＳ Ｐゴシック" charset="0"/>
              </a:rPr>
              <a:t>= integrity constraint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A0BCB-393E-9E81-59A2-5459BCF2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CA7CC-19AE-11BF-69E9-3C227DCF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5216065"/>
      </p:ext>
    </p:extLst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>
            <a:extLst>
              <a:ext uri="{FF2B5EF4-FFF2-40B4-BE49-F238E27FC236}">
                <a16:creationId xmlns:a16="http://schemas.microsoft.com/office/drawing/2014/main" id="{5AC15444-50D3-D040-9FD9-5084AEF42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Relations in SQL – Examples 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91D2F4E6-A343-5048-AE5D-2A119E9C5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357" y="1690688"/>
            <a:ext cx="5912043" cy="4648200"/>
          </a:xfrm>
        </p:spPr>
        <p:txBody>
          <a:bodyPr>
            <a:normAutofit/>
          </a:bodyPr>
          <a:lstStyle/>
          <a:p>
            <a:pPr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dirty="0">
                <a:ea typeface="ＭＳ Ｐゴシック" panose="020B0600070205080204" pitchFamily="34" charset="-128"/>
              </a:rPr>
              <a:t>Creating the Student relation</a:t>
            </a:r>
          </a:p>
          <a:p>
            <a:pPr marL="685800" lvl="2">
              <a:spcBef>
                <a:spcPts val="1000"/>
              </a:spcBef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sz="2400" dirty="0">
                <a:ea typeface="ＭＳ Ｐゴシック" panose="020B0600070205080204" pitchFamily="34" charset="-128"/>
              </a:rPr>
              <a:t>Observe that the type (domain)  of each field  is specified, and enforced by the DBMS whenever tuples are added or modified. </a:t>
            </a:r>
          </a:p>
          <a:p>
            <a:pPr marL="0" lvl="1" indent="0">
              <a:spcBef>
                <a:spcPts val="1000"/>
              </a:spcBef>
              <a:buNone/>
              <a:tabLst>
                <a:tab pos="1820863" algn="l"/>
                <a:tab pos="3659188" algn="l"/>
                <a:tab pos="3943350" algn="l"/>
              </a:tabLst>
              <a:defRPr/>
            </a:pPr>
            <a:endParaRPr lang="en-US" sz="2800" dirty="0">
              <a:ea typeface="ＭＳ Ｐゴシック" panose="020B0600070205080204" pitchFamily="34" charset="-128"/>
            </a:endParaRPr>
          </a:p>
          <a:p>
            <a:pPr>
              <a:tabLst>
                <a:tab pos="1820863" algn="l"/>
                <a:tab pos="3659188" algn="l"/>
                <a:tab pos="3943350" algn="l"/>
              </a:tabLst>
              <a:defRPr/>
            </a:pPr>
            <a:r>
              <a:rPr lang="en-US" dirty="0">
                <a:ea typeface="ＭＳ Ｐゴシック" panose="020B0600070205080204" pitchFamily="34" charset="-128"/>
              </a:rPr>
              <a:t>Another example, the `takes’ table holds information about courses that students take.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7C3363DD-01B2-304C-9C30-635AB4A53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6786" y="1358037"/>
            <a:ext cx="4071427" cy="1936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6600"/>
                </a:solidFill>
              </a:rPr>
              <a:t>CREATE</a:t>
            </a:r>
            <a:r>
              <a:rPr lang="en-US" sz="24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TABLE</a:t>
            </a:r>
            <a:r>
              <a:rPr lang="en-US" sz="2400" dirty="0">
                <a:latin typeface="Book Antiqua" charset="0"/>
                <a:ea typeface="ＭＳ Ｐゴシック" charset="0"/>
              </a:rPr>
              <a:t> student (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id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(20), 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name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(20), 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dept_name</a:t>
            </a:r>
            <a:r>
              <a:rPr lang="en-US" sz="24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(20),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tot_cred</a:t>
            </a:r>
            <a:r>
              <a:rPr lang="en-US" sz="24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INTEGER   </a:t>
            </a:r>
            <a:r>
              <a:rPr lang="en-US" sz="2400" dirty="0">
                <a:latin typeface="Book Antiqua" charset="0"/>
                <a:ea typeface="ＭＳ Ｐゴシック" charset="0"/>
              </a:rPr>
              <a:t>);  </a:t>
            </a:r>
          </a:p>
        </p:txBody>
      </p:sp>
      <p:sp>
        <p:nvSpPr>
          <p:cNvPr id="19465" name="Rectangle 9">
            <a:extLst>
              <a:ext uri="{FF2B5EF4-FFF2-40B4-BE49-F238E27FC236}">
                <a16:creationId xmlns:a16="http://schemas.microsoft.com/office/drawing/2014/main" id="{378C91AB-9538-5740-8CCF-C52750A1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100" y="3739997"/>
            <a:ext cx="3949700" cy="2675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6600"/>
                </a:solidFill>
              </a:rPr>
              <a:t>CREATE</a:t>
            </a:r>
            <a:r>
              <a:rPr lang="en-US" sz="24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TABLE</a:t>
            </a:r>
            <a:r>
              <a:rPr lang="en-US" sz="2400" dirty="0">
                <a:latin typeface="Book Antiqua" charset="0"/>
                <a:ea typeface="ＭＳ Ｐゴシック" charset="0"/>
              </a:rPr>
              <a:t> takes (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id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(20), 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course_id</a:t>
            </a:r>
            <a:r>
              <a:rPr lang="en-US" sz="24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(20), 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</a:t>
            </a:r>
            <a:r>
              <a:rPr lang="en-US" sz="2400" dirty="0" err="1">
                <a:latin typeface="Book Antiqua" charset="0"/>
                <a:ea typeface="ＭＳ Ｐゴシック" charset="0"/>
              </a:rPr>
              <a:t>sec_id</a:t>
            </a:r>
            <a:r>
              <a:rPr lang="en-US" sz="2400" dirty="0"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(2),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semester </a:t>
            </a:r>
            <a:r>
              <a:rPr lang="en-US" sz="2400" dirty="0">
                <a:solidFill>
                  <a:srgbClr val="006600"/>
                </a:solidFill>
              </a:rPr>
              <a:t>CHAR</a:t>
            </a:r>
            <a:r>
              <a:rPr lang="en-US" sz="2400" dirty="0">
                <a:latin typeface="Book Antiqua" charset="0"/>
                <a:ea typeface="ＭＳ Ｐゴシック" charset="0"/>
              </a:rPr>
              <a:t>(3),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	year </a:t>
            </a:r>
            <a:r>
              <a:rPr lang="en-US" sz="2400" dirty="0">
                <a:solidFill>
                  <a:srgbClr val="006600"/>
                </a:solidFill>
              </a:rPr>
              <a:t>NUMERIC</a:t>
            </a:r>
            <a:r>
              <a:rPr lang="en-US" sz="2400" dirty="0">
                <a:latin typeface="Book Antiqua" charset="0"/>
                <a:ea typeface="ＭＳ Ｐゴシック" charset="0"/>
              </a:rPr>
              <a:t>(4,0),</a:t>
            </a:r>
          </a:p>
          <a:p>
            <a:pPr>
              <a:defRPr/>
            </a:pPr>
            <a:r>
              <a:rPr lang="en-US" sz="2400" dirty="0">
                <a:latin typeface="Book Antiqua" charset="0"/>
                <a:ea typeface="ＭＳ Ｐゴシック" charset="0"/>
              </a:rPr>
              <a:t> 	grade </a:t>
            </a:r>
            <a:r>
              <a:rPr lang="en-US" sz="2400" dirty="0">
                <a:solidFill>
                  <a:srgbClr val="006600"/>
                </a:solidFill>
              </a:rPr>
              <a:t>REAL</a:t>
            </a:r>
            <a:r>
              <a:rPr lang="en-US" sz="2400" dirty="0">
                <a:solidFill>
                  <a:srgbClr val="006600"/>
                </a:solidFill>
                <a:latin typeface="Book Antiqua" charset="0"/>
                <a:ea typeface="ＭＳ Ｐゴシック" charset="0"/>
              </a:rPr>
              <a:t>    </a:t>
            </a:r>
            <a:r>
              <a:rPr lang="en-US" sz="2400" dirty="0">
                <a:latin typeface="Book Antiqua" charset="0"/>
                <a:ea typeface="ＭＳ Ｐゴシック" charset="0"/>
              </a:rPr>
              <a:t>);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916E9F-12D4-516A-4D57-11067A9A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62CD5C-6DB6-86AE-3DD5-1DC55AB7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7234113"/>
      </p:ext>
    </p:extLst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>
            <a:extLst>
              <a:ext uri="{FF2B5EF4-FFF2-40B4-BE49-F238E27FC236}">
                <a16:creationId xmlns:a16="http://schemas.microsoft.com/office/drawing/2014/main" id="{83CADF78-2AD3-F34C-A9CF-7856AD5AF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and Altering Relations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07787762-441F-D34F-B700-792A075F6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61694" y="2378075"/>
            <a:ext cx="10189134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Destroys the relation `student’.  The schema information </a:t>
            </a:r>
            <a:r>
              <a:rPr lang="en-US" i="1" dirty="0"/>
              <a:t>and</a:t>
            </a:r>
            <a:r>
              <a:rPr lang="en-US" dirty="0"/>
              <a:t> the tuples are deleted.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schema of `student’ is altered by adding a new field; every tuple in the current instance is extended with a null value in the new field.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9F58D8F6-7E88-0A46-999E-D695204D1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1775312"/>
            <a:ext cx="3989387" cy="736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6600"/>
                </a:solidFill>
              </a:rPr>
              <a:t>DROP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TABLE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dirty="0">
                <a:latin typeface="Book Antiqua" charset="0"/>
                <a:ea typeface="ＭＳ Ｐゴシック" charset="0"/>
              </a:rPr>
              <a:t>students 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	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ACCDBE33-1AF0-164E-B676-BFD08B28E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1692" y="3607043"/>
            <a:ext cx="4633001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6600"/>
                </a:solidFill>
              </a:rPr>
              <a:t>ALTER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TABLE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 </a:t>
            </a:r>
            <a:r>
              <a:rPr lang="en-US" dirty="0">
                <a:latin typeface="Book Antiqua" charset="0"/>
                <a:ea typeface="ＭＳ Ｐゴシック" charset="0"/>
              </a:rPr>
              <a:t>students </a:t>
            </a:r>
          </a:p>
          <a:p>
            <a:pPr>
              <a:defRPr/>
            </a:pPr>
            <a:r>
              <a:rPr lang="en-US" dirty="0">
                <a:latin typeface="Book Antiqua" charset="0"/>
                <a:ea typeface="ＭＳ Ｐゴシック" charset="0"/>
              </a:rPr>
              <a:t>	</a:t>
            </a:r>
            <a:r>
              <a:rPr lang="en-US" sz="2400" dirty="0">
                <a:solidFill>
                  <a:srgbClr val="006600"/>
                </a:solidFill>
              </a:rPr>
              <a:t>ADD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006600"/>
                </a:solidFill>
              </a:rPr>
              <a:t>COLUMN</a:t>
            </a:r>
            <a:r>
              <a:rPr lang="en-US" sz="2000" dirty="0">
                <a:solidFill>
                  <a:schemeClr val="accent2"/>
                </a:solidFill>
                <a:latin typeface="Book Antiqua" charset="0"/>
                <a:ea typeface="ＭＳ Ｐゴシック" charset="0"/>
              </a:rPr>
              <a:t> </a:t>
            </a:r>
            <a:r>
              <a:rPr lang="en-US" dirty="0" err="1">
                <a:latin typeface="Book Antiqua" charset="0"/>
                <a:ea typeface="ＭＳ Ｐゴシック" charset="0"/>
              </a:rPr>
              <a:t>firstYear</a:t>
            </a:r>
            <a:r>
              <a:rPr lang="en-US" dirty="0">
                <a:latin typeface="Book Antiqua" charset="0"/>
                <a:ea typeface="ＭＳ Ｐゴシック" charset="0"/>
              </a:rPr>
              <a:t> integer;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A980CF-0859-FA04-C227-9729CDB3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D6599-C977-E7B4-4BF9-894A0D444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4514746"/>
      </p:ext>
    </p:extLst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F9EDB90-DF72-334F-A96B-E0B797CAD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FB6A73F-D73E-3240-9B6A-3F83B7401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6ACBD1B-DCC9-C346-B98F-0A0984C65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0623C056-03C9-D949-B1C9-E0DF27CC9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8449" y="1428873"/>
            <a:ext cx="7772400" cy="5064002"/>
          </a:xfrm>
        </p:spPr>
        <p:txBody>
          <a:bodyPr/>
          <a:lstStyle/>
          <a:p>
            <a:pPr>
              <a:defRPr/>
            </a:pPr>
            <a:r>
              <a:rPr lang="en-US" dirty="0"/>
              <a:t>Can insert a single tuple using: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461B1E2C-4407-7F44-BC50-F13F5BF3A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412757"/>
            <a:ext cx="4906793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INSERT</a:t>
            </a:r>
            <a:r>
              <a:rPr lang="en-US" altLang="it-IT" sz="2000" dirty="0">
                <a:latin typeface="Book Antiqua" panose="02040602050305030304" pitchFamily="18" charset="0"/>
              </a:rPr>
              <a:t> </a:t>
            </a:r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INTO</a:t>
            </a:r>
            <a:r>
              <a:rPr lang="en-US" altLang="it-IT" sz="2000" dirty="0">
                <a:latin typeface="Book Antiqua" panose="02040602050305030304" pitchFamily="18" charset="0"/>
              </a:rPr>
              <a:t>  s</a:t>
            </a:r>
            <a:r>
              <a:rPr lang="en-US" altLang="it-IT" dirty="0">
                <a:latin typeface="Book Antiqua" panose="02040602050305030304" pitchFamily="18" charset="0"/>
              </a:rPr>
              <a:t>tudent </a:t>
            </a:r>
          </a:p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VALUES</a:t>
            </a:r>
            <a:r>
              <a:rPr lang="en-US" altLang="it-IT" dirty="0">
                <a:latin typeface="Book Antiqua" panose="02040602050305030304" pitchFamily="18" charset="0"/>
              </a:rPr>
              <a:t>  (</a:t>
            </a:r>
            <a:r>
              <a:rPr lang="en-US" altLang="ja-JP" dirty="0">
                <a:latin typeface="Book Antiqua" panose="02040602050305030304" pitchFamily="18" charset="0"/>
              </a:rPr>
              <a:t>53688, `Smith</a:t>
            </a:r>
            <a:r>
              <a:rPr lang="ja-JP" altLang="en-US">
                <a:latin typeface="Arial" panose="020B0604020202020204" pitchFamily="34" charset="0"/>
              </a:rPr>
              <a:t>’</a:t>
            </a:r>
            <a:r>
              <a:rPr lang="en-US" altLang="ja-JP" dirty="0">
                <a:latin typeface="Book Antiqua" panose="02040602050305030304" pitchFamily="18" charset="0"/>
              </a:rPr>
              <a:t>, `ICS</a:t>
            </a:r>
            <a:r>
              <a:rPr lang="ja-JP" altLang="en-US">
                <a:latin typeface="Arial" panose="020B0604020202020204" pitchFamily="34" charset="0"/>
              </a:rPr>
              <a:t>’</a:t>
            </a:r>
            <a:r>
              <a:rPr lang="en-US" altLang="ja-JP" dirty="0">
                <a:latin typeface="Book Antiqua" panose="02040602050305030304" pitchFamily="18" charset="0"/>
              </a:rPr>
              <a:t>, 18);</a:t>
            </a:r>
            <a:endParaRPr lang="en-US" altLang="it-IT" dirty="0">
              <a:latin typeface="Book Antiqua" panose="02040602050305030304" pitchFamily="18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41117D2-454E-0142-81EB-D7EA21153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04606"/>
            <a:ext cx="7362081" cy="82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INSERT</a:t>
            </a:r>
            <a:r>
              <a:rPr lang="en-US" altLang="it-IT" sz="2000" dirty="0">
                <a:latin typeface="Book Antiqua" panose="02040602050305030304" pitchFamily="18" charset="0"/>
              </a:rPr>
              <a:t> </a:t>
            </a:r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INTO</a:t>
            </a:r>
            <a:r>
              <a:rPr lang="en-US" altLang="it-IT" sz="2000" dirty="0">
                <a:latin typeface="Book Antiqua" panose="02040602050305030304" pitchFamily="18" charset="0"/>
              </a:rPr>
              <a:t>  </a:t>
            </a:r>
            <a:r>
              <a:rPr lang="en-US" altLang="it-IT" dirty="0">
                <a:latin typeface="Book Antiqua" panose="02040602050305030304" pitchFamily="18" charset="0"/>
              </a:rPr>
              <a:t>Student (name, id, </a:t>
            </a:r>
            <a:r>
              <a:rPr lang="en-US" altLang="it-IT" dirty="0" err="1">
                <a:latin typeface="Book Antiqua" panose="02040602050305030304" pitchFamily="18" charset="0"/>
              </a:rPr>
              <a:t>tot_cred</a:t>
            </a:r>
            <a:r>
              <a:rPr lang="en-US" altLang="it-IT" dirty="0">
                <a:latin typeface="Book Antiqua" panose="02040602050305030304" pitchFamily="18" charset="0"/>
              </a:rPr>
              <a:t>, </a:t>
            </a:r>
            <a:r>
              <a:rPr lang="en-US" altLang="it-IT" dirty="0" err="1">
                <a:latin typeface="Book Antiqua" panose="02040602050305030304" pitchFamily="18" charset="0"/>
              </a:rPr>
              <a:t>dept_name</a:t>
            </a:r>
            <a:r>
              <a:rPr lang="en-US" altLang="it-IT" dirty="0">
                <a:latin typeface="Book Antiqua" panose="02040602050305030304" pitchFamily="18" charset="0"/>
              </a:rPr>
              <a:t>)</a:t>
            </a:r>
          </a:p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VALUES</a:t>
            </a:r>
            <a:r>
              <a:rPr lang="en-US" altLang="it-IT" dirty="0">
                <a:latin typeface="Book Antiqua" panose="02040602050305030304" pitchFamily="18" charset="0"/>
              </a:rPr>
              <a:t>  (`</a:t>
            </a:r>
            <a:r>
              <a:rPr lang="en-US" altLang="ja-JP" dirty="0">
                <a:latin typeface="Book Antiqua" panose="02040602050305030304" pitchFamily="18" charset="0"/>
              </a:rPr>
              <a:t>Smith</a:t>
            </a:r>
            <a:r>
              <a:rPr lang="ja-JP" altLang="en-US">
                <a:latin typeface="Arial" panose="020B0604020202020204" pitchFamily="34" charset="0"/>
              </a:rPr>
              <a:t>’</a:t>
            </a:r>
            <a:r>
              <a:rPr lang="en-US" altLang="ja-JP" dirty="0">
                <a:latin typeface="Book Antiqua" panose="02040602050305030304" pitchFamily="18" charset="0"/>
              </a:rPr>
              <a:t>, 53688, 18, </a:t>
            </a:r>
            <a:r>
              <a:rPr lang="en-US" altLang="ja-JP" dirty="0">
                <a:latin typeface="Arial" panose="020B0604020202020204" pitchFamily="34" charset="0"/>
              </a:rPr>
              <a:t>`</a:t>
            </a:r>
            <a:r>
              <a:rPr lang="en-US" altLang="ja-JP" dirty="0">
                <a:latin typeface="Book Antiqua" panose="02040602050305030304" pitchFamily="18" charset="0"/>
              </a:rPr>
              <a:t>ICS</a:t>
            </a:r>
            <a:r>
              <a:rPr lang="ja-JP" altLang="en-US">
                <a:latin typeface="Arial" panose="020B0604020202020204" pitchFamily="34" charset="0"/>
              </a:rPr>
              <a:t>’</a:t>
            </a:r>
            <a:r>
              <a:rPr lang="en-US" altLang="ja-JP" dirty="0">
                <a:latin typeface="Book Antiqua" panose="02040602050305030304" pitchFamily="18" charset="0"/>
              </a:rPr>
              <a:t>);</a:t>
            </a:r>
            <a:endParaRPr lang="en-US" altLang="it-IT" dirty="0">
              <a:latin typeface="Book Antiqua" panose="0204060205030503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51C56F-8EDA-4229-BD6A-0229EB28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B70BC5-B262-6264-9A6F-DF2E5FE8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9066400"/>
      </p:ext>
    </p:extLst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F9EDB90-DF72-334F-A96B-E0B797CAD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FB6A73F-D73E-3240-9B6A-3F83B7401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6ACBD1B-DCC9-C346-B98F-0A0984C65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0623C056-03C9-D949-B1C9-E0DF27CC9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8449" y="1428873"/>
            <a:ext cx="7772400" cy="5064002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Can delete all tuples satisfying some condition (e.g., name = Smith):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Deleting all records from a relation 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70525AB0-D68F-E043-A493-D197CDCD1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8887" y="2830118"/>
            <a:ext cx="4129087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DELETE</a:t>
            </a:r>
            <a:r>
              <a:rPr lang="en-US" altLang="it-IT" dirty="0">
                <a:latin typeface="Book Antiqua" panose="02040602050305030304" pitchFamily="18" charset="0"/>
              </a:rPr>
              <a:t>  </a:t>
            </a:r>
          </a:p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FROM</a:t>
            </a:r>
            <a:r>
              <a:rPr lang="en-US" altLang="it-IT" dirty="0">
                <a:latin typeface="Book Antiqua" panose="02040602050305030304" pitchFamily="18" charset="0"/>
              </a:rPr>
              <a:t> student S</a:t>
            </a:r>
          </a:p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WHERE</a:t>
            </a:r>
            <a:r>
              <a:rPr lang="en-US" altLang="it-IT" dirty="0">
                <a:latin typeface="Book Antiqua" panose="02040602050305030304" pitchFamily="18" charset="0"/>
              </a:rPr>
              <a:t> </a:t>
            </a:r>
            <a:r>
              <a:rPr lang="en-US" altLang="it-IT" dirty="0" err="1">
                <a:latin typeface="Book Antiqua" panose="02040602050305030304" pitchFamily="18" charset="0"/>
              </a:rPr>
              <a:t>S.name</a:t>
            </a:r>
            <a:r>
              <a:rPr lang="en-US" altLang="it-IT" dirty="0">
                <a:latin typeface="Book Antiqua" panose="02040602050305030304" pitchFamily="18" charset="0"/>
              </a:rPr>
              <a:t> = </a:t>
            </a:r>
            <a:r>
              <a:rPr lang="en-US" altLang="ja-JP" dirty="0">
                <a:latin typeface="Arial" panose="020B0604020202020204" pitchFamily="34" charset="0"/>
              </a:rPr>
              <a:t>`</a:t>
            </a:r>
            <a:r>
              <a:rPr lang="en-US" altLang="ja-JP" dirty="0">
                <a:latin typeface="Book Antiqua" panose="02040602050305030304" pitchFamily="18" charset="0"/>
              </a:rPr>
              <a:t>Smith</a:t>
            </a:r>
            <a:r>
              <a:rPr lang="ja-JP" altLang="en-US" dirty="0">
                <a:latin typeface="Arial" panose="020B0604020202020204" pitchFamily="34" charset="0"/>
              </a:rPr>
              <a:t>’</a:t>
            </a:r>
            <a:endParaRPr lang="en-US" altLang="it-IT" dirty="0">
              <a:latin typeface="Book Antiqua" panose="02040602050305030304" pitchFamily="18" charset="0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D5F31F0-E360-8B94-7465-5E2C1BD36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844" y="5054827"/>
            <a:ext cx="4129087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DELETE</a:t>
            </a:r>
            <a:r>
              <a:rPr lang="en-US" altLang="it-IT" dirty="0">
                <a:latin typeface="Book Antiqua" panose="02040602050305030304" pitchFamily="18" charset="0"/>
              </a:rPr>
              <a:t>  </a:t>
            </a:r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FROM</a:t>
            </a:r>
            <a:r>
              <a:rPr lang="en-US" altLang="it-IT" dirty="0">
                <a:latin typeface="Book Antiqua" panose="02040602050305030304" pitchFamily="18" charset="0"/>
              </a:rPr>
              <a:t> student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97F926-933D-F29B-EA88-E3D02DDE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4979-2952-6C25-511A-19CC69AA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8631523"/>
      </p:ext>
    </p:extLst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F9EDB90-DF72-334F-A96B-E0B797CAD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FB6A73F-D73E-3240-9B6A-3F83B7401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6ACBD1B-DCC9-C346-B98F-0A0984C65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0623C056-03C9-D949-B1C9-E0DF27CC9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1945" y="1344073"/>
            <a:ext cx="7772400" cy="5064002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Change specific values of the tuples: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Example: change the department name from Math to Mathematics 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70525AB0-D68F-E043-A493-D197CDCD1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635" y="2425161"/>
            <a:ext cx="4129087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UPDATE</a:t>
            </a:r>
            <a:r>
              <a:rPr lang="en-US" altLang="it-IT" dirty="0">
                <a:latin typeface="Book Antiqua" panose="02040602050305030304" pitchFamily="18" charset="0"/>
              </a:rPr>
              <a:t>  </a:t>
            </a:r>
            <a:r>
              <a:rPr lang="en-US" altLang="it-IT" dirty="0" err="1">
                <a:latin typeface="Book Antiqua" panose="02040602050305030304" pitchFamily="18" charset="0"/>
              </a:rPr>
              <a:t>tab_name</a:t>
            </a:r>
            <a:endParaRPr lang="en-US" altLang="it-IT" dirty="0">
              <a:latin typeface="Book Antiqua" panose="02040602050305030304" pitchFamily="18" charset="0"/>
            </a:endParaRPr>
          </a:p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SET </a:t>
            </a:r>
            <a:r>
              <a:rPr lang="en-US" altLang="it-IT" dirty="0">
                <a:latin typeface="Book Antiqua" panose="02040602050305030304" pitchFamily="18" charset="0"/>
              </a:rPr>
              <a:t>Ai = </a:t>
            </a:r>
            <a:r>
              <a:rPr lang="en-US" altLang="ja-JP" dirty="0">
                <a:latin typeface="Arial" panose="020B0604020202020204" pitchFamily="34" charset="0"/>
              </a:rPr>
              <a:t>vi</a:t>
            </a:r>
            <a:endParaRPr lang="en-US" altLang="it-IT" dirty="0">
              <a:latin typeface="Book Antiqua" panose="02040602050305030304" pitchFamily="18" charset="0"/>
            </a:endParaRPr>
          </a:p>
          <a:p>
            <a:r>
              <a:rPr lang="en-US" altLang="it-IT" dirty="0">
                <a:latin typeface="+mn-lt"/>
                <a:ea typeface="+mn-ea"/>
              </a:rPr>
              <a:t>[</a:t>
            </a:r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WHERE</a:t>
            </a:r>
            <a:r>
              <a:rPr lang="en-US" altLang="it-IT" dirty="0">
                <a:latin typeface="Book Antiqua" panose="02040602050305030304" pitchFamily="18" charset="0"/>
              </a:rPr>
              <a:t> </a:t>
            </a:r>
            <a:r>
              <a:rPr lang="en-US" altLang="it-IT" dirty="0" err="1">
                <a:latin typeface="Book Antiqua" panose="02040602050305030304" pitchFamily="18" charset="0"/>
              </a:rPr>
              <a:t>Aj</a:t>
            </a:r>
            <a:r>
              <a:rPr lang="en-US" altLang="it-IT" dirty="0">
                <a:latin typeface="Book Antiqua" panose="02040602050305030304" pitchFamily="18" charset="0"/>
              </a:rPr>
              <a:t> = </a:t>
            </a:r>
            <a:r>
              <a:rPr lang="en-US" altLang="ja-JP" dirty="0" err="1">
                <a:latin typeface="Arial" panose="020B0604020202020204" pitchFamily="34" charset="0"/>
              </a:rPr>
              <a:t>vj</a:t>
            </a:r>
            <a:r>
              <a:rPr lang="en-US" altLang="ja-JP" dirty="0">
                <a:latin typeface="Arial" panose="020B0604020202020204" pitchFamily="34" charset="0"/>
              </a:rPr>
              <a:t>  ]</a:t>
            </a:r>
            <a:endParaRPr lang="en-US" altLang="it-IT" dirty="0">
              <a:latin typeface="Book Antiqua" panose="02040602050305030304" pitchFamily="18" charset="0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CD5F31F0-E360-8B94-7465-5E2C1BD36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603" y="4785950"/>
            <a:ext cx="4903197" cy="119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UPDATE</a:t>
            </a:r>
            <a:r>
              <a:rPr lang="en-US" altLang="it-IT" dirty="0">
                <a:latin typeface="Book Antiqua" panose="02040602050305030304" pitchFamily="18" charset="0"/>
              </a:rPr>
              <a:t>  department </a:t>
            </a:r>
          </a:p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SET </a:t>
            </a:r>
            <a:r>
              <a:rPr lang="en-US" altLang="it-IT" dirty="0" err="1">
                <a:latin typeface="Book Antiqua" panose="02040602050305030304" pitchFamily="18" charset="0"/>
              </a:rPr>
              <a:t>dept_name</a:t>
            </a:r>
            <a:r>
              <a:rPr lang="en-US" altLang="it-IT" dirty="0">
                <a:latin typeface="Book Antiqua" panose="02040602050305030304" pitchFamily="18" charset="0"/>
              </a:rPr>
              <a:t> = </a:t>
            </a:r>
            <a:r>
              <a:rPr lang="en-US" altLang="it-IT" dirty="0">
                <a:latin typeface="Arial" panose="020B0604020202020204" pitchFamily="34" charset="0"/>
              </a:rPr>
              <a:t>`</a:t>
            </a:r>
            <a:r>
              <a:rPr lang="en-US" altLang="ja-JP" dirty="0">
                <a:latin typeface="Arial" panose="020B0604020202020204" pitchFamily="34" charset="0"/>
              </a:rPr>
              <a:t>Mathematics’</a:t>
            </a:r>
            <a:endParaRPr lang="en-US" altLang="it-IT" dirty="0">
              <a:latin typeface="Book Antiqua" panose="02040602050305030304" pitchFamily="18" charset="0"/>
            </a:endParaRPr>
          </a:p>
          <a:p>
            <a:r>
              <a:rPr lang="en-US" altLang="it-IT" dirty="0">
                <a:solidFill>
                  <a:srgbClr val="006600"/>
                </a:solidFill>
                <a:latin typeface="+mn-lt"/>
                <a:ea typeface="+mn-ea"/>
              </a:rPr>
              <a:t>WHERE</a:t>
            </a:r>
            <a:r>
              <a:rPr lang="en-US" altLang="it-IT" dirty="0">
                <a:latin typeface="Book Antiqua" panose="02040602050305030304" pitchFamily="18" charset="0"/>
              </a:rPr>
              <a:t> </a:t>
            </a:r>
            <a:r>
              <a:rPr lang="en-US" altLang="it-IT" dirty="0" err="1">
                <a:latin typeface="Book Antiqua" panose="02040602050305030304" pitchFamily="18" charset="0"/>
              </a:rPr>
              <a:t>dept_name</a:t>
            </a:r>
            <a:r>
              <a:rPr lang="en-US" altLang="it-IT" dirty="0">
                <a:latin typeface="Book Antiqua" panose="02040602050305030304" pitchFamily="18" charset="0"/>
              </a:rPr>
              <a:t> = `Math’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0C229-07A8-B450-E764-AD9F1121B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CA7E-892B-357E-CA64-86F330C3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1253355"/>
      </p:ext>
    </p:extLst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rap gifts sustainably | Official HÖGL Webshop">
            <a:extLst>
              <a:ext uri="{FF2B5EF4-FFF2-40B4-BE49-F238E27FC236}">
                <a16:creationId xmlns:a16="http://schemas.microsoft.com/office/drawing/2014/main" id="{22BD9D60-C944-FD4F-9D3A-B57BB3D54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 bwMode="auto">
          <a:xfrm>
            <a:off x="-1" y="10"/>
            <a:ext cx="12192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/>
              <a:t>Wrap-Up </a:t>
            </a:r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525516" y="3417573"/>
            <a:ext cx="4593021" cy="26198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Summerize what you learned today in 2-minutes</a:t>
            </a:r>
            <a:endParaRPr lang="en-US" altLang="en-US" sz="18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A941F7-9D68-E760-C8B8-0C5F6EFE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48F72-0D5E-70A3-CF59-84E3C11B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8169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58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D244D-062D-8A77-8914-50A53575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71778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|11.2|14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473D4E-B70B-4136-B747-E79AAA180FB8}">
  <ds:schemaRefs>
    <ds:schemaRef ds:uri="http://schemas.microsoft.com/office/infopath/2007/PartnerControls"/>
    <ds:schemaRef ds:uri="5032e021-b0cf-43e6-828a-5b682824f23c"/>
    <ds:schemaRef ds:uri="http://schemas.microsoft.com/office/2006/metadata/properties"/>
    <ds:schemaRef ds:uri="http://purl.org/dc/elements/1.1/"/>
    <ds:schemaRef ds:uri="http://schemas.microsoft.com/office/2006/documentManagement/types"/>
    <ds:schemaRef ds:uri="ef284efa-1316-4307-b1a8-b157427e4237"/>
    <ds:schemaRef ds:uri="http://purl.org/dc/dcmitype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40851</TotalTime>
  <Words>2820</Words>
  <Application>Microsoft Macintosh PowerPoint</Application>
  <PresentationFormat>Widescreen</PresentationFormat>
  <Paragraphs>649</Paragraphs>
  <Slides>58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ＭＳ Ｐゴシック</vt:lpstr>
      <vt:lpstr>Arial</vt:lpstr>
      <vt:lpstr>Book Antiqua</vt:lpstr>
      <vt:lpstr>Calibri</vt:lpstr>
      <vt:lpstr>Calibri Light</vt:lpstr>
      <vt:lpstr>Cambria Math</vt:lpstr>
      <vt:lpstr>Monotype Sorts</vt:lpstr>
      <vt:lpstr>Times New Roman</vt:lpstr>
      <vt:lpstr>Verdana</vt:lpstr>
      <vt:lpstr>Wingdings</vt:lpstr>
      <vt:lpstr>Office Theme</vt:lpstr>
      <vt:lpstr>Acrobat Document</vt:lpstr>
      <vt:lpstr>PowerPoint Presentation</vt:lpstr>
      <vt:lpstr>Reading Material for Today</vt:lpstr>
      <vt:lpstr>PowerPoint Presentation</vt:lpstr>
      <vt:lpstr>PowerPoint Presentation</vt:lpstr>
      <vt:lpstr>We Collect Huge Amount of Data</vt:lpstr>
      <vt:lpstr>Extracting Value from the Data</vt:lpstr>
      <vt:lpstr>PowerPoint Presentation</vt:lpstr>
      <vt:lpstr>OSEMN Framework</vt:lpstr>
      <vt:lpstr>CRISP-DM</vt:lpstr>
      <vt:lpstr>KDD Process</vt:lpstr>
      <vt:lpstr>What is Data Wrangling?</vt:lpstr>
      <vt:lpstr>Data Wrangling </vt:lpstr>
      <vt:lpstr>Data Wrangling </vt:lpstr>
      <vt:lpstr>Data Wrangling </vt:lpstr>
      <vt:lpstr>We Collect Huge Amount of Data</vt:lpstr>
      <vt:lpstr>PowerPoint Presentation</vt:lpstr>
      <vt:lpstr>Metadata </vt:lpstr>
      <vt:lpstr>PowerPoint Presentation</vt:lpstr>
      <vt:lpstr>Data Models</vt:lpstr>
      <vt:lpstr>Data Models</vt:lpstr>
      <vt:lpstr>Data Models</vt:lpstr>
      <vt:lpstr>PowerPoint Presentation</vt:lpstr>
      <vt:lpstr>The Relational Model</vt:lpstr>
      <vt:lpstr>The Relational Model</vt:lpstr>
      <vt:lpstr>Relations are Unordered</vt:lpstr>
      <vt:lpstr>The Relational Model</vt:lpstr>
      <vt:lpstr>Keys</vt:lpstr>
      <vt:lpstr>Attribute Types</vt:lpstr>
      <vt:lpstr>Relation Schema and Instance</vt:lpstr>
      <vt:lpstr>PowerPoint Presentation</vt:lpstr>
      <vt:lpstr>Constraints</vt:lpstr>
      <vt:lpstr>PowerPoint Presentation</vt:lpstr>
      <vt:lpstr>Operations</vt:lpstr>
      <vt:lpstr>PowerPoint Presentation</vt:lpstr>
      <vt:lpstr>File system as data storage</vt:lpstr>
      <vt:lpstr>File system as data storage (Cont.)</vt:lpstr>
      <vt:lpstr>PowerPoint Presentation</vt:lpstr>
      <vt:lpstr>Databases </vt:lpstr>
      <vt:lpstr>Databases – More  </vt:lpstr>
      <vt:lpstr>Database – Example  </vt:lpstr>
      <vt:lpstr>Database levels of abstraction</vt:lpstr>
      <vt:lpstr>Database levels of abstraction</vt:lpstr>
      <vt:lpstr>PowerPoint Presentation</vt:lpstr>
      <vt:lpstr>Data Definition Language (DDL)</vt:lpstr>
      <vt:lpstr>Data Manipulation Language (DML)</vt:lpstr>
      <vt:lpstr>PowerPoint Presentation</vt:lpstr>
      <vt:lpstr>PowerPoint Presentation</vt:lpstr>
      <vt:lpstr>Structured Query Language (SQL)</vt:lpstr>
      <vt:lpstr>Structured Query Language (SQL)</vt:lpstr>
      <vt:lpstr>PowerPoint Presentation</vt:lpstr>
      <vt:lpstr>Creating Relations in SQL</vt:lpstr>
      <vt:lpstr>Creating Relations in SQL – Examples </vt:lpstr>
      <vt:lpstr>Deleting and Altering Relations</vt:lpstr>
      <vt:lpstr>Insertion</vt:lpstr>
      <vt:lpstr>Deletion</vt:lpstr>
      <vt:lpstr>Update</vt:lpstr>
      <vt:lpstr>Wrap-Up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106</cp:revision>
  <cp:lastPrinted>2025-09-05T06:49:45Z</cp:lastPrinted>
  <dcterms:created xsi:type="dcterms:W3CDTF">2020-02-17T15:53:26Z</dcterms:created>
  <dcterms:modified xsi:type="dcterms:W3CDTF">2026-04-20T07:56:55Z</dcterms:modified>
</cp:coreProperties>
</file>