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256" r:id="rId5"/>
    <p:sldId id="886" r:id="rId6"/>
    <p:sldId id="383" r:id="rId7"/>
    <p:sldId id="384" r:id="rId8"/>
    <p:sldId id="394" r:id="rId9"/>
    <p:sldId id="345" r:id="rId10"/>
    <p:sldId id="346" r:id="rId11"/>
    <p:sldId id="347" r:id="rId12"/>
    <p:sldId id="348" r:id="rId13"/>
    <p:sldId id="349" r:id="rId14"/>
    <p:sldId id="385" r:id="rId15"/>
    <p:sldId id="395" r:id="rId16"/>
    <p:sldId id="396" r:id="rId17"/>
    <p:sldId id="397" r:id="rId18"/>
    <p:sldId id="398" r:id="rId19"/>
    <p:sldId id="399" r:id="rId20"/>
    <p:sldId id="400" r:id="rId21"/>
    <p:sldId id="401" r:id="rId22"/>
    <p:sldId id="402" r:id="rId23"/>
    <p:sldId id="887" r:id="rId24"/>
    <p:sldId id="888" r:id="rId25"/>
    <p:sldId id="889" r:id="rId26"/>
    <p:sldId id="403" r:id="rId27"/>
    <p:sldId id="404" r:id="rId28"/>
    <p:sldId id="405" r:id="rId29"/>
    <p:sldId id="363" r:id="rId30"/>
    <p:sldId id="910" r:id="rId3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3" autoAdjust="0"/>
    <p:restoredTop sz="95692"/>
  </p:normalViewPr>
  <p:slideViewPr>
    <p:cSldViewPr snapToGrid="0">
      <p:cViewPr varScale="1">
        <p:scale>
          <a:sx n="87" d="100"/>
          <a:sy n="87" d="100"/>
        </p:scale>
        <p:origin x="208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2" d="100"/>
        <a:sy n="112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72E7-1AC8-4769-8510-C8FBA4EE0D31}" type="datetimeFigureOut">
              <a:rPr lang="nl-NL" smtClean="0"/>
              <a:t>04-09-2025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F6A5-1236-40E7-B937-7650038E63C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01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46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03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85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69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232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5B486-6A9F-DE47-872C-B95ED20BB4BE}" type="slidenum">
              <a:rPr lang="x-none" smtClean="0"/>
              <a:t>27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4935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3C5D-99D5-4165-B1F8-06B3702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9A6-9BE8-4C30-961C-4CAF7195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5B115A1C-F137-473C-B049-8E2E1D438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0FE4EE32-EE92-49A9-B978-9AF46FFCEE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21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5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75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1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8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99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2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97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8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321C-7E99-47F2-9215-9A27ED0A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F472-351E-4F7F-B8E9-339BDFCA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53A4-AF1B-4E4A-ACF4-770CE4B00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71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576626" y="4810670"/>
            <a:ext cx="5038747" cy="5617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Hakim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Qahtan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743201" y="5842400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Computing Sciences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Dependencies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B6E23FF-4C97-F4C2-2690-751F6E8BE8E4}"/>
              </a:ext>
            </a:extLst>
          </p:cNvPr>
          <p:cNvSpPr txBox="1">
            <a:spLocks noChangeArrowheads="1"/>
          </p:cNvSpPr>
          <p:nvPr/>
        </p:nvSpPr>
        <p:spPr>
          <a:xfrm>
            <a:off x="640081" y="2226839"/>
            <a:ext cx="6033726" cy="19858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6600" b="1"/>
              <a:t>Reading Material for Today</a:t>
            </a:r>
            <a:endParaRPr lang="en-US" sz="6600" b="1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4641220-62CC-578A-230A-741119E35D13}"/>
              </a:ext>
            </a:extLst>
          </p:cNvPr>
          <p:cNvSpPr txBox="1">
            <a:spLocks noChangeArrowheads="1"/>
          </p:cNvSpPr>
          <p:nvPr/>
        </p:nvSpPr>
        <p:spPr>
          <a:xfrm>
            <a:off x="640080" y="4631161"/>
            <a:ext cx="6692827" cy="1569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400" dirty="0"/>
              <a:t>Database System Concepts (7</a:t>
            </a:r>
            <a:r>
              <a:rPr lang="en-US" sz="2400" baseline="30000" dirty="0"/>
              <a:t>th</a:t>
            </a:r>
            <a:r>
              <a:rPr lang="en-US" sz="2400" dirty="0"/>
              <a:t> Edition)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400" dirty="0"/>
              <a:t>	CH 7.1 - 7.4.1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4E9B5D6-4E68-6472-A811-FBDB1F650E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04625"/>
              </p:ext>
            </p:extLst>
          </p:nvPr>
        </p:nvGraphicFramePr>
        <p:xfrm>
          <a:off x="6934201" y="115679"/>
          <a:ext cx="4997404" cy="6183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057764" imgH="6257805" progId="Acrobat.Document.DC">
                  <p:embed/>
                </p:oleObj>
              </mc:Choice>
              <mc:Fallback>
                <p:oleObj name="Acrobat Document" r:id="rId2" imgW="5057764" imgH="6257805" progId="Acrobat.Document.DC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5B37DD2-4E5A-DBAC-BFE3-9F531F3BD6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34201" y="115679"/>
                        <a:ext cx="4997404" cy="6183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68B0C-C122-61F6-3689-DB14165B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13157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Designing Good Databases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BE32A-ED40-F6E7-D6CE-2EE6CC0B4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4827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Design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4007"/>
            <a:ext cx="10515600" cy="4662956"/>
          </a:xfrm>
        </p:spPr>
        <p:txBody>
          <a:bodyPr>
            <a:normAutofit/>
          </a:bodyPr>
          <a:lstStyle/>
          <a:p>
            <a:r>
              <a:rPr lang="en-US" dirty="0"/>
              <a:t>How do we know when a design is good? </a:t>
            </a:r>
          </a:p>
          <a:p>
            <a:r>
              <a:rPr lang="en-US" dirty="0"/>
              <a:t>A DB schema seems to be good if it helps us to avoid redundancy and inconsistency, but are there more quality issues?</a:t>
            </a:r>
          </a:p>
          <a:p>
            <a:r>
              <a:rPr lang="en-US" dirty="0"/>
              <a:t>This question can be answered using the normalization theory</a:t>
            </a:r>
          </a:p>
          <a:p>
            <a:r>
              <a:rPr lang="en-US" dirty="0"/>
              <a:t>Basic rules for good DB design</a:t>
            </a:r>
          </a:p>
          <a:p>
            <a:pPr lvl="1"/>
            <a:r>
              <a:rPr lang="en-US" dirty="0"/>
              <a:t>1 table for each entity</a:t>
            </a:r>
          </a:p>
          <a:p>
            <a:pPr lvl="1"/>
            <a:r>
              <a:rPr lang="en-US" dirty="0"/>
              <a:t>1 table for each relationship</a:t>
            </a:r>
          </a:p>
          <a:p>
            <a:pPr lvl="1"/>
            <a:r>
              <a:rPr lang="en-US" dirty="0"/>
              <a:t>Each cell contains a single value </a:t>
            </a:r>
          </a:p>
          <a:p>
            <a:pPr lvl="1"/>
            <a:r>
              <a:rPr lang="en-US" dirty="0"/>
              <a:t>If you have BIG relations, decompose them</a:t>
            </a:r>
          </a:p>
          <a:p>
            <a:pPr lvl="2"/>
            <a:r>
              <a:rPr lang="en-US" dirty="0"/>
              <a:t>This could result in a serious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DDC04-D868-7484-BB8D-94857256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6641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Decomposing Big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66295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Definition:</a:t>
                </a:r>
              </a:p>
              <a:p>
                <a:pPr marL="457200" lvl="1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be a relation schema (with constraints).</a:t>
                </a:r>
              </a:p>
              <a:p>
                <a:pPr marL="457200" lvl="1" indent="0">
                  <a:buNone/>
                </a:pPr>
                <a:r>
                  <a:rPr lang="en-US" dirty="0"/>
                  <a:t>A decomposition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a set of relation schemas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such that</a:t>
                </a:r>
              </a:p>
              <a:p>
                <a:pPr marL="971550" lvl="1" indent="-514350">
                  <a:buFont typeface="+mj-lt"/>
                  <a:buAutoNum type="romanLcPeriod"/>
                </a:pPr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consists of attributes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</a:t>
                </a:r>
              </a:p>
              <a:p>
                <a:pPr marL="971550" lvl="1" indent="-514350">
                  <a:buFont typeface="+mj-lt"/>
                  <a:buAutoNum type="romanLcPeriod"/>
                </a:pPr>
                <a:r>
                  <a:rPr lang="en-US" dirty="0"/>
                  <a:t>each attribute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occurs in at least 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662956"/>
              </a:xfrm>
              <a:blipFill>
                <a:blip r:embed="rId2"/>
                <a:stretch>
                  <a:fillRect l="-1086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A0FD0-607D-DF07-AB2D-8B3765950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7411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649288"/>
              </p:ext>
            </p:extLst>
          </p:nvPr>
        </p:nvGraphicFramePr>
        <p:xfrm>
          <a:off x="3649540" y="2261746"/>
          <a:ext cx="5265860" cy="1905000"/>
        </p:xfrm>
        <a:graphic>
          <a:graphicData uri="http://schemas.openxmlformats.org/drawingml/2006/table">
            <a:tbl>
              <a:tblPr/>
              <a:tblGrid>
                <a:gridCol w="1053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12700" marR="12700" marT="12700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 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color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Nick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Mary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98743C7F-BC14-564E-8148-1D5F44A71F6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CE89C9-3F72-65C3-686E-83FF3B43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77365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625395"/>
              </p:ext>
            </p:extLst>
          </p:nvPr>
        </p:nvGraphicFramePr>
        <p:xfrm>
          <a:off x="4032250" y="3828953"/>
          <a:ext cx="4127500" cy="190500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 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color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Nick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Mary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4032250" y="6084137"/>
            <a:ext cx="36495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x-none" sz="28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Which one do you like?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448944-4FFC-BF4B-B021-361C2A1A33D9}"/>
              </a:ext>
            </a:extLst>
          </p:cNvPr>
          <p:cNvSpPr/>
          <p:nvPr/>
        </p:nvSpPr>
        <p:spPr>
          <a:xfrm>
            <a:off x="2408246" y="512253"/>
            <a:ext cx="73755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Consider the two representations of the data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608B30-F6B8-5D4F-B474-18A4D492CFE3}"/>
              </a:ext>
            </a:extLst>
          </p:cNvPr>
          <p:cNvSpPr/>
          <p:nvPr/>
        </p:nvSpPr>
        <p:spPr>
          <a:xfrm>
            <a:off x="992447" y="1749309"/>
            <a:ext cx="2210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Option 1: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1A39D0-9515-D240-BB0D-AEFD3338A8D6}"/>
              </a:ext>
            </a:extLst>
          </p:cNvPr>
          <p:cNvSpPr/>
          <p:nvPr/>
        </p:nvSpPr>
        <p:spPr>
          <a:xfrm>
            <a:off x="1099877" y="3982994"/>
            <a:ext cx="221027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Option 2:</a:t>
            </a:r>
            <a:endParaRPr 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408CAF-B509-BF59-BF4D-F4E1DA5F5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277444"/>
              </p:ext>
            </p:extLst>
          </p:nvPr>
        </p:nvGraphicFramePr>
        <p:xfrm>
          <a:off x="3030177" y="1488296"/>
          <a:ext cx="2754612" cy="1905000"/>
        </p:xfrm>
        <a:graphic>
          <a:graphicData uri="http://schemas.openxmlformats.org/drawingml/2006/table">
            <a:tbl>
              <a:tblPr/>
              <a:tblGrid>
                <a:gridCol w="918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Person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 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Nick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Mary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58A86C-9AE0-1961-67BA-6DDDA6CA7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381527"/>
              </p:ext>
            </p:extLst>
          </p:nvPr>
        </p:nvGraphicFramePr>
        <p:xfrm>
          <a:off x="7307254" y="1637529"/>
          <a:ext cx="2476500" cy="127000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Car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color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51D63-7AE5-876F-94BF-4E4558A2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187755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75235" y="192887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PERSON JOIN 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9126" y="4308918"/>
            <a:ext cx="288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Projection on id, name, </a:t>
            </a:r>
            <a:r>
              <a:rPr lang="en-US" dirty="0" err="1"/>
              <a:t>carId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105072" y="4549480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Projection on </a:t>
            </a:r>
            <a:r>
              <a:rPr lang="en-US" dirty="0" err="1"/>
              <a:t>carId</a:t>
            </a:r>
            <a:r>
              <a:rPr lang="en-US" dirty="0"/>
              <a:t>, brand, color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0AB4F0-62D2-2B49-868D-6870317D5DAB}"/>
              </a:ext>
            </a:extLst>
          </p:cNvPr>
          <p:cNvSpPr/>
          <p:nvPr/>
        </p:nvSpPr>
        <p:spPr>
          <a:xfrm>
            <a:off x="205118" y="2692695"/>
            <a:ext cx="339252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Join followed by decompose</a:t>
            </a:r>
            <a:endParaRPr 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C7F486-BDCA-A16E-EFD4-F096F3F83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595074"/>
              </p:ext>
            </p:extLst>
          </p:nvPr>
        </p:nvGraphicFramePr>
        <p:xfrm>
          <a:off x="2081277" y="126162"/>
          <a:ext cx="2754612" cy="1905000"/>
        </p:xfrm>
        <a:graphic>
          <a:graphicData uri="http://schemas.openxmlformats.org/drawingml/2006/table">
            <a:tbl>
              <a:tblPr/>
              <a:tblGrid>
                <a:gridCol w="918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Person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 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Nick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Mary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70E2D6-4131-9840-D83C-9726E3D2D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769336"/>
              </p:ext>
            </p:extLst>
          </p:nvPr>
        </p:nvGraphicFramePr>
        <p:xfrm>
          <a:off x="7356112" y="443662"/>
          <a:ext cx="2476500" cy="127000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Car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color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828FCC8-68E9-BB8E-D254-45B71743C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396949"/>
              </p:ext>
            </p:extLst>
          </p:nvPr>
        </p:nvGraphicFramePr>
        <p:xfrm>
          <a:off x="3381023" y="2182200"/>
          <a:ext cx="5265860" cy="1905000"/>
        </p:xfrm>
        <a:graphic>
          <a:graphicData uri="http://schemas.openxmlformats.org/drawingml/2006/table">
            <a:tbl>
              <a:tblPr/>
              <a:tblGrid>
                <a:gridCol w="1053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12700" marR="12700" marT="12700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 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color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Nick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Mary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9D1AFB5-2709-45EC-773C-5E9E8CEA0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901599"/>
              </p:ext>
            </p:extLst>
          </p:nvPr>
        </p:nvGraphicFramePr>
        <p:xfrm>
          <a:off x="7472389" y="4916802"/>
          <a:ext cx="2476500" cy="127000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Car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color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F0E605A-087F-EFA6-D707-9C0C6070B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870190"/>
              </p:ext>
            </p:extLst>
          </p:nvPr>
        </p:nvGraphicFramePr>
        <p:xfrm>
          <a:off x="1965000" y="4678250"/>
          <a:ext cx="2754612" cy="1905000"/>
        </p:xfrm>
        <a:graphic>
          <a:graphicData uri="http://schemas.openxmlformats.org/drawingml/2006/table">
            <a:tbl>
              <a:tblPr/>
              <a:tblGrid>
                <a:gridCol w="918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Person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 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Nick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Mary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A418F-BDC8-C9D4-4615-C2242EDA1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551691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553624"/>
              </p:ext>
            </p:extLst>
          </p:nvPr>
        </p:nvGraphicFramePr>
        <p:xfrm>
          <a:off x="2339126" y="2517734"/>
          <a:ext cx="2754612" cy="1905000"/>
        </p:xfrm>
        <a:graphic>
          <a:graphicData uri="http://schemas.openxmlformats.org/drawingml/2006/table">
            <a:tbl>
              <a:tblPr/>
              <a:tblGrid>
                <a:gridCol w="918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Person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 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Nick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Mary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876811"/>
              </p:ext>
            </p:extLst>
          </p:nvPr>
        </p:nvGraphicFramePr>
        <p:xfrm>
          <a:off x="7105071" y="2758296"/>
          <a:ext cx="2476500" cy="127000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Car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color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339126" y="2148402"/>
            <a:ext cx="288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Projection on id, name, </a:t>
            </a:r>
            <a:r>
              <a:rPr lang="en-US" dirty="0" err="1"/>
              <a:t>carId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105072" y="2388964"/>
            <a:ext cx="3211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Projection on </a:t>
            </a:r>
            <a:r>
              <a:rPr lang="en-US" dirty="0" err="1"/>
              <a:t>carId</a:t>
            </a:r>
            <a:r>
              <a:rPr lang="en-US" dirty="0"/>
              <a:t>, brand, color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46514"/>
              </p:ext>
            </p:extLst>
          </p:nvPr>
        </p:nvGraphicFramePr>
        <p:xfrm>
          <a:off x="4176278" y="4776749"/>
          <a:ext cx="4127500" cy="190500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 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color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Nick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Mary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227635" y="442948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PERSON JOIN CAR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BA0A6E-51F0-074F-8268-AB63808FEBC8}"/>
              </a:ext>
            </a:extLst>
          </p:cNvPr>
          <p:cNvSpPr/>
          <p:nvPr/>
        </p:nvSpPr>
        <p:spPr>
          <a:xfrm>
            <a:off x="389498" y="532576"/>
            <a:ext cx="339252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Decompose followed by join</a:t>
            </a:r>
            <a:endParaRPr 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BCCF50-62CF-B83E-A85C-E48F7BE71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207645"/>
              </p:ext>
            </p:extLst>
          </p:nvPr>
        </p:nvGraphicFramePr>
        <p:xfrm>
          <a:off x="4315711" y="197919"/>
          <a:ext cx="5265860" cy="1905000"/>
        </p:xfrm>
        <a:graphic>
          <a:graphicData uri="http://schemas.openxmlformats.org/drawingml/2006/table">
            <a:tbl>
              <a:tblPr/>
              <a:tblGrid>
                <a:gridCol w="1053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12700" marR="12700" marT="12700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 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color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Nick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Mary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ABDDA7-AF7D-043A-CD02-1E7CF742E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521237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245477"/>
              </p:ext>
            </p:extLst>
          </p:nvPr>
        </p:nvGraphicFramePr>
        <p:xfrm>
          <a:off x="500076" y="2226055"/>
          <a:ext cx="3550448" cy="1905000"/>
        </p:xfrm>
        <a:graphic>
          <a:graphicData uri="http://schemas.openxmlformats.org/drawingml/2006/table">
            <a:tbl>
              <a:tblPr/>
              <a:tblGrid>
                <a:gridCol w="887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7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Person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 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Nick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Mary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65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324324"/>
              </p:ext>
            </p:extLst>
          </p:nvPr>
        </p:nvGraphicFramePr>
        <p:xfrm>
          <a:off x="9663176" y="2292675"/>
          <a:ext cx="1651000" cy="127000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Car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color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44165" y="1994037"/>
            <a:ext cx="3550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Projection on id, name, </a:t>
            </a:r>
            <a:r>
              <a:rPr lang="en-US" dirty="0" err="1"/>
              <a:t>carId</a:t>
            </a:r>
            <a:r>
              <a:rPr lang="en-US" dirty="0"/>
              <a:t>, 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7946" y="2004761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Projection on brand, color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0477" y="3562675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PERSON JOIN CAR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605066"/>
              </p:ext>
            </p:extLst>
          </p:nvPr>
        </p:nvGraphicFramePr>
        <p:xfrm>
          <a:off x="4740485" y="3881009"/>
          <a:ext cx="4127500" cy="230886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54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 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color</a:t>
                      </a:r>
                    </a:p>
                  </a:txBody>
                  <a:tcPr marL="12700" marR="12700" marT="12700" marB="0" anchor="b">
                    <a:lnL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4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4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Nick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4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Mary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4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4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4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Nick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4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16D9BDE-7372-DE43-AAB9-DB9405EA924D}"/>
              </a:ext>
            </a:extLst>
          </p:cNvPr>
          <p:cNvSpPr txBox="1"/>
          <p:nvPr/>
        </p:nvSpPr>
        <p:spPr>
          <a:xfrm>
            <a:off x="9125305" y="3779510"/>
            <a:ext cx="1849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There is clearly </a:t>
            </a:r>
          </a:p>
          <a:p>
            <a:r>
              <a:rPr lang="en-US" b="1" dirty="0">
                <a:solidFill>
                  <a:srgbClr val="FF0000"/>
                </a:solidFill>
              </a:rPr>
              <a:t>a problem here !!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F2A01F-FF36-2047-AFFA-677202A6D6E9}"/>
              </a:ext>
            </a:extLst>
          </p:cNvPr>
          <p:cNvSpPr/>
          <p:nvPr/>
        </p:nvSpPr>
        <p:spPr>
          <a:xfrm>
            <a:off x="9221855" y="4968092"/>
            <a:ext cx="25336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Records in red are called </a:t>
            </a:r>
          </a:p>
          <a:p>
            <a:r>
              <a:rPr lang="en-US" dirty="0">
                <a:solidFill>
                  <a:srgbClr val="C00000"/>
                </a:solidFill>
              </a:rPr>
              <a:t>spurious tuples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0A57AD-2744-954B-96E5-642DF98209F9}"/>
              </a:ext>
            </a:extLst>
          </p:cNvPr>
          <p:cNvSpPr/>
          <p:nvPr/>
        </p:nvSpPr>
        <p:spPr>
          <a:xfrm>
            <a:off x="389498" y="532576"/>
            <a:ext cx="339252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Improper decompose followed by join</a:t>
            </a:r>
            <a:endParaRPr lang="en-US" sz="2800" dirty="0">
              <a:solidFill>
                <a:srgbClr val="C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D217C8-97F7-BB0B-A669-6F412D639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960613"/>
              </p:ext>
            </p:extLst>
          </p:nvPr>
        </p:nvGraphicFramePr>
        <p:xfrm>
          <a:off x="4315711" y="197919"/>
          <a:ext cx="5265860" cy="1905000"/>
        </p:xfrm>
        <a:graphic>
          <a:graphicData uri="http://schemas.openxmlformats.org/drawingml/2006/table">
            <a:tbl>
              <a:tblPr/>
              <a:tblGrid>
                <a:gridCol w="1053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31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</a:t>
                      </a: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id</a:t>
                      </a:r>
                    </a:p>
                  </a:txBody>
                  <a:tcPr marL="12700" marR="12700" marT="12700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name 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carId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color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black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Nick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Mary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null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</a:p>
                  </a:txBody>
                  <a:tcPr marL="12700" marR="12700" marT="1270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John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VW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Red</a:t>
                      </a:r>
                    </a:p>
                  </a:txBody>
                  <a:tcPr marL="12700" marR="12700" marT="1270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A61FE-BF0A-1F26-E4BA-C67410E00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795449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solution for lossy decomposition is to decompose big tables to Normal Forms (lossless decomposition)</a:t>
                </a:r>
              </a:p>
              <a:p>
                <a:r>
                  <a:rPr lang="en-US" b="1" i="1" dirty="0"/>
                  <a:t>Definition</a:t>
                </a:r>
                <a:r>
                  <a:rPr lang="en-US" dirty="0"/>
                  <a:t>:</a:t>
                </a:r>
              </a:p>
              <a:p>
                <a:pPr marL="536575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 relation schema (with constraints). </a:t>
                </a:r>
              </a:p>
              <a:p>
                <a:pPr marL="536575" indent="0">
                  <a:buNone/>
                </a:pPr>
                <a:r>
                  <a:rPr lang="en-US" dirty="0"/>
                  <a:t>A decomposition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called lossless </a:t>
                </a:r>
                <a:r>
                  <a:rPr lang="en-US" i="1" u="sng" dirty="0" err="1"/>
                  <a:t>iff</a:t>
                </a:r>
                <a:r>
                  <a:rPr lang="en-US" i="1" u="sng" dirty="0"/>
                  <a:t>.</a:t>
                </a:r>
                <a:r>
                  <a:rPr lang="en-US" dirty="0"/>
                  <a:t> for each valid relation (instance)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536575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sub>
                    </m:sSub>
                    <m:r>
                      <a:rPr lang="en-GB" i="1" smtClean="0">
                        <a:latin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⋈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CE0C6-0D5A-7EF4-91CA-833C0A02C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9474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Dependence (FD)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79623"/>
                <a:ext cx="10515600" cy="511325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Functional dependence (FD): the values of a set of attributes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 determine the values of another set of attributes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Denoted by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/>
                  <a:t>        (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 determines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/>
                  <a:t>) </a:t>
                </a:r>
              </a:p>
              <a:p>
                <a:pPr lvl="1"/>
                <a:r>
                  <a:rPr lang="en-US" altLang="zh-TW" dirty="0"/>
                  <a:t>If two records has the same set of values for the attributes in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 the they should have the same set of values for the attributes in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In the instructor relation, </a:t>
                </a:r>
                <a:r>
                  <a:rPr lang="en-US" altLang="zh-TW" dirty="0" err="1"/>
                  <a:t>dept_name</a:t>
                </a:r>
                <a:r>
                  <a:rPr lang="en-US" altLang="zh-TW" dirty="0"/>
                  <a:t> is functionally dependent on name (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𝑑𝑒𝑝𝑡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𝑛𝑎𝑚𝑒</m:t>
                    </m:r>
                  </m:oMath>
                </a14:m>
                <a:r>
                  <a:rPr lang="en-US" altLang="zh-TW" dirty="0"/>
                  <a:t>)</a:t>
                </a:r>
              </a:p>
              <a:p>
                <a:pPr lvl="1"/>
                <a:r>
                  <a:rPr lang="en-US" altLang="zh-TW" dirty="0"/>
                  <a:t>Given the instructor name, I can find </a:t>
                </a:r>
                <a:r>
                  <a:rPr lang="en-US" altLang="zh-TW" i="1" dirty="0"/>
                  <a:t>one and only one value</a:t>
                </a:r>
                <a:r>
                  <a:rPr lang="en-US" altLang="zh-TW" dirty="0"/>
                  <a:t> of </a:t>
                </a:r>
                <a:r>
                  <a:rPr lang="en-US" altLang="zh-TW" dirty="0" err="1"/>
                  <a:t>dept_name</a:t>
                </a:r>
                <a:endParaRPr lang="en-US" altLang="zh-TW" dirty="0"/>
              </a:p>
              <a:p>
                <a:r>
                  <a:rPr lang="en-US" altLang="zh-TW" dirty="0"/>
                  <a:t>Constraints on the set of legal relation instances </a:t>
                </a:r>
              </a:p>
              <a:p>
                <a:r>
                  <a:rPr lang="en-US" altLang="zh-TW" dirty="0"/>
                  <a:t>Require that the value for a certain set of attributes determines uniquely the value for another set of attributes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79623"/>
                <a:ext cx="10515600" cy="5113252"/>
              </a:xfrm>
              <a:blipFill>
                <a:blip r:embed="rId2"/>
                <a:stretch>
                  <a:fillRect l="-1086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9F7A1-34CF-1F9F-04C6-32520B17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053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Dependence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6211" y="1379622"/>
                <a:ext cx="7203172" cy="511325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Let R be a relation with attributes (A,B, C, D, E)</a:t>
                </a:r>
              </a:p>
              <a:p>
                <a:pPr marL="0" indent="0">
                  <a:buNone/>
                </a:pPr>
                <a:r>
                  <a:rPr lang="en-US" altLang="zh-TW" b="0" dirty="0"/>
                  <a:t>	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dirty="0"/>
                  <a:t> </a:t>
                </a:r>
              </a:p>
              <a:p>
                <a:r>
                  <a:rPr lang="en-US" altLang="zh-TW" dirty="0"/>
                  <a:t>The functional dependency 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/>
                  <a:t> </a:t>
                </a:r>
              </a:p>
              <a:p>
                <a:pPr marL="225425" indent="0">
                  <a:buNone/>
                </a:pPr>
                <a:r>
                  <a:rPr lang="en-US" altLang="zh-TW" dirty="0"/>
                  <a:t>holds on R if and only if whenever two tuples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of R agree on the attributes of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, they also agree on the attributes of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/>
                  <a:t>. That is </a:t>
                </a:r>
              </a:p>
              <a:p>
                <a:pPr marL="225425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⟹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 marL="290513" indent="-290513"/>
                <a:r>
                  <a:rPr lang="en-US" altLang="zh-TW" dirty="0"/>
                  <a:t>Examples:</a:t>
                </a:r>
              </a:p>
              <a:p>
                <a:pPr marL="747713" lvl="1" indent="-290513"/>
                <a:r>
                  <a:rPr lang="en-US" altLang="zh-TW" dirty="0"/>
                  <a:t>The capital determines the country</a:t>
                </a:r>
              </a:p>
              <a:p>
                <a:pPr marL="747713" lvl="1" indent="-290513"/>
                <a:r>
                  <a:rPr lang="en-US" altLang="zh-TW" dirty="0"/>
                  <a:t>The country determines the Internet domain</a:t>
                </a:r>
              </a:p>
              <a:p>
                <a:pPr marL="225425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6211" y="1379622"/>
                <a:ext cx="7203172" cy="5113252"/>
              </a:xfrm>
              <a:blipFill>
                <a:blip r:embed="rId2"/>
                <a:stretch>
                  <a:fillRect l="-1585" t="-1980" r="-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FC4E76FF-628A-46AF-8D78-A2C657F6E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431381"/>
              </p:ext>
            </p:extLst>
          </p:nvPr>
        </p:nvGraphicFramePr>
        <p:xfrm>
          <a:off x="7926479" y="582720"/>
          <a:ext cx="4007193" cy="3708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44444">
                  <a:extLst>
                    <a:ext uri="{9D8B030D-6E8A-4147-A177-3AD203B41FA5}">
                      <a16:colId xmlns:a16="http://schemas.microsoft.com/office/drawing/2014/main" val="2272113162"/>
                    </a:ext>
                  </a:extLst>
                </a:gridCol>
                <a:gridCol w="989704">
                  <a:extLst>
                    <a:ext uri="{9D8B030D-6E8A-4147-A177-3AD203B41FA5}">
                      <a16:colId xmlns:a16="http://schemas.microsoft.com/office/drawing/2014/main" val="3462723877"/>
                    </a:ext>
                  </a:extLst>
                </a:gridCol>
                <a:gridCol w="1409252">
                  <a:extLst>
                    <a:ext uri="{9D8B030D-6E8A-4147-A177-3AD203B41FA5}">
                      <a16:colId xmlns:a16="http://schemas.microsoft.com/office/drawing/2014/main" val="3806736306"/>
                    </a:ext>
                  </a:extLst>
                </a:gridCol>
                <a:gridCol w="763793">
                  <a:extLst>
                    <a:ext uri="{9D8B030D-6E8A-4147-A177-3AD203B41FA5}">
                      <a16:colId xmlns:a16="http://schemas.microsoft.com/office/drawing/2014/main" val="3837941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dept_name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55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22322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Einstein 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Physics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95000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168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33452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Gold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Physics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87000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05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21212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Wu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04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10101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Brandt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934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43521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Katz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43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98531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Kim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Biology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061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58763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Crick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Elec. Eng.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423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52187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Mozart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438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32343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 Said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History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4601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7D85AA-0DBD-4C42-9A94-9DC34CE759F7}"/>
                  </a:ext>
                </a:extLst>
              </p:cNvPr>
              <p:cNvSpPr txBox="1"/>
              <p:nvPr/>
            </p:nvSpPr>
            <p:spPr>
              <a:xfrm>
                <a:off x="7440460" y="4508714"/>
                <a:ext cx="475154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Does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𝑑𝑒𝑝𝑡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𝑛𝑎𝑚𝑒</m:t>
                    </m:r>
                  </m:oMath>
                </a14:m>
                <a:r>
                  <a:rPr lang="nl-NL" dirty="0"/>
                  <a:t> hold?</a:t>
                </a:r>
              </a:p>
              <a:p>
                <a:r>
                  <a:rPr lang="en-US" altLang="zh-TW" dirty="0"/>
                  <a:t>Does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𝑠𝑎𝑙𝑎𝑟𝑦</m:t>
                    </m:r>
                  </m:oMath>
                </a14:m>
                <a:r>
                  <a:rPr lang="nl-NL" dirty="0"/>
                  <a:t> hold?</a:t>
                </a:r>
              </a:p>
              <a:p>
                <a:r>
                  <a:rPr lang="en-US" altLang="zh-TW" dirty="0"/>
                  <a:t>Does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dept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𝑠𝑎𝑙𝑎𝑟𝑦</m:t>
                    </m:r>
                  </m:oMath>
                </a14:m>
                <a:r>
                  <a:rPr lang="nl-NL" dirty="0"/>
                  <a:t> hold?</a:t>
                </a:r>
              </a:p>
              <a:p>
                <a:r>
                  <a:rPr lang="en-US" altLang="zh-TW" dirty="0"/>
                  <a:t>Does dept_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𝑛𝑎𝑚𝑒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hold</a:t>
                </a:r>
                <a:r>
                  <a:rPr lang="nl-NL" dirty="0"/>
                  <a:t>?</a:t>
                </a:r>
              </a:p>
              <a:p>
                <a:endParaRPr lang="nl-NL" dirty="0"/>
              </a:p>
              <a:p>
                <a:r>
                  <a:rPr lang="en-US" altLang="zh-TW" b="0" dirty="0">
                    <a:ea typeface="Cambria Math" panose="02040503050406030204" pitchFamily="18" charset="0"/>
                  </a:rPr>
                  <a:t>Note that: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𝐼𝐷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𝑖𝑛𝑠𝑡𝑟𝑢𝑐𝑡𝑜𝑟</m:t>
                    </m:r>
                  </m:oMath>
                </a14:m>
                <a:endParaRPr lang="nl-NL" dirty="0"/>
              </a:p>
              <a:p>
                <a:r>
                  <a:rPr lang="nl-NL" dirty="0"/>
                  <a:t>In </a:t>
                </a:r>
                <a:r>
                  <a:rPr lang="nl-NL" dirty="0" err="1"/>
                  <a:t>this</a:t>
                </a:r>
                <a:r>
                  <a:rPr lang="nl-NL" dirty="0"/>
                  <a:t> </a:t>
                </a:r>
                <a:r>
                  <a:rPr lang="nl-NL" dirty="0" err="1"/>
                  <a:t>example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𝑛𝑎𝑚𝑒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∀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𝑖𝑛𝑠𝑡𝑟𝑢𝑐𝑡𝑜𝑟</m:t>
                    </m:r>
                  </m:oMath>
                </a14:m>
                <a:endParaRPr lang="nl-NL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7D85AA-0DBD-4C42-9A94-9DC34CE75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460" y="4508714"/>
                <a:ext cx="4751540" cy="2031325"/>
              </a:xfrm>
              <a:prstGeom prst="rect">
                <a:avLst/>
              </a:prstGeom>
              <a:blipFill>
                <a:blip r:embed="rId3"/>
                <a:stretch>
                  <a:fillRect l="-1333" t="-1863" b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44F5547-D4FC-B645-9B1B-2CFC2BAE6286}"/>
              </a:ext>
            </a:extLst>
          </p:cNvPr>
          <p:cNvSpPr txBox="1"/>
          <p:nvPr/>
        </p:nvSpPr>
        <p:spPr>
          <a:xfrm>
            <a:off x="8943175" y="207272"/>
            <a:ext cx="1804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instructor table 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A9F7C-81E7-3675-C0D9-A77C69F2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8255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Definition of the Keys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096" y="1379622"/>
                <a:ext cx="10515600" cy="511325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is a 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superkey</a:t>
                </a:r>
                <a:r>
                  <a:rPr lang="en-US" altLang="zh-TW" dirty="0">
                    <a:sym typeface="Symbol" panose="05050102010706020507" pitchFamily="18" charset="2"/>
                  </a:rPr>
                  <a:t> for relation R if and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dirty="0"/>
                  <a:t> </a:t>
                </a:r>
                <a:endParaRPr lang="en-US" altLang="zh-TW" dirty="0"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TW" sz="2800" dirty="0">
                    <a:sym typeface="Symbol" panose="05050102010706020507" pitchFamily="18" charset="2"/>
                  </a:rPr>
                  <a:t>This is the </a:t>
                </a:r>
                <a:r>
                  <a:rPr lang="en-US" altLang="zh-TW" sz="2800" i="1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uniqueness</a:t>
                </a:r>
                <a:r>
                  <a:rPr lang="en-US" altLang="zh-TW" sz="2800" dirty="0">
                    <a:sym typeface="Symbol" panose="05050102010706020507" pitchFamily="18" charset="2"/>
                  </a:rPr>
                  <a:t> property of “key”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is a candidate key for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if and only if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altLang="zh-TW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sz="2800" dirty="0">
                    <a:sym typeface="Symbol" panose="05050102010706020507" pitchFamily="18" charset="2"/>
                  </a:rPr>
                  <a:t>, and</a:t>
                </a:r>
              </a:p>
              <a:p>
                <a:pPr lvl="1"/>
                <a:r>
                  <a:rPr lang="en-US" altLang="zh-TW" sz="2800" dirty="0">
                    <a:sym typeface="Symbol" panose="05050102010706020507" pitchFamily="18" charset="2"/>
                  </a:rPr>
                  <a:t>For any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𝑋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⊂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𝐾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𝑋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↛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𝑅</m:t>
                    </m:r>
                  </m:oMath>
                </a14:m>
                <a:r>
                  <a:rPr lang="en-US" altLang="zh-TW" sz="2800" dirty="0">
                    <a:sym typeface="Symbol" panose="05050102010706020507" pitchFamily="18" charset="2"/>
                  </a:rPr>
                  <a:t> 	</a:t>
                </a:r>
              </a:p>
              <a:p>
                <a:pPr lvl="2"/>
                <a:r>
                  <a:rPr lang="en-US" altLang="zh-TW" sz="2400" dirty="0">
                    <a:sym typeface="Symbol" panose="05050102010706020507" pitchFamily="18" charset="2"/>
                  </a:rPr>
                  <a:t>makes sure key has minimum set of attributes (</a:t>
                </a:r>
                <a:r>
                  <a:rPr lang="en-US" altLang="zh-TW" sz="2400" i="1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minimality</a:t>
                </a:r>
                <a:r>
                  <a:rPr lang="en-US" altLang="zh-TW" sz="2400" dirty="0">
                    <a:sym typeface="Symbol" panose="05050102010706020507" pitchFamily="18" charset="2"/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096" y="1379622"/>
                <a:ext cx="10515600" cy="5113252"/>
              </a:xfrm>
              <a:blipFill>
                <a:blip r:embed="rId2"/>
                <a:stretch>
                  <a:fillRect l="-965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1A52D-2FBA-921F-E9AD-9278F1AF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0343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Dependencies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095" y="1379622"/>
                <a:ext cx="10515599" cy="5113252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dirty="0"/>
                  <a:t>Functional dependencies allow us to express constraints that cannot be expressed using </a:t>
                </a:r>
                <a:r>
                  <a:rPr lang="en-US" altLang="zh-TW" dirty="0" err="1"/>
                  <a:t>superkeys</a:t>
                </a:r>
                <a:r>
                  <a:rPr lang="en-US" altLang="zh-TW" dirty="0"/>
                  <a:t>. </a:t>
                </a:r>
              </a:p>
              <a:p>
                <a:r>
                  <a:rPr lang="en-US" altLang="zh-TW" dirty="0"/>
                  <a:t>Example: Consider the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instructor</a:t>
                </a:r>
                <a:r>
                  <a:rPr lang="en-US" altLang="zh-TW" dirty="0"/>
                  <a:t> relation:</a:t>
                </a:r>
                <a:br>
                  <a:rPr lang="en-US" altLang="zh-TW" dirty="0"/>
                </a:br>
                <a:br>
                  <a:rPr lang="en-US" altLang="zh-TW" dirty="0"/>
                </a:br>
                <a:r>
                  <a:rPr lang="en-US" altLang="zh-TW" dirty="0"/>
                  <a:t>We expect the following set of functional dependencies to hold:</a:t>
                </a:r>
                <a:br>
                  <a:rPr lang="en-US" altLang="zh-TW" dirty="0"/>
                </a:br>
                <a:r>
                  <a:rPr lang="en-US" altLang="zh-TW" dirty="0"/>
                  <a:t>	id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name</a:t>
                </a:r>
                <a:br>
                  <a:rPr lang="en-US" altLang="zh-TW" dirty="0">
                    <a:sym typeface="Symbol" panose="05050102010706020507" pitchFamily="18" charset="2"/>
                  </a:rPr>
                </a:br>
                <a:r>
                  <a:rPr lang="en-US" altLang="zh-TW" dirty="0">
                    <a:sym typeface="Symbol" panose="05050102010706020507" pitchFamily="18" charset="2"/>
                  </a:rPr>
                  <a:t>	id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dept_name</a:t>
                </a:r>
                <a:br>
                  <a:rPr lang="en-US" altLang="zh-TW" dirty="0">
                    <a:sym typeface="Symbol" panose="05050102010706020507" pitchFamily="18" charset="2"/>
                  </a:rPr>
                </a:br>
                <a:r>
                  <a:rPr lang="en-US" altLang="zh-TW" dirty="0">
                    <a:sym typeface="Symbol" panose="05050102010706020507" pitchFamily="18" charset="2"/>
                  </a:rPr>
                  <a:t>	name, 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zh-TW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salary</a:t>
                </a:r>
              </a:p>
              <a:p>
                <a:pPr marL="0" indent="0">
                  <a:buNone/>
                </a:pPr>
                <a:br>
                  <a:rPr lang="en-US" altLang="zh-TW" dirty="0">
                    <a:sym typeface="Symbol" panose="05050102010706020507" pitchFamily="18" charset="2"/>
                  </a:rPr>
                </a:br>
                <a:r>
                  <a:rPr lang="en-US" altLang="zh-TW" dirty="0">
                    <a:sym typeface="Symbol" panose="05050102010706020507" pitchFamily="18" charset="2"/>
                  </a:rPr>
                  <a:t>	but would not expect the following to hold:</a:t>
                </a:r>
                <a:br>
                  <a:rPr lang="en-US" altLang="zh-TW" dirty="0">
                    <a:sym typeface="Symbol" panose="05050102010706020507" pitchFamily="18" charset="2"/>
                  </a:rPr>
                </a:br>
                <a:r>
                  <a:rPr lang="en-US" altLang="zh-TW" dirty="0">
                    <a:sym typeface="Symbol" panose="05050102010706020507" pitchFamily="18" charset="2"/>
                  </a:rPr>
                  <a:t>	 salary  name 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095" y="1379622"/>
                <a:ext cx="10515599" cy="5113252"/>
              </a:xfrm>
              <a:blipFill>
                <a:blip r:embed="rId2"/>
                <a:stretch>
                  <a:fillRect l="-965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376A7-0C4B-7B5A-F4CF-01A9EA50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1106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 of a Set of Functional Dependencies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095" y="1379622"/>
                <a:ext cx="10515599" cy="5113252"/>
              </a:xfrm>
            </p:spPr>
            <p:txBody>
              <a:bodyPr>
                <a:noAutofit/>
              </a:bodyPr>
              <a:lstStyle/>
              <a:p>
                <a:r>
                  <a:rPr lang="en-US" altLang="zh-TW" dirty="0"/>
                  <a:t>Given a set of functional dependencies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altLang="zh-TW" dirty="0"/>
                  <a:t>, there are certain other functional dependencies that are logically implied by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r>
                  <a:rPr lang="en-US" altLang="zh-TW" dirty="0"/>
                  <a:t>The set of all functional dependencies </a:t>
                </a:r>
                <a:r>
                  <a:rPr lang="en-US" altLang="zh-TW" i="1" dirty="0">
                    <a:solidFill>
                      <a:srgbClr val="FF3300"/>
                    </a:solidFill>
                  </a:rPr>
                  <a:t>logically implied</a:t>
                </a:r>
                <a:r>
                  <a:rPr lang="en-US" altLang="zh-TW" dirty="0"/>
                  <a:t> by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altLang="zh-TW" dirty="0"/>
                  <a:t> is the </a:t>
                </a:r>
                <a:r>
                  <a:rPr lang="en-US" altLang="zh-TW" dirty="0">
                    <a:solidFill>
                      <a:srgbClr val="FF3300"/>
                    </a:solidFill>
                  </a:rPr>
                  <a:t>closure</a:t>
                </a:r>
                <a:r>
                  <a:rPr lang="en-US" altLang="zh-TW" dirty="0"/>
                  <a:t> of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r>
                  <a:rPr lang="en-US" altLang="zh-TW" dirty="0"/>
                  <a:t>We denote the closure of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altLang="zh-TW" dirty="0"/>
                  <a:t>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TW" dirty="0"/>
                  <a:t>.</a:t>
                </a:r>
              </a:p>
              <a:p>
                <a:r>
                  <a:rPr lang="en-US" altLang="zh-TW" dirty="0"/>
                  <a:t>We can find all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TW" dirty="0"/>
                  <a:t> by applying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Armstrong’s Axioms</a:t>
                </a:r>
                <a:r>
                  <a:rPr lang="en-US" altLang="zh-TW" dirty="0"/>
                  <a:t>:</a:t>
                </a:r>
              </a:p>
              <a:p>
                <a:pPr lvl="1"/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 				(</a:t>
                </a:r>
                <a:r>
                  <a:rPr lang="en-US" altLang="zh-TW" i="1" dirty="0">
                    <a:solidFill>
                      <a:srgbClr val="FF3300"/>
                    </a:solidFill>
                  </a:rPr>
                  <a:t>reflexivity</a:t>
                </a:r>
                <a:r>
                  <a:rPr lang="en-US" altLang="zh-TW" dirty="0"/>
                  <a:t>)</a:t>
                </a:r>
              </a:p>
              <a:p>
                <a:pPr lvl="1"/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AX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𝐴𝑌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			(</a:t>
                </a:r>
                <a:r>
                  <a:rPr lang="en-US" altLang="zh-TW" i="1" dirty="0">
                    <a:solidFill>
                      <a:srgbClr val="FF3300"/>
                    </a:solidFill>
                    <a:sym typeface="Symbol" panose="05050102010706020507" pitchFamily="18" charset="2"/>
                  </a:rPr>
                  <a:t>augmentation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</a:p>
              <a:p>
                <a:pPr lvl="1"/>
                <a:r>
                  <a:rPr lang="en-US" altLang="zh-TW" dirty="0">
                    <a:sym typeface="Symbol" panose="05050102010706020507" pitchFamily="18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		(</a:t>
                </a:r>
                <a:r>
                  <a:rPr lang="en-US" altLang="zh-TW" i="1" dirty="0">
                    <a:solidFill>
                      <a:srgbClr val="FF3300"/>
                    </a:solidFill>
                    <a:sym typeface="Symbol" panose="05050102010706020507" pitchFamily="18" charset="2"/>
                  </a:rPr>
                  <a:t>transitivity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br>
                  <a:rPr lang="en-US" altLang="zh-TW" dirty="0">
                    <a:sym typeface="Symbol" panose="05050102010706020507" pitchFamily="18" charset="2"/>
                  </a:rPr>
                </a:br>
                <a:br>
                  <a:rPr lang="en-US" altLang="zh-TW" dirty="0">
                    <a:sym typeface="Symbol" panose="05050102010706020507" pitchFamily="18" charset="2"/>
                  </a:rPr>
                </a:br>
                <a:r>
                  <a:rPr lang="en-US" altLang="zh-TW" dirty="0">
                    <a:sym typeface="Symbol" panose="05050102010706020507" pitchFamily="18" charset="2"/>
                  </a:rPr>
                  <a:t>these rules are sound and complete.  A is a set of attributes (could be single attribute)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095" y="1379622"/>
                <a:ext cx="10515599" cy="5113252"/>
              </a:xfrm>
              <a:blipFill>
                <a:blip r:embed="rId2"/>
                <a:stretch>
                  <a:fillRect l="-965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DE9BA-6F76-D2E6-10A5-B1A329912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9353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Dependencies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095" y="1379622"/>
                <a:ext cx="10515599" cy="5113252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FDs can be derived from existing dependencies using Armstrong’s Axioms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a subset of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  (</a:t>
                </a:r>
                <a:r>
                  <a:rPr lang="en-US" dirty="0">
                    <a:solidFill>
                      <a:srgbClr val="C00000"/>
                    </a:solidFill>
                  </a:rPr>
                  <a:t>reflexivity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If 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is a key candidate, then 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⟹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We can restrict the RHS to have only a single attribute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095" y="1379622"/>
                <a:ext cx="10515599" cy="5113252"/>
              </a:xfrm>
              <a:blipFill>
                <a:blip r:embed="rId2"/>
                <a:stretch>
                  <a:fillRect l="-965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BCDB7-1C55-0751-809D-E924370D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4853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Armstrong’s Axioms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095" y="1379622"/>
                <a:ext cx="10515599" cy="5113252"/>
              </a:xfrm>
            </p:spPr>
            <p:txBody>
              <a:bodyPr>
                <a:noAutofit/>
              </a:bodyPr>
              <a:lstStyle/>
              <a:p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 				(</a:t>
                </a:r>
                <a:r>
                  <a:rPr lang="en-US" altLang="zh-TW" i="1" dirty="0">
                    <a:solidFill>
                      <a:srgbClr val="FF3300"/>
                    </a:solidFill>
                  </a:rPr>
                  <a:t>reflexivity</a:t>
                </a:r>
                <a:r>
                  <a:rPr lang="en-US" altLang="zh-TW" dirty="0"/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name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name</a:t>
                </a:r>
                <a:br>
                  <a:rPr lang="en-US" altLang="zh-TW" dirty="0">
                    <a:sym typeface="Symbol" panose="05050102010706020507" pitchFamily="18" charset="2"/>
                  </a:rPr>
                </a:br>
                <a:r>
                  <a:rPr lang="en-US" altLang="zh-TW" dirty="0">
                    <a:sym typeface="Symbol" panose="05050102010706020507" pitchFamily="18" charset="2"/>
                  </a:rPr>
                  <a:t>	name, 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zh-TW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name</a:t>
                </a:r>
                <a:br>
                  <a:rPr lang="en-US" altLang="zh-TW" dirty="0">
                    <a:sym typeface="Symbol" panose="05050102010706020507" pitchFamily="18" charset="2"/>
                  </a:rPr>
                </a:br>
                <a:r>
                  <a:rPr lang="en-US" altLang="zh-TW" dirty="0">
                    <a:sym typeface="Symbol" panose="05050102010706020507" pitchFamily="18" charset="2"/>
                  </a:rPr>
                  <a:t>	name, 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zh-TW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zh-TW" dirty="0"/>
                  <a:t> </a:t>
                </a:r>
              </a:p>
              <a:p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AX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			(</a:t>
                </a:r>
                <a:r>
                  <a:rPr lang="en-US" altLang="zh-TW" i="1" dirty="0">
                    <a:solidFill>
                      <a:srgbClr val="FF3300"/>
                    </a:solidFill>
                    <a:sym typeface="Symbol" panose="05050102010706020507" pitchFamily="18" charset="2"/>
                  </a:rPr>
                  <a:t>augmentation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name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dept_name</a:t>
                </a:r>
                <a:br>
                  <a:rPr lang="en-US" altLang="zh-TW" dirty="0">
                    <a:sym typeface="Symbol" panose="05050102010706020507" pitchFamily="18" charset="2"/>
                  </a:rPr>
                </a:br>
                <a:r>
                  <a:rPr lang="en-US" altLang="zh-TW" dirty="0">
                    <a:sym typeface="Symbol" panose="05050102010706020507" pitchFamily="18" charset="2"/>
                  </a:rPr>
                  <a:t>	name, salary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zh-TW">
                    <a:sym typeface="Symbol" panose="05050102010706020507" pitchFamily="18" charset="2"/>
                  </a:rPr>
                  <a:t>, salary</a:t>
                </a:r>
                <a:endParaRPr lang="en-US" altLang="zh-TW" dirty="0">
                  <a:sym typeface="Symbol" panose="05050102010706020507" pitchFamily="18" charset="2"/>
                </a:endParaRPr>
              </a:p>
              <a:p>
                <a:r>
                  <a:rPr lang="en-US" altLang="zh-TW" dirty="0">
                    <a:sym typeface="Symbol" panose="05050102010706020507" pitchFamily="18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		(</a:t>
                </a:r>
                <a:r>
                  <a:rPr lang="en-US" altLang="zh-TW" i="1" dirty="0">
                    <a:solidFill>
                      <a:srgbClr val="FF3300"/>
                    </a:solidFill>
                    <a:sym typeface="Symbol" panose="05050102010706020507" pitchFamily="18" charset="2"/>
                  </a:rPr>
                  <a:t>transitivity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br>
                  <a:rPr lang="en-US" altLang="zh-TW" dirty="0">
                    <a:sym typeface="Symbol" panose="05050102010706020507" pitchFamily="18" charset="2"/>
                  </a:rPr>
                </a:br>
                <a:r>
                  <a:rPr lang="en-US" altLang="zh-TW" dirty="0"/>
                  <a:t>	id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name  </a:t>
                </a:r>
                <a:r>
                  <a:rPr lang="en-US" altLang="zh-TW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and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	name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zh-TW" dirty="0">
                    <a:sym typeface="Symbol" panose="05050102010706020507" pitchFamily="18" charset="2"/>
                  </a:rPr>
                  <a:t>         </a:t>
                </a:r>
                <a:r>
                  <a:rPr lang="en-US" altLang="zh-TW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implies</a:t>
                </a:r>
                <a:r>
                  <a:rPr lang="en-US" altLang="zh-TW" dirty="0"/>
                  <a:t>	id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dept_name</a:t>
                </a:r>
                <a:endParaRPr lang="en-US" altLang="zh-TW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095" y="1379622"/>
                <a:ext cx="10515599" cy="5113252"/>
              </a:xfrm>
              <a:blipFill>
                <a:blip r:embed="rId3"/>
                <a:stretch>
                  <a:fillRect l="-965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12747-FD85-6FE0-34F8-1090B1D3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0275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Derived FDs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095" y="1379622"/>
                <a:ext cx="10863224" cy="5113252"/>
              </a:xfrm>
            </p:spPr>
            <p:txBody>
              <a:bodyPr>
                <a:noAutofit/>
              </a:bodyPr>
              <a:lstStyle/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zh-TW" dirty="0"/>
                  <a:t>  then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zh-TW" dirty="0"/>
                  <a:t>	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𝑌𝑊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then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/>
                  <a:t>  and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altLang="zh-TW" dirty="0"/>
                  <a:t>	we saw this earlier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𝑊𝑌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zh-TW" dirty="0"/>
                  <a:t>  then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zh-TW" dirty="0"/>
                  <a:t>	</a:t>
                </a:r>
              </a:p>
              <a:p>
                <a:r>
                  <a:rPr lang="en-US" altLang="zh-TW" dirty="0">
                    <a:sym typeface="Symbol" panose="05050102010706020507" pitchFamily="18" charset="2"/>
                  </a:rPr>
                  <a:t>Can we prove the correctness of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𝑊𝑌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zh-TW" dirty="0"/>
                  <a:t>  then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𝑋𝑊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zh-TW" dirty="0"/>
                  <a:t>?	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𝑊𝑌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zh-TW" sz="2400" dirty="0"/>
                  <a:t>  				(given)</a:t>
                </a:r>
              </a:p>
              <a:p>
                <a:pPr marL="0" indent="0">
                  <a:buNone/>
                </a:pPr>
                <a:r>
                  <a:rPr lang="en-US" altLang="zh-TW" sz="2400" dirty="0"/>
                  <a:t>	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 then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endParaRPr lang="en-US" altLang="zh-TW" sz="2400" dirty="0"/>
              </a:p>
              <a:p>
                <a:pPr marL="0" indent="0">
                  <a:buNone/>
                </a:pPr>
                <a:r>
                  <a:rPr lang="en-US" altLang="zh-TW" sz="2400" dirty="0"/>
                  <a:t>	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𝑋𝑊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𝑌𝑊</m:t>
                    </m:r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𝑌𝑊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altLang="zh-TW" sz="2400" dirty="0"/>
                  <a:t>  then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𝑍</m:t>
                    </m:r>
                  </m:oMath>
                </a14:m>
                <a:endParaRPr lang="en-US" altLang="zh-TW" sz="2400" dirty="0"/>
              </a:p>
              <a:p>
                <a:r>
                  <a:rPr lang="en-US" altLang="zh-TW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Exercise</a:t>
                </a:r>
                <a:r>
                  <a:rPr lang="en-US" altLang="zh-TW" dirty="0">
                    <a:sym typeface="Symbol" panose="05050102010706020507" pitchFamily="18" charset="2"/>
                  </a:rPr>
                  <a:t>: can you prove if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/>
                  <a:t>?</a:t>
                </a:r>
                <a:endParaRPr lang="en-US" altLang="zh-TW" dirty="0">
                  <a:sym typeface="Symbol" panose="05050102010706020507" pitchFamily="18" charset="2"/>
                </a:endParaRPr>
              </a:p>
              <a:p>
                <a:endParaRPr lang="en-US" altLang="zh-TW" dirty="0">
                  <a:sym typeface="Symbol" panose="05050102010706020507" pitchFamily="18" charset="2"/>
                </a:endParaRPr>
              </a:p>
              <a:p>
                <a:endParaRPr lang="en-US" altLang="zh-TW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095" y="1379622"/>
                <a:ext cx="10863224" cy="5113252"/>
              </a:xfrm>
              <a:blipFill>
                <a:blip r:embed="rId2"/>
                <a:stretch>
                  <a:fillRect l="-933" t="-1485" r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078C7-EA2C-DA87-78F2-23D48589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8121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Boyce-Codd Normal Form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095" y="1379622"/>
                <a:ext cx="10863224" cy="5113252"/>
              </a:xfrm>
            </p:spPr>
            <p:txBody>
              <a:bodyPr>
                <a:noAutofit/>
              </a:bodyPr>
              <a:lstStyle/>
              <a:p>
                <a:r>
                  <a:rPr lang="en-US" altLang="zh-TW" dirty="0">
                    <a:latin typeface="Cambria Math" panose="02040503050406030204" pitchFamily="18" charset="0"/>
                  </a:rPr>
                  <a:t>Trivial FDs</a:t>
                </a:r>
              </a:p>
              <a:p>
                <a:pPr lvl="1"/>
                <a:r>
                  <a:rPr lang="en-US" altLang="zh-TW" dirty="0"/>
                  <a:t>An FD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</a:t>
                </a:r>
                <a:r>
                  <a:rPr lang="en-US" altLang="zh-TW" dirty="0"/>
                  <a:t>is said to be trivial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 </a:t>
                </a:r>
              </a:p>
              <a:p>
                <a:pPr lvl="1"/>
                <a:r>
                  <a:rPr lang="en-US" altLang="zh-TW" dirty="0"/>
                  <a:t>It is called trivial because it is satisfied by all relations</a:t>
                </a:r>
              </a:p>
              <a:p>
                <a:r>
                  <a:rPr lang="en-US" altLang="zh-TW" dirty="0">
                    <a:sym typeface="Symbol" panose="05050102010706020507" pitchFamily="18" charset="2"/>
                  </a:rPr>
                  <a:t>Boyce-Codd Normal Form (BCNF): </a:t>
                </a:r>
              </a:p>
              <a:p>
                <a:pPr lvl="1"/>
                <a:r>
                  <a:rPr lang="en-US" altLang="zh-TW" dirty="0">
                    <a:sym typeface="Symbol" panose="05050102010706020507" pitchFamily="18" charset="2"/>
                  </a:rPr>
                  <a:t>Definition: A relation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sz="2000" dirty="0"/>
                  <a:t> is said to be in BCNF if for all FDs 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 then:</a:t>
                </a:r>
              </a:p>
              <a:p>
                <a:pPr lvl="2"/>
                <a:r>
                  <a:rPr lang="en-US" altLang="zh-TW" dirty="0">
                    <a:sym typeface="Symbol" panose="05050102010706020507" pitchFamily="18" charset="2"/>
                  </a:rPr>
                  <a:t>Either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/>
                  <a:t> is a trivial FD OR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 is a </a:t>
                </a:r>
                <a:r>
                  <a:rPr lang="en-US" altLang="zh-TW" dirty="0" err="1"/>
                  <a:t>superkey</a:t>
                </a:r>
                <a:r>
                  <a:rPr lang="en-US" altLang="zh-TW" dirty="0"/>
                  <a:t> for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095" y="1379622"/>
                <a:ext cx="10863224" cy="5113252"/>
              </a:xfrm>
              <a:blipFill>
                <a:blip r:embed="rId2"/>
                <a:stretch>
                  <a:fillRect l="-933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53185-5D2D-CD86-AC1A-D2D491C86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2096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Normal Forms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095" y="1379622"/>
                <a:ext cx="10863224" cy="5113252"/>
              </a:xfrm>
            </p:spPr>
            <p:txBody>
              <a:bodyPr>
                <a:noAutofit/>
              </a:bodyPr>
              <a:lstStyle/>
              <a:p>
                <a:r>
                  <a:rPr lang="en-US" altLang="zh-TW" dirty="0"/>
                  <a:t>Third Normal Form (3NF)</a:t>
                </a:r>
              </a:p>
              <a:p>
                <a:pPr lvl="1"/>
                <a:r>
                  <a:rPr lang="en-US" altLang="zh-TW" dirty="0"/>
                  <a:t>A relaxation of BCNF </a:t>
                </a:r>
              </a:p>
              <a:p>
                <a:pPr lvl="1"/>
                <a:r>
                  <a:rPr lang="en-US" altLang="zh-TW" dirty="0">
                    <a:sym typeface="Symbol" panose="05050102010706020507" pitchFamily="18" charset="2"/>
                  </a:rPr>
                  <a:t>A relation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sz="2000" dirty="0"/>
                  <a:t> is said to be in 3NF </a:t>
                </a:r>
                <a:r>
                  <a:rPr lang="en-US" altLang="zh-TW" sz="2000" i="1" u="sng" dirty="0" err="1"/>
                  <a:t>iff</a:t>
                </a:r>
                <a:r>
                  <a:rPr lang="en-US" altLang="zh-TW" sz="2000" i="1" u="sng" dirty="0"/>
                  <a:t>.</a:t>
                </a:r>
                <a:r>
                  <a:rPr lang="en-US" altLang="zh-TW" sz="2000" dirty="0"/>
                  <a:t> for all FDs 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 then:</a:t>
                </a:r>
              </a:p>
              <a:p>
                <a:pPr lvl="2"/>
                <a:r>
                  <a:rPr lang="en-US" altLang="zh-TW" dirty="0">
                    <a:sym typeface="Symbol" panose="05050102010706020507" pitchFamily="18" charset="2"/>
                  </a:rPr>
                  <a:t>Either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/>
                  <a:t> is a trivial FD,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OR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 is a </a:t>
                </a:r>
                <a:r>
                  <a:rPr lang="en-US" altLang="zh-TW" dirty="0" err="1"/>
                  <a:t>superkey</a:t>
                </a:r>
                <a:r>
                  <a:rPr lang="en-US" altLang="zh-TW" dirty="0"/>
                  <a:t> for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dirty="0"/>
                  <a:t>, 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OR</a:t>
                </a:r>
                <a:r>
                  <a:rPr lang="en-US" altLang="zh-TW" dirty="0"/>
                  <a:t> </a:t>
                </a:r>
              </a:p>
              <a:p>
                <a:pPr lvl="2"/>
                <a:r>
                  <a:rPr lang="en-US" altLang="zh-TW" dirty="0"/>
                  <a:t>For any attribute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acc>
                      <m:accPr>
                        <m:chr m:val="̃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is a candidate key</a:t>
                </a:r>
              </a:p>
              <a:p>
                <a:pPr lvl="1"/>
                <a:r>
                  <a:rPr lang="en-US" altLang="zh-TW" dirty="0">
                    <a:sym typeface="Symbol" panose="05050102010706020507" pitchFamily="18" charset="2"/>
                  </a:rPr>
                  <a:t>R is in BCNF implies that R </a:t>
                </a:r>
                <a:r>
                  <a:rPr lang="en-US" altLang="zh-TW">
                    <a:sym typeface="Symbol" panose="05050102010706020507" pitchFamily="18" charset="2"/>
                  </a:rPr>
                  <a:t>in 3NF</a:t>
                </a:r>
                <a:endParaRPr lang="en-US" altLang="zh-TW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095" y="1379622"/>
                <a:ext cx="10863224" cy="5113252"/>
              </a:xfrm>
              <a:blipFill>
                <a:blip r:embed="rId2"/>
                <a:stretch>
                  <a:fillRect l="-933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43D8C-4059-B174-9329-3041FF6DF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7028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Normal Forms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095" y="1379622"/>
                <a:ext cx="10863224" cy="5113252"/>
              </a:xfrm>
            </p:spPr>
            <p:txBody>
              <a:bodyPr>
                <a:noAutofit/>
              </a:bodyPr>
              <a:lstStyle/>
              <a:p>
                <a:r>
                  <a:rPr lang="en-US" altLang="zh-TW" dirty="0">
                    <a:sym typeface="Symbol" panose="05050102010706020507" pitchFamily="18" charset="2"/>
                  </a:rPr>
                  <a:t>Second Normal Form (2NF)</a:t>
                </a:r>
              </a:p>
              <a:p>
                <a:pPr lvl="1"/>
                <a:r>
                  <a:rPr lang="en-US" altLang="zh-TW" dirty="0">
                    <a:sym typeface="Symbol" panose="05050102010706020507" pitchFamily="18" charset="2"/>
                  </a:rPr>
                  <a:t>A relation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sz="2000" dirty="0"/>
                  <a:t> is said to be in 2NF </a:t>
                </a:r>
                <a:r>
                  <a:rPr lang="en-US" altLang="zh-TW" sz="2000" i="1" u="sng" dirty="0" err="1"/>
                  <a:t>iff</a:t>
                </a:r>
                <a:r>
                  <a:rPr lang="en-US" altLang="zh-TW" sz="2000" i="1" u="sng" dirty="0"/>
                  <a:t>.</a:t>
                </a:r>
                <a:r>
                  <a:rPr lang="en-US" altLang="zh-TW" sz="2000" dirty="0"/>
                  <a:t> for all FDs 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sym typeface="Symbol" panose="05050102010706020507" pitchFamily="18" charset="2"/>
                  </a:rPr>
                  <a:t> is a candidate key, then:</a:t>
                </a:r>
              </a:p>
              <a:p>
                <a:pPr lvl="2"/>
                <a:r>
                  <a:rPr lang="en-US" altLang="zh-TW" dirty="0"/>
                  <a:t>For any attribute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dirty="0"/>
                  <a:t> and any set of attributes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 (proper subset of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dirty="0"/>
                  <a:t>),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𝐵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</m:oMath>
                </a14:m>
                <a:endParaRPr lang="en-US" altLang="zh-TW" dirty="0"/>
              </a:p>
              <a:p>
                <a:pPr lvl="2"/>
                <a:r>
                  <a:rPr lang="en-US" altLang="zh-TW" dirty="0"/>
                  <a:t>(i.e.) no partial dependency</a:t>
                </a:r>
              </a:p>
              <a:p>
                <a:r>
                  <a:rPr lang="en-US" altLang="zh-TW" dirty="0"/>
                  <a:t>First Normal Form (1NF)</a:t>
                </a:r>
              </a:p>
              <a:p>
                <a:pPr lvl="1"/>
                <a:r>
                  <a:rPr lang="en-US" altLang="zh-TW" dirty="0"/>
                  <a:t>Every cell in the table contains an atomic value (single value)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095" y="1379622"/>
                <a:ext cx="10863224" cy="5113252"/>
              </a:xfrm>
              <a:blipFill>
                <a:blip r:embed="rId2"/>
                <a:stretch>
                  <a:fillRect l="-933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86271-9E23-954C-CFB4-0F820352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0586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FDs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095" y="1379622"/>
                <a:ext cx="10531705" cy="5113252"/>
              </a:xfrm>
            </p:spPr>
            <p:txBody>
              <a:bodyPr>
                <a:noAutofit/>
              </a:bodyPr>
              <a:lstStyle/>
              <a:p>
                <a:r>
                  <a:rPr lang="en-US" altLang="nl-NL" dirty="0"/>
                  <a:t>We use functional dependencies to:</a:t>
                </a:r>
              </a:p>
              <a:p>
                <a:pPr lvl="1"/>
                <a:r>
                  <a:rPr lang="en-US" altLang="nl-NL" dirty="0"/>
                  <a:t>Test relations to see if they are legal under a given set of functional dependencies. </a:t>
                </a:r>
              </a:p>
              <a:p>
                <a:pPr lvl="2"/>
                <a:r>
                  <a:rPr lang="en-US" altLang="nl-NL" dirty="0"/>
                  <a:t>A specific instance of a relation schema may satisfy a functional dependency even if the functional dependency does not hold on all legal instances.  </a:t>
                </a:r>
              </a:p>
              <a:p>
                <a:pPr lvl="2"/>
                <a:r>
                  <a:rPr lang="en-US" altLang="nl-NL" dirty="0"/>
                  <a:t>For example, a specific instance of </a:t>
                </a:r>
                <a:r>
                  <a:rPr lang="en-US" altLang="nl-NL" i="1" dirty="0"/>
                  <a:t>instructor</a:t>
                </a:r>
                <a:r>
                  <a:rPr lang="en-US" altLang="nl-NL" dirty="0"/>
                  <a:t> may, by chance, satisfy </a:t>
                </a:r>
                <a:br>
                  <a:rPr lang="en-US" altLang="nl-NL" dirty="0"/>
                </a:br>
                <a:r>
                  <a:rPr lang="en-US" altLang="nl-NL" dirty="0"/>
                  <a:t>               </a:t>
                </a:r>
                <a:r>
                  <a:rPr lang="en-US" altLang="nl-NL" i="1" dirty="0"/>
                  <a:t>name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nl-NL" dirty="0">
                    <a:sym typeface="Monotype Sorts" charset="2"/>
                  </a:rPr>
                  <a:t> </a:t>
                </a:r>
                <a:r>
                  <a:rPr lang="en-US" altLang="nl-NL" i="1" dirty="0">
                    <a:sym typeface="Monotype Sorts" charset="2"/>
                  </a:rPr>
                  <a:t>id</a:t>
                </a:r>
              </a:p>
              <a:p>
                <a:pPr lvl="1"/>
                <a:r>
                  <a:rPr lang="en-US" altLang="zh-TW" dirty="0">
                    <a:sym typeface="Symbol" panose="05050102010706020507" pitchFamily="18" charset="2"/>
                  </a:rPr>
                  <a:t>Check if a relation decomposition is lossless or not</a:t>
                </a:r>
              </a:p>
              <a:p>
                <a:pPr lvl="2"/>
                <a:r>
                  <a:rPr lang="en-US" altLang="zh-TW" b="1" i="1" dirty="0">
                    <a:sym typeface="Symbol" panose="05050102010706020507" pitchFamily="18" charset="2"/>
                  </a:rPr>
                  <a:t>Theorem</a:t>
                </a:r>
                <a:r>
                  <a:rPr lang="en-US" altLang="zh-TW" dirty="0">
                    <a:sym typeface="Symbol" panose="05050102010706020507" pitchFamily="18" charset="2"/>
                  </a:rPr>
                  <a:t>: For relational schema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R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TW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𝑌𝑍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, the following holds:</a:t>
                </a:r>
              </a:p>
              <a:p>
                <a:pPr marL="914400" lvl="2" indent="0">
                  <a:buNone/>
                </a:pPr>
                <a:r>
                  <a:rPr lang="en-US" altLang="zh-TW" dirty="0">
                    <a:sym typeface="Symbol" panose="05050102010706020507" pitchFamily="18" charset="2"/>
                  </a:rPr>
                  <a:t>	If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𝑋</m:t>
                    </m:r>
                  </m:oMath>
                </a14:m>
                <a:r>
                  <a:rPr lang="en-US" altLang="nl-NL" i="1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nl-NL" dirty="0">
                    <a:sym typeface="Monotype Sorts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𝑌</m:t>
                    </m:r>
                  </m:oMath>
                </a14:m>
                <a:r>
                  <a:rPr lang="en-US" altLang="nl-NL" i="1" dirty="0">
                    <a:sym typeface="Monotype Sorts" charset="2"/>
                  </a:rPr>
                  <a:t> </a:t>
                </a:r>
                <a:r>
                  <a:rPr lang="en-US" altLang="zh-TW" dirty="0">
                    <a:sym typeface="Symbol" panose="05050102010706020507" pitchFamily="18" charset="2"/>
                  </a:rPr>
                  <a:t>then the decomposition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𝑋𝑌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𝑋𝑍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)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is lossless</a:t>
                </a:r>
              </a:p>
              <a:p>
                <a:pPr lvl="2"/>
                <a:r>
                  <a:rPr lang="en-US" altLang="zh-TW" dirty="0">
                    <a:sym typeface="Symbol" panose="05050102010706020507" pitchFamily="18" charset="2"/>
                  </a:rPr>
                  <a:t>In other words, a decomposition of a relation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R</m:t>
                    </m:r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R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R</m:t>
                        </m:r>
                      </m:e>
                      <m:sub>
                        <m:r>
                          <a:rPr lang="en-US" altLang="zh-TW" b="0" i="0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 is said to be lossless if at least one of the following holds: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R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⋂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sym typeface="Symbol" panose="05050102010706020507" pitchFamily="18" charset="2"/>
                  </a:rPr>
                  <a:t>	OR</a:t>
                </a: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R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⋂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TW" dirty="0">
                  <a:sym typeface="Symbol" panose="05050102010706020507" pitchFamily="18" charset="2"/>
                </a:endParaRPr>
              </a:p>
              <a:p>
                <a:pPr marL="1371600" lvl="3" indent="0">
                  <a:buNone/>
                </a:pPr>
                <a:endParaRPr lang="en-US" altLang="zh-TW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095" y="1379622"/>
                <a:ext cx="10531705" cy="5113252"/>
              </a:xfrm>
              <a:blipFill>
                <a:blip r:embed="rId2"/>
                <a:stretch>
                  <a:fillRect l="-963" t="-1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D7A4D-081A-7CFB-9DFF-B55B7F03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6125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FDs (Cont.)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095" y="1379622"/>
                <a:ext cx="10531705" cy="5113252"/>
              </a:xfrm>
            </p:spPr>
            <p:txBody>
              <a:bodyPr>
                <a:noAutofit/>
              </a:bodyPr>
              <a:lstStyle/>
              <a:p>
                <a:r>
                  <a:rPr lang="en-US" altLang="nl-NL" dirty="0"/>
                  <a:t>We use functional dependencies to:</a:t>
                </a:r>
              </a:p>
              <a:p>
                <a:pPr lvl="1"/>
                <a:r>
                  <a:rPr lang="en-US" altLang="nl-NL" dirty="0"/>
                  <a:t>Detect inconsistencies in the data</a:t>
                </a:r>
              </a:p>
              <a:p>
                <a:pPr lvl="1"/>
                <a:r>
                  <a:rPr lang="en-US" altLang="nl-NL" dirty="0"/>
                  <a:t>For example, if we are given that each instructors can work for only one department and: </a:t>
                </a:r>
                <a:br>
                  <a:rPr lang="en-US" altLang="nl-NL" dirty="0"/>
                </a:br>
                <a:r>
                  <a:rPr lang="en-US" altLang="nl-NL" dirty="0"/>
                  <a:t>               </a:t>
                </a:r>
                <a:r>
                  <a:rPr lang="en-US" altLang="nl-NL" i="1" dirty="0"/>
                  <a:t>name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nl-NL" dirty="0">
                    <a:sym typeface="Monotype Sorts" charset="2"/>
                  </a:rPr>
                  <a:t> </a:t>
                </a:r>
                <a:r>
                  <a:rPr lang="en-US" altLang="nl-NL" i="1" dirty="0" err="1">
                    <a:sym typeface="Monotype Sorts" charset="2"/>
                  </a:rPr>
                  <a:t>dept_name</a:t>
                </a:r>
                <a:endParaRPr lang="en-US" altLang="nl-NL" i="1" dirty="0">
                  <a:sym typeface="Monotype Sorts" charset="2"/>
                </a:endParaRPr>
              </a:p>
              <a:p>
                <a:pPr marL="457200" lvl="1" indent="0">
                  <a:buNone/>
                </a:pPr>
                <a:r>
                  <a:rPr lang="en-US" altLang="zh-TW" dirty="0">
                    <a:sym typeface="Monotype Sorts" charset="2"/>
                  </a:rPr>
                  <a:t>Then the highlighted records violate this FD</a:t>
                </a:r>
                <a:r>
                  <a:rPr lang="en-US" altLang="zh-TW" i="1" dirty="0">
                    <a:sym typeface="Monotype Sorts" charset="2"/>
                  </a:rPr>
                  <a:t> </a:t>
                </a:r>
                <a:endParaRPr lang="en-US" altLang="zh-TW" dirty="0">
                  <a:sym typeface="Monotype Sorts" charset="2"/>
                </a:endParaRPr>
              </a:p>
              <a:p>
                <a:pPr marL="457200" lvl="1" indent="0">
                  <a:buNone/>
                </a:pPr>
                <a:r>
                  <a:rPr lang="en-US" altLang="zh-TW" dirty="0">
                    <a:sym typeface="Monotype Sorts" charset="2"/>
                  </a:rPr>
                  <a:t>When discovering an FD violation, </a:t>
                </a:r>
              </a:p>
              <a:p>
                <a:pPr marL="457200" lvl="1" indent="0">
                  <a:buNone/>
                </a:pPr>
                <a:r>
                  <a:rPr lang="en-US" altLang="zh-TW" dirty="0">
                    <a:sym typeface="Monotype Sorts" charset="2"/>
                  </a:rPr>
                  <a:t>each value can be considered as the </a:t>
                </a:r>
              </a:p>
              <a:p>
                <a:pPr marL="457200" lvl="1" indent="0">
                  <a:buNone/>
                </a:pPr>
                <a:r>
                  <a:rPr lang="en-US" altLang="zh-TW" dirty="0">
                    <a:sym typeface="Monotype Sorts" charset="2"/>
                  </a:rPr>
                  <a:t>source of violation</a:t>
                </a:r>
              </a:p>
              <a:p>
                <a:r>
                  <a:rPr lang="en-US" altLang="zh-TW" dirty="0">
                    <a:solidFill>
                      <a:srgbClr val="C00000"/>
                    </a:solidFill>
                    <a:sym typeface="Monotype Sorts" charset="2"/>
                  </a:rPr>
                  <a:t>Exercise</a:t>
                </a:r>
                <a:r>
                  <a:rPr lang="en-US" altLang="zh-TW" dirty="0">
                    <a:sym typeface="Monotype Sorts" charset="2"/>
                  </a:rPr>
                  <a:t>:  If you know that in a given relation T </a:t>
                </a:r>
              </a:p>
              <a:p>
                <a:pPr marL="0" indent="463550">
                  <a:buNone/>
                </a:pPr>
                <a:r>
                  <a:rPr lang="en-US" altLang="nl-NL" i="1" dirty="0" err="1"/>
                  <a:t>att_a</a:t>
                </a:r>
                <a:r>
                  <a:rPr lang="en-US" altLang="nl-NL" i="1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lang="en-US" altLang="nl-NL" dirty="0">
                    <a:sym typeface="Monotype Sorts" charset="2"/>
                  </a:rPr>
                  <a:t> </a:t>
                </a:r>
                <a:r>
                  <a:rPr lang="en-US" altLang="nl-NL" i="1" dirty="0" err="1">
                    <a:sym typeface="Monotype Sorts" charset="2"/>
                  </a:rPr>
                  <a:t>att_b</a:t>
                </a:r>
                <a:endParaRPr lang="en-US" altLang="nl-NL" i="1" dirty="0">
                  <a:sym typeface="Monotype Sorts" charset="2"/>
                </a:endParaRPr>
              </a:p>
              <a:p>
                <a:pPr marL="0" indent="463550">
                  <a:buNone/>
                </a:pPr>
                <a:r>
                  <a:rPr lang="en-US" altLang="zh-TW" i="1" dirty="0">
                    <a:sym typeface="Monotype Sorts" charset="2"/>
                  </a:rPr>
                  <a:t>Write python script to check for violations</a:t>
                </a:r>
                <a:endParaRPr lang="en-US" altLang="zh-TW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095" y="1379622"/>
                <a:ext cx="10531705" cy="5113252"/>
              </a:xfrm>
              <a:blipFill>
                <a:blip r:embed="rId2"/>
                <a:stretch>
                  <a:fillRect l="-963" t="-1980" b="-1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67838433-D464-4D2C-A1FE-716559603C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946868"/>
              </p:ext>
            </p:extLst>
          </p:nvPr>
        </p:nvGraphicFramePr>
        <p:xfrm>
          <a:off x="7981111" y="3035327"/>
          <a:ext cx="3906088" cy="2966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28038">
                  <a:extLst>
                    <a:ext uri="{9D8B030D-6E8A-4147-A177-3AD203B41FA5}">
                      <a16:colId xmlns:a16="http://schemas.microsoft.com/office/drawing/2014/main" val="2272113162"/>
                    </a:ext>
                  </a:extLst>
                </a:gridCol>
                <a:gridCol w="953036">
                  <a:extLst>
                    <a:ext uri="{9D8B030D-6E8A-4147-A177-3AD203B41FA5}">
                      <a16:colId xmlns:a16="http://schemas.microsoft.com/office/drawing/2014/main" val="3462723877"/>
                    </a:ext>
                  </a:extLst>
                </a:gridCol>
                <a:gridCol w="1287887">
                  <a:extLst>
                    <a:ext uri="{9D8B030D-6E8A-4147-A177-3AD203B41FA5}">
                      <a16:colId xmlns:a16="http://schemas.microsoft.com/office/drawing/2014/main" val="3806736306"/>
                    </a:ext>
                  </a:extLst>
                </a:gridCol>
                <a:gridCol w="837127">
                  <a:extLst>
                    <a:ext uri="{9D8B030D-6E8A-4147-A177-3AD203B41FA5}">
                      <a16:colId xmlns:a16="http://schemas.microsoft.com/office/drawing/2014/main" val="3837941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dept_name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55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22322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Einstein 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Physics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95000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168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33452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Gold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Physics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87000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05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21212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Wu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Finance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04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10101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Einstein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82000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934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43521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Katz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Comp. Sci.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43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98531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Kim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Biology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061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58763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Crick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Elec. Eng.</a:t>
                      </a:r>
                      <a:endParaRPr lang="nl-N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80000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4231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ECB2D0F-6598-4B49-A6ED-1CA0051FB0F7}"/>
              </a:ext>
            </a:extLst>
          </p:cNvPr>
          <p:cNvSpPr txBox="1"/>
          <p:nvPr/>
        </p:nvSpPr>
        <p:spPr>
          <a:xfrm>
            <a:off x="8074982" y="6169708"/>
            <a:ext cx="4142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highlighted cells reflect violations of the FD </a:t>
            </a:r>
            <a:r>
              <a:rPr lang="en-US" altLang="nl-NL" i="1" dirty="0"/>
              <a:t>name </a:t>
            </a:r>
            <a:r>
              <a:rPr lang="en-US" altLang="nl-NL" dirty="0">
                <a:sym typeface="Symbol" panose="05050102010706020507" pitchFamily="18" charset="2"/>
              </a:rPr>
              <a:t></a:t>
            </a:r>
            <a:r>
              <a:rPr lang="en-US" altLang="nl-NL" dirty="0">
                <a:sym typeface="Monotype Sorts" charset="2"/>
              </a:rPr>
              <a:t> </a:t>
            </a:r>
            <a:r>
              <a:rPr lang="en-US" altLang="nl-NL" i="1" dirty="0" err="1">
                <a:sym typeface="Monotype Sorts" charset="2"/>
              </a:rPr>
              <a:t>dept_name</a:t>
            </a:r>
            <a:r>
              <a:rPr lang="en-US" dirty="0"/>
              <a:t>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6616D-8A9F-4EAA-DDCD-9E5A9535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4629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Functional Dependencies (CFDs)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095" y="1379622"/>
            <a:ext cx="10863224" cy="5113252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nl-NL" dirty="0"/>
              <a:t>In the UK, zip code </a:t>
            </a:r>
            <a:r>
              <a:rPr lang="en-US" altLang="nl-NL" dirty="0">
                <a:solidFill>
                  <a:srgbClr val="0033CC"/>
                </a:solidFill>
              </a:rPr>
              <a:t>uniquely determines</a:t>
            </a:r>
            <a:r>
              <a:rPr lang="en-US" altLang="nl-NL" dirty="0"/>
              <a:t> the street </a:t>
            </a:r>
          </a:p>
          <a:p>
            <a:pPr>
              <a:spcBef>
                <a:spcPct val="0"/>
              </a:spcBef>
            </a:pPr>
            <a:r>
              <a:rPr lang="en-US" altLang="nl-NL" dirty="0"/>
              <a:t>The constraint may not hold for other countries</a:t>
            </a:r>
          </a:p>
          <a:p>
            <a:pPr>
              <a:spcBef>
                <a:spcPct val="0"/>
              </a:spcBef>
            </a:pPr>
            <a:r>
              <a:rPr lang="en-US" altLang="nl-NL" dirty="0"/>
              <a:t>This constraints can be expressed as follows 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nl-NL" i="1" dirty="0"/>
              <a:t>	([country = 44, zip] </a:t>
            </a:r>
            <a:r>
              <a:rPr lang="en-US" altLang="nl-NL" dirty="0">
                <a:sym typeface="Symbol" panose="05050102010706020507" pitchFamily="18" charset="2"/>
              </a:rPr>
              <a:t></a:t>
            </a:r>
            <a:r>
              <a:rPr lang="en-US" altLang="nl-NL" dirty="0">
                <a:sym typeface="Monotype Sorts" charset="2"/>
              </a:rPr>
              <a:t> </a:t>
            </a:r>
            <a:r>
              <a:rPr lang="en-US" altLang="nl-NL" i="1" dirty="0">
                <a:sym typeface="Monotype Sorts" charset="2"/>
              </a:rPr>
              <a:t>street)</a:t>
            </a:r>
            <a:endParaRPr lang="en-US" altLang="nl-NL" dirty="0"/>
          </a:p>
          <a:p>
            <a:pPr>
              <a:spcBef>
                <a:spcPct val="0"/>
              </a:spcBef>
            </a:pPr>
            <a:r>
              <a:rPr lang="en-US" altLang="nl-NL" dirty="0"/>
              <a:t>It expresses a fundamental part of the semantics of the data</a:t>
            </a:r>
          </a:p>
          <a:p>
            <a:pPr>
              <a:spcBef>
                <a:spcPct val="0"/>
              </a:spcBef>
            </a:pPr>
            <a:r>
              <a:rPr lang="en-US" altLang="nl-NL" dirty="0"/>
              <a:t>It can </a:t>
            </a:r>
            <a:r>
              <a:rPr lang="en-US" altLang="nl-NL" dirty="0">
                <a:solidFill>
                  <a:srgbClr val="C00000"/>
                </a:solidFill>
              </a:rPr>
              <a:t>NOT</a:t>
            </a:r>
            <a:r>
              <a:rPr lang="en-US" altLang="nl-NL" dirty="0">
                <a:solidFill>
                  <a:schemeClr val="accent2"/>
                </a:solidFill>
              </a:rPr>
              <a:t> </a:t>
            </a:r>
            <a:r>
              <a:rPr lang="en-US" altLang="nl-NL" dirty="0"/>
              <a:t>be expressed as an FD</a:t>
            </a:r>
          </a:p>
          <a:p>
            <a:pPr lvl="1">
              <a:spcBef>
                <a:spcPct val="0"/>
              </a:spcBef>
            </a:pPr>
            <a:r>
              <a:rPr lang="en-US" altLang="nl-NL" dirty="0"/>
              <a:t>It does not hold on the </a:t>
            </a:r>
            <a:r>
              <a:rPr lang="en-US" altLang="nl-NL" dirty="0">
                <a:solidFill>
                  <a:srgbClr val="C00000"/>
                </a:solidFill>
              </a:rPr>
              <a:t>entire</a:t>
            </a:r>
            <a:r>
              <a:rPr lang="en-US" altLang="nl-NL" dirty="0"/>
              <a:t> relation; instead, it holds on tuples representing UK customers only</a:t>
            </a:r>
          </a:p>
          <a:p>
            <a:endParaRPr lang="en-US" altLang="zh-TW" dirty="0">
              <a:sym typeface="Symbol" panose="05050102010706020507" pitchFamily="18" charset="2"/>
            </a:endParaRPr>
          </a:p>
          <a:p>
            <a:endParaRPr lang="en-US" altLang="zh-TW" dirty="0">
              <a:sym typeface="Symbol" panose="05050102010706020507" pitchFamily="18" charset="2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8EDCB1B-9FBC-4B4C-9F49-1DF9DA184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041236"/>
              </p:ext>
            </p:extLst>
          </p:nvPr>
        </p:nvGraphicFramePr>
        <p:xfrm>
          <a:off x="2840300" y="4518294"/>
          <a:ext cx="8529605" cy="14833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65664">
                  <a:extLst>
                    <a:ext uri="{9D8B030D-6E8A-4147-A177-3AD203B41FA5}">
                      <a16:colId xmlns:a16="http://schemas.microsoft.com/office/drawing/2014/main" val="2272113162"/>
                    </a:ext>
                  </a:extLst>
                </a:gridCol>
                <a:gridCol w="1456724">
                  <a:extLst>
                    <a:ext uri="{9D8B030D-6E8A-4147-A177-3AD203B41FA5}">
                      <a16:colId xmlns:a16="http://schemas.microsoft.com/office/drawing/2014/main" val="3462723877"/>
                    </a:ext>
                  </a:extLst>
                </a:gridCol>
                <a:gridCol w="1968548">
                  <a:extLst>
                    <a:ext uri="{9D8B030D-6E8A-4147-A177-3AD203B41FA5}">
                      <a16:colId xmlns:a16="http://schemas.microsoft.com/office/drawing/2014/main" val="3806736306"/>
                    </a:ext>
                  </a:extLst>
                </a:gridCol>
                <a:gridCol w="1580302">
                  <a:extLst>
                    <a:ext uri="{9D8B030D-6E8A-4147-A177-3AD203B41FA5}">
                      <a16:colId xmlns:a16="http://schemas.microsoft.com/office/drawing/2014/main" val="3837941876"/>
                    </a:ext>
                  </a:extLst>
                </a:gridCol>
                <a:gridCol w="1296223">
                  <a:extLst>
                    <a:ext uri="{9D8B030D-6E8A-4147-A177-3AD203B41FA5}">
                      <a16:colId xmlns:a16="http://schemas.microsoft.com/office/drawing/2014/main" val="1269935162"/>
                    </a:ext>
                  </a:extLst>
                </a:gridCol>
                <a:gridCol w="962144">
                  <a:extLst>
                    <a:ext uri="{9D8B030D-6E8A-4147-A177-3AD203B41FA5}">
                      <a16:colId xmlns:a16="http://schemas.microsoft.com/office/drawing/2014/main" val="1918676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country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area-code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street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city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zip</a:t>
                      </a:r>
                      <a:endParaRPr lang="nl-N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55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131 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1234567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Mayfield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Liverpool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EH4 8LE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168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131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3456789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Crichton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Manchester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EH4 8LE</a:t>
                      </a:r>
                      <a:endParaRPr lang="nl-NL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54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  <a:endParaRPr lang="nl-N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908</a:t>
                      </a:r>
                      <a:endParaRPr lang="nl-NL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3456789</a:t>
                      </a:r>
                      <a:endParaRPr lang="nl-NL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Mountain Ave</a:t>
                      </a:r>
                      <a:endParaRPr lang="nl-NL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NYC</a:t>
                      </a:r>
                      <a:endParaRPr lang="nl-NL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07974</a:t>
                      </a:r>
                      <a:endParaRPr lang="nl-NL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04557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B163E8E-EACE-EC43-B65A-42D28B2BB393}"/>
              </a:ext>
            </a:extLst>
          </p:cNvPr>
          <p:cNvSpPr txBox="1"/>
          <p:nvPr/>
        </p:nvSpPr>
        <p:spPr>
          <a:xfrm>
            <a:off x="2908300" y="6062598"/>
            <a:ext cx="8461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highlighted cells reflect violations of the CFD </a:t>
            </a:r>
            <a:r>
              <a:rPr lang="en-US" altLang="nl-NL" i="1" dirty="0"/>
              <a:t>([country = 44, zip] </a:t>
            </a:r>
            <a:r>
              <a:rPr lang="en-US" altLang="nl-NL" dirty="0">
                <a:sym typeface="Symbol" panose="05050102010706020507" pitchFamily="18" charset="2"/>
              </a:rPr>
              <a:t></a:t>
            </a:r>
            <a:r>
              <a:rPr lang="en-US" altLang="nl-NL" dirty="0">
                <a:sym typeface="Monotype Sorts" charset="2"/>
              </a:rPr>
              <a:t> </a:t>
            </a:r>
            <a:r>
              <a:rPr lang="en-US" altLang="nl-NL" i="1" dirty="0">
                <a:sym typeface="Monotype Sorts" charset="2"/>
              </a:rPr>
              <a:t>street)</a:t>
            </a:r>
            <a:r>
              <a:rPr lang="en-US" dirty="0"/>
              <a:t>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5E42A-4810-51DD-F9A9-61F0096B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36779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2.966.784 afbeeldingen voor Inpakken: afbeeldingen, stockfoto's en  vectoren | Shutterstock">
            <a:extLst>
              <a:ext uri="{FF2B5EF4-FFF2-40B4-BE49-F238E27FC236}">
                <a16:creationId xmlns:a16="http://schemas.microsoft.com/office/drawing/2014/main" id="{9558914C-6874-25D6-F6CC-00E5360298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6" b="13785"/>
          <a:stretch/>
        </p:blipFill>
        <p:spPr bwMode="auto">
          <a:xfrm>
            <a:off x="1155556" y="637762"/>
            <a:ext cx="9889765" cy="3579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6734649" y="4750698"/>
            <a:ext cx="4310672" cy="1463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Summarize what you learned today in 2-minutes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33F12D-9FDD-37A8-6163-7C209747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1691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Next lecture</a:t>
            </a:r>
          </a:p>
        </p:txBody>
      </p:sp>
      <p:sp>
        <p:nvSpPr>
          <p:cNvPr id="2273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Process Discovery</a:t>
            </a:r>
          </a:p>
          <a:p>
            <a:r>
              <a:rPr lang="en-US" altLang="en-US" dirty="0"/>
              <a:t>Conformance Checking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1C2856-CB3D-D34B-9F1D-8E5B8802D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E04EA-A26C-E447-A8E6-CA04C1B6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494A-3097-014D-8BD6-D19A16CE616C}" type="slidenum">
              <a:rPr lang="x-none" smtClean="0"/>
              <a:t>27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5717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93235904ECB429D95AFCF930B613A" ma:contentTypeVersion="5" ma:contentTypeDescription="Create a new document." ma:contentTypeScope="" ma:versionID="4c390286563cacde125c37b699801796">
  <xsd:schema xmlns:xsd="http://www.w3.org/2001/XMLSchema" xmlns:xs="http://www.w3.org/2001/XMLSchema" xmlns:p="http://schemas.microsoft.com/office/2006/metadata/properties" xmlns:ns3="5032e021-b0cf-43e6-828a-5b682824f23c" xmlns:ns4="ef284efa-1316-4307-b1a8-b157427e4237" targetNamespace="http://schemas.microsoft.com/office/2006/metadata/properties" ma:root="true" ma:fieldsID="8c9c49ab243af388e89cdf0ba7aaaf48" ns3:_="" ns4:_="">
    <xsd:import namespace="5032e021-b0cf-43e6-828a-5b682824f23c"/>
    <xsd:import namespace="ef284efa-1316-4307-b1a8-b157427e42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2e021-b0cf-43e6-828a-5b682824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84efa-1316-4307-b1a8-b157427e4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FE0A5C-9604-4B3E-8F9E-98072B6B9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7FB234-31BD-4786-8167-C9B3AC240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2e021-b0cf-43e6-828a-5b682824f23c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73D4E-B70B-4136-B747-E79AAA180FB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16284</TotalTime>
  <Words>2279</Words>
  <Application>Microsoft Macintosh PowerPoint</Application>
  <PresentationFormat>Widescreen</PresentationFormat>
  <Paragraphs>632</Paragraphs>
  <Slides>27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Monotype Sorts</vt:lpstr>
      <vt:lpstr>Symbol</vt:lpstr>
      <vt:lpstr>Times New Roman</vt:lpstr>
      <vt:lpstr>Office Theme</vt:lpstr>
      <vt:lpstr>Acrobat Document</vt:lpstr>
      <vt:lpstr>PowerPoint Presentation</vt:lpstr>
      <vt:lpstr>PowerPoint Presentation</vt:lpstr>
      <vt:lpstr>PowerPoint Presentation</vt:lpstr>
      <vt:lpstr>The Database Design Problem</vt:lpstr>
      <vt:lpstr>Decomposing Big Relations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Dependencies</vt:lpstr>
      <vt:lpstr>Functional Dependence (FD)</vt:lpstr>
      <vt:lpstr>Functional Dependence</vt:lpstr>
      <vt:lpstr>Alternative Definition of the Keys</vt:lpstr>
      <vt:lpstr>Functional Dependencies</vt:lpstr>
      <vt:lpstr>Closure of a Set of Functional Dependencies</vt:lpstr>
      <vt:lpstr>Functional Dependencies</vt:lpstr>
      <vt:lpstr>Examples of Armstrong’s Axioms</vt:lpstr>
      <vt:lpstr>More Derived FDs</vt:lpstr>
      <vt:lpstr>Boyce-Codd Normal Form</vt:lpstr>
      <vt:lpstr>Other Normal Forms</vt:lpstr>
      <vt:lpstr>Other Normal Forms</vt:lpstr>
      <vt:lpstr>Use of FDs</vt:lpstr>
      <vt:lpstr>Use of FDs (Cont.)</vt:lpstr>
      <vt:lpstr>Conditional Functional Dependencies (CFDs)</vt:lpstr>
      <vt:lpstr>PowerPoint Presentation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Qahtan, A.A.A. (Hakim)</dc:creator>
  <cp:lastModifiedBy>Qahtan, A. (Hakim)</cp:lastModifiedBy>
  <cp:revision>69</cp:revision>
  <cp:lastPrinted>2023-09-12T17:33:57Z</cp:lastPrinted>
  <dcterms:created xsi:type="dcterms:W3CDTF">2020-02-17T15:53:26Z</dcterms:created>
  <dcterms:modified xsi:type="dcterms:W3CDTF">2025-09-03T22:38:09Z</dcterms:modified>
</cp:coreProperties>
</file>