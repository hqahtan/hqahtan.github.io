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48"/>
  </p:notesMasterIdLst>
  <p:sldIdLst>
    <p:sldId id="256" r:id="rId5"/>
    <p:sldId id="2262" r:id="rId6"/>
    <p:sldId id="2264" r:id="rId7"/>
    <p:sldId id="322" r:id="rId8"/>
    <p:sldId id="2283" r:id="rId9"/>
    <p:sldId id="2279" r:id="rId10"/>
    <p:sldId id="371" r:id="rId11"/>
    <p:sldId id="2243" r:id="rId12"/>
    <p:sldId id="2258" r:id="rId13"/>
    <p:sldId id="2234" r:id="rId14"/>
    <p:sldId id="262" r:id="rId15"/>
    <p:sldId id="310" r:id="rId16"/>
    <p:sldId id="311" r:id="rId17"/>
    <p:sldId id="307" r:id="rId18"/>
    <p:sldId id="2287" r:id="rId19"/>
    <p:sldId id="2288" r:id="rId20"/>
    <p:sldId id="318" r:id="rId21"/>
    <p:sldId id="309" r:id="rId22"/>
    <p:sldId id="591" r:id="rId23"/>
    <p:sldId id="2259" r:id="rId24"/>
    <p:sldId id="2263" r:id="rId25"/>
    <p:sldId id="2266" r:id="rId26"/>
    <p:sldId id="2268" r:id="rId27"/>
    <p:sldId id="2269" r:id="rId28"/>
    <p:sldId id="2267" r:id="rId29"/>
    <p:sldId id="2270" r:id="rId30"/>
    <p:sldId id="2271" r:id="rId31"/>
    <p:sldId id="2273" r:id="rId32"/>
    <p:sldId id="2281" r:id="rId33"/>
    <p:sldId id="2275" r:id="rId34"/>
    <p:sldId id="2274" r:id="rId35"/>
    <p:sldId id="2276" r:id="rId36"/>
    <p:sldId id="2277" r:id="rId37"/>
    <p:sldId id="2285" r:id="rId38"/>
    <p:sldId id="2280" r:id="rId39"/>
    <p:sldId id="2250" r:id="rId40"/>
    <p:sldId id="2260" r:id="rId41"/>
    <p:sldId id="2261" r:id="rId42"/>
    <p:sldId id="2290" r:id="rId43"/>
    <p:sldId id="2289" r:id="rId44"/>
    <p:sldId id="258" r:id="rId45"/>
    <p:sldId id="2284" r:id="rId46"/>
    <p:sldId id="2286" r:id="rId47"/>
  </p:sldIdLst>
  <p:sldSz cx="12192000" cy="6858000"/>
  <p:notesSz cx="6858000" cy="9144000"/>
  <p:embeddedFontLst>
    <p:embeddedFont>
      <p:font typeface="Copperplate Gothic Bold" panose="020E0705020206020404" pitchFamily="34" charset="77"/>
      <p:regular r:id="rId49"/>
    </p:embeddedFont>
    <p:embeddedFont>
      <p:font typeface="Fira Sans" panose="020B0503050000020004" pitchFamily="34" charset="0"/>
      <p:regular r:id="rId50"/>
      <p:bold r:id="rId51"/>
      <p:italic r:id="rId52"/>
      <p:boldItalic r:id="rId53"/>
    </p:embeddedFont>
    <p:embeddedFont>
      <p:font typeface="Montserrat Light" panose="020F0302020204030204" pitchFamily="34" charset="0"/>
      <p:regular r:id="rId54"/>
      <p:italic r:id="rId55"/>
    </p:embeddedFont>
    <p:embeddedFont>
      <p:font typeface="Nunito Light" panose="020F0302020204030204" pitchFamily="34" charset="0"/>
      <p:regular r:id="rId56"/>
      <p:italic r:id="rId57"/>
    </p:embeddedFont>
    <p:embeddedFont>
      <p:font typeface="Verdana" panose="020B0604030504040204" pitchFamily="34" charset="0"/>
      <p:regular r:id="rId58"/>
      <p:bold r:id="rId59"/>
      <p:italic r:id="rId60"/>
      <p:boldItalic r:id="rId6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9A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6" autoAdjust="0"/>
    <p:restoredTop sz="94857"/>
  </p:normalViewPr>
  <p:slideViewPr>
    <p:cSldViewPr snapToGrid="0">
      <p:cViewPr varScale="1">
        <p:scale>
          <a:sx n="111" d="100"/>
          <a:sy n="111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19-05-2025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noProof="0" dirty="0">
              <a:solidFill>
                <a:schemeClr val="tx1"/>
              </a:solidFill>
              <a:effectLst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11CA4-2CAE-4AA3-9455-6345782AD4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44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4072C2-61A7-4011-81A8-90D25028E4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146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3" y="1"/>
            <a:ext cx="1218706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223167" y="2211800"/>
            <a:ext cx="5950000" cy="3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1223167" y="713333"/>
            <a:ext cx="4428800" cy="15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-1738120" y="-2590255"/>
            <a:ext cx="16080077" cy="11321040"/>
            <a:chOff x="-1303590" y="-1942691"/>
            <a:chExt cx="12060058" cy="8490780"/>
          </a:xfrm>
        </p:grpSpPr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 amt="44000"/>
            </a:blip>
            <a:srcRect l="22934" b="43566"/>
            <a:stretch/>
          </p:blipFill>
          <p:spPr>
            <a:xfrm rot="-1444251">
              <a:off x="4570968" y="2981184"/>
              <a:ext cx="5941704" cy="2462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4">
              <a:alphaModFix amt="31000"/>
            </a:blip>
            <a:stretch>
              <a:fillRect/>
            </a:stretch>
          </p:blipFill>
          <p:spPr>
            <a:xfrm rot="-671163">
              <a:off x="-1181461" y="-1310289"/>
              <a:ext cx="6707377" cy="191592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703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19-05-2025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hyperlink" Target="mailto:b.s.akkuzu@uu.nl" TargetMode="External"/><Relationship Id="rId3" Type="http://schemas.openxmlformats.org/officeDocument/2006/relationships/image" Target="../media/image6.jpg"/><Relationship Id="rId7" Type="http://schemas.openxmlformats.org/officeDocument/2006/relationships/image" Target="../media/image8.jpeg"/><Relationship Id="rId12" Type="http://schemas.openxmlformats.org/officeDocument/2006/relationships/image" Target="../media/image11.jpeg"/><Relationship Id="rId2" Type="http://schemas.openxmlformats.org/officeDocument/2006/relationships/hyperlink" Target="mailto:d.s.islakoglu@uu.n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0.jpeg"/><Relationship Id="rId5" Type="http://schemas.openxmlformats.org/officeDocument/2006/relationships/hyperlink" Target="mailto:v.shahrivarijoghan@uu.nl" TargetMode="External"/><Relationship Id="rId10" Type="http://schemas.openxmlformats.org/officeDocument/2006/relationships/hyperlink" Target="mailto:r.ricocuevas@uu.nl" TargetMode="External"/><Relationship Id="rId4" Type="http://schemas.openxmlformats.org/officeDocument/2006/relationships/hyperlink" Target="mailto:a.a.a.qahtan@uu.nl" TargetMode="External"/><Relationship Id="rId9" Type="http://schemas.openxmlformats.org/officeDocument/2006/relationships/hyperlink" Target="mailto:m.ghanavatinasab@uu.n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hyperlink" Target="mailto:d.l.oberski@uu.nl" TargetMode="External"/><Relationship Id="rId7" Type="http://schemas.openxmlformats.org/officeDocument/2006/relationships/image" Target="../media/image12.jpeg"/><Relationship Id="rId12" Type="http://schemas.openxmlformats.org/officeDocument/2006/relationships/hyperlink" Target="mailto:o.togay@uu.nl" TargetMode="External"/><Relationship Id="rId2" Type="http://schemas.openxmlformats.org/officeDocument/2006/relationships/hyperlink" Target="mailto:e.vankesteren1@uu.n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.shafieekamalabad@uu.nl" TargetMode="External"/><Relationship Id="rId11" Type="http://schemas.openxmlformats.org/officeDocument/2006/relationships/hyperlink" Target="mailto:e.candellone@uu.nl" TargetMode="External"/><Relationship Id="rId5" Type="http://schemas.openxmlformats.org/officeDocument/2006/relationships/hyperlink" Target="mailto:a.bagheri@uu.nl" TargetMode="External"/><Relationship Id="rId15" Type="http://schemas.openxmlformats.org/officeDocument/2006/relationships/image" Target="../media/image18.jpeg"/><Relationship Id="rId10" Type="http://schemas.openxmlformats.org/officeDocument/2006/relationships/image" Target="../media/image15.jpeg"/><Relationship Id="rId4" Type="http://schemas.openxmlformats.org/officeDocument/2006/relationships/hyperlink" Target="mailto:j.j.teijema@uu.nl" TargetMode="External"/><Relationship Id="rId9" Type="http://schemas.openxmlformats.org/officeDocument/2006/relationships/image" Target="../media/image14.jpeg"/><Relationship Id="rId1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emf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49.png"/><Relationship Id="rId5" Type="http://schemas.openxmlformats.org/officeDocument/2006/relationships/image" Target="../media/image48.jpg"/><Relationship Id="rId4" Type="http://schemas.openxmlformats.org/officeDocument/2006/relationships/image" Target="../media/image47.png"/><Relationship Id="rId9" Type="http://schemas.openxmlformats.org/officeDocument/2006/relationships/image" Target="../media/image5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learning.com/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gitlab.com/gbuvn1/opinion-polling-graph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ss.onlinelibrary.wiley.com/doi/epdf/10.1111/1740-9713.01574" TargetMode="External"/><Relationship Id="rId2" Type="http://schemas.openxmlformats.org/officeDocument/2006/relationships/hyperlink" Target="https://dh2017.adho.org/abstracts/079/07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app.wooclap.com/INFOMDWR?from=event-pag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mdwr.nl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ytimetable.uu.nl/" TargetMode="External"/><Relationship Id="rId2" Type="http://schemas.openxmlformats.org/officeDocument/2006/relationships/hyperlink" Target="https://infomdwr.n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u.brightspace.com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mdwr.nl/syllabus.html#required-reading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ytimetable.uu.nl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mdwr.nl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hyperlink" Target="mailto:h.kaya@uu.nl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eg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mailto:h.t.schavemaker@uu.nl" TargetMode="External"/><Relationship Id="rId2" Type="http://schemas.openxmlformats.org/officeDocument/2006/relationships/hyperlink" Target="https://bnaic2024.sites.uu.n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7.jpeg"/><Relationship Id="rId5" Type="http://schemas.openxmlformats.org/officeDocument/2006/relationships/image" Target="../media/image86.png"/><Relationship Id="rId4" Type="http://schemas.openxmlformats.org/officeDocument/2006/relationships/image" Target="../media/image85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1800486" y="5296354"/>
            <a:ext cx="276322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47F9721E-3CE3-246E-E7A6-89A61E3C1C78}"/>
              </a:ext>
            </a:extLst>
          </p:cNvPr>
          <p:cNvSpPr txBox="1">
            <a:spLocks/>
          </p:cNvSpPr>
          <p:nvPr/>
        </p:nvSpPr>
        <p:spPr>
          <a:xfrm>
            <a:off x="4803301" y="5296354"/>
            <a:ext cx="2943328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Erik-Jan van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Kesteren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6BCA29-FCF9-E342-563F-D2ACDA013AD5}"/>
              </a:ext>
            </a:extLst>
          </p:cNvPr>
          <p:cNvSpPr txBox="1">
            <a:spLocks/>
          </p:cNvSpPr>
          <p:nvPr/>
        </p:nvSpPr>
        <p:spPr>
          <a:xfrm>
            <a:off x="7986224" y="5296354"/>
            <a:ext cx="2763220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Ayoub Bagheri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6F34-C773-C782-DB32-C9B77C9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A96A6-81C4-9186-634E-D51C1311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Who are we?</a:t>
            </a:r>
          </a:p>
          <a:p>
            <a:r>
              <a:rPr lang="en-US" dirty="0"/>
              <a:t>Introduction to the course content</a:t>
            </a:r>
          </a:p>
          <a:p>
            <a:r>
              <a:rPr lang="en-US" dirty="0"/>
              <a:t>Getting to know you a little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Practicalities &amp; course flow</a:t>
            </a:r>
          </a:p>
          <a:p>
            <a:r>
              <a:rPr lang="en-US" dirty="0"/>
              <a:t>Time for questions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first…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157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we?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058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8655DD4-3369-FAE5-ACF6-6470C90486B9}"/>
              </a:ext>
            </a:extLst>
          </p:cNvPr>
          <p:cNvSpPr txBox="1"/>
          <p:nvPr/>
        </p:nvSpPr>
        <p:spPr>
          <a:xfrm>
            <a:off x="5544716" y="1466575"/>
            <a:ext cx="2055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Duygu</a:t>
            </a:r>
            <a:r>
              <a:rPr lang="en-US" dirty="0"/>
              <a:t> </a:t>
            </a:r>
            <a:r>
              <a:rPr lang="en-US" dirty="0" err="1"/>
              <a:t>Islakoglu</a:t>
            </a:r>
            <a:endParaRPr lang="en-US" dirty="0"/>
          </a:p>
          <a:p>
            <a:r>
              <a:rPr lang="en-US" dirty="0">
                <a:hlinkClick r:id="rId2"/>
              </a:rPr>
              <a:t>d.s.islakoglu@uu.nl</a:t>
            </a:r>
            <a:endParaRPr lang="en-US" dirty="0"/>
          </a:p>
        </p:txBody>
      </p:sp>
      <p:pic>
        <p:nvPicPr>
          <p:cNvPr id="24" name="Picture 23" descr="A person with glasses and beard&#10;&#10;Description automatically generated">
            <a:extLst>
              <a:ext uri="{FF2B5EF4-FFF2-40B4-BE49-F238E27FC236}">
                <a16:creationId xmlns:a16="http://schemas.microsoft.com/office/drawing/2014/main" id="{7AE3C262-8CAC-F161-47C3-EE7D7DD50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645" y="2230647"/>
            <a:ext cx="1231238" cy="16092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C4645C-2A7D-D8A9-29F7-C7CFC93954E2}"/>
              </a:ext>
            </a:extLst>
          </p:cNvPr>
          <p:cNvSpPr txBox="1"/>
          <p:nvPr/>
        </p:nvSpPr>
        <p:spPr>
          <a:xfrm>
            <a:off x="1866802" y="1584316"/>
            <a:ext cx="208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Hakim </a:t>
            </a:r>
            <a:r>
              <a:rPr lang="en-US" dirty="0" err="1"/>
              <a:t>Qahtan</a:t>
            </a:r>
            <a:endParaRPr lang="en-US" dirty="0"/>
          </a:p>
          <a:p>
            <a:r>
              <a:rPr lang="en-US" dirty="0">
                <a:hlinkClick r:id="rId4"/>
              </a:rPr>
              <a:t>a.a.a.qahtan@uu.nl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C87C8-6004-715C-6F81-6D91F084D2D0}"/>
              </a:ext>
            </a:extLst>
          </p:cNvPr>
          <p:cNvSpPr txBox="1"/>
          <p:nvPr/>
        </p:nvSpPr>
        <p:spPr>
          <a:xfrm>
            <a:off x="8814688" y="5673236"/>
            <a:ext cx="262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Vahid </a:t>
            </a:r>
            <a:r>
              <a:rPr lang="en-US" dirty="0" err="1"/>
              <a:t>Shahrivari</a:t>
            </a:r>
            <a:r>
              <a:rPr lang="en-US" dirty="0"/>
              <a:t> </a:t>
            </a:r>
            <a:r>
              <a:rPr lang="en-US" dirty="0" err="1"/>
              <a:t>Joghan</a:t>
            </a:r>
            <a:endParaRPr lang="en-US" dirty="0"/>
          </a:p>
          <a:p>
            <a:r>
              <a:rPr lang="en-US" dirty="0">
                <a:hlinkClick r:id="rId5"/>
              </a:rPr>
              <a:t>v.shahrivarijoghan@uu.nl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53BFC-4039-9333-0835-65C752E3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37207"/>
            <a:ext cx="80772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 team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A1F81F-3DB8-33BE-1CDB-817463353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449" y="4045088"/>
            <a:ext cx="1611154" cy="16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E243EBB-0483-5EEB-DFC7-6C4D2420C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44" y="2130396"/>
            <a:ext cx="1611154" cy="16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A02F44-E0FD-2FF7-6486-DE72857E9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357" y="4078703"/>
            <a:ext cx="1611154" cy="161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00E0AA-D5DE-BD85-BD51-49C79339E0E2}"/>
              </a:ext>
            </a:extLst>
          </p:cNvPr>
          <p:cNvSpPr txBox="1"/>
          <p:nvPr/>
        </p:nvSpPr>
        <p:spPr>
          <a:xfrm>
            <a:off x="5248742" y="5644711"/>
            <a:ext cx="2664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Mahsa</a:t>
            </a:r>
            <a:r>
              <a:rPr lang="en-US" dirty="0"/>
              <a:t> </a:t>
            </a:r>
            <a:r>
              <a:rPr lang="en-US" dirty="0" err="1"/>
              <a:t>Ghanavatinasab</a:t>
            </a:r>
            <a:endParaRPr lang="en-US" dirty="0"/>
          </a:p>
          <a:p>
            <a:r>
              <a:rPr lang="en-US" dirty="0">
                <a:hlinkClick r:id="rId9"/>
              </a:rPr>
              <a:t>m.ghanavatinasab@uu.nl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FC7B5-DA2C-37EE-6E3E-C3E1AD1A0226}"/>
              </a:ext>
            </a:extLst>
          </p:cNvPr>
          <p:cNvSpPr txBox="1"/>
          <p:nvPr/>
        </p:nvSpPr>
        <p:spPr>
          <a:xfrm>
            <a:off x="1802446" y="5644022"/>
            <a:ext cx="2216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Ramón Rico Cuevas </a:t>
            </a:r>
          </a:p>
          <a:p>
            <a:r>
              <a:rPr lang="en-US" dirty="0">
                <a:hlinkClick r:id="rId10"/>
              </a:rPr>
              <a:t>r.ricocuevas@uu.nl</a:t>
            </a:r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B42125F-B428-AE12-6EC9-901462385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599" y="4071025"/>
            <a:ext cx="1387241" cy="160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706FAC9-9190-9E41-2684-98532537B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449" y="2105724"/>
            <a:ext cx="1380441" cy="160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68B738-03AF-465A-0E8E-9D49B1D51F06}"/>
              </a:ext>
            </a:extLst>
          </p:cNvPr>
          <p:cNvSpPr txBox="1"/>
          <p:nvPr/>
        </p:nvSpPr>
        <p:spPr>
          <a:xfrm>
            <a:off x="9081485" y="1439949"/>
            <a:ext cx="20909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Anastasia S. Apeiron </a:t>
            </a:r>
            <a:r>
              <a:rPr lang="en-US" dirty="0">
                <a:hlinkClick r:id="rId13"/>
              </a:rPr>
              <a:t>b.s.akkuzu@uu.nl</a:t>
            </a:r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930E85CB-28DE-F75C-5372-A845568EB048}"/>
              </a:ext>
            </a:extLst>
          </p:cNvPr>
          <p:cNvSpPr/>
          <p:nvPr/>
        </p:nvSpPr>
        <p:spPr>
          <a:xfrm>
            <a:off x="4773528" y="1362770"/>
            <a:ext cx="3334558" cy="5102746"/>
          </a:xfrm>
          <a:prstGeom prst="frame">
            <a:avLst>
              <a:gd name="adj1" fmla="val 29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C3AA0B35-F65E-1784-9133-45783EC38D70}"/>
              </a:ext>
            </a:extLst>
          </p:cNvPr>
          <p:cNvSpPr/>
          <p:nvPr/>
        </p:nvSpPr>
        <p:spPr>
          <a:xfrm>
            <a:off x="8447122" y="1362770"/>
            <a:ext cx="3334558" cy="5102746"/>
          </a:xfrm>
          <a:prstGeom prst="frame">
            <a:avLst>
              <a:gd name="adj1" fmla="val 29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C0456-BAD5-60D8-0F3C-48588553EB96}"/>
              </a:ext>
            </a:extLst>
          </p:cNvPr>
          <p:cNvSpPr txBox="1"/>
          <p:nvPr/>
        </p:nvSpPr>
        <p:spPr>
          <a:xfrm>
            <a:off x="9156623" y="6439288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 Group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E9D4D-E66D-4957-C284-A0463A70E0B2}"/>
              </a:ext>
            </a:extLst>
          </p:cNvPr>
          <p:cNvSpPr txBox="1"/>
          <p:nvPr/>
        </p:nvSpPr>
        <p:spPr>
          <a:xfrm>
            <a:off x="2260254" y="6451523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 Group 1</a:t>
            </a: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9B2FBE29-AD6E-6617-371D-366E8FF2BBEB}"/>
              </a:ext>
            </a:extLst>
          </p:cNvPr>
          <p:cNvSpPr/>
          <p:nvPr/>
        </p:nvSpPr>
        <p:spPr>
          <a:xfrm>
            <a:off x="1112685" y="1353138"/>
            <a:ext cx="3334558" cy="5102746"/>
          </a:xfrm>
          <a:prstGeom prst="frame">
            <a:avLst>
              <a:gd name="adj1" fmla="val 29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02804-9925-0C53-B837-568A762FC363}"/>
              </a:ext>
            </a:extLst>
          </p:cNvPr>
          <p:cNvSpPr txBox="1"/>
          <p:nvPr/>
        </p:nvSpPr>
        <p:spPr>
          <a:xfrm>
            <a:off x="5752369" y="647060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 Group 2</a:t>
            </a:r>
          </a:p>
        </p:txBody>
      </p:sp>
    </p:spTree>
    <p:extLst>
      <p:ext uri="{BB962C8B-B14F-4D97-AF65-F5344CB8AC3E}">
        <p14:creationId xmlns:p14="http://schemas.microsoft.com/office/powerpoint/2010/main" val="157068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8655DD4-3369-FAE5-ACF6-6470C90486B9}"/>
              </a:ext>
            </a:extLst>
          </p:cNvPr>
          <p:cNvSpPr txBox="1"/>
          <p:nvPr/>
        </p:nvSpPr>
        <p:spPr>
          <a:xfrm>
            <a:off x="557180" y="1083733"/>
            <a:ext cx="22317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Erik-Jan</a:t>
            </a:r>
          </a:p>
          <a:p>
            <a:r>
              <a:rPr lang="en-US" sz="1600" dirty="0">
                <a:latin typeface="Fira Sans" panose="020B0503050000020004" pitchFamily="34" charset="0"/>
                <a:hlinkClick r:id="rId2"/>
              </a:rPr>
              <a:t>e.vankesteren1@uu.nl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4645C-2A7D-D8A9-29F7-C7CFC93954E2}"/>
              </a:ext>
            </a:extLst>
          </p:cNvPr>
          <p:cNvSpPr txBox="1"/>
          <p:nvPr/>
        </p:nvSpPr>
        <p:spPr>
          <a:xfrm>
            <a:off x="5430913" y="1083733"/>
            <a:ext cx="18389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Daniel</a:t>
            </a:r>
          </a:p>
          <a:p>
            <a:r>
              <a:rPr lang="en-US" sz="1600" dirty="0">
                <a:latin typeface="Fira Sans" panose="020B0503050000020004" pitchFamily="34" charset="0"/>
                <a:hlinkClick r:id="rId3"/>
              </a:rPr>
              <a:t>d.l.oberski@uu.nl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A76F81-2A96-1E38-CFA3-584355BFE35A}"/>
              </a:ext>
            </a:extLst>
          </p:cNvPr>
          <p:cNvSpPr txBox="1"/>
          <p:nvPr/>
        </p:nvSpPr>
        <p:spPr>
          <a:xfrm>
            <a:off x="4287042" y="3834801"/>
            <a:ext cx="17796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Jelle</a:t>
            </a:r>
          </a:p>
          <a:p>
            <a:r>
              <a:rPr lang="en-US" sz="1600" dirty="0">
                <a:latin typeface="Fira Sans" panose="020B0503050000020004" pitchFamily="34" charset="0"/>
                <a:hlinkClick r:id="rId4"/>
              </a:rPr>
              <a:t>j.j.teijema@uu.nl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1C87C8-6004-715C-6F81-6D91F084D2D0}"/>
              </a:ext>
            </a:extLst>
          </p:cNvPr>
          <p:cNvSpPr txBox="1"/>
          <p:nvPr/>
        </p:nvSpPr>
        <p:spPr>
          <a:xfrm>
            <a:off x="2985467" y="1083733"/>
            <a:ext cx="17299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Ayoub</a:t>
            </a:r>
          </a:p>
          <a:p>
            <a:r>
              <a:rPr lang="en-US" sz="1600" dirty="0">
                <a:latin typeface="Fira Sans" panose="020B0503050000020004" pitchFamily="34" charset="0"/>
                <a:hlinkClick r:id="rId5"/>
              </a:rPr>
              <a:t>a.bagheri@uu.nl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0BA69B-C664-1F67-63D1-5BB51AAF26E0}"/>
              </a:ext>
            </a:extLst>
          </p:cNvPr>
          <p:cNvSpPr txBox="1"/>
          <p:nvPr/>
        </p:nvSpPr>
        <p:spPr>
          <a:xfrm>
            <a:off x="8423772" y="3834801"/>
            <a:ext cx="28055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Mahdi</a:t>
            </a:r>
          </a:p>
          <a:p>
            <a:r>
              <a:rPr lang="en-US" sz="1600" dirty="0">
                <a:latin typeface="Fira Sans" panose="020B0503050000020004" pitchFamily="34" charset="0"/>
                <a:hlinkClick r:id="rId6"/>
              </a:rPr>
              <a:t>m.shafieekamalabad@uu.nl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2132F-6E4A-1480-1AE7-2349AB050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913" y="1789472"/>
            <a:ext cx="1461670" cy="176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BBE0C1AA-FC21-150F-F0B5-3F13103D8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50" b="16750"/>
          <a:stretch/>
        </p:blipFill>
        <p:spPr bwMode="auto">
          <a:xfrm>
            <a:off x="651778" y="1834139"/>
            <a:ext cx="1714057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2E01320-DB6F-80C1-9F5E-3B3F91CF8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6" r="10286"/>
          <a:stretch/>
        </p:blipFill>
        <p:spPr bwMode="auto">
          <a:xfrm>
            <a:off x="8506020" y="4612659"/>
            <a:ext cx="1645150" cy="1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9C63331A-6860-ADDC-6442-6EE7381E3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93" y="4568444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44E381D-AE17-47FC-DBA2-638B6E2A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60" y="-19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</a:t>
            </a:r>
            <a:r>
              <a:rPr lang="en-US" sz="6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 team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63CA2-79B0-616D-481E-5E8910642E65}"/>
              </a:ext>
            </a:extLst>
          </p:cNvPr>
          <p:cNvSpPr txBox="1"/>
          <p:nvPr/>
        </p:nvSpPr>
        <p:spPr>
          <a:xfrm>
            <a:off x="2051182" y="3834801"/>
            <a:ext cx="20649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Elena</a:t>
            </a:r>
          </a:p>
          <a:p>
            <a:r>
              <a:rPr lang="en-US" sz="1600" dirty="0">
                <a:latin typeface="Fira Sans" panose="020B0503050000020004" pitchFamily="34" charset="0"/>
                <a:hlinkClick r:id="rId11"/>
              </a:rPr>
              <a:t>e.candellone@uu.nl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5107F-6629-0880-47F7-7CDABB1E8F3E}"/>
              </a:ext>
            </a:extLst>
          </p:cNvPr>
          <p:cNvSpPr txBox="1"/>
          <p:nvPr/>
        </p:nvSpPr>
        <p:spPr>
          <a:xfrm>
            <a:off x="6416428" y="3805130"/>
            <a:ext cx="1547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</a:rPr>
              <a:t>Özgür </a:t>
            </a:r>
          </a:p>
          <a:p>
            <a:r>
              <a:rPr lang="en-US" sz="1600" dirty="0">
                <a:latin typeface="Fira Sans" panose="020B0503050000020004" pitchFamily="34" charset="0"/>
                <a:hlinkClick r:id="rId12"/>
              </a:rPr>
              <a:t>o.togay@uu.nl</a:t>
            </a:r>
            <a:endParaRPr lang="en-US" sz="1600" dirty="0">
              <a:latin typeface="Fira Sans" panose="020B0503050000020004" pitchFamily="34" charset="0"/>
            </a:endParaRP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4D528293-6FF2-C4C9-0ACA-8C6D0FC1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59570" y="4557928"/>
            <a:ext cx="1645151" cy="164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25191DB-E0B8-490E-273A-EB5D9C3AF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9"/>
          <a:stretch/>
        </p:blipFill>
        <p:spPr bwMode="auto">
          <a:xfrm>
            <a:off x="2106257" y="4581533"/>
            <a:ext cx="1453663" cy="164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4151DAE-9F1C-965B-709F-6FB360F8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20" y="1834139"/>
            <a:ext cx="1538256" cy="171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02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98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value from data</a:t>
            </a:r>
            <a:endParaRPr lang="nl-NL" sz="3200" b="1" dirty="0"/>
          </a:p>
        </p:txBody>
      </p:sp>
      <p:pic>
        <p:nvPicPr>
          <p:cNvPr id="3" name="Shape 105">
            <a:extLst>
              <a:ext uri="{FF2B5EF4-FFF2-40B4-BE49-F238E27FC236}">
                <a16:creationId xmlns:a16="http://schemas.microsoft.com/office/drawing/2014/main" id="{85499235-21D7-A145-9022-BE0422AE3B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2" t="11574" r="13251" b="57478"/>
          <a:stretch>
            <a:fillRect/>
          </a:stretch>
        </p:blipFill>
        <p:spPr bwMode="auto">
          <a:xfrm>
            <a:off x="9683632" y="2360107"/>
            <a:ext cx="2338388" cy="159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710D447-120D-AC61-B2EE-8563D11533E7}"/>
              </a:ext>
            </a:extLst>
          </p:cNvPr>
          <p:cNvGrpSpPr/>
          <p:nvPr/>
        </p:nvGrpSpPr>
        <p:grpSpPr>
          <a:xfrm>
            <a:off x="395921" y="2377482"/>
            <a:ext cx="2217738" cy="1704975"/>
            <a:chOff x="2496864" y="2388368"/>
            <a:chExt cx="2217738" cy="1704975"/>
          </a:xfrm>
        </p:grpSpPr>
        <p:pic>
          <p:nvPicPr>
            <p:cNvPr id="4" name="Shape 106">
              <a:extLst>
                <a:ext uri="{FF2B5EF4-FFF2-40B4-BE49-F238E27FC236}">
                  <a16:creationId xmlns:a16="http://schemas.microsoft.com/office/drawing/2014/main" id="{D86AB12A-8566-E648-A8C2-6255531857D3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453"/>
            <a:stretch>
              <a:fillRect/>
            </a:stretch>
          </p:blipFill>
          <p:spPr bwMode="auto">
            <a:xfrm>
              <a:off x="2496864" y="2388368"/>
              <a:ext cx="2217738" cy="170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Shape 107">
              <a:extLst>
                <a:ext uri="{FF2B5EF4-FFF2-40B4-BE49-F238E27FC236}">
                  <a16:creationId xmlns:a16="http://schemas.microsoft.com/office/drawing/2014/main" id="{09FB33D1-1BC3-6E41-AAF9-202F0D8A994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5" t="19753" r="52547" b="60233"/>
            <a:stretch>
              <a:fillRect/>
            </a:stretch>
          </p:blipFill>
          <p:spPr bwMode="auto">
            <a:xfrm>
              <a:off x="2710270" y="3523290"/>
              <a:ext cx="315912" cy="334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Shape 108">
            <a:extLst>
              <a:ext uri="{FF2B5EF4-FFF2-40B4-BE49-F238E27FC236}">
                <a16:creationId xmlns:a16="http://schemas.microsoft.com/office/drawing/2014/main" id="{11EE6C4A-C9B9-9B49-B40E-BF90D1F2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673" y="2825016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pic>
        <p:nvPicPr>
          <p:cNvPr id="12" name="Picture 11" descr="A graphic of a graph and diagram&#10;&#10;Description automatically generated with medium confidence">
            <a:extLst>
              <a:ext uri="{FF2B5EF4-FFF2-40B4-BE49-F238E27FC236}">
                <a16:creationId xmlns:a16="http://schemas.microsoft.com/office/drawing/2014/main" id="{3F623BA2-3DA9-EF8C-C167-4D9779690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36" y="2449834"/>
            <a:ext cx="2708410" cy="1604984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E6D349B-B6AA-898F-7034-54CBD00DB56D}"/>
              </a:ext>
            </a:extLst>
          </p:cNvPr>
          <p:cNvGrpSpPr/>
          <p:nvPr/>
        </p:nvGrpSpPr>
        <p:grpSpPr>
          <a:xfrm>
            <a:off x="3571128" y="2123574"/>
            <a:ext cx="2197834" cy="2197834"/>
            <a:chOff x="3571128" y="2123574"/>
            <a:chExt cx="2197834" cy="21978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A98C3C-13ED-1752-F193-15C05CE1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128" y="2123574"/>
              <a:ext cx="2197834" cy="2197834"/>
            </a:xfrm>
            <a:prstGeom prst="rect">
              <a:avLst/>
            </a:prstGeom>
          </p:spPr>
        </p:pic>
        <p:pic>
          <p:nvPicPr>
            <p:cNvPr id="15" name="Graphic 14" descr="Branching diagram outline">
              <a:extLst>
                <a:ext uri="{FF2B5EF4-FFF2-40B4-BE49-F238E27FC236}">
                  <a16:creationId xmlns:a16="http://schemas.microsoft.com/office/drawing/2014/main" id="{36B328CC-F6F8-07DE-F6E1-8FCA8F3E0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800000">
              <a:off x="3759911" y="2990586"/>
              <a:ext cx="331304" cy="331304"/>
            </a:xfrm>
            <a:prstGeom prst="rect">
              <a:avLst/>
            </a:prstGeom>
          </p:spPr>
        </p:pic>
        <p:pic>
          <p:nvPicPr>
            <p:cNvPr id="16" name="Graphic 15" descr="CheckList outline">
              <a:extLst>
                <a:ext uri="{FF2B5EF4-FFF2-40B4-BE49-F238E27FC236}">
                  <a16:creationId xmlns:a16="http://schemas.microsoft.com/office/drawing/2014/main" id="{35186E2A-37CC-9BEB-B7DF-7F5E2CD90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10247" y="3047840"/>
              <a:ext cx="364258" cy="364258"/>
            </a:xfrm>
            <a:prstGeom prst="rect">
              <a:avLst/>
            </a:prstGeom>
          </p:spPr>
        </p:pic>
        <p:pic>
          <p:nvPicPr>
            <p:cNvPr id="20" name="Graphic 19" descr="Mop and bucket with solid fill">
              <a:extLst>
                <a:ext uri="{FF2B5EF4-FFF2-40B4-BE49-F238E27FC236}">
                  <a16:creationId xmlns:a16="http://schemas.microsoft.com/office/drawing/2014/main" id="{01AB7E64-271E-5C93-FCA3-69BF85435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98451" y="3543920"/>
              <a:ext cx="298888" cy="298888"/>
            </a:xfrm>
            <a:prstGeom prst="rect">
              <a:avLst/>
            </a:prstGeom>
          </p:spPr>
        </p:pic>
        <p:pic>
          <p:nvPicPr>
            <p:cNvPr id="26" name="Graphic 25" descr="Document with solid fill">
              <a:extLst>
                <a:ext uri="{FF2B5EF4-FFF2-40B4-BE49-F238E27FC236}">
                  <a16:creationId xmlns:a16="http://schemas.microsoft.com/office/drawing/2014/main" id="{572F3632-7E66-B419-D9DD-F6B6BD437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13946" y="2360107"/>
              <a:ext cx="403658" cy="403658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3A3E9CB-33E8-50E3-8175-4DBB7BBEEEBB}"/>
                </a:ext>
              </a:extLst>
            </p:cNvPr>
            <p:cNvGrpSpPr/>
            <p:nvPr/>
          </p:nvGrpSpPr>
          <p:grpSpPr>
            <a:xfrm>
              <a:off x="4813946" y="3585333"/>
              <a:ext cx="480971" cy="497124"/>
              <a:chOff x="5683774" y="2994822"/>
              <a:chExt cx="914400" cy="914400"/>
            </a:xfrm>
          </p:grpSpPr>
          <p:pic>
            <p:nvPicPr>
              <p:cNvPr id="28" name="Graphic 27" descr="World outline">
                <a:extLst>
                  <a:ext uri="{FF2B5EF4-FFF2-40B4-BE49-F238E27FC236}">
                    <a16:creationId xmlns:a16="http://schemas.microsoft.com/office/drawing/2014/main" id="{846E17AD-B865-8CE7-89EC-A0307C28A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683774" y="2994822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40F9A75-CA10-7290-F7A5-559474F4A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1482" y="3222491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8369BF3-5BB1-324C-2E6C-CF477C364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8231" y="3653348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Shape 108">
            <a:extLst>
              <a:ext uri="{FF2B5EF4-FFF2-40B4-BE49-F238E27FC236}">
                <a16:creationId xmlns:a16="http://schemas.microsoft.com/office/drawing/2014/main" id="{816DF86D-C2E5-DA03-3800-4C9964303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038" y="2844557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Shape 108">
            <a:extLst>
              <a:ext uri="{FF2B5EF4-FFF2-40B4-BE49-F238E27FC236}">
                <a16:creationId xmlns:a16="http://schemas.microsoft.com/office/drawing/2014/main" id="{988178CC-14C1-C828-78D4-7B6A44E8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753" y="2844558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72F6B0-8FE4-9F7A-40B7-454671662516}"/>
              </a:ext>
            </a:extLst>
          </p:cNvPr>
          <p:cNvSpPr txBox="1"/>
          <p:nvPr/>
        </p:nvSpPr>
        <p:spPr>
          <a:xfrm>
            <a:off x="9753909" y="186790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Information</a:t>
            </a:r>
          </a:p>
          <a:p>
            <a:pPr algn="ctr"/>
            <a:endParaRPr lang="en-US" sz="2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CFA1E0-1096-9D87-49F1-07D6F08BF966}"/>
              </a:ext>
            </a:extLst>
          </p:cNvPr>
          <p:cNvSpPr txBox="1"/>
          <p:nvPr/>
        </p:nvSpPr>
        <p:spPr>
          <a:xfrm>
            <a:off x="274280" y="163198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600" dirty="0"/>
          </a:p>
        </p:txBody>
      </p:sp>
      <p:pic>
        <p:nvPicPr>
          <p:cNvPr id="44" name="Graphic 43" descr="Eye with solid fill">
            <a:extLst>
              <a:ext uri="{FF2B5EF4-FFF2-40B4-BE49-F238E27FC236}">
                <a16:creationId xmlns:a16="http://schemas.microsoft.com/office/drawing/2014/main" id="{AF06AAAD-14C6-CFFE-9F1A-9FE1C3D3C7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16667" y="2353554"/>
            <a:ext cx="513442" cy="513442"/>
          </a:xfrm>
          <a:prstGeom prst="rect">
            <a:avLst/>
          </a:prstGeom>
        </p:spPr>
      </p:pic>
      <p:pic>
        <p:nvPicPr>
          <p:cNvPr id="46" name="Graphic 45" descr="Cause And Effect with solid fill">
            <a:extLst>
              <a:ext uri="{FF2B5EF4-FFF2-40B4-BE49-F238E27FC236}">
                <a16:creationId xmlns:a16="http://schemas.microsoft.com/office/drawing/2014/main" id="{8E0A7CDB-6B82-7BBC-A65A-62572801A6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30701" y="3693364"/>
            <a:ext cx="388036" cy="3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9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KDD process</a:t>
            </a:r>
            <a:endParaRPr lang="nl-NL" sz="3200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AD1709-B664-29BC-FA12-C510C0EA34BF}"/>
              </a:ext>
            </a:extLst>
          </p:cNvPr>
          <p:cNvGrpSpPr/>
          <p:nvPr/>
        </p:nvGrpSpPr>
        <p:grpSpPr>
          <a:xfrm>
            <a:off x="1875670" y="186712"/>
            <a:ext cx="10000097" cy="6475489"/>
            <a:chOff x="1875670" y="186712"/>
            <a:chExt cx="10000097" cy="6475489"/>
          </a:xfrm>
        </p:grpSpPr>
        <p:pic>
          <p:nvPicPr>
            <p:cNvPr id="3" name="Graphic 2" descr="Database with solid fill">
              <a:extLst>
                <a:ext uri="{FF2B5EF4-FFF2-40B4-BE49-F238E27FC236}">
                  <a16:creationId xmlns:a16="http://schemas.microsoft.com/office/drawing/2014/main" id="{602AFC9B-0643-80E7-6DD9-CE34673C3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93993" y="5747801"/>
              <a:ext cx="914400" cy="914400"/>
            </a:xfrm>
            <a:prstGeom prst="rect">
              <a:avLst/>
            </a:prstGeom>
          </p:spPr>
        </p:pic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5A325565-EE20-7E6A-0988-03A980DF0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5567" y="4945827"/>
              <a:ext cx="429718" cy="429718"/>
            </a:xfrm>
            <a:prstGeom prst="rect">
              <a:avLst/>
            </a:prstGeom>
          </p:spPr>
        </p:pic>
        <p:pic>
          <p:nvPicPr>
            <p:cNvPr id="5" name="Graphic 4" descr="Database with solid fill">
              <a:extLst>
                <a:ext uri="{FF2B5EF4-FFF2-40B4-BE49-F238E27FC236}">
                  <a16:creationId xmlns:a16="http://schemas.microsoft.com/office/drawing/2014/main" id="{682B50C5-84E6-B15E-E6CE-731D1FCBE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57967" y="5098227"/>
              <a:ext cx="429718" cy="429718"/>
            </a:xfrm>
            <a:prstGeom prst="rect">
              <a:avLst/>
            </a:prstGeom>
          </p:spPr>
        </p:pic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514320F9-D6CD-AFE1-9FE3-05F022A2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2826" y="5003290"/>
              <a:ext cx="429718" cy="429718"/>
            </a:xfrm>
            <a:prstGeom prst="rect">
              <a:avLst/>
            </a:prstGeom>
          </p:spPr>
        </p:pic>
        <p:pic>
          <p:nvPicPr>
            <p:cNvPr id="8" name="Graphic 7" descr="Database with solid fill">
              <a:extLst>
                <a:ext uri="{FF2B5EF4-FFF2-40B4-BE49-F238E27FC236}">
                  <a16:creationId xmlns:a16="http://schemas.microsoft.com/office/drawing/2014/main" id="{53E9F1E4-DF65-BB29-5432-D6B50B966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05567" y="5195039"/>
              <a:ext cx="429718" cy="42971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F2B39C-8F5A-E136-D835-38408232DAD6}"/>
                </a:ext>
              </a:extLst>
            </p:cNvPr>
            <p:cNvSpPr txBox="1"/>
            <p:nvPr/>
          </p:nvSpPr>
          <p:spPr>
            <a:xfrm>
              <a:off x="1875670" y="5888082"/>
              <a:ext cx="1104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Data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B95FD1F-D128-328C-AA6B-25592D737855}"/>
                </a:ext>
              </a:extLst>
            </p:cNvPr>
            <p:cNvCxnSpPr/>
            <p:nvPr/>
          </p:nvCxnSpPr>
          <p:spPr>
            <a:xfrm flipV="1">
              <a:off x="3455993" y="5527945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E384F0-BEDA-651F-D7E9-7022FCA1B54B}"/>
                </a:ext>
              </a:extLst>
            </p:cNvPr>
            <p:cNvSpPr/>
            <p:nvPr/>
          </p:nvSpPr>
          <p:spPr>
            <a:xfrm>
              <a:off x="3608393" y="5661197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C776157-11CE-A96E-DAC1-127060ADAA48}"/>
                </a:ext>
              </a:extLst>
            </p:cNvPr>
            <p:cNvSpPr/>
            <p:nvPr/>
          </p:nvSpPr>
          <p:spPr>
            <a:xfrm>
              <a:off x="1904511" y="4644775"/>
              <a:ext cx="1341620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8BDD3B-E534-D401-2331-576084A20F84}"/>
                </a:ext>
              </a:extLst>
            </p:cNvPr>
            <p:cNvSpPr txBox="1"/>
            <p:nvPr/>
          </p:nvSpPr>
          <p:spPr>
            <a:xfrm>
              <a:off x="2171758" y="4633958"/>
              <a:ext cx="732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C569B5F-4460-03D3-0F83-52202FD9DAEC}"/>
                </a:ext>
              </a:extLst>
            </p:cNvPr>
            <p:cNvCxnSpPr>
              <a:cxnSpLocks/>
              <a:stCxn id="13" idx="2"/>
              <a:endCxn id="11" idx="1"/>
            </p:cNvCxnSpPr>
            <p:nvPr/>
          </p:nvCxnSpPr>
          <p:spPr>
            <a:xfrm>
              <a:off x="2538205" y="5003290"/>
              <a:ext cx="1112365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DCADAD-55FC-7C81-920D-61FE64B8E942}"/>
                </a:ext>
              </a:extLst>
            </p:cNvPr>
            <p:cNvCxnSpPr/>
            <p:nvPr/>
          </p:nvCxnSpPr>
          <p:spPr>
            <a:xfrm flipV="1">
              <a:off x="4797613" y="4602716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44E387-5EAC-5833-6835-73DB3BF86532}"/>
                </a:ext>
              </a:extLst>
            </p:cNvPr>
            <p:cNvSpPr/>
            <p:nvPr/>
          </p:nvSpPr>
          <p:spPr>
            <a:xfrm>
              <a:off x="4950013" y="4735968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D6ADD0C-BCAB-F1C0-2CF9-207B864B2A0C}"/>
                </a:ext>
              </a:extLst>
            </p:cNvPr>
            <p:cNvSpPr/>
            <p:nvPr/>
          </p:nvSpPr>
          <p:spPr>
            <a:xfrm>
              <a:off x="3246130" y="3719546"/>
              <a:ext cx="1456789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909CF1-028E-62EB-706C-2E8B1F320434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887840" y="4078061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4C81FE-98AD-0610-CD88-C66F8057EF08}"/>
                </a:ext>
              </a:extLst>
            </p:cNvPr>
            <p:cNvSpPr txBox="1"/>
            <p:nvPr/>
          </p:nvSpPr>
          <p:spPr>
            <a:xfrm>
              <a:off x="3239472" y="3712763"/>
              <a:ext cx="1495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preprocessing</a:t>
              </a:r>
            </a:p>
          </p:txBody>
        </p:sp>
        <p:pic>
          <p:nvPicPr>
            <p:cNvPr id="20" name="Graphic 19" descr="Table with solid fill">
              <a:extLst>
                <a:ext uri="{FF2B5EF4-FFF2-40B4-BE49-F238E27FC236}">
                  <a16:creationId xmlns:a16="http://schemas.microsoft.com/office/drawing/2014/main" id="{E2CFAEB0-80BE-EE64-6F6B-B852DB236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359449" y="3851545"/>
              <a:ext cx="1243561" cy="124356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C11F6B-B119-BF83-FAA4-ADACAC91E42C}"/>
                </a:ext>
              </a:extLst>
            </p:cNvPr>
            <p:cNvSpPr txBox="1"/>
            <p:nvPr/>
          </p:nvSpPr>
          <p:spPr>
            <a:xfrm>
              <a:off x="4172686" y="5564917"/>
              <a:ext cx="817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Target </a:t>
              </a:r>
            </a:p>
            <a:p>
              <a:r>
                <a:rPr lang="en-US" dirty="0"/>
                <a:t>Data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097C63-08DB-518D-49F5-8F1C1366AD36}"/>
                </a:ext>
              </a:extLst>
            </p:cNvPr>
            <p:cNvSpPr txBox="1"/>
            <p:nvPr/>
          </p:nvSpPr>
          <p:spPr>
            <a:xfrm>
              <a:off x="5315076" y="4837520"/>
              <a:ext cx="14988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D3CA96-25C4-555A-7276-58F475584B6C}"/>
                </a:ext>
              </a:extLst>
            </p:cNvPr>
            <p:cNvCxnSpPr/>
            <p:nvPr/>
          </p:nvCxnSpPr>
          <p:spPr>
            <a:xfrm flipV="1">
              <a:off x="5892689" y="3612234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DA67D8A-89FD-C4C9-F126-C00117316FD4}"/>
                </a:ext>
              </a:extLst>
            </p:cNvPr>
            <p:cNvSpPr/>
            <p:nvPr/>
          </p:nvSpPr>
          <p:spPr>
            <a:xfrm>
              <a:off x="6045089" y="3745486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ECBC267-E742-3C2D-FE09-2C0BE55591ED}"/>
                </a:ext>
              </a:extLst>
            </p:cNvPr>
            <p:cNvSpPr/>
            <p:nvPr/>
          </p:nvSpPr>
          <p:spPr>
            <a:xfrm>
              <a:off x="4105567" y="2761139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D988A8-2098-CEE7-0AFF-C03B0C409BDD}"/>
                </a:ext>
              </a:extLst>
            </p:cNvPr>
            <p:cNvSpPr txBox="1"/>
            <p:nvPr/>
          </p:nvSpPr>
          <p:spPr>
            <a:xfrm>
              <a:off x="4095847" y="2734538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transformation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84907B5-24CF-D0DE-C355-5DE0C12E9442}"/>
                </a:ext>
              </a:extLst>
            </p:cNvPr>
            <p:cNvCxnSpPr>
              <a:cxnSpLocks/>
            </p:cNvCxnSpPr>
            <p:nvPr/>
          </p:nvCxnSpPr>
          <p:spPr>
            <a:xfrm>
              <a:off x="4950013" y="3106272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DC5C42-09A1-BD02-C307-3F9A6410907C}"/>
                </a:ext>
              </a:extLst>
            </p:cNvPr>
            <p:cNvSpPr/>
            <p:nvPr/>
          </p:nvSpPr>
          <p:spPr>
            <a:xfrm>
              <a:off x="6603010" y="24162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25566B-94E0-67B2-1A76-04888D462367}"/>
                </a:ext>
              </a:extLst>
            </p:cNvPr>
            <p:cNvSpPr/>
            <p:nvPr/>
          </p:nvSpPr>
          <p:spPr>
            <a:xfrm>
              <a:off x="6755410" y="25686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B27997-6C0C-5007-5D9B-A1A4E5E3148C}"/>
                </a:ext>
              </a:extLst>
            </p:cNvPr>
            <p:cNvSpPr/>
            <p:nvPr/>
          </p:nvSpPr>
          <p:spPr>
            <a:xfrm>
              <a:off x="6907810" y="27210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AAF34B-07EF-1717-18B8-743959214219}"/>
                </a:ext>
              </a:extLst>
            </p:cNvPr>
            <p:cNvSpPr/>
            <p:nvPr/>
          </p:nvSpPr>
          <p:spPr>
            <a:xfrm>
              <a:off x="7060210" y="28734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86230E-AD10-8FCD-643F-AECF4260C511}"/>
                </a:ext>
              </a:extLst>
            </p:cNvPr>
            <p:cNvSpPr txBox="1"/>
            <p:nvPr/>
          </p:nvSpPr>
          <p:spPr>
            <a:xfrm>
              <a:off x="6724446" y="4279550"/>
              <a:ext cx="14201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CB9E4ED-CBB7-0C74-353F-CA50083F5951}"/>
                </a:ext>
              </a:extLst>
            </p:cNvPr>
            <p:cNvCxnSpPr/>
            <p:nvPr/>
          </p:nvCxnSpPr>
          <p:spPr>
            <a:xfrm flipV="1">
              <a:off x="7244029" y="2397462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31FB93-1F30-DBBB-FF0B-F6D3EB2A1444}"/>
                </a:ext>
              </a:extLst>
            </p:cNvPr>
            <p:cNvSpPr/>
            <p:nvPr/>
          </p:nvSpPr>
          <p:spPr>
            <a:xfrm>
              <a:off x="7396429" y="2530714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59758BB-2CF3-EFBA-F6ED-CC2FDB05AF21}"/>
                </a:ext>
              </a:extLst>
            </p:cNvPr>
            <p:cNvSpPr/>
            <p:nvPr/>
          </p:nvSpPr>
          <p:spPr>
            <a:xfrm>
              <a:off x="5456907" y="1546367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D81203-BB73-B86D-D296-0CB1E86C83AA}"/>
                </a:ext>
              </a:extLst>
            </p:cNvPr>
            <p:cNvSpPr txBox="1"/>
            <p:nvPr/>
          </p:nvSpPr>
          <p:spPr>
            <a:xfrm>
              <a:off x="5447187" y="1519766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mining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ED5AEF-0E26-B8BE-C224-0C4D970C9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53" y="1891500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aphic 53" descr="Bar chart outline">
              <a:extLst>
                <a:ext uri="{FF2B5EF4-FFF2-40B4-BE49-F238E27FC236}">
                  <a16:creationId xmlns:a16="http://schemas.microsoft.com/office/drawing/2014/main" id="{ADCB345A-D30F-82EF-BE15-49C332478754}"/>
                </a:ext>
              </a:extLst>
            </p:cNvPr>
            <p:cNvGrpSpPr/>
            <p:nvPr/>
          </p:nvGrpSpPr>
          <p:grpSpPr>
            <a:xfrm>
              <a:off x="7981580" y="1559648"/>
              <a:ext cx="661958" cy="887045"/>
              <a:chOff x="6566117" y="1183362"/>
              <a:chExt cx="661958" cy="887045"/>
            </a:xfrm>
            <a:solidFill>
              <a:srgbClr val="000000"/>
            </a:solidFill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E214B62-A48F-796F-5954-EB42B7858EDE}"/>
                  </a:ext>
                </a:extLst>
              </p:cNvPr>
              <p:cNvSpPr/>
              <p:nvPr/>
            </p:nvSpPr>
            <p:spPr>
              <a:xfrm>
                <a:off x="6566117" y="1493834"/>
                <a:ext cx="177361" cy="576573"/>
              </a:xfrm>
              <a:custGeom>
                <a:avLst/>
                <a:gdLst>
                  <a:gd name="connsiteX0" fmla="*/ 177362 w 177361"/>
                  <a:gd name="connsiteY0" fmla="*/ 576573 h 576573"/>
                  <a:gd name="connsiteX1" fmla="*/ 177362 w 177361"/>
                  <a:gd name="connsiteY1" fmla="*/ 0 h 576573"/>
                  <a:gd name="connsiteX2" fmla="*/ 0 w 177361"/>
                  <a:gd name="connsiteY2" fmla="*/ 0 h 576573"/>
                  <a:gd name="connsiteX3" fmla="*/ 0 w 177361"/>
                  <a:gd name="connsiteY3" fmla="*/ 576573 h 576573"/>
                  <a:gd name="connsiteX4" fmla="*/ 29560 w 177361"/>
                  <a:gd name="connsiteY4" fmla="*/ 29560 h 576573"/>
                  <a:gd name="connsiteX5" fmla="*/ 147801 w 177361"/>
                  <a:gd name="connsiteY5" fmla="*/ 29560 h 576573"/>
                  <a:gd name="connsiteX6" fmla="*/ 147801 w 177361"/>
                  <a:gd name="connsiteY6" fmla="*/ 547013 h 576573"/>
                  <a:gd name="connsiteX7" fmla="*/ 29560 w 177361"/>
                  <a:gd name="connsiteY7" fmla="*/ 547013 h 57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576573">
                    <a:moveTo>
                      <a:pt x="177362" y="576573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576573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547013"/>
                    </a:lnTo>
                    <a:lnTo>
                      <a:pt x="29560" y="54701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1A10C4F-894F-0249-BA95-0DCF4834FFFE}"/>
                  </a:ext>
                </a:extLst>
              </p:cNvPr>
              <p:cNvSpPr/>
              <p:nvPr/>
            </p:nvSpPr>
            <p:spPr>
              <a:xfrm>
                <a:off x="6802600" y="1183362"/>
                <a:ext cx="177361" cy="887044"/>
              </a:xfrm>
              <a:custGeom>
                <a:avLst/>
                <a:gdLst>
                  <a:gd name="connsiteX0" fmla="*/ 177362 w 177361"/>
                  <a:gd name="connsiteY0" fmla="*/ 887045 h 887044"/>
                  <a:gd name="connsiteX1" fmla="*/ 177362 w 177361"/>
                  <a:gd name="connsiteY1" fmla="*/ 0 h 887044"/>
                  <a:gd name="connsiteX2" fmla="*/ 0 w 177361"/>
                  <a:gd name="connsiteY2" fmla="*/ 0 h 887044"/>
                  <a:gd name="connsiteX3" fmla="*/ 0 w 177361"/>
                  <a:gd name="connsiteY3" fmla="*/ 887045 h 887044"/>
                  <a:gd name="connsiteX4" fmla="*/ 29560 w 177361"/>
                  <a:gd name="connsiteY4" fmla="*/ 29560 h 887044"/>
                  <a:gd name="connsiteX5" fmla="*/ 147801 w 177361"/>
                  <a:gd name="connsiteY5" fmla="*/ 29560 h 887044"/>
                  <a:gd name="connsiteX6" fmla="*/ 147801 w 177361"/>
                  <a:gd name="connsiteY6" fmla="*/ 857484 h 887044"/>
                  <a:gd name="connsiteX7" fmla="*/ 29560 w 177361"/>
                  <a:gd name="connsiteY7" fmla="*/ 857484 h 887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887044">
                    <a:moveTo>
                      <a:pt x="177362" y="887045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887045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857484"/>
                    </a:lnTo>
                    <a:lnTo>
                      <a:pt x="29560" y="857484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DBB05343-B8D4-7FDC-AD41-1F8137D33F11}"/>
                  </a:ext>
                </a:extLst>
              </p:cNvPr>
              <p:cNvSpPr/>
              <p:nvPr/>
            </p:nvSpPr>
            <p:spPr>
              <a:xfrm>
                <a:off x="7050714" y="1745170"/>
                <a:ext cx="177361" cy="325236"/>
              </a:xfrm>
              <a:custGeom>
                <a:avLst/>
                <a:gdLst>
                  <a:gd name="connsiteX0" fmla="*/ 0 w 177361"/>
                  <a:gd name="connsiteY0" fmla="*/ 325237 h 325236"/>
                  <a:gd name="connsiteX1" fmla="*/ 177362 w 177361"/>
                  <a:gd name="connsiteY1" fmla="*/ 325237 h 325236"/>
                  <a:gd name="connsiteX2" fmla="*/ 177362 w 177361"/>
                  <a:gd name="connsiteY2" fmla="*/ 0 h 325236"/>
                  <a:gd name="connsiteX3" fmla="*/ 0 w 177361"/>
                  <a:gd name="connsiteY3" fmla="*/ 0 h 325236"/>
                  <a:gd name="connsiteX4" fmla="*/ 29560 w 177361"/>
                  <a:gd name="connsiteY4" fmla="*/ 29560 h 325236"/>
                  <a:gd name="connsiteX5" fmla="*/ 147801 w 177361"/>
                  <a:gd name="connsiteY5" fmla="*/ 29560 h 325236"/>
                  <a:gd name="connsiteX6" fmla="*/ 147801 w 177361"/>
                  <a:gd name="connsiteY6" fmla="*/ 295677 h 325236"/>
                  <a:gd name="connsiteX7" fmla="*/ 29560 w 177361"/>
                  <a:gd name="connsiteY7" fmla="*/ 295677 h 325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325236">
                    <a:moveTo>
                      <a:pt x="0" y="325237"/>
                    </a:moveTo>
                    <a:lnTo>
                      <a:pt x="177362" y="325237"/>
                    </a:lnTo>
                    <a:lnTo>
                      <a:pt x="177362" y="0"/>
                    </a:lnTo>
                    <a:lnTo>
                      <a:pt x="0" y="0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295677"/>
                    </a:lnTo>
                    <a:lnTo>
                      <a:pt x="29560" y="295677"/>
                    </a:lnTo>
                    <a:close/>
                  </a:path>
                </a:pathLst>
              </a:custGeom>
              <a:solidFill>
                <a:srgbClr val="C00000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96D047B-F862-D460-9441-FA7C3866AC8F}"/>
                </a:ext>
              </a:extLst>
            </p:cNvPr>
            <p:cNvSpPr/>
            <p:nvPr/>
          </p:nvSpPr>
          <p:spPr>
            <a:xfrm>
              <a:off x="8724365" y="1411896"/>
              <a:ext cx="172127" cy="1034797"/>
            </a:xfrm>
            <a:custGeom>
              <a:avLst/>
              <a:gdLst>
                <a:gd name="connsiteX0" fmla="*/ 177362 w 177361"/>
                <a:gd name="connsiteY0" fmla="*/ 576573 h 576573"/>
                <a:gd name="connsiteX1" fmla="*/ 177362 w 177361"/>
                <a:gd name="connsiteY1" fmla="*/ 0 h 576573"/>
                <a:gd name="connsiteX2" fmla="*/ 0 w 177361"/>
                <a:gd name="connsiteY2" fmla="*/ 0 h 576573"/>
                <a:gd name="connsiteX3" fmla="*/ 0 w 177361"/>
                <a:gd name="connsiteY3" fmla="*/ 576573 h 576573"/>
                <a:gd name="connsiteX4" fmla="*/ 29560 w 177361"/>
                <a:gd name="connsiteY4" fmla="*/ 29560 h 576573"/>
                <a:gd name="connsiteX5" fmla="*/ 147801 w 177361"/>
                <a:gd name="connsiteY5" fmla="*/ 29560 h 576573"/>
                <a:gd name="connsiteX6" fmla="*/ 147801 w 177361"/>
                <a:gd name="connsiteY6" fmla="*/ 547013 h 576573"/>
                <a:gd name="connsiteX7" fmla="*/ 29560 w 177361"/>
                <a:gd name="connsiteY7" fmla="*/ 547013 h 57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361" h="576573">
                  <a:moveTo>
                    <a:pt x="177362" y="576573"/>
                  </a:moveTo>
                  <a:lnTo>
                    <a:pt x="177362" y="0"/>
                  </a:lnTo>
                  <a:lnTo>
                    <a:pt x="0" y="0"/>
                  </a:lnTo>
                  <a:lnTo>
                    <a:pt x="0" y="576573"/>
                  </a:lnTo>
                  <a:close/>
                  <a:moveTo>
                    <a:pt x="29560" y="29560"/>
                  </a:moveTo>
                  <a:lnTo>
                    <a:pt x="147801" y="29560"/>
                  </a:lnTo>
                  <a:lnTo>
                    <a:pt x="147801" y="547013"/>
                  </a:lnTo>
                  <a:lnTo>
                    <a:pt x="29560" y="547013"/>
                  </a:lnTo>
                  <a:close/>
                </a:path>
              </a:pathLst>
            </a:custGeom>
            <a:solidFill>
              <a:srgbClr val="FFC000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88730D-DD03-CF6C-40E7-7EC3AB426E6D}"/>
                </a:ext>
              </a:extLst>
            </p:cNvPr>
            <p:cNvSpPr txBox="1"/>
            <p:nvPr/>
          </p:nvSpPr>
          <p:spPr>
            <a:xfrm>
              <a:off x="7907323" y="2591106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Patterns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5EC70D0-C4A7-4369-F427-016ADD3A0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8470" y="1395858"/>
              <a:ext cx="725143" cy="5919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81C3849-8A77-FBEB-8E88-07F517E7D765}"/>
                </a:ext>
              </a:extLst>
            </p:cNvPr>
            <p:cNvSpPr/>
            <p:nvPr/>
          </p:nvSpPr>
          <p:spPr>
            <a:xfrm>
              <a:off x="9186439" y="1529110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11D36942-77A9-EFCA-CC66-86CEC2A41B1D}"/>
                </a:ext>
              </a:extLst>
            </p:cNvPr>
            <p:cNvSpPr/>
            <p:nvPr/>
          </p:nvSpPr>
          <p:spPr>
            <a:xfrm>
              <a:off x="7246917" y="220711"/>
              <a:ext cx="1577260" cy="65049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1F0CE8-F857-D6DC-B72F-E6D91F0B9633}"/>
                </a:ext>
              </a:extLst>
            </p:cNvPr>
            <p:cNvSpPr txBox="1"/>
            <p:nvPr/>
          </p:nvSpPr>
          <p:spPr>
            <a:xfrm>
              <a:off x="7225560" y="186712"/>
              <a:ext cx="17968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interpretation /</a:t>
              </a:r>
            </a:p>
            <a:p>
              <a:r>
                <a:rPr lang="en-US" dirty="0"/>
                <a:t>evaluation 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8C7694A-785D-0958-C459-C4FE378F6281}"/>
                </a:ext>
              </a:extLst>
            </p:cNvPr>
            <p:cNvCxnSpPr>
              <a:cxnSpLocks/>
            </p:cNvCxnSpPr>
            <p:nvPr/>
          </p:nvCxnSpPr>
          <p:spPr>
            <a:xfrm>
              <a:off x="8091363" y="889896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A077BA0A-2794-AA66-F29A-D1BD14F41423}"/>
                </a:ext>
              </a:extLst>
            </p:cNvPr>
            <p:cNvSpPr/>
            <p:nvPr/>
          </p:nvSpPr>
          <p:spPr>
            <a:xfrm>
              <a:off x="9761137" y="683759"/>
              <a:ext cx="2016970" cy="989351"/>
            </a:xfrm>
            <a:prstGeom prst="cub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0CCFEE7-E747-36C4-2609-3EE38453650E}"/>
                </a:ext>
              </a:extLst>
            </p:cNvPr>
            <p:cNvSpPr txBox="1"/>
            <p:nvPr/>
          </p:nvSpPr>
          <p:spPr>
            <a:xfrm>
              <a:off x="10078925" y="222094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knowledge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B48827B-258A-1BEC-0C52-D93CD7A725B7}"/>
              </a:ext>
            </a:extLst>
          </p:cNvPr>
          <p:cNvSpPr txBox="1"/>
          <p:nvPr/>
        </p:nvSpPr>
        <p:spPr>
          <a:xfrm>
            <a:off x="6724445" y="6060327"/>
            <a:ext cx="4288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KDD = Knowledge Discovery in Databases</a:t>
            </a:r>
          </a:p>
        </p:txBody>
      </p:sp>
    </p:spTree>
    <p:extLst>
      <p:ext uri="{BB962C8B-B14F-4D97-AF65-F5344CB8AC3E}">
        <p14:creationId xmlns:p14="http://schemas.microsoft.com/office/powerpoint/2010/main" val="2194730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8BE295-7FC7-E024-856E-8CEA5AADF6AD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>
            <a:off x="3918308" y="4927632"/>
            <a:ext cx="915480" cy="3038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192E949F-2C5E-0F44-A36E-C082C0803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91" y="1940447"/>
            <a:ext cx="564776" cy="5647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A3042E0-7EA4-004C-ABFE-3AB0196DD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814" y="2528650"/>
            <a:ext cx="567687" cy="56768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57FF7DE-C827-8647-AD48-317655A1C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658" y="1900945"/>
            <a:ext cx="891697" cy="60427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9042F81-0031-6842-853D-0CA3DACC996B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4F7A33D-1DD7-0D4A-B6B6-F4D97A929FCF}"/>
              </a:ext>
            </a:extLst>
          </p:cNvPr>
          <p:cNvSpPr txBox="1">
            <a:spLocks/>
          </p:cNvSpPr>
          <p:nvPr/>
        </p:nvSpPr>
        <p:spPr>
          <a:xfrm>
            <a:off x="726755" y="364380"/>
            <a:ext cx="10515600" cy="9663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 a lot of data</a:t>
            </a:r>
            <a:endParaRPr lang="nl-NL" sz="32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7A9F52-5174-A42E-0853-B6D1C8440B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39501" y="2528650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12C293-B51B-7FBE-9403-BE6662AC746C}"/>
              </a:ext>
            </a:extLst>
          </p:cNvPr>
          <p:cNvCxnSpPr>
            <a:cxnSpLocks/>
          </p:cNvCxnSpPr>
          <p:nvPr/>
        </p:nvCxnSpPr>
        <p:spPr bwMode="auto">
          <a:xfrm>
            <a:off x="10376394" y="3100818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B6211F-16F8-231F-C3FF-1AEACDD61AE8}"/>
              </a:ext>
            </a:extLst>
          </p:cNvPr>
          <p:cNvCxnSpPr>
            <a:cxnSpLocks/>
          </p:cNvCxnSpPr>
          <p:nvPr/>
        </p:nvCxnSpPr>
        <p:spPr bwMode="auto">
          <a:xfrm>
            <a:off x="9826379" y="2528650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BEF6927-41D0-7C60-241C-127786379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411" y="1946994"/>
            <a:ext cx="564776" cy="564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C1ED3A-2495-C157-D31A-ED34E1B61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234" y="2535197"/>
            <a:ext cx="567687" cy="567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D7E79F-65F7-1EDE-BF98-F53ABA81C6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078" y="1907492"/>
            <a:ext cx="891697" cy="60427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F8EA15-47D2-102D-FEEC-C247DC05ADCF}"/>
              </a:ext>
            </a:extLst>
          </p:cNvPr>
          <p:cNvCxnSpPr>
            <a:cxnSpLocks/>
          </p:cNvCxnSpPr>
          <p:nvPr/>
        </p:nvCxnSpPr>
        <p:spPr bwMode="auto">
          <a:xfrm flipH="1">
            <a:off x="8119921" y="2535197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68FEF5-ABCA-D3DE-49DE-A13A8DE6BF49}"/>
              </a:ext>
            </a:extLst>
          </p:cNvPr>
          <p:cNvCxnSpPr>
            <a:cxnSpLocks/>
          </p:cNvCxnSpPr>
          <p:nvPr/>
        </p:nvCxnSpPr>
        <p:spPr bwMode="auto">
          <a:xfrm>
            <a:off x="7956814" y="3107365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7BFE83-EBCD-278C-3393-67605E01ADC2}"/>
              </a:ext>
            </a:extLst>
          </p:cNvPr>
          <p:cNvCxnSpPr>
            <a:cxnSpLocks/>
          </p:cNvCxnSpPr>
          <p:nvPr/>
        </p:nvCxnSpPr>
        <p:spPr bwMode="auto">
          <a:xfrm>
            <a:off x="7406799" y="2535197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8AF7CA-F332-419E-064F-B3A7C3D4D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84" y="1934811"/>
            <a:ext cx="564776" cy="5647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364ACE-0B4D-9E2E-B8E7-064AAB04B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607" y="2523014"/>
            <a:ext cx="567687" cy="5676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969B0D-CBA2-6C10-A6B8-873016F4AA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451" y="1895309"/>
            <a:ext cx="891697" cy="6042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871D37-C94C-4F44-4D17-CD5252BE4B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788" y="4633840"/>
            <a:ext cx="1947103" cy="119537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92F94F-E553-5C33-C40C-79B162BD1443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8004" y="2535197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9E9A1D-5150-A9DF-EE76-199DD4DBA9AA}"/>
              </a:ext>
            </a:extLst>
          </p:cNvPr>
          <p:cNvCxnSpPr>
            <a:cxnSpLocks/>
          </p:cNvCxnSpPr>
          <p:nvPr/>
        </p:nvCxnSpPr>
        <p:spPr bwMode="auto">
          <a:xfrm>
            <a:off x="3084897" y="3107365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7E3C71-AAB8-5600-699E-1835BB4D4DA8}"/>
              </a:ext>
            </a:extLst>
          </p:cNvPr>
          <p:cNvCxnSpPr>
            <a:cxnSpLocks/>
          </p:cNvCxnSpPr>
          <p:nvPr/>
        </p:nvCxnSpPr>
        <p:spPr bwMode="auto">
          <a:xfrm>
            <a:off x="2534882" y="2535197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836FC6-B94B-0C4E-ADB9-185F239E44A3}"/>
              </a:ext>
            </a:extLst>
          </p:cNvPr>
          <p:cNvCxnSpPr>
            <a:cxnSpLocks/>
          </p:cNvCxnSpPr>
          <p:nvPr/>
        </p:nvCxnSpPr>
        <p:spPr bwMode="auto">
          <a:xfrm flipH="1">
            <a:off x="6687612" y="5006574"/>
            <a:ext cx="3636915" cy="3822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9AB7D5-28A2-31FE-7FC0-D750E0B43DDD}"/>
              </a:ext>
            </a:extLst>
          </p:cNvPr>
          <p:cNvCxnSpPr>
            <a:cxnSpLocks/>
          </p:cNvCxnSpPr>
          <p:nvPr/>
        </p:nvCxnSpPr>
        <p:spPr bwMode="auto">
          <a:xfrm flipH="1">
            <a:off x="6557676" y="4076605"/>
            <a:ext cx="1205684" cy="6868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" name="Group 53">
            <a:extLst>
              <a:ext uri="{FF2B5EF4-FFF2-40B4-BE49-F238E27FC236}">
                <a16:creationId xmlns:a16="http://schemas.microsoft.com/office/drawing/2014/main" id="{A2026D6C-2917-1A92-5C82-460AC7C28AA3}"/>
              </a:ext>
            </a:extLst>
          </p:cNvPr>
          <p:cNvGrpSpPr>
            <a:grpSpLocks/>
          </p:cNvGrpSpPr>
          <p:nvPr/>
        </p:nvGrpSpPr>
        <p:grpSpPr bwMode="auto">
          <a:xfrm>
            <a:off x="2234378" y="3966761"/>
            <a:ext cx="1752600" cy="1068387"/>
            <a:chOff x="240" y="3496"/>
            <a:chExt cx="1104" cy="673"/>
          </a:xfrm>
        </p:grpSpPr>
        <p:sp>
          <p:nvSpPr>
            <p:cNvPr id="38" name="Freeform 54">
              <a:extLst>
                <a:ext uri="{FF2B5EF4-FFF2-40B4-BE49-F238E27FC236}">
                  <a16:creationId xmlns:a16="http://schemas.microsoft.com/office/drawing/2014/main" id="{3E77A530-F57F-237A-BE97-417FD1CF5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3552"/>
              <a:ext cx="1104" cy="617"/>
            </a:xfrm>
            <a:custGeom>
              <a:avLst/>
              <a:gdLst>
                <a:gd name="T0" fmla="*/ 0 w 1833"/>
                <a:gd name="T1" fmla="*/ 0 h 961"/>
                <a:gd name="T2" fmla="*/ 0 w 1833"/>
                <a:gd name="T3" fmla="*/ 395 h 961"/>
                <a:gd name="T4" fmla="*/ 664 w 1833"/>
                <a:gd name="T5" fmla="*/ 395 h 961"/>
                <a:gd name="T6" fmla="*/ 664 w 1833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3"/>
                <a:gd name="T13" fmla="*/ 0 h 961"/>
                <a:gd name="T14" fmla="*/ 1833 w 1833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3" h="961">
                  <a:moveTo>
                    <a:pt x="0" y="0"/>
                  </a:moveTo>
                  <a:lnTo>
                    <a:pt x="0" y="960"/>
                  </a:lnTo>
                  <a:lnTo>
                    <a:pt x="1832" y="960"/>
                  </a:lnTo>
                  <a:lnTo>
                    <a:pt x="1832" y="0"/>
                  </a:lnTo>
                </a:path>
              </a:pathLst>
            </a:custGeom>
            <a:solidFill>
              <a:srgbClr val="009900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Oval 55">
              <a:extLst>
                <a:ext uri="{FF2B5EF4-FFF2-40B4-BE49-F238E27FC236}">
                  <a16:creationId xmlns:a16="http://schemas.microsoft.com/office/drawing/2014/main" id="{A899EF91-E2FC-C204-64E5-A7064120F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96"/>
              <a:ext cx="1104" cy="104"/>
            </a:xfrm>
            <a:prstGeom prst="ellipse">
              <a:avLst/>
            </a:prstGeom>
            <a:solidFill>
              <a:srgbClr val="0099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4A3E8E0B-9522-EAD7-8902-08EBF8D6F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3628"/>
              <a:ext cx="633" cy="334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38CD99D5-447A-A303-9C8F-37718D13F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684"/>
              <a:ext cx="604" cy="334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5000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FC5DA0F4-4C7F-DF57-0186-27AEA8075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3732"/>
              <a:ext cx="582" cy="348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5000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800E9F01-2CDD-A1E1-C3AA-8CAB70F56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3794"/>
              <a:ext cx="584" cy="347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4" name="Text Box 60">
              <a:extLst>
                <a:ext uri="{FF2B5EF4-FFF2-40B4-BE49-F238E27FC236}">
                  <a16:creationId xmlns:a16="http://schemas.microsoft.com/office/drawing/2014/main" id="{C2F619D5-4333-B548-86C8-BFC8EF5EE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" y="3812"/>
              <a:ext cx="647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&lt;Title&gt; … 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&lt;Author&gt; … 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&lt;Date&gt; …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</p:grpSp>
      <p:grpSp>
        <p:nvGrpSpPr>
          <p:cNvPr id="45" name="Group 61">
            <a:extLst>
              <a:ext uri="{FF2B5EF4-FFF2-40B4-BE49-F238E27FC236}">
                <a16:creationId xmlns:a16="http://schemas.microsoft.com/office/drawing/2014/main" id="{E6CE7222-2D1D-0F58-568D-DD8E3BB0EEBA}"/>
              </a:ext>
            </a:extLst>
          </p:cNvPr>
          <p:cNvGrpSpPr>
            <a:grpSpLocks/>
          </p:cNvGrpSpPr>
          <p:nvPr/>
        </p:nvGrpSpPr>
        <p:grpSpPr bwMode="auto">
          <a:xfrm>
            <a:off x="7389746" y="3960411"/>
            <a:ext cx="1757363" cy="1074737"/>
            <a:chOff x="1581" y="3492"/>
            <a:chExt cx="1107" cy="677"/>
          </a:xfrm>
        </p:grpSpPr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BBA3753E-A572-ECAB-A7C6-8CA1182B4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553"/>
              <a:ext cx="1102" cy="616"/>
            </a:xfrm>
            <a:custGeom>
              <a:avLst/>
              <a:gdLst>
                <a:gd name="T0" fmla="*/ 0 w 1725"/>
                <a:gd name="T1" fmla="*/ 0 h 961"/>
                <a:gd name="T2" fmla="*/ 0 w 1725"/>
                <a:gd name="T3" fmla="*/ 394 h 961"/>
                <a:gd name="T4" fmla="*/ 703 w 1725"/>
                <a:gd name="T5" fmla="*/ 394 h 961"/>
                <a:gd name="T6" fmla="*/ 703 w 1725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961"/>
                <a:gd name="T14" fmla="*/ 1725 w 1725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961">
                  <a:moveTo>
                    <a:pt x="0" y="0"/>
                  </a:moveTo>
                  <a:lnTo>
                    <a:pt x="0" y="960"/>
                  </a:lnTo>
                  <a:lnTo>
                    <a:pt x="1724" y="960"/>
                  </a:lnTo>
                  <a:lnTo>
                    <a:pt x="1724" y="0"/>
                  </a:lnTo>
                </a:path>
              </a:pathLst>
            </a:custGeom>
            <a:solidFill>
              <a:srgbClr val="FFCC66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Oval 63">
              <a:extLst>
                <a:ext uri="{FF2B5EF4-FFF2-40B4-BE49-F238E27FC236}">
                  <a16:creationId xmlns:a16="http://schemas.microsoft.com/office/drawing/2014/main" id="{589993B0-1402-E747-DF4A-0D632AEE2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3492"/>
              <a:ext cx="1107" cy="108"/>
            </a:xfrm>
            <a:prstGeom prst="ellipse">
              <a:avLst/>
            </a:prstGeom>
            <a:solidFill>
              <a:srgbClr val="FFCC66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8" name="Rectangle 64">
              <a:extLst>
                <a:ext uri="{FF2B5EF4-FFF2-40B4-BE49-F238E27FC236}">
                  <a16:creationId xmlns:a16="http://schemas.microsoft.com/office/drawing/2014/main" id="{74A30CBA-867D-CE7C-CB67-A6FB04608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3640"/>
              <a:ext cx="329" cy="142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9" name="Rectangle 65">
              <a:extLst>
                <a:ext uri="{FF2B5EF4-FFF2-40B4-BE49-F238E27FC236}">
                  <a16:creationId xmlns:a16="http://schemas.microsoft.com/office/drawing/2014/main" id="{6D459207-8552-27DD-7085-BCCEF995A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881"/>
              <a:ext cx="292" cy="252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854B239A-0EB8-CAA5-C02D-4737FB393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3758"/>
              <a:ext cx="274" cy="344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" name="Freeform 67">
              <a:extLst>
                <a:ext uri="{FF2B5EF4-FFF2-40B4-BE49-F238E27FC236}">
                  <a16:creationId xmlns:a16="http://schemas.microsoft.com/office/drawing/2014/main" id="{8C14BA3F-9FD8-AD2A-37D3-745E9DC8A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800"/>
              <a:ext cx="159" cy="184"/>
            </a:xfrm>
            <a:custGeom>
              <a:avLst/>
              <a:gdLst>
                <a:gd name="T0" fmla="*/ 0 w 230"/>
                <a:gd name="T1" fmla="*/ 0 h 289"/>
                <a:gd name="T2" fmla="*/ 0 w 230"/>
                <a:gd name="T3" fmla="*/ 117 h 289"/>
                <a:gd name="T4" fmla="*/ 109 w 230"/>
                <a:gd name="T5" fmla="*/ 117 h 289"/>
                <a:gd name="T6" fmla="*/ 0 60000 65536"/>
                <a:gd name="T7" fmla="*/ 0 60000 65536"/>
                <a:gd name="T8" fmla="*/ 0 60000 65536"/>
                <a:gd name="T9" fmla="*/ 0 w 230"/>
                <a:gd name="T10" fmla="*/ 0 h 289"/>
                <a:gd name="T11" fmla="*/ 230 w 230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0" h="289">
                  <a:moveTo>
                    <a:pt x="0" y="0"/>
                  </a:moveTo>
                  <a:lnTo>
                    <a:pt x="0" y="288"/>
                  </a:lnTo>
                  <a:lnTo>
                    <a:pt x="229" y="288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Freeform 68">
              <a:extLst>
                <a:ext uri="{FF2B5EF4-FFF2-40B4-BE49-F238E27FC236}">
                  <a16:creationId xmlns:a16="http://schemas.microsoft.com/office/drawing/2014/main" id="{30D863B7-30D2-A932-C935-D671490D3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717"/>
              <a:ext cx="253" cy="374"/>
            </a:xfrm>
            <a:custGeom>
              <a:avLst/>
              <a:gdLst>
                <a:gd name="T0" fmla="*/ 176 w 363"/>
                <a:gd name="T1" fmla="*/ 240 h 582"/>
                <a:gd name="T2" fmla="*/ 0 w 363"/>
                <a:gd name="T3" fmla="*/ 240 h 582"/>
                <a:gd name="T4" fmla="*/ 0 w 363"/>
                <a:gd name="T5" fmla="*/ 0 h 582"/>
                <a:gd name="T6" fmla="*/ 39 w 363"/>
                <a:gd name="T7" fmla="*/ 0 h 5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3"/>
                <a:gd name="T13" fmla="*/ 0 h 582"/>
                <a:gd name="T14" fmla="*/ 363 w 363"/>
                <a:gd name="T15" fmla="*/ 582 h 5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3" h="582">
                  <a:moveTo>
                    <a:pt x="362" y="581"/>
                  </a:moveTo>
                  <a:lnTo>
                    <a:pt x="0" y="581"/>
                  </a:lnTo>
                  <a:lnTo>
                    <a:pt x="0" y="0"/>
                  </a:lnTo>
                  <a:lnTo>
                    <a:pt x="81" y="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69">
              <a:extLst>
                <a:ext uri="{FF2B5EF4-FFF2-40B4-BE49-F238E27FC236}">
                  <a16:creationId xmlns:a16="http://schemas.microsoft.com/office/drawing/2014/main" id="{599B7F13-0780-1E62-5AE9-6AE62E7BA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4041"/>
              <a:ext cx="1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Freeform 70">
              <a:extLst>
                <a:ext uri="{FF2B5EF4-FFF2-40B4-BE49-F238E27FC236}">
                  <a16:creationId xmlns:a16="http://schemas.microsoft.com/office/drawing/2014/main" id="{3946F494-AD81-A2CE-400E-0A4378522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707"/>
              <a:ext cx="319" cy="155"/>
            </a:xfrm>
            <a:custGeom>
              <a:avLst/>
              <a:gdLst>
                <a:gd name="T0" fmla="*/ 0 w 459"/>
                <a:gd name="T1" fmla="*/ 0 h 241"/>
                <a:gd name="T2" fmla="*/ 132 w 459"/>
                <a:gd name="T3" fmla="*/ 0 h 241"/>
                <a:gd name="T4" fmla="*/ 132 w 459"/>
                <a:gd name="T5" fmla="*/ 99 h 241"/>
                <a:gd name="T6" fmla="*/ 221 w 459"/>
                <a:gd name="T7" fmla="*/ 99 h 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9"/>
                <a:gd name="T13" fmla="*/ 0 h 241"/>
                <a:gd name="T14" fmla="*/ 459 w 459"/>
                <a:gd name="T15" fmla="*/ 241 h 2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9" h="241">
                  <a:moveTo>
                    <a:pt x="0" y="0"/>
                  </a:moveTo>
                  <a:lnTo>
                    <a:pt x="274" y="0"/>
                  </a:lnTo>
                  <a:lnTo>
                    <a:pt x="274" y="240"/>
                  </a:lnTo>
                  <a:lnTo>
                    <a:pt x="458" y="24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Text Box 71">
              <a:extLst>
                <a:ext uri="{FF2B5EF4-FFF2-40B4-BE49-F238E27FC236}">
                  <a16:creationId xmlns:a16="http://schemas.microsoft.com/office/drawing/2014/main" id="{6CAC8FCE-83AC-E004-0CD4-F9FDE2755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" y="3852"/>
              <a:ext cx="35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Author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59" name="Text Box 72">
              <a:extLst>
                <a:ext uri="{FF2B5EF4-FFF2-40B4-BE49-F238E27FC236}">
                  <a16:creationId xmlns:a16="http://schemas.microsoft.com/office/drawing/2014/main" id="{A8549AF8-5D35-33BA-188F-6B45F7F3D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744"/>
              <a:ext cx="2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Date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61" name="Text Box 73">
              <a:extLst>
                <a:ext uri="{FF2B5EF4-FFF2-40B4-BE49-F238E27FC236}">
                  <a16:creationId xmlns:a16="http://schemas.microsoft.com/office/drawing/2014/main" id="{2BE8172E-A370-5AD0-C23E-8048A66E5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610"/>
              <a:ext cx="2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Title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</p:grpSp>
      <p:grpSp>
        <p:nvGrpSpPr>
          <p:cNvPr id="63" name="Group 74">
            <a:extLst>
              <a:ext uri="{FF2B5EF4-FFF2-40B4-BE49-F238E27FC236}">
                <a16:creationId xmlns:a16="http://schemas.microsoft.com/office/drawing/2014/main" id="{3C43DF3B-CA78-1BEB-92FB-448D1A59B44F}"/>
              </a:ext>
            </a:extLst>
          </p:cNvPr>
          <p:cNvGrpSpPr>
            <a:grpSpLocks/>
          </p:cNvGrpSpPr>
          <p:nvPr/>
        </p:nvGrpSpPr>
        <p:grpSpPr bwMode="auto">
          <a:xfrm>
            <a:off x="9743502" y="3951416"/>
            <a:ext cx="1752600" cy="1069975"/>
            <a:chOff x="3216" y="3504"/>
            <a:chExt cx="1104" cy="674"/>
          </a:xfrm>
        </p:grpSpPr>
        <p:sp>
          <p:nvSpPr>
            <p:cNvPr id="64" name="Freeform 75">
              <a:extLst>
                <a:ext uri="{FF2B5EF4-FFF2-40B4-BE49-F238E27FC236}">
                  <a16:creationId xmlns:a16="http://schemas.microsoft.com/office/drawing/2014/main" id="{4A618F6D-3C89-EB27-72E0-3CC32F26F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3561"/>
              <a:ext cx="1104" cy="616"/>
            </a:xfrm>
            <a:custGeom>
              <a:avLst/>
              <a:gdLst>
                <a:gd name="T0" fmla="*/ 0 w 1725"/>
                <a:gd name="T1" fmla="*/ 0 h 961"/>
                <a:gd name="T2" fmla="*/ 0 w 1725"/>
                <a:gd name="T3" fmla="*/ 394 h 961"/>
                <a:gd name="T4" fmla="*/ 706 w 1725"/>
                <a:gd name="T5" fmla="*/ 394 h 961"/>
                <a:gd name="T6" fmla="*/ 706 w 1725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961"/>
                <a:gd name="T14" fmla="*/ 1725 w 1725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961">
                  <a:moveTo>
                    <a:pt x="0" y="0"/>
                  </a:moveTo>
                  <a:lnTo>
                    <a:pt x="0" y="960"/>
                  </a:lnTo>
                  <a:lnTo>
                    <a:pt x="1724" y="960"/>
                  </a:lnTo>
                  <a:lnTo>
                    <a:pt x="1724" y="0"/>
                  </a:lnTo>
                </a:path>
              </a:pathLst>
            </a:custGeom>
            <a:solidFill>
              <a:srgbClr val="E8C1E9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Oval 76">
              <a:extLst>
                <a:ext uri="{FF2B5EF4-FFF2-40B4-BE49-F238E27FC236}">
                  <a16:creationId xmlns:a16="http://schemas.microsoft.com/office/drawing/2014/main" id="{42597EDD-0308-5FFB-268D-DF7613920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04"/>
              <a:ext cx="1104" cy="96"/>
            </a:xfrm>
            <a:prstGeom prst="ellipse">
              <a:avLst/>
            </a:prstGeom>
            <a:solidFill>
              <a:srgbClr val="E8C1E9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66" name="Line 77">
              <a:extLst>
                <a:ext uri="{FF2B5EF4-FFF2-40B4-BE49-F238E27FC236}">
                  <a16:creationId xmlns:a16="http://schemas.microsoft.com/office/drawing/2014/main" id="{889F8111-51D9-421C-AF49-3134DAC64D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0" y="3795"/>
              <a:ext cx="0" cy="183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78">
              <a:extLst>
                <a:ext uri="{FF2B5EF4-FFF2-40B4-BE49-F238E27FC236}">
                  <a16:creationId xmlns:a16="http://schemas.microsoft.com/office/drawing/2014/main" id="{E14C3E91-609A-2ECE-1ECE-4CE662ED7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6" y="3764"/>
              <a:ext cx="149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Oval 79">
              <a:extLst>
                <a:ext uri="{FF2B5EF4-FFF2-40B4-BE49-F238E27FC236}">
                  <a16:creationId xmlns:a16="http://schemas.microsoft.com/office/drawing/2014/main" id="{26296AE1-8062-EF13-48F0-62D01FBA96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338" y="3979"/>
              <a:ext cx="143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69" name="Oval 80">
              <a:extLst>
                <a:ext uri="{FF2B5EF4-FFF2-40B4-BE49-F238E27FC236}">
                  <a16:creationId xmlns:a16="http://schemas.microsoft.com/office/drawing/2014/main" id="{6A32BDFB-E0DB-E0C9-573C-F2A4BB5FBB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701" y="3792"/>
              <a:ext cx="142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0" name="Oval 81">
              <a:extLst>
                <a:ext uri="{FF2B5EF4-FFF2-40B4-BE49-F238E27FC236}">
                  <a16:creationId xmlns:a16="http://schemas.microsoft.com/office/drawing/2014/main" id="{D00E36ED-A0AF-779C-540B-0687BA7058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948" y="3945"/>
              <a:ext cx="142" cy="141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1" name="Oval 82">
              <a:extLst>
                <a:ext uri="{FF2B5EF4-FFF2-40B4-BE49-F238E27FC236}">
                  <a16:creationId xmlns:a16="http://schemas.microsoft.com/office/drawing/2014/main" id="{0C21F3B0-D94C-9CEE-BBBB-0F42DB71F3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968" y="3673"/>
              <a:ext cx="144" cy="138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2" name="Text Box 83">
              <a:extLst>
                <a:ext uri="{FF2B5EF4-FFF2-40B4-BE49-F238E27FC236}">
                  <a16:creationId xmlns:a16="http://schemas.microsoft.com/office/drawing/2014/main" id="{39677F04-6D5C-7C90-BF1F-14D522B17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4024"/>
              <a:ext cx="31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paper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73" name="Text Box 84">
              <a:extLst>
                <a:ext uri="{FF2B5EF4-FFF2-40B4-BE49-F238E27FC236}">
                  <a16:creationId xmlns:a16="http://schemas.microsoft.com/office/drawing/2014/main" id="{ED08FA32-75E5-4B6B-9EA4-CD6225679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830"/>
              <a:ext cx="32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Name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  <p:sp>
          <p:nvSpPr>
            <p:cNvPr id="74" name="Line 85">
              <a:extLst>
                <a:ext uri="{FF2B5EF4-FFF2-40B4-BE49-F238E27FC236}">
                  <a16:creationId xmlns:a16="http://schemas.microsoft.com/office/drawing/2014/main" id="{8C981980-1EBC-DFE0-310C-1BE978B37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25" y="3902"/>
              <a:ext cx="122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Oval 86">
              <a:extLst>
                <a:ext uri="{FF2B5EF4-FFF2-40B4-BE49-F238E27FC236}">
                  <a16:creationId xmlns:a16="http://schemas.microsoft.com/office/drawing/2014/main" id="{EC2BDD6B-38C5-E75B-6CCD-84CB989E97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331" y="3649"/>
              <a:ext cx="144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6" name="Line 87">
              <a:extLst>
                <a:ext uri="{FF2B5EF4-FFF2-40B4-BE49-F238E27FC236}">
                  <a16:creationId xmlns:a16="http://schemas.microsoft.com/office/drawing/2014/main" id="{F315C092-F76F-C8D5-2745-9688BD117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9" y="3894"/>
              <a:ext cx="226" cy="1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Text Box 88">
              <a:extLst>
                <a:ext uri="{FF2B5EF4-FFF2-40B4-BE49-F238E27FC236}">
                  <a16:creationId xmlns:a16="http://schemas.microsoft.com/office/drawing/2014/main" id="{B25B1AAF-FA08-55AD-2DC7-2AED6964E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3658"/>
              <a:ext cx="35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Author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82" name="Object 43">
            <a:extLst>
              <a:ext uri="{FF2B5EF4-FFF2-40B4-BE49-F238E27FC236}">
                <a16:creationId xmlns:a16="http://schemas.microsoft.com/office/drawing/2014/main" id="{880D8B9D-384F-535A-F914-325520A0B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963907"/>
              </p:ext>
            </p:extLst>
          </p:nvPr>
        </p:nvGraphicFramePr>
        <p:xfrm>
          <a:off x="4250041" y="5613754"/>
          <a:ext cx="455839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0693400" imgH="23012400" progId="MS_ClipArt_Gallery.2">
                  <p:embed/>
                </p:oleObj>
              </mc:Choice>
              <mc:Fallback>
                <p:oleObj name="Clip" r:id="rId8" imgW="10693400" imgH="23012400" progId="MS_ClipArt_Gallery.2">
                  <p:embed/>
                  <p:pic>
                    <p:nvPicPr>
                      <p:cNvPr id="45" name="Object 43">
                        <a:extLst>
                          <a:ext uri="{FF2B5EF4-FFF2-40B4-BE49-F238E27FC236}">
                            <a16:creationId xmlns:a16="http://schemas.microsoft.com/office/drawing/2014/main" id="{D5C7C8B4-7714-114E-AA15-A8F4FB55F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041" y="5613754"/>
                        <a:ext cx="455839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690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5A0F2E0A-6CFA-3346-B9FB-ED7D4A5AF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5" y="2049823"/>
            <a:ext cx="2541587" cy="479425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prstShdw prst="shdw17" dist="17961" dir="2700000">
              <a:srgbClr val="9900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</a:rPr>
              <a:t>Missing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3E8B0D6B-32B7-7841-873E-9C5F97A7B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672" y="1260196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Noise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F9B0DE6-8842-7543-A814-AE8A6F8B7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7256" y="3074519"/>
            <a:ext cx="2541587" cy="479425"/>
          </a:xfrm>
          <a:prstGeom prst="rect">
            <a:avLst/>
          </a:prstGeom>
          <a:solidFill>
            <a:srgbClr val="FE97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Outliers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491EF81D-B416-1C47-934C-A71B8FFC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76" y="3074520"/>
            <a:ext cx="2541587" cy="479425"/>
          </a:xfrm>
          <a:prstGeom prst="rect">
            <a:avLst/>
          </a:prstGeom>
          <a:solidFill>
            <a:srgbClr val="663300"/>
          </a:solidFill>
          <a:ln>
            <a:noFill/>
          </a:ln>
          <a:effectLst>
            <a:prstShdw prst="shdw17" dist="17961" dir="2700000">
              <a:srgbClr val="6633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Outdated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EDB21A97-37E9-8B4A-9586-60F2CE099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4" y="4099217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Inconsistent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108EB380-D1CA-E849-BE00-A5C3EAF5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1" y="4099218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Unreliable sources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2" name="Text Box 25">
            <a:extLst>
              <a:ext uri="{FF2B5EF4-FFF2-40B4-BE49-F238E27FC236}">
                <a16:creationId xmlns:a16="http://schemas.microsoft.com/office/drawing/2014/main" id="{19F176BB-8FBD-2C42-A1AC-7B21AF9F7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2" y="2049823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Duplicate Data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586785-32A6-1343-A227-279A87734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672" y="2707905"/>
            <a:ext cx="2501900" cy="1212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59C684-01D5-A64F-893D-5393D3249133}"/>
              </a:ext>
            </a:extLst>
          </p:cNvPr>
          <p:cNvSpPr txBox="1"/>
          <p:nvPr/>
        </p:nvSpPr>
        <p:spPr>
          <a:xfrm>
            <a:off x="4288877" y="5037258"/>
            <a:ext cx="5533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For any data retrieval or data </a:t>
            </a:r>
            <a:r>
              <a:rPr lang="en-US" dirty="0" err="1"/>
              <a:t>analytiscs</a:t>
            </a:r>
            <a:r>
              <a:rPr lang="en-US" dirty="0"/>
              <a:t> task, </a:t>
            </a:r>
          </a:p>
          <a:p>
            <a:pPr algn="l"/>
            <a:r>
              <a:rPr lang="en-US" b="1" dirty="0"/>
              <a:t>it is critically important to know the quality of your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E1977-80D9-1A43-9182-975FC47BF127}"/>
              </a:ext>
            </a:extLst>
          </p:cNvPr>
          <p:cNvSpPr/>
          <p:nvPr/>
        </p:nvSpPr>
        <p:spPr>
          <a:xfrm>
            <a:off x="2768600" y="6019093"/>
            <a:ext cx="511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For the US alone, poor data quality costs around US economy $3 trillions a year (2016). </a:t>
            </a:r>
          </a:p>
        </p:txBody>
      </p:sp>
    </p:spTree>
    <p:extLst>
      <p:ext uri="{BB962C8B-B14F-4D97-AF65-F5344CB8AC3E}">
        <p14:creationId xmlns:p14="http://schemas.microsoft.com/office/powerpoint/2010/main" val="73416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nl-NL" sz="3200" b="1" dirty="0"/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E01C51F1-3E13-4B15-8CD6-DCB337A9750C}"/>
              </a:ext>
            </a:extLst>
          </p:cNvPr>
          <p:cNvSpPr/>
          <p:nvPr/>
        </p:nvSpPr>
        <p:spPr>
          <a:xfrm>
            <a:off x="4622800" y="2608309"/>
            <a:ext cx="3572933" cy="1800000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Cleaning</a:t>
            </a:r>
            <a:endParaRPr lang="nl-NL" dirty="0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5D016203-33E9-4CEC-98B6-59CF34955262}"/>
              </a:ext>
            </a:extLst>
          </p:cNvPr>
          <p:cNvSpPr/>
          <p:nvPr/>
        </p:nvSpPr>
        <p:spPr>
          <a:xfrm>
            <a:off x="1418748" y="170182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Transformation</a:t>
            </a:r>
            <a:endParaRPr lang="nl-NL" dirty="0"/>
          </a:p>
        </p:txBody>
      </p:sp>
      <p:sp>
        <p:nvSpPr>
          <p:cNvPr id="16" name="Flowchart: Preparation 15">
            <a:extLst>
              <a:ext uri="{FF2B5EF4-FFF2-40B4-BE49-F238E27FC236}">
                <a16:creationId xmlns:a16="http://schemas.microsoft.com/office/drawing/2014/main" id="{7624AB7A-0444-470B-B235-90F09BAEC354}"/>
              </a:ext>
            </a:extLst>
          </p:cNvPr>
          <p:cNvSpPr/>
          <p:nvPr/>
        </p:nvSpPr>
        <p:spPr>
          <a:xfrm>
            <a:off x="1418748" y="354573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Discretization</a:t>
            </a:r>
            <a:endParaRPr lang="nl-NL" dirty="0"/>
          </a:p>
        </p:txBody>
      </p:sp>
      <p:sp>
        <p:nvSpPr>
          <p:cNvPr id="18" name="Flowchart: Preparation 17">
            <a:extLst>
              <a:ext uri="{FF2B5EF4-FFF2-40B4-BE49-F238E27FC236}">
                <a16:creationId xmlns:a16="http://schemas.microsoft.com/office/drawing/2014/main" id="{7312091F-352E-4572-AB29-0383CBED6667}"/>
              </a:ext>
            </a:extLst>
          </p:cNvPr>
          <p:cNvSpPr/>
          <p:nvPr/>
        </p:nvSpPr>
        <p:spPr>
          <a:xfrm>
            <a:off x="7411650" y="1708309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Integration</a:t>
            </a:r>
            <a:endParaRPr lang="nl-NL" dirty="0"/>
          </a:p>
        </p:txBody>
      </p:sp>
      <p:sp>
        <p:nvSpPr>
          <p:cNvPr id="19" name="Flowchart: Preparation 18">
            <a:extLst>
              <a:ext uri="{FF2B5EF4-FFF2-40B4-BE49-F238E27FC236}">
                <a16:creationId xmlns:a16="http://schemas.microsoft.com/office/drawing/2014/main" id="{4CE3CF6B-A88E-4091-AF2C-CDCDF3793CF0}"/>
              </a:ext>
            </a:extLst>
          </p:cNvPr>
          <p:cNvSpPr/>
          <p:nvPr/>
        </p:nvSpPr>
        <p:spPr>
          <a:xfrm>
            <a:off x="7431930" y="350182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Reduction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8834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How do wages differ?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F8F60-3566-4992-A3E5-92B9B208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46" y="1690688"/>
            <a:ext cx="6129000" cy="43766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4ECAA-C899-4365-8E52-FC921D70B603}"/>
              </a:ext>
            </a:extLst>
          </p:cNvPr>
          <p:cNvSpPr txBox="1"/>
          <p:nvPr/>
        </p:nvSpPr>
        <p:spPr>
          <a:xfrm>
            <a:off x="3691393" y="619228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https://www.statlearning.com/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237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4272"/>
            <a:ext cx="10515600" cy="73274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&amp;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B5D43-D453-4E59-865F-44F263B397A7}"/>
              </a:ext>
            </a:extLst>
          </p:cNvPr>
          <p:cNvSpPr txBox="1"/>
          <p:nvPr/>
        </p:nvSpPr>
        <p:spPr>
          <a:xfrm>
            <a:off x="2231112" y="5927917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outcome of the 2021 Dutch election: </a:t>
            </a:r>
            <a:r>
              <a:rPr lang="en-US" dirty="0">
                <a:hlinkClick r:id="rId2"/>
              </a:rPr>
              <a:t>https://gitlab.com/gbuvn1/opinion-polling-graph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715BA-EF8E-458D-BF53-E44E63D0A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53" y="1328847"/>
            <a:ext cx="7912359" cy="44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67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880" y="375100"/>
            <a:ext cx="10515600" cy="721850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AB5C-6A57-4DBB-8FC3-460CFB5AEC5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29C6A3C-F0DE-4587-B6A6-8E7EE78CBA88}" type="slidenum">
              <a:rPr lang="en-NL" smtClean="0"/>
              <a:pPr lvl="0"/>
              <a:t>14</a:t>
            </a:fld>
            <a:endParaRPr lang="en-US"/>
          </a:p>
        </p:txBody>
      </p:sp>
      <p:pic>
        <p:nvPicPr>
          <p:cNvPr id="2050" name="Picture 2" descr="Frontiers | Applications of Deep Learning to Neuro-Imaging Techniques">
            <a:extLst>
              <a:ext uri="{FF2B5EF4-FFF2-40B4-BE49-F238E27FC236}">
                <a16:creationId xmlns:a16="http://schemas.microsoft.com/office/drawing/2014/main" id="{B9BEA1A0-9052-DDBB-070E-0F067A14C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602" y="1510974"/>
            <a:ext cx="6460503" cy="484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033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885F-7959-153A-83C0-9C8883B5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B0EEF-3069-348F-89E6-F4C605CD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539" y="808522"/>
            <a:ext cx="4032595" cy="593397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04D5EE-8C9D-8D94-1EF4-6EE7DBE2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24" y="182960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Missing data mechanisms</a:t>
            </a:r>
          </a:p>
          <a:p>
            <a:r>
              <a:rPr lang="en-US" dirty="0"/>
              <a:t>Imputation methods</a:t>
            </a:r>
          </a:p>
        </p:txBody>
      </p:sp>
    </p:spTree>
    <p:extLst>
      <p:ext uri="{BB962C8B-B14F-4D97-AF65-F5344CB8AC3E}">
        <p14:creationId xmlns:p14="http://schemas.microsoft.com/office/powerpoint/2010/main" val="2815769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885F-7959-153A-83C0-9C8883B5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FC705-4AE5-76A4-F928-7A56950F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69" y="1639837"/>
            <a:ext cx="5160531" cy="30813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AE8D5-CBBC-745B-A0EA-CFC632E4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290" y="2926079"/>
            <a:ext cx="5268579" cy="31611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17715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309" y="329696"/>
            <a:ext cx="10515600" cy="823214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Mining: Who was the best Friend?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474309" y="1830576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rId2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rId3"/>
              </a:rPr>
              <a:t>https://rss.onlinelibrary.wiley.com/doi/epdf/10.1111/1740-9713.01574</a:t>
            </a:r>
            <a:endParaRPr lang="en-GB" sz="1600" b="1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6ADA12-419B-4DDE-8C8B-437845910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53" y="1298458"/>
            <a:ext cx="4572809" cy="304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9C65C-29F9-4955-A04C-C5E66248D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64" y="2822256"/>
            <a:ext cx="6312018" cy="36483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AB5C-6A57-4DBB-8FC3-460CFB5AEC5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NL"/>
            </a:defPPr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229C6A3C-F0DE-4587-B6A6-8E7EE78CBA88}" type="slidenum">
              <a:rPr lang="en-NL" smtClean="0"/>
              <a:pPr lvl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99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9A0E-8C39-4822-9891-AC1B2E10B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470" y="411491"/>
            <a:ext cx="10515600" cy="1325559"/>
          </a:xfrm>
        </p:spPr>
        <p:txBody>
          <a:bodyPr anchor="b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BB541-5F56-42C0-ADE7-9CC0F8FACA89}"/>
              </a:ext>
            </a:extLst>
          </p:cNvPr>
          <p:cNvSpPr txBox="1"/>
          <p:nvPr/>
        </p:nvSpPr>
        <p:spPr>
          <a:xfrm>
            <a:off x="628470" y="2103441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000" i="0" u="none" strike="noStrike" kern="0" cap="none" spc="0" baseline="0" dirty="0">
              <a:solidFill>
                <a:srgbClr val="7F7F7F"/>
              </a:solidFill>
              <a:uFillTx/>
              <a:latin typeface="Fira Sans" pitchFamily="34"/>
              <a:ea typeface="Fira Code" pitchFamily="49"/>
              <a:hlinkClick r:id="" action="ppaction://noaction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  <a:hlinkClick r:id="" action="ppaction://noaction"/>
              </a:rPr>
              <a:t>https://www.nature.com/articles/s41746-021-00404-9</a:t>
            </a:r>
            <a:endParaRPr lang="en-GB" sz="100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B8F0A-E60F-40DE-86CB-213FFA71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548" y="2103441"/>
            <a:ext cx="3799317" cy="418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D6EA7-4F8E-4E75-BCE5-53DAE1A0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734" y="2364047"/>
            <a:ext cx="3478343" cy="39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38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FCEAFF-1A47-1B31-C8B1-8B91C0366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905" y="592420"/>
            <a:ext cx="8908015" cy="8431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4400" b="1" kern="0" dirty="0">
                <a:latin typeface="Times New Roman" panose="02020603050405020304" pitchFamily="18" charset="0"/>
                <a:ea typeface="Fira Code" pitchFamily="49"/>
                <a:cs typeface="Times New Roman" panose="02020603050405020304" pitchFamily="18" charset="0"/>
              </a:rPr>
              <a:t>NLP: ChatGPT4o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6CC69-3522-B052-86F2-1C7A8413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95" y="2011607"/>
            <a:ext cx="10874904" cy="350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75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</a:t>
            </a:r>
            <a:endParaRPr lang="nl-NL" sz="3200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7EFF700-E9F7-3FB4-D08F-521CA5137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13" y="321244"/>
            <a:ext cx="3737387" cy="2306499"/>
          </a:xfrm>
          <a:prstGeom prst="rect">
            <a:avLst/>
          </a:prstGeom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id="{D5CBFDA7-C3DB-0E34-C11A-0411A40E1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9681" y="3039335"/>
            <a:ext cx="2092723" cy="39966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Algorithmic Fairness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C718F69-8838-33E3-D7FD-DD0F36E8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560" y="1791368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D3E69251-9A4D-5744-3E5A-27702A240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036" y="4328292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76932330-43C7-8500-BD75-A503B38EE1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7560" y="3413892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Line 5">
            <a:extLst>
              <a:ext uri="{FF2B5EF4-FFF2-40B4-BE49-F238E27FC236}">
                <a16:creationId xmlns:a16="http://schemas.microsoft.com/office/drawing/2014/main" id="{59916659-8F6C-F01E-41EF-DFEE479A6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21723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F3BD9D9A-A374-B1E8-DCF5-43D440804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27057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Line 7">
            <a:extLst>
              <a:ext uri="{FF2B5EF4-FFF2-40B4-BE49-F238E27FC236}">
                <a16:creationId xmlns:a16="http://schemas.microsoft.com/office/drawing/2014/main" id="{AAF1CB2E-9BD2-AF2D-99F0-2568699D9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32391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30A60D89-C35C-8AC4-A17D-5E0CC7C36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25" y="1943768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176275E5-372C-B661-1BB8-29F33DEDE6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960" y="3527735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5FCF88A0-C72E-F193-5330-5C5F8230E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160" y="786361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37" name="Line 11">
            <a:extLst>
              <a:ext uri="{FF2B5EF4-FFF2-40B4-BE49-F238E27FC236}">
                <a16:creationId xmlns:a16="http://schemas.microsoft.com/office/drawing/2014/main" id="{2CF2D5B7-B7A6-8080-F26D-63996C551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4360" y="1356492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12">
            <a:extLst>
              <a:ext uri="{FF2B5EF4-FFF2-40B4-BE49-F238E27FC236}">
                <a16:creationId xmlns:a16="http://schemas.microsoft.com/office/drawing/2014/main" id="{70A60D3F-1A0A-254E-095B-B37640953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484" y="2491455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1624BFC7-34E2-3D39-59E3-41065E05C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960" y="2705768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959661A9-C88E-E005-D290-321F5D7A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36" y="4709292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41" name="Line 16">
            <a:extLst>
              <a:ext uri="{FF2B5EF4-FFF2-40B4-BE49-F238E27FC236}">
                <a16:creationId xmlns:a16="http://schemas.microsoft.com/office/drawing/2014/main" id="{E07EFB60-0073-5061-E93A-08155B419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760" y="3413892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85F71AA4-F435-71FB-CA54-7D1E9C6A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960" y="1867568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CEAE969-7216-FA9E-4C49-FD725D89CE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2"/>
          <a:stretch/>
        </p:blipFill>
        <p:spPr>
          <a:xfrm>
            <a:off x="7224767" y="3871092"/>
            <a:ext cx="4645321" cy="289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73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1F2C-65D5-251B-6DF8-050B0D03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" y="46589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linkClick r:id="rId2"/>
              </a:rPr>
              <a:t>app.wooclap.com/INFOMDWR</a:t>
            </a:r>
            <a:endParaRPr lang="en-NL" sz="6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938CE-A7E6-F17C-5995-947624CB9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966718"/>
            <a:ext cx="10734675" cy="369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6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minute break!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544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Practicalities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91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1F2C-65D5-251B-6DF8-050B0D03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linkClick r:id="rId2"/>
              </a:rPr>
              <a:t>https://infomdwr.nl</a:t>
            </a:r>
            <a:r>
              <a:rPr lang="en-US" sz="6000" b="1" dirty="0"/>
              <a:t> </a:t>
            </a:r>
            <a:endParaRPr lang="en-NL" sz="6000" b="1" dirty="0"/>
          </a:p>
        </p:txBody>
      </p:sp>
    </p:spTree>
    <p:extLst>
      <p:ext uri="{BB962C8B-B14F-4D97-AF65-F5344CB8AC3E}">
        <p14:creationId xmlns:p14="http://schemas.microsoft.com/office/powerpoint/2010/main" val="2770987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Practicalities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is on our course website </a:t>
            </a:r>
            <a:r>
              <a:rPr lang="en-US" sz="2800" dirty="0">
                <a:hlinkClick r:id="rId2"/>
              </a:rPr>
              <a:t>infomdwr.nl</a:t>
            </a:r>
            <a:r>
              <a:rPr lang="en-US" dirty="0"/>
              <a:t>, except:</a:t>
            </a:r>
          </a:p>
          <a:p>
            <a:pPr lvl="1"/>
            <a:r>
              <a:rPr lang="en-US" dirty="0"/>
              <a:t>Room locations (on </a:t>
            </a:r>
            <a:r>
              <a:rPr lang="en-US" dirty="0">
                <a:hlinkClick r:id="rId3"/>
              </a:rPr>
              <a:t>mytimetable.uu.nl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Announcements (in your email and on </a:t>
            </a:r>
            <a:r>
              <a:rPr lang="en-US" dirty="0">
                <a:hlinkClick r:id="rId4"/>
              </a:rPr>
              <a:t>uu.brightspace.com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Assignment hand-in (on </a:t>
            </a:r>
            <a:r>
              <a:rPr lang="en-US" dirty="0">
                <a:hlinkClick r:id="rId4"/>
              </a:rPr>
              <a:t>uu.brightspace.com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Exams (on our digital assessment thing </a:t>
            </a:r>
            <a:r>
              <a:rPr lang="en-US" dirty="0" err="1"/>
              <a:t>Remindo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Lectures / Labs will be in person, one online lecture (on Teams)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F96EB-D861-EB84-926E-806B31B7F1FD}"/>
              </a:ext>
            </a:extLst>
          </p:cNvPr>
          <p:cNvSpPr txBox="1"/>
          <p:nvPr/>
        </p:nvSpPr>
        <p:spPr>
          <a:xfrm>
            <a:off x="838200" y="485741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🚧 materials on the website are constantly under construction 🏗️</a:t>
            </a:r>
            <a:endParaRPr lang="en-NL" sz="2800" b="1" dirty="0"/>
          </a:p>
        </p:txBody>
      </p:sp>
    </p:spTree>
    <p:extLst>
      <p:ext uri="{BB962C8B-B14F-4D97-AF65-F5344CB8AC3E}">
        <p14:creationId xmlns:p14="http://schemas.microsoft.com/office/powerpoint/2010/main" val="2222899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flow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24" y="182960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a 14EC course. That’s a lot!</a:t>
            </a:r>
          </a:p>
          <a:p>
            <a:r>
              <a:rPr lang="en-US" dirty="0"/>
              <a:t>Every* week you will: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sz="2800" dirty="0"/>
              <a:t>📃Read the required readings </a:t>
            </a:r>
          </a:p>
          <a:p>
            <a:pPr marL="457200" lvl="1" indent="0">
              <a:buNone/>
            </a:pPr>
            <a:r>
              <a:rPr lang="en-US" sz="2800" dirty="0"/>
              <a:t>👩‍🏫Attend three lectures: Monday, Tuesday, Wednesday morning</a:t>
            </a:r>
          </a:p>
          <a:p>
            <a:pPr marL="457200" lvl="1" indent="0">
              <a:buNone/>
            </a:pPr>
            <a:r>
              <a:rPr lang="en-US" sz="2800" dirty="0"/>
              <a:t>💻Attend and work on three lab sessions: Mon, Tue, Wed afternoon</a:t>
            </a:r>
          </a:p>
          <a:p>
            <a:pPr marL="457200" lvl="1" indent="0">
              <a:buNone/>
            </a:pPr>
            <a:r>
              <a:rPr lang="en-US" sz="2800" dirty="0"/>
              <a:t>🧑‍🤝‍🧑Work on bi-weekly group assignments </a:t>
            </a:r>
          </a:p>
          <a:p>
            <a:pPr marL="457200" lvl="1" indent="0">
              <a:buNone/>
            </a:pPr>
            <a:r>
              <a:rPr lang="en-US" sz="2800" dirty="0"/>
              <a:t>🍸Review materials diligently for the midterm and final exams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some weeks contain other stuff like exams and study time</a:t>
            </a:r>
          </a:p>
        </p:txBody>
      </p:sp>
    </p:spTree>
    <p:extLst>
      <p:ext uri="{BB962C8B-B14F-4D97-AF65-F5344CB8AC3E}">
        <p14:creationId xmlns:p14="http://schemas.microsoft.com/office/powerpoint/2010/main" val="4187765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&amp; readings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syllabus contains a full schedule with required readings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hlinkClick r:id="rId2"/>
              </a:rPr>
              <a:t>https://infomdwr.nl/syllabus.html#required-readings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3200" dirty="0"/>
              <a:t>Reading materials can be found online for free!🕵️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(you are resourceful students)</a:t>
            </a: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45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Lectures: Prepare for tomorrow!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Look up reading materials in syllabus</a:t>
            </a:r>
          </a:p>
          <a:p>
            <a:pPr marL="514350" indent="-514350">
              <a:buAutoNum type="arabicPeriod"/>
            </a:pPr>
            <a:r>
              <a:rPr lang="en-US" sz="3200" dirty="0"/>
              <a:t>Look up time and location for the lecture</a:t>
            </a:r>
            <a:endParaRPr lang="en-US" sz="28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92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Monday: your ONLY online lecture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4"/>
          </a:xfrm>
        </p:spPr>
        <p:txBody>
          <a:bodyPr>
            <a:normAutofit/>
          </a:bodyPr>
          <a:lstStyle/>
          <a:p>
            <a:r>
              <a:rPr lang="en-US" sz="3200" dirty="0"/>
              <a:t>The university did not have a room for us 😔</a:t>
            </a:r>
          </a:p>
          <a:p>
            <a:r>
              <a:rPr lang="en-US" sz="3200" dirty="0"/>
              <a:t>You will receive a Teams meeting invitation to follow this lecture online</a:t>
            </a:r>
          </a:p>
          <a:p>
            <a:r>
              <a:rPr lang="en-US" sz="3200" dirty="0"/>
              <a:t>NB: the afternoon labs are in-person</a:t>
            </a: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05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Computer labs with practical exercises</a:t>
            </a:r>
          </a:p>
          <a:p>
            <a:r>
              <a:rPr lang="en-US" sz="3200" dirty="0"/>
              <a:t>Put into practice what you learnt in the lectures</a:t>
            </a:r>
          </a:p>
          <a:p>
            <a:r>
              <a:rPr lang="en-US" sz="3200" dirty="0"/>
              <a:t>We incorporate real-world data and use-cases: APPLIED data science!</a:t>
            </a:r>
          </a:p>
          <a:p>
            <a:r>
              <a:rPr lang="en-US" sz="3200" dirty="0"/>
              <a:t>4 different sessions for different groups</a:t>
            </a:r>
          </a:p>
          <a:p>
            <a:r>
              <a:rPr lang="en-US" sz="3200" b="1" dirty="0"/>
              <a:t>Lab teachers are your main point of contact for questions!</a:t>
            </a:r>
          </a:p>
          <a:p>
            <a:r>
              <a:rPr lang="en-US" sz="3200" dirty="0"/>
              <a:t>Labs provide skills needed to do the assignments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516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Labs: prepare!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Quickly check what todays and tomorrow’s labs are about</a:t>
            </a:r>
          </a:p>
          <a:p>
            <a:pPr marL="514350" indent="-514350">
              <a:buAutoNum type="arabicPeriod"/>
            </a:pPr>
            <a:r>
              <a:rPr lang="en-US" sz="3200" dirty="0"/>
              <a:t>Look up time and location for the labs: </a:t>
            </a:r>
            <a:r>
              <a:rPr lang="en-US" sz="3200" dirty="0">
                <a:hlinkClick r:id="rId2"/>
              </a:rPr>
              <a:t>mytimetable.uu.nl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Which parallel lab group are you assigned to? This should also be reflected in Brightspace</a:t>
            </a:r>
            <a:endParaRPr lang="en-US" sz="28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171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Every two weeks</a:t>
            </a:r>
          </a:p>
          <a:p>
            <a:r>
              <a:rPr lang="en-US" sz="3200" dirty="0"/>
              <a:t>Hand in on Brightspace</a:t>
            </a:r>
          </a:p>
          <a:p>
            <a:r>
              <a:rPr lang="en-US" sz="3200" dirty="0"/>
              <a:t>Group work! </a:t>
            </a:r>
          </a:p>
          <a:p>
            <a:r>
              <a:rPr lang="en-US" sz="3200" b="1" dirty="0"/>
              <a:t>Plan ahead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264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Assignments: prepare!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What is the deadline of the first assignment? </a:t>
            </a:r>
            <a:r>
              <a:rPr lang="en-US" sz="3200" dirty="0">
                <a:hlinkClick r:id="rId2"/>
              </a:rPr>
              <a:t>infomdwr.nl</a:t>
            </a:r>
            <a:r>
              <a:rPr lang="en-US" sz="3200" dirty="0"/>
              <a:t> </a:t>
            </a:r>
          </a:p>
          <a:p>
            <a:pPr marL="514350" indent="-514350">
              <a:buAutoNum type="arabicPeriod"/>
            </a:pPr>
            <a:r>
              <a:rPr lang="en-US" sz="3200" dirty="0"/>
              <a:t>Quickly check the content of the first assignment</a:t>
            </a:r>
          </a:p>
          <a:p>
            <a:pPr marL="514350" indent="-514350">
              <a:buAutoNum type="arabicPeriod"/>
            </a:pPr>
            <a:r>
              <a:rPr lang="en-US" sz="3200" dirty="0"/>
              <a:t>Log in to Brightspace and find the INFOMDWR course</a:t>
            </a:r>
          </a:p>
          <a:p>
            <a:pPr marL="514350" indent="-514350">
              <a:buAutoNum type="arabicPeriod"/>
            </a:pPr>
            <a:r>
              <a:rPr lang="en-US" sz="3200" dirty="0"/>
              <a:t>If we were organized coordinators: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Find the group sign-up page there to see how you can sign up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Find the assignment hand-in page to see how you can submit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we are disorganized coordinators, don’t worry, it’ll be there soon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67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ainbow colored circle on a black background">
            <a:extLst>
              <a:ext uri="{FF2B5EF4-FFF2-40B4-BE49-F238E27FC236}">
                <a16:creationId xmlns:a16="http://schemas.microsoft.com/office/drawing/2014/main" id="{088A1115-E858-C992-6C16-57465CE24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3728" y="0"/>
            <a:ext cx="13759456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D331C6-9684-4427-E4FD-8D2358037028}"/>
              </a:ext>
            </a:extLst>
          </p:cNvPr>
          <p:cNvSpPr/>
          <p:nvPr/>
        </p:nvSpPr>
        <p:spPr>
          <a:xfrm>
            <a:off x="157700" y="2902226"/>
            <a:ext cx="11876600" cy="3816626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11500" b="1" dirty="0">
                <a:ln w="1270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Read the syllabus</a:t>
            </a:r>
            <a:endParaRPr lang="en-US" sz="11500" b="1" cap="none" spc="0" dirty="0">
              <a:ln w="12700" cmpd="sng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8742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Announcements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02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ipart Transparent Animated Cartoon Animation Professor - Professor  Animation - Free Transparent PNG Download - PNGkey">
            <a:extLst>
              <a:ext uri="{FF2B5EF4-FFF2-40B4-BE49-F238E27FC236}">
                <a16:creationId xmlns:a16="http://schemas.microsoft.com/office/drawing/2014/main" id="{918A5970-DF7B-C795-4EC5-880814FDE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1" r="25258"/>
          <a:stretch/>
        </p:blipFill>
        <p:spPr bwMode="auto">
          <a:xfrm>
            <a:off x="10503913" y="3609879"/>
            <a:ext cx="1688087" cy="265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 OAC is looking for Student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135533" cy="4351338"/>
          </a:xfrm>
        </p:spPr>
        <p:txBody>
          <a:bodyPr>
            <a:normAutofit/>
          </a:bodyPr>
          <a:lstStyle/>
          <a:p>
            <a:r>
              <a:rPr lang="en-US" sz="2800" dirty="0"/>
              <a:t>ADS Education Advisory Committee (OAC) is looking for three student members</a:t>
            </a:r>
          </a:p>
          <a:p>
            <a:pPr lvl="1"/>
            <a:r>
              <a:rPr lang="en-US" dirty="0"/>
              <a:t>One member (vice-chair) will be a member of GSNS OC</a:t>
            </a:r>
          </a:p>
          <a:p>
            <a:r>
              <a:rPr lang="en-US" sz="2800" dirty="0"/>
              <a:t>OAC is composed of equal number of staff and student members.</a:t>
            </a:r>
          </a:p>
          <a:p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A8EFE53-4D29-5259-2ACF-03EB5D04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000" y="3246783"/>
            <a:ext cx="2249591" cy="343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emale professor | Public domain vectors">
            <a:extLst>
              <a:ext uri="{FF2B5EF4-FFF2-40B4-BE49-F238E27FC236}">
                <a16:creationId xmlns:a16="http://schemas.microsoft.com/office/drawing/2014/main" id="{A72BDC9E-FDD8-237B-8AD4-E8DD86AEC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00" y="3715395"/>
            <a:ext cx="1154641" cy="255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192228FC-55C2-C366-893C-4D30E5707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0" y="4100518"/>
            <a:ext cx="1783723" cy="1783723"/>
          </a:xfrm>
          <a:prstGeom prst="rect">
            <a:avLst/>
          </a:prstGeom>
        </p:spPr>
      </p:pic>
      <p:pic>
        <p:nvPicPr>
          <p:cNvPr id="10" name="Picture 9" descr="A cartoon of a person holding a gift&#10;&#10;Description automatically generated">
            <a:extLst>
              <a:ext uri="{FF2B5EF4-FFF2-40B4-BE49-F238E27FC236}">
                <a16:creationId xmlns:a16="http://schemas.microsoft.com/office/drawing/2014/main" id="{8020F35A-BB89-B1E1-35FF-118AD04299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76" y="4100518"/>
            <a:ext cx="1783723" cy="1783723"/>
          </a:xfrm>
          <a:prstGeom prst="rect">
            <a:avLst/>
          </a:prstGeom>
        </p:spPr>
      </p:pic>
      <p:pic>
        <p:nvPicPr>
          <p:cNvPr id="12" name="Picture 11" descr="A cartoon of a person&#10;&#10;Description automatically generated">
            <a:extLst>
              <a:ext uri="{FF2B5EF4-FFF2-40B4-BE49-F238E27FC236}">
                <a16:creationId xmlns:a16="http://schemas.microsoft.com/office/drawing/2014/main" id="{045D7C29-42C5-F4C8-BE1A-5DC44018D2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326" y="4100517"/>
            <a:ext cx="1783723" cy="17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17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1915" cy="4351338"/>
          </a:xfrm>
        </p:spPr>
        <p:txBody>
          <a:bodyPr>
            <a:normAutofit/>
          </a:bodyPr>
          <a:lstStyle/>
          <a:p>
            <a:r>
              <a:rPr lang="en-US" sz="3200" dirty="0"/>
              <a:t>You will: </a:t>
            </a:r>
          </a:p>
          <a:p>
            <a:pPr lvl="1"/>
            <a:r>
              <a:rPr lang="en-US" sz="2800" dirty="0"/>
              <a:t>Review the Caracal evaluations </a:t>
            </a:r>
          </a:p>
          <a:p>
            <a:pPr lvl="1"/>
            <a:r>
              <a:rPr lang="en-US" sz="2800" dirty="0"/>
              <a:t>Comment and give suggestions on the GSNS OER (Education and Examination Rules) and program-wise (ADS) OER Annex </a:t>
            </a:r>
          </a:p>
          <a:p>
            <a:pPr lvl="1"/>
            <a:r>
              <a:rPr lang="en-US" sz="2800" dirty="0"/>
              <a:t>Help in solving other education quality-related issues</a:t>
            </a:r>
            <a:endParaRPr lang="en-US" sz="3200" dirty="0"/>
          </a:p>
          <a:p>
            <a:r>
              <a:rPr lang="en-US" sz="3200" dirty="0"/>
              <a:t>Expected time dedication </a:t>
            </a:r>
          </a:p>
          <a:p>
            <a:pPr lvl="1"/>
            <a:r>
              <a:rPr lang="en-US" sz="2800" dirty="0"/>
              <a:t>Weekly average: 2 hours for OAC members, 4 hours for vice-chair (also member of GSNS-OC)</a:t>
            </a:r>
          </a:p>
          <a:p>
            <a:pPr lvl="1"/>
            <a:r>
              <a:rPr lang="en-US" sz="2800" dirty="0"/>
              <a:t>You will be compensated for the time you spent</a:t>
            </a:r>
          </a:p>
        </p:txBody>
      </p:sp>
      <p:pic>
        <p:nvPicPr>
          <p:cNvPr id="1028" name="Picture 4" descr="Free Images : audit, evaluation, verification, business, report, document,  data, review, assessment, financial, businessman, researching, analysis,  research, inspection, magnifying, info, paperwork, cartoon, auditor,  auditing, accounting, magnifier ...">
            <a:extLst>
              <a:ext uri="{FF2B5EF4-FFF2-40B4-BE49-F238E27FC236}">
                <a16:creationId xmlns:a16="http://schemas.microsoft.com/office/drawing/2014/main" id="{52F96C7F-41A4-9779-CA3A-8C3A31F82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8" y="1570425"/>
            <a:ext cx="1621973" cy="109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ck on a building&#10;&#10;Description automatically generated">
            <a:extLst>
              <a:ext uri="{FF2B5EF4-FFF2-40B4-BE49-F238E27FC236}">
                <a16:creationId xmlns:a16="http://schemas.microsoft.com/office/drawing/2014/main" id="{84F13EB2-53FB-E39C-CD15-1BE4CD56D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0" r="13641"/>
          <a:stretch/>
        </p:blipFill>
        <p:spPr>
          <a:xfrm>
            <a:off x="9874551" y="5200668"/>
            <a:ext cx="1186544" cy="111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13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apply?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265487" cy="3118908"/>
          </a:xfrm>
        </p:spPr>
        <p:txBody>
          <a:bodyPr>
            <a:normAutofit/>
          </a:bodyPr>
          <a:lstStyle/>
          <a:p>
            <a:r>
              <a:rPr lang="en-US" sz="2800" dirty="0"/>
              <a:t>Interested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76839-9B76-B8BD-0659-5C1EAB21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632" y="4001294"/>
            <a:ext cx="3022600" cy="2369718"/>
          </a:xfrm>
          <a:prstGeom prst="rect">
            <a:avLst/>
          </a:prstGeom>
        </p:spPr>
      </p:pic>
      <p:pic>
        <p:nvPicPr>
          <p:cNvPr id="3076" name="Picture 4" descr="CV Examples: 380+ Curriculum Vitae Samples [Free Download]">
            <a:extLst>
              <a:ext uri="{FF2B5EF4-FFF2-40B4-BE49-F238E27FC236}">
                <a16:creationId xmlns:a16="http://schemas.microsoft.com/office/drawing/2014/main" id="{3E4DBFB9-E59D-5103-1194-9B7602828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83"/>
          <a:stretch/>
        </p:blipFill>
        <p:spPr bwMode="auto">
          <a:xfrm>
            <a:off x="9510244" y="393099"/>
            <a:ext cx="1843556" cy="304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Add with solid fill">
            <a:extLst>
              <a:ext uri="{FF2B5EF4-FFF2-40B4-BE49-F238E27FC236}">
                <a16:creationId xmlns:a16="http://schemas.microsoft.com/office/drawing/2014/main" id="{92702696-44FF-6342-ABFB-CFEC1C26F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844" y="1457782"/>
            <a:ext cx="914400" cy="914400"/>
          </a:xfrm>
          <a:prstGeom prst="rect">
            <a:avLst/>
          </a:prstGeom>
        </p:spPr>
      </p:pic>
      <p:pic>
        <p:nvPicPr>
          <p:cNvPr id="3078" name="Picture 6" descr="The theory of motivation. On this occasion I want to write about… | by  Esteban Spina | Globant | Medium">
            <a:extLst>
              <a:ext uri="{FF2B5EF4-FFF2-40B4-BE49-F238E27FC236}">
                <a16:creationId xmlns:a16="http://schemas.microsoft.com/office/drawing/2014/main" id="{6D52A94C-060A-3776-4FB1-06178E5BC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122" y="691886"/>
            <a:ext cx="3265487" cy="21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ne 14">
            <a:extLst>
              <a:ext uri="{FF2B5EF4-FFF2-40B4-BE49-F238E27FC236}">
                <a16:creationId xmlns:a16="http://schemas.microsoft.com/office/drawing/2014/main" id="{CE9E83E0-5C9B-28C7-193C-C4D8A1C73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7732" y="2868205"/>
            <a:ext cx="22633" cy="1133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85FA6559-DE3D-AFA3-3DF2-7B1C6D23C8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2134" y="2675731"/>
            <a:ext cx="2144243" cy="1325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BBEDC-285C-7C71-B3F7-748E9C78944F}"/>
              </a:ext>
            </a:extLst>
          </p:cNvPr>
          <p:cNvSpPr txBox="1"/>
          <p:nvPr/>
        </p:nvSpPr>
        <p:spPr>
          <a:xfrm>
            <a:off x="9241605" y="4855150"/>
            <a:ext cx="2662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h.kaya@uu.nl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2929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693C2C-4C7E-2997-1455-DE7D2994845D}"/>
              </a:ext>
            </a:extLst>
          </p:cNvPr>
          <p:cNvSpPr txBox="1">
            <a:spLocks/>
          </p:cNvSpPr>
          <p:nvPr/>
        </p:nvSpPr>
        <p:spPr>
          <a:xfrm>
            <a:off x="238593" y="814830"/>
            <a:ext cx="4962993" cy="132556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volunteers for the ADS Social Event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B8DFD4-457E-09BF-23B3-9533A97FB82B}"/>
              </a:ext>
            </a:extLst>
          </p:cNvPr>
          <p:cNvGrpSpPr/>
          <p:nvPr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7972B1A-82F2-AECC-AABF-DDCFB61D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0" y="0"/>
              <a:ext cx="6858000" cy="6858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1BD72A-2A10-7F16-027E-0490B53D9525}"/>
                </a:ext>
              </a:extLst>
            </p:cNvPr>
            <p:cNvSpPr/>
            <p:nvPr/>
          </p:nvSpPr>
          <p:spPr>
            <a:xfrm>
              <a:off x="7883912" y="4259766"/>
              <a:ext cx="4059045" cy="401444"/>
            </a:xfrm>
            <a:prstGeom prst="rect">
              <a:avLst/>
            </a:prstGeom>
            <a:solidFill>
              <a:srgbClr val="A9A9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DATE: TUESDAY SEPTEMBER 17 (15:00 – 20:00)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8D4BAFD-C9C6-3E7D-A572-ED0F7E03AE70}"/>
                </a:ext>
              </a:extLst>
            </p:cNvPr>
            <p:cNvSpPr/>
            <p:nvPr/>
          </p:nvSpPr>
          <p:spPr>
            <a:xfrm>
              <a:off x="7883912" y="4802459"/>
              <a:ext cx="4059045" cy="1587190"/>
            </a:xfrm>
            <a:prstGeom prst="rect">
              <a:avLst/>
            </a:prstGeom>
            <a:solidFill>
              <a:srgbClr val="A9A9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Come by for a drink and (hopefully) a piece of pizza, chat with your peers, instructors, and the program administration, and compete at table football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9305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BNAIC conference is looking for volunteers: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https://bnaic2024.sites.uu.nl/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" y="2326367"/>
            <a:ext cx="10961915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Send an email to </a:t>
            </a:r>
            <a:r>
              <a:rPr lang="en-US" sz="2800" dirty="0">
                <a:hlinkClick r:id="rId3"/>
              </a:rPr>
              <a:t>h.t.schavemaker@uu.nl</a:t>
            </a:r>
            <a:r>
              <a:rPr lang="en-US" sz="2800" dirty="0"/>
              <a:t> if you are interested.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16561-5193-4264-4EE4-B26DE03C5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14" y="1999796"/>
            <a:ext cx="8368851" cy="37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49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>
            <a:spLocks noGrp="1"/>
          </p:cNvSpPr>
          <p:nvPr>
            <p:ph type="title"/>
          </p:nvPr>
        </p:nvSpPr>
        <p:spPr>
          <a:xfrm>
            <a:off x="558867" y="682600"/>
            <a:ext cx="6774400" cy="79740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" dirty="0">
                <a:solidFill>
                  <a:schemeClr val="bg1"/>
                </a:solidFill>
              </a:rPr>
              <a:t>HE AI HELPDESK</a:t>
            </a:r>
            <a:endParaRPr b="0" dirty="0">
              <a:solidFill>
                <a:schemeClr val="bg1"/>
              </a:solidFill>
            </a:endParaRPr>
          </a:p>
        </p:txBody>
      </p:sp>
      <p:sp>
        <p:nvSpPr>
          <p:cNvPr id="236" name="Google Shape;236;p27"/>
          <p:cNvSpPr txBox="1">
            <a:spLocks noGrp="1"/>
          </p:cNvSpPr>
          <p:nvPr>
            <p:ph type="body" idx="1"/>
          </p:nvPr>
        </p:nvSpPr>
        <p:spPr>
          <a:xfrm>
            <a:off x="132887" y="1672600"/>
            <a:ext cx="9197200" cy="450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highlight>
                  <a:srgbClr val="0000FF"/>
                </a:highlight>
              </a:rPr>
              <a:t>W</a:t>
            </a:r>
            <a:r>
              <a:rPr lang="en" sz="2200" dirty="0">
                <a:solidFill>
                  <a:schemeClr val="bg1"/>
                </a:solidFill>
                <a:highlight>
                  <a:srgbClr val="0000FF"/>
                </a:highlight>
              </a:rPr>
              <a:t>hat is it?</a:t>
            </a:r>
          </a:p>
          <a:p>
            <a:pPr marL="342900" indent="-342900">
              <a:buClr>
                <a:srgbClr val="0070C0"/>
              </a:buClr>
            </a:pPr>
            <a:r>
              <a:rPr lang="en" sz="2200" dirty="0">
                <a:solidFill>
                  <a:schemeClr val="bg1"/>
                </a:solidFill>
              </a:rPr>
              <a:t>It is an </a:t>
            </a:r>
            <a:r>
              <a:rPr lang="en" sz="2200" b="1" dirty="0">
                <a:solidFill>
                  <a:schemeClr val="bg1"/>
                </a:solidFill>
              </a:rPr>
              <a:t>online platform</a:t>
            </a:r>
            <a:r>
              <a:rPr lang="en" sz="2200" dirty="0">
                <a:solidFill>
                  <a:schemeClr val="bg1"/>
                </a:solidFill>
              </a:rPr>
              <a:t> dedicated to providing clear, reliable </a:t>
            </a:r>
            <a:r>
              <a:rPr lang="en" sz="2200" b="1" dirty="0">
                <a:solidFill>
                  <a:schemeClr val="bg1"/>
                </a:solidFill>
              </a:rPr>
              <a:t>ANSWERS </a:t>
            </a:r>
            <a:r>
              <a:rPr lang="en" sz="2200" dirty="0">
                <a:solidFill>
                  <a:schemeClr val="bg1"/>
                </a:solidFill>
              </a:rPr>
              <a:t>to the public’s </a:t>
            </a:r>
            <a:r>
              <a:rPr lang="en" sz="2200" b="1" dirty="0">
                <a:solidFill>
                  <a:schemeClr val="bg1"/>
                </a:solidFill>
              </a:rPr>
              <a:t>QUESTIONS ABOUT AI</a:t>
            </a:r>
            <a:r>
              <a:rPr lang="en" sz="2200" dirty="0">
                <a:solidFill>
                  <a:schemeClr val="bg1"/>
                </a:solidFill>
              </a:rPr>
              <a:t>. </a:t>
            </a:r>
          </a:p>
          <a:p>
            <a:pPr marL="342900" indent="-342900">
              <a:buClr>
                <a:srgbClr val="0070C0"/>
              </a:buClr>
            </a:pPr>
            <a:r>
              <a:rPr lang="en" sz="2200" dirty="0">
                <a:solidFill>
                  <a:schemeClr val="bg1"/>
                </a:solidFill>
              </a:rPr>
              <a:t>Individuals can </a:t>
            </a:r>
            <a:r>
              <a:rPr lang="en" sz="2200" b="1" dirty="0">
                <a:solidFill>
                  <a:schemeClr val="bg1"/>
                </a:solidFill>
              </a:rPr>
              <a:t>submit their questions</a:t>
            </a:r>
            <a:r>
              <a:rPr lang="en" sz="2200" dirty="0">
                <a:solidFill>
                  <a:schemeClr val="bg1"/>
                </a:solidFill>
              </a:rPr>
              <a:t> to the AI helpdesk, these questions will be addressed by </a:t>
            </a:r>
            <a:r>
              <a:rPr lang="en" sz="2200" b="1" dirty="0">
                <a:solidFill>
                  <a:schemeClr val="bg1"/>
                </a:solidFill>
              </a:rPr>
              <a:t>experts </a:t>
            </a:r>
            <a:r>
              <a:rPr lang="en" sz="2200" dirty="0">
                <a:solidFill>
                  <a:schemeClr val="bg1"/>
                </a:solidFill>
              </a:rPr>
              <a:t>in the field through clear and accessible responses.</a:t>
            </a:r>
          </a:p>
          <a:p>
            <a:pPr marL="342900" indent="-342900">
              <a:buClr>
                <a:srgbClr val="0070C0"/>
              </a:buClr>
            </a:pPr>
            <a:r>
              <a:rPr lang="en-US" sz="2200" dirty="0">
                <a:solidFill>
                  <a:schemeClr val="bg1"/>
                </a:solidFill>
              </a:rPr>
              <a:t>F</a:t>
            </a:r>
            <a:r>
              <a:rPr lang="en" sz="2200" dirty="0">
                <a:solidFill>
                  <a:schemeClr val="bg1"/>
                </a:solidFill>
              </a:rPr>
              <a:t>unded by the Utrecht Young Academy  </a:t>
            </a:r>
          </a:p>
          <a:p>
            <a:pPr marL="0" indent="0">
              <a:buClr>
                <a:srgbClr val="0070C0"/>
              </a:buClr>
              <a:buNone/>
            </a:pPr>
            <a:endParaRPr lang="en" sz="2200" dirty="0">
              <a:solidFill>
                <a:schemeClr val="bg1"/>
              </a:solidFill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sz="2200" dirty="0">
                <a:solidFill>
                  <a:schemeClr val="bg1"/>
                </a:solidFill>
                <a:highlight>
                  <a:srgbClr val="0000FF"/>
                </a:highlight>
              </a:rPr>
              <a:t>W</a:t>
            </a:r>
            <a:r>
              <a:rPr lang="en" sz="2200" dirty="0">
                <a:solidFill>
                  <a:schemeClr val="bg1"/>
                </a:solidFill>
                <a:highlight>
                  <a:srgbClr val="0000FF"/>
                </a:highlight>
              </a:rPr>
              <a:t>ebsite to launch Autumn 2024</a:t>
            </a:r>
            <a:r>
              <a:rPr lang="en" sz="2200" dirty="0">
                <a:solidFill>
                  <a:schemeClr val="bg1"/>
                </a:solidFill>
              </a:rPr>
              <a:t>*</a:t>
            </a:r>
          </a:p>
          <a:p>
            <a:pPr marL="0" indent="0">
              <a:buClr>
                <a:srgbClr val="0070C0"/>
              </a:buClr>
              <a:buNone/>
            </a:pPr>
            <a:endParaRPr lang="en" sz="2200" dirty="0">
              <a:solidFill>
                <a:schemeClr val="bg1"/>
              </a:solidFill>
              <a:highlight>
                <a:srgbClr val="0000FF"/>
              </a:highlight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" dirty="0">
                <a:solidFill>
                  <a:schemeClr val="bg1"/>
                </a:solidFill>
              </a:rPr>
              <a:t>eel free to scan the QR code to </a:t>
            </a:r>
            <a:r>
              <a:rPr lang="en" b="1" dirty="0">
                <a:solidFill>
                  <a:schemeClr val="bg1"/>
                </a:solidFill>
              </a:rPr>
              <a:t>stay informed </a:t>
            </a:r>
            <a:r>
              <a:rPr lang="en" dirty="0">
                <a:solidFill>
                  <a:schemeClr val="bg1"/>
                </a:solidFill>
              </a:rPr>
              <a:t>and/or </a:t>
            </a:r>
            <a:r>
              <a:rPr lang="en" b="1" dirty="0">
                <a:solidFill>
                  <a:schemeClr val="bg1"/>
                </a:solidFill>
              </a:rPr>
              <a:t>ask</a:t>
            </a:r>
            <a:r>
              <a:rPr lang="en" dirty="0">
                <a:solidFill>
                  <a:schemeClr val="bg1"/>
                </a:solidFill>
              </a:rPr>
              <a:t> any </a:t>
            </a:r>
            <a:r>
              <a:rPr lang="en" b="1" dirty="0">
                <a:solidFill>
                  <a:schemeClr val="bg1"/>
                </a:solidFill>
              </a:rPr>
              <a:t>questions</a:t>
            </a:r>
            <a:r>
              <a:rPr lang="en" dirty="0">
                <a:solidFill>
                  <a:schemeClr val="bg1"/>
                </a:solidFill>
              </a:rPr>
              <a:t> you have about AI!!</a:t>
            </a:r>
          </a:p>
          <a:p>
            <a:pPr marL="0" indent="0">
              <a:buClr>
                <a:srgbClr val="0070C0"/>
              </a:buClr>
              <a:buNone/>
            </a:pPr>
            <a:endParaRPr lang="en" sz="2200" dirty="0">
              <a:solidFill>
                <a:schemeClr val="bg1"/>
              </a:solidFill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" sz="1400" dirty="0">
                <a:solidFill>
                  <a:schemeClr val="bg1"/>
                </a:solidFill>
              </a:rPr>
              <a:t>* </a:t>
            </a:r>
            <a:r>
              <a:rPr lang="en-US" sz="1400" dirty="0">
                <a:solidFill>
                  <a:schemeClr val="bg1"/>
                </a:solidFill>
              </a:rPr>
              <a:t>F</a:t>
            </a:r>
            <a:r>
              <a:rPr lang="en" sz="1400" dirty="0">
                <a:solidFill>
                  <a:schemeClr val="bg1"/>
                </a:solidFill>
              </a:rPr>
              <a:t>irst phase will be in Dutch</a:t>
            </a:r>
            <a:endParaRPr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sz="2200" dirty="0">
              <a:solidFill>
                <a:schemeClr val="bg1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 rotWithShape="1">
          <a:blip r:embed="rId3">
            <a:alphaModFix/>
          </a:blip>
          <a:srcRect r="36317"/>
          <a:stretch/>
        </p:blipFill>
        <p:spPr>
          <a:xfrm rot="4432352">
            <a:off x="8099763" y="1199654"/>
            <a:ext cx="7998827" cy="4458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Utrecht Young Academy welcomes eight new members - News - Utrecht University">
            <a:extLst>
              <a:ext uri="{FF2B5EF4-FFF2-40B4-BE49-F238E27FC236}">
                <a16:creationId xmlns:a16="http://schemas.microsoft.com/office/drawing/2014/main" id="{2588E95D-D488-02AF-A81E-C1F9DD287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941" y="211036"/>
            <a:ext cx="1648166" cy="109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D51410D-9064-42FD-524B-8BFD99ACC5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503" y="211036"/>
            <a:ext cx="1132826" cy="59094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71C4490-9A55-DF4A-45B2-924B87C7C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087" y="4106929"/>
            <a:ext cx="2729026" cy="254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questions?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79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you in the lab 👋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641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|11.2|1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473D4E-B70B-4136-B747-E79AAA180FB8}">
  <ds:schemaRefs>
    <ds:schemaRef ds:uri="http://schemas.microsoft.com/office/infopath/2007/PartnerControls"/>
    <ds:schemaRef ds:uri="5032e021-b0cf-43e6-828a-5b682824f23c"/>
    <ds:schemaRef ds:uri="http://schemas.microsoft.com/office/2006/metadata/properties"/>
    <ds:schemaRef ds:uri="http://purl.org/dc/elements/1.1/"/>
    <ds:schemaRef ds:uri="http://schemas.microsoft.com/office/2006/documentManagement/types"/>
    <ds:schemaRef ds:uri="ef284efa-1316-4307-b1a8-b157427e4237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1257</Words>
  <Application>Microsoft Macintosh PowerPoint</Application>
  <PresentationFormat>Widescreen</PresentationFormat>
  <Paragraphs>258</Paragraphs>
  <Slides>43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Fira Sans</vt:lpstr>
      <vt:lpstr>Verdana</vt:lpstr>
      <vt:lpstr>Copperplate Gothic Bold</vt:lpstr>
      <vt:lpstr>Calibri Light</vt:lpstr>
      <vt:lpstr>Arial</vt:lpstr>
      <vt:lpstr>Times New Roman</vt:lpstr>
      <vt:lpstr>Calibri</vt:lpstr>
      <vt:lpstr>Nunito Light</vt:lpstr>
      <vt:lpstr>Wingdings</vt:lpstr>
      <vt:lpstr>Montserrat Light</vt:lpstr>
      <vt:lpstr>Office Theme</vt:lpstr>
      <vt:lpstr>Clip</vt:lpstr>
      <vt:lpstr>PowerPoint Presentation</vt:lpstr>
      <vt:lpstr>Today</vt:lpstr>
      <vt:lpstr>Who are we?</vt:lpstr>
      <vt:lpstr>Faculty of Science team</vt:lpstr>
      <vt:lpstr>Social &amp; Behavioural Science team</vt:lpstr>
      <vt:lpstr>Introduction</vt:lpstr>
      <vt:lpstr>Extracting value from data</vt:lpstr>
      <vt:lpstr>KDD process</vt:lpstr>
      <vt:lpstr>PowerPoint Presentation</vt:lpstr>
      <vt:lpstr>Data quality issues</vt:lpstr>
      <vt:lpstr>Data preparation</vt:lpstr>
      <vt:lpstr>Regression: How do wages differ?</vt:lpstr>
      <vt:lpstr>Classification &amp; visualisation</vt:lpstr>
      <vt:lpstr>Deep learning</vt:lpstr>
      <vt:lpstr>Missing data</vt:lpstr>
      <vt:lpstr>Clustering</vt:lpstr>
      <vt:lpstr>Text Mining: Who was the best Friend?</vt:lpstr>
      <vt:lpstr>Natural language processing</vt:lpstr>
      <vt:lpstr>NLP: ChatGPT4o</vt:lpstr>
      <vt:lpstr>Case studies</vt:lpstr>
      <vt:lpstr>app.wooclap.com/INFOMDWR</vt:lpstr>
      <vt:lpstr>10 minute break!</vt:lpstr>
      <vt:lpstr>Practicalities</vt:lpstr>
      <vt:lpstr>https://infomdwr.nl </vt:lpstr>
      <vt:lpstr>Practicalities</vt:lpstr>
      <vt:lpstr>Course flow</vt:lpstr>
      <vt:lpstr>Schedule &amp; readings</vt:lpstr>
      <vt:lpstr>Lectures: Prepare for tomorrow!</vt:lpstr>
      <vt:lpstr>Next Monday: your ONLY online lecture</vt:lpstr>
      <vt:lpstr>Labs</vt:lpstr>
      <vt:lpstr>Labs: prepare!</vt:lpstr>
      <vt:lpstr>Assignments</vt:lpstr>
      <vt:lpstr>Assignments: prepare!</vt:lpstr>
      <vt:lpstr>PowerPoint Presentation</vt:lpstr>
      <vt:lpstr>Announcements</vt:lpstr>
      <vt:lpstr>ADS OAC is looking for Student Members</vt:lpstr>
      <vt:lpstr>What will you do?</vt:lpstr>
      <vt:lpstr>How to apply?</vt:lpstr>
      <vt:lpstr>PowerPoint Presentation</vt:lpstr>
      <vt:lpstr>The BNAIC conference is looking for volunteers: https://bnaic2024.sites.uu.nl/ </vt:lpstr>
      <vt:lpstr>THE AI HELPDESK</vt:lpstr>
      <vt:lpstr>Further questions?</vt:lpstr>
      <vt:lpstr>See you in the lab 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A.A.A. (Hakim)</cp:lastModifiedBy>
  <cp:revision>132</cp:revision>
  <cp:lastPrinted>2024-09-05T08:06:21Z</cp:lastPrinted>
  <dcterms:created xsi:type="dcterms:W3CDTF">2020-02-17T15:53:26Z</dcterms:created>
  <dcterms:modified xsi:type="dcterms:W3CDTF">2025-05-19T08:24:20Z</dcterms:modified>
</cp:coreProperties>
</file>