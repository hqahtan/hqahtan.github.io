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8"/>
  </p:notesMasterIdLst>
  <p:sldIdLst>
    <p:sldId id="256" r:id="rId5"/>
    <p:sldId id="2262" r:id="rId6"/>
    <p:sldId id="2264" r:id="rId7"/>
    <p:sldId id="322" r:id="rId8"/>
    <p:sldId id="2279" r:id="rId9"/>
    <p:sldId id="371" r:id="rId10"/>
    <p:sldId id="2243" r:id="rId11"/>
    <p:sldId id="2258" r:id="rId12"/>
    <p:sldId id="2234" r:id="rId13"/>
    <p:sldId id="262" r:id="rId14"/>
    <p:sldId id="260" r:id="rId15"/>
    <p:sldId id="261" r:id="rId16"/>
    <p:sldId id="2259" r:id="rId17"/>
    <p:sldId id="2292" r:id="rId18"/>
    <p:sldId id="2263" r:id="rId19"/>
    <p:sldId id="2266" r:id="rId20"/>
    <p:sldId id="2268" r:id="rId21"/>
    <p:sldId id="2269" r:id="rId22"/>
    <p:sldId id="2267" r:id="rId23"/>
    <p:sldId id="2270" r:id="rId24"/>
    <p:sldId id="2271" r:id="rId25"/>
    <p:sldId id="2273" r:id="rId26"/>
    <p:sldId id="2275" r:id="rId27"/>
    <p:sldId id="2276" r:id="rId28"/>
    <p:sldId id="2277" r:id="rId29"/>
    <p:sldId id="2280" r:id="rId30"/>
    <p:sldId id="2291" r:id="rId31"/>
    <p:sldId id="2250" r:id="rId32"/>
    <p:sldId id="2260" r:id="rId33"/>
    <p:sldId id="2261" r:id="rId34"/>
    <p:sldId id="257" r:id="rId35"/>
    <p:sldId id="2284" r:id="rId36"/>
    <p:sldId id="2286" r:id="rId37"/>
  </p:sldIdLst>
  <p:sldSz cx="12192000" cy="6858000"/>
  <p:notesSz cx="6858000" cy="9144000"/>
  <p:embeddedFontLst>
    <p:embeddedFont>
      <p:font typeface="Copperplate Gothic Bold" panose="020E0705020206020404" pitchFamily="34" charset="77"/>
      <p:regular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9A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4815"/>
  </p:normalViewPr>
  <p:slideViewPr>
    <p:cSldViewPr snapToGrid="0">
      <p:cViewPr varScale="1">
        <p:scale>
          <a:sx n="100" d="100"/>
          <a:sy n="100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38-420F-A257-07A88B6339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38-420F-A257-07A88B63399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38-420F-A257-07A88B63399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38-420F-A257-07A88B63399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F38-420F-A257-07A88B63399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F38-420F-A257-07A88B633999}"/>
              </c:ext>
            </c:extLst>
          </c:dPt>
          <c:dLbls>
            <c:dLbl>
              <c:idx val="0"/>
              <c:layout>
                <c:manualLayout>
                  <c:x val="-0.12064552028974292"/>
                  <c:y val="2.0082468507368639E-2"/>
                </c:manualLayout>
              </c:layout>
              <c:tx>
                <c:rich>
                  <a:bodyPr/>
                  <a:lstStyle/>
                  <a:p>
                    <a:fld id="{01150C84-A3FC-4AC1-BA79-D7486FA32435}" type="VALUE">
                      <a:rPr lang="en-US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F38-420F-A257-07A88B633999}"/>
                </c:ext>
              </c:extLst>
            </c:dLbl>
            <c:dLbl>
              <c:idx val="1"/>
              <c:layout>
                <c:manualLayout>
                  <c:x val="8.7865761546171359E-2"/>
                  <c:y val="5.845770499852735E-2"/>
                </c:manualLayout>
              </c:layout>
              <c:tx>
                <c:rich>
                  <a:bodyPr/>
                  <a:lstStyle/>
                  <a:p>
                    <a:fld id="{70D59B92-885D-4DC2-9D46-B3CD2C24C74D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F38-420F-A257-07A88B6339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CC11EF0-F80D-4912-BD3E-5D49765769F2}" type="PERCENTAGE">
                      <a:rPr lang="en-US"/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F38-420F-A257-07A88B633999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A43AEF0-87F1-466E-9F02-9054EBF42D00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F38-420F-A257-07A88B63399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9C11A39-3B28-4139-86FF-11A2086355F0}" type="VALUE">
                      <a:rPr lang="en-US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2F38-420F-A257-07A88B633999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6969267-B81E-4A65-BFB9-E1FEA9FFE089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>
                        <a:solidFill>
                          <a:schemeClr val="tx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2F38-420F-A257-07A88B6339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Sheet1!$F$3:$F$8</c:f>
              <c:strCache>
                <c:ptCount val="6"/>
                <c:pt idx="0">
                  <c:v>Collecting datasets</c:v>
                </c:pt>
                <c:pt idx="1">
                  <c:v>Cleaning and organizing the data</c:v>
                </c:pt>
                <c:pt idx="2">
                  <c:v>mining data for patterns </c:v>
                </c:pt>
                <c:pt idx="3">
                  <c:v>Refining algorithms</c:v>
                </c:pt>
                <c:pt idx="4">
                  <c:v>Other</c:v>
                </c:pt>
                <c:pt idx="5">
                  <c:v>Building training sets</c:v>
                </c:pt>
              </c:strCache>
            </c:strRef>
          </c:cat>
          <c:val>
            <c:numRef>
              <c:f>Sheet1!$E$3:$E$8</c:f>
              <c:numCache>
                <c:formatCode>General</c:formatCode>
                <c:ptCount val="6"/>
                <c:pt idx="0">
                  <c:v>60</c:v>
                </c:pt>
                <c:pt idx="1">
                  <c:v>19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F38-420F-A257-07A88B6339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en-IT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A8A-48A5-8DD2-DE6CBBB1FD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B9F-4626-9A8C-1FD10AA75BE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A8A-48A5-8DD2-DE6CBBB1FD2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A8A-48A5-8DD2-DE6CBBB1FD21}"/>
              </c:ext>
            </c:extLst>
          </c:dPt>
          <c:dLbls>
            <c:dLbl>
              <c:idx val="1"/>
              <c:layout>
                <c:manualLayout>
                  <c:x val="0.11058561556015048"/>
                  <c:y val="-0.208497934231628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B9F-4626-9A8C-1FD10AA75BE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Skills</c:v>
                </c:pt>
                <c:pt idx="1">
                  <c:v>Anger Management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9F-4626-9A8C-1FD10AA75B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T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0.51519</cdr:x>
      <cdr:y>0.40927</cdr:y>
    </cdr:from>
    <cdr:to>
      <cdr:x>0.71</cdr:x>
      <cdr:y>0.64033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8C2B5F1-D4C8-466A-8BBE-94FC7EEE9230}"/>
            </a:ext>
          </a:extLst>
        </cdr:cNvPr>
        <cdr:cNvSpPr txBox="1"/>
      </cdr:nvSpPr>
      <cdr:spPr>
        <a:xfrm xmlns:a="http://schemas.openxmlformats.org/drawingml/2006/main">
          <a:off x="5239436" y="1665129"/>
          <a:ext cx="1981199" cy="9400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400" dirty="0">
              <a:solidFill>
                <a:schemeClr val="bg1"/>
              </a:solidFill>
            </a:rPr>
            <a:t>Collecting Datasets</a:t>
          </a:r>
          <a:endParaRPr lang="nl-NL" sz="2400" dirty="0">
            <a:solidFill>
              <a:schemeClr val="bg1"/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0.72943</cdr:x>
      <cdr:y>0.03594</cdr:y>
    </cdr:from>
    <cdr:to>
      <cdr:x>0.98266</cdr:x>
      <cdr:y>0.16859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17E2A9D-A4CF-482A-A8B7-175B946E9FEF}"/>
            </a:ext>
          </a:extLst>
        </cdr:cNvPr>
        <cdr:cNvSpPr txBox="1"/>
      </cdr:nvSpPr>
      <cdr:spPr>
        <a:xfrm xmlns:a="http://schemas.openxmlformats.org/drawingml/2006/main">
          <a:off x="4718987" y="146457"/>
          <a:ext cx="1638300" cy="54052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2800" dirty="0"/>
            <a:t>Skills</a:t>
          </a:r>
          <a:endParaRPr lang="nl-NL" sz="2800" dirty="0"/>
        </a:p>
      </cdr:txBody>
    </cdr:sp>
  </cdr:relSizeAnchor>
  <cdr:relSizeAnchor xmlns:cdr="http://schemas.openxmlformats.org/drawingml/2006/chartDrawing">
    <cdr:from>
      <cdr:x>0.25173</cdr:x>
      <cdr:y>0.5111</cdr:y>
    </cdr:from>
    <cdr:to>
      <cdr:x>0.76657</cdr:x>
      <cdr:y>0.64375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68407911-58AE-4D3F-A066-DC5ABEB50140}"/>
            </a:ext>
          </a:extLst>
        </cdr:cNvPr>
        <cdr:cNvSpPr txBox="1"/>
      </cdr:nvSpPr>
      <cdr:spPr>
        <a:xfrm xmlns:a="http://schemas.openxmlformats.org/drawingml/2006/main">
          <a:off x="1628558" y="2082617"/>
          <a:ext cx="3330724" cy="54052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2800" dirty="0">
              <a:solidFill>
                <a:schemeClr val="bg1"/>
              </a:solidFill>
            </a:rPr>
            <a:t>Anger Management</a:t>
          </a:r>
          <a:endParaRPr lang="nl-NL" sz="2800" dirty="0">
            <a:solidFill>
              <a:schemeClr val="bg1"/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16-04-2026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noProof="0" dirty="0">
              <a:solidFill>
                <a:schemeClr val="tx1"/>
              </a:solidFill>
              <a:effectLst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11CA4-2CAE-4AA3-9455-6345782AD4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4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16-04-2026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a.a.a.qahtan@uu.n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mailto:k.nikoletos@uu.n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emf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png"/><Relationship Id="rId9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hqahtan.github.io/teaching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ytimetable.uu.nl/" TargetMode="External"/><Relationship Id="rId2" Type="http://schemas.openxmlformats.org/officeDocument/2006/relationships/hyperlink" Target="https://hqahtan.github.io/teach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u.brightspace.com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teams.microsoft.com/l/team/19%3AfYY8fOuaacgXIqoKDwufPWIJr_7OkF296OBrXR50_AY1%40thread.tacv2/conversations?groupId=f1c52332-2e6d-4f03-8560-bd669f8b4530&amp;tenantId=d72758a0-a446-4e0f-a0aa-4bf95a4a10e7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image" Target="../media/image4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uu.nl/en/organisation/playground" TargetMode="External"/><Relationship Id="rId4" Type="http://schemas.openxmlformats.org/officeDocument/2006/relationships/image" Target="../media/image50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INFOMDW: Data Wrangling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4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course</a:t>
            </a:r>
            <a:endParaRPr lang="en-US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jdelijke aanduiding voor tekst 2">
            <a:extLst>
              <a:ext uri="{FF2B5EF4-FFF2-40B4-BE49-F238E27FC236}">
                <a16:creationId xmlns:a16="http://schemas.microsoft.com/office/drawing/2014/main" id="{78D2D0BF-CC02-3FAE-2A43-D5B507F27278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jdelijke aanduiding voor tekst 3">
            <a:extLst>
              <a:ext uri="{FF2B5EF4-FFF2-40B4-BE49-F238E27FC236}">
                <a16:creationId xmlns:a16="http://schemas.microsoft.com/office/drawing/2014/main" id="{859CECEF-E0E4-9881-535E-11C93F70211E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6F34-C773-C782-DB32-C9B77C9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A96A6-81C4-9186-634E-D51C1311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Who are we?</a:t>
            </a:r>
          </a:p>
          <a:p>
            <a:r>
              <a:rPr lang="en-US" dirty="0"/>
              <a:t>Introduction to the course content</a:t>
            </a:r>
          </a:p>
          <a:p>
            <a:r>
              <a:rPr lang="en-US" dirty="0"/>
              <a:t>Getting to know you a little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Practicalities &amp; course flow</a:t>
            </a:r>
          </a:p>
          <a:p>
            <a:r>
              <a:rPr lang="en-US" dirty="0"/>
              <a:t>Time for questions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first…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157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we?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058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person with glasses and beard&#10;&#10;Description automatically generated">
            <a:extLst>
              <a:ext uri="{FF2B5EF4-FFF2-40B4-BE49-F238E27FC236}">
                <a16:creationId xmlns:a16="http://schemas.microsoft.com/office/drawing/2014/main" id="{7AE3C262-8CAC-F161-47C3-EE7D7DD5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874" y="2767009"/>
            <a:ext cx="2103120" cy="274873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CC4645C-2A7D-D8A9-29F7-C7CFC93954E2}"/>
              </a:ext>
            </a:extLst>
          </p:cNvPr>
          <p:cNvSpPr txBox="1"/>
          <p:nvPr/>
        </p:nvSpPr>
        <p:spPr>
          <a:xfrm>
            <a:off x="1786151" y="2120678"/>
            <a:ext cx="1694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Hakim </a:t>
            </a:r>
            <a:r>
              <a:rPr lang="en-US" dirty="0" err="1"/>
              <a:t>Qahtan</a:t>
            </a:r>
            <a:endParaRPr lang="en-US" dirty="0"/>
          </a:p>
          <a:p>
            <a:r>
              <a:rPr lang="en-US" dirty="0">
                <a:hlinkClick r:id="rId3"/>
              </a:rPr>
              <a:t>a.qahtan@uu.nl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53BFC-4039-9333-0835-65C752E3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3" y="37207"/>
            <a:ext cx="7160145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Teaching team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8B738-03AF-465A-0E8E-9D49B1D51F06}"/>
              </a:ext>
            </a:extLst>
          </p:cNvPr>
          <p:cNvSpPr txBox="1"/>
          <p:nvPr/>
        </p:nvSpPr>
        <p:spPr>
          <a:xfrm>
            <a:off x="8507008" y="2119822"/>
            <a:ext cx="23577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Konstantinos </a:t>
            </a:r>
            <a:r>
              <a:rPr lang="en-US" dirty="0" err="1"/>
              <a:t>Nikoletos</a:t>
            </a:r>
            <a:endParaRPr lang="en-US" dirty="0"/>
          </a:p>
          <a:p>
            <a:r>
              <a:rPr lang="en-US" dirty="0">
                <a:hlinkClick r:id="rId4"/>
              </a:rPr>
              <a:t>k.nikoletos@uu.nl</a:t>
            </a:r>
            <a:r>
              <a:rPr lang="en-US" dirty="0"/>
              <a:t> </a:t>
            </a:r>
          </a:p>
        </p:txBody>
      </p:sp>
      <p:pic>
        <p:nvPicPr>
          <p:cNvPr id="12" name="Picture 2" descr="Konstantinos NIKOLETOS | Researcher | Master of Science | University of  Trento, Trento | UNITN | Department of Information Engineering and Computer  Science | Research profile">
            <a:extLst>
              <a:ext uri="{FF2B5EF4-FFF2-40B4-BE49-F238E27FC236}">
                <a16:creationId xmlns:a16="http://schemas.microsoft.com/office/drawing/2014/main" id="{D022AFA6-75C4-55E6-EA1A-0BC026FD8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1" r="12522"/>
          <a:stretch>
            <a:fillRect/>
          </a:stretch>
        </p:blipFill>
        <p:spPr bwMode="auto">
          <a:xfrm>
            <a:off x="8577943" y="2775358"/>
            <a:ext cx="2103120" cy="274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68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introduction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9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value from data</a:t>
            </a:r>
            <a:endParaRPr lang="nl-NL" sz="3200" b="1" dirty="0"/>
          </a:p>
        </p:txBody>
      </p:sp>
      <p:pic>
        <p:nvPicPr>
          <p:cNvPr id="3" name="Shape 105">
            <a:extLst>
              <a:ext uri="{FF2B5EF4-FFF2-40B4-BE49-F238E27FC236}">
                <a16:creationId xmlns:a16="http://schemas.microsoft.com/office/drawing/2014/main" id="{85499235-21D7-A145-9022-BE0422AE3B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2" t="11574" r="13251" b="57478"/>
          <a:stretch>
            <a:fillRect/>
          </a:stretch>
        </p:blipFill>
        <p:spPr bwMode="auto">
          <a:xfrm>
            <a:off x="9683632" y="2360107"/>
            <a:ext cx="2338388" cy="159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710D447-120D-AC61-B2EE-8563D11533E7}"/>
              </a:ext>
            </a:extLst>
          </p:cNvPr>
          <p:cNvGrpSpPr/>
          <p:nvPr/>
        </p:nvGrpSpPr>
        <p:grpSpPr>
          <a:xfrm>
            <a:off x="395921" y="2377482"/>
            <a:ext cx="2217738" cy="1704975"/>
            <a:chOff x="2496864" y="2388368"/>
            <a:chExt cx="2217738" cy="1704975"/>
          </a:xfrm>
        </p:grpSpPr>
        <p:pic>
          <p:nvPicPr>
            <p:cNvPr id="4" name="Shape 106">
              <a:extLst>
                <a:ext uri="{FF2B5EF4-FFF2-40B4-BE49-F238E27FC236}">
                  <a16:creationId xmlns:a16="http://schemas.microsoft.com/office/drawing/2014/main" id="{D86AB12A-8566-E648-A8C2-6255531857D3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453"/>
            <a:stretch>
              <a:fillRect/>
            </a:stretch>
          </p:blipFill>
          <p:spPr bwMode="auto">
            <a:xfrm>
              <a:off x="2496864" y="2388368"/>
              <a:ext cx="2217738" cy="170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Shape 107">
              <a:extLst>
                <a:ext uri="{FF2B5EF4-FFF2-40B4-BE49-F238E27FC236}">
                  <a16:creationId xmlns:a16="http://schemas.microsoft.com/office/drawing/2014/main" id="{09FB33D1-1BC3-6E41-AAF9-202F0D8A994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5" t="19753" r="52547" b="60233"/>
            <a:stretch>
              <a:fillRect/>
            </a:stretch>
          </p:blipFill>
          <p:spPr bwMode="auto">
            <a:xfrm>
              <a:off x="2710270" y="3523290"/>
              <a:ext cx="315912" cy="334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Shape 108">
            <a:extLst>
              <a:ext uri="{FF2B5EF4-FFF2-40B4-BE49-F238E27FC236}">
                <a16:creationId xmlns:a16="http://schemas.microsoft.com/office/drawing/2014/main" id="{11EE6C4A-C9B9-9B49-B40E-BF90D1F2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673" y="2825016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pic>
        <p:nvPicPr>
          <p:cNvPr id="12" name="Picture 11" descr="A graphic of a graph and diagram&#10;&#10;Description automatically generated with medium confidence">
            <a:extLst>
              <a:ext uri="{FF2B5EF4-FFF2-40B4-BE49-F238E27FC236}">
                <a16:creationId xmlns:a16="http://schemas.microsoft.com/office/drawing/2014/main" id="{3F623BA2-3DA9-EF8C-C167-4D9779690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36" y="2449834"/>
            <a:ext cx="2708410" cy="1604984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E6D349B-B6AA-898F-7034-54CBD00DB56D}"/>
              </a:ext>
            </a:extLst>
          </p:cNvPr>
          <p:cNvGrpSpPr/>
          <p:nvPr/>
        </p:nvGrpSpPr>
        <p:grpSpPr>
          <a:xfrm>
            <a:off x="3571128" y="2123574"/>
            <a:ext cx="2197834" cy="2197834"/>
            <a:chOff x="3571128" y="2123574"/>
            <a:chExt cx="2197834" cy="21978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A98C3C-13ED-1752-F193-15C05CE1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128" y="2123574"/>
              <a:ext cx="2197834" cy="2197834"/>
            </a:xfrm>
            <a:prstGeom prst="rect">
              <a:avLst/>
            </a:prstGeom>
          </p:spPr>
        </p:pic>
        <p:pic>
          <p:nvPicPr>
            <p:cNvPr id="15" name="Graphic 14" descr="Branching diagram outline">
              <a:extLst>
                <a:ext uri="{FF2B5EF4-FFF2-40B4-BE49-F238E27FC236}">
                  <a16:creationId xmlns:a16="http://schemas.microsoft.com/office/drawing/2014/main" id="{36B328CC-F6F8-07DE-F6E1-8FCA8F3E08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3759911" y="2990586"/>
              <a:ext cx="331304" cy="331304"/>
            </a:xfrm>
            <a:prstGeom prst="rect">
              <a:avLst/>
            </a:prstGeom>
          </p:spPr>
        </p:pic>
        <p:pic>
          <p:nvPicPr>
            <p:cNvPr id="16" name="Graphic 15" descr="CheckList outline">
              <a:extLst>
                <a:ext uri="{FF2B5EF4-FFF2-40B4-BE49-F238E27FC236}">
                  <a16:creationId xmlns:a16="http://schemas.microsoft.com/office/drawing/2014/main" id="{35186E2A-37CC-9BEB-B7DF-7F5E2CD903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0247" y="3047840"/>
              <a:ext cx="364258" cy="364258"/>
            </a:xfrm>
            <a:prstGeom prst="rect">
              <a:avLst/>
            </a:prstGeom>
          </p:spPr>
        </p:pic>
        <p:pic>
          <p:nvPicPr>
            <p:cNvPr id="20" name="Graphic 19" descr="Mop and bucket with solid fill">
              <a:extLst>
                <a:ext uri="{FF2B5EF4-FFF2-40B4-BE49-F238E27FC236}">
                  <a16:creationId xmlns:a16="http://schemas.microsoft.com/office/drawing/2014/main" id="{01AB7E64-271E-5C93-FCA3-69BF85435D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98451" y="3543920"/>
              <a:ext cx="298888" cy="298888"/>
            </a:xfrm>
            <a:prstGeom prst="rect">
              <a:avLst/>
            </a:prstGeom>
          </p:spPr>
        </p:pic>
        <p:pic>
          <p:nvPicPr>
            <p:cNvPr id="26" name="Graphic 25" descr="Document with solid fill">
              <a:extLst>
                <a:ext uri="{FF2B5EF4-FFF2-40B4-BE49-F238E27FC236}">
                  <a16:creationId xmlns:a16="http://schemas.microsoft.com/office/drawing/2014/main" id="{572F3632-7E66-B419-D9DD-F6B6BD437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3946" y="2360107"/>
              <a:ext cx="403658" cy="403658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3A3E9CB-33E8-50E3-8175-4DBB7BBEEEBB}"/>
                </a:ext>
              </a:extLst>
            </p:cNvPr>
            <p:cNvGrpSpPr/>
            <p:nvPr/>
          </p:nvGrpSpPr>
          <p:grpSpPr>
            <a:xfrm>
              <a:off x="4813946" y="3585333"/>
              <a:ext cx="480971" cy="497124"/>
              <a:chOff x="5683774" y="2994822"/>
              <a:chExt cx="914400" cy="914400"/>
            </a:xfrm>
          </p:grpSpPr>
          <p:pic>
            <p:nvPicPr>
              <p:cNvPr id="28" name="Graphic 27" descr="World outline">
                <a:extLst>
                  <a:ext uri="{FF2B5EF4-FFF2-40B4-BE49-F238E27FC236}">
                    <a16:creationId xmlns:a16="http://schemas.microsoft.com/office/drawing/2014/main" id="{846E17AD-B865-8CE7-89EC-A0307C28A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83774" y="2994822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40F9A75-CA10-7290-F7A5-559474F4A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1482" y="3222491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8369BF3-5BB1-324C-2E6C-CF477C364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8231" y="3653348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Shape 108">
            <a:extLst>
              <a:ext uri="{FF2B5EF4-FFF2-40B4-BE49-F238E27FC236}">
                <a16:creationId xmlns:a16="http://schemas.microsoft.com/office/drawing/2014/main" id="{816DF86D-C2E5-DA03-3800-4C9964303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038" y="2844557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Shape 108">
            <a:extLst>
              <a:ext uri="{FF2B5EF4-FFF2-40B4-BE49-F238E27FC236}">
                <a16:creationId xmlns:a16="http://schemas.microsoft.com/office/drawing/2014/main" id="{988178CC-14C1-C828-78D4-7B6A44E8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753" y="2844558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72F6B0-8FE4-9F7A-40B7-454671662516}"/>
              </a:ext>
            </a:extLst>
          </p:cNvPr>
          <p:cNvSpPr txBox="1"/>
          <p:nvPr/>
        </p:nvSpPr>
        <p:spPr>
          <a:xfrm>
            <a:off x="9753909" y="186790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Information</a:t>
            </a:r>
          </a:p>
          <a:p>
            <a:pPr algn="ctr"/>
            <a:endParaRPr lang="en-US" sz="2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CFA1E0-1096-9D87-49F1-07D6F08BF966}"/>
              </a:ext>
            </a:extLst>
          </p:cNvPr>
          <p:cNvSpPr txBox="1"/>
          <p:nvPr/>
        </p:nvSpPr>
        <p:spPr>
          <a:xfrm>
            <a:off x="274280" y="163198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600" dirty="0"/>
          </a:p>
        </p:txBody>
      </p:sp>
      <p:pic>
        <p:nvPicPr>
          <p:cNvPr id="44" name="Graphic 43" descr="Eye with solid fill">
            <a:extLst>
              <a:ext uri="{FF2B5EF4-FFF2-40B4-BE49-F238E27FC236}">
                <a16:creationId xmlns:a16="http://schemas.microsoft.com/office/drawing/2014/main" id="{AF06AAAD-14C6-CFFE-9F1A-9FE1C3D3C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6667" y="2353554"/>
            <a:ext cx="513442" cy="513442"/>
          </a:xfrm>
          <a:prstGeom prst="rect">
            <a:avLst/>
          </a:prstGeom>
        </p:spPr>
      </p:pic>
      <p:pic>
        <p:nvPicPr>
          <p:cNvPr id="46" name="Graphic 45" descr="Cause And Effect with solid fill">
            <a:extLst>
              <a:ext uri="{FF2B5EF4-FFF2-40B4-BE49-F238E27FC236}">
                <a16:creationId xmlns:a16="http://schemas.microsoft.com/office/drawing/2014/main" id="{8E0A7CDB-6B82-7BBC-A65A-62572801A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30701" y="3693364"/>
            <a:ext cx="388036" cy="3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9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KDD process</a:t>
            </a:r>
            <a:endParaRPr lang="nl-NL" sz="3200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AD1709-B664-29BC-FA12-C510C0EA34BF}"/>
              </a:ext>
            </a:extLst>
          </p:cNvPr>
          <p:cNvGrpSpPr/>
          <p:nvPr/>
        </p:nvGrpSpPr>
        <p:grpSpPr>
          <a:xfrm>
            <a:off x="1875670" y="186712"/>
            <a:ext cx="10000097" cy="6475489"/>
            <a:chOff x="1875670" y="186712"/>
            <a:chExt cx="10000097" cy="6475489"/>
          </a:xfrm>
        </p:grpSpPr>
        <p:pic>
          <p:nvPicPr>
            <p:cNvPr id="3" name="Graphic 2" descr="Database with solid fill">
              <a:extLst>
                <a:ext uri="{FF2B5EF4-FFF2-40B4-BE49-F238E27FC236}">
                  <a16:creationId xmlns:a16="http://schemas.microsoft.com/office/drawing/2014/main" id="{602AFC9B-0643-80E7-6DD9-CE34673C35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93993" y="5747801"/>
              <a:ext cx="914400" cy="914400"/>
            </a:xfrm>
            <a:prstGeom prst="rect">
              <a:avLst/>
            </a:prstGeom>
          </p:spPr>
        </p:pic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5A325565-EE20-7E6A-0988-03A980DF0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05567" y="4945827"/>
              <a:ext cx="429718" cy="429718"/>
            </a:xfrm>
            <a:prstGeom prst="rect">
              <a:avLst/>
            </a:prstGeom>
          </p:spPr>
        </p:pic>
        <p:pic>
          <p:nvPicPr>
            <p:cNvPr id="5" name="Graphic 4" descr="Database with solid fill">
              <a:extLst>
                <a:ext uri="{FF2B5EF4-FFF2-40B4-BE49-F238E27FC236}">
                  <a16:creationId xmlns:a16="http://schemas.microsoft.com/office/drawing/2014/main" id="{682B50C5-84E6-B15E-E6CE-731D1FCBEE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57967" y="5098227"/>
              <a:ext cx="429718" cy="429718"/>
            </a:xfrm>
            <a:prstGeom prst="rect">
              <a:avLst/>
            </a:prstGeom>
          </p:spPr>
        </p:pic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514320F9-D6CD-AFE1-9FE3-05F022A2EC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72826" y="5003290"/>
              <a:ext cx="429718" cy="429718"/>
            </a:xfrm>
            <a:prstGeom prst="rect">
              <a:avLst/>
            </a:prstGeom>
          </p:spPr>
        </p:pic>
        <p:pic>
          <p:nvPicPr>
            <p:cNvPr id="8" name="Graphic 7" descr="Database with solid fill">
              <a:extLst>
                <a:ext uri="{FF2B5EF4-FFF2-40B4-BE49-F238E27FC236}">
                  <a16:creationId xmlns:a16="http://schemas.microsoft.com/office/drawing/2014/main" id="{53E9F1E4-DF65-BB29-5432-D6B50B966A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5567" y="5195039"/>
              <a:ext cx="429718" cy="42971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F2B39C-8F5A-E136-D835-38408232DAD6}"/>
                </a:ext>
              </a:extLst>
            </p:cNvPr>
            <p:cNvSpPr txBox="1"/>
            <p:nvPr/>
          </p:nvSpPr>
          <p:spPr>
            <a:xfrm>
              <a:off x="1875670" y="5888082"/>
              <a:ext cx="1104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Data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B95FD1F-D128-328C-AA6B-25592D737855}"/>
                </a:ext>
              </a:extLst>
            </p:cNvPr>
            <p:cNvCxnSpPr/>
            <p:nvPr/>
          </p:nvCxnSpPr>
          <p:spPr>
            <a:xfrm flipV="1">
              <a:off x="3455993" y="5527945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E384F0-BEDA-651F-D7E9-7022FCA1B54B}"/>
                </a:ext>
              </a:extLst>
            </p:cNvPr>
            <p:cNvSpPr/>
            <p:nvPr/>
          </p:nvSpPr>
          <p:spPr>
            <a:xfrm>
              <a:off x="3608393" y="5661197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C776157-11CE-A96E-DAC1-127060ADAA48}"/>
                </a:ext>
              </a:extLst>
            </p:cNvPr>
            <p:cNvSpPr/>
            <p:nvPr/>
          </p:nvSpPr>
          <p:spPr>
            <a:xfrm>
              <a:off x="1904511" y="4644775"/>
              <a:ext cx="1341620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8BDD3B-E534-D401-2331-576084A20F84}"/>
                </a:ext>
              </a:extLst>
            </p:cNvPr>
            <p:cNvSpPr txBox="1"/>
            <p:nvPr/>
          </p:nvSpPr>
          <p:spPr>
            <a:xfrm>
              <a:off x="2171758" y="4633958"/>
              <a:ext cx="732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C569B5F-4460-03D3-0F83-52202FD9DAEC}"/>
                </a:ext>
              </a:extLst>
            </p:cNvPr>
            <p:cNvCxnSpPr>
              <a:cxnSpLocks/>
              <a:stCxn id="13" idx="2"/>
              <a:endCxn id="11" idx="1"/>
            </p:cNvCxnSpPr>
            <p:nvPr/>
          </p:nvCxnSpPr>
          <p:spPr>
            <a:xfrm>
              <a:off x="2538205" y="5003290"/>
              <a:ext cx="1112365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DCADAD-55FC-7C81-920D-61FE64B8E942}"/>
                </a:ext>
              </a:extLst>
            </p:cNvPr>
            <p:cNvCxnSpPr/>
            <p:nvPr/>
          </p:nvCxnSpPr>
          <p:spPr>
            <a:xfrm flipV="1">
              <a:off x="4797613" y="4602716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44E387-5EAC-5833-6835-73DB3BF86532}"/>
                </a:ext>
              </a:extLst>
            </p:cNvPr>
            <p:cNvSpPr/>
            <p:nvPr/>
          </p:nvSpPr>
          <p:spPr>
            <a:xfrm>
              <a:off x="4950013" y="4735968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D6ADD0C-BCAB-F1C0-2CF9-207B864B2A0C}"/>
                </a:ext>
              </a:extLst>
            </p:cNvPr>
            <p:cNvSpPr/>
            <p:nvPr/>
          </p:nvSpPr>
          <p:spPr>
            <a:xfrm>
              <a:off x="3246130" y="3719546"/>
              <a:ext cx="1456789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909CF1-028E-62EB-706C-2E8B1F320434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887840" y="4078061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4C81FE-98AD-0610-CD88-C66F8057EF08}"/>
                </a:ext>
              </a:extLst>
            </p:cNvPr>
            <p:cNvSpPr txBox="1"/>
            <p:nvPr/>
          </p:nvSpPr>
          <p:spPr>
            <a:xfrm>
              <a:off x="3239472" y="3712763"/>
              <a:ext cx="14956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preprocessing</a:t>
              </a:r>
            </a:p>
          </p:txBody>
        </p:sp>
        <p:pic>
          <p:nvPicPr>
            <p:cNvPr id="20" name="Graphic 19" descr="Table with solid fill">
              <a:extLst>
                <a:ext uri="{FF2B5EF4-FFF2-40B4-BE49-F238E27FC236}">
                  <a16:creationId xmlns:a16="http://schemas.microsoft.com/office/drawing/2014/main" id="{E2CFAEB0-80BE-EE64-6F6B-B852DB2367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59449" y="3851545"/>
              <a:ext cx="1243561" cy="124356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C11F6B-B119-BF83-FAA4-ADACAC91E42C}"/>
                </a:ext>
              </a:extLst>
            </p:cNvPr>
            <p:cNvSpPr txBox="1"/>
            <p:nvPr/>
          </p:nvSpPr>
          <p:spPr>
            <a:xfrm>
              <a:off x="4172686" y="5564917"/>
              <a:ext cx="817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Target </a:t>
              </a:r>
            </a:p>
            <a:p>
              <a:r>
                <a:rPr lang="en-US" dirty="0"/>
                <a:t>Data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097C63-08DB-518D-49F5-8F1C1366AD36}"/>
                </a:ext>
              </a:extLst>
            </p:cNvPr>
            <p:cNvSpPr txBox="1"/>
            <p:nvPr/>
          </p:nvSpPr>
          <p:spPr>
            <a:xfrm>
              <a:off x="5315076" y="4837520"/>
              <a:ext cx="14988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D3CA96-25C4-555A-7276-58F475584B6C}"/>
                </a:ext>
              </a:extLst>
            </p:cNvPr>
            <p:cNvCxnSpPr/>
            <p:nvPr/>
          </p:nvCxnSpPr>
          <p:spPr>
            <a:xfrm flipV="1">
              <a:off x="5892689" y="3612234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DA67D8A-89FD-C4C9-F126-C00117316FD4}"/>
                </a:ext>
              </a:extLst>
            </p:cNvPr>
            <p:cNvSpPr/>
            <p:nvPr/>
          </p:nvSpPr>
          <p:spPr>
            <a:xfrm>
              <a:off x="6045089" y="3745486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ECBC267-E742-3C2D-FE09-2C0BE55591ED}"/>
                </a:ext>
              </a:extLst>
            </p:cNvPr>
            <p:cNvSpPr/>
            <p:nvPr/>
          </p:nvSpPr>
          <p:spPr>
            <a:xfrm>
              <a:off x="4105567" y="2761139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D988A8-2098-CEE7-0AFF-C03B0C409BDD}"/>
                </a:ext>
              </a:extLst>
            </p:cNvPr>
            <p:cNvSpPr txBox="1"/>
            <p:nvPr/>
          </p:nvSpPr>
          <p:spPr>
            <a:xfrm>
              <a:off x="4095847" y="2734538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transformation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84907B5-24CF-D0DE-C355-5DE0C12E9442}"/>
                </a:ext>
              </a:extLst>
            </p:cNvPr>
            <p:cNvCxnSpPr>
              <a:cxnSpLocks/>
            </p:cNvCxnSpPr>
            <p:nvPr/>
          </p:nvCxnSpPr>
          <p:spPr>
            <a:xfrm>
              <a:off x="4950013" y="3106272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DC5C42-09A1-BD02-C307-3F9A6410907C}"/>
                </a:ext>
              </a:extLst>
            </p:cNvPr>
            <p:cNvSpPr/>
            <p:nvPr/>
          </p:nvSpPr>
          <p:spPr>
            <a:xfrm>
              <a:off x="6603010" y="24162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25566B-94E0-67B2-1A76-04888D462367}"/>
                </a:ext>
              </a:extLst>
            </p:cNvPr>
            <p:cNvSpPr/>
            <p:nvPr/>
          </p:nvSpPr>
          <p:spPr>
            <a:xfrm>
              <a:off x="6755410" y="25686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B27997-6C0C-5007-5D9B-A1A4E5E3148C}"/>
                </a:ext>
              </a:extLst>
            </p:cNvPr>
            <p:cNvSpPr/>
            <p:nvPr/>
          </p:nvSpPr>
          <p:spPr>
            <a:xfrm>
              <a:off x="6907810" y="27210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AAF34B-07EF-1717-18B8-743959214219}"/>
                </a:ext>
              </a:extLst>
            </p:cNvPr>
            <p:cNvSpPr/>
            <p:nvPr/>
          </p:nvSpPr>
          <p:spPr>
            <a:xfrm>
              <a:off x="7060210" y="28734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86230E-AD10-8FCD-643F-AECF4260C511}"/>
                </a:ext>
              </a:extLst>
            </p:cNvPr>
            <p:cNvSpPr txBox="1"/>
            <p:nvPr/>
          </p:nvSpPr>
          <p:spPr>
            <a:xfrm>
              <a:off x="6724446" y="4279550"/>
              <a:ext cx="14201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CB9E4ED-CBB7-0C74-353F-CA50083F5951}"/>
                </a:ext>
              </a:extLst>
            </p:cNvPr>
            <p:cNvCxnSpPr/>
            <p:nvPr/>
          </p:nvCxnSpPr>
          <p:spPr>
            <a:xfrm flipV="1">
              <a:off x="7244029" y="2397462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31FB93-1F30-DBBB-FF0B-F6D3EB2A1444}"/>
                </a:ext>
              </a:extLst>
            </p:cNvPr>
            <p:cNvSpPr/>
            <p:nvPr/>
          </p:nvSpPr>
          <p:spPr>
            <a:xfrm>
              <a:off x="7396429" y="2530714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59758BB-2CF3-EFBA-F6ED-CC2FDB05AF21}"/>
                </a:ext>
              </a:extLst>
            </p:cNvPr>
            <p:cNvSpPr/>
            <p:nvPr/>
          </p:nvSpPr>
          <p:spPr>
            <a:xfrm>
              <a:off x="5456907" y="1546367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D81203-BB73-B86D-D296-0CB1E86C83AA}"/>
                </a:ext>
              </a:extLst>
            </p:cNvPr>
            <p:cNvSpPr txBox="1"/>
            <p:nvPr/>
          </p:nvSpPr>
          <p:spPr>
            <a:xfrm>
              <a:off x="5447187" y="1519766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mining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ED5AEF-0E26-B8BE-C224-0C4D970C9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53" y="1891500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aphic 53" descr="Bar chart outline">
              <a:extLst>
                <a:ext uri="{FF2B5EF4-FFF2-40B4-BE49-F238E27FC236}">
                  <a16:creationId xmlns:a16="http://schemas.microsoft.com/office/drawing/2014/main" id="{ADCB345A-D30F-82EF-BE15-49C332478754}"/>
                </a:ext>
              </a:extLst>
            </p:cNvPr>
            <p:cNvGrpSpPr/>
            <p:nvPr/>
          </p:nvGrpSpPr>
          <p:grpSpPr>
            <a:xfrm>
              <a:off x="7981580" y="1559648"/>
              <a:ext cx="661958" cy="887045"/>
              <a:chOff x="6566117" y="1183362"/>
              <a:chExt cx="661958" cy="887045"/>
            </a:xfrm>
            <a:solidFill>
              <a:srgbClr val="000000"/>
            </a:solidFill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E214B62-A48F-796F-5954-EB42B7858EDE}"/>
                  </a:ext>
                </a:extLst>
              </p:cNvPr>
              <p:cNvSpPr/>
              <p:nvPr/>
            </p:nvSpPr>
            <p:spPr>
              <a:xfrm>
                <a:off x="6566117" y="1493834"/>
                <a:ext cx="177361" cy="576573"/>
              </a:xfrm>
              <a:custGeom>
                <a:avLst/>
                <a:gdLst>
                  <a:gd name="connsiteX0" fmla="*/ 177362 w 177361"/>
                  <a:gd name="connsiteY0" fmla="*/ 576573 h 576573"/>
                  <a:gd name="connsiteX1" fmla="*/ 177362 w 177361"/>
                  <a:gd name="connsiteY1" fmla="*/ 0 h 576573"/>
                  <a:gd name="connsiteX2" fmla="*/ 0 w 177361"/>
                  <a:gd name="connsiteY2" fmla="*/ 0 h 576573"/>
                  <a:gd name="connsiteX3" fmla="*/ 0 w 177361"/>
                  <a:gd name="connsiteY3" fmla="*/ 576573 h 576573"/>
                  <a:gd name="connsiteX4" fmla="*/ 29560 w 177361"/>
                  <a:gd name="connsiteY4" fmla="*/ 29560 h 576573"/>
                  <a:gd name="connsiteX5" fmla="*/ 147801 w 177361"/>
                  <a:gd name="connsiteY5" fmla="*/ 29560 h 576573"/>
                  <a:gd name="connsiteX6" fmla="*/ 147801 w 177361"/>
                  <a:gd name="connsiteY6" fmla="*/ 547013 h 576573"/>
                  <a:gd name="connsiteX7" fmla="*/ 29560 w 177361"/>
                  <a:gd name="connsiteY7" fmla="*/ 547013 h 57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576573">
                    <a:moveTo>
                      <a:pt x="177362" y="576573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576573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547013"/>
                    </a:lnTo>
                    <a:lnTo>
                      <a:pt x="29560" y="54701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1A10C4F-894F-0249-BA95-0DCF4834FFFE}"/>
                  </a:ext>
                </a:extLst>
              </p:cNvPr>
              <p:cNvSpPr/>
              <p:nvPr/>
            </p:nvSpPr>
            <p:spPr>
              <a:xfrm>
                <a:off x="6802600" y="1183362"/>
                <a:ext cx="177361" cy="887044"/>
              </a:xfrm>
              <a:custGeom>
                <a:avLst/>
                <a:gdLst>
                  <a:gd name="connsiteX0" fmla="*/ 177362 w 177361"/>
                  <a:gd name="connsiteY0" fmla="*/ 887045 h 887044"/>
                  <a:gd name="connsiteX1" fmla="*/ 177362 w 177361"/>
                  <a:gd name="connsiteY1" fmla="*/ 0 h 887044"/>
                  <a:gd name="connsiteX2" fmla="*/ 0 w 177361"/>
                  <a:gd name="connsiteY2" fmla="*/ 0 h 887044"/>
                  <a:gd name="connsiteX3" fmla="*/ 0 w 177361"/>
                  <a:gd name="connsiteY3" fmla="*/ 887045 h 887044"/>
                  <a:gd name="connsiteX4" fmla="*/ 29560 w 177361"/>
                  <a:gd name="connsiteY4" fmla="*/ 29560 h 887044"/>
                  <a:gd name="connsiteX5" fmla="*/ 147801 w 177361"/>
                  <a:gd name="connsiteY5" fmla="*/ 29560 h 887044"/>
                  <a:gd name="connsiteX6" fmla="*/ 147801 w 177361"/>
                  <a:gd name="connsiteY6" fmla="*/ 857484 h 887044"/>
                  <a:gd name="connsiteX7" fmla="*/ 29560 w 177361"/>
                  <a:gd name="connsiteY7" fmla="*/ 857484 h 887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887044">
                    <a:moveTo>
                      <a:pt x="177362" y="887045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887045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857484"/>
                    </a:lnTo>
                    <a:lnTo>
                      <a:pt x="29560" y="857484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DBB05343-B8D4-7FDC-AD41-1F8137D33F11}"/>
                  </a:ext>
                </a:extLst>
              </p:cNvPr>
              <p:cNvSpPr/>
              <p:nvPr/>
            </p:nvSpPr>
            <p:spPr>
              <a:xfrm>
                <a:off x="7050714" y="1745170"/>
                <a:ext cx="177361" cy="325236"/>
              </a:xfrm>
              <a:custGeom>
                <a:avLst/>
                <a:gdLst>
                  <a:gd name="connsiteX0" fmla="*/ 0 w 177361"/>
                  <a:gd name="connsiteY0" fmla="*/ 325237 h 325236"/>
                  <a:gd name="connsiteX1" fmla="*/ 177362 w 177361"/>
                  <a:gd name="connsiteY1" fmla="*/ 325237 h 325236"/>
                  <a:gd name="connsiteX2" fmla="*/ 177362 w 177361"/>
                  <a:gd name="connsiteY2" fmla="*/ 0 h 325236"/>
                  <a:gd name="connsiteX3" fmla="*/ 0 w 177361"/>
                  <a:gd name="connsiteY3" fmla="*/ 0 h 325236"/>
                  <a:gd name="connsiteX4" fmla="*/ 29560 w 177361"/>
                  <a:gd name="connsiteY4" fmla="*/ 29560 h 325236"/>
                  <a:gd name="connsiteX5" fmla="*/ 147801 w 177361"/>
                  <a:gd name="connsiteY5" fmla="*/ 29560 h 325236"/>
                  <a:gd name="connsiteX6" fmla="*/ 147801 w 177361"/>
                  <a:gd name="connsiteY6" fmla="*/ 295677 h 325236"/>
                  <a:gd name="connsiteX7" fmla="*/ 29560 w 177361"/>
                  <a:gd name="connsiteY7" fmla="*/ 295677 h 325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325236">
                    <a:moveTo>
                      <a:pt x="0" y="325237"/>
                    </a:moveTo>
                    <a:lnTo>
                      <a:pt x="177362" y="325237"/>
                    </a:lnTo>
                    <a:lnTo>
                      <a:pt x="177362" y="0"/>
                    </a:lnTo>
                    <a:lnTo>
                      <a:pt x="0" y="0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295677"/>
                    </a:lnTo>
                    <a:lnTo>
                      <a:pt x="29560" y="295677"/>
                    </a:lnTo>
                    <a:close/>
                  </a:path>
                </a:pathLst>
              </a:custGeom>
              <a:solidFill>
                <a:srgbClr val="C00000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96D047B-F862-D460-9441-FA7C3866AC8F}"/>
                </a:ext>
              </a:extLst>
            </p:cNvPr>
            <p:cNvSpPr/>
            <p:nvPr/>
          </p:nvSpPr>
          <p:spPr>
            <a:xfrm>
              <a:off x="8724365" y="1411896"/>
              <a:ext cx="172127" cy="1034797"/>
            </a:xfrm>
            <a:custGeom>
              <a:avLst/>
              <a:gdLst>
                <a:gd name="connsiteX0" fmla="*/ 177362 w 177361"/>
                <a:gd name="connsiteY0" fmla="*/ 576573 h 576573"/>
                <a:gd name="connsiteX1" fmla="*/ 177362 w 177361"/>
                <a:gd name="connsiteY1" fmla="*/ 0 h 576573"/>
                <a:gd name="connsiteX2" fmla="*/ 0 w 177361"/>
                <a:gd name="connsiteY2" fmla="*/ 0 h 576573"/>
                <a:gd name="connsiteX3" fmla="*/ 0 w 177361"/>
                <a:gd name="connsiteY3" fmla="*/ 576573 h 576573"/>
                <a:gd name="connsiteX4" fmla="*/ 29560 w 177361"/>
                <a:gd name="connsiteY4" fmla="*/ 29560 h 576573"/>
                <a:gd name="connsiteX5" fmla="*/ 147801 w 177361"/>
                <a:gd name="connsiteY5" fmla="*/ 29560 h 576573"/>
                <a:gd name="connsiteX6" fmla="*/ 147801 w 177361"/>
                <a:gd name="connsiteY6" fmla="*/ 547013 h 576573"/>
                <a:gd name="connsiteX7" fmla="*/ 29560 w 177361"/>
                <a:gd name="connsiteY7" fmla="*/ 547013 h 57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361" h="576573">
                  <a:moveTo>
                    <a:pt x="177362" y="576573"/>
                  </a:moveTo>
                  <a:lnTo>
                    <a:pt x="177362" y="0"/>
                  </a:lnTo>
                  <a:lnTo>
                    <a:pt x="0" y="0"/>
                  </a:lnTo>
                  <a:lnTo>
                    <a:pt x="0" y="576573"/>
                  </a:lnTo>
                  <a:close/>
                  <a:moveTo>
                    <a:pt x="29560" y="29560"/>
                  </a:moveTo>
                  <a:lnTo>
                    <a:pt x="147801" y="29560"/>
                  </a:lnTo>
                  <a:lnTo>
                    <a:pt x="147801" y="547013"/>
                  </a:lnTo>
                  <a:lnTo>
                    <a:pt x="29560" y="547013"/>
                  </a:lnTo>
                  <a:close/>
                </a:path>
              </a:pathLst>
            </a:custGeom>
            <a:solidFill>
              <a:srgbClr val="FFC000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88730D-DD03-CF6C-40E7-7EC3AB426E6D}"/>
                </a:ext>
              </a:extLst>
            </p:cNvPr>
            <p:cNvSpPr txBox="1"/>
            <p:nvPr/>
          </p:nvSpPr>
          <p:spPr>
            <a:xfrm>
              <a:off x="7907323" y="2591106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Patterns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5EC70D0-C4A7-4369-F427-016ADD3A0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8470" y="1395858"/>
              <a:ext cx="725143" cy="5919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81C3849-8A77-FBEB-8E88-07F517E7D765}"/>
                </a:ext>
              </a:extLst>
            </p:cNvPr>
            <p:cNvSpPr/>
            <p:nvPr/>
          </p:nvSpPr>
          <p:spPr>
            <a:xfrm>
              <a:off x="9186439" y="1529110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11D36942-77A9-EFCA-CC66-86CEC2A41B1D}"/>
                </a:ext>
              </a:extLst>
            </p:cNvPr>
            <p:cNvSpPr/>
            <p:nvPr/>
          </p:nvSpPr>
          <p:spPr>
            <a:xfrm>
              <a:off x="7246917" y="220711"/>
              <a:ext cx="1577260" cy="65049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1F0CE8-F857-D6DC-B72F-E6D91F0B9633}"/>
                </a:ext>
              </a:extLst>
            </p:cNvPr>
            <p:cNvSpPr txBox="1"/>
            <p:nvPr/>
          </p:nvSpPr>
          <p:spPr>
            <a:xfrm>
              <a:off x="7225560" y="186712"/>
              <a:ext cx="17968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interpretation /</a:t>
              </a:r>
            </a:p>
            <a:p>
              <a:r>
                <a:rPr lang="en-US" dirty="0"/>
                <a:t>evaluation 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8C7694A-785D-0958-C459-C4FE378F6281}"/>
                </a:ext>
              </a:extLst>
            </p:cNvPr>
            <p:cNvCxnSpPr>
              <a:cxnSpLocks/>
            </p:cNvCxnSpPr>
            <p:nvPr/>
          </p:nvCxnSpPr>
          <p:spPr>
            <a:xfrm>
              <a:off x="8091363" y="889896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A077BA0A-2794-AA66-F29A-D1BD14F41423}"/>
                </a:ext>
              </a:extLst>
            </p:cNvPr>
            <p:cNvSpPr/>
            <p:nvPr/>
          </p:nvSpPr>
          <p:spPr>
            <a:xfrm>
              <a:off x="9761137" y="683759"/>
              <a:ext cx="2016970" cy="989351"/>
            </a:xfrm>
            <a:prstGeom prst="cub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0CCFEE7-E747-36C4-2609-3EE38453650E}"/>
                </a:ext>
              </a:extLst>
            </p:cNvPr>
            <p:cNvSpPr txBox="1"/>
            <p:nvPr/>
          </p:nvSpPr>
          <p:spPr>
            <a:xfrm>
              <a:off x="10078925" y="222094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knowledge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B48827B-258A-1BEC-0C52-D93CD7A725B7}"/>
              </a:ext>
            </a:extLst>
          </p:cNvPr>
          <p:cNvSpPr txBox="1"/>
          <p:nvPr/>
        </p:nvSpPr>
        <p:spPr>
          <a:xfrm>
            <a:off x="6724445" y="6060327"/>
            <a:ext cx="4288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KDD = Knowledge Discovery in Databases</a:t>
            </a:r>
          </a:p>
        </p:txBody>
      </p:sp>
    </p:spTree>
    <p:extLst>
      <p:ext uri="{BB962C8B-B14F-4D97-AF65-F5344CB8AC3E}">
        <p14:creationId xmlns:p14="http://schemas.microsoft.com/office/powerpoint/2010/main" val="2194730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8BE295-7FC7-E024-856E-8CEA5AADF6AD}"/>
              </a:ext>
            </a:extLst>
          </p:cNvPr>
          <p:cNvCxnSpPr>
            <a:cxnSpLocks/>
            <a:endCxn id="19" idx="1"/>
          </p:cNvCxnSpPr>
          <p:nvPr/>
        </p:nvCxnSpPr>
        <p:spPr bwMode="auto">
          <a:xfrm>
            <a:off x="3918308" y="4927632"/>
            <a:ext cx="915480" cy="3038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192E949F-2C5E-0F44-A36E-C082C08035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91" y="1940447"/>
            <a:ext cx="564776" cy="5647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A3042E0-7EA4-004C-ABFE-3AB0196DD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814" y="2528650"/>
            <a:ext cx="567687" cy="56768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57FF7DE-C827-8647-AD48-317655A1C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658" y="1900945"/>
            <a:ext cx="891697" cy="60427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9042F81-0031-6842-853D-0CA3DACC996B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4F7A33D-1DD7-0D4A-B6B6-F4D97A929FCF}"/>
              </a:ext>
            </a:extLst>
          </p:cNvPr>
          <p:cNvSpPr txBox="1">
            <a:spLocks/>
          </p:cNvSpPr>
          <p:nvPr/>
        </p:nvSpPr>
        <p:spPr>
          <a:xfrm>
            <a:off x="726755" y="364380"/>
            <a:ext cx="10515600" cy="9663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 a lot of data</a:t>
            </a:r>
            <a:endParaRPr lang="nl-NL" sz="3200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C7A9F52-5174-A42E-0853-B6D1C8440B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0539501" y="2528650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12C293-B51B-7FBE-9403-BE6662AC746C}"/>
              </a:ext>
            </a:extLst>
          </p:cNvPr>
          <p:cNvCxnSpPr>
            <a:cxnSpLocks/>
          </p:cNvCxnSpPr>
          <p:nvPr/>
        </p:nvCxnSpPr>
        <p:spPr bwMode="auto">
          <a:xfrm>
            <a:off x="10376394" y="3100818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B6211F-16F8-231F-C3FF-1AEACDD61AE8}"/>
              </a:ext>
            </a:extLst>
          </p:cNvPr>
          <p:cNvCxnSpPr>
            <a:cxnSpLocks/>
          </p:cNvCxnSpPr>
          <p:nvPr/>
        </p:nvCxnSpPr>
        <p:spPr bwMode="auto">
          <a:xfrm>
            <a:off x="9826379" y="2528650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BEF6927-41D0-7C60-241C-127786379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411" y="1946994"/>
            <a:ext cx="564776" cy="564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C1ED3A-2495-C157-D31A-ED34E1B61C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234" y="2535197"/>
            <a:ext cx="567687" cy="567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D7E79F-65F7-1EDE-BF98-F53ABA81C6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078" y="1907492"/>
            <a:ext cx="891697" cy="60427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7F8EA15-47D2-102D-FEEC-C247DC05ADCF}"/>
              </a:ext>
            </a:extLst>
          </p:cNvPr>
          <p:cNvCxnSpPr>
            <a:cxnSpLocks/>
          </p:cNvCxnSpPr>
          <p:nvPr/>
        </p:nvCxnSpPr>
        <p:spPr bwMode="auto">
          <a:xfrm flipH="1">
            <a:off x="8119921" y="2535197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68FEF5-ABCA-D3DE-49DE-A13A8DE6BF49}"/>
              </a:ext>
            </a:extLst>
          </p:cNvPr>
          <p:cNvCxnSpPr>
            <a:cxnSpLocks/>
          </p:cNvCxnSpPr>
          <p:nvPr/>
        </p:nvCxnSpPr>
        <p:spPr bwMode="auto">
          <a:xfrm>
            <a:off x="7956814" y="3107365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7BFE83-EBCD-278C-3393-67605E01ADC2}"/>
              </a:ext>
            </a:extLst>
          </p:cNvPr>
          <p:cNvCxnSpPr>
            <a:cxnSpLocks/>
          </p:cNvCxnSpPr>
          <p:nvPr/>
        </p:nvCxnSpPr>
        <p:spPr bwMode="auto">
          <a:xfrm>
            <a:off x="7406799" y="2535197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18AF7CA-F332-419E-064F-B3A7C3D4DC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84" y="1934811"/>
            <a:ext cx="564776" cy="5647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364ACE-0B4D-9E2E-B8E7-064AAB04BB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607" y="2523014"/>
            <a:ext cx="567687" cy="5676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969B0D-CBA2-6C10-A6B8-873016F4AA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451" y="1895309"/>
            <a:ext cx="891697" cy="6042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871D37-C94C-4F44-4D17-CD5252BE4B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788" y="4633840"/>
            <a:ext cx="1947103" cy="119537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92F94F-E553-5C33-C40C-79B162BD1443}"/>
              </a:ext>
            </a:extLst>
          </p:cNvPr>
          <p:cNvCxnSpPr>
            <a:cxnSpLocks/>
          </p:cNvCxnSpPr>
          <p:nvPr/>
        </p:nvCxnSpPr>
        <p:spPr bwMode="auto">
          <a:xfrm flipH="1">
            <a:off x="3248004" y="2535197"/>
            <a:ext cx="391303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9E9A1D-5150-A9DF-EE76-199DD4DBA9AA}"/>
              </a:ext>
            </a:extLst>
          </p:cNvPr>
          <p:cNvCxnSpPr>
            <a:cxnSpLocks/>
          </p:cNvCxnSpPr>
          <p:nvPr/>
        </p:nvCxnSpPr>
        <p:spPr bwMode="auto">
          <a:xfrm>
            <a:off x="3084897" y="3107365"/>
            <a:ext cx="163107" cy="8652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7E3C71-AAB8-5600-699E-1835BB4D4DA8}"/>
              </a:ext>
            </a:extLst>
          </p:cNvPr>
          <p:cNvCxnSpPr>
            <a:cxnSpLocks/>
          </p:cNvCxnSpPr>
          <p:nvPr/>
        </p:nvCxnSpPr>
        <p:spPr bwMode="auto">
          <a:xfrm>
            <a:off x="2534882" y="2535197"/>
            <a:ext cx="713122" cy="14373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836FC6-B94B-0C4E-ADB9-185F239E44A3}"/>
              </a:ext>
            </a:extLst>
          </p:cNvPr>
          <p:cNvCxnSpPr>
            <a:cxnSpLocks/>
          </p:cNvCxnSpPr>
          <p:nvPr/>
        </p:nvCxnSpPr>
        <p:spPr bwMode="auto">
          <a:xfrm flipH="1">
            <a:off x="6687612" y="5006574"/>
            <a:ext cx="3636915" cy="3822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9AB7D5-28A2-31FE-7FC0-D750E0B43DDD}"/>
              </a:ext>
            </a:extLst>
          </p:cNvPr>
          <p:cNvCxnSpPr>
            <a:cxnSpLocks/>
          </p:cNvCxnSpPr>
          <p:nvPr/>
        </p:nvCxnSpPr>
        <p:spPr bwMode="auto">
          <a:xfrm flipH="1">
            <a:off x="6557676" y="4076605"/>
            <a:ext cx="1205684" cy="6868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" name="Group 53">
            <a:extLst>
              <a:ext uri="{FF2B5EF4-FFF2-40B4-BE49-F238E27FC236}">
                <a16:creationId xmlns:a16="http://schemas.microsoft.com/office/drawing/2014/main" id="{A2026D6C-2917-1A92-5C82-460AC7C28AA3}"/>
              </a:ext>
            </a:extLst>
          </p:cNvPr>
          <p:cNvGrpSpPr>
            <a:grpSpLocks/>
          </p:cNvGrpSpPr>
          <p:nvPr/>
        </p:nvGrpSpPr>
        <p:grpSpPr bwMode="auto">
          <a:xfrm>
            <a:off x="2234378" y="3966761"/>
            <a:ext cx="1752600" cy="1068387"/>
            <a:chOff x="240" y="3496"/>
            <a:chExt cx="1104" cy="673"/>
          </a:xfrm>
        </p:grpSpPr>
        <p:sp>
          <p:nvSpPr>
            <p:cNvPr id="38" name="Freeform 54">
              <a:extLst>
                <a:ext uri="{FF2B5EF4-FFF2-40B4-BE49-F238E27FC236}">
                  <a16:creationId xmlns:a16="http://schemas.microsoft.com/office/drawing/2014/main" id="{3E77A530-F57F-237A-BE97-417FD1CF5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3552"/>
              <a:ext cx="1104" cy="617"/>
            </a:xfrm>
            <a:custGeom>
              <a:avLst/>
              <a:gdLst>
                <a:gd name="T0" fmla="*/ 0 w 1833"/>
                <a:gd name="T1" fmla="*/ 0 h 961"/>
                <a:gd name="T2" fmla="*/ 0 w 1833"/>
                <a:gd name="T3" fmla="*/ 395 h 961"/>
                <a:gd name="T4" fmla="*/ 664 w 1833"/>
                <a:gd name="T5" fmla="*/ 395 h 961"/>
                <a:gd name="T6" fmla="*/ 664 w 1833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3"/>
                <a:gd name="T13" fmla="*/ 0 h 961"/>
                <a:gd name="T14" fmla="*/ 1833 w 1833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3" h="961">
                  <a:moveTo>
                    <a:pt x="0" y="0"/>
                  </a:moveTo>
                  <a:lnTo>
                    <a:pt x="0" y="960"/>
                  </a:lnTo>
                  <a:lnTo>
                    <a:pt x="1832" y="960"/>
                  </a:lnTo>
                  <a:lnTo>
                    <a:pt x="1832" y="0"/>
                  </a:lnTo>
                </a:path>
              </a:pathLst>
            </a:custGeom>
            <a:solidFill>
              <a:srgbClr val="009900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Oval 55">
              <a:extLst>
                <a:ext uri="{FF2B5EF4-FFF2-40B4-BE49-F238E27FC236}">
                  <a16:creationId xmlns:a16="http://schemas.microsoft.com/office/drawing/2014/main" id="{A899EF91-E2FC-C204-64E5-A7064120F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96"/>
              <a:ext cx="1104" cy="104"/>
            </a:xfrm>
            <a:prstGeom prst="ellipse">
              <a:avLst/>
            </a:prstGeom>
            <a:solidFill>
              <a:srgbClr val="009900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0" name="Rectangle 56">
              <a:extLst>
                <a:ext uri="{FF2B5EF4-FFF2-40B4-BE49-F238E27FC236}">
                  <a16:creationId xmlns:a16="http://schemas.microsoft.com/office/drawing/2014/main" id="{4A3E8E0B-9522-EAD7-8902-08EBF8D6F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" y="3628"/>
              <a:ext cx="633" cy="334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1" name="Rectangle 57">
              <a:extLst>
                <a:ext uri="{FF2B5EF4-FFF2-40B4-BE49-F238E27FC236}">
                  <a16:creationId xmlns:a16="http://schemas.microsoft.com/office/drawing/2014/main" id="{38CD99D5-447A-A303-9C8F-37718D13F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684"/>
              <a:ext cx="604" cy="334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5000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2" name="Rectangle 58">
              <a:extLst>
                <a:ext uri="{FF2B5EF4-FFF2-40B4-BE49-F238E27FC236}">
                  <a16:creationId xmlns:a16="http://schemas.microsoft.com/office/drawing/2014/main" id="{FC5DA0F4-4C7F-DF57-0186-27AEA8075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" y="3732"/>
              <a:ext cx="582" cy="348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5000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800E9F01-2CDD-A1E1-C3AA-8CAB70F56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" y="3794"/>
              <a:ext cx="584" cy="347"/>
            </a:xfrm>
            <a:prstGeom prst="rect">
              <a:avLst/>
            </a:prstGeom>
            <a:gradFill rotWithShape="0">
              <a:gsLst>
                <a:gs pos="0">
                  <a:srgbClr val="CCFFCC"/>
                </a:gs>
                <a:gs pos="100000">
                  <a:srgbClr val="CCFFCC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4" name="Text Box 60">
              <a:extLst>
                <a:ext uri="{FF2B5EF4-FFF2-40B4-BE49-F238E27FC236}">
                  <a16:creationId xmlns:a16="http://schemas.microsoft.com/office/drawing/2014/main" id="{C2F619D5-4333-B548-86C8-BFC8EF5EE6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" y="3812"/>
              <a:ext cx="647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&lt;Title&gt; … 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&lt;Author&gt; … 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</a:pPr>
              <a:r>
                <a:rPr lang="en-US" altLang="en-US" sz="1200" i="0">
                  <a:solidFill>
                    <a:srgbClr val="000000"/>
                  </a:solidFill>
                </a:rPr>
                <a:t>&lt;Date&gt; …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</p:grpSp>
      <p:grpSp>
        <p:nvGrpSpPr>
          <p:cNvPr id="45" name="Group 61">
            <a:extLst>
              <a:ext uri="{FF2B5EF4-FFF2-40B4-BE49-F238E27FC236}">
                <a16:creationId xmlns:a16="http://schemas.microsoft.com/office/drawing/2014/main" id="{E6CE7222-2D1D-0F58-568D-DD8E3BB0EEBA}"/>
              </a:ext>
            </a:extLst>
          </p:cNvPr>
          <p:cNvGrpSpPr>
            <a:grpSpLocks/>
          </p:cNvGrpSpPr>
          <p:nvPr/>
        </p:nvGrpSpPr>
        <p:grpSpPr bwMode="auto">
          <a:xfrm>
            <a:off x="7389746" y="3960411"/>
            <a:ext cx="1757363" cy="1074737"/>
            <a:chOff x="1581" y="3492"/>
            <a:chExt cx="1107" cy="677"/>
          </a:xfrm>
        </p:grpSpPr>
        <p:sp>
          <p:nvSpPr>
            <p:cNvPr id="46" name="Freeform 62">
              <a:extLst>
                <a:ext uri="{FF2B5EF4-FFF2-40B4-BE49-F238E27FC236}">
                  <a16:creationId xmlns:a16="http://schemas.microsoft.com/office/drawing/2014/main" id="{BBA3753E-A572-ECAB-A7C6-8CA1182B4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553"/>
              <a:ext cx="1102" cy="616"/>
            </a:xfrm>
            <a:custGeom>
              <a:avLst/>
              <a:gdLst>
                <a:gd name="T0" fmla="*/ 0 w 1725"/>
                <a:gd name="T1" fmla="*/ 0 h 961"/>
                <a:gd name="T2" fmla="*/ 0 w 1725"/>
                <a:gd name="T3" fmla="*/ 394 h 961"/>
                <a:gd name="T4" fmla="*/ 703 w 1725"/>
                <a:gd name="T5" fmla="*/ 394 h 961"/>
                <a:gd name="T6" fmla="*/ 703 w 1725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961"/>
                <a:gd name="T14" fmla="*/ 1725 w 1725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961">
                  <a:moveTo>
                    <a:pt x="0" y="0"/>
                  </a:moveTo>
                  <a:lnTo>
                    <a:pt x="0" y="960"/>
                  </a:lnTo>
                  <a:lnTo>
                    <a:pt x="1724" y="960"/>
                  </a:lnTo>
                  <a:lnTo>
                    <a:pt x="1724" y="0"/>
                  </a:lnTo>
                </a:path>
              </a:pathLst>
            </a:custGeom>
            <a:solidFill>
              <a:srgbClr val="FFCC66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47" name="Oval 63">
              <a:extLst>
                <a:ext uri="{FF2B5EF4-FFF2-40B4-BE49-F238E27FC236}">
                  <a16:creationId xmlns:a16="http://schemas.microsoft.com/office/drawing/2014/main" id="{589993B0-1402-E747-DF4A-0D632AEE2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1" y="3492"/>
              <a:ext cx="1107" cy="108"/>
            </a:xfrm>
            <a:prstGeom prst="ellipse">
              <a:avLst/>
            </a:prstGeom>
            <a:solidFill>
              <a:srgbClr val="FFCC66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8" name="Rectangle 64">
              <a:extLst>
                <a:ext uri="{FF2B5EF4-FFF2-40B4-BE49-F238E27FC236}">
                  <a16:creationId xmlns:a16="http://schemas.microsoft.com/office/drawing/2014/main" id="{74A30CBA-867D-CE7C-CB67-A6FB04608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3640"/>
              <a:ext cx="329" cy="142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49" name="Rectangle 65">
              <a:extLst>
                <a:ext uri="{FF2B5EF4-FFF2-40B4-BE49-F238E27FC236}">
                  <a16:creationId xmlns:a16="http://schemas.microsoft.com/office/drawing/2014/main" id="{6D459207-8552-27DD-7085-BCCEF995A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2" y="3881"/>
              <a:ext cx="292" cy="252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854B239A-0EB8-CAA5-C02D-4737FB393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3758"/>
              <a:ext cx="274" cy="344"/>
            </a:xfrm>
            <a:prstGeom prst="rect">
              <a:avLst/>
            </a:prstGeom>
            <a:solidFill>
              <a:srgbClr val="FF99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51" name="Freeform 67">
              <a:extLst>
                <a:ext uri="{FF2B5EF4-FFF2-40B4-BE49-F238E27FC236}">
                  <a16:creationId xmlns:a16="http://schemas.microsoft.com/office/drawing/2014/main" id="{8C14BA3F-9FD8-AD2A-37D3-745E9DC8A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3800"/>
              <a:ext cx="159" cy="184"/>
            </a:xfrm>
            <a:custGeom>
              <a:avLst/>
              <a:gdLst>
                <a:gd name="T0" fmla="*/ 0 w 230"/>
                <a:gd name="T1" fmla="*/ 0 h 289"/>
                <a:gd name="T2" fmla="*/ 0 w 230"/>
                <a:gd name="T3" fmla="*/ 117 h 289"/>
                <a:gd name="T4" fmla="*/ 109 w 230"/>
                <a:gd name="T5" fmla="*/ 117 h 289"/>
                <a:gd name="T6" fmla="*/ 0 60000 65536"/>
                <a:gd name="T7" fmla="*/ 0 60000 65536"/>
                <a:gd name="T8" fmla="*/ 0 60000 65536"/>
                <a:gd name="T9" fmla="*/ 0 w 230"/>
                <a:gd name="T10" fmla="*/ 0 h 289"/>
                <a:gd name="T11" fmla="*/ 230 w 230"/>
                <a:gd name="T12" fmla="*/ 289 h 2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0" h="289">
                  <a:moveTo>
                    <a:pt x="0" y="0"/>
                  </a:moveTo>
                  <a:lnTo>
                    <a:pt x="0" y="288"/>
                  </a:lnTo>
                  <a:lnTo>
                    <a:pt x="229" y="288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Freeform 68">
              <a:extLst>
                <a:ext uri="{FF2B5EF4-FFF2-40B4-BE49-F238E27FC236}">
                  <a16:creationId xmlns:a16="http://schemas.microsoft.com/office/drawing/2014/main" id="{30D863B7-30D2-A932-C935-D671490D3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717"/>
              <a:ext cx="253" cy="374"/>
            </a:xfrm>
            <a:custGeom>
              <a:avLst/>
              <a:gdLst>
                <a:gd name="T0" fmla="*/ 176 w 363"/>
                <a:gd name="T1" fmla="*/ 240 h 582"/>
                <a:gd name="T2" fmla="*/ 0 w 363"/>
                <a:gd name="T3" fmla="*/ 240 h 582"/>
                <a:gd name="T4" fmla="*/ 0 w 363"/>
                <a:gd name="T5" fmla="*/ 0 h 582"/>
                <a:gd name="T6" fmla="*/ 39 w 363"/>
                <a:gd name="T7" fmla="*/ 0 h 5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3"/>
                <a:gd name="T13" fmla="*/ 0 h 582"/>
                <a:gd name="T14" fmla="*/ 363 w 363"/>
                <a:gd name="T15" fmla="*/ 582 h 5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3" h="582">
                  <a:moveTo>
                    <a:pt x="362" y="581"/>
                  </a:moveTo>
                  <a:lnTo>
                    <a:pt x="0" y="581"/>
                  </a:lnTo>
                  <a:lnTo>
                    <a:pt x="0" y="0"/>
                  </a:lnTo>
                  <a:lnTo>
                    <a:pt x="81" y="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Line 69">
              <a:extLst>
                <a:ext uri="{FF2B5EF4-FFF2-40B4-BE49-F238E27FC236}">
                  <a16:creationId xmlns:a16="http://schemas.microsoft.com/office/drawing/2014/main" id="{599B7F13-0780-1E62-5AE9-6AE62E7BA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0" y="4041"/>
              <a:ext cx="1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4" name="Freeform 70">
              <a:extLst>
                <a:ext uri="{FF2B5EF4-FFF2-40B4-BE49-F238E27FC236}">
                  <a16:creationId xmlns:a16="http://schemas.microsoft.com/office/drawing/2014/main" id="{3946F494-AD81-A2CE-400E-0A4378522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3" y="3707"/>
              <a:ext cx="319" cy="155"/>
            </a:xfrm>
            <a:custGeom>
              <a:avLst/>
              <a:gdLst>
                <a:gd name="T0" fmla="*/ 0 w 459"/>
                <a:gd name="T1" fmla="*/ 0 h 241"/>
                <a:gd name="T2" fmla="*/ 132 w 459"/>
                <a:gd name="T3" fmla="*/ 0 h 241"/>
                <a:gd name="T4" fmla="*/ 132 w 459"/>
                <a:gd name="T5" fmla="*/ 99 h 241"/>
                <a:gd name="T6" fmla="*/ 221 w 459"/>
                <a:gd name="T7" fmla="*/ 99 h 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9"/>
                <a:gd name="T13" fmla="*/ 0 h 241"/>
                <a:gd name="T14" fmla="*/ 459 w 459"/>
                <a:gd name="T15" fmla="*/ 241 h 2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9" h="241">
                  <a:moveTo>
                    <a:pt x="0" y="0"/>
                  </a:moveTo>
                  <a:lnTo>
                    <a:pt x="274" y="0"/>
                  </a:lnTo>
                  <a:lnTo>
                    <a:pt x="274" y="240"/>
                  </a:lnTo>
                  <a:lnTo>
                    <a:pt x="458" y="24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55" name="Text Box 71">
              <a:extLst>
                <a:ext uri="{FF2B5EF4-FFF2-40B4-BE49-F238E27FC236}">
                  <a16:creationId xmlns:a16="http://schemas.microsoft.com/office/drawing/2014/main" id="{6CAC8FCE-83AC-E004-0CD4-F9FDE2755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1" y="3852"/>
              <a:ext cx="35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Author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59" name="Text Box 72">
              <a:extLst>
                <a:ext uri="{FF2B5EF4-FFF2-40B4-BE49-F238E27FC236}">
                  <a16:creationId xmlns:a16="http://schemas.microsoft.com/office/drawing/2014/main" id="{A8549AF8-5D35-33BA-188F-6B45F7F3D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744"/>
              <a:ext cx="2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Date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61" name="Text Box 73">
              <a:extLst>
                <a:ext uri="{FF2B5EF4-FFF2-40B4-BE49-F238E27FC236}">
                  <a16:creationId xmlns:a16="http://schemas.microsoft.com/office/drawing/2014/main" id="{2BE8172E-A370-5AD0-C23E-8048A66E5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610"/>
              <a:ext cx="26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Title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</p:grpSp>
      <p:grpSp>
        <p:nvGrpSpPr>
          <p:cNvPr id="63" name="Group 74">
            <a:extLst>
              <a:ext uri="{FF2B5EF4-FFF2-40B4-BE49-F238E27FC236}">
                <a16:creationId xmlns:a16="http://schemas.microsoft.com/office/drawing/2014/main" id="{3C43DF3B-CA78-1BEB-92FB-448D1A59B44F}"/>
              </a:ext>
            </a:extLst>
          </p:cNvPr>
          <p:cNvGrpSpPr>
            <a:grpSpLocks/>
          </p:cNvGrpSpPr>
          <p:nvPr/>
        </p:nvGrpSpPr>
        <p:grpSpPr bwMode="auto">
          <a:xfrm>
            <a:off x="9743502" y="3951416"/>
            <a:ext cx="1752600" cy="1069975"/>
            <a:chOff x="3216" y="3504"/>
            <a:chExt cx="1104" cy="674"/>
          </a:xfrm>
        </p:grpSpPr>
        <p:sp>
          <p:nvSpPr>
            <p:cNvPr id="64" name="Freeform 75">
              <a:extLst>
                <a:ext uri="{FF2B5EF4-FFF2-40B4-BE49-F238E27FC236}">
                  <a16:creationId xmlns:a16="http://schemas.microsoft.com/office/drawing/2014/main" id="{4A618F6D-3C89-EB27-72E0-3CC32F26F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3561"/>
              <a:ext cx="1104" cy="616"/>
            </a:xfrm>
            <a:custGeom>
              <a:avLst/>
              <a:gdLst>
                <a:gd name="T0" fmla="*/ 0 w 1725"/>
                <a:gd name="T1" fmla="*/ 0 h 961"/>
                <a:gd name="T2" fmla="*/ 0 w 1725"/>
                <a:gd name="T3" fmla="*/ 394 h 961"/>
                <a:gd name="T4" fmla="*/ 706 w 1725"/>
                <a:gd name="T5" fmla="*/ 394 h 961"/>
                <a:gd name="T6" fmla="*/ 706 w 1725"/>
                <a:gd name="T7" fmla="*/ 0 h 9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5"/>
                <a:gd name="T13" fmla="*/ 0 h 961"/>
                <a:gd name="T14" fmla="*/ 1725 w 1725"/>
                <a:gd name="T15" fmla="*/ 961 h 9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5" h="961">
                  <a:moveTo>
                    <a:pt x="0" y="0"/>
                  </a:moveTo>
                  <a:lnTo>
                    <a:pt x="0" y="960"/>
                  </a:lnTo>
                  <a:lnTo>
                    <a:pt x="1724" y="960"/>
                  </a:lnTo>
                  <a:lnTo>
                    <a:pt x="1724" y="0"/>
                  </a:lnTo>
                </a:path>
              </a:pathLst>
            </a:custGeom>
            <a:solidFill>
              <a:srgbClr val="E8C1E9"/>
            </a:solidFill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Oval 76">
              <a:extLst>
                <a:ext uri="{FF2B5EF4-FFF2-40B4-BE49-F238E27FC236}">
                  <a16:creationId xmlns:a16="http://schemas.microsoft.com/office/drawing/2014/main" id="{42597EDD-0308-5FFB-268D-DF7613920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04"/>
              <a:ext cx="1104" cy="96"/>
            </a:xfrm>
            <a:prstGeom prst="ellipse">
              <a:avLst/>
            </a:prstGeom>
            <a:solidFill>
              <a:srgbClr val="E8C1E9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66" name="Line 77">
              <a:extLst>
                <a:ext uri="{FF2B5EF4-FFF2-40B4-BE49-F238E27FC236}">
                  <a16:creationId xmlns:a16="http://schemas.microsoft.com/office/drawing/2014/main" id="{889F8111-51D9-421C-AF49-3134DAC64D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0" y="3795"/>
              <a:ext cx="0" cy="183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Line 78">
              <a:extLst>
                <a:ext uri="{FF2B5EF4-FFF2-40B4-BE49-F238E27FC236}">
                  <a16:creationId xmlns:a16="http://schemas.microsoft.com/office/drawing/2014/main" id="{E14C3E91-609A-2ECE-1ECE-4CE662ED7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6" y="3764"/>
              <a:ext cx="149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68" name="Oval 79">
              <a:extLst>
                <a:ext uri="{FF2B5EF4-FFF2-40B4-BE49-F238E27FC236}">
                  <a16:creationId xmlns:a16="http://schemas.microsoft.com/office/drawing/2014/main" id="{26296AE1-8062-EF13-48F0-62D01FBA96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338" y="3979"/>
              <a:ext cx="143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69" name="Oval 80">
              <a:extLst>
                <a:ext uri="{FF2B5EF4-FFF2-40B4-BE49-F238E27FC236}">
                  <a16:creationId xmlns:a16="http://schemas.microsoft.com/office/drawing/2014/main" id="{6A32BDFB-E0DB-E0C9-573C-F2A4BB5FBB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701" y="3792"/>
              <a:ext cx="142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0" name="Oval 81">
              <a:extLst>
                <a:ext uri="{FF2B5EF4-FFF2-40B4-BE49-F238E27FC236}">
                  <a16:creationId xmlns:a16="http://schemas.microsoft.com/office/drawing/2014/main" id="{D00E36ED-A0AF-779C-540B-0687BA7058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948" y="3945"/>
              <a:ext cx="142" cy="141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1" name="Oval 82">
              <a:extLst>
                <a:ext uri="{FF2B5EF4-FFF2-40B4-BE49-F238E27FC236}">
                  <a16:creationId xmlns:a16="http://schemas.microsoft.com/office/drawing/2014/main" id="{0C21F3B0-D94C-9CEE-BBBB-0F42DB71F3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968" y="3673"/>
              <a:ext cx="144" cy="138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2" name="Text Box 83">
              <a:extLst>
                <a:ext uri="{FF2B5EF4-FFF2-40B4-BE49-F238E27FC236}">
                  <a16:creationId xmlns:a16="http://schemas.microsoft.com/office/drawing/2014/main" id="{39677F04-6D5C-7C90-BF1F-14D522B17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4024"/>
              <a:ext cx="31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000" i="0">
                  <a:solidFill>
                    <a:srgbClr val="000000"/>
                  </a:solidFill>
                </a:rPr>
                <a:t>paper</a:t>
              </a:r>
              <a:endParaRPr lang="en-US" altLang="en-US" sz="2000" i="0">
                <a:solidFill>
                  <a:srgbClr val="000000"/>
                </a:solidFill>
              </a:endParaRPr>
            </a:p>
          </p:txBody>
        </p:sp>
        <p:sp>
          <p:nvSpPr>
            <p:cNvPr id="73" name="Text Box 84">
              <a:extLst>
                <a:ext uri="{FF2B5EF4-FFF2-40B4-BE49-F238E27FC236}">
                  <a16:creationId xmlns:a16="http://schemas.microsoft.com/office/drawing/2014/main" id="{ED08FA32-75E5-4B6B-9EA4-CD6225679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3830"/>
              <a:ext cx="32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Name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  <p:sp>
          <p:nvSpPr>
            <p:cNvPr id="74" name="Line 85">
              <a:extLst>
                <a:ext uri="{FF2B5EF4-FFF2-40B4-BE49-F238E27FC236}">
                  <a16:creationId xmlns:a16="http://schemas.microsoft.com/office/drawing/2014/main" id="{8C981980-1EBC-DFE0-310C-1BE978B375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25" y="3902"/>
              <a:ext cx="122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75" name="Oval 86">
              <a:extLst>
                <a:ext uri="{FF2B5EF4-FFF2-40B4-BE49-F238E27FC236}">
                  <a16:creationId xmlns:a16="http://schemas.microsoft.com/office/drawing/2014/main" id="{EC2BDD6B-38C5-E75B-6CCD-84CB989E97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20000">
              <a:off x="3331" y="3649"/>
              <a:ext cx="144" cy="140"/>
            </a:xfrm>
            <a:prstGeom prst="ellipse">
              <a:avLst/>
            </a:prstGeom>
            <a:solidFill>
              <a:srgbClr val="CC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76" name="Line 87">
              <a:extLst>
                <a:ext uri="{FF2B5EF4-FFF2-40B4-BE49-F238E27FC236}">
                  <a16:creationId xmlns:a16="http://schemas.microsoft.com/office/drawing/2014/main" id="{F315C092-F76F-C8D5-2745-9688BD117F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69" y="3894"/>
              <a:ext cx="226" cy="1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09" tIns="45704" rIns="91409" bIns="45704" anchor="ctr">
              <a:spAutoFit/>
            </a:bodyPr>
            <a:lstStyle/>
            <a:p>
              <a:endParaRPr lang="en-US"/>
            </a:p>
          </p:txBody>
        </p:sp>
        <p:sp>
          <p:nvSpPr>
            <p:cNvPr id="77" name="Text Box 88">
              <a:extLst>
                <a:ext uri="{FF2B5EF4-FFF2-40B4-BE49-F238E27FC236}">
                  <a16:creationId xmlns:a16="http://schemas.microsoft.com/office/drawing/2014/main" id="{B25B1AAF-FA08-55AD-2DC7-2AED6964E0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3658"/>
              <a:ext cx="35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 type="none" w="sm" len="med"/>
                  <a:tailEnd type="none" w="sm" len="med"/>
                </a14:hiddenLine>
              </a:ext>
            </a:extLst>
          </p:spPr>
          <p:txBody>
            <a:bodyPr wrap="none" lIns="91409" tIns="45704" rIns="91409" bIns="45704" anchor="ctr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000" i="0">
                  <a:solidFill>
                    <a:srgbClr val="000000"/>
                  </a:solidFill>
                </a:rPr>
                <a:t>Author</a:t>
              </a:r>
              <a:endParaRPr lang="en-US" altLang="en-US" sz="1200" b="1" i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82" name="Object 43">
            <a:extLst>
              <a:ext uri="{FF2B5EF4-FFF2-40B4-BE49-F238E27FC236}">
                <a16:creationId xmlns:a16="http://schemas.microsoft.com/office/drawing/2014/main" id="{880D8B9D-384F-535A-F914-325520A0B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7963907"/>
              </p:ext>
            </p:extLst>
          </p:nvPr>
        </p:nvGraphicFramePr>
        <p:xfrm>
          <a:off x="4250041" y="5613754"/>
          <a:ext cx="455839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0693400" imgH="23012400" progId="MS_ClipArt_Gallery.2">
                  <p:embed/>
                </p:oleObj>
              </mc:Choice>
              <mc:Fallback>
                <p:oleObj name="Clip" r:id="rId8" imgW="10693400" imgH="23012400" progId="MS_ClipArt_Gallery.2">
                  <p:embed/>
                  <p:pic>
                    <p:nvPicPr>
                      <p:cNvPr id="45" name="Object 43">
                        <a:extLst>
                          <a:ext uri="{FF2B5EF4-FFF2-40B4-BE49-F238E27FC236}">
                            <a16:creationId xmlns:a16="http://schemas.microsoft.com/office/drawing/2014/main" id="{D5C7C8B4-7714-114E-AA15-A8F4FB55F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041" y="5613754"/>
                        <a:ext cx="455839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690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5A0F2E0A-6CFA-3346-B9FB-ED7D4A5AF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5" y="2049823"/>
            <a:ext cx="2541587" cy="479425"/>
          </a:xfrm>
          <a:prstGeom prst="rect">
            <a:avLst/>
          </a:prstGeom>
          <a:solidFill>
            <a:srgbClr val="990000"/>
          </a:solidFill>
          <a:ln>
            <a:noFill/>
          </a:ln>
          <a:effectLst>
            <a:prstShdw prst="shdw17" dist="17961" dir="2700000">
              <a:srgbClr val="9900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50000"/>
              </a:spcBef>
            </a:pPr>
            <a:r>
              <a:rPr lang="en-US" b="1" dirty="0">
                <a:solidFill>
                  <a:schemeClr val="bg1"/>
                </a:solidFill>
              </a:rPr>
              <a:t>Missing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7" name="Text Box 20">
            <a:extLst>
              <a:ext uri="{FF2B5EF4-FFF2-40B4-BE49-F238E27FC236}">
                <a16:creationId xmlns:a16="http://schemas.microsoft.com/office/drawing/2014/main" id="{3E8B0D6B-32B7-7841-873E-9C5F97A7B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672" y="1260196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Noise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F9B0DE6-8842-7543-A814-AE8A6F8B7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7256" y="3074519"/>
            <a:ext cx="2541587" cy="479425"/>
          </a:xfrm>
          <a:prstGeom prst="rect">
            <a:avLst/>
          </a:prstGeom>
          <a:solidFill>
            <a:srgbClr val="FE97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Outliers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491EF81D-B416-1C47-934C-A71B8FFC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9576" y="3074520"/>
            <a:ext cx="2541587" cy="479425"/>
          </a:xfrm>
          <a:prstGeom prst="rect">
            <a:avLst/>
          </a:prstGeom>
          <a:solidFill>
            <a:srgbClr val="663300"/>
          </a:solidFill>
          <a:ln>
            <a:noFill/>
          </a:ln>
          <a:effectLst>
            <a:prstShdw prst="shdw17" dist="17961" dir="2700000">
              <a:srgbClr val="663300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Outdated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EDB21A97-37E9-8B4A-9586-60F2CE099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084" y="4099217"/>
            <a:ext cx="2541587" cy="479425"/>
          </a:xfrm>
          <a:prstGeom prst="rect">
            <a:avLst/>
          </a:prstGeom>
          <a:solidFill>
            <a:srgbClr val="F43622">
              <a:alpha val="84000"/>
            </a:srgbClr>
          </a:solidFill>
          <a:ln>
            <a:noFill/>
          </a:ln>
          <a:effectLst>
            <a:prstShdw prst="shdw17" dist="17961" dir="2700000">
              <a:srgbClr val="F43622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Inconsistent Values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108EB380-D1CA-E849-BE00-A5C3EAF5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1" y="4099218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Unreliable sources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12" name="Text Box 25">
            <a:extLst>
              <a:ext uri="{FF2B5EF4-FFF2-40B4-BE49-F238E27FC236}">
                <a16:creationId xmlns:a16="http://schemas.microsoft.com/office/drawing/2014/main" id="{19F176BB-8FBD-2C42-A1AC-7B21AF9F7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572" y="2049823"/>
            <a:ext cx="2541587" cy="47942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Duplicate Data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586785-32A6-1343-A227-279A87734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672" y="2707905"/>
            <a:ext cx="2501900" cy="1212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59C684-01D5-A64F-893D-5393D3249133}"/>
              </a:ext>
            </a:extLst>
          </p:cNvPr>
          <p:cNvSpPr txBox="1"/>
          <p:nvPr/>
        </p:nvSpPr>
        <p:spPr>
          <a:xfrm>
            <a:off x="4288877" y="5037258"/>
            <a:ext cx="5533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For any data retrieval or data </a:t>
            </a:r>
            <a:r>
              <a:rPr lang="en-US" dirty="0" err="1"/>
              <a:t>analytiscs</a:t>
            </a:r>
            <a:r>
              <a:rPr lang="en-US" dirty="0"/>
              <a:t> task, </a:t>
            </a:r>
          </a:p>
          <a:p>
            <a:pPr algn="l"/>
            <a:r>
              <a:rPr lang="en-US" b="1" dirty="0"/>
              <a:t>it is critically important to know the quality of your 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E1977-80D9-1A43-9182-975FC47BF127}"/>
              </a:ext>
            </a:extLst>
          </p:cNvPr>
          <p:cNvSpPr/>
          <p:nvPr/>
        </p:nvSpPr>
        <p:spPr>
          <a:xfrm>
            <a:off x="2768600" y="6019093"/>
            <a:ext cx="5118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For the US alone, poor data quality costs around US economy $3 trillions a year (2016). </a:t>
            </a:r>
          </a:p>
        </p:txBody>
      </p:sp>
    </p:spTree>
    <p:extLst>
      <p:ext uri="{BB962C8B-B14F-4D97-AF65-F5344CB8AC3E}">
        <p14:creationId xmlns:p14="http://schemas.microsoft.com/office/powerpoint/2010/main" val="734169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  <a:endParaRPr lang="nl-NL" sz="3200" b="1" dirty="0"/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E01C51F1-3E13-4B15-8CD6-DCB337A9750C}"/>
              </a:ext>
            </a:extLst>
          </p:cNvPr>
          <p:cNvSpPr/>
          <p:nvPr/>
        </p:nvSpPr>
        <p:spPr>
          <a:xfrm>
            <a:off x="4622800" y="2608309"/>
            <a:ext cx="3572933" cy="1800000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Cleaning</a:t>
            </a:r>
            <a:endParaRPr lang="nl-NL" dirty="0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5D016203-33E9-4CEC-98B6-59CF34955262}"/>
              </a:ext>
            </a:extLst>
          </p:cNvPr>
          <p:cNvSpPr/>
          <p:nvPr/>
        </p:nvSpPr>
        <p:spPr>
          <a:xfrm>
            <a:off x="1418748" y="170182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Transformation</a:t>
            </a:r>
            <a:endParaRPr lang="nl-NL" dirty="0"/>
          </a:p>
        </p:txBody>
      </p:sp>
      <p:sp>
        <p:nvSpPr>
          <p:cNvPr id="16" name="Flowchart: Preparation 15">
            <a:extLst>
              <a:ext uri="{FF2B5EF4-FFF2-40B4-BE49-F238E27FC236}">
                <a16:creationId xmlns:a16="http://schemas.microsoft.com/office/drawing/2014/main" id="{7624AB7A-0444-470B-B235-90F09BAEC354}"/>
              </a:ext>
            </a:extLst>
          </p:cNvPr>
          <p:cNvSpPr/>
          <p:nvPr/>
        </p:nvSpPr>
        <p:spPr>
          <a:xfrm>
            <a:off x="1418748" y="354573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Discretization</a:t>
            </a:r>
            <a:endParaRPr lang="nl-NL" dirty="0"/>
          </a:p>
        </p:txBody>
      </p:sp>
      <p:sp>
        <p:nvSpPr>
          <p:cNvPr id="18" name="Flowchart: Preparation 17">
            <a:extLst>
              <a:ext uri="{FF2B5EF4-FFF2-40B4-BE49-F238E27FC236}">
                <a16:creationId xmlns:a16="http://schemas.microsoft.com/office/drawing/2014/main" id="{7312091F-352E-4572-AB29-0383CBED6667}"/>
              </a:ext>
            </a:extLst>
          </p:cNvPr>
          <p:cNvSpPr/>
          <p:nvPr/>
        </p:nvSpPr>
        <p:spPr>
          <a:xfrm>
            <a:off x="7411650" y="1708309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Integration</a:t>
            </a:r>
            <a:endParaRPr lang="nl-NL" dirty="0"/>
          </a:p>
        </p:txBody>
      </p:sp>
      <p:sp>
        <p:nvSpPr>
          <p:cNvPr id="19" name="Flowchart: Preparation 18">
            <a:extLst>
              <a:ext uri="{FF2B5EF4-FFF2-40B4-BE49-F238E27FC236}">
                <a16:creationId xmlns:a16="http://schemas.microsoft.com/office/drawing/2014/main" id="{4CE3CF6B-A88E-4091-AF2C-CDCDF3793CF0}"/>
              </a:ext>
            </a:extLst>
          </p:cNvPr>
          <p:cNvSpPr/>
          <p:nvPr/>
        </p:nvSpPr>
        <p:spPr>
          <a:xfrm>
            <a:off x="7431930" y="3501822"/>
            <a:ext cx="4008402" cy="1800000"/>
          </a:xfrm>
          <a:prstGeom prst="flowChartPreparation">
            <a:avLst/>
          </a:prstGeom>
          <a:solidFill>
            <a:srgbClr val="00B0F0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Reduction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8834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2028D0EE-BD70-4A04-9FC1-2BDC329EBDD9}"/>
              </a:ext>
            </a:extLst>
          </p:cNvPr>
          <p:cNvSpPr txBox="1">
            <a:spLocks/>
          </p:cNvSpPr>
          <p:nvPr/>
        </p:nvSpPr>
        <p:spPr>
          <a:xfrm>
            <a:off x="668724" y="350660"/>
            <a:ext cx="10169842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you going to spend your time?</a:t>
            </a:r>
            <a:endParaRPr lang="nl-NL" b="1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A83752-6F2D-4996-BB9A-2A143D011BD3}"/>
              </a:ext>
            </a:extLst>
          </p:cNvPr>
          <p:cNvGrpSpPr/>
          <p:nvPr/>
        </p:nvGrpSpPr>
        <p:grpSpPr>
          <a:xfrm>
            <a:off x="193400" y="1535460"/>
            <a:ext cx="10169842" cy="4499978"/>
            <a:chOff x="643468" y="488462"/>
            <a:chExt cx="10169842" cy="4499978"/>
          </a:xfrm>
        </p:grpSpPr>
        <p:graphicFrame>
          <p:nvGraphicFramePr>
            <p:cNvPr id="32" name="Chart 31">
              <a:extLst>
                <a:ext uri="{FF2B5EF4-FFF2-40B4-BE49-F238E27FC236}">
                  <a16:creationId xmlns:a16="http://schemas.microsoft.com/office/drawing/2014/main" id="{F3A21C11-4186-40FD-8D18-3E17C70EBAD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43468" y="919922"/>
            <a:ext cx="10169842" cy="40685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33" name="TextBox 1">
              <a:extLst>
                <a:ext uri="{FF2B5EF4-FFF2-40B4-BE49-F238E27FC236}">
                  <a16:creationId xmlns:a16="http://schemas.microsoft.com/office/drawing/2014/main" id="{77889137-D909-4071-959F-EDF04BB611F2}"/>
                </a:ext>
              </a:extLst>
            </p:cNvPr>
            <p:cNvSpPr txBox="1"/>
            <p:nvPr/>
          </p:nvSpPr>
          <p:spPr>
            <a:xfrm>
              <a:off x="4114800" y="2799197"/>
              <a:ext cx="1981200" cy="914065"/>
            </a:xfrm>
            <a:prstGeom prst="rect">
              <a:avLst/>
            </a:prstGeom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solidFill>
                    <a:schemeClr val="bg1"/>
                  </a:solidFill>
                </a:rPr>
                <a:t>Cleaning +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Organizing</a:t>
              </a:r>
              <a:endParaRPr lang="nl-NL" sz="2400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1">
              <a:extLst>
                <a:ext uri="{FF2B5EF4-FFF2-40B4-BE49-F238E27FC236}">
                  <a16:creationId xmlns:a16="http://schemas.microsoft.com/office/drawing/2014/main" id="{AA632787-927D-4E63-9BA1-23941F1ADE9F}"/>
                </a:ext>
              </a:extLst>
            </p:cNvPr>
            <p:cNvSpPr txBox="1"/>
            <p:nvPr/>
          </p:nvSpPr>
          <p:spPr>
            <a:xfrm>
              <a:off x="1420972" y="2013284"/>
              <a:ext cx="1981200" cy="914065"/>
            </a:xfrm>
            <a:prstGeom prst="rect">
              <a:avLst/>
            </a:prstGeom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Mining Data for Patterns</a:t>
              </a:r>
              <a:endParaRPr lang="nl-NL" sz="2400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F9ECC83-0095-46D9-9B75-918D6F7FBE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438" y="2319137"/>
              <a:ext cx="1229106" cy="1733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1">
              <a:extLst>
                <a:ext uri="{FF2B5EF4-FFF2-40B4-BE49-F238E27FC236}">
                  <a16:creationId xmlns:a16="http://schemas.microsoft.com/office/drawing/2014/main" id="{2C25A6A9-2F4B-4538-811F-865376B350B4}"/>
                </a:ext>
              </a:extLst>
            </p:cNvPr>
            <p:cNvSpPr txBox="1"/>
            <p:nvPr/>
          </p:nvSpPr>
          <p:spPr>
            <a:xfrm>
              <a:off x="1942881" y="1051430"/>
              <a:ext cx="1981200" cy="914065"/>
            </a:xfrm>
            <a:prstGeom prst="rect">
              <a:avLst/>
            </a:prstGeom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Refining Algorithms</a:t>
              </a:r>
              <a:endParaRPr lang="nl-NL" sz="24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3133EF8-ECDE-4D0D-AF1A-59B80A0F200B}"/>
                </a:ext>
              </a:extLst>
            </p:cNvPr>
            <p:cNvCxnSpPr>
              <a:cxnSpLocks/>
            </p:cNvCxnSpPr>
            <p:nvPr/>
          </p:nvCxnSpPr>
          <p:spPr>
            <a:xfrm>
              <a:off x="3080438" y="1469217"/>
              <a:ext cx="1706118" cy="1451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1">
              <a:extLst>
                <a:ext uri="{FF2B5EF4-FFF2-40B4-BE49-F238E27FC236}">
                  <a16:creationId xmlns:a16="http://schemas.microsoft.com/office/drawing/2014/main" id="{F33309C6-DB40-4FF0-A242-8DC25CEC6291}"/>
                </a:ext>
              </a:extLst>
            </p:cNvPr>
            <p:cNvSpPr txBox="1"/>
            <p:nvPr/>
          </p:nvSpPr>
          <p:spPr>
            <a:xfrm>
              <a:off x="3327140" y="488462"/>
              <a:ext cx="1065632" cy="914065"/>
            </a:xfrm>
            <a:prstGeom prst="rect">
              <a:avLst/>
            </a:prstGeom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Other</a:t>
              </a:r>
              <a:endParaRPr lang="nl-NL" sz="240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ACF5D4-E32E-42EC-8C4B-C184CEB8B4F0}"/>
                </a:ext>
              </a:extLst>
            </p:cNvPr>
            <p:cNvCxnSpPr>
              <a:cxnSpLocks/>
            </p:cNvCxnSpPr>
            <p:nvPr/>
          </p:nvCxnSpPr>
          <p:spPr>
            <a:xfrm>
              <a:off x="4062363" y="1001459"/>
              <a:ext cx="1088688" cy="39441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1">
              <a:extLst>
                <a:ext uri="{FF2B5EF4-FFF2-40B4-BE49-F238E27FC236}">
                  <a16:creationId xmlns:a16="http://schemas.microsoft.com/office/drawing/2014/main" id="{33FA847C-37C4-432A-A24A-5D9A3F67874A}"/>
                </a:ext>
              </a:extLst>
            </p:cNvPr>
            <p:cNvSpPr txBox="1"/>
            <p:nvPr/>
          </p:nvSpPr>
          <p:spPr>
            <a:xfrm>
              <a:off x="6247780" y="495118"/>
              <a:ext cx="2820020" cy="914065"/>
            </a:xfrm>
            <a:prstGeom prst="rect">
              <a:avLst/>
            </a:prstGeom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/>
                <a:t>Building Training Set</a:t>
              </a:r>
              <a:endParaRPr lang="nl-NL" sz="240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7F9D3EE0-FC20-4C17-9E1A-D7B6DDA25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0209" y="859668"/>
              <a:ext cx="841506" cy="4057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1F98FF72-BF93-4763-B324-4520D3EDF4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421" y="2106501"/>
            <a:ext cx="3847619" cy="216428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F913A1A-28C0-48C6-8BD7-7607EE28BBE6}"/>
              </a:ext>
            </a:extLst>
          </p:cNvPr>
          <p:cNvSpPr txBox="1"/>
          <p:nvPr/>
        </p:nvSpPr>
        <p:spPr>
          <a:xfrm>
            <a:off x="7036969" y="4389123"/>
            <a:ext cx="491652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Scientists: 80% of their time looking for and cleaning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Sometimes, they are called data janitors</a:t>
            </a:r>
            <a:endParaRPr lang="nl-NL" sz="2200" dirty="0"/>
          </a:p>
        </p:txBody>
      </p:sp>
    </p:spTree>
    <p:extLst>
      <p:ext uri="{BB962C8B-B14F-4D97-AF65-F5344CB8AC3E}">
        <p14:creationId xmlns:p14="http://schemas.microsoft.com/office/powerpoint/2010/main" val="349290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</a:t>
            </a:r>
            <a:endParaRPr lang="nl-NL" sz="4000" b="1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91E4E-23C7-49FE-87E4-140C76CB5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625" y="0"/>
            <a:ext cx="770923" cy="6858000"/>
          </a:xfrm>
          <a:prstGeom prst="rect">
            <a:avLst/>
          </a:prstGeom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FECA051-0FDC-4E8F-A285-77BBC238EFCC}"/>
              </a:ext>
            </a:extLst>
          </p:cNvPr>
          <p:cNvGraphicFramePr/>
          <p:nvPr/>
        </p:nvGraphicFramePr>
        <p:xfrm>
          <a:off x="2593201" y="2152243"/>
          <a:ext cx="6469449" cy="4074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AD291C-F453-41C9-9B86-E03627A0DB29}"/>
              </a:ext>
            </a:extLst>
          </p:cNvPr>
          <p:cNvCxnSpPr/>
          <p:nvPr/>
        </p:nvCxnSpPr>
        <p:spPr>
          <a:xfrm flipH="1">
            <a:off x="6388100" y="2476500"/>
            <a:ext cx="939800" cy="1651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11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9" y="38841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Topics</a:t>
            </a:r>
            <a:endParaRPr lang="nl-NL" sz="3200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7EFF700-E9F7-3FB4-D08F-521CA5137E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32313" y="3527735"/>
            <a:ext cx="3737387" cy="2306499"/>
          </a:xfrm>
          <a:prstGeom prst="rect">
            <a:avLst/>
          </a:prstGeom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id="{D5CBFDA7-C3DB-0E34-C11A-0411A40E1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8381" y="6245826"/>
            <a:ext cx="2092723" cy="399665"/>
          </a:xfrm>
          <a:prstGeom prst="rect">
            <a:avLst/>
          </a:prstGeom>
          <a:solidFill>
            <a:srgbClr val="AD7C03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Algorithmic Fairness</a:t>
            </a:r>
            <a:endParaRPr lang="el-GR" b="1" dirty="0">
              <a:solidFill>
                <a:schemeClr val="bg1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4C718F69-8838-33E3-D7FD-DD0F36E8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560" y="1791368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D3E69251-9A4D-5744-3E5A-27702A240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036" y="4328292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30" name="Line 4">
            <a:extLst>
              <a:ext uri="{FF2B5EF4-FFF2-40B4-BE49-F238E27FC236}">
                <a16:creationId xmlns:a16="http://schemas.microsoft.com/office/drawing/2014/main" id="{76932330-43C7-8500-BD75-A503B38EE1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27560" y="3413892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Line 5">
            <a:extLst>
              <a:ext uri="{FF2B5EF4-FFF2-40B4-BE49-F238E27FC236}">
                <a16:creationId xmlns:a16="http://schemas.microsoft.com/office/drawing/2014/main" id="{59916659-8F6C-F01E-41EF-DFEE479A6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21723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F3BD9D9A-A374-B1E8-DCF5-43D440804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27057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Line 7">
            <a:extLst>
              <a:ext uri="{FF2B5EF4-FFF2-40B4-BE49-F238E27FC236}">
                <a16:creationId xmlns:a16="http://schemas.microsoft.com/office/drawing/2014/main" id="{AAF1CB2E-9BD2-AF2D-99F0-2568699D9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760" y="323916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30A60D89-C35C-8AC4-A17D-5E0CC7C36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25" y="1943768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35" name="Line 9">
            <a:extLst>
              <a:ext uri="{FF2B5EF4-FFF2-40B4-BE49-F238E27FC236}">
                <a16:creationId xmlns:a16="http://schemas.microsoft.com/office/drawing/2014/main" id="{176275E5-372C-B661-1BB8-29F33DEDE6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960" y="3527735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5FCF88A0-C72E-F193-5330-5C5F8230E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160" y="786361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37" name="Line 11">
            <a:extLst>
              <a:ext uri="{FF2B5EF4-FFF2-40B4-BE49-F238E27FC236}">
                <a16:creationId xmlns:a16="http://schemas.microsoft.com/office/drawing/2014/main" id="{2CF2D5B7-B7A6-8080-F26D-63996C551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4360" y="1356492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12">
            <a:extLst>
              <a:ext uri="{FF2B5EF4-FFF2-40B4-BE49-F238E27FC236}">
                <a16:creationId xmlns:a16="http://schemas.microsoft.com/office/drawing/2014/main" id="{70A60D3F-1A0A-254E-095B-B37640953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484" y="2491455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39" name="Line 14">
            <a:extLst>
              <a:ext uri="{FF2B5EF4-FFF2-40B4-BE49-F238E27FC236}">
                <a16:creationId xmlns:a16="http://schemas.microsoft.com/office/drawing/2014/main" id="{1624BFC7-34E2-3D39-59E3-41065E05C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960" y="2705768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959661A9-C88E-E005-D290-321F5D7A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036" y="4709292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41" name="Line 16">
            <a:extLst>
              <a:ext uri="{FF2B5EF4-FFF2-40B4-BE49-F238E27FC236}">
                <a16:creationId xmlns:a16="http://schemas.microsoft.com/office/drawing/2014/main" id="{E07EFB60-0073-5061-E93A-08155B419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6760" y="3413892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85F71AA4-F435-71FB-CA54-7D1E9C6A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960" y="1867568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B70B1-3906-AA75-A84F-A050E3B4348B}"/>
              </a:ext>
            </a:extLst>
          </p:cNvPr>
          <p:cNvSpPr/>
          <p:nvPr/>
        </p:nvSpPr>
        <p:spPr>
          <a:xfrm>
            <a:off x="8586726" y="429604"/>
            <a:ext cx="850716" cy="179058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1A475-7D84-4CE9-9184-701252CBBF33}"/>
              </a:ext>
            </a:extLst>
          </p:cNvPr>
          <p:cNvSpPr/>
          <p:nvPr/>
        </p:nvSpPr>
        <p:spPr>
          <a:xfrm>
            <a:off x="10040388" y="2148021"/>
            <a:ext cx="850716" cy="7216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3F565-910F-0707-4840-EBE0D6A70433}"/>
              </a:ext>
            </a:extLst>
          </p:cNvPr>
          <p:cNvSpPr txBox="1"/>
          <p:nvPr/>
        </p:nvSpPr>
        <p:spPr>
          <a:xfrm>
            <a:off x="8356760" y="2420031"/>
            <a:ext cx="1193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negatives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DAF39-B608-A311-9E7A-E32BC8789B21}"/>
              </a:ext>
            </a:extLst>
          </p:cNvPr>
          <p:cNvSpPr txBox="1"/>
          <p:nvPr/>
        </p:nvSpPr>
        <p:spPr>
          <a:xfrm>
            <a:off x="10025886" y="2416949"/>
            <a:ext cx="1193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positives</a:t>
            </a:r>
          </a:p>
        </p:txBody>
      </p:sp>
      <p:sp>
        <p:nvSpPr>
          <p:cNvPr id="9" name="Text Box 24">
            <a:extLst>
              <a:ext uri="{FF2B5EF4-FFF2-40B4-BE49-F238E27FC236}">
                <a16:creationId xmlns:a16="http://schemas.microsoft.com/office/drawing/2014/main" id="{14536F28-B52D-8E42-067F-B83E4D3F5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9903" y="2943215"/>
            <a:ext cx="2092723" cy="399665"/>
          </a:xfrm>
          <a:prstGeom prst="rect">
            <a:avLst/>
          </a:prstGeom>
          <a:solidFill>
            <a:srgbClr val="0070C0">
              <a:alpha val="60001"/>
            </a:srgbClr>
          </a:solidFill>
          <a:ln>
            <a:noFill/>
          </a:ln>
          <a:effectLst>
            <a:prstShdw prst="shdw17" dist="17961" dir="2700000">
              <a:srgbClr val="AD7C03">
                <a:gamma/>
                <a:shade val="60000"/>
                <a:invGamma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Bias detection</a:t>
            </a:r>
            <a:endParaRPr lang="el-G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AD36-4E66-1820-BEAB-36BEBB33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FA66-C861-AA1A-1510-3145C5E9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9" y="38841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course is not</a:t>
            </a:r>
            <a:endParaRPr lang="nl-NL" sz="32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3B0DD7-112F-64B0-C78B-87F773048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Database course</a:t>
            </a:r>
          </a:p>
          <a:p>
            <a:endParaRPr lang="en-US" dirty="0"/>
          </a:p>
          <a:p>
            <a:r>
              <a:rPr lang="en-US" dirty="0"/>
              <a:t>Systems course</a:t>
            </a:r>
          </a:p>
          <a:p>
            <a:endParaRPr lang="en-US" dirty="0"/>
          </a:p>
          <a:p>
            <a:r>
              <a:rPr lang="en-US" dirty="0"/>
              <a:t>Artificial intelligence course </a:t>
            </a:r>
          </a:p>
          <a:p>
            <a:endParaRPr lang="en-US" dirty="0"/>
          </a:p>
          <a:p>
            <a:r>
              <a:rPr lang="en-US" dirty="0"/>
              <a:t>Machine learning course</a:t>
            </a:r>
          </a:p>
          <a:p>
            <a:endParaRPr lang="en-US" dirty="0"/>
          </a:p>
        </p:txBody>
      </p:sp>
      <p:pic>
        <p:nvPicPr>
          <p:cNvPr id="1026" name="Picture 2" descr="Database icons | Canva">
            <a:extLst>
              <a:ext uri="{FF2B5EF4-FFF2-40B4-BE49-F238E27FC236}">
                <a16:creationId xmlns:a16="http://schemas.microsoft.com/office/drawing/2014/main" id="{04A9DFAF-DF01-771C-C5C5-F47B2261C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80" y="1046825"/>
            <a:ext cx="1081441" cy="137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i icon Vector Images &amp; Graphics for Commercial Use ...">
            <a:extLst>
              <a:ext uri="{FF2B5EF4-FFF2-40B4-BE49-F238E27FC236}">
                <a16:creationId xmlns:a16="http://schemas.microsoft.com/office/drawing/2014/main" id="{B61CAEBC-BC60-A3AC-B489-B50E597EA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199" y="3230880"/>
            <a:ext cx="1893967" cy="189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t systems - Free ui icons">
            <a:extLst>
              <a:ext uri="{FF2B5EF4-FFF2-40B4-BE49-F238E27FC236}">
                <a16:creationId xmlns:a16="http://schemas.microsoft.com/office/drawing/2014/main" id="{03FC9549-E127-4B29-C032-57C2F8F5E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969" y="2420488"/>
            <a:ext cx="1178560" cy="117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chine Learning Icon Vector Art, Icons, and Graphics for ...">
            <a:extLst>
              <a:ext uri="{FF2B5EF4-FFF2-40B4-BE49-F238E27FC236}">
                <a16:creationId xmlns:a16="http://schemas.microsoft.com/office/drawing/2014/main" id="{955A8C29-8A1D-7B53-4A55-A81C9DBB2E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" t="9931" r="7528" b="19778"/>
          <a:stretch>
            <a:fillRect/>
          </a:stretch>
        </p:blipFill>
        <p:spPr bwMode="auto">
          <a:xfrm>
            <a:off x="9394124" y="4554461"/>
            <a:ext cx="2138078" cy="173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783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1F2C-65D5-251B-6DF8-050B0D03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" y="465899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https://</a:t>
            </a:r>
            <a:r>
              <a:rPr lang="en-US" sz="6000" b="1" dirty="0" err="1"/>
              <a:t>app.wooclap.com</a:t>
            </a:r>
            <a:r>
              <a:rPr lang="en-US" sz="6000" b="1" dirty="0"/>
              <a:t>/DW2627</a:t>
            </a:r>
            <a:endParaRPr lang="en-NL" sz="6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70832-4383-DB55-DA2E-91936512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76" y="1483360"/>
            <a:ext cx="5143500" cy="207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D84E06-A7CE-8889-B1BE-2353D524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0" y="1343660"/>
            <a:ext cx="22860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61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544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Practicalities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91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1F2C-65D5-251B-6DF8-050B0D03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u="sng" dirty="0">
                <a:solidFill>
                  <a:srgbClr val="0070C0"/>
                </a:solidFill>
                <a:hlinkClick r:id="rId2"/>
              </a:rPr>
              <a:t>https</a:t>
            </a:r>
            <a:r>
              <a:rPr lang="en-US" sz="5400" b="1" u="sng" dirty="0">
                <a:solidFill>
                  <a:srgbClr val="0070C0"/>
                </a:solidFill>
                <a:hlinkClick r:id="rId2"/>
              </a:rPr>
              <a:t>://hqahtan.github.io/</a:t>
            </a:r>
            <a:r>
              <a:rPr lang="en-US" sz="5400" b="1" u="sng" dirty="0" err="1">
                <a:solidFill>
                  <a:srgbClr val="0070C0"/>
                </a:solidFill>
                <a:hlinkClick r:id="rId2"/>
              </a:rPr>
              <a:t>teaching.</a:t>
            </a:r>
            <a:r>
              <a:rPr lang="en-US" sz="6000" b="1" u="sng" dirty="0" err="1">
                <a:solidFill>
                  <a:srgbClr val="0070C0"/>
                </a:solidFill>
                <a:hlinkClick r:id="rId2"/>
              </a:rPr>
              <a:t>html</a:t>
            </a:r>
            <a:endParaRPr lang="en-NL" sz="60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98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Practicalities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is on the course website </a:t>
            </a:r>
            <a:r>
              <a:rPr lang="en-US" u="sng" dirty="0">
                <a:solidFill>
                  <a:srgbClr val="0070C0"/>
                </a:solidFill>
                <a:hlinkClick r:id="rId2"/>
              </a:rPr>
              <a:t>https://hqahtan.github.io/teaching.html</a:t>
            </a:r>
            <a:r>
              <a:rPr lang="en-US" dirty="0"/>
              <a:t>, except:</a:t>
            </a:r>
          </a:p>
          <a:p>
            <a:pPr lvl="1"/>
            <a:r>
              <a:rPr lang="en-US" dirty="0"/>
              <a:t>Room locations (on </a:t>
            </a:r>
            <a:r>
              <a:rPr lang="en-US" dirty="0">
                <a:hlinkClick r:id="rId3"/>
              </a:rPr>
              <a:t>mytimetable.uu.nl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Announcements (in your email and on </a:t>
            </a:r>
            <a:r>
              <a:rPr lang="en-US" dirty="0">
                <a:hlinkClick r:id="rId4"/>
              </a:rPr>
              <a:t>uu.brightspace.com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Assignment hand-in (on </a:t>
            </a:r>
            <a:r>
              <a:rPr lang="en-US" dirty="0">
                <a:hlinkClick r:id="rId4"/>
              </a:rPr>
              <a:t>uu.brightspace.com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Exams (on the university digital assessment tool </a:t>
            </a:r>
            <a:r>
              <a:rPr lang="en-US" dirty="0" err="1"/>
              <a:t>Remindo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Lectures / tutorials will be in person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F96EB-D861-EB84-926E-806B31B7F1FD}"/>
              </a:ext>
            </a:extLst>
          </p:cNvPr>
          <p:cNvSpPr txBox="1"/>
          <p:nvPr/>
        </p:nvSpPr>
        <p:spPr>
          <a:xfrm>
            <a:off x="838200" y="485741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🚧 materials on the website are constantly under construction 🏗️</a:t>
            </a:r>
            <a:endParaRPr lang="en-NL" sz="2800" b="1" dirty="0"/>
          </a:p>
        </p:txBody>
      </p:sp>
    </p:spTree>
    <p:extLst>
      <p:ext uri="{BB962C8B-B14F-4D97-AF65-F5344CB8AC3E}">
        <p14:creationId xmlns:p14="http://schemas.microsoft.com/office/powerpoint/2010/main" val="2222899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flow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24" y="182960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a mandatory course. </a:t>
            </a:r>
          </a:p>
          <a:p>
            <a:r>
              <a:rPr lang="en-US" dirty="0"/>
              <a:t>Every* week you will: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sz="2800" dirty="0"/>
              <a:t>📃Read the required readings </a:t>
            </a:r>
          </a:p>
          <a:p>
            <a:pPr marL="457200" lvl="1" indent="0">
              <a:buNone/>
            </a:pPr>
            <a:r>
              <a:rPr lang="en-US" sz="2800" dirty="0"/>
              <a:t>👩‍🏫Attend the lectures: Tuesday, Thursday</a:t>
            </a:r>
          </a:p>
          <a:p>
            <a:pPr marL="457200" lvl="1" indent="0">
              <a:buNone/>
            </a:pPr>
            <a:r>
              <a:rPr lang="en-US" sz="2800" dirty="0"/>
              <a:t>💻Attend and work on the hands-on tutorials: Thursday</a:t>
            </a:r>
          </a:p>
          <a:p>
            <a:pPr marL="457200" lvl="1" indent="0">
              <a:buNone/>
            </a:pPr>
            <a:r>
              <a:rPr lang="en-US" sz="2800" dirty="0"/>
              <a:t>🧑‍🤝‍🧑Work on the group and the individual assignments </a:t>
            </a:r>
          </a:p>
          <a:p>
            <a:pPr marL="457200" lvl="1" indent="0">
              <a:buNone/>
            </a:pPr>
            <a:r>
              <a:rPr lang="en-US" sz="2800" dirty="0"/>
              <a:t>🍸Review materials diligently for the midterm and final exams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 some weeks contain other stuff like exams and study time</a:t>
            </a:r>
          </a:p>
        </p:txBody>
      </p:sp>
    </p:spTree>
    <p:extLst>
      <p:ext uri="{BB962C8B-B14F-4D97-AF65-F5344CB8AC3E}">
        <p14:creationId xmlns:p14="http://schemas.microsoft.com/office/powerpoint/2010/main" val="418776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&amp; readings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course website contains a full schedule with required readings</a:t>
            </a:r>
          </a:p>
          <a:p>
            <a:pPr marL="0" indent="0" algn="ctr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3200" dirty="0"/>
              <a:t>Reading materials can be found online for free!🕵️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(you are resourceful students)</a:t>
            </a: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45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Lectures: Prepare for next lecture!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Look up reading materials in course website</a:t>
            </a:r>
          </a:p>
          <a:p>
            <a:pPr marL="514350" indent="-514350">
              <a:buAutoNum type="arabicPeriod"/>
            </a:pPr>
            <a:r>
              <a:rPr lang="en-US" sz="3200" dirty="0"/>
              <a:t>Look up time and location for the lecture</a:t>
            </a:r>
            <a:endParaRPr lang="en-US" sz="28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92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Hands-on tutorials with practical exercises</a:t>
            </a:r>
          </a:p>
          <a:p>
            <a:r>
              <a:rPr lang="en-US" sz="3200" dirty="0"/>
              <a:t>Put into practice what you learnt in the lectures</a:t>
            </a:r>
          </a:p>
          <a:p>
            <a:r>
              <a:rPr lang="en-US" sz="3200" dirty="0"/>
              <a:t>We incorporate real-world data and use-cases: APPLIED data science!</a:t>
            </a:r>
          </a:p>
          <a:p>
            <a:r>
              <a:rPr lang="en-US" sz="3200" dirty="0"/>
              <a:t>One session per week with practical exercises from the theoretical lectures</a:t>
            </a:r>
          </a:p>
          <a:p>
            <a:r>
              <a:rPr lang="en-US" sz="3200" b="1" dirty="0"/>
              <a:t>The teaching assistant is your main point of contact for questions!</a:t>
            </a:r>
          </a:p>
          <a:p>
            <a:r>
              <a:rPr lang="en-US" sz="3200" dirty="0"/>
              <a:t>Tutorials provide skills needed to do the assignments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516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Every two weeks </a:t>
            </a:r>
          </a:p>
          <a:p>
            <a:pPr lvl="1"/>
            <a:r>
              <a:rPr lang="en-US" dirty="0"/>
              <a:t>Assignments are already available on the course website</a:t>
            </a:r>
          </a:p>
          <a:p>
            <a:pPr lvl="1"/>
            <a:r>
              <a:rPr lang="en-US" dirty="0"/>
              <a:t>deadlines on: weeks 3 and 7 for Group assignments and weeks 5 and 9 for individual assignments</a:t>
            </a:r>
          </a:p>
          <a:p>
            <a:r>
              <a:rPr lang="en-US" sz="3200" dirty="0"/>
              <a:t>Hand in on Brightspace</a:t>
            </a:r>
          </a:p>
          <a:p>
            <a:r>
              <a:rPr lang="en-US" sz="3200" dirty="0"/>
              <a:t>Group work!</a:t>
            </a:r>
          </a:p>
          <a:p>
            <a:pPr lvl="1"/>
            <a:r>
              <a:rPr lang="en-US" dirty="0"/>
              <a:t>You can assign yourself in a group starting from Friday (tomorrow) until Wednesday next week.</a:t>
            </a:r>
          </a:p>
          <a:p>
            <a:r>
              <a:rPr lang="en-US" sz="3200" b="1" dirty="0"/>
              <a:t>Plan ahead</a:t>
            </a:r>
          </a:p>
          <a:p>
            <a:pPr marL="0" indent="0">
              <a:buNone/>
            </a:pP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264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A8EA-5EA8-0A16-0B09-26D3ECF7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Assignments: prepare!</a:t>
            </a:r>
            <a:endParaRPr lang="en-NL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5221-78E5-346A-A42E-491C851C6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3200" dirty="0"/>
              <a:t>When is the deadline of the first assignment? 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Check the course website</a:t>
            </a:r>
          </a:p>
          <a:p>
            <a:pPr marL="514350" indent="-514350">
              <a:buAutoNum type="arabicPeriod"/>
            </a:pPr>
            <a:r>
              <a:rPr lang="en-US" sz="3200" dirty="0"/>
              <a:t>Quickly check the content of the first assignment</a:t>
            </a:r>
          </a:p>
          <a:p>
            <a:pPr marL="514350" indent="-514350">
              <a:buAutoNum type="arabicPeriod"/>
            </a:pPr>
            <a:r>
              <a:rPr lang="en-US" sz="3200" dirty="0"/>
              <a:t>Log in to Brightspace and find the INFOMDWR course</a:t>
            </a:r>
          </a:p>
          <a:p>
            <a:pPr marL="514350" indent="-514350">
              <a:buAutoNum type="arabicPeriod"/>
            </a:pPr>
            <a:r>
              <a:rPr lang="en-US" sz="3200" dirty="0"/>
              <a:t>If we were organized coordinators: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Find the group sign-up page there to see how you can sign up</a:t>
            </a:r>
          </a:p>
          <a:p>
            <a:pPr marL="971550" lvl="1" indent="-514350">
              <a:buAutoNum type="arabicPeriod"/>
            </a:pPr>
            <a:r>
              <a:rPr lang="en-US" sz="2800" dirty="0"/>
              <a:t>Find the assignment hand-in page to see how you can submit</a:t>
            </a:r>
          </a:p>
          <a:p>
            <a:pPr marL="514350" indent="-514350">
              <a:buAutoNum type="arabicPeriod"/>
            </a:pP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we are disorganized coordinators, don’t worry, it’ll be there soon 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514350" indent="-514350">
              <a:buAutoNum type="arabicPeriod"/>
            </a:pPr>
            <a:endParaRPr lang="en-US" sz="3200" dirty="0"/>
          </a:p>
          <a:p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67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Announcements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02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739A89-BBFD-FEAA-C71D-1146E539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58E3-C238-03A7-F056-EE174530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44" y="396257"/>
            <a:ext cx="10515600" cy="339989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Join the Teams channel for communication with the ADS admin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59765-39DC-03F0-8A6A-632303B3C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93" y="3055174"/>
            <a:ext cx="3030702" cy="28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86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ipart Transparent Animated Cartoon Animation Professor - Professor  Animation - Free Transparent PNG Download - PNGkey">
            <a:extLst>
              <a:ext uri="{FF2B5EF4-FFF2-40B4-BE49-F238E27FC236}">
                <a16:creationId xmlns:a16="http://schemas.microsoft.com/office/drawing/2014/main" id="{918A5970-DF7B-C795-4EC5-880814FDE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1" r="25258"/>
          <a:stretch/>
        </p:blipFill>
        <p:spPr bwMode="auto">
          <a:xfrm>
            <a:off x="10503913" y="3609879"/>
            <a:ext cx="1688087" cy="265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 OAC is looking for Student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135533" cy="4351338"/>
          </a:xfrm>
        </p:spPr>
        <p:txBody>
          <a:bodyPr>
            <a:normAutofit/>
          </a:bodyPr>
          <a:lstStyle/>
          <a:p>
            <a:r>
              <a:rPr lang="en-US" sz="2800" dirty="0"/>
              <a:t>ADS Education Advisory Committee (OAC) is looking for three student members</a:t>
            </a:r>
          </a:p>
          <a:p>
            <a:pPr lvl="1"/>
            <a:r>
              <a:rPr lang="en-US" dirty="0"/>
              <a:t>One member (vice-chair) will be a member of GSNS OC</a:t>
            </a:r>
          </a:p>
          <a:p>
            <a:r>
              <a:rPr lang="en-US" sz="2800" dirty="0"/>
              <a:t>OAC is composed of equal number of staff and student members.</a:t>
            </a:r>
          </a:p>
          <a:p>
            <a:endParaRPr lang="en-US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A8EFE53-4D29-5259-2ACF-03EB5D04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000" y="3246783"/>
            <a:ext cx="2249591" cy="343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emale professor | Public domain vectors">
            <a:extLst>
              <a:ext uri="{FF2B5EF4-FFF2-40B4-BE49-F238E27FC236}">
                <a16:creationId xmlns:a16="http://schemas.microsoft.com/office/drawing/2014/main" id="{A72BDC9E-FDD8-237B-8AD4-E8DD86AEC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00" y="3715395"/>
            <a:ext cx="1154641" cy="255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artoon of a child&#10;&#10;Description automatically generated">
            <a:extLst>
              <a:ext uri="{FF2B5EF4-FFF2-40B4-BE49-F238E27FC236}">
                <a16:creationId xmlns:a16="http://schemas.microsoft.com/office/drawing/2014/main" id="{192228FC-55C2-C366-893C-4D30E57070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0" y="4100518"/>
            <a:ext cx="1783723" cy="1783723"/>
          </a:xfrm>
          <a:prstGeom prst="rect">
            <a:avLst/>
          </a:prstGeom>
        </p:spPr>
      </p:pic>
      <p:pic>
        <p:nvPicPr>
          <p:cNvPr id="10" name="Picture 9" descr="A cartoon of a person holding a gift&#10;&#10;Description automatically generated">
            <a:extLst>
              <a:ext uri="{FF2B5EF4-FFF2-40B4-BE49-F238E27FC236}">
                <a16:creationId xmlns:a16="http://schemas.microsoft.com/office/drawing/2014/main" id="{8020F35A-BB89-B1E1-35FF-118AD04299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376" y="4100518"/>
            <a:ext cx="1783723" cy="1783723"/>
          </a:xfrm>
          <a:prstGeom prst="rect">
            <a:avLst/>
          </a:prstGeom>
        </p:spPr>
      </p:pic>
      <p:pic>
        <p:nvPicPr>
          <p:cNvPr id="12" name="Picture 11" descr="A cartoon of a person&#10;&#10;Description automatically generated">
            <a:extLst>
              <a:ext uri="{FF2B5EF4-FFF2-40B4-BE49-F238E27FC236}">
                <a16:creationId xmlns:a16="http://schemas.microsoft.com/office/drawing/2014/main" id="{045D7C29-42C5-F4C8-BE1A-5DC44018D2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326" y="4100517"/>
            <a:ext cx="1783723" cy="178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17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you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1915" cy="4351338"/>
          </a:xfrm>
        </p:spPr>
        <p:txBody>
          <a:bodyPr>
            <a:normAutofit/>
          </a:bodyPr>
          <a:lstStyle/>
          <a:p>
            <a:r>
              <a:rPr lang="en-US" sz="3200" dirty="0"/>
              <a:t>You will: </a:t>
            </a:r>
          </a:p>
          <a:p>
            <a:pPr lvl="1"/>
            <a:r>
              <a:rPr lang="en-US" sz="2800" dirty="0"/>
              <a:t>Review the Caracal evaluations </a:t>
            </a:r>
          </a:p>
          <a:p>
            <a:pPr lvl="1"/>
            <a:r>
              <a:rPr lang="en-US" sz="2800" dirty="0"/>
              <a:t>Comment and give suggestions on the GSNS OER (Education and Examination Rules) and program-wise (ADS) OER Annex </a:t>
            </a:r>
          </a:p>
          <a:p>
            <a:pPr lvl="1"/>
            <a:r>
              <a:rPr lang="en-US" sz="2800" dirty="0"/>
              <a:t>Help in solving other education quality-related issues</a:t>
            </a:r>
            <a:endParaRPr lang="en-US" sz="3200" dirty="0"/>
          </a:p>
          <a:p>
            <a:r>
              <a:rPr lang="en-US" sz="3200" dirty="0"/>
              <a:t>Expected time dedication </a:t>
            </a:r>
          </a:p>
          <a:p>
            <a:pPr lvl="1"/>
            <a:r>
              <a:rPr lang="en-US" sz="2800" dirty="0"/>
              <a:t>Weekly average: 2 hours for OAC members, 4 hours for vice-chair (also member of GSNS-OC)</a:t>
            </a:r>
          </a:p>
          <a:p>
            <a:pPr lvl="1"/>
            <a:r>
              <a:rPr lang="en-US" sz="2800" dirty="0"/>
              <a:t>You will be compensated for the time you spent</a:t>
            </a:r>
          </a:p>
        </p:txBody>
      </p:sp>
      <p:pic>
        <p:nvPicPr>
          <p:cNvPr id="1028" name="Picture 4" descr="Free Images : audit, evaluation, verification, business, report, document,  data, review, assessment, financial, businessman, researching, analysis,  research, inspection, magnifying, info, paperwork, cartoon, auditor,  auditing, accounting, magnifier ...">
            <a:extLst>
              <a:ext uri="{FF2B5EF4-FFF2-40B4-BE49-F238E27FC236}">
                <a16:creationId xmlns:a16="http://schemas.microsoft.com/office/drawing/2014/main" id="{52F96C7F-41A4-9779-CA3A-8C3A31F82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998" y="1570425"/>
            <a:ext cx="1621973" cy="109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ck on a building&#10;&#10;Description automatically generated">
            <a:extLst>
              <a:ext uri="{FF2B5EF4-FFF2-40B4-BE49-F238E27FC236}">
                <a16:creationId xmlns:a16="http://schemas.microsoft.com/office/drawing/2014/main" id="{84F13EB2-53FB-E39C-CD15-1BE4CD56D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0" r="13641"/>
          <a:stretch/>
        </p:blipFill>
        <p:spPr>
          <a:xfrm>
            <a:off x="9874551" y="5200668"/>
            <a:ext cx="1186544" cy="111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13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2F9F-A6EC-2430-7403-066B67E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apply?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C567A-B3F3-F638-AADB-77449829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265487" cy="3118908"/>
          </a:xfrm>
        </p:spPr>
        <p:txBody>
          <a:bodyPr>
            <a:normAutofit/>
          </a:bodyPr>
          <a:lstStyle/>
          <a:p>
            <a:r>
              <a:rPr lang="en-US" sz="2800" dirty="0"/>
              <a:t>Interested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76839-9B76-B8BD-0659-5C1EAB219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045" y="3989795"/>
            <a:ext cx="3022600" cy="2369718"/>
          </a:xfrm>
          <a:prstGeom prst="rect">
            <a:avLst/>
          </a:prstGeom>
        </p:spPr>
      </p:pic>
      <p:pic>
        <p:nvPicPr>
          <p:cNvPr id="3076" name="Picture 4" descr="CV Examples: 380+ Curriculum Vitae Samples [Free Download]">
            <a:extLst>
              <a:ext uri="{FF2B5EF4-FFF2-40B4-BE49-F238E27FC236}">
                <a16:creationId xmlns:a16="http://schemas.microsoft.com/office/drawing/2014/main" id="{3E4DBFB9-E59D-5103-1194-9B7602828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83"/>
          <a:stretch/>
        </p:blipFill>
        <p:spPr bwMode="auto">
          <a:xfrm>
            <a:off x="8816888" y="271054"/>
            <a:ext cx="1843556" cy="304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Add with solid fill">
            <a:extLst>
              <a:ext uri="{FF2B5EF4-FFF2-40B4-BE49-F238E27FC236}">
                <a16:creationId xmlns:a16="http://schemas.microsoft.com/office/drawing/2014/main" id="{92702696-44FF-6342-ABFB-CFEC1C26F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7320" y="1364675"/>
            <a:ext cx="914400" cy="914400"/>
          </a:xfrm>
          <a:prstGeom prst="rect">
            <a:avLst/>
          </a:prstGeom>
        </p:spPr>
      </p:pic>
      <p:pic>
        <p:nvPicPr>
          <p:cNvPr id="3078" name="Picture 6" descr="The theory of motivation. On this occasion I want to write about… | by  Esteban Spina | Globant | Medium">
            <a:extLst>
              <a:ext uri="{FF2B5EF4-FFF2-40B4-BE49-F238E27FC236}">
                <a16:creationId xmlns:a16="http://schemas.microsoft.com/office/drawing/2014/main" id="{6D52A94C-060A-3776-4FB1-06178E5BC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966" y="704778"/>
            <a:ext cx="3265487" cy="21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ine 14">
            <a:extLst>
              <a:ext uri="{FF2B5EF4-FFF2-40B4-BE49-F238E27FC236}">
                <a16:creationId xmlns:a16="http://schemas.microsoft.com/office/drawing/2014/main" id="{CE9E83E0-5C9B-28C7-193C-C4D8A1C73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6060" y="2881098"/>
            <a:ext cx="22633" cy="113308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14">
            <a:extLst>
              <a:ext uri="{FF2B5EF4-FFF2-40B4-BE49-F238E27FC236}">
                <a16:creationId xmlns:a16="http://schemas.microsoft.com/office/drawing/2014/main" id="{85FA6559-DE3D-AFA3-3DF2-7B1C6D23C8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72645" y="2881098"/>
            <a:ext cx="2144243" cy="1325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BBEDC-285C-7C71-B3F7-748E9C78944F}"/>
              </a:ext>
            </a:extLst>
          </p:cNvPr>
          <p:cNvSpPr txBox="1"/>
          <p:nvPr/>
        </p:nvSpPr>
        <p:spPr>
          <a:xfrm>
            <a:off x="7060558" y="4855150"/>
            <a:ext cx="48435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Angelos </a:t>
            </a:r>
            <a:r>
              <a:rPr lang="en-US" sz="3200" b="1" dirty="0" err="1"/>
              <a:t>Chatzimparmpas</a:t>
            </a:r>
            <a:endParaRPr lang="en-US" sz="3200" b="1" dirty="0"/>
          </a:p>
          <a:p>
            <a:r>
              <a:rPr lang="en-US" sz="3200" b="1" dirty="0" err="1"/>
              <a:t>a.chatzimparmpas@uu.nl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2929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Pizza Margherita | Ingrediente: sos, mozzarella, condimente.… | Pizza  Masetti Craiova | Flickr">
            <a:extLst>
              <a:ext uri="{FF2B5EF4-FFF2-40B4-BE49-F238E27FC236}">
                <a16:creationId xmlns:a16="http://schemas.microsoft.com/office/drawing/2014/main" id="{A9A0BCEA-2F3B-7586-528D-793FCE4D5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3" r="26637"/>
          <a:stretch>
            <a:fillRect/>
          </a:stretch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oard Games 2 | * Infernal Contraption * Smallworld * Scrabb… | Flickr">
            <a:extLst>
              <a:ext uri="{FF2B5EF4-FFF2-40B4-BE49-F238E27FC236}">
                <a16:creationId xmlns:a16="http://schemas.microsoft.com/office/drawing/2014/main" id="{3420811A-8EBF-B2FA-CF71-AE7E73E4A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5" r="-2" b="-2"/>
          <a:stretch>
            <a:fillRect/>
          </a:stretch>
        </p:blipFill>
        <p:spPr bwMode="auto"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roup of People Doing Cheers · Free Stock Photo">
            <a:extLst>
              <a:ext uri="{FF2B5EF4-FFF2-40B4-BE49-F238E27FC236}">
                <a16:creationId xmlns:a16="http://schemas.microsoft.com/office/drawing/2014/main" id="{48355C4D-5278-A647-F531-3178D3F9D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43" b="1"/>
          <a:stretch>
            <a:fillRect/>
          </a:stretch>
        </p:blipFill>
        <p:spPr bwMode="auto"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A1A99-E408-DA75-5693-03BCD5BC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Cooper Black" panose="0208090404030B020404" pitchFamily="18" charset="77"/>
              </a:rPr>
              <a:t>ADS SOCIAL EVENT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F6F47-2E1D-F622-1AE4-C8E4C8386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47" y="1928727"/>
            <a:ext cx="3432705" cy="3922776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LOCATION: </a:t>
            </a:r>
            <a:r>
              <a:rPr lang="en-US" sz="17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Playground</a:t>
            </a:r>
            <a:endParaRPr lang="en-US" sz="1700" dirty="0"/>
          </a:p>
          <a:p>
            <a:r>
              <a:rPr lang="en-US" sz="1700" dirty="0"/>
              <a:t>DATE: THURSDAY SEPTEMBER 17</a:t>
            </a:r>
          </a:p>
          <a:p>
            <a:r>
              <a:rPr lang="en-US" sz="1700" dirty="0"/>
              <a:t>TIME: 17:00 - 20:00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Come by for a drink and a piece of Pizza, chat with your peers, instructors and play some board games</a:t>
            </a:r>
          </a:p>
          <a:p>
            <a:endParaRPr lang="en-US" sz="17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170C7F-C661-20FB-7574-85B13E10B7A5}"/>
              </a:ext>
            </a:extLst>
          </p:cNvPr>
          <p:cNvCxnSpPr/>
          <p:nvPr/>
        </p:nvCxnSpPr>
        <p:spPr>
          <a:xfrm>
            <a:off x="0" y="4029530"/>
            <a:ext cx="3808654" cy="0"/>
          </a:xfrm>
          <a:prstGeom prst="line">
            <a:avLst/>
          </a:prstGeom>
          <a:ln w="6350"/>
          <a:scene3d>
            <a:camera prst="obliqueBottom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9F59AE-52FA-5A84-76D3-D844A5D8ADE5}"/>
              </a:ext>
            </a:extLst>
          </p:cNvPr>
          <p:cNvCxnSpPr/>
          <p:nvPr/>
        </p:nvCxnSpPr>
        <p:spPr>
          <a:xfrm>
            <a:off x="-12855" y="2099739"/>
            <a:ext cx="3808654" cy="0"/>
          </a:xfrm>
          <a:prstGeom prst="line">
            <a:avLst/>
          </a:prstGeom>
          <a:ln w="6350"/>
          <a:scene3d>
            <a:camera prst="obliqueBottom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1E532B14-7F4A-9532-3E79-19024BC71E28}"/>
              </a:ext>
            </a:extLst>
          </p:cNvPr>
          <p:cNvSpPr txBox="1">
            <a:spLocks/>
          </p:cNvSpPr>
          <p:nvPr/>
        </p:nvSpPr>
        <p:spPr>
          <a:xfrm>
            <a:off x="-12855" y="5758598"/>
            <a:ext cx="4483878" cy="52783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Volunteers are needed</a:t>
            </a:r>
          </a:p>
        </p:txBody>
      </p:sp>
    </p:spTree>
    <p:extLst>
      <p:ext uri="{BB962C8B-B14F-4D97-AF65-F5344CB8AC3E}">
        <p14:creationId xmlns:p14="http://schemas.microsoft.com/office/powerpoint/2010/main" val="2520987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questions?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79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7C8E-23D9-4402-4F64-EEB775B8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you in the tutorial session 👋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session is optional!</a:t>
            </a:r>
            <a:endParaRPr lang="en-NL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641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|11.2|1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73D4E-B70B-4136-B747-E79AAA180FB8}">
  <ds:schemaRefs>
    <ds:schemaRef ds:uri="http://schemas.microsoft.com/office/infopath/2007/PartnerControls"/>
    <ds:schemaRef ds:uri="5032e021-b0cf-43e6-828a-5b682824f23c"/>
    <ds:schemaRef ds:uri="http://schemas.microsoft.com/office/2006/metadata/properties"/>
    <ds:schemaRef ds:uri="http://purl.org/dc/elements/1.1/"/>
    <ds:schemaRef ds:uri="http://schemas.microsoft.com/office/2006/documentManagement/types"/>
    <ds:schemaRef ds:uri="ef284efa-1316-4307-b1a8-b157427e4237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2217</TotalTime>
  <Words>965</Words>
  <Application>Microsoft Macintosh PowerPoint</Application>
  <PresentationFormat>Widescreen</PresentationFormat>
  <Paragraphs>220</Paragraphs>
  <Slides>33</Slides>
  <Notes>1</Notes>
  <HiddenSlides>5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Cooper Black</vt:lpstr>
      <vt:lpstr>Verdana</vt:lpstr>
      <vt:lpstr>Wingdings</vt:lpstr>
      <vt:lpstr>Calibri Light</vt:lpstr>
      <vt:lpstr>Times New Roman</vt:lpstr>
      <vt:lpstr>Calibri</vt:lpstr>
      <vt:lpstr>Arial</vt:lpstr>
      <vt:lpstr>Copperplate Gothic Bold</vt:lpstr>
      <vt:lpstr>Office Theme</vt:lpstr>
      <vt:lpstr>Clip</vt:lpstr>
      <vt:lpstr>PowerPoint Presentation</vt:lpstr>
      <vt:lpstr>Today</vt:lpstr>
      <vt:lpstr>Who are we?</vt:lpstr>
      <vt:lpstr>The Teaching team</vt:lpstr>
      <vt:lpstr>Course introduction</vt:lpstr>
      <vt:lpstr>Extracting value from data</vt:lpstr>
      <vt:lpstr>KDD process</vt:lpstr>
      <vt:lpstr>PowerPoint Presentation</vt:lpstr>
      <vt:lpstr>Data quality issues</vt:lpstr>
      <vt:lpstr>Data preparation</vt:lpstr>
      <vt:lpstr>PowerPoint Presentation</vt:lpstr>
      <vt:lpstr>Data Wrangling</vt:lpstr>
      <vt:lpstr>Additional Topics</vt:lpstr>
      <vt:lpstr>This course is not</vt:lpstr>
      <vt:lpstr>https://app.wooclap.com/DW2627</vt:lpstr>
      <vt:lpstr>Break</vt:lpstr>
      <vt:lpstr>Practicalities</vt:lpstr>
      <vt:lpstr>https://hqahtan.github.io/teaching.html</vt:lpstr>
      <vt:lpstr>Practicalities</vt:lpstr>
      <vt:lpstr>Course flow</vt:lpstr>
      <vt:lpstr>Schedule &amp; readings</vt:lpstr>
      <vt:lpstr>Lectures: Prepare for next lecture!</vt:lpstr>
      <vt:lpstr>Tutorials</vt:lpstr>
      <vt:lpstr>Assignments</vt:lpstr>
      <vt:lpstr>Assignments: prepare!</vt:lpstr>
      <vt:lpstr>Announcements</vt:lpstr>
      <vt:lpstr>Join the Teams channel for communication with the ADS admin</vt:lpstr>
      <vt:lpstr>ADS OAC is looking for Student Members</vt:lpstr>
      <vt:lpstr>What will you do?</vt:lpstr>
      <vt:lpstr>How to apply?</vt:lpstr>
      <vt:lpstr>ADS SOCIAL EVENT</vt:lpstr>
      <vt:lpstr>Further questions?</vt:lpstr>
      <vt:lpstr>See you in the tutorial session 👋 First session is optional!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156</cp:revision>
  <cp:lastPrinted>2026-04-14T18:11:46Z</cp:lastPrinted>
  <dcterms:created xsi:type="dcterms:W3CDTF">2020-02-17T15:53:26Z</dcterms:created>
  <dcterms:modified xsi:type="dcterms:W3CDTF">2026-04-16T15:58:34Z</dcterms:modified>
</cp:coreProperties>
</file>