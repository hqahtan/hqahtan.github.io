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7" r:id="rId3"/>
    <p:sldId id="262" r:id="rId4"/>
    <p:sldId id="265" r:id="rId5"/>
    <p:sldId id="264" r:id="rId6"/>
    <p:sldId id="318" r:id="rId7"/>
    <p:sldId id="267" r:id="rId8"/>
    <p:sldId id="319" r:id="rId9"/>
    <p:sldId id="311" r:id="rId10"/>
    <p:sldId id="312" r:id="rId11"/>
    <p:sldId id="313" r:id="rId12"/>
    <p:sldId id="315" r:id="rId13"/>
    <p:sldId id="320" r:id="rId14"/>
    <p:sldId id="321" r:id="rId15"/>
    <p:sldId id="310" r:id="rId16"/>
    <p:sldId id="324" r:id="rId17"/>
    <p:sldId id="325" r:id="rId18"/>
    <p:sldId id="316" r:id="rId19"/>
    <p:sldId id="317" r:id="rId20"/>
    <p:sldId id="287" r:id="rId21"/>
    <p:sldId id="304" r:id="rId22"/>
    <p:sldId id="306" r:id="rId23"/>
    <p:sldId id="308" r:id="rId24"/>
    <p:sldId id="30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0"/>
    <p:restoredTop sz="96327"/>
  </p:normalViewPr>
  <p:slideViewPr>
    <p:cSldViewPr snapToGrid="0" snapToObjects="1">
      <p:cViewPr varScale="1">
        <p:scale>
          <a:sx n="108" d="100"/>
          <a:sy n="108" d="100"/>
        </p:scale>
        <p:origin x="21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42636-5F1E-C74B-9AD9-56B0AD16D4C0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4E6CC-96E9-794B-9CEB-7B52389B5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0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Bouveyron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en-US" dirty="0"/>
              <a:t> 6 and 8</a:t>
            </a:r>
          </a:p>
          <a:p>
            <a:r>
              <a:rPr lang="en-US" dirty="0"/>
              <a:t>Other criteria</a:t>
            </a:r>
          </a:p>
          <a:p>
            <a:r>
              <a:rPr lang="en-US" dirty="0"/>
              <a:t>Merging </a:t>
            </a:r>
          </a:p>
          <a:p>
            <a:r>
              <a:rPr lang="en-US" dirty="0"/>
              <a:t>Other data types </a:t>
            </a:r>
          </a:p>
          <a:p>
            <a:r>
              <a:rPr lang="en-US" dirty="0"/>
              <a:t>Model-based vs. not</a:t>
            </a:r>
          </a:p>
          <a:p>
            <a:r>
              <a:rPr lang="en-US" dirty="0"/>
              <a:t>Posterior probabilities</a:t>
            </a:r>
          </a:p>
          <a:p>
            <a:r>
              <a:rPr lang="en-US" dirty="0" err="1"/>
              <a:t>Omgaan</a:t>
            </a:r>
            <a:r>
              <a:rPr lang="en-US" dirty="0"/>
              <a:t> met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12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B79A-DD3B-4B4D-AF77-2B73133D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5CDEE-00E2-B54F-B755-011790DAC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4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7E91-9088-8D4A-8482-8637FC5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BE82-E60E-A545-8D5A-2F9876BE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5B5E8-F81A-C047-B128-2D474803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2B1A-B1EF-8346-A94F-F96C84E5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B3021-07AB-9641-897D-1AEA9A55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1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D243-847C-9347-8444-EE965197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16CAC-6BCF-424F-B3D4-128D0F123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B600-7DC5-1241-B0E6-ECD519DD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7AB36-6464-5045-8B69-B9279F8A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11681-7AA9-E549-9C29-6DF811D3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8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DE14-7430-AE43-8711-ED22DEB3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95015-BEFA-674B-AB1A-FAF9EEA1B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61FFD-BBFA-B54B-BAAE-9A924CD75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D464F-8978-5A4B-AFC1-05EAF405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4F549-B971-9A4E-8EB0-DD5F0A7D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04060-E89C-9C47-B9F0-D5831CFE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7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221D-5736-4D47-ACAA-AC004883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886CC-3373-9B4A-9FA6-09C786AE1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AE172-C39E-5142-8325-D57CBE86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E1572-EFC4-9C44-8542-F88199DCE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30BAA-86CB-0E4D-BFC4-29BF3171C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BBF4E-D4B2-E44F-9984-8B14CB9B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A6669-C5D8-554F-BDD8-6A5D1A41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33B17-41DA-FC42-A0E1-EDBC5453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2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2236-6C3F-0D46-A8FE-5021BF29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FA4D0-F7E9-7A48-8AF0-A8ECE278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C3CD8-27CB-2941-8D52-3334454E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CF9D3-4914-9A41-8543-3DA5FCA1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8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F62F7-14AF-604D-A5D7-941C87CF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EF3DC-4D35-D24D-BA8B-536A4E1A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E104F-A1C1-534F-BAD3-C2A3C2B8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2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4926-F44E-9444-B5A3-C2F54033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F0C7-F3EF-F340-8063-9C6CD5CA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4CA07-2AB7-864C-90F0-BCD831E95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D0195-4AE5-C746-867E-1659A116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7F28B-5186-8846-8EE2-DCF97749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51118-0215-284C-A0F3-05CF129A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DA30-2087-AC40-92E0-8E9CF2DD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9563F4-3834-654C-8EFC-0E3721AE0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D9058-1436-CD4D-832E-C8AB52FA1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97E5-8AA9-3643-BD24-79E22721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8CC88-007E-074F-9B47-D1900541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ABE56-67A4-404C-BB6C-475EB172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8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7C5C-5FBE-8343-90DD-21CC6A93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0B387-D881-AC48-9292-5FD1CBC0D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A7CF-1715-C341-AA7F-F3701AFE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C9A7-0E07-3C4B-8672-B934975D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65FE-B24C-B447-94BE-6B4DA6CF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6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BAFE9-3C88-424B-9208-40CAA3876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5D41C-936C-4F4C-A1D2-291C85B5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141D-C17F-4A4A-8C26-09981AF8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9DF346-2DE7-E240-B733-090AEEF3B014}" type="datetimeFigureOut">
              <a:rPr lang="en-US" smtClean="0"/>
              <a:t>10/25/21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98D5E-33C9-5449-AACC-C0A9DD19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8C9E7-AA0F-4F4E-90BD-819391A6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CB9C0D-A6B7-534C-AB1C-174942733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00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028"/>
            <a:ext cx="10363200" cy="1470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5381263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208147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216" y="4406504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216" y="2906316"/>
            <a:ext cx="10363200" cy="1500188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43536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775" y="1952625"/>
            <a:ext cx="5167313" cy="4276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387" y="1952625"/>
            <a:ext cx="5167313" cy="4276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09774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035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716"/>
            <a:ext cx="5386388" cy="64055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272"/>
            <a:ext cx="5386388" cy="395049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632" y="1534716"/>
            <a:ext cx="5388769" cy="64055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632" y="2175272"/>
            <a:ext cx="5388769" cy="395049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933595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70099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969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2654"/>
            <a:ext cx="4011216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2" y="272653"/>
            <a:ext cx="681513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4703"/>
            <a:ext cx="4011216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734485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585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585" y="613172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585" y="5367337"/>
            <a:ext cx="7315200" cy="8048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88173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693887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03469" y="180975"/>
            <a:ext cx="2612231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75" y="180975"/>
            <a:ext cx="7722394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59955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DDBA41-C8E7-7B40-8498-68478A3C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860D9-7619-8C43-9C51-921157982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8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73D589CB-FBAD-7749-89B1-DD4EC8040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6775" y="180975"/>
            <a:ext cx="10448925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98EE56BC-2A60-D04B-B352-8BC60AE39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6775" y="1952625"/>
            <a:ext cx="1044892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282157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342900" algn="ctr" rtl="0" fontAlgn="base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533400" indent="-400050" algn="l" rtl="0" eaLnBrk="0" fontAlgn="base" hangingPunct="0">
        <a:spcBef>
          <a:spcPts val="2625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752475" indent="-400050" algn="l" rtl="0" eaLnBrk="0" fontAlgn="base" hangingPunct="0">
        <a:spcBef>
          <a:spcPts val="2625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971550" indent="-400050" algn="l" rtl="0" eaLnBrk="0" fontAlgn="base" hangingPunct="0">
        <a:spcBef>
          <a:spcPts val="2625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1200150" indent="-400050" algn="l" rtl="0" eaLnBrk="0" fontAlgn="base" hangingPunct="0">
        <a:spcBef>
          <a:spcPts val="2625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1419225" indent="-400050" algn="l" rtl="0" eaLnBrk="0" fontAlgn="base" hangingPunct="0">
        <a:spcBef>
          <a:spcPts val="2625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1762125" indent="-400050" algn="l" rtl="0" fontAlgn="base">
        <a:spcBef>
          <a:spcPts val="2625"/>
        </a:spcBef>
        <a:spcAft>
          <a:spcPct val="0"/>
        </a:spcAft>
        <a:buSzPct val="171000"/>
        <a:buFont typeface="Gill Sans" charset="0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2105025" indent="-400050" algn="l" rtl="0" fontAlgn="base">
        <a:spcBef>
          <a:spcPts val="2625"/>
        </a:spcBef>
        <a:spcAft>
          <a:spcPct val="0"/>
        </a:spcAft>
        <a:buSzPct val="171000"/>
        <a:buFont typeface="Gill Sans" charset="0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2447925" indent="-400050" algn="l" rtl="0" fontAlgn="base">
        <a:spcBef>
          <a:spcPts val="2625"/>
        </a:spcBef>
        <a:spcAft>
          <a:spcPct val="0"/>
        </a:spcAft>
        <a:buSzPct val="171000"/>
        <a:buFont typeface="Gill Sans" charset="0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790825" indent="-400050" algn="l" rtl="0" fontAlgn="base">
        <a:spcBef>
          <a:spcPts val="2625"/>
        </a:spcBef>
        <a:spcAft>
          <a:spcPct val="0"/>
        </a:spcAft>
        <a:buSzPct val="171000"/>
        <a:buFont typeface="Gill Sans" charset="0"/>
        <a:buChar char="•"/>
        <a:defRPr sz="27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dytextmining.com/" TargetMode="External"/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hyperlink" Target="https://r4ds.had.co.nz/strings.html#matching-patterns-with-regular-expression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xkcd.com/208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067778" y="5316032"/>
            <a:ext cx="6059598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mining #1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1:  Clustering #2: Model-based clustering</a:t>
            </a:r>
          </a:p>
          <a:p>
            <a:r>
              <a:rPr lang="en-GB" sz="3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2: Text mining #1</a:t>
            </a:r>
          </a:p>
          <a:p>
            <a:r>
              <a:rPr lang="en-GB" sz="3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3: Text mining #2</a:t>
            </a:r>
          </a:p>
          <a:p>
            <a:pPr marL="0" indent="0">
              <a:buNone/>
            </a:pPr>
            <a:endParaRPr lang="en-GB" sz="3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8767-E9ED-044D-8490-156EF5AA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 about text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C50B-2FC0-834D-8792-62016B1B5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9843" cy="4667250"/>
          </a:xfrm>
        </p:spPr>
        <p:txBody>
          <a:bodyPr>
            <a:normAutofit lnSpcReduction="10000"/>
          </a:bodyPr>
          <a:lstStyle/>
          <a:p>
            <a:r>
              <a:rPr lang="en-IE" sz="2200" dirty="0" err="1"/>
              <a:t>Jurafsky</a:t>
            </a:r>
            <a:r>
              <a:rPr lang="en-IE" sz="2200" dirty="0"/>
              <a:t> &amp; Martin (2021). </a:t>
            </a:r>
            <a:r>
              <a:rPr lang="en-IE" sz="2200" i="1" dirty="0"/>
              <a:t>Speech and language processing (3</a:t>
            </a:r>
            <a:r>
              <a:rPr lang="en-IE" sz="2200" i="1" baseline="30000" dirty="0"/>
              <a:t>rd</a:t>
            </a:r>
            <a:r>
              <a:rPr lang="en-IE" sz="2200" i="1" dirty="0"/>
              <a:t> ed draft)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2" tooltip="https://web.stanford.edu/~jurafsky/slp3/"/>
              </a:rPr>
              <a:t>https://web.stanford.edu/~jurafsky/slp3/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r>
              <a:rPr lang="en-IE" sz="1800" dirty="0"/>
              <a:t>Sections </a:t>
            </a:r>
          </a:p>
          <a:p>
            <a:pPr lvl="1"/>
            <a:r>
              <a:rPr lang="en-IE" sz="1800" dirty="0"/>
              <a:t>2.1, 2.4, (regular expressions)</a:t>
            </a:r>
          </a:p>
          <a:p>
            <a:pPr lvl="1"/>
            <a:r>
              <a:rPr lang="en-IE" sz="1800" dirty="0"/>
              <a:t>6.2, 6.3, 6.4, 6.5, 6.8</a:t>
            </a:r>
          </a:p>
          <a:p>
            <a:r>
              <a:rPr lang="en-IE" sz="2200" i="1" dirty="0" err="1"/>
              <a:t>Silge</a:t>
            </a:r>
            <a:r>
              <a:rPr lang="en-IE" sz="2200" i="1" dirty="0"/>
              <a:t> &amp; Robinson (2021). Text mining with R: A tidy approach. </a:t>
            </a:r>
            <a:r>
              <a:rPr lang="en-IE" sz="1200" u="sng" dirty="0">
                <a:latin typeface="Fira Code" panose="020B0809050000020004" pitchFamily="49" charset="0"/>
                <a:ea typeface="Fira Code" panose="020B0809050000020004" pitchFamily="49" charset="0"/>
                <a:hlinkClick r:id="rId3" tooltip="https://www.tidytextmining.com/"/>
              </a:rPr>
              <a:t>https://www.tidytextmining.com/</a:t>
            </a:r>
            <a:endParaRPr lang="en-IE" sz="12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r>
              <a:rPr lang="en-IE" sz="1800" dirty="0"/>
              <a:t>Chapter 3</a:t>
            </a:r>
          </a:p>
          <a:p>
            <a:r>
              <a:rPr lang="en-US" sz="2200" dirty="0"/>
              <a:t>More accessible (?) intro to regular expressions:</a:t>
            </a:r>
          </a:p>
          <a:p>
            <a:pPr lvl="1"/>
            <a:r>
              <a:rPr lang="en-US" sz="2200" b="1" dirty="0"/>
              <a:t>R4 data science </a:t>
            </a:r>
            <a:r>
              <a:rPr lang="en-US" sz="2200" dirty="0" err="1"/>
              <a:t>ch.</a:t>
            </a:r>
            <a:r>
              <a:rPr lang="en-US" sz="2200" dirty="0"/>
              <a:t> 14</a:t>
            </a:r>
          </a:p>
          <a:p>
            <a:pPr lvl="1"/>
            <a:r>
              <a:rPr lang="en-US" sz="1300" dirty="0">
                <a:latin typeface="Fira Code" panose="020B0809050000020004" pitchFamily="49" charset="0"/>
                <a:ea typeface="Fira Code" panose="020B0809050000020004" pitchFamily="49" charset="0"/>
                <a:hlinkClick r:id="rId4"/>
              </a:rPr>
              <a:t>https://r4ds.had.co.nz/strings.html#matching-patterns-with-regular-expressions</a:t>
            </a:r>
            <a:endParaRPr lang="en-US" sz="1300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lvl="1"/>
            <a:endParaRPr lang="en-US" dirty="0"/>
          </a:p>
        </p:txBody>
      </p:sp>
      <p:pic>
        <p:nvPicPr>
          <p:cNvPr id="1026" name="Picture 2" descr="Buy from Amazon">
            <a:extLst>
              <a:ext uri="{FF2B5EF4-FFF2-40B4-BE49-F238E27FC236}">
                <a16:creationId xmlns:a16="http://schemas.microsoft.com/office/drawing/2014/main" id="{8F52A10F-F298-1746-8AF1-CAAF74FA7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293" y="2324100"/>
            <a:ext cx="3449707" cy="453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Speech and Language Processing (2-Download) eBook : Daniel,  Jurafsky, Martin James H., Norvig Peter, Russell Stuart: Libros">
            <a:extLst>
              <a:ext uri="{FF2B5EF4-FFF2-40B4-BE49-F238E27FC236}">
                <a16:creationId xmlns:a16="http://schemas.microsoft.com/office/drawing/2014/main" id="{B8F29F51-3BC1-E745-A0D3-2DDFAA3F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462" y="2324100"/>
            <a:ext cx="3387831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BD9DAC-1D38-2C40-9D3F-8AC93A9789CE}"/>
              </a:ext>
            </a:extLst>
          </p:cNvPr>
          <p:cNvSpPr txBox="1"/>
          <p:nvPr/>
        </p:nvSpPr>
        <p:spPr>
          <a:xfrm>
            <a:off x="6866115" y="6123543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solidFill>
                  <a:srgbClr val="FF0000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69319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D293-5F55-5741-ACBF-B869FC41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learn text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85F1-D16F-DE44-B657-1D701AB83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b="1" dirty="0"/>
              <a:t>Text data is everywhere:</a:t>
            </a:r>
          </a:p>
          <a:p>
            <a:r>
              <a:rPr lang="en-IE" dirty="0"/>
              <a:t>websites (e.g., news), social media (e.g., twitter), databases (e.g., doctors’ notes), digital scans of printed materials, …</a:t>
            </a:r>
          </a:p>
          <a:p>
            <a:r>
              <a:rPr lang="en-IE" dirty="0"/>
              <a:t>Applications in industry: search, machine translation, sentiment analysis, question answering, …</a:t>
            </a:r>
          </a:p>
          <a:p>
            <a:r>
              <a:rPr lang="en-IE" dirty="0"/>
              <a:t>Applications in science: cognitive modelling, understanding bias in language, automated systematic literature reviews, …</a:t>
            </a:r>
          </a:p>
        </p:txBody>
      </p:sp>
    </p:spTree>
    <p:extLst>
      <p:ext uri="{BB962C8B-B14F-4D97-AF65-F5344CB8AC3E}">
        <p14:creationId xmlns:p14="http://schemas.microsoft.com/office/powerpoint/2010/main" val="824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CF1E-0883-F040-8329-12ACEBB7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DB74E-1848-794C-A972-FBDD57E9A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124141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>
            <a:extLst>
              <a:ext uri="{FF2B5EF4-FFF2-40B4-BE49-F238E27FC236}">
                <a16:creationId xmlns:a16="http://schemas.microsoft.com/office/drawing/2014/main" id="{C3B4BEFF-4447-2341-ABBB-1870AEDEB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84535"/>
            <a:ext cx="6600825" cy="667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Rectangle 2">
            <a:extLst>
              <a:ext uri="{FF2B5EF4-FFF2-40B4-BE49-F238E27FC236}">
                <a16:creationId xmlns:a16="http://schemas.microsoft.com/office/drawing/2014/main" id="{1C552601-B20F-8942-B504-B22897DD6021}"/>
              </a:ext>
            </a:extLst>
          </p:cNvPr>
          <p:cNvSpPr>
            <a:spLocks/>
          </p:cNvSpPr>
          <p:nvPr/>
        </p:nvSpPr>
        <p:spPr bwMode="auto">
          <a:xfrm>
            <a:off x="8296276" y="5762410"/>
            <a:ext cx="3076163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/>
            <a:r>
              <a:rPr lang="en-US" altLang="en-US" sz="2850">
                <a:solidFill>
                  <a:srgbClr val="FFFF00"/>
                </a:solidFill>
                <a:ea typeface="ＭＳ Ｐゴシック" panose="020B0600070205080204" pitchFamily="34" charset="-128"/>
                <a:hlinkClick r:id="rId3"/>
              </a:rPr>
              <a:t>http://xkcd.com/208/</a:t>
            </a:r>
            <a:endParaRPr lang="en-US" altLang="en-US" sz="2850">
              <a:solidFill>
                <a:srgbClr val="FFFF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6FAD-C453-1C4F-8EDE-FA872D8B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</a:t>
            </a:r>
            <a:r>
              <a:rPr lang="en-US" sz="3000" b="0" dirty="0"/>
              <a:t>(regex)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34158-27CA-CE4C-90AB-F33D4E65F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Powerful and very very useful tool for text (pre)processing</a:t>
            </a:r>
          </a:p>
          <a:p>
            <a:r>
              <a:rPr lang="en-US" dirty="0"/>
              <a:t>Used in pretty much every pipeline involving text</a:t>
            </a:r>
          </a:p>
          <a:p>
            <a:r>
              <a:rPr lang="en-US" dirty="0"/>
              <a:t>Typical applications:</a:t>
            </a:r>
          </a:p>
          <a:p>
            <a:pPr lvl="1"/>
            <a:r>
              <a:rPr lang="en-US" dirty="0"/>
              <a:t>Extracting numbers, emails, IP-addresses, etc. </a:t>
            </a:r>
          </a:p>
          <a:p>
            <a:pPr lvl="1"/>
            <a:r>
              <a:rPr lang="en-US" dirty="0"/>
              <a:t>Validating text inputs in GUIs</a:t>
            </a:r>
          </a:p>
          <a:p>
            <a:pPr lvl="1"/>
            <a:r>
              <a:rPr lang="en-US" dirty="0"/>
              <a:t>Reformatting annoying incorrect dates (everything not </a:t>
            </a:r>
            <a:r>
              <a:rPr lang="en-US" dirty="0" err="1">
                <a:latin typeface="Fira Code" panose="020B0809050000020004" pitchFamily="49" charset="0"/>
                <a:ea typeface="Fira Code" panose="020B0809050000020004" pitchFamily="49" charset="0"/>
              </a:rPr>
              <a:t>yyyy</a:t>
            </a:r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-mm-dd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Scrubbing names and addresses for </a:t>
            </a:r>
            <a:r>
              <a:rPr lang="en-US" dirty="0" err="1"/>
              <a:t>pseudonimization</a:t>
            </a:r>
            <a:endParaRPr lang="en-US" dirty="0"/>
          </a:p>
          <a:p>
            <a:r>
              <a:rPr lang="en-US" dirty="0"/>
              <a:t>Powerful: e.g. J&amp;M implement (part of) ELIZA (see link) in regex!</a:t>
            </a:r>
          </a:p>
          <a:p>
            <a:r>
              <a:rPr lang="en-US" dirty="0"/>
              <a:t>Cryptic &amp; takes a </a:t>
            </a:r>
            <a:r>
              <a:rPr lang="en-US" b="1" dirty="0"/>
              <a:t>lot </a:t>
            </a:r>
            <a:r>
              <a:rPr lang="en-US" dirty="0"/>
              <a:t>of practice!</a:t>
            </a:r>
          </a:p>
        </p:txBody>
      </p:sp>
    </p:spTree>
    <p:extLst>
      <p:ext uri="{BB962C8B-B14F-4D97-AF65-F5344CB8AC3E}">
        <p14:creationId xmlns:p14="http://schemas.microsoft.com/office/powerpoint/2010/main" val="179609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238E-5B5C-7A44-83BC-7B6F6C4C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matching using </a:t>
            </a:r>
            <a:r>
              <a:rPr lang="en-US" b="0" dirty="0" err="1">
                <a:latin typeface="Fira Code" panose="020B0809050000020004" pitchFamily="49" charset="0"/>
                <a:ea typeface="Fira Code" panose="020B0809050000020004" pitchFamily="49" charset="0"/>
              </a:rPr>
              <a:t>stringr</a:t>
            </a:r>
            <a:endParaRPr lang="en-US" b="0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DC5070-F021-0D42-98C2-860136917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5531"/>
            <a:ext cx="6754180" cy="353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5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238E-5B5C-7A44-83BC-7B6F6C4C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matching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DC5070-F021-0D42-98C2-860136917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405533"/>
            <a:ext cx="6754180" cy="29962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8E2E25-53E5-794E-910C-BB6AC1209EEB}"/>
              </a:ext>
            </a:extLst>
          </p:cNvPr>
          <p:cNvSpPr txBox="1"/>
          <p:nvPr/>
        </p:nvSpPr>
        <p:spPr>
          <a:xfrm>
            <a:off x="838200" y="1690688"/>
            <a:ext cx="4169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.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matches any character</a:t>
            </a:r>
          </a:p>
        </p:txBody>
      </p:sp>
    </p:spTree>
    <p:extLst>
      <p:ext uri="{BB962C8B-B14F-4D97-AF65-F5344CB8AC3E}">
        <p14:creationId xmlns:p14="http://schemas.microsoft.com/office/powerpoint/2010/main" val="3019601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18C6-8F4D-514E-BE1F-A363A762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E6A7-77A6-9D48-84CC-C24DCA714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default, regular expressions will match any part of a string. It’s often useful to </a:t>
            </a:r>
            <a:r>
              <a:rPr lang="en-US" b="1" dirty="0"/>
              <a:t>anchor</a:t>
            </a:r>
            <a:r>
              <a:rPr lang="en-US" dirty="0"/>
              <a:t> the regular expression so that it matches from the start or end of the string. You can use:</a:t>
            </a:r>
          </a:p>
          <a:p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^</a:t>
            </a:r>
            <a:r>
              <a:rPr lang="en-US" dirty="0"/>
              <a:t> to match the start of the string.</a:t>
            </a:r>
          </a:p>
          <a:p>
            <a:r>
              <a:rPr lang="en-US" dirty="0">
                <a:latin typeface="Fira Code" panose="020B0809050000020004" pitchFamily="49" charset="0"/>
                <a:ea typeface="Fira Code" panose="020B0809050000020004" pitchFamily="49" charset="0"/>
              </a:rPr>
              <a:t>$</a:t>
            </a:r>
            <a:r>
              <a:rPr lang="en-US" dirty="0"/>
              <a:t> to match the end of the string.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6D0E8-E115-5741-BE8F-841886B9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59250"/>
            <a:ext cx="50673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53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69F2-7A66-E64E-BF63-0A39005A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AB096-BE08-A24B-B4C8-27A57A31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6312"/>
            <a:ext cx="10515600" cy="246413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Barbados is moving from a parliamentary constitutional monarchy under the hereditary monarch of Barbados (currently Queen Elizabeth II) to a parliamentary republic with a ceremonial elected president as head of state. </a:t>
            </a:r>
            <a:endParaRPr lang="en-US" dirty="0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F0A22-050C-6142-B4F9-BA3D076247C6}"/>
              </a:ext>
            </a:extLst>
          </p:cNvPr>
          <p:cNvSpPr txBox="1"/>
          <p:nvPr/>
        </p:nvSpPr>
        <p:spPr>
          <a:xfrm>
            <a:off x="838200" y="1859594"/>
            <a:ext cx="49855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Match the word “monarch”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Match all 8-letter words</a:t>
            </a:r>
          </a:p>
        </p:txBody>
      </p:sp>
    </p:spTree>
    <p:extLst>
      <p:ext uri="{BB962C8B-B14F-4D97-AF65-F5344CB8AC3E}">
        <p14:creationId xmlns:p14="http://schemas.microsoft.com/office/powerpoint/2010/main" val="312828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41E2-8951-484D-8B88-25F54DAE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297405-ACC0-3D4B-A2B3-041A66CC8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2376727"/>
              </p:ext>
            </p:extLst>
          </p:nvPr>
        </p:nvGraphicFramePr>
        <p:xfrm>
          <a:off x="838200" y="1931316"/>
          <a:ext cx="11058939" cy="3505387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1897751548"/>
                    </a:ext>
                  </a:extLst>
                </a:gridCol>
                <a:gridCol w="7782339">
                  <a:extLst>
                    <a:ext uri="{9D8B030D-6E8A-4147-A177-3AD203B41FA5}">
                      <a16:colId xmlns:a16="http://schemas.microsoft.com/office/drawing/2014/main" val="898419730"/>
                    </a:ext>
                  </a:extLst>
                </a:gridCol>
              </a:tblGrid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Regex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Matches any string that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49800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hello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{hello}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19924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gray|grey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{gray,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031135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gr(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a|e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)y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gray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97323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gr[ae]y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{gray, grey}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173156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b[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aeiou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]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bble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{babble,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bebble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bibble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bobble, bubble}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20545"/>
                  </a:ext>
                </a:extLst>
              </a:tr>
              <a:tr h="774736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[b-chm-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pP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]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at|ot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{bat, cat, hat, mat,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nat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oat, pat, Pat, 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ot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91641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colou?r</a:t>
                      </a:r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endParaRP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</a:t>
                      </a:r>
                      <a:r>
                        <a:rPr lang="en-IE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color</a:t>
                      </a:r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, colour}</a:t>
                      </a:r>
                    </a:p>
                  </a:txBody>
                  <a:tcPr marL="5182" marR="5182" marT="518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4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28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41E2-8951-484D-8B88-25F54DAE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297405-ACC0-3D4B-A2B3-041A66CC8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46774"/>
              </p:ext>
            </p:extLst>
          </p:nvPr>
        </p:nvGraphicFramePr>
        <p:xfrm>
          <a:off x="838200" y="1931316"/>
          <a:ext cx="11058939" cy="3856339"/>
        </p:xfrm>
        <a:graphic>
          <a:graphicData uri="http://schemas.openxmlformats.org/drawingml/2006/table">
            <a:tbl>
              <a:tblPr/>
              <a:tblGrid>
                <a:gridCol w="2888974">
                  <a:extLst>
                    <a:ext uri="{9D8B030D-6E8A-4147-A177-3AD203B41FA5}">
                      <a16:colId xmlns:a16="http://schemas.microsoft.com/office/drawing/2014/main" val="1897751548"/>
                    </a:ext>
                  </a:extLst>
                </a:gridCol>
                <a:gridCol w="8169965">
                  <a:extLst>
                    <a:ext uri="{9D8B030D-6E8A-4147-A177-3AD203B41FA5}">
                      <a16:colId xmlns:a16="http://schemas.microsoft.com/office/drawing/2014/main" val="898419730"/>
                    </a:ext>
                  </a:extLst>
                </a:gridCol>
              </a:tblGrid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Regex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Matches any string that</a:t>
                      </a:r>
                    </a:p>
                  </a:txBody>
                  <a:tcPr marL="5182" marR="5182" marT="518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49800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\d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{0,1,2,3,4,5,6,7,8,9}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19924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1\d{10}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an 11-digit string starting with a 1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031135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\d+(\.\d\d)?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contains a positive integer or a floating point number with exactly two characters after the decimal point.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97323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^dog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begins with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173156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dog$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ends with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20545"/>
                  </a:ext>
                </a:extLst>
              </a:tr>
              <a:tr h="774736"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a:t>^dog$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 exactly "dog"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916419"/>
                  </a:ext>
                </a:extLst>
              </a:tr>
              <a:tr h="390093">
                <a:tc>
                  <a:txBody>
                    <a:bodyPr/>
                    <a:lstStyle/>
                    <a:p>
                      <a:pPr algn="l" fontAlgn="b"/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E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840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84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>
            <a:extLst>
              <a:ext uri="{FF2B5EF4-FFF2-40B4-BE49-F238E27FC236}">
                <a16:creationId xmlns:a16="http://schemas.microsoft.com/office/drawing/2014/main" id="{1EBC3B4B-2F67-E645-8809-0290CE8A7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Matching and Extracting Data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036D339-8609-0A42-8864-16BC61253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952625"/>
            <a:ext cx="10448925" cy="2114550"/>
          </a:xfrm>
        </p:spPr>
        <p:txBody>
          <a:bodyPr/>
          <a:lstStyle/>
          <a:p>
            <a:pPr marL="561975" eaLnBrk="1" hangingPunct="1">
              <a:buFont typeface="Gill Sans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The function </a:t>
            </a:r>
            <a:r>
              <a:rPr lang="en-US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Gill Sans" charset="0"/>
              </a:rPr>
              <a:t>str_detect</a:t>
            </a:r>
            <a:r>
              <a:rPr lang="en-US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Gill Sans" charset="0"/>
              </a:rPr>
              <a:t>() </a:t>
            </a: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returns a True/False depending on whether the string matches  the regular expression</a:t>
            </a:r>
          </a:p>
          <a:p>
            <a:pPr marL="561975" eaLnBrk="1" hangingPunct="1">
              <a:buFont typeface="Gill Sans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If we actually want the matching strings to be extracted, we use </a:t>
            </a:r>
            <a:r>
              <a:rPr lang="en-US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Gill Sans" charset="0"/>
              </a:rPr>
              <a:t>str_extract</a:t>
            </a:r>
            <a:r>
              <a:rPr lang="en-US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Gill Sans" charset="0"/>
              </a:rPr>
              <a:t>()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7C6F0EE-912A-EA4D-A2A3-3C002945F562}"/>
              </a:ext>
            </a:extLst>
          </p:cNvPr>
          <p:cNvSpPr>
            <a:spLocks/>
          </p:cNvSpPr>
          <p:nvPr/>
        </p:nvSpPr>
        <p:spPr bwMode="auto">
          <a:xfrm>
            <a:off x="4446518" y="4423320"/>
            <a:ext cx="7444346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&gt; library(</a:t>
            </a:r>
            <a:r>
              <a:rPr lang="en-US" altLang="en-US" sz="2200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stringr</a:t>
            </a: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)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&gt; s = 'My 2 favorite numbers are 19 and 42'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&gt; </a:t>
            </a:r>
            <a:r>
              <a:rPr lang="en-US" altLang="en-US" sz="2200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str_extract_all</a:t>
            </a: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(s, '[0-9]+')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[[1]]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[1] "2"  "19" "42"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8443AFC-9AF8-6443-A435-D2D6E3F5ACEE}"/>
              </a:ext>
            </a:extLst>
          </p:cNvPr>
          <p:cNvSpPr>
            <a:spLocks/>
          </p:cNvSpPr>
          <p:nvPr/>
        </p:nvSpPr>
        <p:spPr bwMode="auto">
          <a:xfrm>
            <a:off x="1295400" y="4591735"/>
            <a:ext cx="13865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4200" dirty="0">
                <a:solidFill>
                  <a:schemeClr val="bg1"/>
                </a:solidFill>
                <a:ea typeface="ＭＳ Ｐゴシック" panose="020B0600070205080204" pitchFamily="34" charset="-128"/>
              </a:rPr>
              <a:t>[0-9]+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B64AFA26-6BB9-914B-A39F-FC3ED1A9C03E}"/>
              </a:ext>
            </a:extLst>
          </p:cNvPr>
          <p:cNvSpPr>
            <a:spLocks/>
          </p:cNvSpPr>
          <p:nvPr/>
        </p:nvSpPr>
        <p:spPr bwMode="auto">
          <a:xfrm>
            <a:off x="443517" y="5788239"/>
            <a:ext cx="271818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chemeClr val="bg1"/>
                </a:solidFill>
                <a:ea typeface="ＭＳ Ｐゴシック" panose="020B0600070205080204" pitchFamily="34" charset="-128"/>
              </a:rPr>
              <a:t>One or more digits</a:t>
            </a:r>
          </a:p>
        </p:txBody>
      </p:sp>
      <p:sp>
        <p:nvSpPr>
          <p:cNvPr id="31750" name="Line 6">
            <a:extLst>
              <a:ext uri="{FF2B5EF4-FFF2-40B4-BE49-F238E27FC236}">
                <a16:creationId xmlns:a16="http://schemas.microsoft.com/office/drawing/2014/main" id="{9DFD1F5D-01E6-BF46-92F9-747292471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8660" y="5269706"/>
            <a:ext cx="60722" cy="442913"/>
          </a:xfrm>
          <a:prstGeom prst="line">
            <a:avLst/>
          </a:prstGeom>
          <a:noFill/>
          <a:ln w="76200">
            <a:solidFill>
              <a:schemeClr val="accent6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chemeClr val="bg1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5913-770A-7F4E-A283-06831A51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74"/>
            <a:ext cx="10515600" cy="1325563"/>
          </a:xfrm>
        </p:spPr>
        <p:txBody>
          <a:bodyPr/>
          <a:lstStyle/>
          <a:p>
            <a:r>
              <a:rPr lang="en-US" dirty="0"/>
              <a:t>Regular expression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2CAB-51F7-7A44-8ACB-3985F19C8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now </a:t>
            </a:r>
            <a:r>
              <a:rPr lang="en-US" i="1" dirty="0"/>
              <a:t>heard of </a:t>
            </a:r>
            <a:r>
              <a:rPr lang="en-US" dirty="0"/>
              <a:t>regular expressions</a:t>
            </a:r>
          </a:p>
          <a:p>
            <a:r>
              <a:rPr lang="en-US" dirty="0"/>
              <a:t>And might have a basic idea of what you might do with them</a:t>
            </a:r>
          </a:p>
          <a:p>
            <a:r>
              <a:rPr lang="en-US" dirty="0"/>
              <a:t>The only way to really learn, however, is </a:t>
            </a:r>
            <a:r>
              <a:rPr lang="en-US" b="1" dirty="0"/>
              <a:t>practice</a:t>
            </a:r>
          </a:p>
          <a:p>
            <a:r>
              <a:rPr lang="en-US" dirty="0"/>
              <a:t>Read the set texts (J&amp;M </a:t>
            </a:r>
            <a:r>
              <a:rPr lang="en-US" dirty="0" err="1"/>
              <a:t>ch</a:t>
            </a:r>
            <a:r>
              <a:rPr lang="en-US" dirty="0"/>
              <a:t> 2 and/or R4DS </a:t>
            </a:r>
            <a:r>
              <a:rPr lang="en-US" dirty="0" err="1"/>
              <a:t>ch</a:t>
            </a:r>
            <a:r>
              <a:rPr lang="en-US" dirty="0"/>
              <a:t> 14)</a:t>
            </a:r>
          </a:p>
          <a:p>
            <a:r>
              <a:rPr lang="en-US" dirty="0"/>
              <a:t>Next time you encounter some text you need to work on think “can I do this using regular expressions?”</a:t>
            </a:r>
          </a:p>
          <a:p>
            <a:r>
              <a:rPr lang="en-US" dirty="0"/>
              <a:t>The answer is probably “yes”.</a:t>
            </a:r>
          </a:p>
        </p:txBody>
      </p:sp>
    </p:spTree>
    <p:extLst>
      <p:ext uri="{BB962C8B-B14F-4D97-AF65-F5344CB8AC3E}">
        <p14:creationId xmlns:p14="http://schemas.microsoft.com/office/powerpoint/2010/main" val="378943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A734-DBFC-F748-A4B2-2955085E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problem: regex crossword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042B7E-54EC-D047-AD73-68C034417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29767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7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0C20-3B36-C249-A09E-A0918FA7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Character classes and alternatives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9738-6D3E-7E4E-B569-F5AE8AF8C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Special patterns that match more than one character: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\d</a:t>
            </a:r>
            <a:r>
              <a:rPr lang="en-IE" dirty="0"/>
              <a:t>: matches any digit.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\s</a:t>
            </a:r>
            <a:r>
              <a:rPr lang="en-IE" dirty="0"/>
              <a:t>: matches any whitespace (e.g. space, tab, newline).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[</a:t>
            </a:r>
            <a:r>
              <a:rPr lang="en-IE" dirty="0" err="1">
                <a:latin typeface="Fira Code" panose="020B0809050000020004" pitchFamily="49" charset="0"/>
                <a:ea typeface="Fira Code" panose="020B0809050000020004" pitchFamily="49" charset="0"/>
              </a:rPr>
              <a:t>abc</a:t>
            </a:r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]</a:t>
            </a:r>
            <a:r>
              <a:rPr lang="en-IE" dirty="0"/>
              <a:t>: matches a, b, or c.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[a-z]:</a:t>
            </a:r>
            <a:r>
              <a:rPr lang="en-IE" dirty="0"/>
              <a:t>matches lowercase a through z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[A-Z]:</a:t>
            </a:r>
            <a:r>
              <a:rPr lang="en-IE" dirty="0"/>
              <a:t>matches uppercase A through Z</a:t>
            </a:r>
          </a:p>
          <a:p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[^</a:t>
            </a:r>
            <a:r>
              <a:rPr lang="en-IE" dirty="0" err="1">
                <a:latin typeface="Fira Code" panose="020B0809050000020004" pitchFamily="49" charset="0"/>
                <a:ea typeface="Fira Code" panose="020B0809050000020004" pitchFamily="49" charset="0"/>
              </a:rPr>
              <a:t>abc</a:t>
            </a:r>
            <a:r>
              <a:rPr lang="en-IE" dirty="0">
                <a:latin typeface="Fira Code" panose="020B0809050000020004" pitchFamily="49" charset="0"/>
                <a:ea typeface="Fira Code" panose="020B0809050000020004" pitchFamily="49" charset="0"/>
              </a:rPr>
              <a:t>]</a:t>
            </a:r>
            <a:r>
              <a:rPr lang="en-IE" dirty="0"/>
              <a:t>: matches anything except a, b, or c.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(To create a regular expression containing \d or \s, you’ll need to escape the \ for the string, so you’ll type "\\d" or "\\s".)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60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EA36-2A29-F143-93FF-BFADDB93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7BFF6-A5B7-684E-AB94-30E65F51D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9F019-89FE-1242-9E4C-7376EABC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7282"/>
            <a:ext cx="7918174" cy="483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18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E271D7-2F97-2C41-B300-60D57BDBF400}"/>
              </a:ext>
            </a:extLst>
          </p:cNvPr>
          <p:cNvSpPr/>
          <p:nvPr/>
        </p:nvSpPr>
        <p:spPr>
          <a:xfrm>
            <a:off x="616226" y="1739348"/>
            <a:ext cx="1610139" cy="471114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62FF18D9-A3C7-A94A-9302-03F71CF96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475" y="180975"/>
            <a:ext cx="9925050" cy="11811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ym typeface="Gill Sans" charset="0"/>
              </a:rPr>
              <a:t>Regular Expression Quick Guide</a:t>
            </a: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2EBAC1A-D966-B84C-8A66-E757C88B363E}"/>
              </a:ext>
            </a:extLst>
          </p:cNvPr>
          <p:cNvSpPr>
            <a:spLocks/>
          </p:cNvSpPr>
          <p:nvPr/>
        </p:nvSpPr>
        <p:spPr bwMode="auto">
          <a:xfrm>
            <a:off x="766763" y="1533525"/>
            <a:ext cx="110394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^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Matches the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beginning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of a line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$ 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Matches the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end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of the line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.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 Matches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any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character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\s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Matches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whitespace</a:t>
            </a:r>
            <a:endParaRPr lang="en-US" altLang="en-US" sz="2175" dirty="0">
              <a:solidFill>
                <a:schemeClr val="tx1"/>
              </a:solidFill>
              <a:latin typeface="Monaco" pitchFamily="2" charset="77"/>
              <a:ea typeface="ＭＳ Ｐゴシック" panose="020B0600070205080204" pitchFamily="34" charset="-128"/>
              <a:sym typeface="Monaco" pitchFamily="2" charset="77"/>
            </a:endParaRP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\S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Matches any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non-whitespace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character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*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Repeats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a character zero or more times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*?  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Repeats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a character zero or more times (non-greedy)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+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Repeats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a </a:t>
            </a:r>
            <a:r>
              <a:rPr lang="en-US" altLang="en-US" sz="2175" dirty="0" err="1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chracter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one or more times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+?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Repeats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a character one or more times (non-greedy)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[</a:t>
            </a:r>
            <a:r>
              <a:rPr lang="en-US" altLang="en-US" sz="2175" dirty="0" err="1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aeiou</a:t>
            </a:r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]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Matches a single character in the listed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set</a:t>
            </a:r>
            <a:endParaRPr lang="en-US" altLang="en-US" sz="2175" dirty="0">
              <a:solidFill>
                <a:schemeClr val="tx1"/>
              </a:solidFill>
              <a:latin typeface="Monaco" pitchFamily="2" charset="77"/>
              <a:ea typeface="ＭＳ Ｐゴシック" panose="020B0600070205080204" pitchFamily="34" charset="-128"/>
              <a:sym typeface="Monaco" pitchFamily="2" charset="77"/>
            </a:endParaRP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[^XYZ]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Matches a single character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not in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the listed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set</a:t>
            </a:r>
            <a:endParaRPr lang="en-US" altLang="en-US" sz="2175" dirty="0">
              <a:solidFill>
                <a:schemeClr val="tx1"/>
              </a:solidFill>
              <a:latin typeface="Monaco" pitchFamily="2" charset="77"/>
              <a:ea typeface="ＭＳ Ｐゴシック" panose="020B0600070205080204" pitchFamily="34" charset="-128"/>
              <a:sym typeface="Monaco" pitchFamily="2" charset="77"/>
            </a:endParaRP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[a-z0-9]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The set of characters can include a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range</a:t>
            </a:r>
            <a:endParaRPr lang="en-US" altLang="en-US" sz="2175" dirty="0">
              <a:solidFill>
                <a:schemeClr val="tx1"/>
              </a:solidFill>
              <a:latin typeface="Monaco" pitchFamily="2" charset="77"/>
              <a:ea typeface="ＭＳ Ｐゴシック" panose="020B0600070205080204" pitchFamily="34" charset="-128"/>
              <a:sym typeface="Monaco" pitchFamily="2" charset="77"/>
            </a:endParaRP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(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 Indicates where string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extraction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is to start</a:t>
            </a:r>
          </a:p>
          <a:p>
            <a:pPr algn="l" eaLnBrk="1" hangingPunct="1"/>
            <a:r>
              <a:rPr lang="en-US" altLang="en-US" sz="2175" dirty="0">
                <a:solidFill>
                  <a:srgbClr val="00FF00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)  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     Indicates where string </a:t>
            </a:r>
            <a:r>
              <a:rPr lang="en-US" altLang="en-US" sz="2175" dirty="0">
                <a:solidFill>
                  <a:srgbClr val="FF00FF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extraction</a:t>
            </a:r>
            <a:r>
              <a:rPr lang="en-US" altLang="en-US" sz="2175" dirty="0">
                <a:solidFill>
                  <a:schemeClr val="tx1"/>
                </a:solidFill>
                <a:latin typeface="Monaco" pitchFamily="2" charset="77"/>
                <a:ea typeface="ＭＳ Ｐゴシック" panose="020B0600070205080204" pitchFamily="34" charset="-128"/>
                <a:sym typeface="Monaco" pitchFamily="2" charset="77"/>
              </a:rPr>
              <a:t> is to 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81ED7-705F-4046-8DF8-FC9147B247C4}"/>
              </a:ext>
            </a:extLst>
          </p:cNvPr>
          <p:cNvSpPr/>
          <p:nvPr/>
        </p:nvSpPr>
        <p:spPr>
          <a:xfrm>
            <a:off x="9530246" y="6581001"/>
            <a:ext cx="26617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0075" indent="0">
              <a:buNone/>
              <a:defRPr/>
            </a:pPr>
            <a:r>
              <a:rPr lang="en-US" sz="12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Source</a:t>
            </a:r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Gill Sans" charset="0"/>
              </a:rPr>
              <a:t>: Charles Severance</a:t>
            </a:r>
          </a:p>
        </p:txBody>
      </p:sp>
    </p:spTree>
    <p:extLst>
      <p:ext uri="{BB962C8B-B14F-4D97-AF65-F5344CB8AC3E}">
        <p14:creationId xmlns:p14="http://schemas.microsoft.com/office/powerpoint/2010/main" val="639115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B9E36405-1C14-7849-8A5F-8FF5DA709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FF00"/>
                </a:solidFill>
                <a:sym typeface="Gill Sans" charset="0"/>
              </a:rPr>
              <a:t>Wild-Card Characters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9C9B86C-46C5-6A40-9699-2BEC04778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952625"/>
            <a:ext cx="10448925" cy="1828800"/>
          </a:xfrm>
        </p:spPr>
        <p:txBody>
          <a:bodyPr/>
          <a:lstStyle/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The dot character matches any character</a:t>
            </a:r>
          </a:p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If you add the asterisk character, the character is "any number of times"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CA51CE-AADF-4F42-96D2-DE7A976EDA8A}"/>
              </a:ext>
            </a:extLst>
          </p:cNvPr>
          <p:cNvSpPr>
            <a:spLocks/>
          </p:cNvSpPr>
          <p:nvPr/>
        </p:nvSpPr>
        <p:spPr bwMode="auto">
          <a:xfrm>
            <a:off x="935832" y="4069616"/>
            <a:ext cx="5853141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X-Sieve:</a:t>
            </a:r>
            <a:r>
              <a:rPr lang="en-US" altLang="en-US" sz="2700">
                <a:ea typeface="ＭＳ Ｐゴシック" panose="020B0600070205080204" pitchFamily="34" charset="-128"/>
              </a:rPr>
              <a:t> CMU Sieve 2.3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X-DSPAM-Result:</a:t>
            </a:r>
            <a:r>
              <a:rPr lang="en-US" altLang="en-US" sz="2700">
                <a:ea typeface="ＭＳ Ｐゴシック" panose="020B0600070205080204" pitchFamily="34" charset="-128"/>
              </a:rPr>
              <a:t> Innocent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X-DSPAM-Confidence: </a:t>
            </a:r>
            <a:r>
              <a:rPr lang="en-US" altLang="en-US" sz="2700">
                <a:ea typeface="ＭＳ Ｐゴシック" panose="020B0600070205080204" pitchFamily="34" charset="-128"/>
              </a:rPr>
              <a:t>0.8475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X-Content-Type-Message-Body: </a:t>
            </a:r>
            <a:r>
              <a:rPr lang="en-US" altLang="en-US" sz="2700">
                <a:ea typeface="ＭＳ Ｐゴシック" panose="020B0600070205080204" pitchFamily="34" charset="-128"/>
              </a:rPr>
              <a:t>text/plain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89327B78-0EB1-F943-9DDA-9560EB04F6B5}"/>
              </a:ext>
            </a:extLst>
          </p:cNvPr>
          <p:cNvSpPr>
            <a:spLocks/>
          </p:cNvSpPr>
          <p:nvPr/>
        </p:nvSpPr>
        <p:spPr bwMode="auto">
          <a:xfrm>
            <a:off x="9093082" y="4735339"/>
            <a:ext cx="117339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^X.*:</a:t>
            </a:r>
          </a:p>
        </p:txBody>
      </p:sp>
    </p:spTree>
    <p:extLst>
      <p:ext uri="{BB962C8B-B14F-4D97-AF65-F5344CB8AC3E}">
        <p14:creationId xmlns:p14="http://schemas.microsoft.com/office/powerpoint/2010/main" val="3009462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13DD47E0-6C1B-DA4C-8ECF-E2CD6ABF3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FF00"/>
                </a:solidFill>
                <a:sym typeface="Gill Sans" charset="0"/>
              </a:rPr>
              <a:t>Wild-Card Characters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5333200-518B-4340-8416-363CDF0AB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952625"/>
            <a:ext cx="10448925" cy="1828800"/>
          </a:xfrm>
        </p:spPr>
        <p:txBody>
          <a:bodyPr/>
          <a:lstStyle/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The </a:t>
            </a:r>
            <a:r>
              <a:rPr lang="en-US">
                <a:solidFill>
                  <a:srgbClr val="00FF00"/>
                </a:solidFill>
                <a:sym typeface="Gill Sans" charset="0"/>
              </a:rPr>
              <a:t>dot</a:t>
            </a:r>
            <a:r>
              <a:rPr lang="en-US">
                <a:sym typeface="Gill Sans" charset="0"/>
              </a:rPr>
              <a:t> character matches any character</a:t>
            </a:r>
          </a:p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If you add the </a:t>
            </a:r>
            <a:r>
              <a:rPr lang="en-US">
                <a:solidFill>
                  <a:srgbClr val="FF7F00"/>
                </a:solidFill>
                <a:sym typeface="Gill Sans" charset="0"/>
              </a:rPr>
              <a:t>asterisk</a:t>
            </a:r>
            <a:r>
              <a:rPr lang="en-US">
                <a:sym typeface="Gill Sans" charset="0"/>
              </a:rPr>
              <a:t> character, the character is "any number of times"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CD78E27-AAFF-9043-955B-0B4692DAB8CA}"/>
              </a:ext>
            </a:extLst>
          </p:cNvPr>
          <p:cNvSpPr>
            <a:spLocks/>
          </p:cNvSpPr>
          <p:nvPr/>
        </p:nvSpPr>
        <p:spPr bwMode="auto">
          <a:xfrm>
            <a:off x="935832" y="4069616"/>
            <a:ext cx="5853141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-Sieve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CMU Sieve 2.3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-DSPAM-Result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Innocent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-DSPAM-Confidence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sz="2700">
                <a:ea typeface="ＭＳ Ｐゴシック" panose="020B0600070205080204" pitchFamily="34" charset="-128"/>
              </a:rPr>
              <a:t> 0.8475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-Content-Type-Message-Body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text/plain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69E017E8-E20C-A246-8417-80F968F03E9F}"/>
              </a:ext>
            </a:extLst>
          </p:cNvPr>
          <p:cNvSpPr>
            <a:spLocks/>
          </p:cNvSpPr>
          <p:nvPr/>
        </p:nvSpPr>
        <p:spPr bwMode="auto">
          <a:xfrm>
            <a:off x="9093082" y="4735339"/>
            <a:ext cx="117339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4500">
                <a:solidFill>
                  <a:srgbClr val="FF00FF"/>
                </a:solidFill>
                <a:ea typeface="ＭＳ Ｐゴシック" panose="020B0600070205080204" pitchFamily="34" charset="-128"/>
              </a:rPr>
              <a:t>^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4500">
                <a:solidFill>
                  <a:srgbClr val="00FF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en-US" sz="4500">
                <a:solidFill>
                  <a:srgbClr val="FF7F00"/>
                </a:solidFill>
                <a:ea typeface="ＭＳ Ｐゴシック" panose="020B0600070205080204" pitchFamily="34" charset="-128"/>
              </a:rPr>
              <a:t>*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3C1FD92E-BABE-254C-A652-8B066141FC45}"/>
              </a:ext>
            </a:extLst>
          </p:cNvPr>
          <p:cNvSpPr>
            <a:spLocks/>
          </p:cNvSpPr>
          <p:nvPr/>
        </p:nvSpPr>
        <p:spPr bwMode="auto">
          <a:xfrm>
            <a:off x="5539839" y="3883239"/>
            <a:ext cx="36697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00FF"/>
                </a:solidFill>
                <a:ea typeface="ＭＳ Ｐゴシック" panose="020B0600070205080204" pitchFamily="34" charset="-128"/>
              </a:rPr>
              <a:t>Match the start of the line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FE8CB06C-DF6A-0144-BC9F-64647F2E92CF}"/>
              </a:ext>
            </a:extLst>
          </p:cNvPr>
          <p:cNvSpPr>
            <a:spLocks/>
          </p:cNvSpPr>
          <p:nvPr/>
        </p:nvSpPr>
        <p:spPr bwMode="auto">
          <a:xfrm>
            <a:off x="8485767" y="5864439"/>
            <a:ext cx="28464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Match any character</a:t>
            </a:r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421ABD96-2F32-9343-A18B-7C320C13B32E}"/>
              </a:ext>
            </a:extLst>
          </p:cNvPr>
          <p:cNvSpPr>
            <a:spLocks/>
          </p:cNvSpPr>
          <p:nvPr/>
        </p:nvSpPr>
        <p:spPr bwMode="auto">
          <a:xfrm>
            <a:off x="10247023" y="3883239"/>
            <a:ext cx="15896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7F00"/>
                </a:solidFill>
                <a:ea typeface="ＭＳ Ｐゴシック" panose="020B0600070205080204" pitchFamily="34" charset="-128"/>
              </a:rPr>
              <a:t>Many times</a:t>
            </a:r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92023CA6-7A8E-ED48-A0C7-727E1B8F5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7185" y="5431631"/>
            <a:ext cx="60722" cy="442913"/>
          </a:xfrm>
          <a:prstGeom prst="line">
            <a:avLst/>
          </a:prstGeom>
          <a:noFill/>
          <a:ln w="76200">
            <a:solidFill>
              <a:srgbClr val="00F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BEE4D5BA-380A-AE4A-B78B-A5601D1381F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0070306" y="4317207"/>
            <a:ext cx="534591" cy="397669"/>
          </a:xfrm>
          <a:prstGeom prst="line">
            <a:avLst/>
          </a:prstGeom>
          <a:noFill/>
          <a:ln w="76200">
            <a:solidFill>
              <a:srgbClr val="FF7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420E891D-F5CA-4F4B-8380-E86522A9A08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711804" y="4348162"/>
            <a:ext cx="382190" cy="396479"/>
          </a:xfrm>
          <a:prstGeom prst="line">
            <a:avLst/>
          </a:prstGeom>
          <a:noFill/>
          <a:ln w="76200">
            <a:solidFill>
              <a:srgbClr val="FF00FF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4945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8B48AC96-1E95-9D4F-9FB6-9178EEF8B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FF00"/>
                </a:solidFill>
                <a:sym typeface="Gill Sans" charset="0"/>
              </a:rPr>
              <a:t>Fine-Tuning Your Match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B968A71F-0809-C34A-9F34-A1CB734A1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952625"/>
            <a:ext cx="10448925" cy="1828800"/>
          </a:xfrm>
        </p:spPr>
        <p:txBody>
          <a:bodyPr/>
          <a:lstStyle/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Depending on how "clean" your data is and the purpose of your application, you may want to narrow your match down a bit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AD1074C-D4BD-984E-80B1-4B769039CDC1}"/>
              </a:ext>
            </a:extLst>
          </p:cNvPr>
          <p:cNvSpPr>
            <a:spLocks/>
          </p:cNvSpPr>
          <p:nvPr/>
        </p:nvSpPr>
        <p:spPr bwMode="auto">
          <a:xfrm>
            <a:off x="935831" y="4239265"/>
            <a:ext cx="5392054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-Sieve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CMU Sieve 2.3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-DSPAM-Result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Innocent</a:t>
            </a:r>
            <a:endParaRPr lang="en-US" altLang="en-US" sz="270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Plane is behind schedule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two weeks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E2BFCAB-6684-1D4E-8778-BFF6FDBDC9A4}"/>
              </a:ext>
            </a:extLst>
          </p:cNvPr>
          <p:cNvSpPr>
            <a:spLocks/>
          </p:cNvSpPr>
          <p:nvPr/>
        </p:nvSpPr>
        <p:spPr bwMode="auto">
          <a:xfrm>
            <a:off x="9093082" y="4735339"/>
            <a:ext cx="117339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4500">
                <a:solidFill>
                  <a:srgbClr val="FF00FF"/>
                </a:solidFill>
                <a:ea typeface="ＭＳ Ｐゴシック" panose="020B0600070205080204" pitchFamily="34" charset="-128"/>
              </a:rPr>
              <a:t>^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en-US" sz="4500">
                <a:solidFill>
                  <a:srgbClr val="00FF00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en-US" sz="4500">
                <a:solidFill>
                  <a:srgbClr val="FF7F00"/>
                </a:solidFill>
                <a:ea typeface="ＭＳ Ｐゴシック" panose="020B0600070205080204" pitchFamily="34" charset="-128"/>
              </a:rPr>
              <a:t>*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5736F773-8138-D945-9C18-6330DFA73FCD}"/>
              </a:ext>
            </a:extLst>
          </p:cNvPr>
          <p:cNvSpPr>
            <a:spLocks/>
          </p:cNvSpPr>
          <p:nvPr/>
        </p:nvSpPr>
        <p:spPr bwMode="auto">
          <a:xfrm>
            <a:off x="5539839" y="3883239"/>
            <a:ext cx="36697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00FF"/>
                </a:solidFill>
                <a:ea typeface="ＭＳ Ｐゴシック" panose="020B0600070205080204" pitchFamily="34" charset="-128"/>
              </a:rPr>
              <a:t>Match the start of the line</a:t>
            </a: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467E1B54-6DE1-2545-99C0-2EFBFFA54604}"/>
              </a:ext>
            </a:extLst>
          </p:cNvPr>
          <p:cNvSpPr>
            <a:spLocks/>
          </p:cNvSpPr>
          <p:nvPr/>
        </p:nvSpPr>
        <p:spPr bwMode="auto">
          <a:xfrm>
            <a:off x="8485767" y="5864439"/>
            <a:ext cx="284642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Match any character</a:t>
            </a:r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A3027B3C-C9DA-8344-A5C7-3C38A2EE16CB}"/>
              </a:ext>
            </a:extLst>
          </p:cNvPr>
          <p:cNvSpPr>
            <a:spLocks/>
          </p:cNvSpPr>
          <p:nvPr/>
        </p:nvSpPr>
        <p:spPr bwMode="auto">
          <a:xfrm>
            <a:off x="10247023" y="3883239"/>
            <a:ext cx="15896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7F00"/>
                </a:solidFill>
                <a:ea typeface="ＭＳ Ｐゴシック" panose="020B0600070205080204" pitchFamily="34" charset="-128"/>
              </a:rPr>
              <a:t>Many times</a:t>
            </a:r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73D390DE-BAFC-7341-AD96-83DFDBE24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7185" y="5431631"/>
            <a:ext cx="60722" cy="442913"/>
          </a:xfrm>
          <a:prstGeom prst="line">
            <a:avLst/>
          </a:prstGeom>
          <a:noFill/>
          <a:ln w="76200">
            <a:solidFill>
              <a:srgbClr val="00F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29705" name="Line 9">
            <a:extLst>
              <a:ext uri="{FF2B5EF4-FFF2-40B4-BE49-F238E27FC236}">
                <a16:creationId xmlns:a16="http://schemas.microsoft.com/office/drawing/2014/main" id="{66A40BEE-AE3F-2A42-83BC-1733928DF121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0070306" y="4317207"/>
            <a:ext cx="534591" cy="397669"/>
          </a:xfrm>
          <a:prstGeom prst="line">
            <a:avLst/>
          </a:prstGeom>
          <a:noFill/>
          <a:ln w="76200">
            <a:solidFill>
              <a:srgbClr val="FF7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29706" name="Line 10">
            <a:extLst>
              <a:ext uri="{FF2B5EF4-FFF2-40B4-BE49-F238E27FC236}">
                <a16:creationId xmlns:a16="http://schemas.microsoft.com/office/drawing/2014/main" id="{2C4F7EC6-4362-D34B-B6D2-1158C4DDA70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711804" y="4348162"/>
            <a:ext cx="382190" cy="396479"/>
          </a:xfrm>
          <a:prstGeom prst="line">
            <a:avLst/>
          </a:prstGeom>
          <a:noFill/>
          <a:ln w="76200">
            <a:solidFill>
              <a:srgbClr val="FF00FF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2349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>
            <a:extLst>
              <a:ext uri="{FF2B5EF4-FFF2-40B4-BE49-F238E27FC236}">
                <a16:creationId xmlns:a16="http://schemas.microsoft.com/office/drawing/2014/main" id="{DB0828B7-FEED-9440-AA42-252CD81AF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FF00"/>
                </a:solidFill>
                <a:sym typeface="Gill Sans" charset="0"/>
              </a:rPr>
              <a:t>Fine-Tuning Your Match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A0EA2F5-58DC-8B43-826C-4CDF1A778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952625"/>
            <a:ext cx="10448925" cy="1828800"/>
          </a:xfrm>
        </p:spPr>
        <p:txBody>
          <a:bodyPr/>
          <a:lstStyle/>
          <a:p>
            <a:pPr marL="561975" eaLnBrk="1" hangingPunct="1">
              <a:buFont typeface="Gill Sans" charset="0"/>
              <a:buChar char="•"/>
              <a:defRPr/>
            </a:pPr>
            <a:r>
              <a:rPr lang="en-US">
                <a:sym typeface="Gill Sans" charset="0"/>
              </a:rPr>
              <a:t>Depending on how "clean" your data is and the purpose of your application, you may want to narrow your match down a bit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2BB5107-CD99-1C40-AB4D-ECE5EBABF622}"/>
              </a:ext>
            </a:extLst>
          </p:cNvPr>
          <p:cNvSpPr>
            <a:spLocks/>
          </p:cNvSpPr>
          <p:nvPr/>
        </p:nvSpPr>
        <p:spPr bwMode="auto">
          <a:xfrm>
            <a:off x="935831" y="4277365"/>
            <a:ext cx="5392054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Sieve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CMU Sieve 2.3</a:t>
            </a: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X-</a:t>
            </a: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DSPAM-Result</a:t>
            </a:r>
            <a:r>
              <a:rPr lang="en-US" altLang="en-US" sz="2700">
                <a:solidFill>
                  <a:srgbClr val="FFFF00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sz="2700">
                <a:ea typeface="ＭＳ Ｐゴシック" panose="020B0600070205080204" pitchFamily="34" charset="-128"/>
              </a:rPr>
              <a:t>Innocent</a:t>
            </a:r>
            <a:endParaRPr lang="en-US" altLang="en-US" sz="270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ea typeface="ＭＳ Ｐゴシック" panose="020B0600070205080204" pitchFamily="34" charset="-128"/>
              </a:rPr>
              <a:t>X-Plane is behind schedule: two weeks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7B2FA274-921F-B447-9407-C44E2D7F9AC9}"/>
              </a:ext>
            </a:extLst>
          </p:cNvPr>
          <p:cNvSpPr>
            <a:spLocks/>
          </p:cNvSpPr>
          <p:nvPr/>
        </p:nvSpPr>
        <p:spPr bwMode="auto">
          <a:xfrm>
            <a:off x="8802137" y="4735339"/>
            <a:ext cx="175528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4500">
                <a:solidFill>
                  <a:srgbClr val="FF00FF"/>
                </a:solidFill>
                <a:ea typeface="ＭＳ Ｐゴシック" panose="020B0600070205080204" pitchFamily="34" charset="-128"/>
              </a:rPr>
              <a:t>^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X-</a:t>
            </a:r>
            <a:r>
              <a:rPr lang="en-US" altLang="en-US" sz="4500">
                <a:solidFill>
                  <a:srgbClr val="00FF00"/>
                </a:solidFill>
                <a:ea typeface="ＭＳ Ｐゴシック" panose="020B0600070205080204" pitchFamily="34" charset="-128"/>
              </a:rPr>
              <a:t>\S</a:t>
            </a:r>
            <a:r>
              <a:rPr lang="en-US" altLang="en-US" sz="4500">
                <a:solidFill>
                  <a:srgbClr val="FF7F00"/>
                </a:solidFill>
                <a:ea typeface="ＭＳ Ｐゴシック" panose="020B0600070205080204" pitchFamily="34" charset="-128"/>
              </a:rPr>
              <a:t>+</a:t>
            </a:r>
            <a:r>
              <a:rPr lang="en-US" altLang="en-US" sz="4500">
                <a:solidFill>
                  <a:srgbClr val="FFFF00"/>
                </a:solidFill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2E912D80-C6F2-EE4F-A628-5E30F9A89130}"/>
              </a:ext>
            </a:extLst>
          </p:cNvPr>
          <p:cNvSpPr>
            <a:spLocks/>
          </p:cNvSpPr>
          <p:nvPr/>
        </p:nvSpPr>
        <p:spPr bwMode="auto">
          <a:xfrm>
            <a:off x="5539839" y="3883239"/>
            <a:ext cx="366978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00FF"/>
                </a:solidFill>
                <a:ea typeface="ＭＳ Ｐゴシック" panose="020B0600070205080204" pitchFamily="34" charset="-128"/>
              </a:rPr>
              <a:t>Match the start of the line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1C21B3A7-D6BD-7542-95FE-CE5C9E5FA4A4}"/>
              </a:ext>
            </a:extLst>
          </p:cNvPr>
          <p:cNvSpPr>
            <a:spLocks/>
          </p:cNvSpPr>
          <p:nvPr/>
        </p:nvSpPr>
        <p:spPr bwMode="auto">
          <a:xfrm>
            <a:off x="6323410" y="5953125"/>
            <a:ext cx="55245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00FF00"/>
                </a:solidFill>
                <a:ea typeface="ＭＳ Ｐゴシック" panose="020B0600070205080204" pitchFamily="34" charset="-128"/>
              </a:rPr>
              <a:t>Match any non-whitespace character</a:t>
            </a: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F7C97E31-01D1-9441-BC4C-6DAA319DDD7B}"/>
              </a:ext>
            </a:extLst>
          </p:cNvPr>
          <p:cNvSpPr>
            <a:spLocks/>
          </p:cNvSpPr>
          <p:nvPr/>
        </p:nvSpPr>
        <p:spPr bwMode="auto">
          <a:xfrm>
            <a:off x="9798844" y="3490913"/>
            <a:ext cx="22955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algn="ctr" defTabSz="6858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700">
                <a:solidFill>
                  <a:srgbClr val="FF7F00"/>
                </a:solidFill>
                <a:ea typeface="ＭＳ Ｐゴシック" panose="020B0600070205080204" pitchFamily="34" charset="-128"/>
              </a:rPr>
              <a:t>One or more times</a:t>
            </a:r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3AD1A6A5-5C59-724D-A529-08F0C549DC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73829" y="5431631"/>
            <a:ext cx="183356" cy="610791"/>
          </a:xfrm>
          <a:prstGeom prst="line">
            <a:avLst/>
          </a:prstGeom>
          <a:noFill/>
          <a:ln w="76200">
            <a:solidFill>
              <a:srgbClr val="00F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03BF24DF-3FED-7348-AFC5-512054E1056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0345342" y="4317207"/>
            <a:ext cx="259556" cy="397669"/>
          </a:xfrm>
          <a:prstGeom prst="line">
            <a:avLst/>
          </a:prstGeom>
          <a:noFill/>
          <a:ln w="76200">
            <a:solidFill>
              <a:srgbClr val="FF7F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76F4FF60-64C0-5D4C-9C70-D1F2FA91633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711803" y="4348162"/>
            <a:ext cx="214313" cy="396479"/>
          </a:xfrm>
          <a:prstGeom prst="line">
            <a:avLst/>
          </a:prstGeom>
          <a:noFill/>
          <a:ln w="76200">
            <a:solidFill>
              <a:srgbClr val="FF00FF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2700">
              <a:solidFill>
                <a:srgbClr val="FFFFFF"/>
              </a:solidFill>
              <a:latin typeface="Gill Sans" panose="020B0502020104020203" pitchFamily="34" charset="-79"/>
              <a:ea typeface="ヒラギノ角ゴ ProN W3" panose="020B0300000000000000" pitchFamily="34" charset="-128"/>
              <a:sym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0418480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=""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FFFFFF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extLst>
          <a:ext uri="{91240B29-F687-4f45-9708-019B960494DF}">
            <a14:hiddenLine xmlns=""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FFFFFF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1255</Words>
  <Application>Microsoft Macintosh PowerPoint</Application>
  <PresentationFormat>Widescreen</PresentationFormat>
  <Paragraphs>170</Paragraphs>
  <Slides>23</Slides>
  <Notes>1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Fira Code</vt:lpstr>
      <vt:lpstr>Gill Sans</vt:lpstr>
      <vt:lpstr>Helvetica Neue</vt:lpstr>
      <vt:lpstr>Monaco</vt:lpstr>
      <vt:lpstr>Times New Roman</vt:lpstr>
      <vt:lpstr>Office Theme</vt:lpstr>
      <vt:lpstr>1_Title &amp; Bullets</vt:lpstr>
      <vt:lpstr>PowerPoint Presentation</vt:lpstr>
      <vt:lpstr>This week</vt:lpstr>
      <vt:lpstr>Readings about text mining</vt:lpstr>
      <vt:lpstr>Why learn text mining</vt:lpstr>
      <vt:lpstr>PowerPoint Presentation</vt:lpstr>
      <vt:lpstr>PowerPoint Presentation</vt:lpstr>
      <vt:lpstr>Regular expressions (regex)</vt:lpstr>
      <vt:lpstr>Basic matching using stringr</vt:lpstr>
      <vt:lpstr>Basic matching</vt:lpstr>
      <vt:lpstr>Anchors</vt:lpstr>
      <vt:lpstr>Game</vt:lpstr>
      <vt:lpstr>Examples</vt:lpstr>
      <vt:lpstr>More complicated examples</vt:lpstr>
      <vt:lpstr>Matching and Extracting Data</vt:lpstr>
      <vt:lpstr>Regular expression conclusion</vt:lpstr>
      <vt:lpstr>Challenge problem: regex crossword</vt:lpstr>
      <vt:lpstr>Character classes and alternatives </vt:lpstr>
      <vt:lpstr>Repetition</vt:lpstr>
      <vt:lpstr>Regular Expression Quick Guide</vt:lpstr>
      <vt:lpstr>Wild-Card Characters</vt:lpstr>
      <vt:lpstr>Wild-Card Characters</vt:lpstr>
      <vt:lpstr>Fine-Tuning Your Match</vt:lpstr>
      <vt:lpstr>Fine-Tuning Your Match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Oberski, D.L. (Daniel)</dc:creator>
  <cp:lastModifiedBy>Oberski, D.L. (Daniel)</cp:lastModifiedBy>
  <cp:revision>83</cp:revision>
  <dcterms:created xsi:type="dcterms:W3CDTF">2021-10-25T07:57:41Z</dcterms:created>
  <dcterms:modified xsi:type="dcterms:W3CDTF">2021-10-26T08:15:13Z</dcterms:modified>
</cp:coreProperties>
</file>