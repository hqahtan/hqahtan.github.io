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4"/>
  </p:notesMasterIdLst>
  <p:sldIdLst>
    <p:sldId id="256" r:id="rId5"/>
    <p:sldId id="262" r:id="rId6"/>
    <p:sldId id="358" r:id="rId7"/>
    <p:sldId id="359" r:id="rId8"/>
    <p:sldId id="266" r:id="rId9"/>
    <p:sldId id="277" r:id="rId10"/>
    <p:sldId id="360" r:id="rId11"/>
    <p:sldId id="361" r:id="rId12"/>
    <p:sldId id="362" r:id="rId13"/>
    <p:sldId id="297" r:id="rId14"/>
    <p:sldId id="307" r:id="rId15"/>
    <p:sldId id="298" r:id="rId16"/>
    <p:sldId id="300" r:id="rId17"/>
    <p:sldId id="299" r:id="rId18"/>
    <p:sldId id="301" r:id="rId19"/>
    <p:sldId id="302" r:id="rId20"/>
    <p:sldId id="303" r:id="rId21"/>
    <p:sldId id="304" r:id="rId22"/>
    <p:sldId id="306" r:id="rId23"/>
    <p:sldId id="305" r:id="rId24"/>
    <p:sldId id="319" r:id="rId25"/>
    <p:sldId id="308" r:id="rId26"/>
    <p:sldId id="320" r:id="rId27"/>
    <p:sldId id="337" r:id="rId28"/>
    <p:sldId id="338" r:id="rId29"/>
    <p:sldId id="313" r:id="rId30"/>
    <p:sldId id="339" r:id="rId31"/>
    <p:sldId id="296" r:id="rId32"/>
    <p:sldId id="334" r:id="rId33"/>
    <p:sldId id="335" r:id="rId34"/>
    <p:sldId id="314" r:id="rId35"/>
    <p:sldId id="315" r:id="rId36"/>
    <p:sldId id="336" r:id="rId37"/>
    <p:sldId id="312" r:id="rId38"/>
    <p:sldId id="316" r:id="rId39"/>
    <p:sldId id="311" r:id="rId40"/>
    <p:sldId id="363" r:id="rId41"/>
    <p:sldId id="317" r:id="rId42"/>
    <p:sldId id="341" r:id="rId43"/>
    <p:sldId id="340" r:id="rId44"/>
    <p:sldId id="342" r:id="rId45"/>
    <p:sldId id="352" r:id="rId46"/>
    <p:sldId id="343" r:id="rId47"/>
    <p:sldId id="344" r:id="rId48"/>
    <p:sldId id="345" r:id="rId49"/>
    <p:sldId id="346" r:id="rId50"/>
    <p:sldId id="347" r:id="rId51"/>
    <p:sldId id="348" r:id="rId52"/>
    <p:sldId id="349" r:id="rId53"/>
    <p:sldId id="350" r:id="rId54"/>
    <p:sldId id="351" r:id="rId55"/>
    <p:sldId id="357" r:id="rId56"/>
    <p:sldId id="364" r:id="rId57"/>
    <p:sldId id="365" r:id="rId58"/>
    <p:sldId id="354" r:id="rId59"/>
    <p:sldId id="353" r:id="rId60"/>
    <p:sldId id="355" r:id="rId61"/>
    <p:sldId id="356" r:id="rId62"/>
    <p:sldId id="318" r:id="rId63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esteren, E. van (Erik-Jan)" initials="KEv(" lastIdx="4" clrIdx="0">
    <p:extLst>
      <p:ext uri="{19B8F6BF-5375-455C-9EA6-DF929625EA0E}">
        <p15:presenceInfo xmlns:p15="http://schemas.microsoft.com/office/powerpoint/2012/main" userId="Kesteren, E. van (Erik-Jan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813" autoAdjust="0"/>
    <p:restoredTop sz="82172"/>
  </p:normalViewPr>
  <p:slideViewPr>
    <p:cSldViewPr snapToGrid="0">
      <p:cViewPr varScale="1">
        <p:scale>
          <a:sx n="90" d="100"/>
          <a:sy n="90" d="100"/>
        </p:scale>
        <p:origin x="240" y="2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presProps" Target="presProp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notesMaster" Target="notesMasters/notesMaster1.xml"/><Relationship Id="rId69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6C72E7-1AC8-4769-8510-C8FBA4EE0D31}" type="datetimeFigureOut">
              <a:rPr lang="nl-NL" smtClean="0"/>
              <a:t>17-10-2025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06F6A5-1236-40E7-B937-7650038E63C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53527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Bouveyron</a:t>
            </a:r>
            <a:r>
              <a:rPr lang="en-US" dirty="0"/>
              <a:t> </a:t>
            </a:r>
            <a:r>
              <a:rPr lang="en-US" dirty="0" err="1"/>
              <a:t>ch</a:t>
            </a:r>
            <a:r>
              <a:rPr lang="en-US" dirty="0"/>
              <a:t> 6 and 8</a:t>
            </a:r>
          </a:p>
          <a:p>
            <a:r>
              <a:rPr lang="en-US" dirty="0"/>
              <a:t>Other criteria</a:t>
            </a:r>
          </a:p>
          <a:p>
            <a:r>
              <a:rPr lang="en-US" dirty="0"/>
              <a:t>Merging </a:t>
            </a:r>
          </a:p>
          <a:p>
            <a:r>
              <a:rPr lang="en-US" dirty="0"/>
              <a:t>Other data types </a:t>
            </a:r>
          </a:p>
          <a:p>
            <a:r>
              <a:rPr lang="en-US" dirty="0"/>
              <a:t>Model-based vs. not</a:t>
            </a:r>
          </a:p>
          <a:p>
            <a:r>
              <a:rPr lang="en-US" dirty="0"/>
              <a:t>Posterior probabilities</a:t>
            </a:r>
          </a:p>
          <a:p>
            <a:r>
              <a:rPr lang="en-US" dirty="0" err="1"/>
              <a:t>Omgaan</a:t>
            </a:r>
            <a:r>
              <a:rPr lang="en-US" dirty="0"/>
              <a:t> met noise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06F6A5-1236-40E7-B937-7650038E63C3}" type="slidenum">
              <a:rPr lang="nl-NL" smtClean="0"/>
              <a:t>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921290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06F6A5-1236-40E7-B937-7650038E63C3}" type="slidenum">
              <a:rPr lang="nl-NL" smtClean="0"/>
              <a:t>24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586783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Tradeoff compression - accuracy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06F6A5-1236-40E7-B937-7650038E63C3}" type="slidenum">
              <a:rPr lang="nl-NL" smtClean="0"/>
              <a:t>28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502278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Tradeoff compression - accuracy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06F6A5-1236-40E7-B937-7650038E63C3}" type="slidenum">
              <a:rPr lang="nl-NL" smtClean="0"/>
              <a:t>29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489677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Tradeoff compression - accuracy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06F6A5-1236-40E7-B937-7650038E63C3}" type="slidenum">
              <a:rPr lang="nl-NL" smtClean="0"/>
              <a:t>30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975084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does one have to be negative and the other positive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06F6A5-1236-40E7-B937-7650038E63C3}" type="slidenum">
              <a:rPr lang="nl-NL" smtClean="0"/>
              <a:t>31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967358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06F6A5-1236-40E7-B937-7650038E63C3}" type="slidenum">
              <a:rPr lang="nl-NL" smtClean="0"/>
              <a:t>42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722127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06F6A5-1236-40E7-B937-7650038E63C3}" type="slidenum">
              <a:rPr lang="nl-NL" smtClean="0"/>
              <a:t>54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38266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06F6A5-1236-40E7-B937-7650038E63C3}" type="slidenum">
              <a:rPr lang="nl-NL" smtClean="0"/>
              <a:t>59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534103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F436-0D9D-46AD-BEFF-5E111B7B38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47BDE8-4FB5-4522-BEB2-CB4D9D4287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71098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FF329-0391-403E-893E-D576018AC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0DF60-B5C5-4B67-9C59-D776B1162E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27592F-54D9-46E8-91E8-E3155C6AE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4E3E60-7A04-4ACB-A597-49AF9D1E0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78216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3EC57-5DD0-4A03-BF25-28F500D6A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EA68C0-D0E2-4B3B-8DF5-99D3AE4826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E84D37-B5E3-465E-AB9F-1A46C3CB8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507BA4-8DAB-4D1A-8C7A-0034BED32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7" name="Afbeelding 9">
            <a:extLst>
              <a:ext uri="{FF2B5EF4-FFF2-40B4-BE49-F238E27FC236}">
                <a16:creationId xmlns:a16="http://schemas.microsoft.com/office/drawing/2014/main" id="{B4FFACBE-778B-452B-B7B2-D991B629EC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19564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F4064-BB62-46B8-9CC2-D029177ED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0FF1E0-3B14-45A4-A725-D5051F77CA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97A2AD-DE0E-4543-BF32-97E616584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78A81F-A3D5-45B8-A8C9-BF8B43453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58AD99-EEEA-444C-A59A-65F3888F1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8" name="Afbeelding 9">
            <a:extLst>
              <a:ext uri="{FF2B5EF4-FFF2-40B4-BE49-F238E27FC236}">
                <a16:creationId xmlns:a16="http://schemas.microsoft.com/office/drawing/2014/main" id="{6E2A276F-6FEF-4ED3-85CF-E9CF754543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99754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77D37-7754-4A9C-BCC6-11C47E928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D75442-2125-4972-A200-5E35EC3A2A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CEFCD3-FF8C-4968-9CED-85E6346B6E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DA86E1-83D0-49D4-A54B-9F17BF050F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0C060A-6098-4350-8720-54C7423C64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682D38-0587-46DF-BC2F-54BCA5167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EDE6AB-74D5-42F1-A4DE-5A6E0B56C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CC785A4D-427F-44CB-8E0A-B101B55E5B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99719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89489-85CB-4669-ACBD-78EF5FE99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CE259A-9F68-4D64-B695-B05BF20BA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B55463-B67C-4CFD-B89A-A5AC40491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6" name="Afbeelding 9">
            <a:extLst>
              <a:ext uri="{FF2B5EF4-FFF2-40B4-BE49-F238E27FC236}">
                <a16:creationId xmlns:a16="http://schemas.microsoft.com/office/drawing/2014/main" id="{4E1FECAE-E5B2-4686-BED7-57C4C269E9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27888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975913-F874-4ACB-BF38-06993DE48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58B41A-AEDF-4412-BB53-522D256DE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5" name="Afbeelding 9">
            <a:extLst>
              <a:ext uri="{FF2B5EF4-FFF2-40B4-BE49-F238E27FC236}">
                <a16:creationId xmlns:a16="http://schemas.microsoft.com/office/drawing/2014/main" id="{003DCD53-61B3-4260-9781-C03ECF355EF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29995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75079-FBD9-4B6E-93BC-C2C72C3D6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CFB345-DC72-4009-80DF-ADF36B45C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54BB79-2FE3-4EEC-A47B-F6AA444FCF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404493-2A24-4F5A-99BE-DED35B9AC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43EAAD-7F90-46F6-8777-C00D5AD3A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8" name="Afbeelding 9">
            <a:extLst>
              <a:ext uri="{FF2B5EF4-FFF2-40B4-BE49-F238E27FC236}">
                <a16:creationId xmlns:a16="http://schemas.microsoft.com/office/drawing/2014/main" id="{F5965B39-71B2-49D0-86D7-1658D734E3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102399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0C5DE-40EB-400F-BB8C-DD4CE993E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0676FA-A76F-4435-A2C2-2AD6DBB5C9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D88418-CE82-4860-B21C-19BC3A38AE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7901AD-1CEA-40EE-8192-D18DA32CA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9D7769-3DBE-45F4-9D6C-319778BCB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8" name="Afbeelding 9">
            <a:extLst>
              <a:ext uri="{FF2B5EF4-FFF2-40B4-BE49-F238E27FC236}">
                <a16:creationId xmlns:a16="http://schemas.microsoft.com/office/drawing/2014/main" id="{6E6FBEF1-7C0B-499C-A27C-52802B84CB9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59820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7AE8A-1C31-4B80-8E0E-FA8EE7EA7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A7039C-9E8F-49C2-A124-D628993DB0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DC1EB7-C34F-4E92-8B14-28B788637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BF4EAA-ABFC-4164-BDD9-D6C18344D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7" name="Afbeelding 9">
            <a:extLst>
              <a:ext uri="{FF2B5EF4-FFF2-40B4-BE49-F238E27FC236}">
                <a16:creationId xmlns:a16="http://schemas.microsoft.com/office/drawing/2014/main" id="{AA2390CE-E4A9-42B0-B346-6C3BF875E1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17979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0A7D13-05FB-4F56-9DD4-53C5B300C3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5630CA-2274-448F-B50F-D48D280FDE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717B21-54CC-48E7-894A-27142611C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F97B17-C995-407A-9DC9-4DE969B4F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7" name="Afbeelding 9">
            <a:extLst>
              <a:ext uri="{FF2B5EF4-FFF2-40B4-BE49-F238E27FC236}">
                <a16:creationId xmlns:a16="http://schemas.microsoft.com/office/drawing/2014/main" id="{4359B83E-457B-4A56-97E8-EF80F65107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48894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7109B4-6259-4B71-963F-E6EF90917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F9CCA7-0EF3-49F7-943E-25DD645B6B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667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902710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http://daob.nl/wp-content/papercite-data/pdf/oberski2016mixturemodels.pdf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hyperlink" Target="https://arxiv.org/pdf/1503.02059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14.tif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pdf/1503.02059.pdf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tif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2">
            <a:extLst>
              <a:ext uri="{FF2B5EF4-FFF2-40B4-BE49-F238E27FC236}">
                <a16:creationId xmlns:a16="http://schemas.microsoft.com/office/drawing/2014/main" id="{67D5AF9D-B0DC-43A3-AAC6-1547D97B9220}"/>
              </a:ext>
            </a:extLst>
          </p:cNvPr>
          <p:cNvSpPr txBox="1">
            <a:spLocks/>
          </p:cNvSpPr>
          <p:nvPr/>
        </p:nvSpPr>
        <p:spPr>
          <a:xfrm>
            <a:off x="3067778" y="5316032"/>
            <a:ext cx="6059598" cy="43881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Daniel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Oberski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Erik-Jan van Kesteren</a:t>
            </a:r>
            <a:endParaRPr lang="nl-NL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jdelijke aanduiding voor tekst 3">
            <a:extLst>
              <a:ext uri="{FF2B5EF4-FFF2-40B4-BE49-F238E27FC236}">
                <a16:creationId xmlns:a16="http://schemas.microsoft.com/office/drawing/2014/main" id="{A0C7FD2C-79F4-4035-B87B-567FCDEE550A}"/>
              </a:ext>
            </a:extLst>
          </p:cNvPr>
          <p:cNvSpPr txBox="1">
            <a:spLocks/>
          </p:cNvSpPr>
          <p:nvPr/>
        </p:nvSpPr>
        <p:spPr>
          <a:xfrm>
            <a:off x="2407508" y="5754848"/>
            <a:ext cx="7376984" cy="86731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Methodology &amp; Statistics</a:t>
            </a:r>
          </a:p>
          <a:p>
            <a:pPr marL="0" indent="0" algn="ctr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Utrecht University</a:t>
            </a:r>
            <a:endParaRPr lang="nl-NL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95150EB-C963-4057-9C23-EDF2C9EC6773}"/>
              </a:ext>
            </a:extLst>
          </p:cNvPr>
          <p:cNvSpPr/>
          <p:nvPr/>
        </p:nvSpPr>
        <p:spPr>
          <a:xfrm>
            <a:off x="620785" y="1342238"/>
            <a:ext cx="11308360" cy="2360691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Wrangling and Data Analysis</a:t>
            </a:r>
          </a:p>
          <a:p>
            <a:pPr algn="ctr"/>
            <a:r>
              <a:rPr lang="en-US" altLang="nl-NL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Unsupervised learning:</a:t>
            </a:r>
          </a:p>
          <a:p>
            <a:pPr algn="ctr"/>
            <a:r>
              <a:rPr lang="en-US" altLang="nl-NL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Model-based clustering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A95B730-DEB8-45EC-95F6-9E624B67ABF0}"/>
              </a:ext>
            </a:extLst>
          </p:cNvPr>
          <p:cNvSpPr txBox="1">
            <a:spLocks noChangeArrowheads="1"/>
          </p:cNvSpPr>
          <p:nvPr/>
        </p:nvSpPr>
        <p:spPr>
          <a:xfrm>
            <a:off x="2897187" y="3702930"/>
            <a:ext cx="6400800" cy="119942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Arial" pitchFamily="34" charset="0"/>
              <a:buNone/>
              <a:defRPr sz="1600" b="0" i="0" kern="120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Arial" pitchFamily="34" charset="0"/>
              <a:buNone/>
              <a:defRPr sz="1600" b="1" i="0" kern="120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270000" indent="-270000" algn="l" defTabSz="914400" rtl="0" eaLnBrk="1" latinLnBrk="0" hangingPunct="1">
              <a:lnSpc>
                <a:spcPct val="110000"/>
              </a:lnSpc>
              <a:spcBef>
                <a:spcPts val="2100"/>
              </a:spcBef>
              <a:buFont typeface="Verdana" pitchFamily="34" charset="0"/>
              <a:buChar char="•"/>
              <a:defRPr sz="1600" b="0" i="0" kern="120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270000" indent="-270000" algn="l" defTabSz="914400" rtl="0" eaLnBrk="1" latinLnBrk="0" hangingPunct="1">
              <a:lnSpc>
                <a:spcPct val="110000"/>
              </a:lnSpc>
              <a:spcBef>
                <a:spcPts val="2100"/>
              </a:spcBef>
              <a:buFont typeface="Verdana" pitchFamily="34" charset="0"/>
              <a:buChar char="•"/>
              <a:defRPr sz="1600" b="0" i="0" kern="120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810000" indent="-27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Verdana" pitchFamily="34" charset="0"/>
              <a:buChar char="–"/>
              <a:defRPr sz="1600" b="0" i="0" kern="120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endParaRPr lang="en-US" altLang="nl-NL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5568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C9C55-34D9-482F-BBFF-61B54E82F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This week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DD480-0341-4559-8FD9-6D53A7A87C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30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Lecture 1:  Clustering #2: Model-based clustering</a:t>
            </a:r>
          </a:p>
          <a:p>
            <a:r>
              <a:rPr lang="en-GB" sz="3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Lecture 2: Text mining #1</a:t>
            </a:r>
          </a:p>
          <a:p>
            <a:r>
              <a:rPr lang="en-GB" sz="3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Lecture 3: Text mining #2</a:t>
            </a:r>
          </a:p>
          <a:p>
            <a:pPr marL="0" indent="0">
              <a:buNone/>
            </a:pPr>
            <a:endParaRPr lang="en-GB" sz="3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22615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6166E-51CC-4BF1-96C6-58186676F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Reading materials about </a:t>
            </a:r>
            <a:br>
              <a:rPr lang="en-GB" dirty="0"/>
            </a:br>
            <a:r>
              <a:rPr lang="en-GB" dirty="0"/>
              <a:t>clustering (this week &amp; next)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058F44-8295-44CF-84A8-4A42669FA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99484" cy="4351338"/>
          </a:xfrm>
        </p:spPr>
        <p:txBody>
          <a:bodyPr>
            <a:normAutofit/>
          </a:bodyPr>
          <a:lstStyle/>
          <a:p>
            <a:r>
              <a:rPr lang="en-US" dirty="0"/>
              <a:t>Selected paragraphs from </a:t>
            </a:r>
            <a:r>
              <a:rPr lang="en-US" b="1" dirty="0"/>
              <a:t>Introduction to Statistical Learning (ISLR) </a:t>
            </a:r>
            <a:r>
              <a:rPr lang="en-GB" dirty="0"/>
              <a:t>§12.1 and 12.4</a:t>
            </a:r>
          </a:p>
          <a:p>
            <a:endParaRPr lang="en-GB" dirty="0"/>
          </a:p>
          <a:p>
            <a:r>
              <a:rPr lang="en-GB" dirty="0"/>
              <a:t>“Mixture models: latent profile and latent class analysis” </a:t>
            </a:r>
            <a:r>
              <a:rPr lang="en-GB" sz="2400" dirty="0"/>
              <a:t>[</a:t>
            </a:r>
            <a:r>
              <a:rPr lang="en-GB" sz="2400" dirty="0" err="1"/>
              <a:t>Oberski</a:t>
            </a:r>
            <a:r>
              <a:rPr lang="en-GB" sz="2400" dirty="0"/>
              <a:t>, 2016]</a:t>
            </a:r>
            <a:r>
              <a:rPr lang="en-GB" dirty="0"/>
              <a:t> §1, §2</a:t>
            </a:r>
          </a:p>
          <a:p>
            <a:pPr marL="457200" lvl="1" indent="0">
              <a:buNone/>
            </a:pPr>
            <a:r>
              <a:rPr lang="en-GB" sz="1800" dirty="0">
                <a:latin typeface="Fira Code" panose="020B0809050000020004" pitchFamily="49" charset="0"/>
                <a:ea typeface="Fira Code" panose="020B0809050000020004" pitchFamily="49" charset="0"/>
                <a:hlinkClick r:id="rId2"/>
              </a:rPr>
              <a:t>http://daob.nl/wp-content/papercite-data/pdf/oberski2016mixturemodels.pdf</a:t>
            </a:r>
            <a:r>
              <a:rPr lang="en-GB" sz="1800" dirty="0">
                <a:latin typeface="Fira Code" panose="020B0809050000020004" pitchFamily="49" charset="0"/>
                <a:ea typeface="Fira Code" panose="020B0809050000020004" pitchFamily="49" charset="0"/>
              </a:rPr>
              <a:t> </a:t>
            </a:r>
          </a:p>
        </p:txBody>
      </p:sp>
      <p:pic>
        <p:nvPicPr>
          <p:cNvPr id="1026" name="Picture 2" descr="N] The 2nd edition of An Introduction to Statistical Learning (ISLR) has  officially been published (with PDF freely available): MachineLearning">
            <a:extLst>
              <a:ext uri="{FF2B5EF4-FFF2-40B4-BE49-F238E27FC236}">
                <a16:creationId xmlns:a16="http://schemas.microsoft.com/office/drawing/2014/main" id="{C585419D-97F8-A144-BF3A-3FAF0F7B5A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120063" y="0"/>
            <a:ext cx="40719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45673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05476-9DED-1047-B551-C35F1A627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Optional</a:t>
            </a:r>
            <a:r>
              <a:rPr lang="en-US" dirty="0"/>
              <a:t>, much more in-depth material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6E7B11-6F9C-D542-86ED-0E361BCA6C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i="1" dirty="0"/>
              <a:t>Clustering strategy and method selection (</a:t>
            </a:r>
            <a:r>
              <a:rPr lang="en-US" sz="2600" i="1" dirty="0" err="1"/>
              <a:t>ch.</a:t>
            </a:r>
            <a:r>
              <a:rPr lang="en-US" sz="2600" i="1" dirty="0"/>
              <a:t> 31), </a:t>
            </a:r>
            <a:r>
              <a:rPr lang="en-US" sz="2600" i="1" dirty="0">
                <a:hlinkClick r:id="rId2"/>
              </a:rPr>
              <a:t>https://arxiv.org/pdf/1503.02059.pdf</a:t>
            </a:r>
            <a:r>
              <a:rPr lang="en-US" sz="2600" i="1" dirty="0"/>
              <a:t>  </a:t>
            </a:r>
          </a:p>
          <a:p>
            <a:pPr marL="0" indent="0">
              <a:buNone/>
            </a:pPr>
            <a:r>
              <a:rPr lang="en-US" sz="2600" i="1" dirty="0"/>
              <a:t>Handbook of Cluster Analysis </a:t>
            </a:r>
          </a:p>
          <a:p>
            <a:pPr marL="0" indent="0">
              <a:buNone/>
            </a:pPr>
            <a:r>
              <a:rPr lang="en-US" sz="2600" i="1" dirty="0"/>
              <a:t>	</a:t>
            </a:r>
            <a:r>
              <a:rPr lang="en-US" sz="2600" dirty="0"/>
              <a:t>Hennig et al. (2016)</a:t>
            </a:r>
          </a:p>
          <a:p>
            <a:pPr marL="0" indent="0">
              <a:buNone/>
            </a:pPr>
            <a:endParaRPr lang="en-US" sz="2600" i="1" dirty="0"/>
          </a:p>
          <a:p>
            <a:pPr marL="0" indent="0">
              <a:buNone/>
            </a:pPr>
            <a:r>
              <a:rPr lang="en-US" sz="2600" i="1" dirty="0"/>
              <a:t>Model-based Clustering and </a:t>
            </a:r>
          </a:p>
          <a:p>
            <a:pPr marL="457200" lvl="1" indent="0">
              <a:buNone/>
            </a:pPr>
            <a:r>
              <a:rPr lang="en-US" sz="2600" i="1" dirty="0"/>
              <a:t>Classification for Data Science</a:t>
            </a:r>
          </a:p>
          <a:p>
            <a:pPr marL="457200" lvl="1" indent="0">
              <a:buNone/>
            </a:pPr>
            <a:r>
              <a:rPr lang="en-US" sz="2600" dirty="0" err="1"/>
              <a:t>Bouveyron</a:t>
            </a:r>
            <a:r>
              <a:rPr lang="en-US" sz="2600" dirty="0"/>
              <a:t> et al. (2018)</a:t>
            </a:r>
          </a:p>
          <a:p>
            <a:pPr marL="0" indent="0">
              <a:buNone/>
            </a:pPr>
            <a:endParaRPr lang="en-US" sz="2600" dirty="0"/>
          </a:p>
        </p:txBody>
      </p:sp>
      <p:pic>
        <p:nvPicPr>
          <p:cNvPr id="1026" name="Picture 2" descr="Amazon.com: Handbook of Cluster Analysis (Chapman &amp; Hall/CRC Handbooks of  Modern Statistical Methods) (9781466551886): Hennig, Christian, Meila,  Marina, Murtagh, Fionn, Rocci, Roberto: Books">
            <a:extLst>
              <a:ext uri="{FF2B5EF4-FFF2-40B4-BE49-F238E27FC236}">
                <a16:creationId xmlns:a16="http://schemas.microsoft.com/office/drawing/2014/main" id="{1633360A-F47D-ED4E-8415-F4DAD90163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183839" y="2552381"/>
            <a:ext cx="2929959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mazon.com: Model-Based Clustering and Classification for Data Science:  With Applications in R (Cambridge Series in Statistical and Probabilistic  Mathematics) (9781108494205): Bouveyron, Charles, Celeux, Gilles, Murphy,  T. Brendan, Raftery, Adrian E ...">
            <a:extLst>
              <a:ext uri="{FF2B5EF4-FFF2-40B4-BE49-F238E27FC236}">
                <a16:creationId xmlns:a16="http://schemas.microsoft.com/office/drawing/2014/main" id="{8F07E187-A086-C94C-B021-22D569C10A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113798" y="2552381"/>
            <a:ext cx="3078202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79237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74B28-DB88-4487-A9CD-7A7D53050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51077"/>
            <a:ext cx="10515600" cy="1325563"/>
          </a:xfrm>
        </p:spPr>
        <p:txBody>
          <a:bodyPr/>
          <a:lstStyle/>
          <a:p>
            <a:r>
              <a:rPr lang="nl-NL" dirty="0"/>
              <a:t>Model-</a:t>
            </a:r>
            <a:r>
              <a:rPr lang="nl-NL" dirty="0" err="1"/>
              <a:t>based</a:t>
            </a:r>
            <a:r>
              <a:rPr lang="nl-NL" dirty="0"/>
              <a:t> clustering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65242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EF07B-4C3C-44D7-95DD-D774E0F74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K-means </a:t>
            </a:r>
            <a:r>
              <a:rPr lang="nl-NL" dirty="0" err="1"/>
              <a:t>again</a:t>
            </a:r>
            <a:endParaRPr lang="en-GB" dirty="0"/>
          </a:p>
        </p:txBody>
      </p:sp>
      <p:pic>
        <p:nvPicPr>
          <p:cNvPr id="8" name="Content Placeholder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CF080FA3-6AD1-1F4E-8B79-E86AF10099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86616" y="852616"/>
            <a:ext cx="6005384" cy="6005384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CE76CF5-821E-F44D-B7E9-D8E013A8404E}"/>
                  </a:ext>
                </a:extLst>
              </p:cNvPr>
              <p:cNvSpPr txBox="1"/>
              <p:nvPr/>
            </p:nvSpPr>
            <p:spPr>
              <a:xfrm>
                <a:off x="838200" y="1797565"/>
                <a:ext cx="4787900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en-GB" dirty="0">
                    <a:solidFill>
                      <a:schemeClr val="tx1"/>
                    </a:solidFill>
                    <a:latin typeface="Fira Code" panose="020B0809050000020004" pitchFamily="49" charset="0"/>
                    <a:ea typeface="Fira Code" panose="020B0809050000020004" pitchFamily="49" charset="0"/>
                  </a:rPr>
                  <a:t>Assign examples to </a:t>
                </a:r>
                <a14:m>
                  <m:oMath xmlns:m="http://schemas.openxmlformats.org/officeDocument/2006/math">
                    <m:r>
                      <a:rPr lang="en-GB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GB" dirty="0">
                    <a:solidFill>
                      <a:schemeClr val="tx1"/>
                    </a:solidFill>
                    <a:latin typeface="Fira Code" panose="020B0809050000020004" pitchFamily="49" charset="0"/>
                    <a:ea typeface="Fira Code" panose="020B0809050000020004" pitchFamily="49" charset="0"/>
                  </a:rPr>
                  <a:t> clusters</a:t>
                </a:r>
              </a:p>
              <a:p>
                <a:pPr marL="342900" indent="-342900">
                  <a:buFont typeface="+mj-lt"/>
                  <a:buAutoNum type="arabicPeriod"/>
                </a:pPr>
                <a:endParaRPr lang="en-GB" dirty="0">
                  <a:solidFill>
                    <a:schemeClr val="tx1"/>
                  </a:solidFill>
                  <a:latin typeface="Fira Code" panose="020B0809050000020004" pitchFamily="49" charset="0"/>
                  <a:ea typeface="Fira Code" panose="020B0809050000020004" pitchFamily="49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dirty="0">
                    <a:solidFill>
                      <a:schemeClr val="tx1"/>
                    </a:solidFill>
                    <a:latin typeface="Fira Code" panose="020B0809050000020004" pitchFamily="49" charset="0"/>
                    <a:ea typeface="Fira Code" panose="020B0809050000020004" pitchFamily="49" charset="0"/>
                  </a:rPr>
                  <a:t> </a:t>
                </a:r>
              </a:p>
              <a:p>
                <a:pPr marL="800100" lvl="1" indent="-342900">
                  <a:buFont typeface="+mj-lt"/>
                  <a:buAutoNum type="alphaLcPeriod"/>
                </a:pPr>
                <a:r>
                  <a:rPr lang="en-GB" dirty="0">
                    <a:solidFill>
                      <a:schemeClr val="tx1"/>
                    </a:solidFill>
                    <a:latin typeface="Fira Code" panose="020B0809050000020004" pitchFamily="49" charset="0"/>
                    <a:ea typeface="Fira Code" panose="020B0809050000020004" pitchFamily="49" charset="0"/>
                  </a:rPr>
                  <a:t>Calculate </a:t>
                </a:r>
                <a:r>
                  <a:rPr lang="en-GB" i="1" dirty="0">
                    <a:solidFill>
                      <a:schemeClr val="tx1"/>
                    </a:solidFill>
                    <a:latin typeface="Fira Code" panose="020B0809050000020004" pitchFamily="49" charset="0"/>
                    <a:ea typeface="Fira Code" panose="020B0809050000020004" pitchFamily="49" charset="0"/>
                  </a:rPr>
                  <a:t>K</a:t>
                </a:r>
                <a:r>
                  <a:rPr lang="en-GB" dirty="0">
                    <a:solidFill>
                      <a:schemeClr val="tx1"/>
                    </a:solidFill>
                    <a:latin typeface="Fira Code" panose="020B0809050000020004" pitchFamily="49" charset="0"/>
                    <a:ea typeface="Fira Code" panose="020B0809050000020004" pitchFamily="49" charset="0"/>
                  </a:rPr>
                  <a:t> cluster centroids;</a:t>
                </a:r>
              </a:p>
              <a:p>
                <a:pPr marL="800100" lvl="1" indent="-342900">
                  <a:buFont typeface="+mj-lt"/>
                  <a:buAutoNum type="alphaLcPeriod"/>
                </a:pPr>
                <a:r>
                  <a:rPr lang="en-GB" dirty="0">
                    <a:solidFill>
                      <a:schemeClr val="tx1"/>
                    </a:solidFill>
                    <a:latin typeface="Fira Code" panose="020B0809050000020004" pitchFamily="49" charset="0"/>
                    <a:ea typeface="Fira Code" panose="020B0809050000020004" pitchFamily="49" charset="0"/>
                  </a:rPr>
                  <a:t>Assign examples to cluster with closest centroid;</a:t>
                </a:r>
              </a:p>
              <a:p>
                <a:pPr marL="800100" lvl="1" indent="-342900">
                  <a:buFont typeface="+mj-lt"/>
                  <a:buAutoNum type="alphaLcPeriod"/>
                </a:pPr>
                <a:endParaRPr lang="en-GB" dirty="0">
                  <a:solidFill>
                    <a:schemeClr val="tx1"/>
                  </a:solidFill>
                  <a:latin typeface="Fira Code" panose="020B0809050000020004" pitchFamily="49" charset="0"/>
                  <a:ea typeface="Fira Code" panose="020B0809050000020004" pitchFamily="49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dirty="0">
                    <a:solidFill>
                      <a:schemeClr val="tx1"/>
                    </a:solidFill>
                    <a:latin typeface="Fira Code" panose="020B0809050000020004" pitchFamily="49" charset="0"/>
                    <a:ea typeface="Fira Code" panose="020B0809050000020004" pitchFamily="49" charset="0"/>
                  </a:rPr>
                  <a:t>If assignments changed, back to step 2a; else stop.</a:t>
                </a:r>
                <a:endParaRPr lang="en-US" dirty="0">
                  <a:solidFill>
                    <a:schemeClr val="tx1"/>
                  </a:solidFill>
                  <a:latin typeface="Fira Code" panose="020B0809050000020004" pitchFamily="49" charset="0"/>
                  <a:ea typeface="Fira Code" panose="020B0809050000020004" pitchFamily="49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CE76CF5-821E-F44D-B7E9-D8E013A840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797565"/>
                <a:ext cx="4787900" cy="2862322"/>
              </a:xfrm>
              <a:prstGeom prst="rect">
                <a:avLst/>
              </a:prstGeom>
              <a:blipFill>
                <a:blip r:embed="rId3"/>
                <a:stretch>
                  <a:fillRect l="-1323" t="-1327" r="-1058" b="-2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33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B8B46-65C4-4C4A-B400-7D664F8AC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K-means again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904C3-ACA8-2440-9988-FFD875D450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000" dirty="0"/>
              <a:t>K-means is based on a </a:t>
            </a:r>
            <a:r>
              <a:rPr lang="en-US" sz="3000" b="1" dirty="0"/>
              <a:t>rule</a:t>
            </a:r>
          </a:p>
          <a:p>
            <a:r>
              <a:rPr lang="en-US" sz="3000" dirty="0"/>
              <a:t>Why this rule and not some other rule?</a:t>
            </a:r>
          </a:p>
          <a:p>
            <a:r>
              <a:rPr lang="en-US" sz="3000" dirty="0"/>
              <a:t>What kind of data does the rule work well for?</a:t>
            </a:r>
          </a:p>
          <a:p>
            <a:r>
              <a:rPr lang="en-US" sz="3000" dirty="0"/>
              <a:t>In what situations would the rule fail?</a:t>
            </a:r>
          </a:p>
          <a:p>
            <a:r>
              <a:rPr lang="en-US" sz="3000" dirty="0"/>
              <a:t>What happens if we want to change the rule? </a:t>
            </a:r>
          </a:p>
          <a:p>
            <a:endParaRPr lang="en-US" sz="3000" dirty="0"/>
          </a:p>
          <a:p>
            <a:pPr marL="0" indent="0">
              <a:buNone/>
            </a:pPr>
            <a:r>
              <a:rPr lang="en-US" sz="3000" dirty="0"/>
              <a:t>All</a:t>
            </a:r>
            <a:r>
              <a:rPr lang="en-US" sz="3000" b="1" dirty="0"/>
              <a:t> difficult to answer by staring at the algorithm. </a:t>
            </a:r>
          </a:p>
          <a:p>
            <a:pPr marL="0" indent="0">
              <a:buNone/>
            </a:pPr>
            <a:endParaRPr lang="en-US" sz="3000" dirty="0"/>
          </a:p>
          <a:p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23583574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99460-6EA4-A046-92E4-31944A973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160482-CA7D-5549-86F6-861BA72F1E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Reverse Engineer Cartoons and Comics - funny pictures from CartoonStock">
            <a:extLst>
              <a:ext uri="{FF2B5EF4-FFF2-40B4-BE49-F238E27FC236}">
                <a16:creationId xmlns:a16="http://schemas.microsoft.com/office/drawing/2014/main" id="{05F0245D-5D89-3C48-9A25-DE190D824C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67075" y="0"/>
            <a:ext cx="56562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02540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24F52-6801-41A9-87EF-A72C49495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Model-based clustering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A27163-8FBC-4109-856A-F49C08D88D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14222" cy="466725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3000" b="1" dirty="0"/>
              <a:t>Steps</a:t>
            </a:r>
            <a:r>
              <a:rPr lang="en-GB" sz="3000" dirty="0"/>
              <a:t>: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3000" dirty="0"/>
              <a:t>Pretend we believe in some </a:t>
            </a:r>
            <a:r>
              <a:rPr lang="en-GB" sz="3000" i="1" dirty="0"/>
              <a:t>statistical model </a:t>
            </a:r>
            <a:r>
              <a:rPr lang="en-GB" sz="3000" dirty="0"/>
              <a:t>that describes data as belonging to unobserved (“latent”) groups;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3000" dirty="0"/>
              <a:t>Estimate (“train”) this model using the data.</a:t>
            </a:r>
          </a:p>
          <a:p>
            <a:endParaRPr lang="en-GB" sz="3000" b="1" dirty="0"/>
          </a:p>
          <a:p>
            <a:r>
              <a:rPr lang="en-GB" sz="3000" b="1" dirty="0"/>
              <a:t>The rule follows from the model!</a:t>
            </a:r>
          </a:p>
          <a:p>
            <a:r>
              <a:rPr lang="en-GB" sz="3000" dirty="0"/>
              <a:t>Instead of worrying about </a:t>
            </a:r>
            <a:r>
              <a:rPr lang="en-GB" sz="3000" i="1" dirty="0"/>
              <a:t>algorithm</a:t>
            </a:r>
            <a:r>
              <a:rPr lang="en-GB" sz="3000" dirty="0"/>
              <a:t>, we worry about </a:t>
            </a:r>
            <a:r>
              <a:rPr lang="en-GB" sz="3000" i="1" dirty="0"/>
              <a:t>model</a:t>
            </a:r>
            <a:r>
              <a:rPr lang="en-GB" sz="3000" dirty="0"/>
              <a:t>.</a:t>
            </a:r>
          </a:p>
          <a:p>
            <a:r>
              <a:rPr lang="en-GB" sz="3000" dirty="0"/>
              <a:t>Questions are easy to answer. </a:t>
            </a:r>
          </a:p>
        </p:txBody>
      </p:sp>
    </p:spTree>
    <p:extLst>
      <p:ext uri="{BB962C8B-B14F-4D97-AF65-F5344CB8AC3E}">
        <p14:creationId xmlns:p14="http://schemas.microsoft.com/office/powerpoint/2010/main" val="2106899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24F52-6801-41A9-87EF-A72C49495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Model-based clustering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A27163-8FBC-4109-856A-F49C08D88D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GB" dirty="0"/>
              <a:t>Assumptions about the clusters are explicit, not implicit. </a:t>
            </a:r>
          </a:p>
          <a:p>
            <a:r>
              <a:rPr lang="en-GB" dirty="0"/>
              <a:t>We will look at the most commonly used family of models,</a:t>
            </a:r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r>
              <a:rPr lang="en-GB" b="1" dirty="0"/>
              <a:t>Gaussian mixture models (GMMs):</a:t>
            </a:r>
          </a:p>
          <a:p>
            <a:r>
              <a:rPr lang="en-GB" dirty="0"/>
              <a:t>Data within each cluster </a:t>
            </a:r>
            <a:r>
              <a:rPr lang="en-GB" i="1" dirty="0"/>
              <a:t>(multivariate) normally distributed.</a:t>
            </a:r>
          </a:p>
          <a:p>
            <a:r>
              <a:rPr lang="en-GB" dirty="0"/>
              <a:t>Parameters can be either the same or different across groups:</a:t>
            </a:r>
          </a:p>
          <a:p>
            <a:pPr lvl="1"/>
            <a:r>
              <a:rPr lang="en-GB" sz="2800" dirty="0">
                <a:solidFill>
                  <a:schemeClr val="accent1"/>
                </a:solidFill>
              </a:rPr>
              <a:t>Volume</a:t>
            </a:r>
            <a:r>
              <a:rPr lang="en-GB" sz="2800" dirty="0"/>
              <a:t> (size of the clusters in data space);</a:t>
            </a:r>
          </a:p>
          <a:p>
            <a:pPr lvl="1"/>
            <a:r>
              <a:rPr lang="en-GB" sz="2800" dirty="0">
                <a:solidFill>
                  <a:schemeClr val="accent1"/>
                </a:solidFill>
              </a:rPr>
              <a:t>Shape</a:t>
            </a:r>
            <a:r>
              <a:rPr lang="en-GB" sz="2800" dirty="0"/>
              <a:t> (circle or ellipse);</a:t>
            </a:r>
          </a:p>
          <a:p>
            <a:pPr lvl="1"/>
            <a:r>
              <a:rPr lang="en-GB" sz="2800" dirty="0">
                <a:solidFill>
                  <a:schemeClr val="accent1"/>
                </a:solidFill>
              </a:rPr>
              <a:t>Orientation</a:t>
            </a:r>
            <a:r>
              <a:rPr lang="en-GB" sz="2800" dirty="0"/>
              <a:t> (the angle of the ellipse).</a:t>
            </a:r>
          </a:p>
        </p:txBody>
      </p:sp>
    </p:spTree>
    <p:extLst>
      <p:ext uri="{BB962C8B-B14F-4D97-AF65-F5344CB8AC3E}">
        <p14:creationId xmlns:p14="http://schemas.microsoft.com/office/powerpoint/2010/main" val="7773197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57203-ECD8-40C7-A4EC-306A71EBC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Model-based clustering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86059-7D62-4BF3-A7E2-6F477E44A2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3000" dirty="0"/>
              <a:t>Another major advantage:</a:t>
            </a:r>
          </a:p>
          <a:p>
            <a:pPr marL="0" indent="0">
              <a:buNone/>
            </a:pPr>
            <a:endParaRPr lang="en-GB" sz="3000" dirty="0"/>
          </a:p>
          <a:p>
            <a:r>
              <a:rPr lang="en-GB" sz="3000" dirty="0"/>
              <a:t>For each observation, get a </a:t>
            </a:r>
            <a:r>
              <a:rPr lang="en-GB" sz="3000" b="1" dirty="0">
                <a:solidFill>
                  <a:schemeClr val="accent1"/>
                </a:solidFill>
              </a:rPr>
              <a:t>posterior probability </a:t>
            </a:r>
            <a:r>
              <a:rPr lang="en-GB" sz="3000" dirty="0"/>
              <a:t>of belonging to each cluster;</a:t>
            </a:r>
          </a:p>
          <a:p>
            <a:r>
              <a:rPr lang="en-GB" sz="3000" dirty="0"/>
              <a:t>Reflects that cluster membership is uncertain;</a:t>
            </a:r>
          </a:p>
          <a:p>
            <a:r>
              <a:rPr lang="en-GB" sz="3000" dirty="0"/>
              <a:t>Cluster assignment can be done based on the highest probability cluster for each observation.</a:t>
            </a:r>
          </a:p>
        </p:txBody>
      </p:sp>
    </p:spTree>
    <p:extLst>
      <p:ext uri="{BB962C8B-B14F-4D97-AF65-F5344CB8AC3E}">
        <p14:creationId xmlns:p14="http://schemas.microsoft.com/office/powerpoint/2010/main" val="36840617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C5261-3011-4EA6-8397-E8C0B34B5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Model-based clustering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7E4C11-DFC9-4414-A603-7D8490DE1C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r>
              <a:rPr lang="en-GB" b="1" dirty="0"/>
              <a:t>Specific examples of model-based clustering:</a:t>
            </a:r>
          </a:p>
          <a:p>
            <a:pPr marL="0" indent="0">
              <a:buNone/>
            </a:pPr>
            <a:endParaRPr lang="en-GB" b="1" dirty="0"/>
          </a:p>
          <a:p>
            <a:r>
              <a:rPr lang="en-GB" dirty="0"/>
              <a:t>Gaussian mixture models</a:t>
            </a:r>
          </a:p>
          <a:p>
            <a:r>
              <a:rPr lang="en-GB" dirty="0"/>
              <a:t>Latent profile analysis</a:t>
            </a:r>
          </a:p>
          <a:p>
            <a:r>
              <a:rPr lang="en-GB" dirty="0"/>
              <a:t>Latent class analysis (categorical observations)</a:t>
            </a:r>
          </a:p>
          <a:p>
            <a:r>
              <a:rPr lang="en-GB" dirty="0"/>
              <a:t>Latent Dirichlet allocation</a:t>
            </a:r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472508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FA839-B999-40AD-B4D1-7812B9724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Gaussian mixture </a:t>
            </a:r>
            <a:r>
              <a:rPr lang="en-GB" dirty="0" err="1"/>
              <a:t>modeling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5BF196-8024-45DF-89AE-8BF05D79BB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53977"/>
            <a:ext cx="10515600" cy="4556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430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3B057-98FD-40AB-A488-9C11D6964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Model-based clustering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FC0B9F-5B13-4429-ACFB-B04AB488A4D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Statistical model + assumptions </a:t>
                </a:r>
                <a:r>
                  <a:rPr lang="en-GB" dirty="0">
                    <a:sym typeface="Wingdings" panose="05000000000000000000" pitchFamily="2" charset="2"/>
                  </a:rPr>
                  <a:t>defines a </a:t>
                </a:r>
                <a:r>
                  <a:rPr lang="en-GB" dirty="0">
                    <a:solidFill>
                      <a:schemeClr val="accent1"/>
                    </a:solidFill>
                    <a:sym typeface="Wingdings" panose="05000000000000000000" pitchFamily="2" charset="2"/>
                  </a:rPr>
                  <a:t>likelihood</a:t>
                </a:r>
              </a:p>
              <a:p>
                <a:endParaRPr lang="en-GB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𝑝</m:t>
                      </m:r>
                      <m:d>
                        <m:dPr>
                          <m:endChr m:val="|"/>
                          <m:ctrlPr>
                            <a:rPr lang="en-GB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GB" b="0" i="0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data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 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 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parameters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)=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𝑝</m:t>
                      </m:r>
                      <m:d>
                        <m:dPr>
                          <m:endChr m:val="|"/>
                          <m:ctrlPr>
                            <a:rPr lang="en-GB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𝑦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 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𝜃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) </m:t>
                      </m:r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Maximum likelihood estimation: find the parameters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𝜃</m:t>
                    </m:r>
                  </m:oMath>
                </a14:m>
                <a:r>
                  <a:rPr lang="en-GB" dirty="0"/>
                  <a:t> that make it most likely to observe the data we actually observed,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𝑦</m:t>
                    </m:r>
                  </m:oMath>
                </a14:m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The above procedure automatically gives algorithm for computing clusters from data, given the model.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FC0B9F-5B13-4429-ACFB-B04AB488A4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1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33425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4CC808E-D765-44B4-B6C5-C7485C20AA6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96000" y="2712815"/>
            <a:ext cx="6096000" cy="414518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6679BFC-069A-4EFF-BA0B-22DCF141A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Model-based clustering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7DE08CA-2A4A-4577-9727-95B3E4AE93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Likelihood (</a:t>
                </a:r>
                <a:r>
                  <a:rPr lang="en-GB" i="1" dirty="0"/>
                  <a:t>density</a:t>
                </a:r>
                <a:r>
                  <a:rPr lang="en-GB" dirty="0"/>
                  <a:t>) for height data: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endChr m:val="|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GB" i="0">
                              <a:latin typeface="Cambria Math" panose="02040503050406030204" pitchFamily="18" charset="0"/>
                            </a:rPr>
                            <m:t>height</m:t>
                          </m:r>
                          <m:r>
                            <m:rPr>
                              <m:nor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)=</m:t>
                      </m:r>
                    </m:oMath>
                  </m:oMathPara>
                </a14:m>
                <a:endParaRPr lang="en-GB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GB" dirty="0"/>
                  <a:t>	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GB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Pr</m:t>
                    </m:r>
                    <m:d>
                      <m:dPr>
                        <m:ctrlP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GB" i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man</m:t>
                        </m:r>
                      </m:e>
                    </m:d>
                    <m:r>
                      <m:rPr>
                        <m:nor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m:rPr>
                        <m:nor/>
                      </m:rPr>
                      <a:rPr lang="en-GB" i="0">
                        <a:latin typeface="Cambria Math" panose="02040503050406030204" pitchFamily="18" charset="0"/>
                      </a:rPr>
                      <m:t>Normal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b="0" i="0" baseline="-2500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man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GB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GB" i="0" baseline="-2500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man</m:t>
                            </m:r>
                          </m:sub>
                        </m:sSub>
                      </m:e>
                    </m:d>
                    <m:r>
                      <a:rPr lang="en-GB" i="1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endParaRPr lang="en-GB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GB" dirty="0"/>
                  <a:t>	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GB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Pr</m:t>
                    </m:r>
                    <m:r>
                      <a:rPr lang="en-GB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GB" i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woman</m:t>
                    </m:r>
                    <m:r>
                      <a:rPr lang="en-GB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nor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m:rPr>
                        <m:nor/>
                      </m:rPr>
                      <a:rPr lang="en-GB" i="0">
                        <a:latin typeface="Cambria Math" panose="02040503050406030204" pitchFamily="18" charset="0"/>
                      </a:rPr>
                      <m:t>Normal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m:rPr>
                            <m:nor/>
                          </m:rPr>
                          <a:rPr lang="en-US" b="0" i="0" baseline="-2500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wom</m:t>
                        </m:r>
                        <m:r>
                          <m:rPr>
                            <m:nor/>
                          </m:rPr>
                          <a:rPr lang="en-US" baseline="-2500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an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m:rPr>
                            <m:nor/>
                          </m:rPr>
                          <a:rPr lang="en-US" b="0" i="0" baseline="-2500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wom</m:t>
                        </m:r>
                        <m:r>
                          <m:rPr>
                            <m:nor/>
                          </m:rPr>
                          <a:rPr lang="en-GB" baseline="-2500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an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Or, more concise notation: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endChr m:val="|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GB" i="0">
                              <a:latin typeface="Cambria Math" panose="02040503050406030204" pitchFamily="18" charset="0"/>
                            </a:rPr>
                            <m:t>height</m:t>
                          </m:r>
                          <m:r>
                            <m:rPr>
                              <m:nor/>
                            </m:rPr>
                            <a:rPr lang="en-GB" i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)=</m:t>
                      </m:r>
                    </m:oMath>
                  </m:oMathPara>
                </a14:m>
                <a:endParaRPr lang="en-GB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GB" dirty="0"/>
                  <a:t>	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GB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GB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sup>
                    </m:sSubSup>
                    <m:r>
                      <m:rPr>
                        <m:nor/>
                      </m:rPr>
                      <a:rPr lang="en-GB" i="0">
                        <a:latin typeface="Cambria Math" panose="02040503050406030204" pitchFamily="18" charset="0"/>
                      </a:rPr>
                      <m:t>Normal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GB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GB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GB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endParaRPr lang="en-GB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GB" dirty="0"/>
                  <a:t>	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(1 −</m:t>
                        </m:r>
                        <m:r>
                          <a:rPr lang="en-GB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GB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GB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sup>
                    </m:sSubSup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nor/>
                      </m:rPr>
                      <a:rPr lang="en-GB" i="0">
                        <a:latin typeface="Cambria Math" panose="02040503050406030204" pitchFamily="18" charset="0"/>
                      </a:rPr>
                      <m:t>Normal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GB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GB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GB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GB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7DE08CA-2A4A-4577-9727-95B3E4AE93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06" t="-21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25449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FD5DD-0202-4A23-9A48-C6B9C19D5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Model-based clustering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E8FE2E-599D-4EDD-A479-7C6DC597C1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Gaussian mixture model </a:t>
                </a:r>
                <a:r>
                  <a:rPr lang="en-GB" b="1" dirty="0"/>
                  <a:t>parameters</a:t>
                </a:r>
                <a:r>
                  <a:rPr lang="en-GB" dirty="0"/>
                  <a:t>:</a:t>
                </a:r>
                <a:endParaRPr lang="en-GB" i="1" dirty="0">
                  <a:solidFill>
                    <a:schemeClr val="accent1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GB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sup>
                    </m:sSubSup>
                  </m:oMath>
                </a14:m>
                <a:r>
                  <a:rPr lang="en-GB" dirty="0"/>
                  <a:t> determines the relative cluster sizes </a:t>
                </a:r>
              </a:p>
              <a:p>
                <a:pPr lvl="1"/>
                <a:r>
                  <a:rPr lang="en-GB" dirty="0"/>
                  <a:t>Proportion of observations to be expected in each cluster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dirty="0"/>
                  <a:t> determine the locations of the clusters </a:t>
                </a:r>
              </a:p>
              <a:p>
                <a:pPr lvl="1"/>
                <a:r>
                  <a:rPr lang="en-GB" dirty="0"/>
                  <a:t>Like centroids in K-means clustering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dirty="0"/>
                  <a:t> determine the volume of the clusters </a:t>
                </a:r>
              </a:p>
              <a:p>
                <a:pPr lvl="1"/>
                <a:r>
                  <a:rPr lang="en-GB" dirty="0"/>
                  <a:t>how large / spread out the are clusters are in data space</a:t>
                </a:r>
              </a:p>
              <a:p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Together, these </a:t>
                </a:r>
                <a:r>
                  <a:rPr lang="en-GB" dirty="0">
                    <a:solidFill>
                      <a:schemeClr val="accent1"/>
                    </a:solidFill>
                  </a:rPr>
                  <a:t>5 unknown parameters </a:t>
                </a:r>
                <a:r>
                  <a:rPr lang="en-GB" dirty="0"/>
                  <a:t>describe our model of how the data is generated.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E8FE2E-599D-4EDD-A479-7C6DC597C1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439" b="-21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80421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26F98-1734-439B-900B-3C87FE2D1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Estimation: the EM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66A46B-3426-4995-9AF9-8FD5279F07A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If we knew in advance who is a man and who is a woman, it would have been easy to find the estimates for </a:t>
                </a:r>
                <a14:m>
                  <m:oMath xmlns:m="http://schemas.openxmlformats.org/officeDocument/2006/math">
                    <m:r>
                      <a:rPr lang="el-GR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l-GR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GB" dirty="0"/>
                  <a:t>:</a:t>
                </a:r>
              </a:p>
              <a:p>
                <a:endParaRPr lang="en-GB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l-G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</m:acc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subSup"/>
                              <m:ctrlPr>
                                <a:rPr lang="en-GB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GB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GB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GB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GB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p>
                            <m:e>
                              <m:sSub>
                                <m:sSubPr>
                                  <m:ctrlPr>
                                    <a:rPr lang="en-GB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b="0" i="0" smtClean="0">
                                      <a:solidFill>
                                        <a:schemeClr val="tx1"/>
                                      </a:solidFill>
                                      <a:latin typeface="Fira Code" panose="020B0809050000020004" pitchFamily="49" charset="0"/>
                                      <a:ea typeface="Fira Code" panose="020B0809050000020004" pitchFamily="49" charset="0"/>
                                    </a:rPr>
                                    <m:t>height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sSub>
                            <m:sSubPr>
                              <m:ctrlPr>
                                <a:rPr lang="en-GB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GB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  </m:t>
                      </m:r>
                      <m:sSub>
                        <m:sSub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l-G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limLoc m:val="subSup"/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5"/>
                                    </m:r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sSub>
                                    <m:sSubPr>
                                      <m:ctrlPr>
                                        <a:rPr lang="en-GB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en-GB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sup>
                                <m:e>
                                  <m:sSup>
                                    <m:sSupPr>
                                      <m:ctrlPr>
                                        <a:rPr lang="en-GB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GB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GB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n-US" b="0" i="0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Fira Code" panose="020B0809050000020004" pitchFamily="49" charset="0"/>
                                                  <a:ea typeface="Fira Code" panose="020B0809050000020004" pitchFamily="49" charset="0"/>
                                                </a:rPr>
                                                <m:t>height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GB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GB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̂"/>
                                                  <m:ctrlPr>
                                                    <a:rPr lang="en-GB" b="0" i="1" smtClean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GB" b="0" i="1" smtClean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𝜇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GB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GB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num>
                            <m:den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m:rPr>
                              <m:nor/>
                            </m:rPr>
                            <a:rPr lang="en-GB" dirty="0">
                              <a:solidFill>
                                <a:schemeClr val="tx1"/>
                              </a:solidFill>
                            </a:rPr>
                            <m:t> </m:t>
                          </m:r>
                        </m:e>
                      </m:rad>
                    </m:oMath>
                  </m:oMathPara>
                </a14:m>
                <a:endParaRPr lang="en-GB" dirty="0"/>
              </a:p>
              <a:p>
                <a:pPr marL="457200" lvl="1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>
                    <a:solidFill>
                      <a:schemeClr val="bg2">
                        <a:lumMod val="75000"/>
                      </a:schemeClr>
                    </a:solidFill>
                  </a:rPr>
                  <a:t>(and same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GB" i="1">
                                <a:solidFill>
                                  <a:schemeClr val="bg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l-GR" i="1">
                                <a:solidFill>
                                  <a:schemeClr val="bg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dirty="0">
                    <a:solidFill>
                      <a:schemeClr val="bg2">
                        <a:lumMod val="75000"/>
                      </a:schemeClr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GB" i="1">
                                <a:solidFill>
                                  <a:schemeClr val="bg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dirty="0">
                    <a:solidFill>
                      <a:schemeClr val="bg2">
                        <a:lumMod val="75000"/>
                      </a:schemeClr>
                    </a:solidFill>
                  </a:rPr>
                  <a:t>.)</a:t>
                </a:r>
              </a:p>
              <a:p>
                <a:r>
                  <a:rPr lang="en-GB" dirty="0"/>
                  <a:t>But we don’t know this! </a:t>
                </a:r>
              </a:p>
              <a:p>
                <a:pPr marL="0" indent="0">
                  <a:buNone/>
                </a:pPr>
                <a:r>
                  <a:rPr lang="en-GB" dirty="0"/>
                  <a:t>-&gt; Assignments need to be estimated too.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66A46B-3426-4995-9AF9-8FD5279F07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1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14243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4AA9D-F8CF-4950-AD8E-9E0E8D1AF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Estimation: the EM algorithm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1497C8-E07F-419B-B073-1E1A5A75186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694219" y="3287683"/>
            <a:ext cx="5595850" cy="347072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8B812C-B99F-46FE-B9D4-57A85AC5243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Solution: Figure out the </a:t>
                </a:r>
                <a:r>
                  <a:rPr lang="en-GB" dirty="0">
                    <a:solidFill>
                      <a:schemeClr val="accent1"/>
                    </a:solidFill>
                  </a:rPr>
                  <a:t>posterior probability </a:t>
                </a:r>
                <a:r>
                  <a:rPr lang="en-GB" dirty="0"/>
                  <a:t>of being a man/woman, given the current estimates of the means and </a:t>
                </a:r>
                <a:r>
                  <a:rPr lang="en-GB" dirty="0" err="1"/>
                  <a:t>sds</a:t>
                </a:r>
                <a:endParaRPr lang="en-GB" dirty="0"/>
              </a:p>
              <a:p>
                <a:r>
                  <a:rPr lang="en-GB" dirty="0"/>
                  <a:t>If we know cluster locations and shapes, how likely is it that a 1.7m person is a man or a woman?</a:t>
                </a:r>
              </a:p>
              <a:p>
                <a:endParaRPr lang="en-GB" b="0" i="1" dirty="0">
                  <a:solidFill>
                    <a:schemeClr val="accent1"/>
                  </a:solidFill>
                  <a:latin typeface="Cambria Math" panose="02040503050406030204" pitchFamily="18" charset="0"/>
                </a:endParaRPr>
              </a:p>
              <a:p>
                <a:endParaRPr lang="en-GB" b="0" i="1" dirty="0">
                  <a:solidFill>
                    <a:schemeClr val="accent1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GB" i="1" dirty="0">
                    <a:solidFill>
                      <a:schemeClr val="accent1"/>
                    </a:solidFill>
                    <a:latin typeface="Cambria Math" panose="02040503050406030204" pitchFamily="18" charset="0"/>
                  </a:rPr>
                  <a:t>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GB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𝑚𝑎𝑛</m:t>
                        </m:r>
                      </m:sub>
                      <m:sup>
                        <m:r>
                          <a:rPr lang="en-GB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sup>
                    </m:sSubSup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2.20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2.86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</a:rPr>
                      <m:t>≈0.77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8B812C-B99F-46FE-B9D4-57A85AC524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 r="-75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87691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82FC7-81A9-49F0-9161-A6D7C8AE6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Estimation: the EM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77D55C-C642-418A-B7BA-3611BAB362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Now we have some class </a:t>
            </a:r>
            <a:r>
              <a:rPr lang="en-GB" i="1" dirty="0"/>
              <a:t>assignments </a:t>
            </a:r>
            <a:r>
              <a:rPr lang="en-GB" dirty="0"/>
              <a:t>(probabilities);</a:t>
            </a:r>
          </a:p>
          <a:p>
            <a:r>
              <a:rPr lang="en-GB" dirty="0"/>
              <a:t>So we can go back to the parameters and update them using our easy rule (M-step)</a:t>
            </a:r>
          </a:p>
          <a:p>
            <a:r>
              <a:rPr lang="en-GB" dirty="0"/>
              <a:t>Then, we can compute new posterior probabilities (E-step)</a:t>
            </a:r>
          </a:p>
          <a:p>
            <a:endParaRPr lang="en-GB" dirty="0"/>
          </a:p>
          <a:p>
            <a:endParaRPr lang="en-GB" dirty="0"/>
          </a:p>
          <a:p>
            <a:pPr marL="0" indent="0">
              <a:buNone/>
            </a:pPr>
            <a:r>
              <a:rPr lang="en-GB" dirty="0">
                <a:solidFill>
                  <a:schemeClr val="accent1"/>
                </a:solidFill>
              </a:rPr>
              <a:t>Does it remind you of something…?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54998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3B42C-035E-4660-A10E-454E7EA97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Estimation: the EM algorithm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8C23F2-AECD-4D8D-9E80-5A15B234F35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42959" y="1706191"/>
            <a:ext cx="8103790" cy="516731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588F0EE-B184-4AE3-B6DD-D6CCC9159935}"/>
              </a:ext>
            </a:extLst>
          </p:cNvPr>
          <p:cNvSpPr txBox="1"/>
          <p:nvPr/>
        </p:nvSpPr>
        <p:spPr>
          <a:xfrm>
            <a:off x="2358272" y="3087219"/>
            <a:ext cx="14599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“E-step”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DD7DA3-878A-4F41-9A74-0951DD97729E}"/>
              </a:ext>
            </a:extLst>
          </p:cNvPr>
          <p:cNvSpPr txBox="1"/>
          <p:nvPr/>
        </p:nvSpPr>
        <p:spPr>
          <a:xfrm>
            <a:off x="2358272" y="4888028"/>
            <a:ext cx="1299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“M-step”</a:t>
            </a:r>
          </a:p>
        </p:txBody>
      </p:sp>
    </p:spTree>
    <p:extLst>
      <p:ext uri="{BB962C8B-B14F-4D97-AF65-F5344CB8AC3E}">
        <p14:creationId xmlns:p14="http://schemas.microsoft.com/office/powerpoint/2010/main" val="16653370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4D184-DB38-4623-AA91-06A559262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Estimation: the EM algorithm</a:t>
            </a:r>
          </a:p>
        </p:txBody>
      </p:sp>
      <p:pic>
        <p:nvPicPr>
          <p:cNvPr id="6" name="Content Placeholder 5" descr="A close up of a map&#10;&#10;Description automatically generated">
            <a:extLst>
              <a:ext uri="{FF2B5EF4-FFF2-40B4-BE49-F238E27FC236}">
                <a16:creationId xmlns:a16="http://schemas.microsoft.com/office/drawing/2014/main" id="{24C603A4-3267-4845-B939-1A65721611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71702" y="1763510"/>
            <a:ext cx="5048596" cy="4333376"/>
          </a:xfr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CC8699F-ADEF-4406-B8A9-9EC18D72F274}"/>
              </a:ext>
            </a:extLst>
          </p:cNvPr>
          <p:cNvSpPr/>
          <p:nvPr/>
        </p:nvSpPr>
        <p:spPr>
          <a:xfrm>
            <a:off x="6392333" y="6596390"/>
            <a:ext cx="5799667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100" dirty="0"/>
              <a:t>By </a:t>
            </a:r>
            <a:r>
              <a:rPr lang="en-GB" sz="1100" dirty="0" err="1"/>
              <a:t>Chire</a:t>
            </a:r>
            <a:r>
              <a:rPr lang="en-GB" sz="1100" dirty="0"/>
              <a:t> - Own work, CC BY-SA 3.0, https://commons.wikimedia.org/w/index.php?curid=20494862</a:t>
            </a:r>
          </a:p>
        </p:txBody>
      </p:sp>
    </p:spTree>
    <p:extLst>
      <p:ext uri="{BB962C8B-B14F-4D97-AF65-F5344CB8AC3E}">
        <p14:creationId xmlns:p14="http://schemas.microsoft.com/office/powerpoint/2010/main" val="23263084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3D8E7-FD3E-4FCC-9471-A404F9342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Multivariate model-based clustering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5C43E7-B541-45C4-A9FA-DBCB97A49C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en-GB" dirty="0"/>
              <a:t>With 2 observed features:</a:t>
            </a:r>
          </a:p>
          <a:p>
            <a:pPr lvl="1"/>
            <a:r>
              <a:rPr lang="en-GB" dirty="0"/>
              <a:t>mean becomes a vector of 2 means</a:t>
            </a:r>
          </a:p>
          <a:p>
            <a:pPr lvl="1"/>
            <a:r>
              <a:rPr lang="en-GB" dirty="0"/>
              <a:t>standard deviation turns into a 2x2 variance-covariance matrix determining the shape of the cluster</a:t>
            </a:r>
          </a:p>
          <a:p>
            <a:r>
              <a:rPr lang="en-GB" dirty="0"/>
              <a:t>So we have multiple within-cluster parameters:</a:t>
            </a:r>
          </a:p>
          <a:p>
            <a:pPr lvl="1"/>
            <a:r>
              <a:rPr lang="en-GB" dirty="0"/>
              <a:t>Two means</a:t>
            </a:r>
          </a:p>
          <a:p>
            <a:pPr lvl="1"/>
            <a:r>
              <a:rPr lang="en-GB" dirty="0"/>
              <a:t>Two variances, one for each observed variable</a:t>
            </a:r>
          </a:p>
          <a:p>
            <a:pPr lvl="1"/>
            <a:r>
              <a:rPr lang="en-GB" dirty="0"/>
              <a:t>A single covariance among the features</a:t>
            </a:r>
          </a:p>
          <a:p>
            <a:r>
              <a:rPr lang="en-GB" dirty="0"/>
              <a:t>Together, the </a:t>
            </a:r>
            <a:r>
              <a:rPr lang="en-GB" dirty="0">
                <a:solidFill>
                  <a:schemeClr val="accent1"/>
                </a:solidFill>
              </a:rPr>
              <a:t>11 parameters </a:t>
            </a:r>
            <a:r>
              <a:rPr lang="en-GB" dirty="0"/>
              <a:t>define the likelihood in bivariate space, which from the top looks like ellipses</a:t>
            </a:r>
          </a:p>
        </p:txBody>
      </p:sp>
    </p:spTree>
    <p:extLst>
      <p:ext uri="{BB962C8B-B14F-4D97-AF65-F5344CB8AC3E}">
        <p14:creationId xmlns:p14="http://schemas.microsoft.com/office/powerpoint/2010/main" val="19023525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 descr="A close up of a map&#10;&#10;Description automatically generated">
            <a:extLst>
              <a:ext uri="{FF2B5EF4-FFF2-40B4-BE49-F238E27FC236}">
                <a16:creationId xmlns:a16="http://schemas.microsoft.com/office/drawing/2014/main" id="{248FEA2A-1760-467F-AE61-FA73EB2C84A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8201" y="1468775"/>
            <a:ext cx="10515599" cy="525622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3C052D9-00CD-49F7-B3B0-D726CC5EC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Multivariate model-based clustering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4AD0C2B-D55B-41CE-9CFD-550E59008C5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68775"/>
                <a:ext cx="10515600" cy="4351338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endChr m:val="|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)=</m:t>
                      </m:r>
                      <m:sSubSup>
                        <m:sSubSupPr>
                          <m:ctrlP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sup>
                      </m:sSub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𝑀𝑉𝑁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GB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GB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1" i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𝚺</m:t>
                              </m:r>
                            </m:e>
                            <m:sub>
                              <m:r>
                                <a:rPr lang="en-GB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(1 −</m:t>
                          </m:r>
                          <m: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sup>
                      </m:sSubSup>
                      <m:r>
                        <a:rPr lang="en-GB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𝑀𝑉𝑁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GB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GB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𝚺</m:t>
                              </m:r>
                            </m:e>
                            <m:sub>
                              <m:r>
                                <a:rPr lang="en-GB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4AD0C2B-D55B-41CE-9CFD-550E59008C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68775"/>
                <a:ext cx="10515600" cy="4351338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11086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57749-DEFF-154E-8DFC-A53933593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Number of parameters in a (multivariate) Gaussian mixture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7633E5-E419-9B49-B756-E94B647F4D6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b="1" dirty="0"/>
                  <a:t>The number of parameters in a multivariate mixture model is:</a:t>
                </a:r>
              </a:p>
              <a:p>
                <a:r>
                  <a:rPr lang="en-US" sz="3200" dirty="0"/>
                  <a:t>(the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GB" sz="32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sz="32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sz="32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GB" sz="32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sup>
                    </m:sSubSup>
                  </m:oMath>
                </a14:m>
                <a:r>
                  <a:rPr lang="en-US" sz="3200" dirty="0"/>
                  <a:t>) The number of components (classes), minus one, i.e.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sz="3200" dirty="0"/>
              </a:p>
              <a:p>
                <a:r>
                  <a:rPr lang="en-US" sz="3200" dirty="0"/>
                  <a:t>(the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32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32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3200" dirty="0"/>
                  <a:t>),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3200" dirty="0"/>
                  <a:t> (where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3200" dirty="0"/>
                  <a:t> is the number of variables)</a:t>
                </a:r>
              </a:p>
              <a:p>
                <a:r>
                  <a:rPr lang="en-US" sz="3200" dirty="0"/>
                  <a:t>(the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3200" b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𝚺</m:t>
                        </m:r>
                      </m:e>
                      <m:sub>
                        <m:r>
                          <a:rPr lang="en-US" sz="3200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</m:oMath>
                </a14:m>
                <a:r>
                  <a:rPr lang="en-US" sz="3200" dirty="0"/>
                  <a:t>), i.e.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3200" dirty="0"/>
                  <a:t> variances, 			</a:t>
                </a:r>
              </a:p>
              <a:p>
                <a:pPr lvl="2"/>
                <a:r>
                  <a:rPr lang="en-US" sz="2800" dirty="0"/>
                  <a:t>(or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800" dirty="0"/>
                  <a:t> variances when variances </a:t>
                </a:r>
                <a:r>
                  <a:rPr lang="en-US" sz="2800" b="1" dirty="0"/>
                  <a:t>equal over classes</a:t>
                </a:r>
                <a:r>
                  <a:rPr lang="en-US" sz="2800" dirty="0"/>
                  <a:t>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  <m:r>
                      <a:rPr lang="en-US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−1)/2</m:t>
                    </m:r>
                  </m:oMath>
                </a14:m>
                <a:r>
                  <a:rPr lang="en-US" sz="3200" dirty="0"/>
                  <a:t> covariances	</a:t>
                </a:r>
              </a:p>
              <a:p>
                <a:pPr lvl="2"/>
                <a:r>
                  <a:rPr lang="en-US" sz="2800" dirty="0"/>
                  <a:t>(or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−1)/2</m:t>
                    </m:r>
                  </m:oMath>
                </a14:m>
                <a:r>
                  <a:rPr lang="en-US" sz="2800" dirty="0"/>
                  <a:t> when covariances </a:t>
                </a:r>
                <a:r>
                  <a:rPr lang="en-US" sz="2800" b="1" dirty="0"/>
                  <a:t>equal over classes</a:t>
                </a:r>
                <a:r>
                  <a:rPr lang="en-US" sz="2800" dirty="0"/>
                  <a:t>)</a:t>
                </a:r>
              </a:p>
              <a:p>
                <a:pPr lvl="2"/>
                <a:r>
                  <a:rPr lang="en-US" sz="2800" dirty="0"/>
                  <a:t>(or 0 when variables are uncorrelated, spherical clusters)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7633E5-E419-9B49-B756-E94B647F4D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06" t="-2616" b="-17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24847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7D27F30-8B5E-674A-850F-F5052B482D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5133" y="1005494"/>
            <a:ext cx="5860789" cy="588695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9F29A1-288B-D040-ADA4-732E932A4F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52810"/>
                <a:ext cx="10515600" cy="51857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𝐾𝑝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𝐾𝑝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:r>
                  <a:rPr lang="en-US" b="1" i="1" dirty="0"/>
                  <a:t>For example: </a:t>
                </a:r>
                <a:endParaRPr lang="en-US" b="1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Ellipsoidal (correlated within cluster)</a:t>
                </a:r>
              </a:p>
              <a:p>
                <a:r>
                  <a:rPr lang="en-US" dirty="0"/>
                  <a:t>But: equal variances and covariance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m:rPr>
                          <m:aln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2+3×2+2+1</m:t>
                      </m:r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9F29A1-288B-D040-ADA4-732E932A4F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52810"/>
                <a:ext cx="10515600" cy="5185775"/>
              </a:xfrm>
              <a:blipFill>
                <a:blip r:embed="rId3"/>
                <a:stretch>
                  <a:fillRect l="-12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le 1">
            <a:extLst>
              <a:ext uri="{FF2B5EF4-FFF2-40B4-BE49-F238E27FC236}">
                <a16:creationId xmlns:a16="http://schemas.microsoft.com/office/drawing/2014/main" id="{3FF4B76C-BB0B-6F46-8689-4CBA1E4A3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98947"/>
          </a:xfrm>
        </p:spPr>
        <p:txBody>
          <a:bodyPr/>
          <a:lstStyle/>
          <a:p>
            <a:r>
              <a:rPr lang="en-US" dirty="0"/>
              <a:t>Number of parameters</a:t>
            </a:r>
          </a:p>
        </p:txBody>
      </p:sp>
    </p:spTree>
    <p:extLst>
      <p:ext uri="{BB962C8B-B14F-4D97-AF65-F5344CB8AC3E}">
        <p14:creationId xmlns:p14="http://schemas.microsoft.com/office/powerpoint/2010/main" val="25811631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86A88-420D-442F-83A7-40BAED843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Multivariate model-based clustering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7A903-5E89-4422-891E-7E5F34F38E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3000" dirty="0"/>
              <a:t>Cluster shape parameters (the variance-covariance matrix) </a:t>
            </a:r>
            <a:r>
              <a:rPr lang="en-GB" sz="3000" i="1" dirty="0"/>
              <a:t>can</a:t>
            </a:r>
            <a:r>
              <a:rPr lang="en-GB" sz="3000" dirty="0"/>
              <a:t> be constrained to be </a:t>
            </a:r>
            <a:r>
              <a:rPr lang="en-GB" sz="3000" i="1" dirty="0"/>
              <a:t>equal </a:t>
            </a:r>
            <a:r>
              <a:rPr lang="en-GB" sz="3000" dirty="0"/>
              <a:t>across clusters</a:t>
            </a:r>
          </a:p>
          <a:p>
            <a:r>
              <a:rPr lang="en-GB" sz="3000" dirty="0"/>
              <a:t>Can also be </a:t>
            </a:r>
            <a:r>
              <a:rPr lang="en-GB" sz="3000" i="1" dirty="0"/>
              <a:t>different </a:t>
            </a:r>
            <a:r>
              <a:rPr lang="en-GB" sz="3000" dirty="0"/>
              <a:t>across clusters</a:t>
            </a:r>
          </a:p>
          <a:p>
            <a:r>
              <a:rPr lang="en-GB" sz="3000" dirty="0"/>
              <a:t>More flexible, complex model</a:t>
            </a:r>
          </a:p>
          <a:p>
            <a:r>
              <a:rPr lang="en-GB" sz="3000" dirty="0"/>
              <a:t>Think: </a:t>
            </a:r>
            <a:r>
              <a:rPr lang="en-GB" sz="3000" b="1" dirty="0"/>
              <a:t>bias-variance </a:t>
            </a:r>
            <a:r>
              <a:rPr lang="en-GB" sz="3000" b="1" dirty="0" err="1"/>
              <a:t>tradeoff</a:t>
            </a:r>
            <a:endParaRPr lang="en-GB" sz="3000" b="1" dirty="0"/>
          </a:p>
          <a:p>
            <a:endParaRPr lang="en-GB" sz="3000" dirty="0"/>
          </a:p>
        </p:txBody>
      </p:sp>
    </p:spTree>
    <p:extLst>
      <p:ext uri="{BB962C8B-B14F-4D97-AF65-F5344CB8AC3E}">
        <p14:creationId xmlns:p14="http://schemas.microsoft.com/office/powerpoint/2010/main" val="21460648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79723-C792-4AC7-87F8-4D0625C2A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How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b="1" dirty="0" err="1">
                <a:latin typeface="Calibri" panose="020F0502020204030204" pitchFamily="34" charset="0"/>
                <a:cs typeface="Calibri" panose="020F0502020204030204" pitchFamily="34" charset="0"/>
              </a:rPr>
              <a:t>evaluate</a:t>
            </a:r>
            <a:r>
              <a:rPr lang="nl-NL" dirty="0"/>
              <a:t> clustering </a:t>
            </a:r>
            <a:r>
              <a:rPr lang="nl-NL" dirty="0" err="1"/>
              <a:t>results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56251-1240-4AA5-B8FC-12DFBF5790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E" dirty="0">
                <a:solidFill>
                  <a:schemeClr val="tx1">
                    <a:lumMod val="50000"/>
                    <a:lumOff val="50000"/>
                  </a:schemeClr>
                </a:solidFill>
              </a:rPr>
              <a:t>Use of external information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Visual exploration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Stability assessment / sensitivity analysis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Internal validation indexes</a:t>
            </a:r>
          </a:p>
          <a:p>
            <a:pPr marL="514350" indent="-514350">
              <a:buFont typeface="+mj-lt"/>
              <a:buAutoNum type="arabicPeriod"/>
            </a:pPr>
            <a:r>
              <a:rPr lang="en-IE" b="1" dirty="0"/>
              <a:t>Testing for clustering structure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D97DAAC-F226-D24A-B808-95E9B9404CE8}"/>
              </a:ext>
            </a:extLst>
          </p:cNvPr>
          <p:cNvSpPr/>
          <p:nvPr/>
        </p:nvSpPr>
        <p:spPr>
          <a:xfrm>
            <a:off x="3262313" y="5989677"/>
            <a:ext cx="892968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i="1" dirty="0"/>
              <a:t>Much more info &amp; helpful advice: Clustering strategy &amp; method selection (</a:t>
            </a:r>
            <a:r>
              <a:rPr lang="en-US" sz="2000" i="1" dirty="0" err="1"/>
              <a:t>ch</a:t>
            </a:r>
            <a:r>
              <a:rPr lang="en-US" sz="2000" i="1" dirty="0"/>
              <a:t> 31 of Handbook of clustering), </a:t>
            </a:r>
            <a:r>
              <a:rPr lang="en-US" sz="2000" i="1" dirty="0">
                <a:hlinkClick r:id="rId2"/>
              </a:rPr>
              <a:t>https://arxiv.org/pdf/1503.02059.pdf</a:t>
            </a:r>
            <a:r>
              <a:rPr lang="en-US" sz="2000" i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293300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B3B62D3-E419-6642-BDA4-2B89D744D4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731" y="0"/>
            <a:ext cx="10540538" cy="7027025"/>
          </a:xfrm>
          <a:prstGeom prst="rect">
            <a:avLst/>
          </a:prstGeom>
        </p:spPr>
      </p:pic>
      <p:pic>
        <p:nvPicPr>
          <p:cNvPr id="3" name="Picture 2" descr="A close up of a mans face&#10;&#10;Description automatically generated">
            <a:extLst>
              <a:ext uri="{FF2B5EF4-FFF2-40B4-BE49-F238E27FC236}">
                <a16:creationId xmlns:a16="http://schemas.microsoft.com/office/drawing/2014/main" id="{F615CD55-8B9E-8441-BDB5-545FC9C1D4A5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73866" y="3513512"/>
            <a:ext cx="982133" cy="982133"/>
          </a:xfrm>
          <a:prstGeom prst="rect">
            <a:avLst/>
          </a:prstGeom>
        </p:spPr>
      </p:pic>
      <p:pic>
        <p:nvPicPr>
          <p:cNvPr id="4" name="Picture 3" descr="Shape, square&#10;&#10;Description automatically generated">
            <a:extLst>
              <a:ext uri="{FF2B5EF4-FFF2-40B4-BE49-F238E27FC236}">
                <a16:creationId xmlns:a16="http://schemas.microsoft.com/office/drawing/2014/main" id="{FB27A316-A9B4-C442-9F34-92F978CBFBCA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61911" y="5418666"/>
            <a:ext cx="982133" cy="982133"/>
          </a:xfrm>
          <a:prstGeom prst="rect">
            <a:avLst/>
          </a:prstGeom>
        </p:spPr>
      </p:pic>
      <p:pic>
        <p:nvPicPr>
          <p:cNvPr id="6" name="Picture 5" descr="A person wearing a suit and tie smiling and looking at the camera&#10;&#10;Description automatically generated">
            <a:extLst>
              <a:ext uri="{FF2B5EF4-FFF2-40B4-BE49-F238E27FC236}">
                <a16:creationId xmlns:a16="http://schemas.microsoft.com/office/drawing/2014/main" id="{C4FB798B-BC8B-7545-9EC3-C9C16E2CCFD6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48712" y="1763275"/>
            <a:ext cx="982133" cy="982133"/>
          </a:xfrm>
          <a:prstGeom prst="rect">
            <a:avLst/>
          </a:prstGeom>
        </p:spPr>
      </p:pic>
      <p:pic>
        <p:nvPicPr>
          <p:cNvPr id="7" name="Picture 6" descr="A person wearing a suit and tie&#10;&#10;Description automatically generated">
            <a:extLst>
              <a:ext uri="{FF2B5EF4-FFF2-40B4-BE49-F238E27FC236}">
                <a16:creationId xmlns:a16="http://schemas.microsoft.com/office/drawing/2014/main" id="{2B00BF1C-0361-1D4F-B03B-A06B0065B25D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87933" y="3429000"/>
            <a:ext cx="982133" cy="982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5671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B3B62D3-E419-6642-BDA4-2B89D744D4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5731" y="0"/>
            <a:ext cx="10540537" cy="7027025"/>
          </a:xfrm>
          <a:prstGeom prst="rect">
            <a:avLst/>
          </a:prstGeom>
        </p:spPr>
      </p:pic>
      <p:pic>
        <p:nvPicPr>
          <p:cNvPr id="3" name="Picture 2" descr="A close up of a mans face&#10;&#10;Description automatically generated">
            <a:extLst>
              <a:ext uri="{FF2B5EF4-FFF2-40B4-BE49-F238E27FC236}">
                <a16:creationId xmlns:a16="http://schemas.microsoft.com/office/drawing/2014/main" id="{9C32A7B6-CCBF-704F-926B-649BE8A4BEA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10844" y="3429000"/>
            <a:ext cx="982133" cy="982133"/>
          </a:xfrm>
          <a:prstGeom prst="rect">
            <a:avLst/>
          </a:prstGeom>
        </p:spPr>
      </p:pic>
      <p:pic>
        <p:nvPicPr>
          <p:cNvPr id="4" name="Picture 3" descr="Shape, square&#10;&#10;Description automatically generated">
            <a:extLst>
              <a:ext uri="{FF2B5EF4-FFF2-40B4-BE49-F238E27FC236}">
                <a16:creationId xmlns:a16="http://schemas.microsoft.com/office/drawing/2014/main" id="{40E54507-2236-9E4B-8C29-8AF15AD3CBDC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48844" y="982132"/>
            <a:ext cx="982133" cy="982133"/>
          </a:xfrm>
          <a:prstGeom prst="rect">
            <a:avLst/>
          </a:prstGeom>
        </p:spPr>
      </p:pic>
      <p:pic>
        <p:nvPicPr>
          <p:cNvPr id="5" name="Picture 4" descr="A person wearing a suit and tie smiling and looking at the camera&#10;&#10;Description automatically generated">
            <a:extLst>
              <a:ext uri="{FF2B5EF4-FFF2-40B4-BE49-F238E27FC236}">
                <a16:creationId xmlns:a16="http://schemas.microsoft.com/office/drawing/2014/main" id="{11043132-BC4D-7F4E-8E11-754F87247CB4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67202" y="3920065"/>
            <a:ext cx="982133" cy="982133"/>
          </a:xfrm>
          <a:prstGeom prst="rect">
            <a:avLst/>
          </a:prstGeom>
        </p:spPr>
      </p:pic>
      <p:pic>
        <p:nvPicPr>
          <p:cNvPr id="6" name="Picture 5" descr="A person wearing a suit and tie&#10;&#10;Description automatically generated">
            <a:extLst>
              <a:ext uri="{FF2B5EF4-FFF2-40B4-BE49-F238E27FC236}">
                <a16:creationId xmlns:a16="http://schemas.microsoft.com/office/drawing/2014/main" id="{AFAC39E8-AD9C-FC4E-9283-9BA206E78307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25089" y="3920066"/>
            <a:ext cx="982133" cy="982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8826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B3B62D3-E419-6642-BDA4-2B89D744D4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05645" y="0"/>
            <a:ext cx="6180710" cy="412047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3DB3AB4-7578-AD40-B967-DD6A2D6C56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5644" y="0"/>
            <a:ext cx="6180711" cy="412047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FF6E40B-E41E-CC4B-8A50-7C958C86E218}"/>
              </a:ext>
            </a:extLst>
          </p:cNvPr>
          <p:cNvSpPr txBox="1"/>
          <p:nvPr/>
        </p:nvSpPr>
        <p:spPr>
          <a:xfrm>
            <a:off x="1923803" y="3988944"/>
            <a:ext cx="1026819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More clusters gives </a:t>
            </a:r>
            <a:r>
              <a:rPr lang="en-US" sz="2400" b="1" dirty="0"/>
              <a:t>better “fit” </a:t>
            </a:r>
            <a:r>
              <a:rPr lang="en-US" sz="2400" dirty="0"/>
              <a:t>in terms of reconstruction of the image </a:t>
            </a:r>
          </a:p>
          <a:p>
            <a:r>
              <a:rPr lang="en-US" sz="2400" dirty="0"/>
              <a:t>	(compression is less “lossy”)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More clusters gives </a:t>
            </a:r>
            <a:r>
              <a:rPr lang="en-US" sz="2400" b="1" dirty="0"/>
              <a:t>bigger file size</a:t>
            </a:r>
          </a:p>
          <a:p>
            <a:pPr lvl="1"/>
            <a:r>
              <a:rPr lang="en-US" sz="2400" b="1" dirty="0"/>
              <a:t>  	</a:t>
            </a:r>
            <a:r>
              <a:rPr lang="en-US" sz="2400" dirty="0"/>
              <a:t>(solution is more complex, takes more bytes to store)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So the </a:t>
            </a:r>
            <a:r>
              <a:rPr lang="en-US" sz="2400" b="1" dirty="0"/>
              <a:t>model loss and model complexity trade off against each other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This is a common theme in (unsupervised) machine learning </a:t>
            </a:r>
            <a:r>
              <a:rPr lang="en-US" sz="2400" dirty="0">
                <a:solidFill>
                  <a:schemeClr val="bg2">
                    <a:lumMod val="75000"/>
                  </a:schemeClr>
                </a:solidFill>
              </a:rPr>
              <a:t>and you should remember this for model-based clustering lecture</a:t>
            </a:r>
          </a:p>
        </p:txBody>
      </p:sp>
    </p:spTree>
    <p:extLst>
      <p:ext uri="{BB962C8B-B14F-4D97-AF65-F5344CB8AC3E}">
        <p14:creationId xmlns:p14="http://schemas.microsoft.com/office/powerpoint/2010/main" val="2818098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FBA7E-148C-4C9F-9994-D13531D11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Model fit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D5CD33-BA3F-430D-A4A7-4A8C348D30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dirty="0"/>
                  <a:t>The likelihood says how well the model fits to the data</a:t>
                </a:r>
              </a:p>
              <a:p>
                <a:r>
                  <a:rPr lang="en-GB" dirty="0"/>
                  <a:t>It forms the basis of </a:t>
                </a:r>
                <a:r>
                  <a:rPr lang="en-GB" dirty="0">
                    <a:solidFill>
                      <a:schemeClr val="accent1"/>
                    </a:solidFill>
                  </a:rPr>
                  <a:t>information criteria </a:t>
                </a:r>
                <a:r>
                  <a:rPr lang="en-GB" dirty="0"/>
                  <a:t>(lower is better)</a:t>
                </a:r>
              </a:p>
              <a:p>
                <a:pPr lvl="1"/>
                <a:r>
                  <a:rPr lang="en-GB" dirty="0"/>
                  <a:t>Can be used to compare different clustering models and pick the best one</a:t>
                </a:r>
                <a:br>
                  <a:rPr lang="en-GB" dirty="0"/>
                </a:b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𝐵𝐼𝐶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=−2⋅</m:t>
                      </m:r>
                      <m:r>
                        <m:rPr>
                          <m:sty m:val="p"/>
                        </m:rPr>
                        <a:rPr lang="en-GB" b="0" i="1" smtClean="0">
                          <a:latin typeface="Cambria Math" panose="02040503050406030204" pitchFamily="18" charset="0"/>
                        </a:rPr>
                        <m:t>log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n-GB" b="0" i="1" smtClean="0">
                          <a:latin typeface="Cambria Math" panose="02040503050406030204" pitchFamily="18" charset="0"/>
                        </a:rPr>
                        <m:t>log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br>
                  <a:rPr lang="en-GB" dirty="0"/>
                </a:br>
                <a:endParaRPr lang="en-GB" dirty="0"/>
              </a:p>
              <a:p>
                <a:pPr lvl="1"/>
                <a:endParaRPr lang="en-GB" dirty="0"/>
              </a:p>
              <a:p>
                <a:pPr lvl="1"/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ℓ </m:t>
                    </m:r>
                  </m:oMath>
                </a14:m>
                <a:r>
                  <a:rPr lang="en-GB" dirty="0"/>
                  <a:t>  : Likelihood,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endChr m:val="|"/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data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/>
              </a:p>
              <a:p>
                <a:pPr lvl="1"/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−2⋅</m:t>
                    </m:r>
                    <m:r>
                      <m:rPr>
                        <m:sty m:val="p"/>
                      </m:rPr>
                      <a:rPr lang="en-GB" i="1">
                        <a:latin typeface="Cambria Math" panose="02040503050406030204" pitchFamily="18" charset="0"/>
                      </a:rPr>
                      <m:t>log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</m:d>
                  </m:oMath>
                </a14:m>
                <a:r>
                  <a:rPr lang="en-GB" dirty="0"/>
                  <a:t> : </a:t>
                </a:r>
                <a:r>
                  <a:rPr lang="en-GB" i="1" dirty="0"/>
                  <a:t>“Deviance”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GB" dirty="0"/>
                  <a:t> : Number of parameters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dirty="0"/>
                  <a:t>  : Number of observations/examples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D5CD33-BA3F-430D-A4A7-4A8C348D30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2168" r="-3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89917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C5018-6E9E-4120-8EBD-DAA6E08C1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Model fit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CA2228-B9F3-4733-9FEA-8C68B5AB973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 err="1"/>
                  <a:t>Tradeoff</a:t>
                </a:r>
                <a:r>
                  <a:rPr lang="en-GB" dirty="0"/>
                  <a:t> between </a:t>
                </a:r>
                <a:r>
                  <a:rPr lang="en-GB" dirty="0">
                    <a:solidFill>
                      <a:schemeClr val="accent1"/>
                    </a:solidFill>
                  </a:rPr>
                  <a:t>fit </a:t>
                </a:r>
                <a:r>
                  <a:rPr lang="en-GB" dirty="0"/>
                  <a:t>and </a:t>
                </a:r>
                <a:r>
                  <a:rPr lang="en-GB" dirty="0">
                    <a:solidFill>
                      <a:srgbClr val="00B050"/>
                    </a:solidFill>
                  </a:rPr>
                  <a:t>complexity</a:t>
                </a:r>
              </a:p>
              <a:p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−2⋅</m:t>
                      </m:r>
                      <m:r>
                        <m:rPr>
                          <m:sty m:val="p"/>
                        </m:rPr>
                        <a:rPr lang="en-GB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log</m:t>
                      </m:r>
                      <m:d>
                        <m:dPr>
                          <m:ctrlP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GB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n-GB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log</m:t>
                      </m:r>
                      <m:d>
                        <m:dPr>
                          <m:ctrlPr>
                            <a:rPr lang="en-GB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Think: </a:t>
                </a:r>
                <a:r>
                  <a:rPr lang="en-GB" dirty="0">
                    <a:solidFill>
                      <a:schemeClr val="accent1"/>
                    </a:solidFill>
                  </a:rPr>
                  <a:t>bias</a:t>
                </a:r>
                <a:r>
                  <a:rPr lang="en-GB" dirty="0"/>
                  <a:t> and </a:t>
                </a:r>
                <a:r>
                  <a:rPr lang="en-GB" dirty="0">
                    <a:solidFill>
                      <a:srgbClr val="00B050"/>
                    </a:solidFill>
                  </a:rPr>
                  <a:t>variance </a:t>
                </a:r>
                <a:r>
                  <a:rPr lang="en-GB" dirty="0" err="1"/>
                  <a:t>tradeoff</a:t>
                </a:r>
                <a:endParaRPr lang="en-GB" dirty="0"/>
              </a:p>
              <a:p>
                <a:pPr lvl="1"/>
                <a:r>
                  <a:rPr lang="en-GB" dirty="0"/>
                  <a:t>Variance also has to do with “clustering stability”</a:t>
                </a:r>
              </a:p>
              <a:p>
                <a:endParaRPr lang="en-GB" dirty="0"/>
              </a:p>
              <a:p>
                <a:r>
                  <a:rPr lang="en-GB" dirty="0"/>
                  <a:t>Better fit </a:t>
                </a:r>
                <a:r>
                  <a:rPr lang="en-GB" i="1" dirty="0"/>
                  <a:t>and</a:t>
                </a:r>
                <a:r>
                  <a:rPr lang="en-GB" dirty="0"/>
                  <a:t> lower complexity = better cluster solution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CA2228-B9F3-4733-9FEA-8C68B5AB97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 b="-29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Left Brace 4">
            <a:extLst>
              <a:ext uri="{FF2B5EF4-FFF2-40B4-BE49-F238E27FC236}">
                <a16:creationId xmlns:a16="http://schemas.microsoft.com/office/drawing/2014/main" id="{627568EE-9405-0F49-A82A-7EDF1FFFA0F8}"/>
              </a:ext>
            </a:extLst>
          </p:cNvPr>
          <p:cNvSpPr/>
          <p:nvPr/>
        </p:nvSpPr>
        <p:spPr>
          <a:xfrm rot="16200000">
            <a:off x="4972986" y="2420911"/>
            <a:ext cx="314794" cy="1701384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4D7BB4E0-6D0D-2544-A3F9-1F1E82BD6D56}"/>
              </a:ext>
            </a:extLst>
          </p:cNvPr>
          <p:cNvSpPr/>
          <p:nvPr/>
        </p:nvSpPr>
        <p:spPr>
          <a:xfrm rot="16200000">
            <a:off x="6960431" y="2489616"/>
            <a:ext cx="314795" cy="1563974"/>
          </a:xfrm>
          <a:prstGeom prst="leftBrac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B28C52-C807-BC49-A2AF-0473D52811AC}"/>
              </a:ext>
            </a:extLst>
          </p:cNvPr>
          <p:cNvSpPr/>
          <p:nvPr/>
        </p:nvSpPr>
        <p:spPr>
          <a:xfrm>
            <a:off x="2573952" y="3459336"/>
            <a:ext cx="278544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dirty="0">
                <a:solidFill>
                  <a:srgbClr val="4472C4"/>
                </a:solidFill>
              </a:rPr>
              <a:t>“Training data fit”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F3590E0-5334-E042-8E8D-3F597E2EE255}"/>
              </a:ext>
            </a:extLst>
          </p:cNvPr>
          <p:cNvSpPr/>
          <p:nvPr/>
        </p:nvSpPr>
        <p:spPr>
          <a:xfrm>
            <a:off x="6304770" y="3478074"/>
            <a:ext cx="271574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dirty="0">
                <a:solidFill>
                  <a:schemeClr val="accent6"/>
                </a:solidFill>
              </a:rPr>
              <a:t>“Model capacity”</a:t>
            </a:r>
            <a:endParaRPr lang="en-US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0992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/>
      <p:bldP spid="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5F097-DC52-6441-A8C1-35FF65E4B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model fit criteria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C3B7F5-A71A-8F46-BA08-870E4167601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US" dirty="0"/>
                  <a:t>BIC: 		“Schwarz/Bayesian information criterion”</a:t>
                </a:r>
              </a:p>
              <a:p>
                <a:r>
                  <a:rPr lang="en-US" dirty="0"/>
                  <a:t>AIC: 		“Another/Akaike information criterion”</a:t>
                </a:r>
              </a:p>
              <a:p>
                <a:pPr marL="0" indent="0">
                  <a:buNone/>
                </a:pPr>
                <a:r>
                  <a:rPr lang="en-US" i="1" dirty="0"/>
                  <a:t>		(same as BIC but penalty is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i="1" dirty="0"/>
                  <a:t>)</a:t>
                </a:r>
              </a:p>
              <a:p>
                <a:r>
                  <a:rPr lang="en-US" dirty="0"/>
                  <a:t>AIC3: 	The same as AIC but penalty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dirty="0"/>
              </a:p>
              <a:p>
                <a:r>
                  <a:rPr lang="en-US" dirty="0"/>
                  <a:t>ICL: 		“Integrated information criterion” </a:t>
                </a:r>
                <a:r>
                  <a:rPr lang="en-US" sz="2000" dirty="0"/>
                  <a:t>(</a:t>
                </a:r>
                <a:r>
                  <a:rPr lang="en-US" sz="2000" dirty="0" err="1"/>
                  <a:t>Biernacki</a:t>
                </a:r>
                <a:r>
                  <a:rPr lang="en-US" sz="2000" dirty="0"/>
                  <a:t> et al. 2000)</a:t>
                </a:r>
              </a:p>
              <a:p>
                <a:pPr marL="0" indent="0">
                  <a:buNone/>
                </a:pPr>
                <a:r>
                  <a:rPr lang="en-US" i="1" dirty="0"/>
                  <a:t>(Same as BIC but reconstruction loss includes the assigned clusters)</a:t>
                </a:r>
              </a:p>
              <a:p>
                <a:r>
                  <a:rPr lang="en-US" i="1" dirty="0"/>
                  <a:t>(Others based on):</a:t>
                </a:r>
              </a:p>
              <a:p>
                <a:pPr lvl="1"/>
                <a:r>
                  <a:rPr lang="en-US" i="1" dirty="0"/>
                  <a:t>Minimum description length (MDL) </a:t>
                </a:r>
              </a:p>
              <a:p>
                <a:pPr lvl="1"/>
                <a:r>
                  <a:rPr lang="en-US" i="1" dirty="0"/>
                  <a:t>Bayesian marginal likelihood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C3B7F5-A71A-8F46-BA08-870E416760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1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92000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88B4D-BFC6-4F86-9912-806136122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Model-based clustering in R/Python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63B094-CAE8-41C6-858C-58D0DF26B1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 err="1">
                <a:latin typeface="Courier" pitchFamily="2" charset="0"/>
              </a:rPr>
              <a:t>mclust</a:t>
            </a:r>
            <a:r>
              <a:rPr lang="en-GB" dirty="0"/>
              <a:t> implements multivariate model-based clustering</a:t>
            </a:r>
          </a:p>
          <a:p>
            <a:r>
              <a:rPr lang="en-GB" dirty="0"/>
              <a:t>Provides an easy interface to fit several parameterizations</a:t>
            </a:r>
          </a:p>
          <a:p>
            <a:r>
              <a:rPr lang="en-GB" dirty="0"/>
              <a:t>Model comparison with BIC</a:t>
            </a:r>
          </a:p>
          <a:p>
            <a:r>
              <a:rPr lang="en-GB" dirty="0"/>
              <a:t>Plotting functionality</a:t>
            </a:r>
          </a:p>
          <a:p>
            <a:r>
              <a:rPr lang="en-GB" dirty="0"/>
              <a:t>In Python: </a:t>
            </a:r>
            <a:r>
              <a:rPr lang="en-IE" sz="2400">
                <a:latin typeface="Fira Code" pitchFamily="49" charset="0"/>
                <a:ea typeface="Fira Code" pitchFamily="49" charset="0"/>
                <a:cs typeface="Fira Code" pitchFamily="49" charset="0"/>
              </a:rPr>
              <a:t>sklearn.mixture.GaussianMixture</a:t>
            </a:r>
            <a:endParaRPr lang="en-GB" sz="2400" dirty="0">
              <a:latin typeface="Fira Code" pitchFamily="49" charset="0"/>
              <a:ea typeface="Fira Code" pitchFamily="49" charset="0"/>
              <a:cs typeface="Fira Code" pitchFamily="49" charset="0"/>
            </a:endParaRPr>
          </a:p>
          <a:p>
            <a:pPr marL="0" indent="0">
              <a:buNone/>
            </a:pPr>
            <a:endParaRPr lang="en-GB" dirty="0"/>
          </a:p>
          <a:p>
            <a:pPr marL="457200" lvl="1" indent="0">
              <a:buNone/>
            </a:pPr>
            <a:r>
              <a:rPr lang="en-GB" sz="2000" dirty="0">
                <a:latin typeface="Courier" pitchFamily="2" charset="0"/>
              </a:rPr>
              <a:t>&gt; library(</a:t>
            </a:r>
            <a:r>
              <a:rPr lang="en-GB" sz="2000" dirty="0" err="1">
                <a:latin typeface="Courier" pitchFamily="2" charset="0"/>
              </a:rPr>
              <a:t>mclust</a:t>
            </a:r>
            <a:r>
              <a:rPr lang="en-GB" sz="2000" dirty="0">
                <a:latin typeface="Courier" pitchFamily="2" charset="0"/>
              </a:rPr>
              <a:t>)</a:t>
            </a:r>
          </a:p>
          <a:p>
            <a:pPr marL="457200" lvl="1" indent="0">
              <a:buNone/>
            </a:pPr>
            <a:r>
              <a:rPr lang="en-GB" sz="2000" dirty="0">
                <a:latin typeface="Courier" pitchFamily="2" charset="0"/>
              </a:rPr>
              <a:t>    __  ___________    __  _____________</a:t>
            </a:r>
          </a:p>
          <a:p>
            <a:pPr marL="457200" lvl="1" indent="0">
              <a:buNone/>
            </a:pPr>
            <a:r>
              <a:rPr lang="en-GB" sz="2000" dirty="0">
                <a:latin typeface="Courier" pitchFamily="2" charset="0"/>
              </a:rPr>
              <a:t>   /  |/  / ____/ /   / / / / ___/_  __/</a:t>
            </a:r>
          </a:p>
          <a:p>
            <a:pPr marL="457200" lvl="1" indent="0">
              <a:buNone/>
            </a:pPr>
            <a:r>
              <a:rPr lang="en-GB" sz="2000" dirty="0">
                <a:latin typeface="Courier" pitchFamily="2" charset="0"/>
              </a:rPr>
              <a:t>  / /|_/ / /   / /   / / / /\__ \ / /   </a:t>
            </a:r>
          </a:p>
          <a:p>
            <a:pPr marL="457200" lvl="1" indent="0">
              <a:buNone/>
            </a:pPr>
            <a:r>
              <a:rPr lang="en-GB" sz="2000" dirty="0">
                <a:latin typeface="Courier" pitchFamily="2" charset="0"/>
              </a:rPr>
              <a:t> / /  / / /___/ /___/ /_/ /___/ // /    </a:t>
            </a:r>
          </a:p>
          <a:p>
            <a:pPr marL="457200" lvl="1" indent="0">
              <a:buNone/>
            </a:pPr>
            <a:r>
              <a:rPr lang="en-GB" sz="2000" dirty="0">
                <a:latin typeface="Courier" pitchFamily="2" charset="0"/>
              </a:rPr>
              <a:t>/_/  /_/\____/_____/\____//____//_/    version 5.4.6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122526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B4D9E-C0B2-4F83-90F8-06C54120D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Model-based clustering in 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4304C8-383C-4D17-B7BF-A70B63033D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Mclust</a:t>
            </a:r>
            <a:r>
              <a:rPr lang="en-US" dirty="0"/>
              <a:t> uses an identifier for each possible parametrization :</a:t>
            </a:r>
          </a:p>
          <a:p>
            <a:r>
              <a:rPr lang="en-US" b="1" dirty="0"/>
              <a:t>E</a:t>
            </a:r>
            <a:r>
              <a:rPr lang="en-US" dirty="0"/>
              <a:t> for </a:t>
            </a:r>
            <a:r>
              <a:rPr lang="en-US" b="1" dirty="0"/>
              <a:t>e</a:t>
            </a:r>
            <a:r>
              <a:rPr lang="en-US" dirty="0"/>
              <a:t>qual, </a:t>
            </a:r>
            <a:r>
              <a:rPr lang="en-US" b="1" dirty="0"/>
              <a:t>V</a:t>
            </a:r>
            <a:r>
              <a:rPr lang="en-US" dirty="0"/>
              <a:t> for </a:t>
            </a:r>
            <a:r>
              <a:rPr lang="en-US" b="1" dirty="0"/>
              <a:t>v</a:t>
            </a:r>
            <a:r>
              <a:rPr lang="en-US" dirty="0"/>
              <a:t>ariable, </a:t>
            </a:r>
            <a:r>
              <a:rPr lang="en-US" b="1" dirty="0"/>
              <a:t>I </a:t>
            </a:r>
            <a:r>
              <a:rPr lang="en-US" dirty="0"/>
              <a:t>for identity matrix</a:t>
            </a:r>
            <a:r>
              <a:rPr lang="en-GB" dirty="0"/>
              <a:t>: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lvl="1"/>
            <a:r>
              <a:rPr lang="en-GB" dirty="0">
                <a:solidFill>
                  <a:schemeClr val="accent1"/>
                </a:solidFill>
              </a:rPr>
              <a:t>Volume</a:t>
            </a:r>
            <a:r>
              <a:rPr lang="en-GB" dirty="0"/>
              <a:t> (size of the clusters in data space): 	</a:t>
            </a:r>
          </a:p>
          <a:p>
            <a:pPr lvl="1"/>
            <a:r>
              <a:rPr lang="en-GB" dirty="0">
                <a:solidFill>
                  <a:schemeClr val="accent1"/>
                </a:solidFill>
              </a:rPr>
              <a:t>Shape</a:t>
            </a:r>
            <a:r>
              <a:rPr lang="en-GB" dirty="0"/>
              <a:t> (circle or ellipse)				</a:t>
            </a:r>
          </a:p>
          <a:p>
            <a:pPr lvl="1"/>
            <a:r>
              <a:rPr lang="en-GB" dirty="0">
                <a:solidFill>
                  <a:schemeClr val="accent1"/>
                </a:solidFill>
              </a:rPr>
              <a:t>Orientation</a:t>
            </a:r>
            <a:r>
              <a:rPr lang="en-GB" dirty="0"/>
              <a:t> (the angle of the ellipse)</a:t>
            </a:r>
          </a:p>
          <a:p>
            <a:endParaRPr lang="en-US" dirty="0"/>
          </a:p>
          <a:p>
            <a:r>
              <a:rPr lang="en-US" dirty="0"/>
              <a:t>E.g. an “EEE” model has equal volume, shape and orientation</a:t>
            </a:r>
          </a:p>
          <a:p>
            <a:r>
              <a:rPr lang="en-US" dirty="0"/>
              <a:t>A VVV model has variable volume, shape, and orientation</a:t>
            </a:r>
          </a:p>
          <a:p>
            <a:r>
              <a:rPr lang="en-US" dirty="0"/>
              <a:t>A VVE model has variable volume and shape but equal orientation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C14FB14-4825-DB4D-A8E6-51BC06FFBAEC}"/>
              </a:ext>
            </a:extLst>
          </p:cNvPr>
          <p:cNvSpPr/>
          <p:nvPr/>
        </p:nvSpPr>
        <p:spPr>
          <a:xfrm>
            <a:off x="7794236" y="3189325"/>
            <a:ext cx="200416" cy="2004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DC28ABC-BABE-444F-905D-98C17E416413}"/>
              </a:ext>
            </a:extLst>
          </p:cNvPr>
          <p:cNvSpPr/>
          <p:nvPr/>
        </p:nvSpPr>
        <p:spPr>
          <a:xfrm>
            <a:off x="8295275" y="3045276"/>
            <a:ext cx="488515" cy="48851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97802CD-F5BE-E440-B17D-52CD9F9E01DE}"/>
              </a:ext>
            </a:extLst>
          </p:cNvPr>
          <p:cNvSpPr/>
          <p:nvPr/>
        </p:nvSpPr>
        <p:spPr>
          <a:xfrm>
            <a:off x="7794236" y="3655599"/>
            <a:ext cx="200416" cy="2004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8BDF11-012A-764B-8AD7-7FF0392F11EE}"/>
              </a:ext>
            </a:extLst>
          </p:cNvPr>
          <p:cNvSpPr/>
          <p:nvPr/>
        </p:nvSpPr>
        <p:spPr>
          <a:xfrm>
            <a:off x="8295275" y="3664019"/>
            <a:ext cx="488515" cy="1661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5820A99-4C8F-6042-A9B5-54A40A305FA3}"/>
              </a:ext>
            </a:extLst>
          </p:cNvPr>
          <p:cNvSpPr/>
          <p:nvPr/>
        </p:nvSpPr>
        <p:spPr>
          <a:xfrm>
            <a:off x="7650186" y="4121873"/>
            <a:ext cx="488515" cy="165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9FAF8F5-718B-C440-8F46-DB572750F395}"/>
              </a:ext>
            </a:extLst>
          </p:cNvPr>
          <p:cNvSpPr/>
          <p:nvPr/>
        </p:nvSpPr>
        <p:spPr>
          <a:xfrm rot="19357685">
            <a:off x="8295566" y="4091629"/>
            <a:ext cx="488515" cy="1661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38089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E53BAEAB-39FC-41CC-8F45-00AF8C92D4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8200" y="1236653"/>
            <a:ext cx="10515600" cy="5256222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A2A8B4C-010D-44D5-B3D9-73E71879B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Model-based clustering in </a:t>
            </a:r>
            <a:r>
              <a:rPr lang="en-GB" dirty="0">
                <a:latin typeface="Fira Code" panose="020B0809050000020004" pitchFamily="49" charset="0"/>
                <a:ea typeface="Fira Code" panose="020B0809050000020004" pitchFamily="49" charset="0"/>
              </a:rPr>
              <a:t>R</a:t>
            </a:r>
            <a:r>
              <a:rPr lang="en-GB" dirty="0"/>
              <a:t>: </a:t>
            </a:r>
            <a:br>
              <a:rPr lang="en-GB" dirty="0"/>
            </a:br>
            <a:r>
              <a:rPr lang="en-GB" dirty="0"/>
              <a:t>		EEE 		   vs. 		VVV</a:t>
            </a:r>
          </a:p>
        </p:txBody>
      </p:sp>
    </p:spTree>
    <p:extLst>
      <p:ext uri="{BB962C8B-B14F-4D97-AF65-F5344CB8AC3E}">
        <p14:creationId xmlns:p14="http://schemas.microsoft.com/office/powerpoint/2010/main" val="17575498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A6472-753E-4C41-B659-110C7321E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TOP SECRET 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E9BAF3-4058-B44F-80A0-A1655F785C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K-MEANS IS A GMM WITH THE FOLLOWING MODEL:</a:t>
            </a:r>
          </a:p>
          <a:p>
            <a:endParaRPr lang="en-US" dirty="0"/>
          </a:p>
          <a:p>
            <a:r>
              <a:rPr lang="en-US" dirty="0"/>
              <a:t>All prior class proportions are 1/K;</a:t>
            </a:r>
          </a:p>
          <a:p>
            <a:r>
              <a:rPr lang="en-US" b="1" dirty="0">
                <a:latin typeface="Fira Code" panose="020B0809050000020004" pitchFamily="49" charset="0"/>
                <a:ea typeface="Fira Code" panose="020B0809050000020004" pitchFamily="49" charset="0"/>
              </a:rPr>
              <a:t>EII </a:t>
            </a:r>
            <a:r>
              <a:rPr lang="en-US" dirty="0"/>
              <a:t>model: equal volume, only circles;</a:t>
            </a:r>
          </a:p>
          <a:p>
            <a:r>
              <a:rPr lang="en-US" dirty="0"/>
              <a:t>All posteriors are either 0 or 1 (“classification likelihood”).</a:t>
            </a:r>
          </a:p>
        </p:txBody>
      </p:sp>
    </p:spTree>
    <p:extLst>
      <p:ext uri="{BB962C8B-B14F-4D97-AF65-F5344CB8AC3E}">
        <p14:creationId xmlns:p14="http://schemas.microsoft.com/office/powerpoint/2010/main" val="108146675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7BA29-C6C2-44B0-A131-82882058B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Model-based clustering in 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FBDEC2-B301-47AB-832B-AAACF26394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06440" cy="4351338"/>
          </a:xfrm>
        </p:spPr>
        <p:txBody>
          <a:bodyPr/>
          <a:lstStyle/>
          <a:p>
            <a:r>
              <a:rPr lang="en-GB" dirty="0"/>
              <a:t>How </a:t>
            </a:r>
            <a:r>
              <a:rPr lang="en-GB" dirty="0" err="1">
                <a:latin typeface="Courier" pitchFamily="2" charset="0"/>
              </a:rPr>
              <a:t>mclust</a:t>
            </a:r>
            <a:r>
              <a:rPr lang="en-GB" dirty="0"/>
              <a:t> optimizes hyperparameters:</a:t>
            </a:r>
          </a:p>
          <a:p>
            <a:pPr lvl="1"/>
            <a:r>
              <a:rPr lang="en-GB" dirty="0"/>
              <a:t>Fit all the models with up to 9 clusters (or more, your choice!)</a:t>
            </a:r>
          </a:p>
          <a:p>
            <a:pPr lvl="1"/>
            <a:r>
              <a:rPr lang="en-GB" dirty="0"/>
              <a:t>Compute the BIC (or ICL) of each model</a:t>
            </a:r>
          </a:p>
          <a:p>
            <a:pPr lvl="1"/>
            <a:r>
              <a:rPr lang="en-GB" dirty="0"/>
              <a:t>Choose the model with the best BIC</a:t>
            </a:r>
          </a:p>
          <a:p>
            <a:endParaRPr lang="en-GB" dirty="0"/>
          </a:p>
          <a:p>
            <a:r>
              <a:rPr lang="en-GB" dirty="0"/>
              <a:t>R assignment: using </a:t>
            </a:r>
            <a:r>
              <a:rPr lang="en-GB" dirty="0" err="1"/>
              <a:t>mclust</a:t>
            </a:r>
            <a:endParaRPr lang="en-GB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5DA0E9E-5602-45C0-9BF4-AE48B7AF42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644640" y="1379912"/>
            <a:ext cx="5486400" cy="502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BDABCF0-7967-4CDA-BC93-EA358504284E}"/>
              </a:ext>
            </a:extLst>
          </p:cNvPr>
          <p:cNvCxnSpPr>
            <a:cxnSpLocks/>
          </p:cNvCxnSpPr>
          <p:nvPr/>
        </p:nvCxnSpPr>
        <p:spPr>
          <a:xfrm flipH="1">
            <a:off x="8587047" y="1027906"/>
            <a:ext cx="532015" cy="596280"/>
          </a:xfrm>
          <a:prstGeom prst="straightConnector1">
            <a:avLst/>
          </a:prstGeom>
          <a:ln w="38100">
            <a:solidFill>
              <a:srgbClr val="99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47C7D85-2607-4194-95B1-A03FFC07C00B}"/>
              </a:ext>
            </a:extLst>
          </p:cNvPr>
          <p:cNvSpPr txBox="1"/>
          <p:nvPr/>
        </p:nvSpPr>
        <p:spPr>
          <a:xfrm>
            <a:off x="9119062" y="776738"/>
            <a:ext cx="1645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VVV, 3 clusters</a:t>
            </a:r>
          </a:p>
        </p:txBody>
      </p:sp>
    </p:spTree>
    <p:extLst>
      <p:ext uri="{BB962C8B-B14F-4D97-AF65-F5344CB8AC3E}">
        <p14:creationId xmlns:p14="http://schemas.microsoft.com/office/powerpoint/2010/main" val="105702582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0E849D1-07F0-E744-9B7D-3268823DD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973" y="1701187"/>
            <a:ext cx="7124973" cy="516731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76E4AF2-DF26-D143-A11E-BDA7CC7BA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selection using BIC for image example</a:t>
            </a:r>
          </a:p>
        </p:txBody>
      </p:sp>
      <p:pic>
        <p:nvPicPr>
          <p:cNvPr id="4" name="Picture 3" descr="A person wearing a suit and tie&#10;&#10;Description automatically generated">
            <a:extLst>
              <a:ext uri="{FF2B5EF4-FFF2-40B4-BE49-F238E27FC236}">
                <a16:creationId xmlns:a16="http://schemas.microsoft.com/office/drawing/2014/main" id="{EB9656CD-AFE8-804D-8870-3587CE527A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12000" y="1788499"/>
            <a:ext cx="5080000" cy="5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28502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D27D7-4935-804F-A258-06DA9C0C6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D2F9A7-5C3E-2342-B71A-19E2DED02D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581183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&gt; </a:t>
            </a:r>
            <a:r>
              <a:rPr lang="en-US" dirty="0" err="1">
                <a:latin typeface="Courier" pitchFamily="2" charset="0"/>
              </a:rPr>
              <a:t>fit_mc</a:t>
            </a:r>
            <a:r>
              <a:rPr lang="en-US" dirty="0">
                <a:latin typeface="Courier" pitchFamily="2" charset="0"/>
              </a:rPr>
              <a:t> &lt;- </a:t>
            </a:r>
            <a:r>
              <a:rPr lang="en-US" dirty="0" err="1">
                <a:latin typeface="Courier" pitchFamily="2" charset="0"/>
              </a:rPr>
              <a:t>Mclust</a:t>
            </a:r>
            <a:r>
              <a:rPr lang="en-US" dirty="0">
                <a:latin typeface="Courier" pitchFamily="2" charset="0"/>
              </a:rPr>
              <a:t>(</a:t>
            </a:r>
            <a:r>
              <a:rPr lang="en-US" dirty="0" err="1">
                <a:latin typeface="Courier" pitchFamily="2" charset="0"/>
              </a:rPr>
              <a:t>im_ar</a:t>
            </a:r>
            <a:r>
              <a:rPr lang="en-US" dirty="0">
                <a:latin typeface="Courier" pitchFamily="2" charset="0"/>
              </a:rPr>
              <a:t>, G = 1:10)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fitting ...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  |========================================================| 100%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&gt; summary(</a:t>
            </a:r>
            <a:r>
              <a:rPr lang="en-US" dirty="0" err="1">
                <a:latin typeface="Courier" pitchFamily="2" charset="0"/>
              </a:rPr>
              <a:t>fit_mc</a:t>
            </a:r>
            <a:r>
              <a:rPr lang="en-US" dirty="0">
                <a:latin typeface="Courier" pitchFamily="2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---------------------------------------------------- 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Gaussian finite mixture model fitted by EM algorithm 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---------------------------------------------------- </a:t>
            </a:r>
          </a:p>
          <a:p>
            <a:pPr marL="0" indent="0">
              <a:buNone/>
            </a:pPr>
            <a:r>
              <a:rPr lang="en-US" dirty="0" err="1">
                <a:latin typeface="Courier" pitchFamily="2" charset="0"/>
              </a:rPr>
              <a:t>Mclust</a:t>
            </a:r>
            <a:r>
              <a:rPr lang="en-US" dirty="0">
                <a:latin typeface="Courier" pitchFamily="2" charset="0"/>
              </a:rPr>
              <a:t> VVV (ellipsoidal, varying volume, shape, and orientation) model with 8 components: </a:t>
            </a:r>
          </a:p>
          <a:p>
            <a:pPr marL="0" indent="0">
              <a:buNone/>
            </a:pPr>
            <a:endParaRPr lang="en-US" dirty="0">
              <a:latin typeface="Courier" pitchFamily="2" charset="0"/>
            </a:endParaRP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 log-likelihood      n df     BIC     ICL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        3808542 640000 </a:t>
            </a:r>
            <a:r>
              <a:rPr lang="en-US" b="1" dirty="0">
                <a:latin typeface="Courier" pitchFamily="2" charset="0"/>
              </a:rPr>
              <a:t>79</a:t>
            </a:r>
            <a:r>
              <a:rPr lang="en-US" dirty="0">
                <a:latin typeface="Courier" pitchFamily="2" charset="0"/>
              </a:rPr>
              <a:t> 7616028 7530927</a:t>
            </a:r>
          </a:p>
          <a:p>
            <a:pPr marL="0" indent="0">
              <a:buNone/>
            </a:pPr>
            <a:endParaRPr lang="en-US" dirty="0">
              <a:latin typeface="Courier" pitchFamily="2" charset="0"/>
            </a:endParaRP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Clustering table: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     1      2      3      4      5      6      7      8 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151032  48661 155542  34602  82621  49494  41665  76383 </a:t>
            </a:r>
          </a:p>
        </p:txBody>
      </p:sp>
    </p:spTree>
    <p:extLst>
      <p:ext uri="{BB962C8B-B14F-4D97-AF65-F5344CB8AC3E}">
        <p14:creationId xmlns:p14="http://schemas.microsoft.com/office/powerpoint/2010/main" val="254410564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35571-0951-FD4B-86BD-EB34099DF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Merging</a:t>
            </a:r>
            <a:r>
              <a:rPr lang="en-US" sz="4000" dirty="0"/>
              <a:t> </a:t>
            </a:r>
            <a:r>
              <a:rPr lang="en-US" sz="4000" b="0" i="1" dirty="0"/>
              <a:t>components </a:t>
            </a:r>
            <a:r>
              <a:rPr lang="en-US" sz="4000" b="0" dirty="0"/>
              <a:t>to get </a:t>
            </a:r>
            <a:r>
              <a:rPr lang="en-US" sz="4000" b="0" i="1" dirty="0"/>
              <a:t>clusters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C145696-21F5-2142-87A4-D8F55C667A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G</a:t>
            </a:r>
            <a:r>
              <a:rPr lang="en-US" dirty="0"/>
              <a:t>MM obviously has trouble with clusters that are not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ellipses</a:t>
            </a:r>
          </a:p>
          <a:p>
            <a:r>
              <a:rPr lang="en-US" dirty="0"/>
              <a:t>Secret weapon: </a:t>
            </a:r>
            <a:r>
              <a:rPr lang="en-US" b="1" dirty="0"/>
              <a:t>merging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Powerful idea</a:t>
            </a:r>
            <a:r>
              <a:rPr lang="en-US" dirty="0"/>
              <a:t>: </a:t>
            </a:r>
          </a:p>
          <a:p>
            <a:r>
              <a:rPr lang="en-US" dirty="0"/>
              <a:t>Start out with the usual Gaussian mixture solution;</a:t>
            </a:r>
          </a:p>
          <a:p>
            <a:r>
              <a:rPr lang="en-US" b="1" dirty="0"/>
              <a:t>merge </a:t>
            </a:r>
            <a:r>
              <a:rPr lang="en-US" dirty="0"/>
              <a:t>“similar” </a:t>
            </a:r>
            <a:r>
              <a:rPr lang="en-US" i="1" dirty="0"/>
              <a:t>components </a:t>
            </a:r>
            <a:r>
              <a:rPr lang="en-US" dirty="0"/>
              <a:t>to create non-Gaussian </a:t>
            </a:r>
            <a:r>
              <a:rPr lang="en-US" i="1" dirty="0"/>
              <a:t>clusters.</a:t>
            </a:r>
          </a:p>
          <a:p>
            <a:endParaRPr lang="en-US" i="1" dirty="0"/>
          </a:p>
          <a:p>
            <a:pPr marL="0" indent="0">
              <a:buNone/>
            </a:pPr>
            <a:r>
              <a:rPr lang="en-US" i="1" dirty="0"/>
              <a:t>Note: we’re distinguishing “components” from “clusters” now.</a:t>
            </a:r>
          </a:p>
        </p:txBody>
      </p:sp>
    </p:spTree>
    <p:extLst>
      <p:ext uri="{BB962C8B-B14F-4D97-AF65-F5344CB8AC3E}">
        <p14:creationId xmlns:p14="http://schemas.microsoft.com/office/powerpoint/2010/main" val="72216367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35571-0951-FD4B-86BD-EB34099DF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Merging components to get clusters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C145696-21F5-2142-87A4-D8F55C667A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latin typeface="Courier" pitchFamily="2" charset="0"/>
              <a:cs typeface="Raanana" pitchFamily="2" charset="-79"/>
            </a:endParaRPr>
          </a:p>
          <a:p>
            <a:pPr marL="0" indent="0">
              <a:buNone/>
            </a:pPr>
            <a:endParaRPr lang="en-US" dirty="0">
              <a:latin typeface="Courier" pitchFamily="2" charset="0"/>
              <a:cs typeface="Raanana" pitchFamily="2" charset="-79"/>
            </a:endParaRPr>
          </a:p>
          <a:p>
            <a:pPr marL="0" indent="0">
              <a:buNone/>
            </a:pPr>
            <a:r>
              <a:rPr lang="en-US" dirty="0">
                <a:latin typeface="Courier" pitchFamily="2" charset="0"/>
                <a:cs typeface="Raanana" pitchFamily="2" charset="-79"/>
              </a:rPr>
              <a:t>library(</a:t>
            </a:r>
            <a:r>
              <a:rPr lang="en-US" dirty="0" err="1">
                <a:latin typeface="Courier" pitchFamily="2" charset="0"/>
                <a:cs typeface="Raanana" pitchFamily="2" charset="-79"/>
              </a:rPr>
              <a:t>mclust</a:t>
            </a:r>
            <a:r>
              <a:rPr lang="en-US" dirty="0">
                <a:latin typeface="Courier" pitchFamily="2" charset="0"/>
                <a:cs typeface="Raanana" pitchFamily="2" charset="-79"/>
              </a:rPr>
              <a:t>)</a:t>
            </a:r>
          </a:p>
          <a:p>
            <a:pPr marL="0" indent="0">
              <a:buNone/>
            </a:pPr>
            <a:endParaRPr lang="en-US" dirty="0">
              <a:latin typeface="Courier" pitchFamily="2" charset="0"/>
              <a:cs typeface="Raanana" pitchFamily="2" charset="-79"/>
            </a:endParaRPr>
          </a:p>
          <a:p>
            <a:pPr marL="0" indent="0">
              <a:buNone/>
            </a:pPr>
            <a:r>
              <a:rPr lang="en-US" dirty="0">
                <a:latin typeface="Courier" pitchFamily="2" charset="0"/>
                <a:cs typeface="Raanana" pitchFamily="2" charset="-79"/>
              </a:rPr>
              <a:t>output &lt;- </a:t>
            </a:r>
            <a:r>
              <a:rPr lang="en-US" dirty="0" err="1">
                <a:latin typeface="Courier" pitchFamily="2" charset="0"/>
                <a:cs typeface="Raanana" pitchFamily="2" charset="-79"/>
              </a:rPr>
              <a:t>clustCombi</a:t>
            </a:r>
            <a:r>
              <a:rPr lang="en-US" dirty="0">
                <a:latin typeface="Courier" pitchFamily="2" charset="0"/>
                <a:cs typeface="Raanana" pitchFamily="2" charset="-79"/>
              </a:rPr>
              <a:t>(data = x)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  <a:cs typeface="Raanana" pitchFamily="2" charset="-79"/>
              </a:rPr>
              <a:t>plot(output)</a:t>
            </a:r>
          </a:p>
          <a:p>
            <a:pPr marL="0" indent="0">
              <a:buNone/>
            </a:pPr>
            <a:endParaRPr lang="en-US" dirty="0">
              <a:latin typeface="Courier" pitchFamily="2" charset="0"/>
              <a:cs typeface="Raanana" pitchFamily="2" charset="-79"/>
            </a:endParaRPr>
          </a:p>
        </p:txBody>
      </p:sp>
      <p:pic>
        <p:nvPicPr>
          <p:cNvPr id="4" name="Picture 3" descr="Chart, scatter chart&#10;&#10;Description automatically generated">
            <a:extLst>
              <a:ext uri="{FF2B5EF4-FFF2-40B4-BE49-F238E27FC236}">
                <a16:creationId xmlns:a16="http://schemas.microsoft.com/office/drawing/2014/main" id="{0BC4A310-2E25-1946-997C-674BC5B1C45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59040" y="2245340"/>
            <a:ext cx="4632960" cy="3706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85236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B000F22-17B3-E04B-B5D0-41C157A94D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1196" y="44196"/>
            <a:ext cx="6769608" cy="6769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53211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B000F22-17B3-E04B-B5D0-41C157A94D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11196" y="44196"/>
            <a:ext cx="6769608" cy="6769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55526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B000F22-17B3-E04B-B5D0-41C157A94D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11196" y="44196"/>
            <a:ext cx="6769608" cy="6769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31108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B000F22-17B3-E04B-B5D0-41C157A94D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11196" y="44196"/>
            <a:ext cx="6769608" cy="6769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83104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B000F22-17B3-E04B-B5D0-41C157A94D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11196" y="44196"/>
            <a:ext cx="6769608" cy="6769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17659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B000F22-17B3-E04B-B5D0-41C157A94D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11196" y="44196"/>
            <a:ext cx="6769608" cy="6769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45260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B000F22-17B3-E04B-B5D0-41C157A94D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11196" y="44196"/>
            <a:ext cx="6769608" cy="6769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62403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B000F22-17B3-E04B-B5D0-41C157A94D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11196" y="44196"/>
            <a:ext cx="6769608" cy="6769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05603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A06AC9-42E5-BD45-9E5A-2E3A14F7D6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966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95541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7693C-B9DB-5B4B-A39F-AD87119BB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79E20C-A568-D246-A1D8-82AA76660A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000" dirty="0"/>
              <a:t>Clustering other types of things</a:t>
            </a:r>
          </a:p>
        </p:txBody>
      </p:sp>
    </p:spTree>
    <p:extLst>
      <p:ext uri="{BB962C8B-B14F-4D97-AF65-F5344CB8AC3E}">
        <p14:creationId xmlns:p14="http://schemas.microsoft.com/office/powerpoint/2010/main" val="245342442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05FA1-0111-3A4C-AA12-36F014C6F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Network data: Karate club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5A6C9E2-AAA0-5786-CB53-58B5F64002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344287" y="1690688"/>
            <a:ext cx="5503426" cy="5167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850B49B-7AFD-1A6E-1482-618F412433B2}"/>
              </a:ext>
            </a:extLst>
          </p:cNvPr>
          <p:cNvSpPr txBox="1"/>
          <p:nvPr/>
        </p:nvSpPr>
        <p:spPr>
          <a:xfrm>
            <a:off x="10474104" y="6488668"/>
            <a:ext cx="17593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(Zachary, 1977)</a:t>
            </a:r>
          </a:p>
        </p:txBody>
      </p:sp>
    </p:spTree>
    <p:extLst>
      <p:ext uri="{BB962C8B-B14F-4D97-AF65-F5344CB8AC3E}">
        <p14:creationId xmlns:p14="http://schemas.microsoft.com/office/powerpoint/2010/main" val="36732465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67BA0-0AB9-5E5C-2DD4-38C3C35B2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EB3D5-51E1-55B8-CFC6-702131B7D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Karate club “stochastic block model”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E08727F6-39F2-D0E4-FCD1-5BFC16918E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889596" y="1690688"/>
            <a:ext cx="8412808" cy="4538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DBCBD89-4134-692E-0A19-BD2208F75186}"/>
              </a:ext>
            </a:extLst>
          </p:cNvPr>
          <p:cNvSpPr txBox="1"/>
          <p:nvPr/>
        </p:nvSpPr>
        <p:spPr>
          <a:xfrm>
            <a:off x="9502802" y="6488668"/>
            <a:ext cx="2689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(Karrer &amp; Newman 2010)</a:t>
            </a:r>
          </a:p>
        </p:txBody>
      </p:sp>
    </p:spTree>
    <p:extLst>
      <p:ext uri="{BB962C8B-B14F-4D97-AF65-F5344CB8AC3E}">
        <p14:creationId xmlns:p14="http://schemas.microsoft.com/office/powerpoint/2010/main" val="275404261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B63CB-3D08-8349-9603-BFCB345B7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Map&#10;&#10;Description automatically generated">
            <a:extLst>
              <a:ext uri="{FF2B5EF4-FFF2-40B4-BE49-F238E27FC236}">
                <a16:creationId xmlns:a16="http://schemas.microsoft.com/office/drawing/2014/main" id="{09C08B59-971E-6E4A-8B68-B5D24C3C29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87336" y="13330"/>
            <a:ext cx="7017327" cy="6844670"/>
          </a:xfrm>
        </p:spPr>
      </p:pic>
    </p:spTree>
    <p:extLst>
      <p:ext uri="{BB962C8B-B14F-4D97-AF65-F5344CB8AC3E}">
        <p14:creationId xmlns:p14="http://schemas.microsoft.com/office/powerpoint/2010/main" val="417612383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Diagram&#10;&#10;Description automatically generated">
            <a:extLst>
              <a:ext uri="{FF2B5EF4-FFF2-40B4-BE49-F238E27FC236}">
                <a16:creationId xmlns:a16="http://schemas.microsoft.com/office/drawing/2014/main" id="{60148F2A-CC54-C949-9691-7C8770BEAA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08" y="0"/>
            <a:ext cx="9255274" cy="6833054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3BE00F5-8474-D34F-A1C2-52529A82F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C647C0-BB33-E647-AC1A-CA452C7E7391}"/>
              </a:ext>
            </a:extLst>
          </p:cNvPr>
          <p:cNvSpPr txBox="1"/>
          <p:nvPr/>
        </p:nvSpPr>
        <p:spPr>
          <a:xfrm>
            <a:off x="9959338" y="6308209"/>
            <a:ext cx="22326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/>
              <a:t>Bouveyron</a:t>
            </a:r>
            <a:r>
              <a:rPr lang="en-US" i="1" dirty="0"/>
              <a:t> et al. 2018</a:t>
            </a:r>
          </a:p>
        </p:txBody>
      </p:sp>
    </p:spTree>
    <p:extLst>
      <p:ext uri="{BB962C8B-B14F-4D97-AF65-F5344CB8AC3E}">
        <p14:creationId xmlns:p14="http://schemas.microsoft.com/office/powerpoint/2010/main" val="314709614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0E4D2-8939-F84A-88F3-81F0FDC02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“functional data” clustering in </a:t>
            </a:r>
            <a:r>
              <a:rPr lang="en-US" dirty="0">
                <a:latin typeface="Courier" pitchFamily="2" charset="0"/>
              </a:rPr>
              <a:t>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AA5FD-9EF7-9940-910F-F227CC0140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0873"/>
            <a:ext cx="10515600" cy="5052002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IE" dirty="0">
                <a:latin typeface="Courier" pitchFamily="2" charset="0"/>
              </a:rPr>
              <a:t># Loading libraries and data</a:t>
            </a:r>
          </a:p>
          <a:p>
            <a:pPr marL="0" indent="0">
              <a:buNone/>
            </a:pPr>
            <a:r>
              <a:rPr lang="en-IE" dirty="0">
                <a:latin typeface="Courier" pitchFamily="2" charset="0"/>
              </a:rPr>
              <a:t>library(</a:t>
            </a:r>
            <a:r>
              <a:rPr lang="en-IE" dirty="0" err="1">
                <a:latin typeface="Courier" pitchFamily="2" charset="0"/>
              </a:rPr>
              <a:t>funFEM</a:t>
            </a:r>
            <a:r>
              <a:rPr lang="en-IE" dirty="0">
                <a:latin typeface="Courier" pitchFamily="2" charset="0"/>
              </a:rPr>
              <a:t>)</a:t>
            </a:r>
          </a:p>
          <a:p>
            <a:pPr marL="0" indent="0">
              <a:buNone/>
            </a:pPr>
            <a:r>
              <a:rPr lang="en-IE" dirty="0">
                <a:latin typeface="Courier" pitchFamily="2" charset="0"/>
              </a:rPr>
              <a:t>data(</a:t>
            </a:r>
            <a:r>
              <a:rPr lang="en-IE" dirty="0" err="1">
                <a:latin typeface="Courier" pitchFamily="2" charset="0"/>
              </a:rPr>
              <a:t>velib</a:t>
            </a:r>
            <a:r>
              <a:rPr lang="en-IE" dirty="0">
                <a:latin typeface="Courier" pitchFamily="2" charset="0"/>
              </a:rPr>
              <a:t>)</a:t>
            </a:r>
          </a:p>
          <a:p>
            <a:pPr marL="0" indent="0">
              <a:buNone/>
            </a:pPr>
            <a:endParaRPr lang="en-IE" dirty="0">
              <a:latin typeface="Courier" pitchFamily="2" charset="0"/>
            </a:endParaRPr>
          </a:p>
          <a:p>
            <a:pPr marL="0" indent="0">
              <a:buNone/>
            </a:pPr>
            <a:r>
              <a:rPr lang="en-IE" dirty="0">
                <a:latin typeface="Courier" pitchFamily="2" charset="0"/>
              </a:rPr>
              <a:t># Transformation of the raw data as curves</a:t>
            </a:r>
          </a:p>
          <a:p>
            <a:pPr marL="0" indent="0">
              <a:buNone/>
            </a:pPr>
            <a:r>
              <a:rPr lang="en-IE" dirty="0">
                <a:latin typeface="Courier" pitchFamily="2" charset="0"/>
              </a:rPr>
              <a:t>basis = </a:t>
            </a:r>
            <a:r>
              <a:rPr lang="en-IE" dirty="0" err="1">
                <a:latin typeface="Courier" pitchFamily="2" charset="0"/>
              </a:rPr>
              <a:t>create.fourier.basis</a:t>
            </a:r>
            <a:r>
              <a:rPr lang="en-IE" dirty="0">
                <a:latin typeface="Courier" pitchFamily="2" charset="0"/>
              </a:rPr>
              <a:t>(c(0, 181) , </a:t>
            </a:r>
            <a:r>
              <a:rPr lang="en-IE" dirty="0" err="1">
                <a:latin typeface="Courier" pitchFamily="2" charset="0"/>
              </a:rPr>
              <a:t>nbasis</a:t>
            </a:r>
            <a:r>
              <a:rPr lang="en-IE" dirty="0">
                <a:latin typeface="Courier" pitchFamily="2" charset="0"/>
              </a:rPr>
              <a:t> =25)</a:t>
            </a:r>
          </a:p>
          <a:p>
            <a:pPr marL="0" indent="0">
              <a:buNone/>
            </a:pPr>
            <a:r>
              <a:rPr lang="en-IE" dirty="0" err="1">
                <a:latin typeface="Courier" pitchFamily="2" charset="0"/>
              </a:rPr>
              <a:t>fdobj</a:t>
            </a:r>
            <a:r>
              <a:rPr lang="en-IE" dirty="0">
                <a:latin typeface="Courier" pitchFamily="2" charset="0"/>
              </a:rPr>
              <a:t> = </a:t>
            </a:r>
            <a:r>
              <a:rPr lang="en-IE" dirty="0" err="1">
                <a:latin typeface="Courier" pitchFamily="2" charset="0"/>
              </a:rPr>
              <a:t>smooth.basis</a:t>
            </a:r>
            <a:r>
              <a:rPr lang="en-IE" dirty="0">
                <a:latin typeface="Courier" pitchFamily="2" charset="0"/>
              </a:rPr>
              <a:t> (1:181 ,t(</a:t>
            </a:r>
            <a:r>
              <a:rPr lang="en-IE" dirty="0" err="1">
                <a:latin typeface="Courier" pitchFamily="2" charset="0"/>
              </a:rPr>
              <a:t>velib$data</a:t>
            </a:r>
            <a:r>
              <a:rPr lang="en-IE" dirty="0">
                <a:latin typeface="Courier" pitchFamily="2" charset="0"/>
              </a:rPr>
              <a:t>),basis)$</a:t>
            </a:r>
            <a:r>
              <a:rPr lang="en-IE" dirty="0" err="1">
                <a:latin typeface="Courier" pitchFamily="2" charset="0"/>
              </a:rPr>
              <a:t>fd</a:t>
            </a:r>
            <a:endParaRPr lang="en-IE" dirty="0">
              <a:latin typeface="Courier" pitchFamily="2" charset="0"/>
            </a:endParaRPr>
          </a:p>
          <a:p>
            <a:pPr marL="0" indent="0">
              <a:buNone/>
            </a:pPr>
            <a:endParaRPr lang="en-IE" dirty="0">
              <a:latin typeface="Courier" pitchFamily="2" charset="0"/>
            </a:endParaRPr>
          </a:p>
          <a:p>
            <a:pPr marL="0" indent="0">
              <a:buNone/>
            </a:pPr>
            <a:r>
              <a:rPr lang="en-IE" dirty="0">
                <a:latin typeface="Courier" pitchFamily="2" charset="0"/>
              </a:rPr>
              <a:t># Clustering with </a:t>
            </a:r>
            <a:r>
              <a:rPr lang="en-IE" dirty="0" err="1">
                <a:latin typeface="Courier" pitchFamily="2" charset="0"/>
              </a:rPr>
              <a:t>funFEM</a:t>
            </a:r>
            <a:endParaRPr lang="en-IE" dirty="0">
              <a:latin typeface="Courier" pitchFamily="2" charset="0"/>
            </a:endParaRPr>
          </a:p>
          <a:p>
            <a:pPr marL="0" indent="0">
              <a:buNone/>
            </a:pPr>
            <a:r>
              <a:rPr lang="en-IE" dirty="0">
                <a:latin typeface="Courier" pitchFamily="2" charset="0"/>
              </a:rPr>
              <a:t>res = </a:t>
            </a:r>
            <a:r>
              <a:rPr lang="en-IE" dirty="0" err="1">
                <a:latin typeface="Courier" pitchFamily="2" charset="0"/>
              </a:rPr>
              <a:t>funFEM</a:t>
            </a:r>
            <a:r>
              <a:rPr lang="en-IE" dirty="0">
                <a:latin typeface="Courier" pitchFamily="2" charset="0"/>
              </a:rPr>
              <a:t>(</a:t>
            </a:r>
            <a:r>
              <a:rPr lang="en-IE" dirty="0" err="1">
                <a:latin typeface="Courier" pitchFamily="2" charset="0"/>
              </a:rPr>
              <a:t>fdobj</a:t>
            </a:r>
            <a:r>
              <a:rPr lang="en-IE" dirty="0">
                <a:latin typeface="Courier" pitchFamily="2" charset="0"/>
              </a:rPr>
              <a:t> ,K=6)</a:t>
            </a:r>
          </a:p>
        </p:txBody>
      </p:sp>
    </p:spTree>
    <p:extLst>
      <p:ext uri="{BB962C8B-B14F-4D97-AF65-F5344CB8AC3E}">
        <p14:creationId xmlns:p14="http://schemas.microsoft.com/office/powerpoint/2010/main" val="368820847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9C235857-4253-2B4B-BF28-19898A83BD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2924"/>
            <a:ext cx="11443855" cy="6832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24988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B1895-BB50-4940-B84C-0AAEB410E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826345-76E6-457B-A1E6-CB19530E39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3000" b="1" dirty="0"/>
              <a:t>Model-based clustering: 	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sz="2600" dirty="0"/>
              <a:t>Pretend we believe in a model;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sz="2600" dirty="0"/>
              <a:t>Estimate the model.</a:t>
            </a:r>
          </a:p>
          <a:p>
            <a:r>
              <a:rPr lang="en-GB" sz="3000" dirty="0"/>
              <a:t>Algorithm is defined by the model;</a:t>
            </a:r>
          </a:p>
          <a:p>
            <a:r>
              <a:rPr lang="en-GB" sz="3000" dirty="0"/>
              <a:t>Easy to think about assumptions;</a:t>
            </a:r>
          </a:p>
          <a:p>
            <a:r>
              <a:rPr lang="en-GB" sz="3000" dirty="0"/>
              <a:t>Flexible in using other data types;</a:t>
            </a:r>
          </a:p>
          <a:p>
            <a:r>
              <a:rPr lang="en-GB" sz="3000" dirty="0"/>
              <a:t>Common model: GMM (implementation </a:t>
            </a:r>
            <a:r>
              <a:rPr lang="en-GB" sz="3000" dirty="0" err="1">
                <a:latin typeface="Fira Code" panose="020B0809050000020004" pitchFamily="49" charset="0"/>
                <a:ea typeface="Fira Code" panose="020B0809050000020004" pitchFamily="49" charset="0"/>
              </a:rPr>
              <a:t>mclust</a:t>
            </a:r>
            <a:r>
              <a:rPr lang="en-GB" sz="3000" dirty="0">
                <a:latin typeface="Fira Code" panose="020B0809050000020004" pitchFamily="49" charset="0"/>
                <a:ea typeface="Fira Code" panose="020B0809050000020004" pitchFamily="49" charset="0"/>
              </a:rPr>
              <a:t> </a:t>
            </a:r>
            <a:r>
              <a:rPr lang="en-GB" sz="3000" dirty="0"/>
              <a:t>in </a:t>
            </a:r>
            <a:r>
              <a:rPr lang="en-GB" sz="3000" dirty="0">
                <a:latin typeface="Fira Code" panose="020B0809050000020004" pitchFamily="49" charset="0"/>
                <a:ea typeface="Fira Code" panose="020B0809050000020004" pitchFamily="49" charset="0"/>
              </a:rPr>
              <a:t>R</a:t>
            </a:r>
            <a:r>
              <a:rPr lang="en-GB" sz="3000" dirty="0"/>
              <a:t>);</a:t>
            </a:r>
          </a:p>
          <a:p>
            <a:r>
              <a:rPr lang="en-GB" sz="3000" dirty="0"/>
              <a:t>Secret weapon: component merging.</a:t>
            </a:r>
          </a:p>
        </p:txBody>
      </p:sp>
    </p:spTree>
    <p:extLst>
      <p:ext uri="{BB962C8B-B14F-4D97-AF65-F5344CB8AC3E}">
        <p14:creationId xmlns:p14="http://schemas.microsoft.com/office/powerpoint/2010/main" val="15085232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B793235904ECB429D95AFCF930B613A" ma:contentTypeVersion="5" ma:contentTypeDescription="Create a new document." ma:contentTypeScope="" ma:versionID="4c390286563cacde125c37b699801796">
  <xsd:schema xmlns:xsd="http://www.w3.org/2001/XMLSchema" xmlns:xs="http://www.w3.org/2001/XMLSchema" xmlns:p="http://schemas.microsoft.com/office/2006/metadata/properties" xmlns:ns3="5032e021-b0cf-43e6-828a-5b682824f23c" xmlns:ns4="ef284efa-1316-4307-b1a8-b157427e4237" targetNamespace="http://schemas.microsoft.com/office/2006/metadata/properties" ma:root="true" ma:fieldsID="8c9c49ab243af388e89cdf0ba7aaaf48" ns3:_="" ns4:_="">
    <xsd:import namespace="5032e021-b0cf-43e6-828a-5b682824f23c"/>
    <xsd:import namespace="ef284efa-1316-4307-b1a8-b157427e423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32e021-b0cf-43e6-828a-5b682824f23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f284efa-1316-4307-b1a8-b157427e423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EFE0A5C-9604-4B3E-8F9E-98072B6B9F4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27FB234-31BD-4786-8167-C9B3AC2407F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032e021-b0cf-43e6-828a-5b682824f23c"/>
    <ds:schemaRef ds:uri="ef284efa-1316-4307-b1a8-b157427e423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2473D4E-B70B-4136-B747-E79AAA180FB8}">
  <ds:schemaRefs>
    <ds:schemaRef ds:uri="http://schemas.microsoft.com/office/2006/documentManagement/types"/>
    <ds:schemaRef ds:uri="http://purl.org/dc/dcmitype/"/>
    <ds:schemaRef ds:uri="http://schemas.microsoft.com/office/infopath/2007/PartnerControls"/>
    <ds:schemaRef ds:uri="5032e021-b0cf-43e6-828a-5b682824f23c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ef284efa-1316-4307-b1a8-b157427e4237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4605</TotalTime>
  <Words>2168</Words>
  <Application>Microsoft Macintosh PowerPoint</Application>
  <PresentationFormat>Widescreen</PresentationFormat>
  <Paragraphs>325</Paragraphs>
  <Slides>59</Slides>
  <Notes>9</Notes>
  <HiddenSlides>9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8" baseType="lpstr">
      <vt:lpstr>Arial</vt:lpstr>
      <vt:lpstr>Calibri</vt:lpstr>
      <vt:lpstr>Cambria Math</vt:lpstr>
      <vt:lpstr>Courier</vt:lpstr>
      <vt:lpstr>Fira Code</vt:lpstr>
      <vt:lpstr>Helvetica Neue</vt:lpstr>
      <vt:lpstr>Times New Roman</vt:lpstr>
      <vt:lpstr>Wingdings</vt:lpstr>
      <vt:lpstr>Office Theme</vt:lpstr>
      <vt:lpstr>PowerPoint Presentation</vt:lpstr>
      <vt:lpstr>This week</vt:lpstr>
      <vt:lpstr>Reading materials about  clustering (this week &amp; next)</vt:lpstr>
      <vt:lpstr>Optional, much more in-depth material</vt:lpstr>
      <vt:lpstr>Model-based clustering</vt:lpstr>
      <vt:lpstr>K-means again</vt:lpstr>
      <vt:lpstr>K-means again</vt:lpstr>
      <vt:lpstr>PowerPoint Presentation</vt:lpstr>
      <vt:lpstr>Model-based clustering</vt:lpstr>
      <vt:lpstr>Model-based clustering</vt:lpstr>
      <vt:lpstr>Model-based clustering</vt:lpstr>
      <vt:lpstr>Model-based clustering</vt:lpstr>
      <vt:lpstr>Gaussian mixture modeling</vt:lpstr>
      <vt:lpstr>Model-based clustering</vt:lpstr>
      <vt:lpstr>Model-based clustering</vt:lpstr>
      <vt:lpstr>Model-based clustering</vt:lpstr>
      <vt:lpstr>Estimation: the EM algorithm</vt:lpstr>
      <vt:lpstr>Estimation: the EM algorithm</vt:lpstr>
      <vt:lpstr>Estimation: the EM algorithm</vt:lpstr>
      <vt:lpstr>Estimation: the EM algorithm</vt:lpstr>
      <vt:lpstr>Estimation: the EM algorithm</vt:lpstr>
      <vt:lpstr>Multivariate model-based clustering</vt:lpstr>
      <vt:lpstr>Multivariate model-based clustering</vt:lpstr>
      <vt:lpstr>Number of parameters in a (multivariate) Gaussian mixture model</vt:lpstr>
      <vt:lpstr>Number of parameters</vt:lpstr>
      <vt:lpstr>Multivariate model-based clustering</vt:lpstr>
      <vt:lpstr>How to evaluate clustering results</vt:lpstr>
      <vt:lpstr>PowerPoint Presentation</vt:lpstr>
      <vt:lpstr>PowerPoint Presentation</vt:lpstr>
      <vt:lpstr>PowerPoint Presentation</vt:lpstr>
      <vt:lpstr>Model fit</vt:lpstr>
      <vt:lpstr>Model fit</vt:lpstr>
      <vt:lpstr>More model fit criteria</vt:lpstr>
      <vt:lpstr>Model-based clustering in R/Python</vt:lpstr>
      <vt:lpstr>Model-based clustering in R</vt:lpstr>
      <vt:lpstr>Model-based clustering in R:    EEE      vs.   VVV</vt:lpstr>
      <vt:lpstr>TOP SECRET SLIDE</vt:lpstr>
      <vt:lpstr>Model-based clustering in R</vt:lpstr>
      <vt:lpstr>Model selection using BIC for image example</vt:lpstr>
      <vt:lpstr>PowerPoint Presentation</vt:lpstr>
      <vt:lpstr>Merging components to get clusters</vt:lpstr>
      <vt:lpstr>Merging components to get clusters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Network data: Karate club</vt:lpstr>
      <vt:lpstr>Karate club “stochastic block model”</vt:lpstr>
      <vt:lpstr>PowerPoint Presentation</vt:lpstr>
      <vt:lpstr>PowerPoint Presentation</vt:lpstr>
      <vt:lpstr>“functional data” clustering in R</vt:lpstr>
      <vt:lpstr>PowerPoint Presentation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Kesteren, E. van (Erik-Jan)</dc:creator>
  <cp:lastModifiedBy>Oberski, D.L. (Daniel)</cp:lastModifiedBy>
  <cp:revision>297</cp:revision>
  <dcterms:created xsi:type="dcterms:W3CDTF">2020-03-31T13:53:26Z</dcterms:created>
  <dcterms:modified xsi:type="dcterms:W3CDTF">2025-10-17T19:16:04Z</dcterms:modified>
</cp:coreProperties>
</file>