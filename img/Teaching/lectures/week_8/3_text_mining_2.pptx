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62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1" r:id="rId11"/>
    <p:sldId id="273" r:id="rId12"/>
    <p:sldId id="274" r:id="rId13"/>
    <p:sldId id="277" r:id="rId14"/>
    <p:sldId id="278" r:id="rId15"/>
    <p:sldId id="275" r:id="rId16"/>
    <p:sldId id="276" r:id="rId17"/>
    <p:sldId id="279" r:id="rId18"/>
    <p:sldId id="281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5FC47E-8B7A-FA41-90F9-EC91580A0E60}">
          <p14:sldIdLst>
            <p14:sldId id="257"/>
            <p14:sldId id="262"/>
            <p14:sldId id="265"/>
          </p14:sldIdLst>
        </p14:section>
        <p14:section name="sentiment analysis" id="{D5DF5277-F267-6145-9A31-544395AD0179}">
          <p14:sldIdLst>
            <p14:sldId id="266"/>
            <p14:sldId id="267"/>
            <p14:sldId id="268"/>
            <p14:sldId id="269"/>
            <p14:sldId id="270"/>
            <p14:sldId id="272"/>
            <p14:sldId id="271"/>
            <p14:sldId id="273"/>
            <p14:sldId id="274"/>
            <p14:sldId id="277"/>
            <p14:sldId id="278"/>
            <p14:sldId id="275"/>
            <p14:sldId id="276"/>
            <p14:sldId id="279"/>
          </p14:sldIdLst>
        </p14:section>
        <p14:section name="Word embeddings" id="{F8690159-7EEF-764F-AA6C-38A3C8E15A6D}">
          <p14:sldIdLst>
            <p14:sldId id="281"/>
          </p14:sldIdLst>
        </p14:section>
        <p14:section name="Conclusion" id="{F867027E-2419-5742-98A0-B356F9F90750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8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42636-5F1E-C74B-9AD9-56B0AD16D4C0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4E6CC-96E9-794B-9CEB-7B52389B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03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Bouveyron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 6 and 8</a:t>
            </a:r>
          </a:p>
          <a:p>
            <a:r>
              <a:rPr lang="en-US" dirty="0"/>
              <a:t>Other criteria</a:t>
            </a:r>
          </a:p>
          <a:p>
            <a:r>
              <a:rPr lang="en-US" dirty="0"/>
              <a:t>Merging </a:t>
            </a:r>
          </a:p>
          <a:p>
            <a:r>
              <a:rPr lang="en-US" dirty="0"/>
              <a:t>Other data types </a:t>
            </a:r>
          </a:p>
          <a:p>
            <a:r>
              <a:rPr lang="en-US" dirty="0"/>
              <a:t>Model-based vs. not</a:t>
            </a:r>
          </a:p>
          <a:p>
            <a:r>
              <a:rPr lang="en-US" dirty="0"/>
              <a:t>Posterior probabilities</a:t>
            </a:r>
          </a:p>
          <a:p>
            <a:r>
              <a:rPr lang="en-US" dirty="0" err="1"/>
              <a:t>Omgaan</a:t>
            </a:r>
            <a:r>
              <a:rPr lang="en-US" dirty="0"/>
              <a:t> met noise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212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B79A-DD3B-4B4D-AF77-2B73133DC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5CDEE-00E2-B54F-B755-011790DAC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45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7E91-9088-8D4A-8482-8637FC58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BE82-E60E-A545-8D5A-2F9876BEB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5B5E8-F81A-C047-B128-2D474803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02B1A-B1EF-8346-A94F-F96C84E5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B3021-07AB-9641-897D-1AEA9A55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19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D243-847C-9347-8444-EE9651973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16CAC-6BCF-424F-B3D4-128D0F123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B600-7DC5-1241-B0E6-ECD519DD4A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7AB36-6464-5045-8B69-B9279F8AD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11681-7AA9-E549-9C29-6DF811D3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85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5DE14-7430-AE43-8711-ED22DEB3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95015-BEFA-674B-AB1A-FAF9EEA1B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61FFD-BBFA-B54B-BAAE-9A924CD75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D464F-8978-5A4B-AFC1-05EAF405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4F549-B971-9A4E-8EB0-DD5F0A7D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04060-E89C-9C47-B9F0-D5831CFE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7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221D-5736-4D47-ACAA-AC004883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886CC-3373-9B4A-9FA6-09C786AE1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AE172-C39E-5142-8325-D57CBE86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E1572-EFC4-9C44-8542-F88199DCE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830BAA-86CB-0E4D-BFC4-29BF3171C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BBF4E-D4B2-E44F-9984-8B14CB9B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A6669-C5D8-554F-BDD8-6A5D1A416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D33B17-41DA-FC42-A0E1-EDBC5453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27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2236-6C3F-0D46-A8FE-5021BF29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7FA4D0-F7E9-7A48-8AF0-A8ECE278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C3CD8-27CB-2941-8D52-3334454E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CF9D3-4914-9A41-8543-3DA5FCA1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8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4F62F7-14AF-604D-A5D7-941C87CF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EF3DC-4D35-D24D-BA8B-536A4E1A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E104F-A1C1-534F-BAD3-C2A3C2B8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2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4926-F44E-9444-B5A3-C2F54033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F0C7-F3EF-F340-8063-9C6CD5CAA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4CA07-2AB7-864C-90F0-BCD831E95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D0195-4AE5-C746-867E-1659A116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7F28B-5186-8846-8EE2-DCF97749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51118-0215-284C-A0F3-05CF129A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2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DA30-2087-AC40-92E0-8E9CF2DD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9563F4-3834-654C-8EFC-0E3721AE0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D9058-1436-CD4D-832E-C8AB52FA1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97E5-8AA9-3643-BD24-79E22721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8CC88-007E-074F-9B47-D1900541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ABE56-67A4-404C-BB6C-475EB172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8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7C5C-5FBE-8343-90DD-21CC6A93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0B387-D881-AC48-9292-5FD1CBC0D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A7CF-1715-C341-AA7F-F3701AFE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C9A7-0E07-3C4B-8672-B934975D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65FE-B24C-B447-94BE-6B4DA6CF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6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BAFE9-3C88-424B-9208-40CAA3876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5D41C-936C-4F4C-A1D2-291C85B52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141D-C17F-4A4A-8C26-09981AF8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98D5E-33C9-5449-AACC-C0A9DD19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8C9E7-AA0F-4F4E-90BD-819391A6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00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DDBA41-C8E7-7B40-8498-68478A3C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60D9-7619-8C43-9C51-921157982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8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dytextmining.com/" TargetMode="External"/><Relationship Id="rId2" Type="http://schemas.openxmlformats.org/officeDocument/2006/relationships/hyperlink" Target="https://web.stanford.edu/~jurafsky/slp3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hyperlink" Target="https://r4ds.had.co.nz/strings.html#matching-patterns-with-regular-expression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aperswithcode.com/task/sentiment-analysi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oi.org/10.1140/epjds/s13688-016-0093-1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1319755" y="5135005"/>
            <a:ext cx="6059598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Oberski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1319755" y="5836271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Methodology &amp; Statistics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mining #2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&amp; Embeddings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FAA25-F3D4-1340-B570-697017250164}"/>
              </a:ext>
            </a:extLst>
          </p:cNvPr>
          <p:cNvSpPr txBox="1"/>
          <p:nvPr/>
        </p:nvSpPr>
        <p:spPr>
          <a:xfrm>
            <a:off x="7148456" y="5135005"/>
            <a:ext cx="42990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slides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Dong Nguyen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Computing Sciences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9C55-34D9-482F-BBFF-61B54E82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D480-0341-4559-8FD9-6D53A7A8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1:  Clustering #2: Model-based clustering</a:t>
            </a:r>
          </a:p>
          <a:p>
            <a:r>
              <a:rPr lang="en-GB" sz="3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2: Text mining #1: regular expressions, </a:t>
            </a:r>
            <a:r>
              <a:rPr lang="en-GB" sz="3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BoW</a:t>
            </a:r>
            <a:r>
              <a:rPr lang="en-GB" sz="3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TF-IDF</a:t>
            </a:r>
          </a:p>
          <a:p>
            <a:r>
              <a:rPr lang="en-GB" sz="3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3: Text mining #2: sentiment analysis, embeddings</a:t>
            </a:r>
          </a:p>
          <a:p>
            <a:pPr marL="0" indent="0">
              <a:buNone/>
            </a:pPr>
            <a:endParaRPr lang="en-GB" sz="3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6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8767-E9ED-044D-8490-156EF5AA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Readings about text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2C50B-2FC0-834D-8792-62016B1B5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9843" cy="4667250"/>
          </a:xfrm>
        </p:spPr>
        <p:txBody>
          <a:bodyPr>
            <a:normAutofit lnSpcReduction="10000"/>
          </a:bodyPr>
          <a:lstStyle/>
          <a:p>
            <a:r>
              <a:rPr lang="en-IE" sz="2200" dirty="0" err="1"/>
              <a:t>Jurafsky</a:t>
            </a:r>
            <a:r>
              <a:rPr lang="en-IE" sz="2200" dirty="0"/>
              <a:t> &amp; Martin (2021). </a:t>
            </a:r>
            <a:r>
              <a:rPr lang="en-IE" sz="2200" i="1" dirty="0"/>
              <a:t>Speech and language processing (3</a:t>
            </a:r>
            <a:r>
              <a:rPr lang="en-IE" sz="2200" i="1" baseline="30000" dirty="0"/>
              <a:t>rd</a:t>
            </a:r>
            <a:r>
              <a:rPr lang="en-IE" sz="2200" i="1" dirty="0"/>
              <a:t> ed draft) </a:t>
            </a:r>
            <a:r>
              <a:rPr lang="en-IE" sz="1200" u="sng" dirty="0">
                <a:latin typeface="Fira Code" panose="020B0809050000020004" pitchFamily="49" charset="0"/>
                <a:ea typeface="Fira Code" panose="020B0809050000020004" pitchFamily="49" charset="0"/>
                <a:hlinkClick r:id="rId2" tooltip="https://web.stanford.edu/~jurafsky/slp3/"/>
              </a:rPr>
              <a:t>https://web.stanford.edu/~jurafsky/slp3/</a:t>
            </a:r>
            <a:endParaRPr lang="en-IE" sz="1200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lvl="1"/>
            <a:r>
              <a:rPr lang="en-IE" sz="1800" dirty="0"/>
              <a:t>Sections </a:t>
            </a:r>
          </a:p>
          <a:p>
            <a:pPr lvl="1"/>
            <a:r>
              <a:rPr lang="en-IE" sz="1800" dirty="0"/>
              <a:t>2.1, 2.4, (regular expressions)</a:t>
            </a:r>
          </a:p>
          <a:p>
            <a:pPr lvl="1"/>
            <a:r>
              <a:rPr lang="en-IE" sz="1800" dirty="0"/>
              <a:t>6.2, 6.3, 6.4, 6.5, 6.8</a:t>
            </a:r>
          </a:p>
          <a:p>
            <a:r>
              <a:rPr lang="en-IE" sz="2200" i="1" dirty="0" err="1"/>
              <a:t>Silge</a:t>
            </a:r>
            <a:r>
              <a:rPr lang="en-IE" sz="2200" i="1" dirty="0"/>
              <a:t> &amp; Robinson (2021). Text mining with R: A tidy approach. </a:t>
            </a:r>
            <a:r>
              <a:rPr lang="en-IE" sz="1200" u="sng" dirty="0">
                <a:latin typeface="Fira Code" panose="020B0809050000020004" pitchFamily="49" charset="0"/>
                <a:ea typeface="Fira Code" panose="020B0809050000020004" pitchFamily="49" charset="0"/>
                <a:hlinkClick r:id="rId3" tooltip="https://www.tidytextmining.com/"/>
              </a:rPr>
              <a:t>https://www.tidytextmining.com/</a:t>
            </a:r>
            <a:endParaRPr lang="en-IE" sz="1200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lvl="1"/>
            <a:r>
              <a:rPr lang="en-IE" sz="1800" dirty="0"/>
              <a:t>Chapter 3</a:t>
            </a:r>
          </a:p>
          <a:p>
            <a:r>
              <a:rPr lang="en-US" sz="2200" dirty="0"/>
              <a:t>More accessible (?) intro to regular expressions:</a:t>
            </a:r>
          </a:p>
          <a:p>
            <a:pPr lvl="1"/>
            <a:r>
              <a:rPr lang="en-US" sz="2200" b="1" dirty="0"/>
              <a:t>R4 data science </a:t>
            </a:r>
            <a:r>
              <a:rPr lang="en-US" sz="2200" dirty="0" err="1"/>
              <a:t>ch.</a:t>
            </a:r>
            <a:r>
              <a:rPr lang="en-US" sz="2200" dirty="0"/>
              <a:t> 14</a:t>
            </a:r>
          </a:p>
          <a:p>
            <a:pPr lvl="1"/>
            <a:r>
              <a:rPr lang="en-US" sz="1300" dirty="0">
                <a:latin typeface="Fira Code" panose="020B0809050000020004" pitchFamily="49" charset="0"/>
                <a:ea typeface="Fira Code" panose="020B0809050000020004" pitchFamily="49" charset="0"/>
                <a:hlinkClick r:id="rId4"/>
              </a:rPr>
              <a:t>https://r4ds.had.co.nz/strings.html#matching-patterns-with-regular-expressions</a:t>
            </a:r>
            <a:endParaRPr lang="en-US" sz="1300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lvl="1"/>
            <a:endParaRPr lang="en-US" dirty="0"/>
          </a:p>
        </p:txBody>
      </p:sp>
      <p:pic>
        <p:nvPicPr>
          <p:cNvPr id="1026" name="Picture 2" descr="Buy from Amazon">
            <a:extLst>
              <a:ext uri="{FF2B5EF4-FFF2-40B4-BE49-F238E27FC236}">
                <a16:creationId xmlns:a16="http://schemas.microsoft.com/office/drawing/2014/main" id="{8F52A10F-F298-1746-8AF1-CAAF74FA7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293" y="2324100"/>
            <a:ext cx="3449707" cy="453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Speech and Language Processing (2-Download) eBook : Daniel,  Jurafsky, Martin James H., Norvig Peter, Russell Stuart: Libros">
            <a:extLst>
              <a:ext uri="{FF2B5EF4-FFF2-40B4-BE49-F238E27FC236}">
                <a16:creationId xmlns:a16="http://schemas.microsoft.com/office/drawing/2014/main" id="{B8F29F51-3BC1-E745-A0D3-2DDFAA3FA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462" y="2324100"/>
            <a:ext cx="3387831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BD9DAC-1D38-2C40-9D3F-8AC93A9789CE}"/>
              </a:ext>
            </a:extLst>
          </p:cNvPr>
          <p:cNvSpPr txBox="1"/>
          <p:nvPr/>
        </p:nvSpPr>
        <p:spPr>
          <a:xfrm>
            <a:off x="6866115" y="6123543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aseline="30000" dirty="0">
                <a:solidFill>
                  <a:srgbClr val="FF0000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solidFill>
                  <a:srgbClr val="FF0000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369319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E08F3-7421-9846-AAEF-7FF9F3FC5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749A-D2EA-4D4F-8D66-E322D94A9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“task of classifying the polarity of a given text.” 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Classify the following Google reviews of UU into</a:t>
            </a:r>
          </a:p>
          <a:p>
            <a:pPr marL="0" indent="0">
              <a:buNone/>
            </a:pPr>
            <a:r>
              <a:rPr lang="en-IE" sz="7200" dirty="0">
                <a:sym typeface="Wingdings" pitchFamily="2" charset="2"/>
              </a:rPr>
              <a:t>	, , </a:t>
            </a:r>
            <a:r>
              <a:rPr lang="en-IE" sz="3000" dirty="0">
                <a:sym typeface="Wingdings" pitchFamily="2" charset="2"/>
              </a:rPr>
              <a:t>or </a:t>
            </a:r>
            <a:r>
              <a:rPr lang="en-IE" sz="7200" dirty="0">
                <a:sym typeface="Wingdings" pitchFamily="2" charset="2"/>
              </a:rPr>
              <a:t>:</a:t>
            </a:r>
            <a:endParaRPr lang="en-IE" sz="7200" dirty="0"/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“Great university and great campus”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“Overrated university. The facilities for the humanities studies are severely outdated and really poor quality.”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“Good school but hideous building”</a:t>
            </a:r>
          </a:p>
          <a:p>
            <a:pPr marL="0" indent="0">
              <a:buNone/>
            </a:pPr>
            <a:endParaRPr lang="en-I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1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66C2B-3866-D649-AA19-008FC133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2C077-63A9-2C49-A3C7-6118499B2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4E9C1-D3A0-C44D-A070-156852196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734" y="1825625"/>
            <a:ext cx="6727943" cy="5498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35096A-9AB6-1342-AC5F-6543AF064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6" y="993953"/>
            <a:ext cx="6727943" cy="54989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640771-367C-5741-87B5-EF759A009B98}"/>
              </a:ext>
            </a:extLst>
          </p:cNvPr>
          <p:cNvSpPr/>
          <p:nvPr/>
        </p:nvSpPr>
        <p:spPr>
          <a:xfrm>
            <a:off x="0" y="310207"/>
            <a:ext cx="8739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  <a:hlinkClick r:id="rId4"/>
              </a:rPr>
              <a:t>https://paperswithcode.com/task/sentiment-analysis</a:t>
            </a:r>
            <a:endParaRPr lang="en-IE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16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44F1-DB2C-714B-AE93-AC0F333DC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Old-school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79F85-0597-174B-BF43-B4F67A0A8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Algorithm. </a:t>
            </a:r>
            <a:r>
              <a:rPr lang="en-IE" dirty="0"/>
              <a:t>Start with a list of “positive” words and “negative” words, the “</a:t>
            </a:r>
            <a:r>
              <a:rPr lang="en-IE" i="1" dirty="0"/>
              <a:t>lexicon</a:t>
            </a:r>
            <a:r>
              <a:rPr lang="en-IE" dirty="0"/>
              <a:t>”. Then count them. </a:t>
            </a:r>
          </a:p>
          <a:p>
            <a:pPr marL="0" indent="0">
              <a:buNone/>
            </a:pPr>
            <a:endParaRPr lang="en-IE" dirty="0"/>
          </a:p>
          <a:p>
            <a:pPr marL="457200" lvl="1" indent="0">
              <a:buNone/>
            </a:pPr>
            <a:r>
              <a:rPr lang="en-IE" sz="2600" dirty="0"/>
              <a:t>Sentiment = Total no. positive words − Total no. negative words.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Popular lexicons are: LIWC, FINN, </a:t>
            </a:r>
            <a:r>
              <a:rPr lang="en-IE" dirty="0" err="1"/>
              <a:t>bing</a:t>
            </a:r>
            <a:r>
              <a:rPr lang="en-IE" dirty="0"/>
              <a:t>, NRC, …</a:t>
            </a:r>
          </a:p>
          <a:p>
            <a:r>
              <a:rPr lang="en-IE" dirty="0" err="1"/>
              <a:t>Tidytext</a:t>
            </a:r>
            <a:r>
              <a:rPr lang="en-IE" dirty="0"/>
              <a:t> has AFINN, </a:t>
            </a:r>
            <a:r>
              <a:rPr lang="en-IE" dirty="0" err="1"/>
              <a:t>bing</a:t>
            </a:r>
            <a:r>
              <a:rPr lang="en-IE" dirty="0"/>
              <a:t>, and </a:t>
            </a:r>
            <a:r>
              <a:rPr lang="en-IE" dirty="0" err="1"/>
              <a:t>nrc</a:t>
            </a:r>
            <a:endParaRPr lang="en-IE" dirty="0"/>
          </a:p>
          <a:p>
            <a:r>
              <a:rPr lang="en-IE" dirty="0"/>
              <a:t>There are also domain-specific sentiment lexicons, and lexicons for languages that are not English</a:t>
            </a:r>
          </a:p>
        </p:txBody>
      </p:sp>
    </p:spTree>
    <p:extLst>
      <p:ext uri="{BB962C8B-B14F-4D97-AF65-F5344CB8AC3E}">
        <p14:creationId xmlns:p14="http://schemas.microsoft.com/office/powerpoint/2010/main" val="157837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1C5E-5DE7-9049-B60D-5AA87272F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Old-school sentiment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C670F6-24BE-0B4F-99E0-8AD46209E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25624"/>
            <a:ext cx="8705045" cy="500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2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1C5E-5DE7-9049-B60D-5AA87272F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Old-school sentiment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C670F6-24BE-0B4F-99E0-8AD46209E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199" y="1825624"/>
            <a:ext cx="8705045" cy="500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9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1C5E-5DE7-9049-B60D-5AA87272F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Old-school sentiment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C670F6-24BE-0B4F-99E0-8AD46209E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1825624"/>
            <a:ext cx="8705043" cy="500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36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2AF2-0751-8843-9B31-F411D026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NRC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E3647-DF68-E944-A51C-2BDCF8922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D88E8-10A9-6C41-92F9-E1692C974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9783"/>
            <a:ext cx="10208654" cy="540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79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8913-5014-1543-8A83-A90268B2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AFINN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67596-6D35-A645-95D3-4EEAB0EDB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265D2-DF73-C749-8EF4-FEBD11E82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659"/>
            <a:ext cx="11977352" cy="63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6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8913-5014-1543-8A83-A90268B2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AFINN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67596-6D35-A645-95D3-4EEAB0EDB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265D2-DF73-C749-8EF4-FEBD11E828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79448"/>
            <a:ext cx="11977352" cy="528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23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5884-45EF-C64F-9A2E-A0CB29BA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DC279-7AF6-604B-97D0-AF3DBB520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ED4C0-01C1-D543-A741-067CF9DE4A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87310"/>
            <a:ext cx="12192000" cy="608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58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5884-45EF-C64F-9A2E-A0CB29BA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DC279-7AF6-604B-97D0-AF3DBB520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ED4C0-01C1-D543-A741-067CF9DE4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310"/>
            <a:ext cx="12192000" cy="608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02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46FF7-9ABE-5345-A168-EE95573D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ED01C-43CF-A345-8613-BA520097B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AF77C4-B27C-D44B-A0B9-BE01C036A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568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B49894-A951-DC4B-B2AB-91DE02649C9D}"/>
              </a:ext>
            </a:extLst>
          </p:cNvPr>
          <p:cNvSpPr txBox="1"/>
          <p:nvPr/>
        </p:nvSpPr>
        <p:spPr>
          <a:xfrm>
            <a:off x="838200" y="6012259"/>
            <a:ext cx="910505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Reagan et al. (2016). </a:t>
            </a:r>
            <a:r>
              <a:rPr lang="en-IE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emotional arcs of stories are dominated by six basic shapes.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r>
              <a:rPr lang="en-US" sz="1600" dirty="0"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  <a:hlinkClick r:id="rId3"/>
              </a:rPr>
              <a:t>http://doi.org/10.1140/epjds/s13688-016-0093-1</a:t>
            </a:r>
            <a:r>
              <a:rPr lang="en-US" sz="1600" dirty="0"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307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71E38-0994-4646-9945-A3382CFF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C3E5-2A00-E743-8FDF-D5BCB45AD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A429B-D1ED-4345-8508-4E6A62C93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012" y="0"/>
            <a:ext cx="8583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8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31AB-FF92-A64C-8828-35D17C5A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00CE8-12A9-7248-85C4-415DE5CF2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“old-school” (lexicon-based) method is not great with:</a:t>
            </a:r>
          </a:p>
          <a:p>
            <a:pPr lvl="1"/>
            <a:r>
              <a:rPr lang="en-US" sz="2800" dirty="0"/>
              <a:t>Longer texts (</a:t>
            </a:r>
            <a:r>
              <a:rPr lang="en-US" sz="2800" i="1" dirty="0"/>
              <a:t>why?</a:t>
            </a:r>
            <a:r>
              <a:rPr lang="en-US" sz="2800" dirty="0"/>
              <a:t>)</a:t>
            </a:r>
          </a:p>
          <a:p>
            <a:pPr lvl="1"/>
            <a:r>
              <a:rPr lang="en-US" sz="2800" dirty="0"/>
              <a:t>Negation</a:t>
            </a:r>
          </a:p>
          <a:p>
            <a:pPr lvl="1"/>
            <a:r>
              <a:rPr lang="en-US" sz="2800" dirty="0"/>
              <a:t>Context-dependency in general</a:t>
            </a:r>
          </a:p>
          <a:p>
            <a:r>
              <a:rPr lang="en-US" dirty="0"/>
              <a:t>You can also just consider this a </a:t>
            </a:r>
            <a:r>
              <a:rPr lang="en-US" b="1" dirty="0"/>
              <a:t>classification task</a:t>
            </a:r>
            <a:r>
              <a:rPr lang="en-US" dirty="0"/>
              <a:t>, where the input data is the text and the target is categorical </a:t>
            </a:r>
          </a:p>
          <a:p>
            <a:r>
              <a:rPr lang="en-US" dirty="0"/>
              <a:t>Could use </a:t>
            </a:r>
            <a:r>
              <a:rPr lang="en-US" dirty="0" err="1"/>
              <a:t>BoW</a:t>
            </a:r>
            <a:r>
              <a:rPr lang="en-US" dirty="0"/>
              <a:t> and TF-IDF, sometimes better</a:t>
            </a:r>
          </a:p>
          <a:p>
            <a:r>
              <a:rPr lang="en-US" dirty="0"/>
              <a:t>Sometimes </a:t>
            </a:r>
            <a:r>
              <a:rPr lang="en-US" dirty="0" err="1"/>
              <a:t>BoW</a:t>
            </a:r>
            <a:r>
              <a:rPr lang="en-US" dirty="0"/>
              <a:t> similar problems as lexicon-based method</a:t>
            </a:r>
          </a:p>
          <a:p>
            <a:r>
              <a:rPr lang="en-US" dirty="0"/>
              <a:t>Big disadvantage is that you will need (partly) labeled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699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5466-8A8E-DF49-A8C9-9EEECCB4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69C1D-7689-4A45-BBA4-BEFE69EC8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300" b="1" dirty="0"/>
              <a:t>Word embeddings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based on slides by </a:t>
            </a:r>
            <a:r>
              <a:rPr lang="en-US" b="1" dirty="0"/>
              <a:t>dr. Dong Nguyen</a:t>
            </a:r>
          </a:p>
        </p:txBody>
      </p:sp>
    </p:spTree>
    <p:extLst>
      <p:ext uri="{BB962C8B-B14F-4D97-AF65-F5344CB8AC3E}">
        <p14:creationId xmlns:p14="http://schemas.microsoft.com/office/powerpoint/2010/main" val="3393014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D367-80B6-9A43-B1D8-38C85F74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45ED1-1575-E54F-B9CE-3A5A09199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Lexicon-based sentiment analysis: just count ”positive” and “negative” words;</a:t>
            </a:r>
          </a:p>
          <a:p>
            <a:r>
              <a:rPr lang="en-US" dirty="0"/>
              <a:t>Embeddings are </a:t>
            </a:r>
            <a:r>
              <a:rPr lang="en-US" dirty="0" err="1"/>
              <a:t>SotA</a:t>
            </a:r>
            <a:r>
              <a:rPr lang="en-US" dirty="0"/>
              <a:t> for many NLP tasks, including (but not limited to!) sentiment analysis;</a:t>
            </a:r>
          </a:p>
          <a:p>
            <a:r>
              <a:rPr lang="en-US" dirty="0"/>
              <a:t>Key idea is the “distributional hypothesis”: “you will know a word by the company it keeps”;</a:t>
            </a:r>
          </a:p>
          <a:p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Map each word into a low-dimensional vector space</a:t>
            </a:r>
          </a:p>
          <a:p>
            <a:r>
              <a:rPr lang="en-US" dirty="0"/>
              <a:t>Or, in English: assign a bunch of numbers to each word, in such a way that “similar” words are closer together;</a:t>
            </a:r>
          </a:p>
          <a:p>
            <a:r>
              <a:rPr lang="en-US" dirty="0"/>
              <a:t>Very fast-moving field.</a:t>
            </a:r>
          </a:p>
        </p:txBody>
      </p:sp>
    </p:spTree>
    <p:extLst>
      <p:ext uri="{BB962C8B-B14F-4D97-AF65-F5344CB8AC3E}">
        <p14:creationId xmlns:p14="http://schemas.microsoft.com/office/powerpoint/2010/main" val="3064086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569</Words>
  <Application>Microsoft Macintosh PowerPoint</Application>
  <PresentationFormat>Widescreen</PresentationFormat>
  <Paragraphs>78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Fira Code</vt:lpstr>
      <vt:lpstr>Helvetica Neue</vt:lpstr>
      <vt:lpstr>Times New Roman</vt:lpstr>
      <vt:lpstr>Office Theme</vt:lpstr>
      <vt:lpstr>PowerPoint Presentation</vt:lpstr>
      <vt:lpstr>This week</vt:lpstr>
      <vt:lpstr>Readings about text mining</vt:lpstr>
      <vt:lpstr>Sentiment analysis</vt:lpstr>
      <vt:lpstr>PowerPoint Presentation</vt:lpstr>
      <vt:lpstr>Old-school sentiment analysis</vt:lpstr>
      <vt:lpstr>Old-school sentiment analysis</vt:lpstr>
      <vt:lpstr>Old-school sentiment analysis</vt:lpstr>
      <vt:lpstr>Old-school sentiment analysis</vt:lpstr>
      <vt:lpstr>Example using NRC</vt:lpstr>
      <vt:lpstr>Example AFINN</vt:lpstr>
      <vt:lpstr>Example AFINN</vt:lpstr>
      <vt:lpstr>PowerPoint Presentation</vt:lpstr>
      <vt:lpstr>PowerPoint Presentation</vt:lpstr>
      <vt:lpstr>PowerPoint Presentation</vt:lpstr>
      <vt:lpstr>PowerPoint Presentation</vt:lpstr>
      <vt:lpstr>Sentiment analysis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Oberski, D.L. (Daniel)</dc:creator>
  <cp:lastModifiedBy>Oberski, D.L. (Daniel)</cp:lastModifiedBy>
  <cp:revision>139</cp:revision>
  <dcterms:created xsi:type="dcterms:W3CDTF">2021-10-25T07:57:41Z</dcterms:created>
  <dcterms:modified xsi:type="dcterms:W3CDTF">2021-10-27T14:56:46Z</dcterms:modified>
</cp:coreProperties>
</file>