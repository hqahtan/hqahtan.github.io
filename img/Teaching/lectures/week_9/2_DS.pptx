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71"/>
  </p:notesMasterIdLst>
  <p:sldIdLst>
    <p:sldId id="256" r:id="rId5"/>
    <p:sldId id="2241" r:id="rId6"/>
    <p:sldId id="2308" r:id="rId7"/>
    <p:sldId id="2309" r:id="rId8"/>
    <p:sldId id="2288" r:id="rId9"/>
    <p:sldId id="2287" r:id="rId10"/>
    <p:sldId id="2290" r:id="rId11"/>
    <p:sldId id="2310" r:id="rId12"/>
    <p:sldId id="2291" r:id="rId13"/>
    <p:sldId id="2316" r:id="rId14"/>
    <p:sldId id="2301" r:id="rId15"/>
    <p:sldId id="2292" r:id="rId16"/>
    <p:sldId id="2355" r:id="rId17"/>
    <p:sldId id="2293" r:id="rId18"/>
    <p:sldId id="2294" r:id="rId19"/>
    <p:sldId id="2295" r:id="rId20"/>
    <p:sldId id="2296" r:id="rId21"/>
    <p:sldId id="2311" r:id="rId22"/>
    <p:sldId id="2317" r:id="rId23"/>
    <p:sldId id="2318" r:id="rId24"/>
    <p:sldId id="2302" r:id="rId25"/>
    <p:sldId id="2299" r:id="rId26"/>
    <p:sldId id="2300" r:id="rId27"/>
    <p:sldId id="2314" r:id="rId28"/>
    <p:sldId id="2315" r:id="rId29"/>
    <p:sldId id="2321" r:id="rId30"/>
    <p:sldId id="2322" r:id="rId31"/>
    <p:sldId id="2323" r:id="rId32"/>
    <p:sldId id="2324" r:id="rId33"/>
    <p:sldId id="2303" r:id="rId34"/>
    <p:sldId id="2327" r:id="rId35"/>
    <p:sldId id="2326" r:id="rId36"/>
    <p:sldId id="2328" r:id="rId37"/>
    <p:sldId id="2329" r:id="rId38"/>
    <p:sldId id="2332" r:id="rId39"/>
    <p:sldId id="2330" r:id="rId40"/>
    <p:sldId id="2331" r:id="rId41"/>
    <p:sldId id="2333" r:id="rId42"/>
    <p:sldId id="2334" r:id="rId43"/>
    <p:sldId id="2325" r:id="rId44"/>
    <p:sldId id="2304" r:id="rId45"/>
    <p:sldId id="2305" r:id="rId46"/>
    <p:sldId id="2306" r:id="rId47"/>
    <p:sldId id="2307" r:id="rId48"/>
    <p:sldId id="2340" r:id="rId49"/>
    <p:sldId id="2342" r:id="rId50"/>
    <p:sldId id="2343" r:id="rId51"/>
    <p:sldId id="2344" r:id="rId52"/>
    <p:sldId id="2345" r:id="rId53"/>
    <p:sldId id="2346" r:id="rId54"/>
    <p:sldId id="2347" r:id="rId55"/>
    <p:sldId id="2348" r:id="rId56"/>
    <p:sldId id="363" r:id="rId57"/>
    <p:sldId id="910" r:id="rId58"/>
    <p:sldId id="2320" r:id="rId59"/>
    <p:sldId id="2353" r:id="rId60"/>
    <p:sldId id="2319" r:id="rId61"/>
    <p:sldId id="2298" r:id="rId62"/>
    <p:sldId id="2354" r:id="rId63"/>
    <p:sldId id="2335" r:id="rId64"/>
    <p:sldId id="2339" r:id="rId65"/>
    <p:sldId id="2338" r:id="rId66"/>
    <p:sldId id="2341" r:id="rId67"/>
    <p:sldId id="2350" r:id="rId68"/>
    <p:sldId id="2351" r:id="rId69"/>
    <p:sldId id="2352" r:id="rId7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0DEE89-9CA4-4ED3-9958-20DE248A0756}" v="62" dt="2020-04-11T23:16:22.0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134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2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5/10/relationships/revisionInfo" Target="revisionInfo.xml"/><Relationship Id="rId7" Type="http://schemas.openxmlformats.org/officeDocument/2006/relationships/slide" Target="slides/slide3.xml"/><Relationship Id="rId7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C72E7-1AC8-4769-8510-C8FBA4EE0D31}" type="datetimeFigureOut">
              <a:rPr lang="nl-NL" smtClean="0"/>
              <a:t>03-11-2025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6F6A5-1236-40E7-B937-7650038E63C3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352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5B486-6A9F-DE47-872C-B95ED20BB4BE}" type="slidenum">
              <a:rPr lang="x-none" smtClean="0"/>
              <a:t>54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04935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F436-0D9D-46AD-BEFF-5E111B7B38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47BDE8-4FB5-4522-BEB2-CB4D9D4287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33C5D-99D5-4165-B1F8-06B37021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D59A6-9BE8-4C30-961C-4CAF7195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5B115A1C-F137-473C-B049-8E2E1D4382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7109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FF329-0391-403E-893E-D576018AC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0DF60-B5C5-4B67-9C59-D776B1162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592F-54D9-46E8-91E8-E3155C6AE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E3E60-7A04-4ACB-A597-49AF9D1E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0FE4EE32-EE92-49A9-B978-9AF46FFCEEF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8216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EC57-5DD0-4A03-BF25-28F500D6A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A68C0-D0E2-4B3B-8DF5-99D3AE482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84D37-B5E3-465E-AB9F-1A46C3CB8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07BA4-8DAB-4D1A-8C7A-0034BED32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B4FFACBE-778B-452B-B7B2-D991B629EC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956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4064-BB62-46B8-9CC2-D029177E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F1E0-3B14-45A4-A725-D5051F77CA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97A2AD-DE0E-4543-BF32-97E616584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78A81F-A3D5-45B8-A8C9-BF8B43453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8AD99-EEEA-444C-A59A-65F3888F1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2A276F-6FEF-4ED3-85CF-E9CF75454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975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77D37-7754-4A9C-BCC6-11C47E9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D75442-2125-4972-A200-5E35EC3A2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CEFCD3-FF8C-4968-9CED-85E6346B6E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DA86E1-83D0-49D4-A54B-9F17BF050F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0C060A-6098-4350-8720-54C7423C64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82D38-0587-46DF-BC2F-54BCA5167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DE6AB-74D5-42F1-A4DE-5A6E0B56C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CC785A4D-427F-44CB-8E0A-B101B55E5B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971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89489-85CB-4669-ACBD-78EF5FE99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E259A-9F68-4D64-B695-B05BF20B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55463-B67C-4CFD-B89A-A5AC40491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6" name="Afbeelding 9">
            <a:extLst>
              <a:ext uri="{FF2B5EF4-FFF2-40B4-BE49-F238E27FC236}">
                <a16:creationId xmlns:a16="http://schemas.microsoft.com/office/drawing/2014/main" id="{4E1FECAE-E5B2-4686-BED7-57C4C269E9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788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75913-F874-4ACB-BF38-06993DE48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58B41A-AEDF-4412-BB53-522D256D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5" name="Afbeelding 9">
            <a:extLst>
              <a:ext uri="{FF2B5EF4-FFF2-40B4-BE49-F238E27FC236}">
                <a16:creationId xmlns:a16="http://schemas.microsoft.com/office/drawing/2014/main" id="{003DCD53-61B3-4260-9781-C03ECF355E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29995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5079-FBD9-4B6E-93BC-C2C72C3D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FB345-DC72-4009-80DF-ADF36B45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4BB79-2FE3-4EEC-A47B-F6AA444FC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404493-2A24-4F5A-99BE-DED35B9AC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3EAAD-7F90-46F6-8777-C00D5AD3A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F5965B39-71B2-49D0-86D7-1658D734E3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239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C5DE-40EB-400F-BB8C-DD4CE993E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0676FA-A76F-4435-A2C2-2AD6DBB5C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D88418-CE82-4860-B21C-19BC3A38A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01AD-1CEA-40EE-8192-D18DA32CA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7769-3DBE-45F4-9D6C-319778BC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8" name="Afbeelding 9">
            <a:extLst>
              <a:ext uri="{FF2B5EF4-FFF2-40B4-BE49-F238E27FC236}">
                <a16:creationId xmlns:a16="http://schemas.microsoft.com/office/drawing/2014/main" id="{6E6FBEF1-7C0B-499C-A27C-52802B84CB9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9820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7AE8A-1C31-4B80-8E0E-FA8EE7EA7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7039C-9E8F-49C2-A124-D628993DB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C1EB7-C34F-4E92-8B14-28B78863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4EAA-ABFC-4164-BDD9-D6C18344D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AA2390CE-E4A9-42B0-B346-6C3BF875E1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17979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0A7D13-05FB-4F56-9DD4-53C5B300C3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5630CA-2274-448F-B50F-D48D280FDE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17B21-54CC-48E7-894A-27142611C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97B17-C995-407A-9DC9-4DE969B4F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  <p:pic>
        <p:nvPicPr>
          <p:cNvPr id="7" name="Afbeelding 9">
            <a:extLst>
              <a:ext uri="{FF2B5EF4-FFF2-40B4-BE49-F238E27FC236}">
                <a16:creationId xmlns:a16="http://schemas.microsoft.com/office/drawing/2014/main" id="{4359B83E-457B-4A56-97E8-EF80F65107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71870" y="6069578"/>
            <a:ext cx="2624372" cy="1041073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8894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109B4-6259-4B71-963F-E6EF90917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F9CCA7-0EF3-49F7-943E-25DD645B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F321C-7E99-47F2-9215-9A27ED0A15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2F472-351E-4F7F-B8E9-339BDFCA7B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653A4-AF1B-4E4A-ACF4-770CE4B00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D8F54C-053C-4394-9990-70DE256B1A6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71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0.png"/><Relationship Id="rId7" Type="http://schemas.openxmlformats.org/officeDocument/2006/relationships/image" Target="../media/image1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4.png"/><Relationship Id="rId7" Type="http://schemas.openxmlformats.org/officeDocument/2006/relationships/image" Target="../media/image22.png"/><Relationship Id="rId12" Type="http://schemas.openxmlformats.org/officeDocument/2006/relationships/image" Target="../media/image29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8.png"/><Relationship Id="rId5" Type="http://schemas.openxmlformats.org/officeDocument/2006/relationships/image" Target="../media/image18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16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22.png"/><Relationship Id="rId12" Type="http://schemas.openxmlformats.org/officeDocument/2006/relationships/image" Target="../media/image37.png"/><Relationship Id="rId2" Type="http://schemas.openxmlformats.org/officeDocument/2006/relationships/image" Target="../media/image140.png"/><Relationship Id="rId16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36.png"/><Relationship Id="rId5" Type="http://schemas.openxmlformats.org/officeDocument/2006/relationships/image" Target="../media/image18.png"/><Relationship Id="rId15" Type="http://schemas.openxmlformats.org/officeDocument/2006/relationships/image" Target="../media/image32.png"/><Relationship Id="rId10" Type="http://schemas.openxmlformats.org/officeDocument/2006/relationships/image" Target="../media/image35.png"/><Relationship Id="rId4" Type="http://schemas.openxmlformats.org/officeDocument/2006/relationships/image" Target="../media/image16.png"/><Relationship Id="rId9" Type="http://schemas.openxmlformats.org/officeDocument/2006/relationships/image" Target="../media/image26.png"/><Relationship Id="rId1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1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.bin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2">
            <a:extLst>
              <a:ext uri="{FF2B5EF4-FFF2-40B4-BE49-F238E27FC236}">
                <a16:creationId xmlns:a16="http://schemas.microsoft.com/office/drawing/2014/main" id="{67D5AF9D-B0DC-43A3-AAC6-1547D97B9220}"/>
              </a:ext>
            </a:extLst>
          </p:cNvPr>
          <p:cNvSpPr txBox="1">
            <a:spLocks/>
          </p:cNvSpPr>
          <p:nvPr/>
        </p:nvSpPr>
        <p:spPr>
          <a:xfrm>
            <a:off x="3578203" y="5316032"/>
            <a:ext cx="5038747" cy="43881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Hakim Qahtan</a:t>
            </a:r>
            <a:endParaRPr lang="nl-NL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jdelijke aanduiding voor tekst 3">
            <a:extLst>
              <a:ext uri="{FF2B5EF4-FFF2-40B4-BE49-F238E27FC236}">
                <a16:creationId xmlns:a16="http://schemas.microsoft.com/office/drawing/2014/main" id="{A0C7FD2C-79F4-4035-B87B-567FCDEE550A}"/>
              </a:ext>
            </a:extLst>
          </p:cNvPr>
          <p:cNvSpPr txBox="1">
            <a:spLocks/>
          </p:cNvSpPr>
          <p:nvPr/>
        </p:nvSpPr>
        <p:spPr>
          <a:xfrm>
            <a:off x="2743201" y="5842400"/>
            <a:ext cx="7376984" cy="86731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and Computing Sciences</a:t>
            </a:r>
          </a:p>
          <a:p>
            <a:pPr marL="0" indent="0" algn="ctr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Utrecht University</a:t>
            </a:r>
            <a:endParaRPr lang="nl-N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5150EB-C963-4057-9C23-EDF2C9EC6773}"/>
              </a:ext>
            </a:extLst>
          </p:cNvPr>
          <p:cNvSpPr/>
          <p:nvPr/>
        </p:nvSpPr>
        <p:spPr>
          <a:xfrm>
            <a:off x="620785" y="1342238"/>
            <a:ext cx="11308360" cy="2360691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Wrangling and Data Analysis</a:t>
            </a:r>
          </a:p>
          <a:p>
            <a:pPr algn="ctr"/>
            <a:r>
              <a:rPr lang="en-US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nl-NL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Streams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A95B730-DEB8-45EC-95F6-9E624B67ABF0}"/>
              </a:ext>
            </a:extLst>
          </p:cNvPr>
          <p:cNvSpPr txBox="1">
            <a:spLocks noChangeArrowheads="1"/>
          </p:cNvSpPr>
          <p:nvPr/>
        </p:nvSpPr>
        <p:spPr>
          <a:xfrm>
            <a:off x="2897187" y="3702930"/>
            <a:ext cx="6400800" cy="119942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endParaRPr lang="en-US" altLang="nl-NL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56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8243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Topics for Today</a:t>
            </a:r>
            <a:endParaRPr lang="nl-NL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4595"/>
            <a:ext cx="10515600" cy="4856205"/>
          </a:xfrm>
        </p:spPr>
        <p:txBody>
          <a:bodyPr>
            <a:normAutofit/>
          </a:bodyPr>
          <a:lstStyle/>
          <a:p>
            <a:pPr marL="342797" indent="-342797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Mining Data Streams</a:t>
            </a:r>
          </a:p>
          <a:p>
            <a:pPr marL="342797" indent="-342797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797" indent="-342797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797" indent="-342797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Mining of Massive Datasets </a:t>
            </a:r>
          </a:p>
          <a:p>
            <a:pPr marL="799997" lvl="1" indent="-342797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Chapter 4 (4.1 – 4.4)</a:t>
            </a:r>
          </a:p>
          <a:p>
            <a:pPr marL="342797" indent="-342797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797" indent="-342797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A cartoon character holding a large gold object&#10;&#10;Description automatically generated with low confidence">
            <a:extLst>
              <a:ext uri="{FF2B5EF4-FFF2-40B4-BE49-F238E27FC236}">
                <a16:creationId xmlns:a16="http://schemas.microsoft.com/office/drawing/2014/main" id="{2423FF25-9618-C929-9B6B-349A09A5DE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0979" y="303074"/>
            <a:ext cx="3995162" cy="605327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F2D882F-DAE0-A115-52D3-85E14F930E9C}"/>
              </a:ext>
            </a:extLst>
          </p:cNvPr>
          <p:cNvSpPr txBox="1">
            <a:spLocks/>
          </p:cNvSpPr>
          <p:nvPr/>
        </p:nvSpPr>
        <p:spPr>
          <a:xfrm>
            <a:off x="838200" y="2706543"/>
            <a:ext cx="9770919" cy="918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Reading Material </a:t>
            </a:r>
            <a:endParaRPr lang="nl-NL" sz="3200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BA930E5-C027-2375-B487-108591DB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6954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Rectangle 103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Picture 10" descr="A picture containing medical equipment, machine, indoor, computer&#10;&#10;Description automatically generated">
            <a:extLst>
              <a:ext uri="{FF2B5EF4-FFF2-40B4-BE49-F238E27FC236}">
                <a16:creationId xmlns:a16="http://schemas.microsoft.com/office/drawing/2014/main" id="{4436AB0E-A53D-CE87-D5C2-80BDE1FA2C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20" r="38812" b="2"/>
          <a:stretch/>
        </p:blipFill>
        <p:spPr>
          <a:xfrm>
            <a:off x="196731" y="170453"/>
            <a:ext cx="3794884" cy="6517096"/>
          </a:xfrm>
          <a:prstGeom prst="rect">
            <a:avLst/>
          </a:prstGeom>
        </p:spPr>
      </p:pic>
      <p:pic>
        <p:nvPicPr>
          <p:cNvPr id="3" name="Picture 2" descr="A diagram of a volcano&#10;&#10;Description automatically generated with medium confidence">
            <a:extLst>
              <a:ext uri="{FF2B5EF4-FFF2-40B4-BE49-F238E27FC236}">
                <a16:creationId xmlns:a16="http://schemas.microsoft.com/office/drawing/2014/main" id="{177B28C1-F98D-585B-A380-A3D4A1D905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5" r="24787" b="-1"/>
          <a:stretch/>
        </p:blipFill>
        <p:spPr>
          <a:xfrm>
            <a:off x="4184141" y="165371"/>
            <a:ext cx="3826711" cy="3176540"/>
          </a:xfrm>
          <a:prstGeom prst="rect">
            <a:avLst/>
          </a:prstGeom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F5FE4591-18E1-70EB-6877-9212E205E1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r="4" b="6519"/>
          <a:stretch/>
        </p:blipFill>
        <p:spPr bwMode="auto">
          <a:xfrm>
            <a:off x="8193992" y="159910"/>
            <a:ext cx="3826711" cy="3181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room with wifi icons&#10;&#10;Description automatically generated with low confidence">
            <a:extLst>
              <a:ext uri="{FF2B5EF4-FFF2-40B4-BE49-F238E27FC236}">
                <a16:creationId xmlns:a16="http://schemas.microsoft.com/office/drawing/2014/main" id="{B8CD4D84-21C4-E475-18B5-CF067AAA871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08" r="18436" b="3"/>
          <a:stretch/>
        </p:blipFill>
        <p:spPr>
          <a:xfrm>
            <a:off x="4184141" y="3512234"/>
            <a:ext cx="3826711" cy="317531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3A259365-FA04-AD05-FFD3-AE19A4DD2A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65" r="3646" b="4"/>
          <a:stretch/>
        </p:blipFill>
        <p:spPr bwMode="auto">
          <a:xfrm>
            <a:off x="8193992" y="3505966"/>
            <a:ext cx="3826711" cy="318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C5D826C-F84B-1972-33E9-5B46BCA2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5733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steel, plane, indoor, train&#10;&#10;Description automatically generated">
            <a:extLst>
              <a:ext uri="{FF2B5EF4-FFF2-40B4-BE49-F238E27FC236}">
                <a16:creationId xmlns:a16="http://schemas.microsoft.com/office/drawing/2014/main" id="{02C4F18A-ED04-260D-E379-96C1845DF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073" y="740588"/>
            <a:ext cx="5177894" cy="2860787"/>
          </a:xfrm>
          <a:prstGeom prst="rect">
            <a:avLst/>
          </a:prstGeom>
        </p:spPr>
      </p:pic>
      <p:pic>
        <p:nvPicPr>
          <p:cNvPr id="5" name="Picture 4" descr="A picture containing plane, engine, machine, pipe&#10;&#10;Description automatically generated">
            <a:extLst>
              <a:ext uri="{FF2B5EF4-FFF2-40B4-BE49-F238E27FC236}">
                <a16:creationId xmlns:a16="http://schemas.microsoft.com/office/drawing/2014/main" id="{2E4D5AE5-E3C9-D49C-1BD6-F7BA514B1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982" y="643466"/>
            <a:ext cx="3840870" cy="27081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AAB49E8-53C4-1B54-B3B6-AA943E760747}"/>
              </a:ext>
            </a:extLst>
          </p:cNvPr>
          <p:cNvSpPr txBox="1"/>
          <p:nvPr/>
        </p:nvSpPr>
        <p:spPr>
          <a:xfrm>
            <a:off x="7668007" y="3517887"/>
            <a:ext cx="2934138" cy="105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04672">
              <a:spcAft>
                <a:spcPts val="600"/>
              </a:spcAft>
            </a:pPr>
            <a:r>
              <a:rPr lang="en-GB" sz="2112" kern="1200">
                <a:solidFill>
                  <a:srgbClr val="194484"/>
                </a:solidFill>
                <a:latin typeface="Candara" panose="020E0502030303020204" pitchFamily="34" charset="0"/>
                <a:ea typeface="+mn-ea"/>
                <a:cs typeface="+mn-cs"/>
              </a:rPr>
              <a:t>A Boeing Jet Engine creates 20TB information every Hour</a:t>
            </a:r>
            <a:endParaRPr lang="en-GB" sz="2400">
              <a:solidFill>
                <a:srgbClr val="194484"/>
              </a:solidFill>
              <a:latin typeface="Candara" panose="020E05020303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A72B8-966F-AF88-3270-8B0A4067CCEE}"/>
              </a:ext>
            </a:extLst>
          </p:cNvPr>
          <p:cNvSpPr txBox="1"/>
          <p:nvPr/>
        </p:nvSpPr>
        <p:spPr>
          <a:xfrm>
            <a:off x="1659136" y="3757646"/>
            <a:ext cx="2934138" cy="105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04672">
              <a:spcAft>
                <a:spcPts val="600"/>
              </a:spcAft>
            </a:pPr>
            <a:r>
              <a:rPr lang="en-GB" sz="2112" kern="1200">
                <a:solidFill>
                  <a:srgbClr val="194484"/>
                </a:solidFill>
                <a:latin typeface="Candara" panose="020E0502030303020204" pitchFamily="34" charset="0"/>
                <a:ea typeface="+mn-ea"/>
                <a:cs typeface="+mn-cs"/>
              </a:rPr>
              <a:t>Large Hadron Collider generates 40TB data per second </a:t>
            </a:r>
            <a:endParaRPr lang="en-GB" sz="2400">
              <a:solidFill>
                <a:srgbClr val="194484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Picture 9" descr="A red and black logo&#10;&#10;Description automatically generated with low confidence">
            <a:extLst>
              <a:ext uri="{FF2B5EF4-FFF2-40B4-BE49-F238E27FC236}">
                <a16:creationId xmlns:a16="http://schemas.microsoft.com/office/drawing/2014/main" id="{4FA69084-5486-192E-7056-BE24C78D62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626" y="4816845"/>
            <a:ext cx="3325356" cy="13976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C8518CB-129A-0528-57DD-117FFBCFD1A9}"/>
              </a:ext>
            </a:extLst>
          </p:cNvPr>
          <p:cNvSpPr txBox="1"/>
          <p:nvPr/>
        </p:nvSpPr>
        <p:spPr>
          <a:xfrm>
            <a:off x="7264562" y="5108305"/>
            <a:ext cx="3759365" cy="1059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04672">
              <a:spcAft>
                <a:spcPts val="600"/>
              </a:spcAft>
            </a:pPr>
            <a:r>
              <a:rPr lang="en-GB" sz="2112" kern="1200">
                <a:solidFill>
                  <a:srgbClr val="194484"/>
                </a:solidFill>
                <a:latin typeface="Candara" panose="020E0502030303020204" pitchFamily="34" charset="0"/>
                <a:ea typeface="+mn-ea"/>
                <a:cs typeface="+mn-cs"/>
              </a:rPr>
              <a:t>YouTube viewers watch over one billion hours of videos on its platform every single day</a:t>
            </a:r>
            <a:endParaRPr lang="en-GB" sz="2400">
              <a:solidFill>
                <a:srgbClr val="194484"/>
              </a:solidFill>
              <a:latin typeface="Candara" panose="020E0502030303020204" pitchFamily="34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91DBB77-3A98-766F-7522-1C541254A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420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Telecommunication calling records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Business: credit card transaction flows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Network monitoring and traffic engineering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Financial market: stock exchange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Engineering &amp; industrial processes: power supply &amp; manufacturing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Sensor, monitoring &amp; surveillance: video streams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Web logs and Web page click streams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Massive data sets (even saved but random access is too expensive)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7D7CCC-5502-7C5B-1BFA-B730B4B8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30122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 of Data Streams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Entire data is </a:t>
            </a:r>
            <a:r>
              <a:rPr lang="en-AU" altLang="en-US" dirty="0">
                <a:solidFill>
                  <a:srgbClr val="00B050"/>
                </a:solidFill>
              </a:rPr>
              <a:t>not available</a:t>
            </a:r>
            <a:r>
              <a:rPr lang="en-AU" altLang="en-US" dirty="0"/>
              <a:t> 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Data arrives (more likely) at a </a:t>
            </a:r>
            <a:r>
              <a:rPr lang="en-AU" altLang="en-US" dirty="0">
                <a:solidFill>
                  <a:srgbClr val="00B050"/>
                </a:solidFill>
              </a:rPr>
              <a:t>high-speed rate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The system </a:t>
            </a:r>
            <a:r>
              <a:rPr lang="en-AU" altLang="en-US" dirty="0">
                <a:solidFill>
                  <a:srgbClr val="00B050"/>
                </a:solidFill>
              </a:rPr>
              <a:t>cannot store</a:t>
            </a:r>
            <a:r>
              <a:rPr lang="en-AU" altLang="en-US" dirty="0"/>
              <a:t> the entire stream, but only a small fraction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Huge volume of continuous data (</a:t>
            </a:r>
            <a:r>
              <a:rPr lang="en-AU" altLang="en-US" dirty="0">
                <a:solidFill>
                  <a:srgbClr val="00B050"/>
                </a:solidFill>
              </a:rPr>
              <a:t>possibly infinite</a:t>
            </a:r>
            <a:r>
              <a:rPr lang="en-AU" altLang="en-US" dirty="0"/>
              <a:t>)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Requires single scan algorithms (can only have one look)</a:t>
            </a:r>
            <a:endParaRPr lang="en-AU" altLang="en-US" dirty="0">
              <a:solidFill>
                <a:srgbClr val="00B050"/>
              </a:solidFill>
            </a:endParaRPr>
          </a:p>
          <a:p>
            <a:pPr>
              <a:lnSpc>
                <a:spcPct val="120000"/>
              </a:lnSpc>
            </a:pPr>
            <a:r>
              <a:rPr lang="en-AU" altLang="en-US" dirty="0"/>
              <a:t>Distribution is </a:t>
            </a:r>
            <a:r>
              <a:rPr lang="en-AU" altLang="en-US" dirty="0">
                <a:solidFill>
                  <a:srgbClr val="00B050"/>
                </a:solidFill>
              </a:rPr>
              <a:t>non-stationary</a:t>
            </a:r>
            <a:r>
              <a:rPr lang="en-AU" altLang="en-US" dirty="0"/>
              <a:t> 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Requires fast, real-time response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E5B7F-04F3-3CF9-FF4E-69DC3D309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1842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Stream Processing Model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C696A4B4-40E0-294F-8CC7-1987FB30C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46190" y="2002788"/>
            <a:ext cx="2057400" cy="1828800"/>
          </a:xfrm>
          <a:prstGeom prst="rect">
            <a:avLst/>
          </a:prstGeom>
          <a:solidFill>
            <a:srgbClr val="3399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Processor</a:t>
            </a:r>
            <a:endParaRPr lang="en-US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E82E01BF-B281-6A43-A0F9-09B6A21E1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3666" y="4539712"/>
            <a:ext cx="1219200" cy="1676400"/>
          </a:xfrm>
          <a:prstGeom prst="can">
            <a:avLst>
              <a:gd name="adj" fmla="val 34375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Limited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Working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10" name="Line 4">
            <a:extLst>
              <a:ext uri="{FF2B5EF4-FFF2-40B4-BE49-F238E27FC236}">
                <a16:creationId xmlns:a16="http://schemas.microsoft.com/office/drawing/2014/main" id="{EB9A6CE3-F26B-3A43-92F7-2A78DEA512D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46190" y="3625312"/>
            <a:ext cx="7620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CD9758CB-A3AC-B447-B683-0D61E3FA4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0390" y="238378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3653EEA4-A74A-BC4B-BA2E-4C8E75E6D1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0390" y="291718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Line 7">
            <a:extLst>
              <a:ext uri="{FF2B5EF4-FFF2-40B4-BE49-F238E27FC236}">
                <a16:creationId xmlns:a16="http://schemas.microsoft.com/office/drawing/2014/main" id="{322E7B42-875B-6847-A1A1-3B8251F10B0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0390" y="3450588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Text Box 8">
            <a:extLst>
              <a:ext uri="{FF2B5EF4-FFF2-40B4-BE49-F238E27FC236}">
                <a16:creationId xmlns:a16="http://schemas.microsoft.com/office/drawing/2014/main" id="{3E4A8B45-DA0D-344D-AC08-D21ED0C8B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2855" y="2155188"/>
            <a:ext cx="2236510" cy="313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1, 5, 2, 7, 0, 9, 3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  a, r, v, t, y, h, b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r"/>
            <a:r>
              <a:rPr lang="en-US" dirty="0">
                <a:latin typeface="Arial" pitchFamily="34" charset="0"/>
                <a:cs typeface="Arial" pitchFamily="34" charset="0"/>
              </a:rPr>
              <a:t>. . . 0, 0, 1, 0, 1, 1, 0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                     </a:t>
            </a:r>
            <a:r>
              <a:rPr lang="en-US" b="1" dirty="0">
                <a:latin typeface="Arial" pitchFamily="34" charset="0"/>
                <a:cs typeface="Arial" pitchFamily="34" charset="0"/>
              </a:rPr>
              <a:t>time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Streams Entering.</a:t>
            </a:r>
          </a:p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Each is stream is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composed of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elements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tuples</a:t>
            </a:r>
          </a:p>
        </p:txBody>
      </p:sp>
      <p:sp>
        <p:nvSpPr>
          <p:cNvPr id="15" name="Line 9">
            <a:extLst>
              <a:ext uri="{FF2B5EF4-FFF2-40B4-BE49-F238E27FC236}">
                <a16:creationId xmlns:a16="http://schemas.microsoft.com/office/drawing/2014/main" id="{E9087252-3D6B-9548-B419-E8795B87FC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50590" y="3739155"/>
            <a:ext cx="1175466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1EA1896E-68B1-CF49-A6B5-F5F34A089A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5790" y="997781"/>
            <a:ext cx="1043876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Ad-Hoc</a:t>
            </a:r>
          </a:p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17" name="Line 11">
            <a:extLst>
              <a:ext uri="{FF2B5EF4-FFF2-40B4-BE49-F238E27FC236}">
                <a16:creationId xmlns:a16="http://schemas.microsoft.com/office/drawing/2014/main" id="{C4B15285-A539-1948-A4C8-0ED99B8110B7}"/>
              </a:ext>
            </a:extLst>
          </p:cNvPr>
          <p:cNvSpPr>
            <a:spLocks noChangeShapeType="1"/>
          </p:cNvSpPr>
          <p:nvPr/>
        </p:nvSpPr>
        <p:spPr bwMode="auto">
          <a:xfrm>
            <a:off x="7712990" y="1567912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Text Box 12">
            <a:extLst>
              <a:ext uri="{FF2B5EF4-FFF2-40B4-BE49-F238E27FC236}">
                <a16:creationId xmlns:a16="http://schemas.microsoft.com/office/drawing/2014/main" id="{85915DF5-15D2-9D48-9C1B-39A59FC7E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2114" y="2702875"/>
            <a:ext cx="94128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Output</a:t>
            </a:r>
          </a:p>
        </p:txBody>
      </p:sp>
      <p:sp>
        <p:nvSpPr>
          <p:cNvPr id="19" name="Line 14">
            <a:extLst>
              <a:ext uri="{FF2B5EF4-FFF2-40B4-BE49-F238E27FC236}">
                <a16:creationId xmlns:a16="http://schemas.microsoft.com/office/drawing/2014/main" id="{462FABA7-73AD-6142-B106-F97A351C1CB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03590" y="2917188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AutoShape 15">
            <a:extLst>
              <a:ext uri="{FF2B5EF4-FFF2-40B4-BE49-F238E27FC236}">
                <a16:creationId xmlns:a16="http://schemas.microsoft.com/office/drawing/2014/main" id="{665D5098-1C1F-C442-AB2F-EAA44DE845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9666" y="4920712"/>
            <a:ext cx="1676400" cy="1676400"/>
          </a:xfrm>
          <a:prstGeom prst="can">
            <a:avLst>
              <a:gd name="adj" fmla="val 28409"/>
            </a:avLst>
          </a:prstGeom>
          <a:solidFill>
            <a:srgbClr val="FFFF00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Archival</a:t>
            </a:r>
          </a:p>
          <a:p>
            <a:pPr algn="ctr"/>
            <a:r>
              <a:rPr lang="en-US" b="1">
                <a:latin typeface="Arial" pitchFamily="34" charset="0"/>
                <a:cs typeface="Arial" pitchFamily="34" charset="0"/>
              </a:rPr>
              <a:t>Storage</a:t>
            </a:r>
          </a:p>
        </p:txBody>
      </p:sp>
      <p:sp>
        <p:nvSpPr>
          <p:cNvPr id="21" name="Line 16">
            <a:extLst>
              <a:ext uri="{FF2B5EF4-FFF2-40B4-BE49-F238E27FC236}">
                <a16:creationId xmlns:a16="http://schemas.microsoft.com/office/drawing/2014/main" id="{F1A65E5D-2541-3945-B36B-11D28E49AF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5390" y="3625312"/>
            <a:ext cx="1295400" cy="1295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64F9FE36-D003-344A-B0DE-01A36C298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0590" y="2078988"/>
            <a:ext cx="1066800" cy="685800"/>
          </a:xfrm>
          <a:prstGeom prst="rect">
            <a:avLst/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Standing</a:t>
            </a:r>
          </a:p>
          <a:p>
            <a:pPr algn="ctr"/>
            <a:r>
              <a:rPr lang="en-US" b="1" dirty="0">
                <a:latin typeface="Arial" pitchFamily="34" charset="0"/>
                <a:cs typeface="Arial" pitchFamily="34" charset="0"/>
              </a:rPr>
              <a:t>Queries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2A6F5F-8B0E-02C4-429F-2CD32EC0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0456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FCB09-CDBA-B65E-91F7-DD8C0D64CB55}"/>
              </a:ext>
            </a:extLst>
          </p:cNvPr>
          <p:cNvSpPr txBox="1"/>
          <p:nvPr/>
        </p:nvSpPr>
        <p:spPr>
          <a:xfrm>
            <a:off x="540327" y="2367171"/>
            <a:ext cx="1078576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How can we perform critical calculations on data streams using a limited size of memory?</a:t>
            </a:r>
            <a:endParaRPr lang="en-US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1B7B9-65E9-5D73-9AF6-BAC17070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3084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Data Streams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Online learning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Sampling data from data streams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Windowing functions (models)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1EBC0-F324-71E5-6631-56AAD1B22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681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Learning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>
                <a:solidFill>
                  <a:schemeClr val="accent6">
                    <a:lumMod val="75000"/>
                  </a:schemeClr>
                </a:solidFill>
              </a:rPr>
              <a:t>Main idea: </a:t>
            </a:r>
            <a:r>
              <a:rPr lang="en-AU" altLang="en-US" dirty="0"/>
              <a:t>perform small changes to update the model</a:t>
            </a:r>
          </a:p>
          <a:p>
            <a:pPr>
              <a:lnSpc>
                <a:spcPct val="120000"/>
              </a:lnSpc>
            </a:pPr>
            <a:r>
              <a:rPr lang="en-AU" altLang="en-US" dirty="0">
                <a:solidFill>
                  <a:srgbClr val="0070C0"/>
                </a:solidFill>
              </a:rPr>
              <a:t>Training:</a:t>
            </a:r>
            <a:r>
              <a:rPr lang="en-AU" altLang="en-US" dirty="0"/>
              <a:t> use the first batch of the data to train a model </a:t>
            </a:r>
          </a:p>
          <a:p>
            <a:pPr>
              <a:lnSpc>
                <a:spcPct val="120000"/>
              </a:lnSpc>
            </a:pPr>
            <a:r>
              <a:rPr lang="en-AU" altLang="en-US" dirty="0">
                <a:solidFill>
                  <a:srgbClr val="0070C0"/>
                </a:solidFill>
              </a:rPr>
              <a:t>Updating:</a:t>
            </a:r>
            <a:r>
              <a:rPr lang="en-AU" altLang="en-US" dirty="0"/>
              <a:t> upon the arrival of a new samples from the stream, slightly update the model</a:t>
            </a:r>
          </a:p>
          <a:p>
            <a:pPr>
              <a:lnSpc>
                <a:spcPct val="120000"/>
              </a:lnSpc>
            </a:pPr>
            <a:endParaRPr lang="en-AU" altLang="en-US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endParaRPr lang="en-AU" altLang="en-US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endParaRPr lang="en-AU" altLang="en-US" dirty="0">
              <a:solidFill>
                <a:srgbClr val="C00000"/>
              </a:solidFill>
            </a:endParaRPr>
          </a:p>
          <a:p>
            <a:pPr>
              <a:lnSpc>
                <a:spcPct val="120000"/>
              </a:lnSpc>
            </a:pPr>
            <a:r>
              <a:rPr lang="en-AU" altLang="en-US" dirty="0">
                <a:solidFill>
                  <a:srgbClr val="C00000"/>
                </a:solidFill>
              </a:rPr>
              <a:t>Problem:</a:t>
            </a:r>
            <a:r>
              <a:rPr lang="en-AU" altLang="en-US" dirty="0"/>
              <a:t> concept drifts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CE6BD4-5172-B7A6-A10D-0E2E1E70D695}"/>
                  </a:ext>
                </a:extLst>
              </p:cNvPr>
              <p:cNvSpPr txBox="1"/>
              <p:nvPr/>
            </p:nvSpPr>
            <p:spPr>
              <a:xfrm>
                <a:off x="1169324" y="3578525"/>
                <a:ext cx="5492733" cy="1977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NL" sz="28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sSubPr>
                        <m:e>
                          <m:r>
                            <a:rPr lang="en-US" altLang="en-NL" sz="28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𝑤</m:t>
                          </m:r>
                        </m:e>
                        <m:sub>
                          <m:r>
                            <a:rPr lang="en-US" altLang="en-NL" sz="2800" b="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1</m:t>
                          </m:r>
                        </m:sub>
                      </m:sSub>
                      <m:r>
                        <a:rPr lang="en-US" altLang="en-NL" sz="2800" b="0" i="1" smtClean="0">
                          <a:latin typeface="Cambria Math" panose="02040503050406030204" pitchFamily="18" charset="0"/>
                          <a:ea typeface="ＭＳ Ｐゴシック" panose="020B0600070205080204" pitchFamily="34" charset="-128"/>
                        </a:rPr>
                        <m:t>←0 </m:t>
                      </m:r>
                    </m:oMath>
                  </m:oMathPara>
                </a14:m>
                <a:endParaRPr lang="en-US" altLang="en-NL" sz="2800" dirty="0">
                  <a:latin typeface="Courier New" panose="02070309020205020404" pitchFamily="49" charset="0"/>
                  <a:ea typeface="ＭＳ Ｐゴシック" panose="020B0600070205080204" pitchFamily="34" charset="-128"/>
                </a:endParaRPr>
              </a:p>
              <a:p>
                <a:pPr lvl="1">
                  <a:lnSpc>
                    <a:spcPct val="150000"/>
                  </a:lnSpc>
                </a:pPr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𝑡</m:t>
                    </m:r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=1</m:t>
                    </m:r>
                  </m:oMath>
                </a14:m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 to </a:t>
                </a:r>
                <a14:m>
                  <m:oMath xmlns:m="http://schemas.openxmlformats.org/officeDocument/2006/math"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𝑇</m:t>
                    </m:r>
                  </m:oMath>
                </a14:m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 DO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	</a:t>
                </a:r>
                <a:r>
                  <a:rPr lang="en-US" altLang="en-NL" sz="2800" b="0" dirty="0">
                    <a:ea typeface="ＭＳ Ｐゴシック" panose="020B060007020508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𝑤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+1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←</m:t>
                    </m:r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𝑤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−</m:t>
                    </m:r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𝜂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𝑙</m:t>
                    </m:r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(</m:t>
                    </m:r>
                    <m:sSubSup>
                      <m:sSubSup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Sup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𝑤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  <m:sup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 </m:t>
                    </m:r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𝑦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)</m:t>
                    </m:r>
                  </m:oMath>
                </a14:m>
                <a:endParaRPr lang="en-US" altLang="en-NL" sz="2800" dirty="0">
                  <a:latin typeface="Courier New" panose="02070309020205020404" pitchFamily="49" charset="0"/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3CE6BD4-5172-B7A6-A10D-0E2E1E70D6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324" y="3578525"/>
                <a:ext cx="5492733" cy="1977721"/>
              </a:xfrm>
              <a:prstGeom prst="rect">
                <a:avLst/>
              </a:prstGeom>
              <a:blipFill>
                <a:blip r:embed="rId2"/>
                <a:stretch>
                  <a:fillRect b="-3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2BAF8F-432E-BFE8-ABE8-3E56C2AF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10</a:t>
            </a:fld>
            <a:endParaRPr lang="nl-N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C37E9-D910-2E7A-58D6-C2F1CFA36BF2}"/>
                  </a:ext>
                </a:extLst>
              </p:cNvPr>
              <p:cNvSpPr txBox="1"/>
              <p:nvPr/>
            </p:nvSpPr>
            <p:spPr>
              <a:xfrm>
                <a:off x="6567054" y="3628995"/>
                <a:ext cx="5408616" cy="19777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1">
                  <a:lnSpc>
                    <a:spcPct val="150000"/>
                  </a:lnSpc>
                </a:pPr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Upon the arrival of new sample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	</a:t>
                </a:r>
                <a:r>
                  <a:rPr lang="en-US" altLang="en-NL" sz="2800" b="0" dirty="0">
                    <a:ea typeface="ＭＳ Ｐゴシック" panose="020B060007020508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𝑤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+1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←</m:t>
                    </m:r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𝑤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−</m:t>
                    </m:r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𝜂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𝑙</m:t>
                    </m:r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(</m:t>
                    </m:r>
                    <m:sSubSup>
                      <m:sSubSup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Sup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𝑤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  <m:sup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⊤</m:t>
                        </m:r>
                      </m:sup>
                    </m:sSubSup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𝑥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, </m:t>
                    </m:r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𝑦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𝑡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)</m:t>
                    </m:r>
                  </m:oMath>
                </a14:m>
                <a:endParaRPr lang="en-US" altLang="en-NL" sz="2800" dirty="0">
                  <a:latin typeface="Courier New" panose="02070309020205020404" pitchFamily="49" charset="0"/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C37E9-D910-2E7A-58D6-C2F1CFA36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7054" y="3628995"/>
                <a:ext cx="5408616" cy="1977721"/>
              </a:xfrm>
              <a:prstGeom prst="rect">
                <a:avLst/>
              </a:prstGeom>
              <a:blipFill>
                <a:blip r:embed="rId3"/>
                <a:stretch>
                  <a:fillRect b="-38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Callout 6">
            <a:extLst>
              <a:ext uri="{FF2B5EF4-FFF2-40B4-BE49-F238E27FC236}">
                <a16:creationId xmlns:a16="http://schemas.microsoft.com/office/drawing/2014/main" id="{EE4EA438-F072-37D2-BCAF-1E5E09CE9C7D}"/>
              </a:ext>
            </a:extLst>
          </p:cNvPr>
          <p:cNvSpPr/>
          <p:nvPr/>
        </p:nvSpPr>
        <p:spPr>
          <a:xfrm>
            <a:off x="4376057" y="3279475"/>
            <a:ext cx="1347849" cy="554637"/>
          </a:xfrm>
          <a:prstGeom prst="wedgeEllipseCallout">
            <a:avLst>
              <a:gd name="adj1" fmla="val -74696"/>
              <a:gd name="adj2" fmla="val 111855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Training</a:t>
            </a:r>
          </a:p>
        </p:txBody>
      </p:sp>
      <p:sp>
        <p:nvSpPr>
          <p:cNvPr id="8" name="Oval Callout 7">
            <a:extLst>
              <a:ext uri="{FF2B5EF4-FFF2-40B4-BE49-F238E27FC236}">
                <a16:creationId xmlns:a16="http://schemas.microsoft.com/office/drawing/2014/main" id="{ECB9C657-6472-5549-BDD7-3EC593AAA031}"/>
              </a:ext>
            </a:extLst>
          </p:cNvPr>
          <p:cNvSpPr/>
          <p:nvPr/>
        </p:nvSpPr>
        <p:spPr>
          <a:xfrm>
            <a:off x="5818906" y="3275972"/>
            <a:ext cx="1496291" cy="554637"/>
          </a:xfrm>
          <a:prstGeom prst="wedgeEllipseCallout">
            <a:avLst>
              <a:gd name="adj1" fmla="val 70961"/>
              <a:gd name="adj2" fmla="val 6261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Updating</a:t>
            </a:r>
          </a:p>
        </p:txBody>
      </p:sp>
    </p:spTree>
    <p:extLst>
      <p:ext uri="{BB962C8B-B14F-4D97-AF65-F5344CB8AC3E}">
        <p14:creationId xmlns:p14="http://schemas.microsoft.com/office/powerpoint/2010/main" val="1479834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11264" y="2715494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Sampling Data Stream</a:t>
            </a:r>
            <a:endParaRPr lang="nl-NL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971225-D454-F14F-B45D-F65B546A6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43507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515600" cy="494828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altLang="en-US" dirty="0"/>
                  <a:t>Since we cannot store the entire stream, one obvious approach is to store a sample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altLang="en-US" dirty="0"/>
                  <a:t>Two different problems: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AU" altLang="en-US" dirty="0"/>
                  <a:t>Sample a fixed proportion of elements in the stream (say 1 in 10)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AU" altLang="en-US" dirty="0"/>
                  <a:t>Maintain a random sample of fixed size over a potentially infinite stream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AU" altLang="en-US" sz="2200" dirty="0"/>
                  <a:t>At any “time” </a:t>
                </a:r>
                <a14:m>
                  <m:oMath xmlns:m="http://schemas.openxmlformats.org/officeDocument/2006/math">
                    <m:r>
                      <a:rPr lang="en-US" altLang="en-US" sz="22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altLang="en-US" sz="2200" dirty="0"/>
                  <a:t>, we would like a random sample of </a:t>
                </a:r>
                <a14:m>
                  <m:oMath xmlns:m="http://schemas.openxmlformats.org/officeDocument/2006/math">
                    <m:r>
                      <a:rPr lang="en-AU" altLang="en-US" sz="2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en-US" sz="2200" dirty="0"/>
                  <a:t> elements</a:t>
                </a:r>
              </a:p>
              <a:p>
                <a:pPr lvl="3">
                  <a:lnSpc>
                    <a:spcPct val="120000"/>
                  </a:lnSpc>
                </a:pPr>
                <a:r>
                  <a:rPr lang="en-AU" altLang="en-US" sz="2000" dirty="0"/>
                  <a:t>What are the properties of the sample we want to maintain?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515600" cy="4948280"/>
              </a:xfrm>
              <a:blipFill>
                <a:blip r:embed="rId2"/>
                <a:stretch>
                  <a:fillRect l="-1206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D81C28-4414-F402-C666-C7765E2F0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29868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6A9AA-6EAD-58CD-F5C4-843878A1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C909-0A2D-72BA-FFE3-0B54B19D3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315452-737D-D69B-16C6-5301B009F7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515600" cy="494828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altLang="en-US" dirty="0"/>
                  <a:t>Since we cannot store the entire stream, one obvious approach is to store a sample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AU" altLang="en-US" dirty="0"/>
                  <a:t>Two different problems: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AU" altLang="en-US" dirty="0"/>
                  <a:t>Sample a fixed proportion of elements in the stream (say 1 in 10)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AU" altLang="en-US" dirty="0"/>
                  <a:t>Maintain a random sample of fixed size over a potentially infinite stream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AU" altLang="en-US" sz="2200" dirty="0"/>
                  <a:t>At any “time” </a:t>
                </a:r>
                <a14:m>
                  <m:oMath xmlns:m="http://schemas.openxmlformats.org/officeDocument/2006/math">
                    <m:r>
                      <a:rPr lang="en-US" altLang="en-US" sz="22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altLang="en-US" sz="2200" dirty="0"/>
                  <a:t>, we would like a random sample of </a:t>
                </a:r>
                <a14:m>
                  <m:oMath xmlns:m="http://schemas.openxmlformats.org/officeDocument/2006/math">
                    <m:r>
                      <a:rPr lang="en-AU" altLang="en-US" sz="2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en-US" sz="2200" dirty="0"/>
                  <a:t> elements</a:t>
                </a:r>
              </a:p>
              <a:p>
                <a:pPr lvl="3">
                  <a:lnSpc>
                    <a:spcPct val="120000"/>
                  </a:lnSpc>
                </a:pPr>
                <a:r>
                  <a:rPr lang="en-AU" altLang="en-US" sz="2000" dirty="0"/>
                  <a:t>Which property of the sample we want to maintain? </a:t>
                </a:r>
              </a:p>
              <a:p>
                <a:pPr lvl="4">
                  <a:lnSpc>
                    <a:spcPct val="120000"/>
                  </a:lnSpc>
                </a:pPr>
                <a:r>
                  <a:rPr lang="en-AU" altLang="en-US" sz="2000" dirty="0"/>
                  <a:t>For all time steps </a:t>
                </a:r>
                <a14:m>
                  <m:oMath xmlns:m="http://schemas.openxmlformats.org/officeDocument/2006/math">
                    <m:r>
                      <a:rPr lang="en-AU" alt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altLang="en-US" sz="2000" dirty="0"/>
                  <a:t>, each of the </a:t>
                </a:r>
                <a14:m>
                  <m:oMath xmlns:m="http://schemas.openxmlformats.org/officeDocument/2006/math">
                    <m:r>
                      <a:rPr lang="en-AU" altLang="en-US" sz="20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altLang="en-US" sz="2000" dirty="0"/>
                  <a:t> elements seen so far has equal probability of being sampled; </a:t>
                </a:r>
                <a:r>
                  <a:rPr lang="en-AU" altLang="en-US" sz="2000" dirty="0">
                    <a:solidFill>
                      <a:srgbClr val="FF0000"/>
                    </a:solidFill>
                  </a:rPr>
                  <a:t>OR</a:t>
                </a:r>
              </a:p>
              <a:p>
                <a:pPr lvl="4">
                  <a:lnSpc>
                    <a:spcPct val="120000"/>
                  </a:lnSpc>
                </a:pPr>
                <a:r>
                  <a:rPr lang="en-AU" altLang="en-US" sz="2000" dirty="0"/>
                  <a:t>The sample is representative of the whole stream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315452-737D-D69B-16C6-5301B009F7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515600" cy="4948280"/>
              </a:xfrm>
              <a:blipFill>
                <a:blip r:embed="rId2"/>
                <a:stretch>
                  <a:fillRect l="-1206" t="-256" b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E2CCE-2389-A4BF-3C85-87E6A8F5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5974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 – Sample a fixed proportion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AU" altLang="en-US" dirty="0"/>
              <a:t>Assume we have space to store 1/10-th of the stream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Naïve solution: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Generate a random integer in [0..9] for each query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Store the sample if the integer is 0, otherwise discard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Problem: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As the stream grows, the sample size will grow also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75B8C-33DF-E9B7-A889-59C17EA7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9369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 – Sample a fixed Size sample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515600" cy="4948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Suppose we need to maintain a random sample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altLang="en-US" dirty="0"/>
                  <a:t> of size exactly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en-US" dirty="0"/>
                  <a:t> tuples (examples)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E.g., main memory size constraint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Why? Don’t know length of stream in advance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Suppose at time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altLang="en-US" dirty="0"/>
                  <a:t> we have seen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 items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Each item is in the sample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altLang="en-US" dirty="0"/>
                  <a:t> with equal prob.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AU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515600" cy="4948280"/>
              </a:xfrm>
              <a:blipFill>
                <a:blip r:embed="rId2"/>
                <a:stretch>
                  <a:fillRect l="-1086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F262B-0675-70F5-0DEB-1221F4F11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95703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 – Sample a fixed Size sample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515600" cy="494828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How to think about the problem: say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AU" altLang="en-US" dirty="0"/>
                  <a:t> 4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Stream: a x c y z k c d e g…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We need to maintain: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When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= 5</m:t>
                    </m:r>
                  </m:oMath>
                </a14:m>
                <a:r>
                  <a:rPr lang="en-AU" altLang="en-US" dirty="0"/>
                  <a:t>, each of the first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AU" altLang="en-US" dirty="0"/>
                  <a:t> tuples is included in the sample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altLang="en-US" dirty="0"/>
                  <a:t> with equal prob.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When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= 7</m:t>
                    </m:r>
                  </m:oMath>
                </a14:m>
                <a:r>
                  <a:rPr lang="en-AU" altLang="en-US" dirty="0"/>
                  <a:t>, each of the first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AU" altLang="en-US" dirty="0"/>
                  <a:t> tuples is included in the sample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altLang="en-US" dirty="0"/>
                  <a:t> with equal prob.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>
                    <a:solidFill>
                      <a:srgbClr val="C00000"/>
                    </a:solidFill>
                  </a:rPr>
                  <a:t>Impractical solution:</a:t>
                </a:r>
                <a:r>
                  <a:rPr lang="en-AU" altLang="en-US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store the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 tuples seen so far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pick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en-US" dirty="0"/>
                  <a:t> at random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515600" cy="4948280"/>
              </a:xfrm>
              <a:blipFill>
                <a:blip r:embed="rId2"/>
                <a:stretch>
                  <a:fillRect l="-965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ket 3">
            <a:extLst>
              <a:ext uri="{FF2B5EF4-FFF2-40B4-BE49-F238E27FC236}">
                <a16:creationId xmlns:a16="http://schemas.microsoft.com/office/drawing/2014/main" id="{C9146F00-333A-FB47-A962-FFB87BFCA0BF}"/>
              </a:ext>
            </a:extLst>
          </p:cNvPr>
          <p:cNvSpPr/>
          <p:nvPr/>
        </p:nvSpPr>
        <p:spPr>
          <a:xfrm rot="5400000">
            <a:off x="2833845" y="1748964"/>
            <a:ext cx="176380" cy="1192159"/>
          </a:xfrm>
          <a:prstGeom prst="rightBracket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E19E6C35-AB7F-5A43-8F40-2845B7E437F2}"/>
              </a:ext>
            </a:extLst>
          </p:cNvPr>
          <p:cNvSpPr/>
          <p:nvPr/>
        </p:nvSpPr>
        <p:spPr>
          <a:xfrm rot="5400000">
            <a:off x="3022223" y="1560584"/>
            <a:ext cx="264572" cy="1657109"/>
          </a:xfrm>
          <a:prstGeom prst="rightBracket">
            <a:avLst/>
          </a:prstGeom>
          <a:ln w="28575">
            <a:solidFill>
              <a:srgbClr val="008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1B1ED-F6D4-D243-E54A-124C3076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7965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 – Reservoir Sampling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515600" cy="4948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Store all the first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en-US" dirty="0"/>
                  <a:t> elements of the stream to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AU" altLang="en-US" dirty="0"/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Suppose we have seen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AU" altLang="en-US" dirty="0"/>
                  <a:t> elements, and now </a:t>
                </a:r>
                <a:br>
                  <a:rPr lang="en-AU" altLang="en-US" dirty="0"/>
                </a:br>
                <a:r>
                  <a:rPr lang="en-AU" altLang="en-US" dirty="0"/>
                  <a:t>the </a:t>
                </a:r>
                <a14:m>
                  <m:oMath xmlns:m="http://schemas.openxmlformats.org/officeDocument/2006/math">
                    <m:r>
                      <a:rPr lang="en-AU" alt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-th element arrives (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en-US" dirty="0"/>
                  <a:t>)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With probability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, keep the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-</a:t>
                </a:r>
                <a:r>
                  <a:rPr lang="en-AU" altLang="en-US" dirty="0" err="1"/>
                  <a:t>th</a:t>
                </a:r>
                <a:r>
                  <a:rPr lang="en-AU" altLang="en-US" dirty="0"/>
                  <a:t> element, else discard it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If we picked the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-</a:t>
                </a:r>
                <a:r>
                  <a:rPr lang="en-AU" altLang="en-US" dirty="0" err="1"/>
                  <a:t>th</a:t>
                </a:r>
                <a:r>
                  <a:rPr lang="en-AU" altLang="en-US" dirty="0"/>
                  <a:t> element, then it replaces one of the </a:t>
                </a:r>
                <a:br>
                  <a:rPr lang="en-AU" altLang="en-US" dirty="0"/>
                </a:b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en-US" dirty="0"/>
                  <a:t> elements in the sample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altLang="en-US" dirty="0"/>
                  <a:t>, picked uniformly at random</a:t>
                </a:r>
              </a:p>
              <a:p>
                <a:pPr>
                  <a:lnSpc>
                    <a:spcPct val="120000"/>
                  </a:lnSpc>
                </a:pPr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:endParaRPr lang="en-AU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515600" cy="4948280"/>
              </a:xfrm>
              <a:blipFill>
                <a:blip r:embed="rId2"/>
                <a:stretch>
                  <a:fillRect l="-1086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26762-91B4-9912-33F1-5B817674F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433514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 – Reservoir Sampling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3FC2D63D-3133-75B3-D012-9D4F376C26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4702370"/>
                  </p:ext>
                </p:extLst>
              </p:nvPr>
            </p:nvGraphicFramePr>
            <p:xfrm>
              <a:off x="4606498" y="2347327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3FC2D63D-3133-75B3-D012-9D4F376C262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94702370"/>
                  </p:ext>
                </p:extLst>
              </p:nvPr>
            </p:nvGraphicFramePr>
            <p:xfrm>
              <a:off x="4606498" y="2347327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33" r="-6667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6896F90-42E8-3BD1-6AD6-6901AE00725A}"/>
              </a:ext>
            </a:extLst>
          </p:cNvPr>
          <p:cNvSpPr txBox="1"/>
          <p:nvPr/>
        </p:nvSpPr>
        <p:spPr>
          <a:xfrm>
            <a:off x="2438400" y="4176406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Reservoir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2A36A-0E91-D131-A724-2561AAE4B5FF}"/>
              </a:ext>
            </a:extLst>
          </p:cNvPr>
          <p:cNvSpPr txBox="1"/>
          <p:nvPr/>
        </p:nvSpPr>
        <p:spPr>
          <a:xfrm>
            <a:off x="2507672" y="2326029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Stream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BB34AF-C33F-5CD6-21C7-027A6F3CA811}"/>
              </a:ext>
            </a:extLst>
          </p:cNvPr>
          <p:cNvCxnSpPr>
            <a:cxnSpLocks/>
          </p:cNvCxnSpPr>
          <p:nvPr/>
        </p:nvCxnSpPr>
        <p:spPr>
          <a:xfrm>
            <a:off x="4762935" y="2721511"/>
            <a:ext cx="24530" cy="145489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C717D94-D0DF-40B3-A904-E3BCEACFFB28}"/>
              </a:ext>
            </a:extLst>
          </p:cNvPr>
          <p:cNvSpPr txBox="1"/>
          <p:nvPr/>
        </p:nvSpPr>
        <p:spPr>
          <a:xfrm>
            <a:off x="4463038" y="2739555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D8DD74-1BA3-8778-038D-6A4F484DEEC1}"/>
              </a:ext>
            </a:extLst>
          </p:cNvPr>
          <p:cNvCxnSpPr>
            <a:cxnSpLocks/>
          </p:cNvCxnSpPr>
          <p:nvPr/>
        </p:nvCxnSpPr>
        <p:spPr>
          <a:xfrm flipH="1">
            <a:off x="5188197" y="2710498"/>
            <a:ext cx="21357" cy="145083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337AFC3-F5F7-5108-AD42-02DFF9421293}"/>
              </a:ext>
            </a:extLst>
          </p:cNvPr>
          <p:cNvSpPr txBox="1"/>
          <p:nvPr/>
        </p:nvSpPr>
        <p:spPr>
          <a:xfrm>
            <a:off x="4921503" y="2881919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5DB392B-0580-4175-4F00-D2C8BBFCFB5B}"/>
              </a:ext>
            </a:extLst>
          </p:cNvPr>
          <p:cNvCxnSpPr>
            <a:cxnSpLocks/>
          </p:cNvCxnSpPr>
          <p:nvPr/>
        </p:nvCxnSpPr>
        <p:spPr>
          <a:xfrm flipH="1">
            <a:off x="5565296" y="2735985"/>
            <a:ext cx="38677" cy="1458705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1CF2B16-0C00-525A-8F86-DD12A65A3FC9}"/>
              </a:ext>
            </a:extLst>
          </p:cNvPr>
          <p:cNvSpPr txBox="1"/>
          <p:nvPr/>
        </p:nvSpPr>
        <p:spPr>
          <a:xfrm>
            <a:off x="5710210" y="3356951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E955A57-7FEA-FA4B-CFCF-F7734D8799B3}"/>
              </a:ext>
            </a:extLst>
          </p:cNvPr>
          <p:cNvCxnSpPr>
            <a:cxnSpLocks/>
          </p:cNvCxnSpPr>
          <p:nvPr/>
        </p:nvCxnSpPr>
        <p:spPr>
          <a:xfrm>
            <a:off x="6070140" y="2706367"/>
            <a:ext cx="0" cy="148406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198F65A-DAB7-0802-07E6-04C801A60743}"/>
              </a:ext>
            </a:extLst>
          </p:cNvPr>
          <p:cNvSpPr txBox="1"/>
          <p:nvPr/>
        </p:nvSpPr>
        <p:spPr>
          <a:xfrm>
            <a:off x="5306740" y="3104397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AC82183-8EDF-7D19-FE82-86229219C50B}"/>
              </a:ext>
            </a:extLst>
          </p:cNvPr>
          <p:cNvSpPr txBox="1"/>
          <p:nvPr/>
        </p:nvSpPr>
        <p:spPr>
          <a:xfrm>
            <a:off x="6068218" y="3594005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03D90E0-498C-AC48-A666-4818C7BAD4F5}"/>
              </a:ext>
            </a:extLst>
          </p:cNvPr>
          <p:cNvCxnSpPr>
            <a:cxnSpLocks/>
          </p:cNvCxnSpPr>
          <p:nvPr/>
        </p:nvCxnSpPr>
        <p:spPr>
          <a:xfrm>
            <a:off x="6455569" y="2706367"/>
            <a:ext cx="0" cy="1476194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Table 6">
            <a:extLst>
              <a:ext uri="{FF2B5EF4-FFF2-40B4-BE49-F238E27FC236}">
                <a16:creationId xmlns:a16="http://schemas.microsoft.com/office/drawing/2014/main" id="{A62067D4-9D39-6F21-A3D4-E3B2CFA17F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249775"/>
              </p:ext>
            </p:extLst>
          </p:nvPr>
        </p:nvGraphicFramePr>
        <p:xfrm>
          <a:off x="4537956" y="4162487"/>
          <a:ext cx="2032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">
                  <a:extLst>
                    <a:ext uri="{9D8B030D-6E8A-4147-A177-3AD203B41FA5}">
                      <a16:colId xmlns:a16="http://schemas.microsoft.com/office/drawing/2014/main" val="94273651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484400907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595401449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3819059824"/>
                    </a:ext>
                  </a:extLst>
                </a:gridCol>
                <a:gridCol w="406400">
                  <a:extLst>
                    <a:ext uri="{9D8B030D-6E8A-4147-A177-3AD203B41FA5}">
                      <a16:colId xmlns:a16="http://schemas.microsoft.com/office/drawing/2014/main" val="16348519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9986"/>
                  </a:ext>
                </a:extLst>
              </a:tr>
            </a:tbl>
          </a:graphicData>
        </a:graphic>
      </p:graphicFrame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A0E1028-7452-3ECE-83FB-551F53EED8A5}"/>
              </a:ext>
            </a:extLst>
          </p:cNvPr>
          <p:cNvCxnSpPr>
            <a:cxnSpLocks/>
          </p:cNvCxnSpPr>
          <p:nvPr/>
        </p:nvCxnSpPr>
        <p:spPr>
          <a:xfrm flipV="1">
            <a:off x="3506061" y="2510695"/>
            <a:ext cx="681447" cy="56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3868D0-CDDF-5CB9-039B-E29748B97C00}"/>
              </a:ext>
            </a:extLst>
          </p:cNvPr>
          <p:cNvCxnSpPr>
            <a:cxnSpLocks/>
          </p:cNvCxnSpPr>
          <p:nvPr/>
        </p:nvCxnSpPr>
        <p:spPr>
          <a:xfrm flipV="1">
            <a:off x="3568623" y="4359829"/>
            <a:ext cx="667329" cy="126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7B09898-F519-88BA-041E-233364CA1F4A}"/>
              </a:ext>
            </a:extLst>
          </p:cNvPr>
          <p:cNvSpPr txBox="1"/>
          <p:nvPr/>
        </p:nvSpPr>
        <p:spPr>
          <a:xfrm>
            <a:off x="3067914" y="1678854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Discard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F22D60-64EB-865A-D870-F0E5F5D06EB0}"/>
              </a:ext>
            </a:extLst>
          </p:cNvPr>
          <p:cNvSpPr txBox="1"/>
          <p:nvPr/>
        </p:nvSpPr>
        <p:spPr>
          <a:xfrm>
            <a:off x="3069651" y="5029600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Discard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69FBE2-5EC6-D503-6E5B-F99CE6D4C398}"/>
              </a:ext>
            </a:extLst>
          </p:cNvPr>
          <p:cNvSpPr txBox="1"/>
          <p:nvPr/>
        </p:nvSpPr>
        <p:spPr>
          <a:xfrm>
            <a:off x="3067913" y="3342929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Select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04D977D-1A71-502A-9652-C183CE0C77F0}"/>
              </a:ext>
            </a:extLst>
          </p:cNvPr>
          <p:cNvCxnSpPr>
            <a:cxnSpLocks/>
          </p:cNvCxnSpPr>
          <p:nvPr/>
        </p:nvCxnSpPr>
        <p:spPr>
          <a:xfrm flipV="1">
            <a:off x="4787465" y="1683248"/>
            <a:ext cx="0" cy="6587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F3579A7-B6AB-04DC-F28A-661DE8D76331}"/>
              </a:ext>
            </a:extLst>
          </p:cNvPr>
          <p:cNvSpPr txBox="1"/>
          <p:nvPr/>
        </p:nvSpPr>
        <p:spPr>
          <a:xfrm>
            <a:off x="4491565" y="1726952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F3976E4-740A-B041-3849-71F6DB25DDC2}"/>
              </a:ext>
            </a:extLst>
          </p:cNvPr>
          <p:cNvCxnSpPr>
            <a:cxnSpLocks/>
          </p:cNvCxnSpPr>
          <p:nvPr/>
        </p:nvCxnSpPr>
        <p:spPr>
          <a:xfrm flipV="1">
            <a:off x="5209226" y="1674964"/>
            <a:ext cx="0" cy="6587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A9AD1418-A95F-E010-8D52-970B693F299E}"/>
              </a:ext>
            </a:extLst>
          </p:cNvPr>
          <p:cNvSpPr txBox="1"/>
          <p:nvPr/>
        </p:nvSpPr>
        <p:spPr>
          <a:xfrm>
            <a:off x="4842387" y="1989677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A78E29B-E191-ACEF-E88B-EB948682AAE4}"/>
              </a:ext>
            </a:extLst>
          </p:cNvPr>
          <p:cNvCxnSpPr>
            <a:cxnSpLocks/>
          </p:cNvCxnSpPr>
          <p:nvPr/>
        </p:nvCxnSpPr>
        <p:spPr>
          <a:xfrm flipV="1">
            <a:off x="5581795" y="1681031"/>
            <a:ext cx="0" cy="6587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00C713F-6FED-B01B-C0A6-71462590DC9C}"/>
              </a:ext>
            </a:extLst>
          </p:cNvPr>
          <p:cNvSpPr txBox="1"/>
          <p:nvPr/>
        </p:nvSpPr>
        <p:spPr>
          <a:xfrm>
            <a:off x="5244216" y="1686952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4BEAC944-2706-17E1-B18F-0895BCFF6819}"/>
              </a:ext>
            </a:extLst>
          </p:cNvPr>
          <p:cNvCxnSpPr>
            <a:cxnSpLocks/>
          </p:cNvCxnSpPr>
          <p:nvPr/>
        </p:nvCxnSpPr>
        <p:spPr>
          <a:xfrm flipV="1">
            <a:off x="6020730" y="1672984"/>
            <a:ext cx="0" cy="6587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13294F7-2954-FE84-14F5-170EB54FEAE9}"/>
              </a:ext>
            </a:extLst>
          </p:cNvPr>
          <p:cNvSpPr txBox="1"/>
          <p:nvPr/>
        </p:nvSpPr>
        <p:spPr>
          <a:xfrm>
            <a:off x="5703584" y="1980143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12FADFC-DB4C-9A9E-AB7E-176D233FFEC5}"/>
              </a:ext>
            </a:extLst>
          </p:cNvPr>
          <p:cNvCxnSpPr>
            <a:cxnSpLocks/>
          </p:cNvCxnSpPr>
          <p:nvPr/>
        </p:nvCxnSpPr>
        <p:spPr>
          <a:xfrm flipV="1">
            <a:off x="6484099" y="1671320"/>
            <a:ext cx="0" cy="6587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80EE279-184A-109B-C261-7C56D450CD27}"/>
              </a:ext>
            </a:extLst>
          </p:cNvPr>
          <p:cNvSpPr txBox="1"/>
          <p:nvPr/>
        </p:nvSpPr>
        <p:spPr>
          <a:xfrm>
            <a:off x="6156385" y="1656729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B1B3C67-C53B-C3B4-9C14-00B3C2C0F431}"/>
              </a:ext>
            </a:extLst>
          </p:cNvPr>
          <p:cNvCxnSpPr>
            <a:cxnSpLocks/>
            <a:endCxn id="62" idx="2"/>
          </p:cNvCxnSpPr>
          <p:nvPr/>
        </p:nvCxnSpPr>
        <p:spPr>
          <a:xfrm flipH="1">
            <a:off x="4719749" y="4533327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C4B4B95-80AD-B2D4-0077-22ED387C011D}"/>
              </a:ext>
            </a:extLst>
          </p:cNvPr>
          <p:cNvSpPr txBox="1"/>
          <p:nvPr/>
        </p:nvSpPr>
        <p:spPr>
          <a:xfrm>
            <a:off x="4395322" y="4903808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8F58A36-9490-3EF5-8DD9-442E4F339247}"/>
              </a:ext>
            </a:extLst>
          </p:cNvPr>
          <p:cNvCxnSpPr>
            <a:cxnSpLocks/>
          </p:cNvCxnSpPr>
          <p:nvPr/>
        </p:nvCxnSpPr>
        <p:spPr>
          <a:xfrm flipH="1">
            <a:off x="5174944" y="4537578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EC9FB75-53B2-B8EE-C6EA-4E27C6D29097}"/>
              </a:ext>
            </a:extLst>
          </p:cNvPr>
          <p:cNvSpPr txBox="1"/>
          <p:nvPr/>
        </p:nvSpPr>
        <p:spPr>
          <a:xfrm>
            <a:off x="4850849" y="4594540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7C9A933-4801-4DD6-FE7E-CBAA4AE4056B}"/>
              </a:ext>
            </a:extLst>
          </p:cNvPr>
          <p:cNvCxnSpPr>
            <a:cxnSpLocks/>
            <a:endCxn id="72" idx="2"/>
          </p:cNvCxnSpPr>
          <p:nvPr/>
        </p:nvCxnSpPr>
        <p:spPr>
          <a:xfrm flipH="1">
            <a:off x="5628175" y="4533317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DF533979-8890-FE95-4E36-DDADBA6B8453}"/>
              </a:ext>
            </a:extLst>
          </p:cNvPr>
          <p:cNvSpPr txBox="1"/>
          <p:nvPr/>
        </p:nvSpPr>
        <p:spPr>
          <a:xfrm>
            <a:off x="5303748" y="4903798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E5B5258-6F28-2546-43EC-D99DDC80B948}"/>
              </a:ext>
            </a:extLst>
          </p:cNvPr>
          <p:cNvCxnSpPr>
            <a:cxnSpLocks/>
          </p:cNvCxnSpPr>
          <p:nvPr/>
        </p:nvCxnSpPr>
        <p:spPr>
          <a:xfrm flipH="1">
            <a:off x="6072578" y="4525449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5505608-AB93-5A7C-D4BB-273C13F2AFBC}"/>
              </a:ext>
            </a:extLst>
          </p:cNvPr>
          <p:cNvSpPr txBox="1"/>
          <p:nvPr/>
        </p:nvSpPr>
        <p:spPr>
          <a:xfrm>
            <a:off x="5759180" y="4533283"/>
            <a:ext cx="64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=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8" name="Table 6">
                <a:extLst>
                  <a:ext uri="{FF2B5EF4-FFF2-40B4-BE49-F238E27FC236}">
                    <a16:creationId xmlns:a16="http://schemas.microsoft.com/office/drawing/2014/main" id="{0CFCF160-D9FD-D99D-5D64-25340DA479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9282136"/>
                  </p:ext>
                </p:extLst>
              </p:nvPr>
            </p:nvGraphicFramePr>
            <p:xfrm>
              <a:off x="4537956" y="4162487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8" name="Table 6">
                <a:extLst>
                  <a:ext uri="{FF2B5EF4-FFF2-40B4-BE49-F238E27FC236}">
                    <a16:creationId xmlns:a16="http://schemas.microsoft.com/office/drawing/2014/main" id="{0CFCF160-D9FD-D99D-5D64-25340DA479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9282136"/>
                  </p:ext>
                </p:extLst>
              </p:nvPr>
            </p:nvGraphicFramePr>
            <p:xfrm>
              <a:off x="4537956" y="4162487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125" t="-3333" r="-406250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6">
                <a:extLst>
                  <a:ext uri="{FF2B5EF4-FFF2-40B4-BE49-F238E27FC236}">
                    <a16:creationId xmlns:a16="http://schemas.microsoft.com/office/drawing/2014/main" id="{67C7F4DD-2A94-29FE-B30A-73438BC5B3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3658575"/>
                  </p:ext>
                </p:extLst>
              </p:nvPr>
            </p:nvGraphicFramePr>
            <p:xfrm>
              <a:off x="5035246" y="234704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6">
                <a:extLst>
                  <a:ext uri="{FF2B5EF4-FFF2-40B4-BE49-F238E27FC236}">
                    <a16:creationId xmlns:a16="http://schemas.microsoft.com/office/drawing/2014/main" id="{67C7F4DD-2A94-29FE-B30A-73438BC5B3C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93658575"/>
                  </p:ext>
                </p:extLst>
              </p:nvPr>
            </p:nvGraphicFramePr>
            <p:xfrm>
              <a:off x="5035246" y="234704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3" t="-3226" r="-3333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0" name="Table 6">
                <a:extLst>
                  <a:ext uri="{FF2B5EF4-FFF2-40B4-BE49-F238E27FC236}">
                    <a16:creationId xmlns:a16="http://schemas.microsoft.com/office/drawing/2014/main" id="{3AE9AE88-1CA3-72D1-4707-1D377F4047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5149584"/>
                  </p:ext>
                </p:extLst>
              </p:nvPr>
            </p:nvGraphicFramePr>
            <p:xfrm>
              <a:off x="4534479" y="4155592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0" name="Table 6">
                <a:extLst>
                  <a:ext uri="{FF2B5EF4-FFF2-40B4-BE49-F238E27FC236}">
                    <a16:creationId xmlns:a16="http://schemas.microsoft.com/office/drawing/2014/main" id="{3AE9AE88-1CA3-72D1-4707-1D377F4047E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85149584"/>
                  </p:ext>
                </p:extLst>
              </p:nvPr>
            </p:nvGraphicFramePr>
            <p:xfrm>
              <a:off x="4534479" y="4155592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125" t="-3333" r="-40625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3125" t="-3333" r="-30625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1" name="Table 6">
                <a:extLst>
                  <a:ext uri="{FF2B5EF4-FFF2-40B4-BE49-F238E27FC236}">
                    <a16:creationId xmlns:a16="http://schemas.microsoft.com/office/drawing/2014/main" id="{CED87F45-602C-D63F-D207-49C92AB493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9968265"/>
                  </p:ext>
                </p:extLst>
              </p:nvPr>
            </p:nvGraphicFramePr>
            <p:xfrm>
              <a:off x="5434309" y="235899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1" name="Table 6">
                <a:extLst>
                  <a:ext uri="{FF2B5EF4-FFF2-40B4-BE49-F238E27FC236}">
                    <a16:creationId xmlns:a16="http://schemas.microsoft.com/office/drawing/2014/main" id="{CED87F45-602C-D63F-D207-49C92AB493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9968265"/>
                  </p:ext>
                </p:extLst>
              </p:nvPr>
            </p:nvGraphicFramePr>
            <p:xfrm>
              <a:off x="5434309" y="235899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3333" r="-3226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2" name="Table 6">
                <a:extLst>
                  <a:ext uri="{FF2B5EF4-FFF2-40B4-BE49-F238E27FC236}">
                    <a16:creationId xmlns:a16="http://schemas.microsoft.com/office/drawing/2014/main" id="{599F3E18-BE28-0EE3-12F4-A83E2AAAA4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7865059"/>
                  </p:ext>
                </p:extLst>
              </p:nvPr>
            </p:nvGraphicFramePr>
            <p:xfrm>
              <a:off x="4534479" y="4165489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2" name="Table 6">
                <a:extLst>
                  <a:ext uri="{FF2B5EF4-FFF2-40B4-BE49-F238E27FC236}">
                    <a16:creationId xmlns:a16="http://schemas.microsoft.com/office/drawing/2014/main" id="{599F3E18-BE28-0EE3-12F4-A83E2AAAA4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7865059"/>
                  </p:ext>
                </p:extLst>
              </p:nvPr>
            </p:nvGraphicFramePr>
            <p:xfrm>
              <a:off x="4534479" y="4165489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125" r="-4062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03125" r="-30625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96970" r="-196970" b="-32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Table 6">
                <a:extLst>
                  <a:ext uri="{FF2B5EF4-FFF2-40B4-BE49-F238E27FC236}">
                    <a16:creationId xmlns:a16="http://schemas.microsoft.com/office/drawing/2014/main" id="{298E1DA6-11BE-64CA-75D6-B3A8BC78B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589698"/>
                  </p:ext>
                </p:extLst>
              </p:nvPr>
            </p:nvGraphicFramePr>
            <p:xfrm>
              <a:off x="5851490" y="2354731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Table 6">
                <a:extLst>
                  <a:ext uri="{FF2B5EF4-FFF2-40B4-BE49-F238E27FC236}">
                    <a16:creationId xmlns:a16="http://schemas.microsoft.com/office/drawing/2014/main" id="{298E1DA6-11BE-64CA-75D6-B3A8BC78B38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02589698"/>
                  </p:ext>
                </p:extLst>
              </p:nvPr>
            </p:nvGraphicFramePr>
            <p:xfrm>
              <a:off x="5851490" y="2354731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333" t="-3333" r="-6667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4" name="Table 6">
                <a:extLst>
                  <a:ext uri="{FF2B5EF4-FFF2-40B4-BE49-F238E27FC236}">
                    <a16:creationId xmlns:a16="http://schemas.microsoft.com/office/drawing/2014/main" id="{44A98A49-74B2-3D33-2A66-D1BA2C2BCA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726419"/>
                  </p:ext>
                </p:extLst>
              </p:nvPr>
            </p:nvGraphicFramePr>
            <p:xfrm>
              <a:off x="4534479" y="4155022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4" name="Table 6">
                <a:extLst>
                  <a:ext uri="{FF2B5EF4-FFF2-40B4-BE49-F238E27FC236}">
                    <a16:creationId xmlns:a16="http://schemas.microsoft.com/office/drawing/2014/main" id="{44A98A49-74B2-3D33-2A66-D1BA2C2BCA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14726419"/>
                  </p:ext>
                </p:extLst>
              </p:nvPr>
            </p:nvGraphicFramePr>
            <p:xfrm>
              <a:off x="4534479" y="4155022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3125" t="-3333" r="-40625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03125" t="-3333" r="-30625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196970" t="-3333" r="-19697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9"/>
                          <a:stretch>
                            <a:fillRect l="-306250" t="-3333" r="-10312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5" name="Table 6">
                <a:extLst>
                  <a:ext uri="{FF2B5EF4-FFF2-40B4-BE49-F238E27FC236}">
                    <a16:creationId xmlns:a16="http://schemas.microsoft.com/office/drawing/2014/main" id="{689AA4F2-B681-62AA-E95C-9EF0F1856F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5713237"/>
                  </p:ext>
                </p:extLst>
              </p:nvPr>
            </p:nvGraphicFramePr>
            <p:xfrm>
              <a:off x="6262325" y="2346098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5" name="Table 6">
                <a:extLst>
                  <a:ext uri="{FF2B5EF4-FFF2-40B4-BE49-F238E27FC236}">
                    <a16:creationId xmlns:a16="http://schemas.microsoft.com/office/drawing/2014/main" id="{689AA4F2-B681-62AA-E95C-9EF0F1856F2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5713237"/>
                  </p:ext>
                </p:extLst>
              </p:nvPr>
            </p:nvGraphicFramePr>
            <p:xfrm>
              <a:off x="6262325" y="2346098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0"/>
                          <a:stretch>
                            <a:fillRect l="-3333" t="-3333" r="-3333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6" name="Table 6">
                <a:extLst>
                  <a:ext uri="{FF2B5EF4-FFF2-40B4-BE49-F238E27FC236}">
                    <a16:creationId xmlns:a16="http://schemas.microsoft.com/office/drawing/2014/main" id="{1CF3DE51-9D75-44EE-6F43-1BCE10D5AE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842815"/>
                  </p:ext>
                </p:extLst>
              </p:nvPr>
            </p:nvGraphicFramePr>
            <p:xfrm>
              <a:off x="4531002" y="4154343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6" name="Table 6">
                <a:extLst>
                  <a:ext uri="{FF2B5EF4-FFF2-40B4-BE49-F238E27FC236}">
                    <a16:creationId xmlns:a16="http://schemas.microsoft.com/office/drawing/2014/main" id="{1CF3DE51-9D75-44EE-6F43-1BCE10D5AE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3842815"/>
                  </p:ext>
                </p:extLst>
              </p:nvPr>
            </p:nvGraphicFramePr>
            <p:xfrm>
              <a:off x="4531002" y="4154343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t="-3333" r="-40625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00000" t="-3333" r="-30625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193939" t="-3333" r="-196970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303125" t="-3333" r="-103125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l="-403125" t="-3333" r="-3125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8" name="Slide Number Placeholder 87">
            <a:extLst>
              <a:ext uri="{FF2B5EF4-FFF2-40B4-BE49-F238E27FC236}">
                <a16:creationId xmlns:a16="http://schemas.microsoft.com/office/drawing/2014/main" id="{74EE2B08-E6C3-EAD2-4B1F-25467AE8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5724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  <p:bldP spid="18" grpId="0"/>
      <p:bldP spid="21" grpId="0"/>
      <p:bldP spid="25" grpId="0"/>
      <p:bldP spid="52" grpId="0"/>
      <p:bldP spid="54" grpId="0"/>
      <p:bldP spid="56" grpId="0"/>
      <p:bldP spid="58" grpId="0"/>
      <p:bldP spid="60" grpId="0"/>
      <p:bldP spid="62" grpId="0"/>
      <p:bldP spid="70" grpId="0"/>
      <p:bldP spid="72" grpId="0"/>
      <p:bldP spid="7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 – Reservoir Sampling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3FC2D63D-3133-75B3-D012-9D4F376C262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06498" y="2347327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3FC2D63D-3133-75B3-D012-9D4F376C262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06498" y="2347327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33" r="-6667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6896F90-42E8-3BD1-6AD6-6901AE00725A}"/>
              </a:ext>
            </a:extLst>
          </p:cNvPr>
          <p:cNvSpPr txBox="1"/>
          <p:nvPr/>
        </p:nvSpPr>
        <p:spPr>
          <a:xfrm>
            <a:off x="2438400" y="4176406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Reservoir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2A36A-0E91-D131-A724-2561AAE4B5FF}"/>
              </a:ext>
            </a:extLst>
          </p:cNvPr>
          <p:cNvSpPr txBox="1"/>
          <p:nvPr/>
        </p:nvSpPr>
        <p:spPr>
          <a:xfrm>
            <a:off x="2507672" y="2326029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Stream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BB34AF-C33F-5CD6-21C7-027A6F3CA811}"/>
              </a:ext>
            </a:extLst>
          </p:cNvPr>
          <p:cNvCxnSpPr>
            <a:cxnSpLocks/>
          </p:cNvCxnSpPr>
          <p:nvPr/>
        </p:nvCxnSpPr>
        <p:spPr>
          <a:xfrm flipH="1">
            <a:off x="5461376" y="2716938"/>
            <a:ext cx="1396293" cy="1283934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A0E1028-7452-3ECE-83FB-551F53EED8A5}"/>
              </a:ext>
            </a:extLst>
          </p:cNvPr>
          <p:cNvCxnSpPr>
            <a:cxnSpLocks/>
          </p:cNvCxnSpPr>
          <p:nvPr/>
        </p:nvCxnSpPr>
        <p:spPr>
          <a:xfrm flipV="1">
            <a:off x="3506061" y="2510695"/>
            <a:ext cx="681447" cy="56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3868D0-CDDF-5CB9-039B-E29748B97C00}"/>
              </a:ext>
            </a:extLst>
          </p:cNvPr>
          <p:cNvCxnSpPr>
            <a:cxnSpLocks/>
          </p:cNvCxnSpPr>
          <p:nvPr/>
        </p:nvCxnSpPr>
        <p:spPr>
          <a:xfrm flipV="1">
            <a:off x="3568623" y="4359829"/>
            <a:ext cx="667329" cy="126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7B09898-F519-88BA-041E-233364CA1F4A}"/>
              </a:ext>
            </a:extLst>
          </p:cNvPr>
          <p:cNvSpPr txBox="1"/>
          <p:nvPr/>
        </p:nvSpPr>
        <p:spPr>
          <a:xfrm>
            <a:off x="3067914" y="1678854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Discard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F22D60-64EB-865A-D870-F0E5F5D06EB0}"/>
              </a:ext>
            </a:extLst>
          </p:cNvPr>
          <p:cNvSpPr txBox="1"/>
          <p:nvPr/>
        </p:nvSpPr>
        <p:spPr>
          <a:xfrm>
            <a:off x="3069651" y="5029600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Discard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69FBE2-5EC6-D503-6E5B-F99CE6D4C398}"/>
              </a:ext>
            </a:extLst>
          </p:cNvPr>
          <p:cNvSpPr txBox="1"/>
          <p:nvPr/>
        </p:nvSpPr>
        <p:spPr>
          <a:xfrm>
            <a:off x="3067913" y="3342929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Select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B1B3C67-C53B-C3B4-9C14-00B3C2C0F431}"/>
              </a:ext>
            </a:extLst>
          </p:cNvPr>
          <p:cNvCxnSpPr>
            <a:cxnSpLocks/>
          </p:cNvCxnSpPr>
          <p:nvPr/>
        </p:nvCxnSpPr>
        <p:spPr>
          <a:xfrm flipH="1">
            <a:off x="4761291" y="4552251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C4B4B95-80AD-B2D4-0077-22ED387C011D}"/>
                  </a:ext>
                </a:extLst>
              </p:cNvPr>
              <p:cNvSpPr txBox="1"/>
              <p:nvPr/>
            </p:nvSpPr>
            <p:spPr>
              <a:xfrm>
                <a:off x="4352763" y="4512200"/>
                <a:ext cx="844874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C4B4B95-80AD-B2D4-0077-22ED387C0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763" y="4512200"/>
                <a:ext cx="844874" cy="612796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8F58A36-9490-3EF5-8DD9-442E4F339247}"/>
              </a:ext>
            </a:extLst>
          </p:cNvPr>
          <p:cNvCxnSpPr>
            <a:cxnSpLocks/>
          </p:cNvCxnSpPr>
          <p:nvPr/>
        </p:nvCxnSpPr>
        <p:spPr>
          <a:xfrm flipH="1">
            <a:off x="5174944" y="4537578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7C9A933-4801-4DD6-FE7E-CBAA4AE4056B}"/>
              </a:ext>
            </a:extLst>
          </p:cNvPr>
          <p:cNvCxnSpPr>
            <a:cxnSpLocks/>
          </p:cNvCxnSpPr>
          <p:nvPr/>
        </p:nvCxnSpPr>
        <p:spPr>
          <a:xfrm flipH="1">
            <a:off x="5628175" y="4533317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E5B5258-6F28-2546-43EC-D99DDC80B948}"/>
              </a:ext>
            </a:extLst>
          </p:cNvPr>
          <p:cNvCxnSpPr>
            <a:cxnSpLocks/>
          </p:cNvCxnSpPr>
          <p:nvPr/>
        </p:nvCxnSpPr>
        <p:spPr>
          <a:xfrm flipH="1">
            <a:off x="6072578" y="4525449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6">
                <a:extLst>
                  <a:ext uri="{FF2B5EF4-FFF2-40B4-BE49-F238E27FC236}">
                    <a16:creationId xmlns:a16="http://schemas.microsoft.com/office/drawing/2014/main" id="{67C7F4DD-2A94-29FE-B30A-73438BC5B3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35246" y="234704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6">
                <a:extLst>
                  <a:ext uri="{FF2B5EF4-FFF2-40B4-BE49-F238E27FC236}">
                    <a16:creationId xmlns:a16="http://schemas.microsoft.com/office/drawing/2014/main" id="{67C7F4DD-2A94-29FE-B30A-73438BC5B3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35246" y="234704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3" t="-3226" r="-3333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1" name="Table 6">
                <a:extLst>
                  <a:ext uri="{FF2B5EF4-FFF2-40B4-BE49-F238E27FC236}">
                    <a16:creationId xmlns:a16="http://schemas.microsoft.com/office/drawing/2014/main" id="{CED87F45-602C-D63F-D207-49C92AB493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34309" y="235899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1" name="Table 6">
                <a:extLst>
                  <a:ext uri="{FF2B5EF4-FFF2-40B4-BE49-F238E27FC236}">
                    <a16:creationId xmlns:a16="http://schemas.microsoft.com/office/drawing/2014/main" id="{CED87F45-602C-D63F-D207-49C92AB493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34309" y="235899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333" r="-3226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Table 6">
                <a:extLst>
                  <a:ext uri="{FF2B5EF4-FFF2-40B4-BE49-F238E27FC236}">
                    <a16:creationId xmlns:a16="http://schemas.microsoft.com/office/drawing/2014/main" id="{298E1DA6-11BE-64CA-75D6-B3A8BC78B38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51490" y="2354731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Table 6">
                <a:extLst>
                  <a:ext uri="{FF2B5EF4-FFF2-40B4-BE49-F238E27FC236}">
                    <a16:creationId xmlns:a16="http://schemas.microsoft.com/office/drawing/2014/main" id="{298E1DA6-11BE-64CA-75D6-B3A8BC78B38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51490" y="2354731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33" t="-3333" r="-6667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5" name="Table 6">
                <a:extLst>
                  <a:ext uri="{FF2B5EF4-FFF2-40B4-BE49-F238E27FC236}">
                    <a16:creationId xmlns:a16="http://schemas.microsoft.com/office/drawing/2014/main" id="{689AA4F2-B681-62AA-E95C-9EF0F1856F2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62325" y="2346098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5" name="Table 6">
                <a:extLst>
                  <a:ext uri="{FF2B5EF4-FFF2-40B4-BE49-F238E27FC236}">
                    <a16:creationId xmlns:a16="http://schemas.microsoft.com/office/drawing/2014/main" id="{689AA4F2-B681-62AA-E95C-9EF0F1856F2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62325" y="2346098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333" t="-3333" r="-3333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6" name="Table 6">
                <a:extLst>
                  <a:ext uri="{FF2B5EF4-FFF2-40B4-BE49-F238E27FC236}">
                    <a16:creationId xmlns:a16="http://schemas.microsoft.com/office/drawing/2014/main" id="{1CF3DE51-9D75-44EE-6F43-1BCE10D5AE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826057"/>
                  </p:ext>
                </p:extLst>
              </p:nvPr>
            </p:nvGraphicFramePr>
            <p:xfrm>
              <a:off x="4564204" y="4173197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6" name="Table 6">
                <a:extLst>
                  <a:ext uri="{FF2B5EF4-FFF2-40B4-BE49-F238E27FC236}">
                    <a16:creationId xmlns:a16="http://schemas.microsoft.com/office/drawing/2014/main" id="{1CF3DE51-9D75-44EE-6F43-1BCE10D5AE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41826057"/>
                  </p:ext>
                </p:extLst>
              </p:nvPr>
            </p:nvGraphicFramePr>
            <p:xfrm>
              <a:off x="4564204" y="4173197"/>
              <a:ext cx="203200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06400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06400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125" t="-3333" r="-406250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3125" t="-3333" r="-306250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96970" t="-3333" r="-196970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6250" t="-3333" r="-103125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406250" t="-3333" r="-3125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BFDF7B3-B14B-7035-7B02-618D75BE04F0}"/>
              </a:ext>
            </a:extLst>
          </p:cNvPr>
          <p:cNvCxnSpPr>
            <a:cxnSpLocks/>
          </p:cNvCxnSpPr>
          <p:nvPr/>
        </p:nvCxnSpPr>
        <p:spPr>
          <a:xfrm flipH="1">
            <a:off x="6418284" y="4525449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9FB7CA-FEB4-3445-BD58-230D72480BD0}"/>
                  </a:ext>
                </a:extLst>
              </p:cNvPr>
              <p:cNvSpPr txBox="1"/>
              <p:nvPr/>
            </p:nvSpPr>
            <p:spPr>
              <a:xfrm>
                <a:off x="4768268" y="4993880"/>
                <a:ext cx="844874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9FB7CA-FEB4-3445-BD58-230D72480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268" y="4993880"/>
                <a:ext cx="844874" cy="612796"/>
              </a:xfrm>
              <a:prstGeom prst="rect">
                <a:avLst/>
              </a:prstGeom>
              <a:blipFill>
                <a:blip r:embed="rId9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2A2F29-6E6E-05FC-532C-776D3AAADADC}"/>
                  </a:ext>
                </a:extLst>
              </p:cNvPr>
              <p:cNvSpPr txBox="1"/>
              <p:nvPr/>
            </p:nvSpPr>
            <p:spPr>
              <a:xfrm>
                <a:off x="5697949" y="3222906"/>
                <a:ext cx="1049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5/6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2A2F29-6E6E-05FC-532C-776D3AAAD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949" y="3222906"/>
                <a:ext cx="1049466" cy="369332"/>
              </a:xfrm>
              <a:prstGeom prst="rect">
                <a:avLst/>
              </a:prstGeom>
              <a:blipFill>
                <a:blip r:embed="rId10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6">
                <a:extLst>
                  <a:ext uri="{FF2B5EF4-FFF2-40B4-BE49-F238E27FC236}">
                    <a16:creationId xmlns:a16="http://schemas.microsoft.com/office/drawing/2014/main" id="{D89F638A-C7F0-F77A-9650-586F2DCE2F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6894795"/>
                  </p:ext>
                </p:extLst>
              </p:nvPr>
            </p:nvGraphicFramePr>
            <p:xfrm>
              <a:off x="6688455" y="234596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𝟔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6">
                <a:extLst>
                  <a:ext uri="{FF2B5EF4-FFF2-40B4-BE49-F238E27FC236}">
                    <a16:creationId xmlns:a16="http://schemas.microsoft.com/office/drawing/2014/main" id="{D89F638A-C7F0-F77A-9650-586F2DCE2F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6894795"/>
                  </p:ext>
                </p:extLst>
              </p:nvPr>
            </p:nvGraphicFramePr>
            <p:xfrm>
              <a:off x="6688455" y="234596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t="-3333" r="-6667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109830-21EE-20E8-16D7-7084176EB32D}"/>
              </a:ext>
            </a:extLst>
          </p:cNvPr>
          <p:cNvCxnSpPr>
            <a:cxnSpLocks/>
          </p:cNvCxnSpPr>
          <p:nvPr/>
        </p:nvCxnSpPr>
        <p:spPr>
          <a:xfrm flipV="1">
            <a:off x="6872129" y="1672285"/>
            <a:ext cx="0" cy="6587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BF84538-5EA1-272D-7152-C1066651A213}"/>
                  </a:ext>
                </a:extLst>
              </p:cNvPr>
              <p:cNvSpPr txBox="1"/>
              <p:nvPr/>
            </p:nvSpPr>
            <p:spPr>
              <a:xfrm>
                <a:off x="6347396" y="1863520"/>
                <a:ext cx="1049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/6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BF84538-5EA1-272D-7152-C1066651A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396" y="1863520"/>
                <a:ext cx="1049466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1AA64C-EA4C-4794-34E5-928975218101}"/>
                  </a:ext>
                </a:extLst>
              </p:cNvPr>
              <p:cNvSpPr txBox="1"/>
              <p:nvPr/>
            </p:nvSpPr>
            <p:spPr>
              <a:xfrm>
                <a:off x="5227704" y="4512674"/>
                <a:ext cx="844874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1AA64C-EA4C-4794-34E5-928975218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7704" y="4512674"/>
                <a:ext cx="844874" cy="612796"/>
              </a:xfrm>
              <a:prstGeom prst="rect">
                <a:avLst/>
              </a:prstGeom>
              <a:blipFill>
                <a:blip r:embed="rId1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9AA07A7-E712-88E5-16FF-D8306A84F34F}"/>
                  </a:ext>
                </a:extLst>
              </p:cNvPr>
              <p:cNvSpPr txBox="1"/>
              <p:nvPr/>
            </p:nvSpPr>
            <p:spPr>
              <a:xfrm>
                <a:off x="5973471" y="4495375"/>
                <a:ext cx="844874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9AA07A7-E712-88E5-16FF-D8306A84F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3471" y="4495375"/>
                <a:ext cx="844874" cy="612796"/>
              </a:xfrm>
              <a:prstGeom prst="rect">
                <a:avLst/>
              </a:prstGeom>
              <a:blipFill>
                <a:blip r:embed="rId1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E32A5A-D5BD-FAE4-7E23-23CE45F8EAF0}"/>
                  </a:ext>
                </a:extLst>
              </p:cNvPr>
              <p:cNvSpPr txBox="1"/>
              <p:nvPr/>
            </p:nvSpPr>
            <p:spPr>
              <a:xfrm>
                <a:off x="5650141" y="4951943"/>
                <a:ext cx="844874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E32A5A-D5BD-FAE4-7E23-23CE45F8E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141" y="4951943"/>
                <a:ext cx="844874" cy="612796"/>
              </a:xfrm>
              <a:prstGeom prst="rect">
                <a:avLst/>
              </a:prstGeom>
              <a:blipFill>
                <a:blip r:embed="rId1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A0057848-4721-4111-F696-7EEB6F403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682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8" grpId="0"/>
      <p:bldP spid="11" grpId="0"/>
      <p:bldP spid="29" grpId="0"/>
      <p:bldP spid="30" grpId="0"/>
      <p:bldP spid="31" grpId="0"/>
      <p:bldP spid="3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 – Reservoir Sampling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3FC2D63D-3133-75B3-D012-9D4F376C262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06498" y="2347327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3FC2D63D-3133-75B3-D012-9D4F376C262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606498" y="2347327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333" r="-6667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6896F90-42E8-3BD1-6AD6-6901AE00725A}"/>
              </a:ext>
            </a:extLst>
          </p:cNvPr>
          <p:cNvSpPr txBox="1"/>
          <p:nvPr/>
        </p:nvSpPr>
        <p:spPr>
          <a:xfrm>
            <a:off x="2438400" y="4176406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Reservoir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62A36A-0E91-D131-A724-2561AAE4B5FF}"/>
              </a:ext>
            </a:extLst>
          </p:cNvPr>
          <p:cNvSpPr txBox="1"/>
          <p:nvPr/>
        </p:nvSpPr>
        <p:spPr>
          <a:xfrm>
            <a:off x="2507672" y="2326029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Stream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7BB34AF-C33F-5CD6-21C7-027A6F3CA811}"/>
              </a:ext>
            </a:extLst>
          </p:cNvPr>
          <p:cNvCxnSpPr>
            <a:cxnSpLocks/>
          </p:cNvCxnSpPr>
          <p:nvPr/>
        </p:nvCxnSpPr>
        <p:spPr>
          <a:xfrm flipH="1">
            <a:off x="5860406" y="2724511"/>
            <a:ext cx="3766503" cy="1237889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A0E1028-7452-3ECE-83FB-551F53EED8A5}"/>
              </a:ext>
            </a:extLst>
          </p:cNvPr>
          <p:cNvCxnSpPr>
            <a:cxnSpLocks/>
          </p:cNvCxnSpPr>
          <p:nvPr/>
        </p:nvCxnSpPr>
        <p:spPr>
          <a:xfrm flipV="1">
            <a:off x="3506061" y="2510695"/>
            <a:ext cx="681447" cy="565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3868D0-CDDF-5CB9-039B-E29748B97C00}"/>
              </a:ext>
            </a:extLst>
          </p:cNvPr>
          <p:cNvCxnSpPr>
            <a:cxnSpLocks/>
          </p:cNvCxnSpPr>
          <p:nvPr/>
        </p:nvCxnSpPr>
        <p:spPr>
          <a:xfrm flipV="1">
            <a:off x="3568623" y="4359829"/>
            <a:ext cx="667329" cy="1267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7B09898-F519-88BA-041E-233364CA1F4A}"/>
              </a:ext>
            </a:extLst>
          </p:cNvPr>
          <p:cNvSpPr txBox="1"/>
          <p:nvPr/>
        </p:nvSpPr>
        <p:spPr>
          <a:xfrm>
            <a:off x="3067914" y="1678854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Discard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F22D60-64EB-865A-D870-F0E5F5D06EB0}"/>
              </a:ext>
            </a:extLst>
          </p:cNvPr>
          <p:cNvSpPr txBox="1"/>
          <p:nvPr/>
        </p:nvSpPr>
        <p:spPr>
          <a:xfrm>
            <a:off x="3069651" y="5029600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Discard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169FBE2-5EC6-D503-6E5B-F99CE6D4C398}"/>
              </a:ext>
            </a:extLst>
          </p:cNvPr>
          <p:cNvSpPr txBox="1"/>
          <p:nvPr/>
        </p:nvSpPr>
        <p:spPr>
          <a:xfrm>
            <a:off x="3067913" y="3342929"/>
            <a:ext cx="1496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Select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B1B3C67-C53B-C3B4-9C14-00B3C2C0F431}"/>
              </a:ext>
            </a:extLst>
          </p:cNvPr>
          <p:cNvCxnSpPr>
            <a:cxnSpLocks/>
          </p:cNvCxnSpPr>
          <p:nvPr/>
        </p:nvCxnSpPr>
        <p:spPr>
          <a:xfrm flipH="1">
            <a:off x="4761291" y="4552251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C4B4B95-80AD-B2D4-0077-22ED387C011D}"/>
                  </a:ext>
                </a:extLst>
              </p:cNvPr>
              <p:cNvSpPr txBox="1"/>
              <p:nvPr/>
            </p:nvSpPr>
            <p:spPr>
              <a:xfrm>
                <a:off x="4292803" y="4512200"/>
                <a:ext cx="988004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C4B4B95-80AD-B2D4-0077-22ED387C01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803" y="4512200"/>
                <a:ext cx="988004" cy="612796"/>
              </a:xfrm>
              <a:prstGeom prst="rect">
                <a:avLst/>
              </a:prstGeom>
              <a:blipFill>
                <a:blip r:embed="rId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8F58A36-9490-3EF5-8DD9-442E4F339247}"/>
              </a:ext>
            </a:extLst>
          </p:cNvPr>
          <p:cNvCxnSpPr>
            <a:cxnSpLocks/>
          </p:cNvCxnSpPr>
          <p:nvPr/>
        </p:nvCxnSpPr>
        <p:spPr>
          <a:xfrm flipH="1">
            <a:off x="5174944" y="4537578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B7C9A933-4801-4DD6-FE7E-CBAA4AE4056B}"/>
              </a:ext>
            </a:extLst>
          </p:cNvPr>
          <p:cNvCxnSpPr>
            <a:cxnSpLocks/>
          </p:cNvCxnSpPr>
          <p:nvPr/>
        </p:nvCxnSpPr>
        <p:spPr>
          <a:xfrm flipH="1">
            <a:off x="5628175" y="4533317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E5B5258-6F28-2546-43EC-D99DDC80B948}"/>
              </a:ext>
            </a:extLst>
          </p:cNvPr>
          <p:cNvCxnSpPr>
            <a:cxnSpLocks/>
          </p:cNvCxnSpPr>
          <p:nvPr/>
        </p:nvCxnSpPr>
        <p:spPr>
          <a:xfrm flipH="1">
            <a:off x="6072578" y="4525449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9" name="Table 6">
                <a:extLst>
                  <a:ext uri="{FF2B5EF4-FFF2-40B4-BE49-F238E27FC236}">
                    <a16:creationId xmlns:a16="http://schemas.microsoft.com/office/drawing/2014/main" id="{67C7F4DD-2A94-29FE-B30A-73438BC5B3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35246" y="234704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9" name="Table 6">
                <a:extLst>
                  <a:ext uri="{FF2B5EF4-FFF2-40B4-BE49-F238E27FC236}">
                    <a16:creationId xmlns:a16="http://schemas.microsoft.com/office/drawing/2014/main" id="{67C7F4DD-2A94-29FE-B30A-73438BC5B3C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035246" y="234704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33" t="-3226" r="-3333" b="-32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1" name="Table 6">
                <a:extLst>
                  <a:ext uri="{FF2B5EF4-FFF2-40B4-BE49-F238E27FC236}">
                    <a16:creationId xmlns:a16="http://schemas.microsoft.com/office/drawing/2014/main" id="{CED87F45-602C-D63F-D207-49C92AB493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34309" y="235899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1" name="Table 6">
                <a:extLst>
                  <a:ext uri="{FF2B5EF4-FFF2-40B4-BE49-F238E27FC236}">
                    <a16:creationId xmlns:a16="http://schemas.microsoft.com/office/drawing/2014/main" id="{CED87F45-602C-D63F-D207-49C92AB493FA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434309" y="2358993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333" r="-3226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3" name="Table 6">
                <a:extLst>
                  <a:ext uri="{FF2B5EF4-FFF2-40B4-BE49-F238E27FC236}">
                    <a16:creationId xmlns:a16="http://schemas.microsoft.com/office/drawing/2014/main" id="{298E1DA6-11BE-64CA-75D6-B3A8BC78B38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51490" y="2354731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3" name="Table 6">
                <a:extLst>
                  <a:ext uri="{FF2B5EF4-FFF2-40B4-BE49-F238E27FC236}">
                    <a16:creationId xmlns:a16="http://schemas.microsoft.com/office/drawing/2014/main" id="{298E1DA6-11BE-64CA-75D6-B3A8BC78B38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851490" y="2354731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33" t="-3333" r="-6667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5" name="Table 6">
                <a:extLst>
                  <a:ext uri="{FF2B5EF4-FFF2-40B4-BE49-F238E27FC236}">
                    <a16:creationId xmlns:a16="http://schemas.microsoft.com/office/drawing/2014/main" id="{689AA4F2-B681-62AA-E95C-9EF0F1856F2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62325" y="2346098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5" name="Table 6">
                <a:extLst>
                  <a:ext uri="{FF2B5EF4-FFF2-40B4-BE49-F238E27FC236}">
                    <a16:creationId xmlns:a16="http://schemas.microsoft.com/office/drawing/2014/main" id="{689AA4F2-B681-62AA-E95C-9EF0F1856F2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62325" y="2346098"/>
              <a:ext cx="371192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71192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333" t="-3333" r="-3333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6" name="Table 6">
                <a:extLst>
                  <a:ext uri="{FF2B5EF4-FFF2-40B4-BE49-F238E27FC236}">
                    <a16:creationId xmlns:a16="http://schemas.microsoft.com/office/drawing/2014/main" id="{1CF3DE51-9D75-44EE-6F43-1BCE10D5AE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7534292"/>
                  </p:ext>
                </p:extLst>
              </p:nvPr>
            </p:nvGraphicFramePr>
            <p:xfrm>
              <a:off x="4564204" y="4173197"/>
              <a:ext cx="237624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5248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75248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75248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75248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75248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𝒔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6" name="Table 6">
                <a:extLst>
                  <a:ext uri="{FF2B5EF4-FFF2-40B4-BE49-F238E27FC236}">
                    <a16:creationId xmlns:a16="http://schemas.microsoft.com/office/drawing/2014/main" id="{1CF3DE51-9D75-44EE-6F43-1BCE10D5AE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07534292"/>
                  </p:ext>
                </p:extLst>
              </p:nvPr>
            </p:nvGraphicFramePr>
            <p:xfrm>
              <a:off x="4564204" y="4173197"/>
              <a:ext cx="2376240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75248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  <a:gridCol w="475248">
                      <a:extLst>
                        <a:ext uri="{9D8B030D-6E8A-4147-A177-3AD203B41FA5}">
                          <a16:colId xmlns:a16="http://schemas.microsoft.com/office/drawing/2014/main" val="484400907"/>
                        </a:ext>
                      </a:extLst>
                    </a:gridCol>
                    <a:gridCol w="475248">
                      <a:extLst>
                        <a:ext uri="{9D8B030D-6E8A-4147-A177-3AD203B41FA5}">
                          <a16:colId xmlns:a16="http://schemas.microsoft.com/office/drawing/2014/main" val="3595401449"/>
                        </a:ext>
                      </a:extLst>
                    </a:gridCol>
                    <a:gridCol w="475248">
                      <a:extLst>
                        <a:ext uri="{9D8B030D-6E8A-4147-A177-3AD203B41FA5}">
                          <a16:colId xmlns:a16="http://schemas.microsoft.com/office/drawing/2014/main" val="3819059824"/>
                        </a:ext>
                      </a:extLst>
                    </a:gridCol>
                    <a:gridCol w="475248">
                      <a:extLst>
                        <a:ext uri="{9D8B030D-6E8A-4147-A177-3AD203B41FA5}">
                          <a16:colId xmlns:a16="http://schemas.microsoft.com/office/drawing/2014/main" val="163485196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632" t="-3333" r="-397368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105405" t="-3333" r="-308108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200000" t="-3333" r="-200000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08108" t="-3333" r="-105405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8"/>
                          <a:stretch>
                            <a:fillRect l="-397368" t="-3333" r="-2632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BFDF7B3-B14B-7035-7B02-618D75BE04F0}"/>
              </a:ext>
            </a:extLst>
          </p:cNvPr>
          <p:cNvCxnSpPr>
            <a:cxnSpLocks/>
          </p:cNvCxnSpPr>
          <p:nvPr/>
        </p:nvCxnSpPr>
        <p:spPr>
          <a:xfrm flipH="1">
            <a:off x="6418284" y="4525449"/>
            <a:ext cx="3287" cy="7398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9FB7CA-FEB4-3445-BD58-230D72480BD0}"/>
                  </a:ext>
                </a:extLst>
              </p:cNvPr>
              <p:cNvSpPr txBox="1"/>
              <p:nvPr/>
            </p:nvSpPr>
            <p:spPr>
              <a:xfrm>
                <a:off x="4768268" y="4993880"/>
                <a:ext cx="844874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09FB7CA-FEB4-3445-BD58-230D72480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268" y="4993880"/>
                <a:ext cx="844874" cy="612796"/>
              </a:xfrm>
              <a:prstGeom prst="rect">
                <a:avLst/>
              </a:prstGeom>
              <a:blipFill>
                <a:blip r:embed="rId9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2A2F29-6E6E-05FC-532C-776D3AAADADC}"/>
                  </a:ext>
                </a:extLst>
              </p:cNvPr>
              <p:cNvSpPr txBox="1"/>
              <p:nvPr/>
            </p:nvSpPr>
            <p:spPr>
              <a:xfrm>
                <a:off x="7119821" y="3244334"/>
                <a:ext cx="104946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5/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62A2F29-6E6E-05FC-532C-776D3AAAD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821" y="3244334"/>
                <a:ext cx="1049466" cy="369332"/>
              </a:xfrm>
              <a:prstGeom prst="rect">
                <a:avLst/>
              </a:prstGeom>
              <a:blipFill>
                <a:blip r:embed="rId1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Table 6">
                <a:extLst>
                  <a:ext uri="{FF2B5EF4-FFF2-40B4-BE49-F238E27FC236}">
                    <a16:creationId xmlns:a16="http://schemas.microsoft.com/office/drawing/2014/main" id="{D89F638A-C7F0-F77A-9650-586F2DCE2F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013538"/>
                  </p:ext>
                </p:extLst>
              </p:nvPr>
            </p:nvGraphicFramePr>
            <p:xfrm>
              <a:off x="9457694" y="2353536"/>
              <a:ext cx="56294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2945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Table 6">
                <a:extLst>
                  <a:ext uri="{FF2B5EF4-FFF2-40B4-BE49-F238E27FC236}">
                    <a16:creationId xmlns:a16="http://schemas.microsoft.com/office/drawing/2014/main" id="{D89F638A-C7F0-F77A-9650-586F2DCE2F2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82013538"/>
                  </p:ext>
                </p:extLst>
              </p:nvPr>
            </p:nvGraphicFramePr>
            <p:xfrm>
              <a:off x="9457694" y="2353536"/>
              <a:ext cx="562945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62945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1"/>
                          <a:stretch>
                            <a:fillRect t="-3333" r="-2174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109830-21EE-20E8-16D7-7084176EB32D}"/>
              </a:ext>
            </a:extLst>
          </p:cNvPr>
          <p:cNvCxnSpPr>
            <a:cxnSpLocks/>
          </p:cNvCxnSpPr>
          <p:nvPr/>
        </p:nvCxnSpPr>
        <p:spPr>
          <a:xfrm flipV="1">
            <a:off x="9641369" y="1679858"/>
            <a:ext cx="0" cy="65871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BF84538-5EA1-272D-7152-C1066651A213}"/>
                  </a:ext>
                </a:extLst>
              </p:cNvPr>
              <p:cNvSpPr txBox="1"/>
              <p:nvPr/>
            </p:nvSpPr>
            <p:spPr>
              <a:xfrm>
                <a:off x="9116635" y="1871093"/>
                <a:ext cx="17534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−5)/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BF84538-5EA1-272D-7152-C1066651A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6635" y="1871093"/>
                <a:ext cx="1753421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1AA64C-EA4C-4794-34E5-928975218101}"/>
                  </a:ext>
                </a:extLst>
              </p:cNvPr>
              <p:cNvSpPr txBox="1"/>
              <p:nvPr/>
            </p:nvSpPr>
            <p:spPr>
              <a:xfrm>
                <a:off x="5152754" y="4512674"/>
                <a:ext cx="988004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91AA64C-EA4C-4794-34E5-928975218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2754" y="4512674"/>
                <a:ext cx="988004" cy="612796"/>
              </a:xfrm>
              <a:prstGeom prst="rect">
                <a:avLst/>
              </a:prstGeom>
              <a:blipFill>
                <a:blip r:embed="rId1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9AA07A7-E712-88E5-16FF-D8306A84F34F}"/>
                  </a:ext>
                </a:extLst>
              </p:cNvPr>
              <p:cNvSpPr txBox="1"/>
              <p:nvPr/>
            </p:nvSpPr>
            <p:spPr>
              <a:xfrm>
                <a:off x="5928501" y="4495375"/>
                <a:ext cx="988004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9AA07A7-E712-88E5-16FF-D8306A84F3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501" y="4495375"/>
                <a:ext cx="988004" cy="612796"/>
              </a:xfrm>
              <a:prstGeom prst="rect">
                <a:avLst/>
              </a:prstGeom>
              <a:blipFill>
                <a:blip r:embed="rId1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E32A5A-D5BD-FAE4-7E23-23CE45F8EAF0}"/>
                  </a:ext>
                </a:extLst>
              </p:cNvPr>
              <p:cNvSpPr txBox="1"/>
              <p:nvPr/>
            </p:nvSpPr>
            <p:spPr>
              <a:xfrm>
                <a:off x="5650141" y="4951943"/>
                <a:ext cx="844874" cy="612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AE32A5A-D5BD-FAE4-7E23-23CE45F8EA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0141" y="4951943"/>
                <a:ext cx="844874" cy="612796"/>
              </a:xfrm>
              <a:prstGeom prst="rect">
                <a:avLst/>
              </a:prstGeom>
              <a:blipFill>
                <a:blip r:embed="rId15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6CD379AF-796C-A364-D922-78735E43A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596817"/>
              </p:ext>
            </p:extLst>
          </p:nvPr>
        </p:nvGraphicFramePr>
        <p:xfrm>
          <a:off x="6691073" y="2345963"/>
          <a:ext cx="38275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2759">
                  <a:extLst>
                    <a:ext uri="{9D8B030D-6E8A-4147-A177-3AD203B41FA5}">
                      <a16:colId xmlns:a16="http://schemas.microsoft.com/office/drawing/2014/main" val="942736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998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4CD9A33-8417-957E-3C13-4E42E934FD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7792865"/>
              </p:ext>
            </p:extLst>
          </p:nvPr>
        </p:nvGraphicFramePr>
        <p:xfrm>
          <a:off x="7119821" y="2345679"/>
          <a:ext cx="3711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92">
                  <a:extLst>
                    <a:ext uri="{9D8B030D-6E8A-4147-A177-3AD203B41FA5}">
                      <a16:colId xmlns:a16="http://schemas.microsoft.com/office/drawing/2014/main" val="942736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9986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C9016A53-D9A1-4641-D306-E649AF0D8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687114"/>
              </p:ext>
            </p:extLst>
          </p:nvPr>
        </p:nvGraphicFramePr>
        <p:xfrm>
          <a:off x="7518884" y="2357629"/>
          <a:ext cx="3711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92">
                  <a:extLst>
                    <a:ext uri="{9D8B030D-6E8A-4147-A177-3AD203B41FA5}">
                      <a16:colId xmlns:a16="http://schemas.microsoft.com/office/drawing/2014/main" val="942736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9986"/>
                  </a:ext>
                </a:extLst>
              </a:tr>
            </a:tbl>
          </a:graphicData>
        </a:graphic>
      </p:graphicFrame>
      <p:graphicFrame>
        <p:nvGraphicFramePr>
          <p:cNvPr id="14" name="Table 6">
            <a:extLst>
              <a:ext uri="{FF2B5EF4-FFF2-40B4-BE49-F238E27FC236}">
                <a16:creationId xmlns:a16="http://schemas.microsoft.com/office/drawing/2014/main" id="{5415B664-8C1D-5D7B-CF6E-9A77B5FB76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731434"/>
              </p:ext>
            </p:extLst>
          </p:nvPr>
        </p:nvGraphicFramePr>
        <p:xfrm>
          <a:off x="7936065" y="2353367"/>
          <a:ext cx="3711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92">
                  <a:extLst>
                    <a:ext uri="{9D8B030D-6E8A-4147-A177-3AD203B41FA5}">
                      <a16:colId xmlns:a16="http://schemas.microsoft.com/office/drawing/2014/main" val="942736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9986"/>
                  </a:ext>
                </a:extLst>
              </a:tr>
            </a:tbl>
          </a:graphicData>
        </a:graphic>
      </p:graphicFrame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B5A09E59-09E9-C594-ADD9-C2DBB04DC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109805"/>
              </p:ext>
            </p:extLst>
          </p:nvPr>
        </p:nvGraphicFramePr>
        <p:xfrm>
          <a:off x="8346900" y="2344734"/>
          <a:ext cx="3711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92">
                  <a:extLst>
                    <a:ext uri="{9D8B030D-6E8A-4147-A177-3AD203B41FA5}">
                      <a16:colId xmlns:a16="http://schemas.microsoft.com/office/drawing/2014/main" val="942736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998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7" name="Table 6">
                <a:extLst>
                  <a:ext uri="{FF2B5EF4-FFF2-40B4-BE49-F238E27FC236}">
                    <a16:creationId xmlns:a16="http://schemas.microsoft.com/office/drawing/2014/main" id="{591C9C85-5188-C300-D010-229829CFB8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18594"/>
                  </p:ext>
                </p:extLst>
              </p:nvPr>
            </p:nvGraphicFramePr>
            <p:xfrm>
              <a:off x="8776999" y="2356090"/>
              <a:ext cx="63912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9129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1" i="1" smtClean="0">
                                        <a:solidFill>
                                          <a:schemeClr val="accent5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>
                            <a:solidFill>
                              <a:schemeClr val="accent5">
                                <a:lumMod val="75000"/>
                              </a:schemeClr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7" name="Table 6">
                <a:extLst>
                  <a:ext uri="{FF2B5EF4-FFF2-40B4-BE49-F238E27FC236}">
                    <a16:creationId xmlns:a16="http://schemas.microsoft.com/office/drawing/2014/main" id="{591C9C85-5188-C300-D010-229829CFB87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3118594"/>
                  </p:ext>
                </p:extLst>
              </p:nvPr>
            </p:nvGraphicFramePr>
            <p:xfrm>
              <a:off x="8776999" y="2356090"/>
              <a:ext cx="639129" cy="3708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39129">
                      <a:extLst>
                        <a:ext uri="{9D8B030D-6E8A-4147-A177-3AD203B41FA5}">
                          <a16:colId xmlns:a16="http://schemas.microsoft.com/office/drawing/2014/main" val="94273651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NL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16"/>
                          <a:stretch>
                            <a:fillRect l="-1961" t="-3333" r="-1961" b="-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84998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24" name="Table 6">
            <a:extLst>
              <a:ext uri="{FF2B5EF4-FFF2-40B4-BE49-F238E27FC236}">
                <a16:creationId xmlns:a16="http://schemas.microsoft.com/office/drawing/2014/main" id="{366986D2-E4A7-7D63-D0D9-48E84BC46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659398"/>
              </p:ext>
            </p:extLst>
          </p:nvPr>
        </p:nvGraphicFramePr>
        <p:xfrm>
          <a:off x="10081684" y="2342833"/>
          <a:ext cx="3711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92">
                  <a:extLst>
                    <a:ext uri="{9D8B030D-6E8A-4147-A177-3AD203B41FA5}">
                      <a16:colId xmlns:a16="http://schemas.microsoft.com/office/drawing/2014/main" val="942736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9986"/>
                  </a:ext>
                </a:extLst>
              </a:tr>
            </a:tbl>
          </a:graphicData>
        </a:graphic>
      </p:graphicFrame>
      <p:graphicFrame>
        <p:nvGraphicFramePr>
          <p:cNvPr id="25" name="Table 6">
            <a:extLst>
              <a:ext uri="{FF2B5EF4-FFF2-40B4-BE49-F238E27FC236}">
                <a16:creationId xmlns:a16="http://schemas.microsoft.com/office/drawing/2014/main" id="{E52C4651-B4E6-7EF4-1416-CACC0FB0F1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055698"/>
              </p:ext>
            </p:extLst>
          </p:nvPr>
        </p:nvGraphicFramePr>
        <p:xfrm>
          <a:off x="10498865" y="2338571"/>
          <a:ext cx="3711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92">
                  <a:extLst>
                    <a:ext uri="{9D8B030D-6E8A-4147-A177-3AD203B41FA5}">
                      <a16:colId xmlns:a16="http://schemas.microsoft.com/office/drawing/2014/main" val="942736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9986"/>
                  </a:ext>
                </a:extLst>
              </a:tr>
            </a:tbl>
          </a:graphicData>
        </a:graphic>
      </p:graphicFrame>
      <p:graphicFrame>
        <p:nvGraphicFramePr>
          <p:cNvPr id="26" name="Table 6">
            <a:extLst>
              <a:ext uri="{FF2B5EF4-FFF2-40B4-BE49-F238E27FC236}">
                <a16:creationId xmlns:a16="http://schemas.microsoft.com/office/drawing/2014/main" id="{DD63C6B3-E7D5-728B-BCBA-651060729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258734"/>
              </p:ext>
            </p:extLst>
          </p:nvPr>
        </p:nvGraphicFramePr>
        <p:xfrm>
          <a:off x="10909700" y="2329938"/>
          <a:ext cx="3711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92">
                  <a:extLst>
                    <a:ext uri="{9D8B030D-6E8A-4147-A177-3AD203B41FA5}">
                      <a16:colId xmlns:a16="http://schemas.microsoft.com/office/drawing/2014/main" val="942736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49986"/>
                  </a:ext>
                </a:extLst>
              </a:tr>
            </a:tbl>
          </a:graphicData>
        </a:graphic>
      </p:graphicFrame>
      <p:sp>
        <p:nvSpPr>
          <p:cNvPr id="37" name="Slide Number Placeholder 36">
            <a:extLst>
              <a:ext uri="{FF2B5EF4-FFF2-40B4-BE49-F238E27FC236}">
                <a16:creationId xmlns:a16="http://schemas.microsoft.com/office/drawing/2014/main" id="{81E952FE-7F68-BD0B-A0AC-80E51B9C4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4419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8" grpId="0"/>
      <p:bldP spid="11" grpId="0"/>
      <p:bldP spid="29" grpId="0"/>
      <p:bldP spid="30" grpId="0"/>
      <p:bldP spid="31" grpId="0"/>
      <p:bldP spid="3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11264" y="2715494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Windowing Models</a:t>
            </a:r>
            <a:endParaRPr lang="nl-NL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539E3-2127-997F-CDF5-89EBFC0E6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45684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Windowing Models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359887" cy="4948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A useful model of stream processing is that queries are about a window of length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en-US" dirty="0"/>
                  <a:t> – the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en-US" dirty="0"/>
                  <a:t> most recent elements received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Interesting cases: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en-US" dirty="0"/>
                  <a:t> is so large that the data cannot be stored in memory, or even on disk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Or, there are so many streams that windows, for all, cannot be stored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Amazon example: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For every product </a:t>
                </a:r>
                <a14:m>
                  <m:oMath xmlns:m="http://schemas.openxmlformats.org/officeDocument/2006/math"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altLang="en-US" dirty="0"/>
                  <a:t> we keep 0/1 stream of whether that product was sold in the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-</a:t>
                </a:r>
                <a:r>
                  <a:rPr lang="en-AU" altLang="en-US" dirty="0" err="1"/>
                  <a:t>th</a:t>
                </a:r>
                <a:r>
                  <a:rPr lang="en-AU" altLang="en-US" dirty="0"/>
                  <a:t> transaction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We want answer queries, how many times have we sold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altLang="en-US" dirty="0"/>
                  <a:t> in the last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altLang="en-US" dirty="0"/>
                  <a:t> sales</a:t>
                </a:r>
                <a:endParaRPr lang="en-AU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359887" cy="4948280"/>
              </a:xfrm>
              <a:blipFill>
                <a:blip r:embed="rId2"/>
                <a:stretch>
                  <a:fillRect l="-1103" t="-256" r="-1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8139C6-1DC1-4249-8ABC-F27DD883A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78382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Sliding Window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1037">
            <a:extLst>
              <a:ext uri="{FF2B5EF4-FFF2-40B4-BE49-F238E27FC236}">
                <a16:creationId xmlns:a16="http://schemas.microsoft.com/office/drawing/2014/main" id="{AC43EC31-F1DA-024C-8209-0E8BEE54D941}"/>
              </a:ext>
            </a:extLst>
          </p:cNvPr>
          <p:cNvGrpSpPr>
            <a:grpSpLocks/>
          </p:cNvGrpSpPr>
          <p:nvPr/>
        </p:nvGrpSpPr>
        <p:grpSpPr bwMode="auto">
          <a:xfrm>
            <a:off x="2700824" y="2430743"/>
            <a:ext cx="2954338" cy="381000"/>
            <a:chOff x="1200" y="528"/>
            <a:chExt cx="1861" cy="240"/>
          </a:xfrm>
        </p:grpSpPr>
        <p:sp>
          <p:nvSpPr>
            <p:cNvPr id="5" name="Text Box 1026">
              <a:extLst>
                <a:ext uri="{FF2B5EF4-FFF2-40B4-BE49-F238E27FC236}">
                  <a16:creationId xmlns:a16="http://schemas.microsoft.com/office/drawing/2014/main" id="{15653CBC-A73F-D342-8C16-3938FE8B5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528"/>
              <a:ext cx="186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 u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i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o p a s d f g h</a:t>
              </a:r>
            </a:p>
          </p:txBody>
        </p:sp>
        <p:sp>
          <p:nvSpPr>
            <p:cNvPr id="6" name="Rectangle 1027">
              <a:extLst>
                <a:ext uri="{FF2B5EF4-FFF2-40B4-BE49-F238E27FC236}">
                  <a16:creationId xmlns:a16="http://schemas.microsoft.com/office/drawing/2014/main" id="{FFF32B88-B049-3D4A-9C82-96AB54BB1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8" y="528"/>
              <a:ext cx="665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7" name="Group 1038">
            <a:extLst>
              <a:ext uri="{FF2B5EF4-FFF2-40B4-BE49-F238E27FC236}">
                <a16:creationId xmlns:a16="http://schemas.microsoft.com/office/drawing/2014/main" id="{AE7861B8-B55A-CC48-B549-20EB7B80E2B7}"/>
              </a:ext>
            </a:extLst>
          </p:cNvPr>
          <p:cNvGrpSpPr>
            <a:grpSpLocks/>
          </p:cNvGrpSpPr>
          <p:nvPr/>
        </p:nvGrpSpPr>
        <p:grpSpPr bwMode="auto">
          <a:xfrm>
            <a:off x="2693825" y="3263122"/>
            <a:ext cx="3070225" cy="381000"/>
            <a:chOff x="1200" y="1152"/>
            <a:chExt cx="1934" cy="240"/>
          </a:xfrm>
        </p:grpSpPr>
        <p:sp>
          <p:nvSpPr>
            <p:cNvPr id="8" name="Text Box 1028">
              <a:extLst>
                <a:ext uri="{FF2B5EF4-FFF2-40B4-BE49-F238E27FC236}">
                  <a16:creationId xmlns:a16="http://schemas.microsoft.com/office/drawing/2014/main" id="{11476F00-3A48-4C4B-86A0-71E0D57AA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152"/>
              <a:ext cx="193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 u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i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o p a s d f g h j</a:t>
              </a:r>
            </a:p>
          </p:txBody>
        </p:sp>
        <p:sp>
          <p:nvSpPr>
            <p:cNvPr id="9" name="Rectangle 1031">
              <a:extLst>
                <a:ext uri="{FF2B5EF4-FFF2-40B4-BE49-F238E27FC236}">
                  <a16:creationId xmlns:a16="http://schemas.microsoft.com/office/drawing/2014/main" id="{CF292E7C-D1E6-9343-AFED-8D71CE5BC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52" y="1152"/>
              <a:ext cx="624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" name="Group 1039">
            <a:extLst>
              <a:ext uri="{FF2B5EF4-FFF2-40B4-BE49-F238E27FC236}">
                <a16:creationId xmlns:a16="http://schemas.microsoft.com/office/drawing/2014/main" id="{557EB138-3FF0-354D-A185-B70C0D0D6F20}"/>
              </a:ext>
            </a:extLst>
          </p:cNvPr>
          <p:cNvGrpSpPr>
            <a:grpSpLocks/>
          </p:cNvGrpSpPr>
          <p:nvPr/>
        </p:nvGrpSpPr>
        <p:grpSpPr bwMode="auto">
          <a:xfrm>
            <a:off x="2695413" y="4095501"/>
            <a:ext cx="3249613" cy="381000"/>
            <a:chOff x="1200" y="1776"/>
            <a:chExt cx="2047" cy="240"/>
          </a:xfrm>
        </p:grpSpPr>
        <p:sp>
          <p:nvSpPr>
            <p:cNvPr id="11" name="Text Box 1029">
              <a:extLst>
                <a:ext uri="{FF2B5EF4-FFF2-40B4-BE49-F238E27FC236}">
                  <a16:creationId xmlns:a16="http://schemas.microsoft.com/office/drawing/2014/main" id="{07704CCA-82BE-014C-9774-1DB9D4AD0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776"/>
              <a:ext cx="204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 u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i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o p a s d f g h j k</a:t>
              </a:r>
            </a:p>
          </p:txBody>
        </p:sp>
        <p:sp>
          <p:nvSpPr>
            <p:cNvPr id="12" name="Rectangle 1032">
              <a:extLst>
                <a:ext uri="{FF2B5EF4-FFF2-40B4-BE49-F238E27FC236}">
                  <a16:creationId xmlns:a16="http://schemas.microsoft.com/office/drawing/2014/main" id="{ED47542F-EDCA-6A4F-AE46-6201B7EE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" y="1776"/>
              <a:ext cx="648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" name="Group 1040">
            <a:extLst>
              <a:ext uri="{FF2B5EF4-FFF2-40B4-BE49-F238E27FC236}">
                <a16:creationId xmlns:a16="http://schemas.microsoft.com/office/drawing/2014/main" id="{5DAB78A9-799C-D84A-9264-69C59051914E}"/>
              </a:ext>
            </a:extLst>
          </p:cNvPr>
          <p:cNvGrpSpPr>
            <a:grpSpLocks/>
          </p:cNvGrpSpPr>
          <p:nvPr/>
        </p:nvGrpSpPr>
        <p:grpSpPr bwMode="auto">
          <a:xfrm>
            <a:off x="2695413" y="4927880"/>
            <a:ext cx="3365500" cy="381000"/>
            <a:chOff x="1200" y="2400"/>
            <a:chExt cx="2120" cy="240"/>
          </a:xfrm>
        </p:grpSpPr>
        <p:sp>
          <p:nvSpPr>
            <p:cNvPr id="14" name="Text Box 1030">
              <a:extLst>
                <a:ext uri="{FF2B5EF4-FFF2-40B4-BE49-F238E27FC236}">
                  <a16:creationId xmlns:a16="http://schemas.microsoft.com/office/drawing/2014/main" id="{AFEE7689-1518-E34C-80D2-2511388BD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400"/>
              <a:ext cx="2120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 u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i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o p a s d f g h j k l</a:t>
              </a:r>
            </a:p>
          </p:txBody>
        </p:sp>
        <p:sp>
          <p:nvSpPr>
            <p:cNvPr id="15" name="Rectangle 1033">
              <a:extLst>
                <a:ext uri="{FF2B5EF4-FFF2-40B4-BE49-F238E27FC236}">
                  <a16:creationId xmlns:a16="http://schemas.microsoft.com/office/drawing/2014/main" id="{3EF403DF-0AD2-CA4F-9972-D14DF5B1B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" y="2400"/>
              <a:ext cx="573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6" name="Text Box 1034">
            <a:extLst>
              <a:ext uri="{FF2B5EF4-FFF2-40B4-BE49-F238E27FC236}">
                <a16:creationId xmlns:a16="http://schemas.microsoft.com/office/drawing/2014/main" id="{A536DFB0-E4F0-DD41-AA74-4BE5B35B5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490" y="1862852"/>
            <a:ext cx="1902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Past       Future</a:t>
            </a:r>
          </a:p>
        </p:txBody>
      </p:sp>
      <p:sp>
        <p:nvSpPr>
          <p:cNvPr id="17" name="Line 1035">
            <a:extLst>
              <a:ext uri="{FF2B5EF4-FFF2-40B4-BE49-F238E27FC236}">
                <a16:creationId xmlns:a16="http://schemas.microsoft.com/office/drawing/2014/main" id="{CCDAAD43-5CD3-8D45-B4CD-ED293164CE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5365" y="2059702"/>
            <a:ext cx="685800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Line 1036">
            <a:extLst>
              <a:ext uri="{FF2B5EF4-FFF2-40B4-BE49-F238E27FC236}">
                <a16:creationId xmlns:a16="http://schemas.microsoft.com/office/drawing/2014/main" id="{95A5A288-59F0-0448-B3B1-FBD4FC080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562" y="2059702"/>
            <a:ext cx="609600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Dodecagon 19">
            <a:extLst>
              <a:ext uri="{FF2B5EF4-FFF2-40B4-BE49-F238E27FC236}">
                <a16:creationId xmlns:a16="http://schemas.microsoft.com/office/drawing/2014/main" id="{CBDECD47-8B4C-234A-9E89-96DBB2247122}"/>
              </a:ext>
            </a:extLst>
          </p:cNvPr>
          <p:cNvSpPr/>
          <p:nvPr/>
        </p:nvSpPr>
        <p:spPr>
          <a:xfrm>
            <a:off x="7408189" y="2809606"/>
            <a:ext cx="1658319" cy="1456652"/>
          </a:xfrm>
          <a:prstGeom prst="dodecagon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73453A-BBB4-A047-BC12-AD7331E6F80C}"/>
              </a:ext>
            </a:extLst>
          </p:cNvPr>
          <p:cNvSpPr txBox="1"/>
          <p:nvPr/>
        </p:nvSpPr>
        <p:spPr>
          <a:xfrm>
            <a:off x="7762008" y="3276322"/>
            <a:ext cx="1053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 = 6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6657EF-04BF-4B4B-96FA-AAFF642874FB}"/>
              </a:ext>
            </a:extLst>
          </p:cNvPr>
          <p:cNvSpPr txBox="1">
            <a:spLocks/>
          </p:cNvSpPr>
          <p:nvPr/>
        </p:nvSpPr>
        <p:spPr>
          <a:xfrm>
            <a:off x="838200" y="5396703"/>
            <a:ext cx="9964119" cy="10066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AU" altLang="en-US" dirty="0"/>
              <a:t>Upon the arrival of a new item from the stream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Discard the oldest item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2731E7FE-7394-6E55-B3A2-48F24B954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79779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Tumbling Window (Disjoint Windows)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1037">
            <a:extLst>
              <a:ext uri="{FF2B5EF4-FFF2-40B4-BE49-F238E27FC236}">
                <a16:creationId xmlns:a16="http://schemas.microsoft.com/office/drawing/2014/main" id="{AC43EC31-F1DA-024C-8209-0E8BEE54D941}"/>
              </a:ext>
            </a:extLst>
          </p:cNvPr>
          <p:cNvGrpSpPr>
            <a:grpSpLocks/>
          </p:cNvGrpSpPr>
          <p:nvPr/>
        </p:nvGrpSpPr>
        <p:grpSpPr bwMode="auto">
          <a:xfrm>
            <a:off x="2693825" y="2370356"/>
            <a:ext cx="1184275" cy="396875"/>
            <a:chOff x="1200" y="511"/>
            <a:chExt cx="746" cy="250"/>
          </a:xfrm>
        </p:grpSpPr>
        <p:sp>
          <p:nvSpPr>
            <p:cNvPr id="5" name="Text Box 1026">
              <a:extLst>
                <a:ext uri="{FF2B5EF4-FFF2-40B4-BE49-F238E27FC236}">
                  <a16:creationId xmlns:a16="http://schemas.microsoft.com/office/drawing/2014/main" id="{15653CBC-A73F-D342-8C16-3938FE8B5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528"/>
              <a:ext cx="74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</a:t>
              </a:r>
            </a:p>
          </p:txBody>
        </p:sp>
        <p:sp>
          <p:nvSpPr>
            <p:cNvPr id="6" name="Rectangle 1027">
              <a:extLst>
                <a:ext uri="{FF2B5EF4-FFF2-40B4-BE49-F238E27FC236}">
                  <a16:creationId xmlns:a16="http://schemas.microsoft.com/office/drawing/2014/main" id="{FFF32B88-B049-3D4A-9C82-96AB54BB1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" y="511"/>
              <a:ext cx="665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7" name="Group 1038">
            <a:extLst>
              <a:ext uri="{FF2B5EF4-FFF2-40B4-BE49-F238E27FC236}">
                <a16:creationId xmlns:a16="http://schemas.microsoft.com/office/drawing/2014/main" id="{AE7861B8-B55A-CC48-B549-20EB7B80E2B7}"/>
              </a:ext>
            </a:extLst>
          </p:cNvPr>
          <p:cNvGrpSpPr>
            <a:grpSpLocks/>
          </p:cNvGrpSpPr>
          <p:nvPr/>
        </p:nvGrpSpPr>
        <p:grpSpPr bwMode="auto">
          <a:xfrm>
            <a:off x="2693825" y="3261535"/>
            <a:ext cx="2249488" cy="381000"/>
            <a:chOff x="1200" y="1151"/>
            <a:chExt cx="1417" cy="240"/>
          </a:xfrm>
        </p:grpSpPr>
        <p:sp>
          <p:nvSpPr>
            <p:cNvPr id="8" name="Text Box 1028">
              <a:extLst>
                <a:ext uri="{FF2B5EF4-FFF2-40B4-BE49-F238E27FC236}">
                  <a16:creationId xmlns:a16="http://schemas.microsoft.com/office/drawing/2014/main" id="{11476F00-3A48-4C4B-86A0-71E0D57AA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152"/>
              <a:ext cx="14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 u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i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o p a s</a:t>
              </a:r>
            </a:p>
          </p:txBody>
        </p:sp>
        <p:sp>
          <p:nvSpPr>
            <p:cNvPr id="9" name="Rectangle 1031">
              <a:extLst>
                <a:ext uri="{FF2B5EF4-FFF2-40B4-BE49-F238E27FC236}">
                  <a16:creationId xmlns:a16="http://schemas.microsoft.com/office/drawing/2014/main" id="{CF292E7C-D1E6-9343-AFED-8D71CE5BC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02" y="1151"/>
              <a:ext cx="655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" name="Group 1039">
            <a:extLst>
              <a:ext uri="{FF2B5EF4-FFF2-40B4-BE49-F238E27FC236}">
                <a16:creationId xmlns:a16="http://schemas.microsoft.com/office/drawing/2014/main" id="{557EB138-3FF0-354D-A185-B70C0D0D6F20}"/>
              </a:ext>
            </a:extLst>
          </p:cNvPr>
          <p:cNvGrpSpPr>
            <a:grpSpLocks/>
          </p:cNvGrpSpPr>
          <p:nvPr/>
        </p:nvGrpSpPr>
        <p:grpSpPr bwMode="auto">
          <a:xfrm>
            <a:off x="2695413" y="4095501"/>
            <a:ext cx="3249613" cy="381000"/>
            <a:chOff x="1200" y="1776"/>
            <a:chExt cx="2047" cy="240"/>
          </a:xfrm>
        </p:grpSpPr>
        <p:sp>
          <p:nvSpPr>
            <p:cNvPr id="11" name="Text Box 1029">
              <a:extLst>
                <a:ext uri="{FF2B5EF4-FFF2-40B4-BE49-F238E27FC236}">
                  <a16:creationId xmlns:a16="http://schemas.microsoft.com/office/drawing/2014/main" id="{07704CCA-82BE-014C-9774-1DB9D4AD0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776"/>
              <a:ext cx="204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 u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i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o p a s d f g h j k</a:t>
              </a:r>
            </a:p>
          </p:txBody>
        </p:sp>
        <p:sp>
          <p:nvSpPr>
            <p:cNvPr id="12" name="Rectangle 1032">
              <a:extLst>
                <a:ext uri="{FF2B5EF4-FFF2-40B4-BE49-F238E27FC236}">
                  <a16:creationId xmlns:a16="http://schemas.microsoft.com/office/drawing/2014/main" id="{ED47542F-EDCA-6A4F-AE46-6201B7EE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" y="1776"/>
              <a:ext cx="648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" name="Group 1040">
            <a:extLst>
              <a:ext uri="{FF2B5EF4-FFF2-40B4-BE49-F238E27FC236}">
                <a16:creationId xmlns:a16="http://schemas.microsoft.com/office/drawing/2014/main" id="{5DAB78A9-799C-D84A-9264-69C59051914E}"/>
              </a:ext>
            </a:extLst>
          </p:cNvPr>
          <p:cNvGrpSpPr>
            <a:grpSpLocks/>
          </p:cNvGrpSpPr>
          <p:nvPr/>
        </p:nvGrpSpPr>
        <p:grpSpPr bwMode="auto">
          <a:xfrm>
            <a:off x="2695413" y="4923118"/>
            <a:ext cx="4356101" cy="381000"/>
            <a:chOff x="1200" y="2397"/>
            <a:chExt cx="2744" cy="240"/>
          </a:xfrm>
        </p:grpSpPr>
        <p:sp>
          <p:nvSpPr>
            <p:cNvPr id="14" name="Text Box 1030">
              <a:extLst>
                <a:ext uri="{FF2B5EF4-FFF2-40B4-BE49-F238E27FC236}">
                  <a16:creationId xmlns:a16="http://schemas.microsoft.com/office/drawing/2014/main" id="{AFEE7689-1518-E34C-80D2-2511388BD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400"/>
              <a:ext cx="272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 u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i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o p a s d f g h j k l g m s p v</a:t>
              </a:r>
            </a:p>
          </p:txBody>
        </p:sp>
        <p:sp>
          <p:nvSpPr>
            <p:cNvPr id="15" name="Rectangle 1033">
              <a:extLst>
                <a:ext uri="{FF2B5EF4-FFF2-40B4-BE49-F238E27FC236}">
                  <a16:creationId xmlns:a16="http://schemas.microsoft.com/office/drawing/2014/main" id="{3EF403DF-0AD2-CA4F-9972-D14DF5B1B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6" y="2397"/>
              <a:ext cx="758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6" name="Text Box 1034">
            <a:extLst>
              <a:ext uri="{FF2B5EF4-FFF2-40B4-BE49-F238E27FC236}">
                <a16:creationId xmlns:a16="http://schemas.microsoft.com/office/drawing/2014/main" id="{A536DFB0-E4F0-DD41-AA74-4BE5B35B5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490" y="1862852"/>
            <a:ext cx="1902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Past       Future</a:t>
            </a:r>
          </a:p>
        </p:txBody>
      </p:sp>
      <p:sp>
        <p:nvSpPr>
          <p:cNvPr id="17" name="Line 1035">
            <a:extLst>
              <a:ext uri="{FF2B5EF4-FFF2-40B4-BE49-F238E27FC236}">
                <a16:creationId xmlns:a16="http://schemas.microsoft.com/office/drawing/2014/main" id="{CCDAAD43-5CD3-8D45-B4CD-ED293164CE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5365" y="2059702"/>
            <a:ext cx="685800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Line 1036">
            <a:extLst>
              <a:ext uri="{FF2B5EF4-FFF2-40B4-BE49-F238E27FC236}">
                <a16:creationId xmlns:a16="http://schemas.microsoft.com/office/drawing/2014/main" id="{95A5A288-59F0-0448-B3B1-FBD4FC080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562" y="2059702"/>
            <a:ext cx="609600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Dodecagon 19">
            <a:extLst>
              <a:ext uri="{FF2B5EF4-FFF2-40B4-BE49-F238E27FC236}">
                <a16:creationId xmlns:a16="http://schemas.microsoft.com/office/drawing/2014/main" id="{CBDECD47-8B4C-234A-9E89-96DBB2247122}"/>
              </a:ext>
            </a:extLst>
          </p:cNvPr>
          <p:cNvSpPr/>
          <p:nvPr/>
        </p:nvSpPr>
        <p:spPr>
          <a:xfrm>
            <a:off x="7408189" y="2809606"/>
            <a:ext cx="1658319" cy="1456652"/>
          </a:xfrm>
          <a:prstGeom prst="dodecagon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73453A-BBB4-A047-BC12-AD7331E6F80C}"/>
              </a:ext>
            </a:extLst>
          </p:cNvPr>
          <p:cNvSpPr txBox="1"/>
          <p:nvPr/>
        </p:nvSpPr>
        <p:spPr>
          <a:xfrm>
            <a:off x="7762008" y="3276322"/>
            <a:ext cx="10534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 = 6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6657EF-04BF-4B4B-96FA-AAFF642874FB}"/>
              </a:ext>
            </a:extLst>
          </p:cNvPr>
          <p:cNvSpPr txBox="1">
            <a:spLocks/>
          </p:cNvSpPr>
          <p:nvPr/>
        </p:nvSpPr>
        <p:spPr>
          <a:xfrm>
            <a:off x="838200" y="5396703"/>
            <a:ext cx="10356273" cy="10066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AU" altLang="en-US" dirty="0"/>
              <a:t>Upon the arrival of a new batch of items (of size N) from the stream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Discard the previous batch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4CFF99DC-ECC3-1C0B-8744-72E72A78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1992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Hopping Window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Group 1037">
            <a:extLst>
              <a:ext uri="{FF2B5EF4-FFF2-40B4-BE49-F238E27FC236}">
                <a16:creationId xmlns:a16="http://schemas.microsoft.com/office/drawing/2014/main" id="{AC43EC31-F1DA-024C-8209-0E8BEE54D941}"/>
              </a:ext>
            </a:extLst>
          </p:cNvPr>
          <p:cNvGrpSpPr>
            <a:grpSpLocks/>
          </p:cNvGrpSpPr>
          <p:nvPr/>
        </p:nvGrpSpPr>
        <p:grpSpPr bwMode="auto">
          <a:xfrm>
            <a:off x="2693825" y="2370356"/>
            <a:ext cx="1184275" cy="396875"/>
            <a:chOff x="1200" y="511"/>
            <a:chExt cx="746" cy="250"/>
          </a:xfrm>
        </p:grpSpPr>
        <p:sp>
          <p:nvSpPr>
            <p:cNvPr id="5" name="Text Box 1026">
              <a:extLst>
                <a:ext uri="{FF2B5EF4-FFF2-40B4-BE49-F238E27FC236}">
                  <a16:creationId xmlns:a16="http://schemas.microsoft.com/office/drawing/2014/main" id="{15653CBC-A73F-D342-8C16-3938FE8B5E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528"/>
              <a:ext cx="746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</a:t>
              </a:r>
            </a:p>
          </p:txBody>
        </p:sp>
        <p:sp>
          <p:nvSpPr>
            <p:cNvPr id="6" name="Rectangle 1027">
              <a:extLst>
                <a:ext uri="{FF2B5EF4-FFF2-40B4-BE49-F238E27FC236}">
                  <a16:creationId xmlns:a16="http://schemas.microsoft.com/office/drawing/2014/main" id="{FFF32B88-B049-3D4A-9C82-96AB54BB1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4" y="511"/>
              <a:ext cx="665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7" name="Group 1038">
            <a:extLst>
              <a:ext uri="{FF2B5EF4-FFF2-40B4-BE49-F238E27FC236}">
                <a16:creationId xmlns:a16="http://schemas.microsoft.com/office/drawing/2014/main" id="{AE7861B8-B55A-CC48-B549-20EB7B80E2B7}"/>
              </a:ext>
            </a:extLst>
          </p:cNvPr>
          <p:cNvGrpSpPr>
            <a:grpSpLocks/>
          </p:cNvGrpSpPr>
          <p:nvPr/>
        </p:nvGrpSpPr>
        <p:grpSpPr bwMode="auto">
          <a:xfrm>
            <a:off x="2693826" y="3263125"/>
            <a:ext cx="1557338" cy="385763"/>
            <a:chOff x="1200" y="1152"/>
            <a:chExt cx="981" cy="243"/>
          </a:xfrm>
        </p:grpSpPr>
        <p:sp>
          <p:nvSpPr>
            <p:cNvPr id="8" name="Text Box 1028">
              <a:extLst>
                <a:ext uri="{FF2B5EF4-FFF2-40B4-BE49-F238E27FC236}">
                  <a16:creationId xmlns:a16="http://schemas.microsoft.com/office/drawing/2014/main" id="{11476F00-3A48-4C4B-86A0-71E0D57AA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152"/>
              <a:ext cx="98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 u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i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</a:t>
              </a:r>
            </a:p>
          </p:txBody>
        </p:sp>
        <p:sp>
          <p:nvSpPr>
            <p:cNvPr id="9" name="Rectangle 1031">
              <a:extLst>
                <a:ext uri="{FF2B5EF4-FFF2-40B4-BE49-F238E27FC236}">
                  <a16:creationId xmlns:a16="http://schemas.microsoft.com/office/drawing/2014/main" id="{CF292E7C-D1E6-9343-AFED-8D71CE5BC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3" y="1155"/>
              <a:ext cx="620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0" name="Group 1039">
            <a:extLst>
              <a:ext uri="{FF2B5EF4-FFF2-40B4-BE49-F238E27FC236}">
                <a16:creationId xmlns:a16="http://schemas.microsoft.com/office/drawing/2014/main" id="{557EB138-3FF0-354D-A185-B70C0D0D6F20}"/>
              </a:ext>
            </a:extLst>
          </p:cNvPr>
          <p:cNvGrpSpPr>
            <a:grpSpLocks/>
          </p:cNvGrpSpPr>
          <p:nvPr/>
        </p:nvGrpSpPr>
        <p:grpSpPr bwMode="auto">
          <a:xfrm>
            <a:off x="2695413" y="4081214"/>
            <a:ext cx="1878013" cy="384175"/>
            <a:chOff x="1200" y="1767"/>
            <a:chExt cx="1183" cy="242"/>
          </a:xfrm>
        </p:grpSpPr>
        <p:sp>
          <p:nvSpPr>
            <p:cNvPr id="11" name="Text Box 1029">
              <a:extLst>
                <a:ext uri="{FF2B5EF4-FFF2-40B4-BE49-F238E27FC236}">
                  <a16:creationId xmlns:a16="http://schemas.microsoft.com/office/drawing/2014/main" id="{07704CCA-82BE-014C-9774-1DB9D4AD00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776"/>
              <a:ext cx="118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 u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i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o p</a:t>
              </a:r>
            </a:p>
          </p:txBody>
        </p:sp>
        <p:sp>
          <p:nvSpPr>
            <p:cNvPr id="12" name="Rectangle 1032">
              <a:extLst>
                <a:ext uri="{FF2B5EF4-FFF2-40B4-BE49-F238E27FC236}">
                  <a16:creationId xmlns:a16="http://schemas.microsoft.com/office/drawing/2014/main" id="{ED47542F-EDCA-6A4F-AE46-6201B7EE23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" y="1767"/>
              <a:ext cx="648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grpSp>
        <p:nvGrpSpPr>
          <p:cNvPr id="13" name="Group 1040">
            <a:extLst>
              <a:ext uri="{FF2B5EF4-FFF2-40B4-BE49-F238E27FC236}">
                <a16:creationId xmlns:a16="http://schemas.microsoft.com/office/drawing/2014/main" id="{5DAB78A9-799C-D84A-9264-69C59051914E}"/>
              </a:ext>
            </a:extLst>
          </p:cNvPr>
          <p:cNvGrpSpPr>
            <a:grpSpLocks/>
          </p:cNvGrpSpPr>
          <p:nvPr/>
        </p:nvGrpSpPr>
        <p:grpSpPr bwMode="auto">
          <a:xfrm>
            <a:off x="2695413" y="4923118"/>
            <a:ext cx="2249488" cy="381000"/>
            <a:chOff x="1200" y="2397"/>
            <a:chExt cx="1417" cy="240"/>
          </a:xfrm>
        </p:grpSpPr>
        <p:sp>
          <p:nvSpPr>
            <p:cNvPr id="14" name="Text Box 1030">
              <a:extLst>
                <a:ext uri="{FF2B5EF4-FFF2-40B4-BE49-F238E27FC236}">
                  <a16:creationId xmlns:a16="http://schemas.microsoft.com/office/drawing/2014/main" id="{AFEE7689-1518-E34C-80D2-2511388BD3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2400"/>
              <a:ext cx="141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latin typeface="Arial" pitchFamily="34" charset="0"/>
                  <a:cs typeface="Arial" pitchFamily="34" charset="0"/>
                </a:rPr>
                <a:t>q w e r t y u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i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 o p a s</a:t>
              </a:r>
            </a:p>
          </p:txBody>
        </p:sp>
        <p:sp>
          <p:nvSpPr>
            <p:cNvPr id="15" name="Rectangle 1033">
              <a:extLst>
                <a:ext uri="{FF2B5EF4-FFF2-40B4-BE49-F238E27FC236}">
                  <a16:creationId xmlns:a16="http://schemas.microsoft.com/office/drawing/2014/main" id="{3EF403DF-0AD2-CA4F-9972-D14DF5B1B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9" y="2397"/>
              <a:ext cx="666" cy="240"/>
            </a:xfrm>
            <a:prstGeom prst="rect">
              <a:avLst/>
            </a:prstGeom>
            <a:solidFill>
              <a:srgbClr val="CC99FF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6" name="Text Box 1034">
            <a:extLst>
              <a:ext uri="{FF2B5EF4-FFF2-40B4-BE49-F238E27FC236}">
                <a16:creationId xmlns:a16="http://schemas.microsoft.com/office/drawing/2014/main" id="{A536DFB0-E4F0-DD41-AA74-4BE5B35B5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490" y="1862852"/>
            <a:ext cx="190279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Past       Future</a:t>
            </a:r>
          </a:p>
        </p:txBody>
      </p:sp>
      <p:sp>
        <p:nvSpPr>
          <p:cNvPr id="17" name="Line 1035">
            <a:extLst>
              <a:ext uri="{FF2B5EF4-FFF2-40B4-BE49-F238E27FC236}">
                <a16:creationId xmlns:a16="http://schemas.microsoft.com/office/drawing/2014/main" id="{CCDAAD43-5CD3-8D45-B4CD-ED293164CE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05365" y="2059702"/>
            <a:ext cx="685800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Line 1036">
            <a:extLst>
              <a:ext uri="{FF2B5EF4-FFF2-40B4-BE49-F238E27FC236}">
                <a16:creationId xmlns:a16="http://schemas.microsoft.com/office/drawing/2014/main" id="{95A5A288-59F0-0448-B3B1-FBD4FC080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5562" y="2059702"/>
            <a:ext cx="609600" cy="0"/>
          </a:xfrm>
          <a:prstGeom prst="line">
            <a:avLst/>
          </a:prstGeom>
          <a:noFill/>
          <a:ln w="9525">
            <a:solidFill>
              <a:srgbClr val="008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20" name="Dodecagon 19">
            <a:extLst>
              <a:ext uri="{FF2B5EF4-FFF2-40B4-BE49-F238E27FC236}">
                <a16:creationId xmlns:a16="http://schemas.microsoft.com/office/drawing/2014/main" id="{CBDECD47-8B4C-234A-9E89-96DBB2247122}"/>
              </a:ext>
            </a:extLst>
          </p:cNvPr>
          <p:cNvSpPr/>
          <p:nvPr/>
        </p:nvSpPr>
        <p:spPr>
          <a:xfrm>
            <a:off x="7408189" y="2809606"/>
            <a:ext cx="1658319" cy="1456652"/>
          </a:xfrm>
          <a:prstGeom prst="dodecagon">
            <a:avLst/>
          </a:prstGeom>
          <a:solidFill>
            <a:schemeClr val="accent4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73453A-BBB4-A047-BC12-AD7331E6F80C}"/>
              </a:ext>
            </a:extLst>
          </p:cNvPr>
          <p:cNvSpPr txBox="1"/>
          <p:nvPr/>
        </p:nvSpPr>
        <p:spPr>
          <a:xfrm>
            <a:off x="7503439" y="3065079"/>
            <a:ext cx="167225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 = 6,</a:t>
            </a:r>
          </a:p>
          <a:p>
            <a:r>
              <a:rPr lang="en-US" sz="2800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Step = 2 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936657EF-04BF-4B4B-96FA-AAFF642874FB}"/>
              </a:ext>
            </a:extLst>
          </p:cNvPr>
          <p:cNvSpPr txBox="1">
            <a:spLocks/>
          </p:cNvSpPr>
          <p:nvPr/>
        </p:nvSpPr>
        <p:spPr>
          <a:xfrm>
            <a:off x="838200" y="5396703"/>
            <a:ext cx="9964119" cy="10066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AU" altLang="en-US" dirty="0"/>
              <a:t>Upon the arrival of a new (</a:t>
            </a:r>
            <a:r>
              <a:rPr lang="en-AU" altLang="en-US" dirty="0">
                <a:solidFill>
                  <a:schemeClr val="accent6">
                    <a:lumMod val="75000"/>
                  </a:schemeClr>
                </a:solidFill>
              </a:rPr>
              <a:t>Step</a:t>
            </a:r>
            <a:r>
              <a:rPr lang="en-AU" altLang="en-US" dirty="0"/>
              <a:t>) of items from the stream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Keep the last N items only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F0D1F01A-CD88-482C-C2E7-17C3B7B9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4392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Exponentially Decaying Windows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662138" cy="4948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Main Idea: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Every sample in the stream is important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Different levels of importance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Recent values are more important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How it works: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Pick a constant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AU" altLang="en-US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The weight of the element (item) arrived at time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AU" altLang="en-US" dirty="0"/>
                  <a:t> is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+(1−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∑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AU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662138" cy="4948280"/>
              </a:xfrm>
              <a:blipFill>
                <a:blip r:embed="rId2"/>
                <a:stretch>
                  <a:fillRect l="-1071" t="-256" b="-40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DE5A16-4F11-9290-9BE9-AD17810B1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46138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Sliding vs Exponentially Decaying Windows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642DA4B0-8B79-4273-3BE5-27F9F29350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0718" y="4000632"/>
                <a:ext cx="10515599" cy="2515571"/>
              </a:xfrm>
            </p:spPr>
            <p:txBody>
              <a:bodyPr>
                <a:normAutofit/>
              </a:bodyPr>
              <a:lstStyle/>
              <a:p>
                <a:r>
                  <a:rPr lang="en-US" b="1" dirty="0">
                    <a:solidFill>
                      <a:srgbClr val="0000FF"/>
                    </a:solidFill>
                  </a:rPr>
                  <a:t>Important property:</a:t>
                </a:r>
                <a:r>
                  <a:rPr lang="en-US" dirty="0"/>
                  <a:t> 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Sum over all weights </a:t>
                </a:r>
              </a:p>
              <a:p>
                <a:pPr lvl="2"/>
                <a:r>
                  <a:rPr lang="en-US" sz="2200" dirty="0"/>
                  <a:t>Sliding window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/>
              </a:p>
              <a:p>
                <a:pPr lvl="2"/>
                <a:r>
                  <a:rPr lang="en-US" sz="2200" dirty="0"/>
                  <a:t>Exponentially decaying window: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sz="22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d>
                          </m:e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200" dirty="0"/>
                  <a:t>    </a:t>
                </a:r>
                <a:r>
                  <a:rPr lang="en-US" sz="2200" dirty="0">
                    <a:solidFill>
                      <a:schemeClr val="tx1"/>
                    </a:solidFill>
                  </a:rPr>
                  <a:t>is</a:t>
                </a:r>
                <a:r>
                  <a:rPr lang="en-US" sz="2200" b="1" dirty="0">
                    <a:solidFill>
                      <a:schemeClr val="tx1"/>
                    </a:solidFill>
                  </a:rPr>
                  <a:t>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den>
                    </m:f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endParaRPr lang="en-US" sz="22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1">
                <a:extLst>
                  <a:ext uri="{FF2B5EF4-FFF2-40B4-BE49-F238E27FC236}">
                    <a16:creationId xmlns:a16="http://schemas.microsoft.com/office/drawing/2014/main" id="{642DA4B0-8B79-4273-3BE5-27F9F29350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0718" y="4000632"/>
                <a:ext cx="10515599" cy="2515571"/>
              </a:xfrm>
              <a:blipFill>
                <a:blip r:embed="rId2"/>
                <a:stretch>
                  <a:fillRect l="-965" t="-4000" b="-19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Box 7">
                <a:extLst>
                  <a:ext uri="{FF2B5EF4-FFF2-40B4-BE49-F238E27FC236}">
                    <a16:creationId xmlns:a16="http://schemas.microsoft.com/office/drawing/2014/main" id="{6751A442-A903-ED70-35D5-7DD346DDCE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03915" y="3728850"/>
                <a:ext cx="2334955" cy="11339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r>
                  <a:rPr lang="en-US" sz="2800" b="1" dirty="0">
                    <a:solidFill>
                      <a:srgbClr val="008000"/>
                    </a:solidFill>
                    <a:latin typeface="Arial" pitchFamily="34" charset="0"/>
                    <a:cs typeface="Arial" pitchFamily="34" charset="0"/>
                  </a:rPr>
                  <a:t>Window of length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800" b="1" dirty="0">
                  <a:solidFill>
                    <a:srgbClr val="008000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11" name="Text Box 7">
                <a:extLst>
                  <a:ext uri="{FF2B5EF4-FFF2-40B4-BE49-F238E27FC236}">
                    <a16:creationId xmlns:a16="http://schemas.microsoft.com/office/drawing/2014/main" id="{6751A442-A903-ED70-35D5-7DD346DDCE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03915" y="3728850"/>
                <a:ext cx="2334955" cy="1133900"/>
              </a:xfrm>
              <a:prstGeom prst="rect">
                <a:avLst/>
              </a:prstGeom>
              <a:blipFill>
                <a:blip r:embed="rId3"/>
                <a:stretch>
                  <a:fillRect l="-5405" t="-5495" b="-4396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40DDEF4-0600-2842-7424-6458ECD8A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27</a:t>
            </a:fld>
            <a:endParaRPr lang="nl-NL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96F0544C-F1BE-49FA-78EC-A9B8FBD337A5}"/>
              </a:ext>
            </a:extLst>
          </p:cNvPr>
          <p:cNvSpPr/>
          <p:nvPr/>
        </p:nvSpPr>
        <p:spPr>
          <a:xfrm>
            <a:off x="10938870" y="3982882"/>
            <a:ext cx="778823" cy="223022"/>
          </a:xfrm>
          <a:prstGeom prst="rightArrow">
            <a:avLst>
              <a:gd name="adj1" fmla="val 450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3A6A10EB-E8F8-D351-4EA1-1DA45F88A1D6}"/>
              </a:ext>
            </a:extLst>
          </p:cNvPr>
          <p:cNvSpPr/>
          <p:nvPr/>
        </p:nvSpPr>
        <p:spPr>
          <a:xfrm rot="10800000">
            <a:off x="7622186" y="3882301"/>
            <a:ext cx="778823" cy="223022"/>
          </a:xfrm>
          <a:prstGeom prst="rightArrow">
            <a:avLst>
              <a:gd name="adj1" fmla="val 45099"/>
              <a:gd name="adj2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D819639-2358-4DDA-4963-643B0CB219BB}"/>
              </a:ext>
            </a:extLst>
          </p:cNvPr>
          <p:cNvGrpSpPr/>
          <p:nvPr/>
        </p:nvGrpSpPr>
        <p:grpSpPr>
          <a:xfrm>
            <a:off x="767938" y="1265854"/>
            <a:ext cx="10922051" cy="2734778"/>
            <a:chOff x="767938" y="1265854"/>
            <a:chExt cx="10922051" cy="2734778"/>
          </a:xfrm>
        </p:grpSpPr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920D0C19-F22C-5460-3865-CB5324C08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2724" y="1265854"/>
              <a:ext cx="4038600" cy="2438400"/>
            </a:xfrm>
            <a:prstGeom prst="rect">
              <a:avLst/>
            </a:prstGeom>
            <a:solidFill>
              <a:srgbClr val="CC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9DE008BF-DDEC-A2A8-56AE-48FA0B75F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2351" y="1265854"/>
              <a:ext cx="10607638" cy="2438400"/>
            </a:xfrm>
            <a:custGeom>
              <a:avLst/>
              <a:gdLst/>
              <a:ahLst/>
              <a:cxnLst>
                <a:cxn ang="0">
                  <a:pos x="0" y="1536"/>
                </a:cxn>
                <a:cxn ang="0">
                  <a:pos x="0" y="1248"/>
                </a:cxn>
                <a:cxn ang="0">
                  <a:pos x="576" y="1200"/>
                </a:cxn>
                <a:cxn ang="0">
                  <a:pos x="2064" y="1056"/>
                </a:cxn>
                <a:cxn ang="0">
                  <a:pos x="2592" y="960"/>
                </a:cxn>
                <a:cxn ang="0">
                  <a:pos x="3264" y="768"/>
                </a:cxn>
                <a:cxn ang="0">
                  <a:pos x="3840" y="528"/>
                </a:cxn>
                <a:cxn ang="0">
                  <a:pos x="4368" y="240"/>
                </a:cxn>
                <a:cxn ang="0">
                  <a:pos x="4656" y="0"/>
                </a:cxn>
                <a:cxn ang="0">
                  <a:pos x="4656" y="1536"/>
                </a:cxn>
              </a:cxnLst>
              <a:rect l="0" t="0" r="r" b="b"/>
              <a:pathLst>
                <a:path w="4656" h="1536">
                  <a:moveTo>
                    <a:pt x="0" y="1536"/>
                  </a:moveTo>
                  <a:lnTo>
                    <a:pt x="0" y="1248"/>
                  </a:lnTo>
                  <a:lnTo>
                    <a:pt x="576" y="1200"/>
                  </a:lnTo>
                  <a:lnTo>
                    <a:pt x="2064" y="1056"/>
                  </a:lnTo>
                  <a:lnTo>
                    <a:pt x="2592" y="960"/>
                  </a:lnTo>
                  <a:lnTo>
                    <a:pt x="3264" y="768"/>
                  </a:lnTo>
                  <a:lnTo>
                    <a:pt x="3840" y="528"/>
                  </a:lnTo>
                  <a:lnTo>
                    <a:pt x="4368" y="240"/>
                  </a:lnTo>
                  <a:lnTo>
                    <a:pt x="4656" y="0"/>
                  </a:lnTo>
                  <a:lnTo>
                    <a:pt x="4656" y="1536"/>
                  </a:lnTo>
                </a:path>
              </a:pathLst>
            </a:custGeom>
            <a:solidFill>
              <a:srgbClr val="FFCC99">
                <a:alpha val="50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3" name="Text Box 9">
              <a:extLst>
                <a:ext uri="{FF2B5EF4-FFF2-40B4-BE49-F238E27FC236}">
                  <a16:creationId xmlns:a16="http://schemas.microsoft.com/office/drawing/2014/main" id="{9FD7DBD4-69E3-EC22-15C0-170C5A9EC6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1421" y="3278804"/>
              <a:ext cx="531813" cy="366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b="1" dirty="0"/>
                <a:t>. . 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DB16C90-BF91-79D4-8929-91D0FCE262D7}"/>
                </a:ext>
              </a:extLst>
            </p:cNvPr>
            <p:cNvSpPr txBox="1"/>
            <p:nvPr/>
          </p:nvSpPr>
          <p:spPr>
            <a:xfrm>
              <a:off x="767938" y="2816935"/>
              <a:ext cx="503853" cy="118369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6A307BB1-14A9-538C-729A-EFE5FC9C7D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0718" y="1523066"/>
                <a:ext cx="10515599" cy="108859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dirty="0"/>
                  <a:t>, let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6A307BB1-14A9-538C-729A-EFE5FC9C7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18" y="1523066"/>
                <a:ext cx="10515599" cy="1088597"/>
              </a:xfrm>
              <a:prstGeom prst="rect">
                <a:avLst/>
              </a:prstGeom>
              <a:blipFill>
                <a:blip r:embed="rId4"/>
                <a:stretch>
                  <a:fillRect l="-965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295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11264" y="2715494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Examples of Queries over Data Streams</a:t>
            </a:r>
            <a:endParaRPr lang="nl-NL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08C7C-DA62-CC69-7645-D0EEB5A3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2372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Querying Data Streams (Examples)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Filtering a data stream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Select elements with property x from the stream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Email spam filtering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Counting distinct elements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Number of distinct elements in the last k elements of the stream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How many distinct products have we sold in the last week?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Estimating moments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Estimate avg./std. dev. of last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altLang="en-US" dirty="0"/>
                  <a:t> elements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Finding frequent elements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What are “currently” the most popular movies?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  <a:blipFill>
                <a:blip r:embed="rId2"/>
                <a:stretch>
                  <a:fillRect l="-984" t="-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52901-328F-2EA6-39A4-363D97C26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29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29020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11264" y="2715494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Filtering Data Streams</a:t>
            </a:r>
            <a:endParaRPr lang="nl-NL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7F21F4-3802-6204-9665-2704C5C10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68778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Data Streams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320580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>
                <a:solidFill>
                  <a:schemeClr val="accent1">
                    <a:lumMod val="75000"/>
                  </a:schemeClr>
                </a:solidFill>
              </a:rPr>
              <a:t>Given:</a:t>
            </a:r>
            <a:r>
              <a:rPr lang="en-AU" altLang="en-US" dirty="0"/>
              <a:t> a set of Keys </a:t>
            </a:r>
            <a:r>
              <a:rPr lang="en-AU" altLang="en-US" i="1" dirty="0"/>
              <a:t>S</a:t>
            </a:r>
          </a:p>
          <a:p>
            <a:pPr>
              <a:lnSpc>
                <a:spcPct val="120000"/>
              </a:lnSpc>
            </a:pPr>
            <a:r>
              <a:rPr lang="en-AU" altLang="en-US" dirty="0">
                <a:solidFill>
                  <a:schemeClr val="accent6">
                    <a:lumMod val="75000"/>
                  </a:schemeClr>
                </a:solidFill>
              </a:rPr>
              <a:t>Determine:</a:t>
            </a:r>
            <a:r>
              <a:rPr lang="en-AU" altLang="en-US" dirty="0"/>
              <a:t> which tuples of the stream are in </a:t>
            </a:r>
            <a:r>
              <a:rPr lang="en-AU" altLang="en-US" i="1" dirty="0"/>
              <a:t>S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Obvious solution: Hash Table</a:t>
            </a:r>
          </a:p>
          <a:p>
            <a:pPr>
              <a:lnSpc>
                <a:spcPct val="120000"/>
              </a:lnSpc>
            </a:pPr>
            <a:r>
              <a:rPr lang="en-AU" altLang="en-US" dirty="0">
                <a:solidFill>
                  <a:srgbClr val="990000"/>
                </a:solidFill>
              </a:rPr>
              <a:t>Problem:</a:t>
            </a:r>
            <a:r>
              <a:rPr lang="en-AU" altLang="en-US" dirty="0"/>
              <a:t> we may not have enough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835E28-4B6B-628A-9792-D8038871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7226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Data Streams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153890"/>
            <a:ext cx="10320580" cy="144452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If the item in </a:t>
            </a:r>
            <a:r>
              <a:rPr lang="en-AU" altLang="en-US" i="1" dirty="0"/>
              <a:t>S</a:t>
            </a:r>
            <a:r>
              <a:rPr lang="en-AU" altLang="en-US" dirty="0"/>
              <a:t> (set of keys), return it. 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If the item is not in </a:t>
            </a:r>
            <a:r>
              <a:rPr lang="en-AU" altLang="en-US" i="1" dirty="0"/>
              <a:t>S</a:t>
            </a:r>
            <a:r>
              <a:rPr lang="en-AU" altLang="en-US" dirty="0"/>
              <a:t>, it may still be returned (no FNs, but FPs)</a:t>
            </a:r>
            <a:endParaRPr lang="en-AU" altLang="en-US" i="1" dirty="0"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D1B5950F-2588-1051-2D07-B9202D08BC76}"/>
              </a:ext>
            </a:extLst>
          </p:cNvPr>
          <p:cNvSpPr>
            <a:spLocks noChangeArrowheads="1"/>
          </p:cNvSpPr>
          <p:nvPr/>
        </p:nvSpPr>
        <p:spPr bwMode="auto">
          <a:xfrm rot="-5403089">
            <a:off x="2019300" y="1638848"/>
            <a:ext cx="1752600" cy="1219200"/>
          </a:xfrm>
          <a:custGeom>
            <a:avLst/>
            <a:gdLst>
              <a:gd name="T0" fmla="*/ 1575555 w 21600"/>
              <a:gd name="T1" fmla="*/ 609600 h 21600"/>
              <a:gd name="T2" fmla="*/ 876300 w 21600"/>
              <a:gd name="T3" fmla="*/ 1219200 h 21600"/>
              <a:gd name="T4" fmla="*/ 177045 w 21600"/>
              <a:gd name="T5" fmla="*/ 609600 h 21600"/>
              <a:gd name="T6" fmla="*/ 87630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982 w 21600"/>
              <a:gd name="T13" fmla="*/ 3982 h 21600"/>
              <a:gd name="T14" fmla="*/ 17618 w 21600"/>
              <a:gd name="T15" fmla="*/ 17618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4363" y="21600"/>
                </a:lnTo>
                <a:lnTo>
                  <a:pt x="17237" y="21600"/>
                </a:lnTo>
                <a:lnTo>
                  <a:pt x="21600" y="0"/>
                </a:lnTo>
                <a:close/>
              </a:path>
            </a:pathLst>
          </a:custGeom>
          <a:solidFill>
            <a:schemeClr val="accent4">
              <a:lumMod val="75000"/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r>
              <a:rPr lang="en-US" dirty="0"/>
              <a:t>Filter</a:t>
            </a:r>
          </a:p>
        </p:txBody>
      </p:sp>
      <p:grpSp>
        <p:nvGrpSpPr>
          <p:cNvPr id="7" name="Group 13">
            <a:extLst>
              <a:ext uri="{FF2B5EF4-FFF2-40B4-BE49-F238E27FC236}">
                <a16:creationId xmlns:a16="http://schemas.microsoft.com/office/drawing/2014/main" id="{FCC55FC7-C726-DDC4-3184-E8EA122E96A3}"/>
              </a:ext>
            </a:extLst>
          </p:cNvPr>
          <p:cNvGrpSpPr>
            <a:grpSpLocks/>
          </p:cNvGrpSpPr>
          <p:nvPr/>
        </p:nvGrpSpPr>
        <p:grpSpPr bwMode="auto">
          <a:xfrm>
            <a:off x="1463676" y="2438949"/>
            <a:ext cx="7167574" cy="2725739"/>
            <a:chOff x="922" y="1872"/>
            <a:chExt cx="4515" cy="1717"/>
          </a:xfrm>
        </p:grpSpPr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46CC7313-186A-E10C-FDA5-AC3CE51027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2" y="1872"/>
              <a:ext cx="737" cy="837"/>
            </a:xfrm>
            <a:prstGeom prst="line">
              <a:avLst/>
            </a:prstGeom>
            <a:noFill/>
            <a:ln w="38100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F9885FBE-300F-561E-1004-2C4E867D77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8" y="3066"/>
              <a:ext cx="4419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400" dirty="0"/>
                <a:t>Drop the item.</a:t>
              </a:r>
            </a:p>
            <a:p>
              <a:r>
                <a:rPr lang="en-US" sz="2400" dirty="0"/>
                <a:t>It hashes to a bucket set to 0 so it is surely not in </a:t>
              </a:r>
              <a:r>
                <a:rPr lang="en-US" sz="2400" i="1" dirty="0"/>
                <a:t>S</a:t>
              </a:r>
              <a:r>
                <a:rPr lang="en-US" sz="2400" dirty="0"/>
                <a:t>.</a:t>
              </a:r>
            </a:p>
          </p:txBody>
        </p:sp>
      </p:grpSp>
      <p:sp>
        <p:nvSpPr>
          <p:cNvPr id="10" name="Text Box 4">
            <a:extLst>
              <a:ext uri="{FF2B5EF4-FFF2-40B4-BE49-F238E27FC236}">
                <a16:creationId xmlns:a16="http://schemas.microsoft.com/office/drawing/2014/main" id="{CBAE606C-5129-6A68-8407-72AF83CD1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2134148"/>
            <a:ext cx="70243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Item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9C7B48DD-4567-A4C4-913C-F53E91414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0385" y="3658148"/>
            <a:ext cx="2209800" cy="457200"/>
          </a:xfrm>
          <a:prstGeom prst="rect">
            <a:avLst/>
          </a:prstGeom>
          <a:solidFill>
            <a:srgbClr val="00B0F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0010001011000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:a16="http://schemas.microsoft.com/office/drawing/2014/main" id="{D9BBAF60-E4E0-3C4C-012E-048E53A7C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64" y="2819948"/>
            <a:ext cx="178723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Hash function </a:t>
            </a:r>
            <a:r>
              <a:rPr lang="en-US" b="1" i="1" dirty="0"/>
              <a:t>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1ACAC-01BC-4449-F4AC-9FD82618820B}"/>
              </a:ext>
            </a:extLst>
          </p:cNvPr>
          <p:cNvSpPr txBox="1"/>
          <p:nvPr/>
        </p:nvSpPr>
        <p:spPr>
          <a:xfrm>
            <a:off x="4038600" y="3649683"/>
            <a:ext cx="1733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Bit array </a:t>
            </a:r>
            <a:r>
              <a:rPr lang="en-US" sz="2800" b="1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14" name="Line 6">
            <a:extLst>
              <a:ext uri="{FF2B5EF4-FFF2-40B4-BE49-F238E27FC236}">
                <a16:creationId xmlns:a16="http://schemas.microsoft.com/office/drawing/2014/main" id="{B4DD5063-74C9-60A5-EDC6-58A1AD2428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2362747"/>
            <a:ext cx="1579564" cy="1414462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Line 7">
            <a:extLst>
              <a:ext uri="{FF2B5EF4-FFF2-40B4-BE49-F238E27FC236}">
                <a16:creationId xmlns:a16="http://schemas.microsoft.com/office/drawing/2014/main" id="{86CE094F-7602-BCA9-77C4-3CC4A3FC16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5489" y="1834110"/>
            <a:ext cx="1611314" cy="1924049"/>
          </a:xfrm>
          <a:prstGeom prst="line">
            <a:avLst/>
          </a:prstGeom>
          <a:noFill/>
          <a:ln w="38100">
            <a:solidFill>
              <a:schemeClr val="accent6">
                <a:lumMod val="75000"/>
              </a:schemeClr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861C00-2250-670A-4A93-377931DEA49A}"/>
              </a:ext>
            </a:extLst>
          </p:cNvPr>
          <p:cNvSpPr txBox="1"/>
          <p:nvPr/>
        </p:nvSpPr>
        <p:spPr>
          <a:xfrm>
            <a:off x="4886328" y="1436405"/>
            <a:ext cx="5629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Output the item since it may be in S.</a:t>
            </a:r>
          </a:p>
          <a:p>
            <a:r>
              <a:rPr lang="en-US" sz="2400" dirty="0"/>
              <a:t>Item hashes to a bucket that at least one of the items in </a:t>
            </a:r>
            <a:r>
              <a:rPr lang="en-US" sz="2400" i="1" dirty="0"/>
              <a:t>S</a:t>
            </a:r>
            <a:r>
              <a:rPr lang="en-US" sz="2400" dirty="0"/>
              <a:t> hashed to.</a:t>
            </a:r>
          </a:p>
        </p:txBody>
      </p:sp>
      <p:sp>
        <p:nvSpPr>
          <p:cNvPr id="19" name="Line 9">
            <a:extLst>
              <a:ext uri="{FF2B5EF4-FFF2-40B4-BE49-F238E27FC236}">
                <a16:creationId xmlns:a16="http://schemas.microsoft.com/office/drawing/2014/main" id="{8ACA62C8-CFD8-1E89-CC05-52452D85F3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34388" y="3978127"/>
            <a:ext cx="0" cy="496891"/>
          </a:xfrm>
          <a:prstGeom prst="line">
            <a:avLst/>
          </a:prstGeom>
          <a:noFill/>
          <a:ln w="38100">
            <a:solidFill>
              <a:srgbClr val="C0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471E6205-CBB9-6A05-BC86-EE5612EBB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725624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Data Streams (discussion)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320580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We have:</a:t>
            </a:r>
          </a:p>
          <a:p>
            <a:pPr lvl="1">
              <a:lnSpc>
                <a:spcPct val="120000"/>
              </a:lnSpc>
            </a:pPr>
            <a:r>
              <a:rPr lang="en-AU" altLang="en-US" dirty="0">
                <a:solidFill>
                  <a:srgbClr val="00B050"/>
                </a:solidFill>
              </a:rPr>
              <a:t>|S| = 1M </a:t>
            </a:r>
            <a:r>
              <a:rPr lang="en-AU" altLang="en-US" dirty="0"/>
              <a:t>(We have one million legitimate email addresses)</a:t>
            </a:r>
          </a:p>
          <a:p>
            <a:pPr lvl="1">
              <a:lnSpc>
                <a:spcPct val="120000"/>
              </a:lnSpc>
            </a:pPr>
            <a:r>
              <a:rPr lang="en-AU" altLang="en-US" dirty="0">
                <a:solidFill>
                  <a:srgbClr val="00B050"/>
                </a:solidFill>
              </a:rPr>
              <a:t>|B| = 1MB </a:t>
            </a:r>
            <a:r>
              <a:rPr lang="en-AU" altLang="en-US" dirty="0"/>
              <a:t>(Bit array with 8 million bits)</a:t>
            </a:r>
          </a:p>
          <a:p>
            <a:pPr>
              <a:lnSpc>
                <a:spcPct val="120000"/>
              </a:lnSpc>
            </a:pPr>
            <a:r>
              <a:rPr lang="en-AU" altLang="en-US" dirty="0">
                <a:solidFill>
                  <a:srgbClr val="990000"/>
                </a:solidFill>
              </a:rPr>
              <a:t>Question: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What is the probability that an email with un-registered address is going through?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B17F3-9680-0B9E-BB4B-7EB05770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983695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Data Streams (discussion)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320580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Approximately 1/8 of the bits will be set to 1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Given a spam email, it will hash to a bit that includes 1 with </a:t>
            </a:r>
            <a:r>
              <a:rPr lang="en-AU" altLang="en-US" i="1" dirty="0"/>
              <a:t>p = 1/8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Approximately (1/8 = 0.125) of the spam emails may go through.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This is called the false positive ratio (FP ratio)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B17F3-9680-0B9E-BB4B-7EB05770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9934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Data Streams (discussion)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More accurate estimation using throwing darts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>
                    <a:solidFill>
                      <a:srgbClr val="00B050"/>
                    </a:solidFill>
                  </a:rPr>
                  <a:t>|S| = M, |B| = N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Probability of hitting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AU" altLang="en-US" dirty="0"/>
                  <a:t>  and missing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i="1"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lang="en-AU" altLang="en-US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en-US" b="0" dirty="0"/>
                  <a:t>After </a:t>
                </a:r>
                <a:r>
                  <a:rPr lang="en-AU" altLang="en-US" dirty="0">
                    <a:solidFill>
                      <a:srgbClr val="00B050"/>
                    </a:solidFill>
                  </a:rPr>
                  <a:t>M</a:t>
                </a:r>
                <a:r>
                  <a:rPr lang="en-US" altLang="en-US" b="0" dirty="0"/>
                  <a:t> trials,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m:rPr>
                        <m:nor/>
                      </m:rPr>
                      <a:rPr lang="en-AU" altLang="en-US" dirty="0"/>
                      <m:t>= (1−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en-US" alt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altLang="en-US" dirty="0"/>
                          <m:t>)</m:t>
                        </m:r>
                      </m:e>
                      <m:sup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nor/>
                      </m:rPr>
                      <a:rPr lang="en-US" altLang="en-US" b="0" i="0" dirty="0" smtClean="0"/>
                      <m:t> =</m:t>
                    </m:r>
                    <m:r>
                      <m:rPr>
                        <m:nor/>
                      </m:rPr>
                      <a:rPr lang="en-AU" altLang="en-US" dirty="0"/>
                      <m:t> </m:t>
                    </m:r>
                    <m:r>
                      <m:rPr>
                        <m:nor/>
                      </m:rPr>
                      <a:rPr lang="en-US" altLang="en-US" b="0" i="0" dirty="0" smtClean="0"/>
                      <m:t>(</m:t>
                    </m:r>
                    <m:r>
                      <m:rPr>
                        <m:nor/>
                      </m:rPr>
                      <a:rPr lang="en-AU" altLang="en-US" dirty="0"/>
                      <m:t>(1−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sSup>
                      <m:sSupPr>
                        <m:ctrlPr>
                          <a:rPr lang="en-US" alt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en-US" dirty="0"/>
                              <m:t>)</m:t>
                            </m:r>
                          </m:e>
                          <m:sup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altLang="en-US" i="1" dirty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alt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AU" altLang="en-US" dirty="0"/>
                          <m:t>(1−</m:t>
                        </m:r>
                        <m:f>
                          <m:f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groupChr>
                      <m:groupChrPr>
                        <m:chr m:val="→"/>
                        <m:pos m:val="top"/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groupChr>
                    <m:f>
                      <m:f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en-US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en-US" dirty="0"/>
                  <a:t>Hence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f>
                              <m:fPr>
                                <m:ctrlP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</m:num>
                              <m:den>
                                <m:r>
                                  <a:rPr lang="en-US" altLang="en-US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sup>
                        </m:s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,        </m:t>
                        </m:r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num>
                          <m:den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altLang="en-US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en-US" dirty="0"/>
                  <a:t>M = 1M and N = 8M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−0.125</m:t>
                        </m:r>
                      </m:sup>
                    </m:sSup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=0.1175</m:t>
                    </m:r>
                  </m:oMath>
                </a14:m>
                <a:r>
                  <a:rPr lang="en-US" altLang="en-US" dirty="0"/>
                  <a:t> (FP ratio)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>
                    <a:solidFill>
                      <a:srgbClr val="990000"/>
                    </a:solidFill>
                  </a:rPr>
                  <a:t>How can we reduce the false positive rate?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  <a:blipFill>
                <a:blip r:embed="rId2"/>
                <a:stretch>
                  <a:fillRect l="-1107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B17F3-9680-0B9E-BB4B-7EB05770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53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We have: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>
                    <a:solidFill>
                      <a:srgbClr val="00B050"/>
                    </a:solidFill>
                  </a:rPr>
                  <a:t>|S| = M, |B| = N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Use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altLang="en-US" dirty="0"/>
                  <a:t> hashing functions 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AU" altLang="en-US" dirty="0"/>
              </a:p>
              <a:p>
                <a:pPr marL="457200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𝐵</m:t>
                    </m:r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←</m:t>
                    </m:r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𝑧𝑒𝑟𝑜𝑠</m:t>
                    </m:r>
                  </m:oMath>
                </a14:m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 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FOR </a:t>
                </a:r>
                <a14:m>
                  <m:oMath xmlns:m="http://schemas.openxmlformats.org/officeDocument/2006/math"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𝑚</m:t>
                    </m:r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∈</m:t>
                    </m:r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𝑀</m:t>
                    </m:r>
                  </m:oMath>
                </a14:m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 DO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	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h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𝑖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∈</m:t>
                    </m:r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𝐻</m:t>
                    </m:r>
                  </m:oMath>
                </a14:m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 DO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		</a:t>
                </a:r>
                <a:r>
                  <a:rPr lang="en-US" altLang="en-NL" sz="2800" b="0" dirty="0">
                    <a:ea typeface="ＭＳ Ｐゴシック" panose="020B060007020508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𝐵</m:t>
                        </m:r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[</m:t>
                        </m:r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h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d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𝑚</m:t>
                        </m:r>
                      </m:e>
                    </m:d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]←1</m:t>
                    </m:r>
                  </m:oMath>
                </a14:m>
                <a:endParaRPr lang="en-US" altLang="en-NL" sz="2800" dirty="0">
                  <a:latin typeface="Courier New" panose="02070309020205020404" pitchFamily="49" charset="0"/>
                  <a:ea typeface="ＭＳ Ｐゴシック" panose="020B0600070205080204" pitchFamily="34" charset="-128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endParaRPr lang="en-US" altLang="en-NL" sz="2800" dirty="0">
                  <a:latin typeface="Courier New" panose="02070309020205020404" pitchFamily="49" charset="0"/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  <a:blipFill>
                <a:blip r:embed="rId2"/>
                <a:stretch>
                  <a:fillRect l="-1107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B17F3-9680-0B9E-BB4B-7EB05770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07087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</p:spPr>
            <p:txBody>
              <a:bodyPr>
                <a:normAutofit fontScale="92500"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Upon receiving an item </a:t>
                </a:r>
                <a:r>
                  <a:rPr lang="en-US" altLang="en-NL" sz="2800" dirty="0">
                    <a:ea typeface="ＭＳ Ｐゴシック" panose="020B060007020508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NL" sz="2800" i="1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𝑥</m:t>
                    </m:r>
                    <m:r>
                      <a:rPr lang="en-US" altLang="en-NL" sz="2800" i="1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 </m:t>
                    </m:r>
                  </m:oMath>
                </a14:m>
                <a:r>
                  <a:rPr lang="en-AU" altLang="en-US" dirty="0"/>
                  <a:t> from the stream </a:t>
                </a:r>
                <a:endParaRPr lang="en-AU" altLang="en-US" dirty="0">
                  <a:solidFill>
                    <a:srgbClr val="00B050"/>
                  </a:solidFill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en-NL" sz="2800" dirty="0">
                    <a:ea typeface="ＭＳ Ｐゴシック" panose="020B060007020508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NL" sz="2800" i="1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𝑒𝑥𝑖𝑠𝑡𝑠</m:t>
                    </m:r>
                    <m:r>
                      <a:rPr lang="en-US" altLang="en-NL" sz="2800" i="1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←1 </m:t>
                    </m:r>
                  </m:oMath>
                </a14:m>
                <a:endParaRPr lang="en-US" altLang="en-NL" sz="2800" dirty="0">
                  <a:latin typeface="Courier New" panose="02070309020205020404" pitchFamily="49" charset="0"/>
                  <a:ea typeface="ＭＳ Ｐゴシック" panose="020B0600070205080204" pitchFamily="34" charset="-128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h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𝑖</m:t>
                        </m:r>
                      </m:sub>
                    </m:sSub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∈</m:t>
                    </m:r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𝐻</m:t>
                    </m:r>
                  </m:oMath>
                </a14:m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 DO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	if </a:t>
                </a:r>
                <a:r>
                  <a:rPr lang="en-US" altLang="en-NL" sz="2800" b="0" dirty="0">
                    <a:ea typeface="ＭＳ Ｐゴシック" panose="020B060007020508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sSub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𝐵</m:t>
                        </m:r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[</m:t>
                        </m:r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h</m:t>
                        </m:r>
                      </m:e>
                      <m:sub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</m:ctrlPr>
                      </m:dPr>
                      <m:e>
                        <m:r>
                          <a:rPr lang="en-US" altLang="en-NL" sz="2800" b="0" i="1" smtClean="0">
                            <a:latin typeface="Cambria Math" panose="02040503050406030204" pitchFamily="18" charset="0"/>
                            <a:ea typeface="ＭＳ Ｐゴシック" panose="020B0600070205080204" pitchFamily="34" charset="-128"/>
                          </a:rPr>
                          <m:t>𝑥</m:t>
                        </m:r>
                      </m:e>
                    </m:d>
                    <m:r>
                      <a:rPr lang="en-US" altLang="en-NL" sz="2800" b="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]==0 </m:t>
                    </m:r>
                  </m:oMath>
                </a14:m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 DO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en-NL" sz="2800" dirty="0">
                    <a:ea typeface="ＭＳ Ｐゴシック" panose="020B0600070205080204" pitchFamily="34" charset="-128"/>
                  </a:rPr>
                  <a:t> 		</a:t>
                </a:r>
                <a14:m>
                  <m:oMath xmlns:m="http://schemas.openxmlformats.org/officeDocument/2006/math">
                    <m:r>
                      <a:rPr lang="en-US" altLang="en-NL" sz="2800" i="1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𝑒𝑥𝑖𝑠𝑡𝑠</m:t>
                    </m:r>
                    <m:r>
                      <a:rPr lang="en-US" altLang="en-NL" sz="2800" i="1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←0 </m:t>
                    </m:r>
                  </m:oMath>
                </a14:m>
                <a:endParaRPr lang="en-US" altLang="en-NL" sz="2800" dirty="0">
                  <a:latin typeface="Courier New" panose="02070309020205020404" pitchFamily="49" charset="0"/>
                  <a:ea typeface="ＭＳ Ｐゴシック" panose="020B0600070205080204" pitchFamily="34" charset="-128"/>
                </a:endParaRP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Return </a:t>
                </a:r>
                <a:r>
                  <a:rPr lang="en-US" altLang="en-NL" sz="2800" dirty="0">
                    <a:ea typeface="ＭＳ Ｐゴシック" panose="020B0600070205080204" pitchFamily="34" charset="-128"/>
                  </a:rPr>
                  <a:t> (</a:t>
                </a:r>
                <a14:m>
                  <m:oMath xmlns:m="http://schemas.openxmlformats.org/officeDocument/2006/math">
                    <m:r>
                      <a:rPr lang="en-US" altLang="en-NL" sz="2800" i="1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𝑒𝑥𝑖𝑠𝑡𝑠</m:t>
                    </m:r>
                  </m:oMath>
                </a14:m>
                <a:r>
                  <a:rPr lang="en-US" altLang="en-NL" sz="2800" dirty="0">
                    <a:latin typeface="Courier New" panose="02070309020205020404" pitchFamily="49" charset="0"/>
                    <a:ea typeface="ＭＳ Ｐゴシック" panose="020B0600070205080204" pitchFamily="34" charset="-128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en-NL" dirty="0"/>
                  <a:t>Declare </a:t>
                </a:r>
                <a14:m>
                  <m:oMath xmlns:m="http://schemas.openxmlformats.org/officeDocument/2006/math">
                    <m:r>
                      <a:rPr lang="en-US" altLang="en-NL" sz="280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𝑥</m:t>
                    </m:r>
                    <m:r>
                      <a:rPr lang="en-US" altLang="en-NL" sz="2800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 </m:t>
                    </m:r>
                  </m:oMath>
                </a14:m>
                <a:r>
                  <a:rPr lang="en-US" altLang="en-NL" dirty="0"/>
                  <a:t>is in S if the items hashes to a bit with 1 for every hashing function in </a:t>
                </a:r>
                <a14:m>
                  <m:oMath xmlns:m="http://schemas.openxmlformats.org/officeDocument/2006/math">
                    <m:r>
                      <a:rPr lang="en-US" altLang="en-NL" i="1" smtClean="0">
                        <a:latin typeface="Cambria Math" panose="02040503050406030204" pitchFamily="18" charset="0"/>
                        <a:ea typeface="ＭＳ Ｐゴシック" panose="020B0600070205080204" pitchFamily="34" charset="-128"/>
                      </a:rPr>
                      <m:t>𝐻</m:t>
                    </m:r>
                  </m:oMath>
                </a14:m>
                <a:endParaRPr lang="en-US" altLang="en-NL" sz="2800" dirty="0">
                  <a:latin typeface="Courier New" panose="02070309020205020404" pitchFamily="49" charset="0"/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  <a:blipFill>
                <a:blip r:embed="rId2"/>
                <a:stretch>
                  <a:fillRect l="-984" t="-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B17F3-9680-0B9E-BB4B-7EB05770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91405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en-US" dirty="0"/>
                  <a:t>Using the previous analysis</a:t>
                </a:r>
                <a:endParaRPr lang="en-US" altLang="en-US" b="0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US" altLang="en-US" dirty="0"/>
                  <a:t>We have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𝑘𝑀</m:t>
                    </m:r>
                  </m:oMath>
                </a14:m>
                <a:r>
                  <a:rPr lang="en-US" altLang="en-US" dirty="0"/>
                  <a:t> trials towards the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en-US" dirty="0"/>
                  <a:t> targets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en-US" dirty="0"/>
                  <a:t>Fractions of 1s is 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(1−</m:t>
                    </m:r>
                    <m:sSup>
                      <m:sSup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en-US" b="0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 </m:t>
                        </m:r>
                        <m:f>
                          <m:fPr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𝑘𝑀</m:t>
                            </m:r>
                          </m:num>
                          <m:den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sup>
                    </m:sSup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en-US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en-US" dirty="0"/>
                  <a:t>Hitting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dirty="0"/>
                  <a:t> 1s for the </a:t>
                </a:r>
                <a14:m>
                  <m:oMath xmlns:m="http://schemas.openxmlformats.org/officeDocument/2006/math"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en-US" dirty="0"/>
                  <a:t> hashing functions with probability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f>
                                  <m:fPr>
                                    <m:ctrlPr>
                                      <a:rPr lang="en-US" alt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𝑘𝑀</m:t>
                                    </m:r>
                                  </m:num>
                                  <m:den>
                                    <m:r>
                                      <a:rPr lang="en-US" altLang="en-US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altLang="en-US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en-US" dirty="0"/>
                  <a:t>is the probability of a FP </a:t>
                </a:r>
              </a:p>
              <a:p>
                <a:pPr>
                  <a:lnSpc>
                    <a:spcPct val="120000"/>
                  </a:lnSpc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  <a:blipFill>
                <a:blip r:embed="rId2"/>
                <a:stretch>
                  <a:fillRect l="-1107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B17F3-9680-0B9E-BB4B-7EB05770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0435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Bloom Filters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en-US" dirty="0"/>
                  <a:t>When (|S| = M = 1M and |B| = N = 8M):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alt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 b="0" i="0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alt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−0.125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=0.1175</m:t>
                    </m:r>
                  </m:oMath>
                </a14:m>
                <a:endParaRPr lang="en-US" alt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−0.</m:t>
                                </m:r>
                                <m:r>
                                  <a:rPr lang="en-US" alt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0489</m:t>
                    </m:r>
                  </m:oMath>
                </a14:m>
                <a:endParaRPr lang="en-US" altLang="en-US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en-US" dirty="0"/>
                  <a:t>For this example, optimal case when </a:t>
                </a:r>
                <a14:m>
                  <m:oMath xmlns:m="http://schemas.openxmlformats.org/officeDocument/2006/math">
                    <m:r>
                      <a:rPr lang="en-US" alt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alt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−0.</m:t>
                                </m:r>
                                <m:r>
                                  <a:rPr lang="en-US" alt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75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0216</m:t>
                    </m:r>
                  </m:oMath>
                </a14:m>
                <a:endParaRPr lang="en-US" alt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en-US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e</m:t>
                                </m:r>
                              </m:e>
                              <m:sup>
                                <m: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7/8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0229</m:t>
                    </m:r>
                  </m:oMath>
                </a14:m>
                <a:endParaRPr lang="en-US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320580" cy="4948280"/>
              </a:xfrm>
              <a:blipFill>
                <a:blip r:embed="rId2"/>
                <a:stretch>
                  <a:fillRect l="-1107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B17F3-9680-0B9E-BB4B-7EB05770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7872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11264" y="2715494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Counting Distinct Elements</a:t>
            </a:r>
            <a:endParaRPr lang="nl-NL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63A5E-BA66-4B4B-DEC9-AD977BD3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941351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Counting Distinct Elements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320580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Problem: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Data stream consists of a universe of elements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Maintain a count of the number of distinct elements seen so far</a:t>
            </a:r>
          </a:p>
          <a:p>
            <a:pPr>
              <a:lnSpc>
                <a:spcPct val="120000"/>
              </a:lnSpc>
            </a:pPr>
            <a:endParaRPr lang="en-AU" altLang="en-US" dirty="0"/>
          </a:p>
          <a:p>
            <a:pPr>
              <a:lnSpc>
                <a:spcPct val="120000"/>
              </a:lnSpc>
            </a:pPr>
            <a:r>
              <a:rPr lang="en-AU" altLang="en-US" dirty="0"/>
              <a:t>Obvious approach: Maintain the set of elements seen so far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That is, keep a hash table of all the distinct elements seen so far</a:t>
            </a:r>
            <a:endParaRPr lang="en-AU" altLang="en-US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B17F3-9680-0B9E-BB4B-7EB05770D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46298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Queries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320580" cy="4948280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How many different words are found among the Web pages being crawled at a site?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Unusually low or high numbers could indicate artificial pages (spam?)</a:t>
            </a:r>
          </a:p>
          <a:p>
            <a:pPr>
              <a:lnSpc>
                <a:spcPct val="120000"/>
              </a:lnSpc>
            </a:pPr>
            <a:endParaRPr lang="en-AU" altLang="en-US" dirty="0"/>
          </a:p>
          <a:p>
            <a:pPr>
              <a:lnSpc>
                <a:spcPct val="120000"/>
              </a:lnSpc>
            </a:pPr>
            <a:r>
              <a:rPr lang="en-AU" altLang="en-US" dirty="0"/>
              <a:t>How many different Web pages does each customer request in a week?</a:t>
            </a:r>
          </a:p>
          <a:p>
            <a:pPr>
              <a:lnSpc>
                <a:spcPct val="120000"/>
              </a:lnSpc>
            </a:pPr>
            <a:endParaRPr lang="en-AU" altLang="en-US" dirty="0"/>
          </a:p>
          <a:p>
            <a:pPr>
              <a:lnSpc>
                <a:spcPct val="120000"/>
              </a:lnSpc>
            </a:pPr>
            <a:r>
              <a:rPr lang="en-AU" altLang="en-US" dirty="0"/>
              <a:t>How many distinct customers accepted to receive promotional offers during the last month?</a:t>
            </a:r>
            <a:endParaRPr lang="en-AU" altLang="en-US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F2F8F-640E-294A-8935-88E849AF2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32310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Small Storage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320580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Real problem: What if we do not have space to maintain the set of elements seen so far?</a:t>
            </a:r>
          </a:p>
          <a:p>
            <a:pPr>
              <a:lnSpc>
                <a:spcPct val="120000"/>
              </a:lnSpc>
            </a:pPr>
            <a:endParaRPr lang="en-AU" altLang="en-US" dirty="0"/>
          </a:p>
          <a:p>
            <a:pPr>
              <a:lnSpc>
                <a:spcPct val="120000"/>
              </a:lnSpc>
            </a:pPr>
            <a:r>
              <a:rPr lang="en-AU" altLang="en-US" dirty="0"/>
              <a:t>Estimate the count in an unbiased way</a:t>
            </a:r>
          </a:p>
          <a:p>
            <a:pPr>
              <a:lnSpc>
                <a:spcPct val="120000"/>
              </a:lnSpc>
            </a:pPr>
            <a:endParaRPr lang="en-AU" altLang="en-US" dirty="0"/>
          </a:p>
          <a:p>
            <a:pPr>
              <a:lnSpc>
                <a:spcPct val="120000"/>
              </a:lnSpc>
            </a:pPr>
            <a:r>
              <a:rPr lang="en-AU" altLang="en-US" dirty="0"/>
              <a:t>Accept that the count may have a little error, but limit the probability that the error is large</a:t>
            </a:r>
            <a:endParaRPr lang="en-AU" altLang="en-US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77E95-8EDD-788F-0562-2E9993AB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55578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Flajolet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-Martin Approach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9669651" cy="494828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Pick a hash function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AU" altLang="en-US" dirty="0"/>
                  <a:t> that maps each of the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AU" altLang="en-US" dirty="0"/>
                  <a:t> elements to at least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alt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AU" alt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en-US" dirty="0"/>
                  <a:t>  bits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For each stream element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altLang="en-US" dirty="0"/>
                  <a:t>, let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en-US" dirty="0"/>
                  <a:t> be the number of trailing 0s in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en-US" dirty="0"/>
                  <a:t> = position of first 1 counting from the right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AU" altLang="en-US" dirty="0"/>
                  <a:t>E.g., say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) = 12</m:t>
                    </m:r>
                  </m:oMath>
                </a14:m>
                <a:r>
                  <a:rPr lang="en-AU" altLang="en-US" dirty="0"/>
                  <a:t>, then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AU" altLang="en-US" dirty="0"/>
                  <a:t> is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1100</m:t>
                    </m:r>
                  </m:oMath>
                </a14:m>
                <a:r>
                  <a:rPr lang="en-AU" altLang="en-US" dirty="0"/>
                  <a:t> in binary, so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) = 2</m:t>
                    </m:r>
                  </m:oMath>
                </a14:m>
                <a:endParaRPr lang="en-AU" altLang="en-US" dirty="0"/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Record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AU" altLang="en-US" dirty="0"/>
                  <a:t> = the maximum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AU" altLang="en-US" dirty="0"/>
                  <a:t> seen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 =</m:t>
                    </m:r>
                    <m:func>
                      <m:funcPr>
                        <m:ctrlPr>
                          <a:rPr lang="en-US" alt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AU" altLang="en-US" i="0" dirty="0" err="1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AU" altLang="en-US" i="1" dirty="0" err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AU" alt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AU" altLang="en-US" i="1" dirty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a:rPr lang="en-AU" altLang="en-US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AU" alt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AU" altLang="en-US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en-AU" altLang="en-US" dirty="0"/>
                  <a:t>,  over all the items a seen so far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Estimated number of distinct elements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alt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alt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AU" altLang="en-US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endParaRPr lang="en-AU" altLang="en-US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9669651" cy="4948280"/>
              </a:xfrm>
              <a:blipFill>
                <a:blip r:embed="rId2"/>
                <a:stretch>
                  <a:fillRect l="-1181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54733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11264" y="2715494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Classification</a:t>
            </a:r>
            <a:endParaRPr lang="nl-NL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63A5E-BA66-4B4B-DEC9-AD977BD3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19847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Data Streams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Offline classification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train a classifier (model) using labelled examples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the model is used to predict the label for unlabelled instances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Best practices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split the labelled dataset into train/validate/test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maybe use cross-validation to train accurate model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Online (streaming) classification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no clear separation between train/validate/test sets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51682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Classifying Data Streams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9325708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Restrictions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process one instance at a time, and inspect it (at most) once	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limited time to process each instance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limited memory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be ready to give predictions at any time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adapt to changes (concept drifts)</a:t>
            </a:r>
            <a:endParaRPr lang="en-AU" altLang="en-US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84224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Hoeffding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(HT)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9325708" cy="494828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With high probability, HT has similar accuracy as classical DT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Uses small sample – based on </a:t>
                </a:r>
                <a:r>
                  <a:rPr lang="en-AU" altLang="en-US" dirty="0" err="1"/>
                  <a:t>Hoeffding</a:t>
                </a:r>
                <a:r>
                  <a:rPr lang="en-AU" altLang="en-US" dirty="0"/>
                  <a:t> bound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AU" altLang="en-US" dirty="0"/>
                  <a:t> is a random variable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AU" altLang="en-US" dirty="0"/>
                  <a:t> is the domain of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 is the number of observations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AU" altLang="en-US" dirty="0"/>
                  <a:t> is the sample mean (computed using the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 observations)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With prob.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AU" altLang="en-US" dirty="0"/>
                  <a:t>, the distance from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AU" altLang="en-US" dirty="0"/>
                  <a:t> to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</m:acc>
                  </m:oMath>
                </a14:m>
                <a:r>
                  <a:rPr lang="en-AU" altLang="en-US" dirty="0"/>
                  <a:t> is at most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AU" altLang="en-US" dirty="0"/>
                  <a:t>, where: </a:t>
                </a:r>
              </a:p>
              <a:p>
                <a:pPr marL="4572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func>
                                <m:funcPr>
                                  <m:ctrlPr>
                                    <a:rPr lang="en-US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en-US"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altLang="en-US" i="1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num>
                            <m:den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AU" altLang="en-US" dirty="0"/>
              </a:p>
              <a:p>
                <a:pPr>
                  <a:lnSpc>
                    <a:spcPct val="120000"/>
                  </a:lnSpc>
                </a:pPr>
                <a:endParaRPr lang="en-AU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9325708" cy="4948280"/>
              </a:xfrm>
              <a:blipFill>
                <a:blip r:embed="rId2"/>
                <a:stretch>
                  <a:fillRect l="-1224" t="-7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51930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Hoeffding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Tree (HT) Algorithm 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3"/>
                <a:ext cx="9325708" cy="524159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b="0" dirty="0">
                    <a:solidFill>
                      <a:srgbClr val="008000"/>
                    </a:solidFill>
                    <a:effectLst/>
                    <a:latin typeface="Courier New" panose="02070309020205020404" pitchFamily="49" charset="0"/>
                  </a:rPr>
                  <a:t>Input: 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dirty="0">
                    <a:solidFill>
                      <a:srgbClr val="008000"/>
                    </a:solidFill>
                    <a:latin typeface="Courier New" panose="02070309020205020404" pitchFamily="49" charset="0"/>
                  </a:rPr>
                  <a:t>	</a:t>
                </a:r>
                <a:r>
                  <a:rPr lang="en-GB" sz="2200" b="0" dirty="0">
                    <a:solidFill>
                      <a:srgbClr val="008000"/>
                    </a:solidFill>
                    <a:effectLst/>
                    <a:latin typeface="Courier New" panose="02070309020205020404" pitchFamily="49" charset="0"/>
                  </a:rPr>
                  <a:t>S: </a:t>
                </a:r>
                <a:r>
                  <a:rPr lang="en-GB" sz="2200" b="0" dirty="0">
                    <a:effectLst/>
                    <a:latin typeface="Courier New" panose="02070309020205020404" pitchFamily="49" charset="0"/>
                  </a:rPr>
                  <a:t>sequence of observations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dirty="0">
                    <a:solidFill>
                      <a:srgbClr val="008000"/>
                    </a:solidFill>
                    <a:latin typeface="Courier New" panose="02070309020205020404" pitchFamily="49" charset="0"/>
                  </a:rPr>
                  <a:t>	A: </a:t>
                </a:r>
                <a:r>
                  <a:rPr lang="en-GB" sz="2200" dirty="0">
                    <a:latin typeface="Courier New" panose="02070309020205020404" pitchFamily="49" charset="0"/>
                  </a:rPr>
                  <a:t>set of attributes {A1, A2, …, Am}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b="0" dirty="0">
                    <a:solidFill>
                      <a:srgbClr val="008000"/>
                    </a:solidFill>
                    <a:effectLst/>
                    <a:latin typeface="Courier New" panose="02070309020205020404" pitchFamily="49" charset="0"/>
                  </a:rPr>
                  <a:t>	G(.): </a:t>
                </a:r>
                <a:r>
                  <a:rPr lang="en-GB" sz="2200" b="0" dirty="0">
                    <a:effectLst/>
                    <a:latin typeface="Courier New" panose="02070309020205020404" pitchFamily="49" charset="0"/>
                  </a:rPr>
                  <a:t>Attribute Selection Measure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dirty="0">
                    <a:solidFill>
                      <a:srgbClr val="008000"/>
                    </a:solidFill>
                    <a:latin typeface="Courier New" panose="02070309020205020404" pitchFamily="49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GB" sz="2200" b="0" dirty="0">
                    <a:solidFill>
                      <a:schemeClr val="accent6">
                        <a:lumMod val="75000"/>
                      </a:schemeClr>
                    </a:solidFill>
                    <a:effectLst/>
                    <a:latin typeface="Courier New" panose="02070309020205020404" pitchFamily="49" charset="0"/>
                  </a:rPr>
                  <a:t>:</a:t>
                </a:r>
                <a:r>
                  <a:rPr lang="en-GB" sz="2200" b="0" dirty="0"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</a:rPr>
                  <a:t> desired accuracy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dirty="0">
                    <a:solidFill>
                      <a:srgbClr val="008000"/>
                    </a:solidFill>
                    <a:latin typeface="Courier New" panose="02070309020205020404" pitchFamily="49" charset="0"/>
                  </a:rPr>
                  <a:t>Procedure: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	</a:t>
                </a:r>
                <a:r>
                  <a:rPr lang="en-GB" sz="2200" dirty="0">
                    <a:solidFill>
                      <a:srgbClr val="008000"/>
                    </a:solidFill>
                    <a:latin typeface="Courier New" panose="02070309020205020404" pitchFamily="49" charset="0"/>
                  </a:rPr>
                  <a:t>FOR</a:t>
                </a:r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each observation </a:t>
                </a:r>
                <a:r>
                  <a:rPr lang="en-GB" sz="2200" dirty="0">
                    <a:solidFill>
                      <a:srgbClr val="008000"/>
                    </a:solidFill>
                    <a:latin typeface="Courier New" panose="02070309020205020404" pitchFamily="49" charset="0"/>
                  </a:rPr>
                  <a:t>in</a:t>
                </a:r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S: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b="0" dirty="0"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</a:rPr>
                  <a:t>		compute G(Ai),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sz="22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2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200" b="0" i="1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200" b="0" dirty="0"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</a:rPr>
                  <a:t> 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		retrieve Ap, </a:t>
                </a:r>
                <a:r>
                  <a:rPr lang="en-GB" sz="2200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Aq</a:t>
                </a:r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(with two highest G value)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b="0" dirty="0">
                    <a:solidFill>
                      <a:srgbClr val="000000"/>
                    </a:solidFill>
                    <a:effectLst/>
                    <a:latin typeface="Courier New" panose="02070309020205020404" pitchFamily="49" charset="0"/>
                  </a:rPr>
                  <a:t>		</a:t>
                </a:r>
                <a:r>
                  <a:rPr lang="en-GB" sz="2200" dirty="0">
                    <a:solidFill>
                      <a:srgbClr val="008000"/>
                    </a:solidFill>
                    <a:latin typeface="Courier New" panose="02070309020205020404" pitchFamily="49" charset="0"/>
                  </a:rPr>
                  <a:t>if</a:t>
                </a:r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 (G(Ap) - G(</a:t>
                </a:r>
                <a:r>
                  <a:rPr lang="en-GB" sz="2200" dirty="0" err="1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Aq</a:t>
                </a:r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) &gt;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):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			split on Ap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			recurse to next node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GB" sz="2200" dirty="0">
                    <a:solidFill>
                      <a:srgbClr val="000000"/>
                    </a:solidFill>
                    <a:latin typeface="Courier New" panose="02070309020205020404" pitchFamily="49" charset="0"/>
                  </a:rPr>
                  <a:t>			</a:t>
                </a:r>
                <a:r>
                  <a:rPr lang="en-GB" sz="2200" dirty="0">
                    <a:solidFill>
                      <a:srgbClr val="008000"/>
                    </a:solidFill>
                    <a:latin typeface="Courier New" panose="02070309020205020404" pitchFamily="49" charset="0"/>
                  </a:rPr>
                  <a:t>break</a:t>
                </a:r>
              </a:p>
              <a:p>
                <a:pPr>
                  <a:lnSpc>
                    <a:spcPct val="120000"/>
                  </a:lnSpc>
                </a:pPr>
                <a:endParaRPr lang="en-AU" altLang="en-US" sz="2200" dirty="0">
                  <a:solidFill>
                    <a:srgbClr val="008000"/>
                  </a:solidFill>
                  <a:latin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3"/>
                <a:ext cx="9325708" cy="5241591"/>
              </a:xfrm>
              <a:blipFill>
                <a:blip r:embed="rId2"/>
                <a:stretch>
                  <a:fillRect l="-816" t="-1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49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44771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2">
            <a:extLst>
              <a:ext uri="{FF2B5EF4-FFF2-40B4-BE49-F238E27FC236}">
                <a16:creationId xmlns:a16="http://schemas.microsoft.com/office/drawing/2014/main" id="{A0CAFEA6-378E-4584-D93C-CEBA4AD65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6034" y="1134532"/>
            <a:ext cx="3810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61E2FEF1-DB96-B80E-6E0A-A057C512F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9434" y="1820332"/>
            <a:ext cx="812800" cy="304800"/>
          </a:xfrm>
          <a:prstGeom prst="rect">
            <a:avLst/>
          </a:prstGeom>
          <a:solidFill>
            <a:srgbClr val="66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Oval 4">
            <a:extLst>
              <a:ext uri="{FF2B5EF4-FFF2-40B4-BE49-F238E27FC236}">
                <a16:creationId xmlns:a16="http://schemas.microsoft.com/office/drawing/2014/main" id="{06364A5B-5241-C4B1-A357-E470821AE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2634" y="1820332"/>
            <a:ext cx="3810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" name="Text Box 5">
            <a:extLst>
              <a:ext uri="{FF2B5EF4-FFF2-40B4-BE49-F238E27FC236}">
                <a16:creationId xmlns:a16="http://schemas.microsoft.com/office/drawing/2014/main" id="{6681908C-03B3-6EF5-7315-34DA0A8E0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3010" y="1286932"/>
            <a:ext cx="4154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NL" sz="1800" i="1" dirty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40" name="Text Box 6">
            <a:extLst>
              <a:ext uri="{FF2B5EF4-FFF2-40B4-BE49-F238E27FC236}">
                <a16:creationId xmlns:a16="http://schemas.microsoft.com/office/drawing/2014/main" id="{1127362F-6F14-00D6-4961-D09CC1F9E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9800" y="1286932"/>
            <a:ext cx="4796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NL" sz="1800" i="1" dirty="0">
                <a:latin typeface="Times New Roman" panose="02020603050405020304" pitchFamily="18" charset="0"/>
              </a:rPr>
              <a:t>yes</a:t>
            </a:r>
            <a:endParaRPr lang="en-US" altLang="en-NL" sz="1800" dirty="0">
              <a:latin typeface="Times New Roman" panose="02020603050405020304" pitchFamily="18" charset="0"/>
            </a:endParaRPr>
          </a:p>
        </p:txBody>
      </p:sp>
      <p:sp>
        <p:nvSpPr>
          <p:cNvPr id="41" name="Line 7">
            <a:extLst>
              <a:ext uri="{FF2B5EF4-FFF2-40B4-BE49-F238E27FC236}">
                <a16:creationId xmlns:a16="http://schemas.microsoft.com/office/drawing/2014/main" id="{DEB15787-1749-AEA9-BC8A-257F91E99DE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11234" y="1363132"/>
            <a:ext cx="304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Line 8">
            <a:extLst>
              <a:ext uri="{FF2B5EF4-FFF2-40B4-BE49-F238E27FC236}">
                <a16:creationId xmlns:a16="http://schemas.microsoft.com/office/drawing/2014/main" id="{E000353C-FF48-0255-6A8B-DD68779D45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7034" y="1363132"/>
            <a:ext cx="304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Text Box 9">
            <a:extLst>
              <a:ext uri="{FF2B5EF4-FFF2-40B4-BE49-F238E27FC236}">
                <a16:creationId xmlns:a16="http://schemas.microsoft.com/office/drawing/2014/main" id="{8994A48D-3ED7-CB7C-49CC-88CF64E6D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1984" y="829216"/>
            <a:ext cx="1612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NL" sz="1800" dirty="0">
                <a:latin typeface="Times New Roman" panose="02020603050405020304" pitchFamily="18" charset="0"/>
              </a:rPr>
              <a:t>Parent Visiting</a:t>
            </a:r>
          </a:p>
        </p:txBody>
      </p:sp>
      <p:sp>
        <p:nvSpPr>
          <p:cNvPr id="44" name="Text Box 10">
            <a:extLst>
              <a:ext uri="{FF2B5EF4-FFF2-40B4-BE49-F238E27FC236}">
                <a16:creationId xmlns:a16="http://schemas.microsoft.com/office/drawing/2014/main" id="{0667DDD6-3244-5A1B-B160-3018137ED7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6374" y="1806600"/>
            <a:ext cx="9605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NL" sz="1800" dirty="0">
                <a:latin typeface="Times New Roman" panose="02020603050405020304" pitchFamily="18" charset="0"/>
              </a:rPr>
              <a:t>Cinema </a:t>
            </a:r>
          </a:p>
        </p:txBody>
      </p:sp>
      <p:sp>
        <p:nvSpPr>
          <p:cNvPr id="46" name="Rectangle 12">
            <a:extLst>
              <a:ext uri="{FF2B5EF4-FFF2-40B4-BE49-F238E27FC236}">
                <a16:creationId xmlns:a16="http://schemas.microsoft.com/office/drawing/2014/main" id="{1329A009-0625-D7AF-88E8-773397E31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2267" y="5274731"/>
            <a:ext cx="1164167" cy="369331"/>
          </a:xfrm>
          <a:prstGeom prst="rect">
            <a:avLst/>
          </a:prstGeom>
          <a:solidFill>
            <a:srgbClr val="66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" name="Line 13">
            <a:extLst>
              <a:ext uri="{FF2B5EF4-FFF2-40B4-BE49-F238E27FC236}">
                <a16:creationId xmlns:a16="http://schemas.microsoft.com/office/drawing/2014/main" id="{9A7ED43D-DE6E-167C-FD6E-66CC3C5FD9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54034" y="4665132"/>
            <a:ext cx="381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Line 14">
            <a:extLst>
              <a:ext uri="{FF2B5EF4-FFF2-40B4-BE49-F238E27FC236}">
                <a16:creationId xmlns:a16="http://schemas.microsoft.com/office/drawing/2014/main" id="{C034D20E-422E-AFD4-C627-B90075901D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6034" y="4665132"/>
            <a:ext cx="381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" name="Text Box 15">
            <a:extLst>
              <a:ext uri="{FF2B5EF4-FFF2-40B4-BE49-F238E27FC236}">
                <a16:creationId xmlns:a16="http://schemas.microsoft.com/office/drawing/2014/main" id="{9C79295E-0F25-8741-DE42-04E0CBC38E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5331" y="4785266"/>
            <a:ext cx="8910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NL" sz="1800" i="1" dirty="0">
                <a:latin typeface="Times New Roman" panose="02020603050405020304" pitchFamily="18" charset="0"/>
              </a:rPr>
              <a:t>Sunny</a:t>
            </a:r>
          </a:p>
        </p:txBody>
      </p:sp>
      <p:sp>
        <p:nvSpPr>
          <p:cNvPr id="50" name="Oval 16">
            <a:extLst>
              <a:ext uri="{FF2B5EF4-FFF2-40B4-BE49-F238E27FC236}">
                <a16:creationId xmlns:a16="http://schemas.microsoft.com/office/drawing/2014/main" id="{4D0038A8-7FC4-E874-BC6B-8E864C5E6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434" y="3750732"/>
            <a:ext cx="3810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Oval 18">
            <a:extLst>
              <a:ext uri="{FF2B5EF4-FFF2-40B4-BE49-F238E27FC236}">
                <a16:creationId xmlns:a16="http://schemas.microsoft.com/office/drawing/2014/main" id="{C5D0A7BA-DC09-E476-F767-D029DC8BA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5034" y="4436532"/>
            <a:ext cx="381000" cy="304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" name="Text Box 19">
            <a:extLst>
              <a:ext uri="{FF2B5EF4-FFF2-40B4-BE49-F238E27FC236}">
                <a16:creationId xmlns:a16="http://schemas.microsoft.com/office/drawing/2014/main" id="{9BCA01EB-F3DA-79CC-9C02-8237F5DFC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410" y="3903132"/>
            <a:ext cx="41549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NL" sz="1800" i="1" dirty="0">
                <a:latin typeface="Times New Roman" panose="02020603050405020304" pitchFamily="18" charset="0"/>
              </a:rPr>
              <a:t>no</a:t>
            </a:r>
          </a:p>
        </p:txBody>
      </p:sp>
      <p:sp>
        <p:nvSpPr>
          <p:cNvPr id="53" name="Text Box 20">
            <a:extLst>
              <a:ext uri="{FF2B5EF4-FFF2-40B4-BE49-F238E27FC236}">
                <a16:creationId xmlns:a16="http://schemas.microsoft.com/office/drawing/2014/main" id="{40C51B3A-1AE7-C019-8DBE-92241A7BC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2200" y="3903132"/>
            <a:ext cx="4796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NL" sz="1800" i="1" dirty="0">
                <a:latin typeface="Times New Roman" panose="02020603050405020304" pitchFamily="18" charset="0"/>
              </a:rPr>
              <a:t>yes</a:t>
            </a:r>
            <a:endParaRPr lang="en-US" altLang="en-NL" sz="1800" dirty="0">
              <a:latin typeface="Times New Roman" panose="02020603050405020304" pitchFamily="18" charset="0"/>
            </a:endParaRPr>
          </a:p>
        </p:txBody>
      </p:sp>
      <p:sp>
        <p:nvSpPr>
          <p:cNvPr id="54" name="Line 21">
            <a:extLst>
              <a:ext uri="{FF2B5EF4-FFF2-40B4-BE49-F238E27FC236}">
                <a16:creationId xmlns:a16="http://schemas.microsoft.com/office/drawing/2014/main" id="{963783AE-F56E-6949-5FC5-93F9513B3A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63634" y="3979332"/>
            <a:ext cx="304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" name="Line 22">
            <a:extLst>
              <a:ext uri="{FF2B5EF4-FFF2-40B4-BE49-F238E27FC236}">
                <a16:creationId xmlns:a16="http://schemas.microsoft.com/office/drawing/2014/main" id="{F0B1C318-0DCF-A160-E43B-B4ACB9D508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49434" y="3979332"/>
            <a:ext cx="30480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Box 24">
                <a:extLst>
                  <a:ext uri="{FF2B5EF4-FFF2-40B4-BE49-F238E27FC236}">
                    <a16:creationId xmlns:a16="http://schemas.microsoft.com/office/drawing/2014/main" id="{FFE6AEF4-7DA3-0135-EA6E-2FF04F1373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061" y="3940199"/>
                <a:ext cx="340346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𝑤𝑒𝑎𝑡h𝑒𝑟</m:t>
                          </m:r>
                        </m:e>
                      </m:d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h𝑎𝑠</m:t>
                          </m:r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𝑐𝑎𝑟</m:t>
                          </m:r>
                        </m:e>
                      </m:d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NL" sz="18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 Box 24">
                <a:extLst>
                  <a:ext uri="{FF2B5EF4-FFF2-40B4-BE49-F238E27FC236}">
                    <a16:creationId xmlns:a16="http://schemas.microsoft.com/office/drawing/2014/main" id="{FFE6AEF4-7DA3-0135-EA6E-2FF04F137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061" y="3940199"/>
                <a:ext cx="3403461" cy="369332"/>
              </a:xfrm>
              <a:prstGeom prst="rect">
                <a:avLst/>
              </a:prstGeom>
              <a:blipFill>
                <a:blip r:embed="rId2"/>
                <a:stretch>
                  <a:fillRect l="-372" b="-166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Oval 26">
            <a:extLst>
              <a:ext uri="{FF2B5EF4-FFF2-40B4-BE49-F238E27FC236}">
                <a16:creationId xmlns:a16="http://schemas.microsoft.com/office/drawing/2014/main" id="{DE9C806A-0F5D-8609-F1C8-A9AD4B9FC7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1713" y="5274731"/>
            <a:ext cx="532911" cy="29633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Rectangle 27">
            <a:extLst>
              <a:ext uri="{FF2B5EF4-FFF2-40B4-BE49-F238E27FC236}">
                <a16:creationId xmlns:a16="http://schemas.microsoft.com/office/drawing/2014/main" id="{861EF400-9A72-ACBC-C846-7187BDA08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0134" y="907520"/>
            <a:ext cx="3860800" cy="74612"/>
          </a:xfrm>
          <a:prstGeom prst="rect">
            <a:avLst/>
          </a:prstGeom>
          <a:solidFill>
            <a:srgbClr val="FF99CC"/>
          </a:solidFill>
          <a:ln w="28575">
            <a:solidFill>
              <a:schemeClr val="tx1"/>
            </a:solidFill>
            <a:miter lim="800000"/>
            <a:headEnd type="none" w="med" len="sm"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59" name="Freeform 28">
            <a:extLst>
              <a:ext uri="{FF2B5EF4-FFF2-40B4-BE49-F238E27FC236}">
                <a16:creationId xmlns:a16="http://schemas.microsoft.com/office/drawing/2014/main" id="{27A5B8CB-FD79-DE18-3857-9DC6BBAFF4A9}"/>
              </a:ext>
            </a:extLst>
          </p:cNvPr>
          <p:cNvSpPr>
            <a:spLocks/>
          </p:cNvSpPr>
          <p:nvPr/>
        </p:nvSpPr>
        <p:spPr bwMode="auto">
          <a:xfrm>
            <a:off x="5477934" y="905932"/>
            <a:ext cx="1117600" cy="1003300"/>
          </a:xfrm>
          <a:custGeom>
            <a:avLst/>
            <a:gdLst>
              <a:gd name="T0" fmla="*/ 584 w 584"/>
              <a:gd name="T1" fmla="*/ 0 h 552"/>
              <a:gd name="T2" fmla="*/ 328 w 584"/>
              <a:gd name="T3" fmla="*/ 184 h 552"/>
              <a:gd name="T4" fmla="*/ 0 w 584"/>
              <a:gd name="T5" fmla="*/ 552 h 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584" h="552">
                <a:moveTo>
                  <a:pt x="584" y="0"/>
                </a:moveTo>
                <a:cubicBezTo>
                  <a:pt x="504" y="46"/>
                  <a:pt x="425" y="92"/>
                  <a:pt x="328" y="184"/>
                </a:cubicBezTo>
                <a:cubicBezTo>
                  <a:pt x="231" y="276"/>
                  <a:pt x="115" y="414"/>
                  <a:pt x="0" y="55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60" name="Text Box 29">
            <a:extLst>
              <a:ext uri="{FF2B5EF4-FFF2-40B4-BE49-F238E27FC236}">
                <a16:creationId xmlns:a16="http://schemas.microsoft.com/office/drawing/2014/main" id="{73ABE11B-CEA7-A1CD-AF6E-AB75E130D1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1722" y="3552295"/>
            <a:ext cx="1706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med" len="sm"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altLang="en-NL" sz="2000">
                <a:latin typeface="Comic Sans MS" panose="030F0902030302020204" pitchFamily="66" charset="0"/>
              </a:rPr>
              <a:t>Data Stream</a:t>
            </a:r>
          </a:p>
        </p:txBody>
      </p:sp>
      <p:sp>
        <p:nvSpPr>
          <p:cNvPr id="61" name="AutoShape 30">
            <a:extLst>
              <a:ext uri="{FF2B5EF4-FFF2-40B4-BE49-F238E27FC236}">
                <a16:creationId xmlns:a16="http://schemas.microsoft.com/office/drawing/2014/main" id="{0B682854-83D4-BC92-DD0B-0ECBA3FA1E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0634" y="2556932"/>
            <a:ext cx="571500" cy="609600"/>
          </a:xfrm>
          <a:prstGeom prst="downArrow">
            <a:avLst>
              <a:gd name="adj1" fmla="val 50000"/>
              <a:gd name="adj2" fmla="val 26667"/>
            </a:avLst>
          </a:prstGeom>
          <a:solidFill>
            <a:srgbClr val="CCFFCC"/>
          </a:solidFill>
          <a:ln w="28575">
            <a:solidFill>
              <a:schemeClr val="tx1"/>
            </a:solidFill>
            <a:miter lim="800000"/>
            <a:headEnd type="none" w="med" len="sm"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62" name="Rectangle 31">
            <a:extLst>
              <a:ext uri="{FF2B5EF4-FFF2-40B4-BE49-F238E27FC236}">
                <a16:creationId xmlns:a16="http://schemas.microsoft.com/office/drawing/2014/main" id="{DCA7A536-789B-29C1-F9AA-76DDED65EA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8234" y="3472920"/>
            <a:ext cx="3860800" cy="74612"/>
          </a:xfrm>
          <a:prstGeom prst="rect">
            <a:avLst/>
          </a:prstGeom>
          <a:solidFill>
            <a:srgbClr val="FF99CC"/>
          </a:solidFill>
          <a:ln w="28575">
            <a:solidFill>
              <a:schemeClr val="tx1"/>
            </a:solidFill>
            <a:miter lim="800000"/>
            <a:headEnd type="none" w="med" len="sm"/>
            <a:tailEnd type="none" w="med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63" name="Text Box 32">
            <a:extLst>
              <a:ext uri="{FF2B5EF4-FFF2-40B4-BE49-F238E27FC236}">
                <a16:creationId xmlns:a16="http://schemas.microsoft.com/office/drawing/2014/main" id="{D6490EE2-D97C-5B3A-CE1F-8AF869A6D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2822" y="948795"/>
            <a:ext cx="170656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 type="none" w="med" len="sm"/>
                <a:tailEnd type="none" w="med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 algn="ctr" eaLnBrk="0" hangingPunct="0"/>
            <a:r>
              <a:rPr lang="en-US" altLang="en-NL" sz="2000">
                <a:latin typeface="Comic Sans MS" panose="030F0902030302020204" pitchFamily="66" charset="0"/>
              </a:rPr>
              <a:t>Data Stream</a:t>
            </a:r>
          </a:p>
        </p:txBody>
      </p:sp>
      <p:sp>
        <p:nvSpPr>
          <p:cNvPr id="64" name="Freeform 33">
            <a:extLst>
              <a:ext uri="{FF2B5EF4-FFF2-40B4-BE49-F238E27FC236}">
                <a16:creationId xmlns:a16="http://schemas.microsoft.com/office/drawing/2014/main" id="{F49389E5-19EE-9F40-7B78-818648A743F0}"/>
              </a:ext>
            </a:extLst>
          </p:cNvPr>
          <p:cNvSpPr>
            <a:spLocks/>
          </p:cNvSpPr>
          <p:nvPr/>
        </p:nvSpPr>
        <p:spPr bwMode="auto">
          <a:xfrm>
            <a:off x="5687484" y="3509432"/>
            <a:ext cx="895350" cy="1701800"/>
          </a:xfrm>
          <a:custGeom>
            <a:avLst/>
            <a:gdLst>
              <a:gd name="T0" fmla="*/ 564 w 564"/>
              <a:gd name="T1" fmla="*/ 0 h 1072"/>
              <a:gd name="T2" fmla="*/ 260 w 564"/>
              <a:gd name="T3" fmla="*/ 344 h 1072"/>
              <a:gd name="T4" fmla="*/ 12 w 564"/>
              <a:gd name="T5" fmla="*/ 640 h 1072"/>
              <a:gd name="T6" fmla="*/ 188 w 564"/>
              <a:gd name="T7" fmla="*/ 1072 h 10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64" h="1072">
                <a:moveTo>
                  <a:pt x="564" y="0"/>
                </a:moveTo>
                <a:cubicBezTo>
                  <a:pt x="458" y="118"/>
                  <a:pt x="352" y="237"/>
                  <a:pt x="260" y="344"/>
                </a:cubicBezTo>
                <a:cubicBezTo>
                  <a:pt x="168" y="451"/>
                  <a:pt x="24" y="519"/>
                  <a:pt x="12" y="640"/>
                </a:cubicBezTo>
                <a:cubicBezTo>
                  <a:pt x="0" y="761"/>
                  <a:pt x="94" y="916"/>
                  <a:pt x="188" y="1072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>
            <a:spAutoFit/>
          </a:bodyPr>
          <a:lstStyle/>
          <a:p>
            <a:endParaRPr lang="en-US"/>
          </a:p>
        </p:txBody>
      </p:sp>
      <p:sp>
        <p:nvSpPr>
          <p:cNvPr id="66" name="Text Box 9">
            <a:extLst>
              <a:ext uri="{FF2B5EF4-FFF2-40B4-BE49-F238E27FC236}">
                <a16:creationId xmlns:a16="http://schemas.microsoft.com/office/drawing/2014/main" id="{A425DA98-5AB2-E919-77E5-744819A54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0559" y="3367113"/>
            <a:ext cx="1612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NL" sz="1800" dirty="0">
                <a:latin typeface="Times New Roman" panose="02020603050405020304" pitchFamily="18" charset="0"/>
              </a:rPr>
              <a:t>Parent Visiting</a:t>
            </a:r>
          </a:p>
        </p:txBody>
      </p:sp>
      <p:sp>
        <p:nvSpPr>
          <p:cNvPr id="67" name="Rectangle 3">
            <a:extLst>
              <a:ext uri="{FF2B5EF4-FFF2-40B4-BE49-F238E27FC236}">
                <a16:creationId xmlns:a16="http://schemas.microsoft.com/office/drawing/2014/main" id="{575D5882-F926-2535-327A-E03D08D23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6938" y="4448677"/>
            <a:ext cx="812800" cy="304800"/>
          </a:xfrm>
          <a:prstGeom prst="rect">
            <a:avLst/>
          </a:prstGeom>
          <a:solidFill>
            <a:srgbClr val="66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8" name="Text Box 10">
            <a:extLst>
              <a:ext uri="{FF2B5EF4-FFF2-40B4-BE49-F238E27FC236}">
                <a16:creationId xmlns:a16="http://schemas.microsoft.com/office/drawing/2014/main" id="{D3CEE29A-6F55-8BE7-BF18-7CE7078AA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3878" y="4434945"/>
            <a:ext cx="9605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NL" sz="1800" dirty="0">
                <a:latin typeface="Times New Roman" panose="02020603050405020304" pitchFamily="18" charset="0"/>
              </a:rPr>
              <a:t>Cinema </a:t>
            </a:r>
          </a:p>
        </p:txBody>
      </p:sp>
      <p:sp>
        <p:nvSpPr>
          <p:cNvPr id="69" name="Text Box 9">
            <a:extLst>
              <a:ext uri="{FF2B5EF4-FFF2-40B4-BE49-F238E27FC236}">
                <a16:creationId xmlns:a16="http://schemas.microsoft.com/office/drawing/2014/main" id="{CC50BCAC-7693-CD57-41E7-0815FA9D43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9393" y="4146031"/>
            <a:ext cx="1612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NL" sz="1800" dirty="0">
                <a:latin typeface="Times New Roman" panose="02020603050405020304" pitchFamily="18" charset="0"/>
              </a:rPr>
              <a:t>Weather</a:t>
            </a:r>
          </a:p>
        </p:txBody>
      </p:sp>
      <p:sp>
        <p:nvSpPr>
          <p:cNvPr id="70" name="Text Box 15">
            <a:extLst>
              <a:ext uri="{FF2B5EF4-FFF2-40B4-BE49-F238E27FC236}">
                <a16:creationId xmlns:a16="http://schemas.microsoft.com/office/drawing/2014/main" id="{96DAA0E1-C858-741A-91C3-BE92F3AED9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04995" y="4816526"/>
            <a:ext cx="8910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NL" sz="1800" i="1" dirty="0">
                <a:latin typeface="Times New Roman" panose="02020603050405020304" pitchFamily="18" charset="0"/>
              </a:rPr>
              <a:t>Windy</a:t>
            </a:r>
          </a:p>
        </p:txBody>
      </p:sp>
      <p:sp>
        <p:nvSpPr>
          <p:cNvPr id="71" name="Text Box 10">
            <a:extLst>
              <a:ext uri="{FF2B5EF4-FFF2-40B4-BE49-F238E27FC236}">
                <a16:creationId xmlns:a16="http://schemas.microsoft.com/office/drawing/2014/main" id="{E8AE8CFD-CF99-1274-0513-6E44885AE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4443" y="5274730"/>
            <a:ext cx="13185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NL" sz="1800" dirty="0">
                <a:latin typeface="Times New Roman" panose="02020603050405020304" pitchFamily="18" charset="0"/>
              </a:rPr>
              <a:t>Play Tennis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 Box 24">
                <a:extLst>
                  <a:ext uri="{FF2B5EF4-FFF2-40B4-BE49-F238E27FC236}">
                    <a16:creationId xmlns:a16="http://schemas.microsoft.com/office/drawing/2014/main" id="{5DCE6E75-62C9-ADA0-B64E-CA475C051D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79759" y="5090064"/>
                <a:ext cx="3403461" cy="36933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𝑚𝑜𝑛𝑒𝑦</m:t>
                          </m:r>
                        </m:e>
                      </m:d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h𝑎𝑠</m:t>
                          </m:r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en-NL" sz="1800" b="0" i="1" smtClean="0">
                              <a:latin typeface="Cambria Math" panose="02040503050406030204" pitchFamily="18" charset="0"/>
                            </a:rPr>
                            <m:t>𝑐𝑎𝑟</m:t>
                          </m:r>
                        </m:e>
                      </m:d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altLang="en-NL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en-NL" sz="18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Text Box 24">
                <a:extLst>
                  <a:ext uri="{FF2B5EF4-FFF2-40B4-BE49-F238E27FC236}">
                    <a16:creationId xmlns:a16="http://schemas.microsoft.com/office/drawing/2014/main" id="{5DCE6E75-62C9-ADA0-B64E-CA475C051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79759" y="5090064"/>
                <a:ext cx="3403461" cy="369332"/>
              </a:xfrm>
              <a:prstGeom prst="rect">
                <a:avLst/>
              </a:prstGeom>
              <a:blipFill>
                <a:blip r:embed="rId3"/>
                <a:stretch>
                  <a:fillRect b="-1290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Text Box 9">
            <a:extLst>
              <a:ext uri="{FF2B5EF4-FFF2-40B4-BE49-F238E27FC236}">
                <a16:creationId xmlns:a16="http://schemas.microsoft.com/office/drawing/2014/main" id="{E55CE879-C81A-230C-5A7A-CD758FAEE0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8109" y="5075224"/>
            <a:ext cx="1612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NL" sz="1800" dirty="0">
                <a:latin typeface="Times New Roman" panose="02020603050405020304" pitchFamily="18" charset="0"/>
              </a:rPr>
              <a:t>Money</a:t>
            </a:r>
          </a:p>
        </p:txBody>
      </p:sp>
      <p:sp>
        <p:nvSpPr>
          <p:cNvPr id="74" name="Line 13">
            <a:extLst>
              <a:ext uri="{FF2B5EF4-FFF2-40B4-BE49-F238E27FC236}">
                <a16:creationId xmlns:a16="http://schemas.microsoft.com/office/drawing/2014/main" id="{4C91AE65-5783-804B-A643-F2A03CA566F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05370" y="5562052"/>
            <a:ext cx="381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5" name="Line 14">
            <a:extLst>
              <a:ext uri="{FF2B5EF4-FFF2-40B4-BE49-F238E27FC236}">
                <a16:creationId xmlns:a16="http://schemas.microsoft.com/office/drawing/2014/main" id="{957225AA-B5AC-8038-3774-5BBC74CE3338}"/>
              </a:ext>
            </a:extLst>
          </p:cNvPr>
          <p:cNvSpPr>
            <a:spLocks noChangeShapeType="1"/>
          </p:cNvSpPr>
          <p:nvPr/>
        </p:nvSpPr>
        <p:spPr bwMode="auto">
          <a:xfrm>
            <a:off x="6067370" y="5562052"/>
            <a:ext cx="3810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" name="Text Box 15">
            <a:extLst>
              <a:ext uri="{FF2B5EF4-FFF2-40B4-BE49-F238E27FC236}">
                <a16:creationId xmlns:a16="http://schemas.microsoft.com/office/drawing/2014/main" id="{682F7B63-ED13-F9D6-EAF8-919BC30B2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6667" y="5682186"/>
            <a:ext cx="8910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NL" sz="1800" i="1" dirty="0">
                <a:latin typeface="Times New Roman" panose="02020603050405020304" pitchFamily="18" charset="0"/>
              </a:rPr>
              <a:t>Rich</a:t>
            </a:r>
          </a:p>
        </p:txBody>
      </p:sp>
      <p:sp>
        <p:nvSpPr>
          <p:cNvPr id="77" name="Text Box 15">
            <a:extLst>
              <a:ext uri="{FF2B5EF4-FFF2-40B4-BE49-F238E27FC236}">
                <a16:creationId xmlns:a16="http://schemas.microsoft.com/office/drawing/2014/main" id="{D3F9516A-0240-2F52-64CB-CEE9C93046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6331" y="5713446"/>
            <a:ext cx="89100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en-NL" sz="1800" i="1" dirty="0">
                <a:latin typeface="Times New Roman" panose="02020603050405020304" pitchFamily="18" charset="0"/>
              </a:rPr>
              <a:t>Poor</a:t>
            </a:r>
          </a:p>
        </p:txBody>
      </p:sp>
      <p:sp>
        <p:nvSpPr>
          <p:cNvPr id="78" name="Rectangle 12">
            <a:extLst>
              <a:ext uri="{FF2B5EF4-FFF2-40B4-BE49-F238E27FC236}">
                <a16:creationId xmlns:a16="http://schemas.microsoft.com/office/drawing/2014/main" id="{EAFA42A7-14E1-F323-F371-B885CF352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3950" y="6205567"/>
            <a:ext cx="1164167" cy="369331"/>
          </a:xfrm>
          <a:prstGeom prst="rect">
            <a:avLst/>
          </a:prstGeom>
          <a:solidFill>
            <a:srgbClr val="66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" name="Text Box 10">
            <a:extLst>
              <a:ext uri="{FF2B5EF4-FFF2-40B4-BE49-F238E27FC236}">
                <a16:creationId xmlns:a16="http://schemas.microsoft.com/office/drawing/2014/main" id="{DC218B88-DE4B-40C7-1A12-BB68AE24E6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0649" y="6205566"/>
            <a:ext cx="10695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NL" sz="1800" dirty="0">
                <a:latin typeface="Times New Roman" panose="02020603050405020304" pitchFamily="18" charset="0"/>
              </a:rPr>
              <a:t>Shopping</a:t>
            </a:r>
          </a:p>
        </p:txBody>
      </p:sp>
      <p:sp>
        <p:nvSpPr>
          <p:cNvPr id="80" name="Rectangle 12">
            <a:extLst>
              <a:ext uri="{FF2B5EF4-FFF2-40B4-BE49-F238E27FC236}">
                <a16:creationId xmlns:a16="http://schemas.microsoft.com/office/drawing/2014/main" id="{5D598727-68E4-FC54-88D0-DC8BCFF19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4785" y="6176944"/>
            <a:ext cx="1164167" cy="369331"/>
          </a:xfrm>
          <a:prstGeom prst="rect">
            <a:avLst/>
          </a:prstGeom>
          <a:solidFill>
            <a:srgbClr val="66CC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" name="Text Box 10">
            <a:extLst>
              <a:ext uri="{FF2B5EF4-FFF2-40B4-BE49-F238E27FC236}">
                <a16:creationId xmlns:a16="http://schemas.microsoft.com/office/drawing/2014/main" id="{F528BE14-64B1-6E11-C683-DC96197BC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4842" y="6176943"/>
            <a:ext cx="90281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altLang="en-NL" sz="1800" dirty="0">
                <a:latin typeface="Times New Roman" panose="02020603050405020304" pitchFamily="18" charset="0"/>
              </a:rPr>
              <a:t>Cinema</a:t>
            </a:r>
          </a:p>
        </p:txBody>
      </p:sp>
    </p:spTree>
    <p:extLst>
      <p:ext uri="{BB962C8B-B14F-4D97-AF65-F5344CB8AC3E}">
        <p14:creationId xmlns:p14="http://schemas.microsoft.com/office/powerpoint/2010/main" val="51702913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 Strengths and Weaknesses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5166-E312-42E3-86E9-D4580053E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9325708" cy="494828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AU" altLang="en-US" dirty="0"/>
              <a:t>Strengths 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Scales better than traditional methods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Incremental: new examples are added as they come</a:t>
            </a:r>
          </a:p>
          <a:p>
            <a:pPr>
              <a:lnSpc>
                <a:spcPct val="120000"/>
              </a:lnSpc>
            </a:pPr>
            <a:r>
              <a:rPr lang="en-AU" altLang="en-US" dirty="0"/>
              <a:t>Weaknesses 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Could spend a lot of time with ties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Memory used with tree expansion</a:t>
            </a:r>
          </a:p>
          <a:p>
            <a:pPr lvl="1">
              <a:lnSpc>
                <a:spcPct val="120000"/>
              </a:lnSpc>
            </a:pPr>
            <a:r>
              <a:rPr lang="en-AU" altLang="en-US" dirty="0"/>
              <a:t>Number of candidate attributes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696933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Fast Decision Tree (VFDT)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9325708" cy="494828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Modifications to </a:t>
                </a:r>
                <a:r>
                  <a:rPr lang="en-AU" altLang="en-US" dirty="0" err="1"/>
                  <a:t>Hoeffding</a:t>
                </a:r>
                <a:r>
                  <a:rPr lang="en-AU" altLang="en-US" dirty="0"/>
                  <a:t> Tree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Near-ties broken more aggressively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AU" altLang="en-US" dirty="0"/>
                  <a:t> computed every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AU" altLang="en-US" dirty="0"/>
                  <a:t> (a user defined parameter)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Deactivates certain leaves to save memory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Poor attributes dropped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Initialize with traditional learner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Compare to </a:t>
                </a:r>
                <a:r>
                  <a:rPr lang="en-AU" altLang="en-US" dirty="0" err="1"/>
                  <a:t>Hoeffding</a:t>
                </a:r>
                <a:r>
                  <a:rPr lang="en-AU" altLang="en-US" dirty="0"/>
                  <a:t> Tree: Better time and memory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Compare to traditional decision tree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Similar accuracy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Better runtime with 1.61 million examples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AU" altLang="en-US" dirty="0"/>
                  <a:t>21 minutes for VFDT compared to 24 hours for C4.5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9325708" cy="4948280"/>
              </a:xfrm>
              <a:blipFill>
                <a:blip r:embed="rId2"/>
                <a:stretch>
                  <a:fillRect l="-1088" t="-1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53508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62" y="4465674"/>
            <a:ext cx="4786138" cy="16639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Wrap-Up </a:t>
            </a:r>
          </a:p>
        </p:txBody>
      </p:sp>
      <p:pic>
        <p:nvPicPr>
          <p:cNvPr id="2050" name="Picture 2" descr="Wrap gifts sustainably | Official HÖGL Webshop">
            <a:extLst>
              <a:ext uri="{FF2B5EF4-FFF2-40B4-BE49-F238E27FC236}">
                <a16:creationId xmlns:a16="http://schemas.microsoft.com/office/drawing/2014/main" id="{22BD9D60-C944-FD4F-9D3A-B57BB3D540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50"/>
          <a:stretch/>
        </p:blipFill>
        <p:spPr bwMode="auto">
          <a:xfrm>
            <a:off x="1320209" y="1459655"/>
            <a:ext cx="4775791" cy="268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C45A49BA-F1EE-4748-AA1D-3967F9097D38}"/>
              </a:ext>
            </a:extLst>
          </p:cNvPr>
          <p:cNvSpPr txBox="1">
            <a:spLocks/>
          </p:cNvSpPr>
          <p:nvPr/>
        </p:nvSpPr>
        <p:spPr>
          <a:xfrm>
            <a:off x="7600012" y="818707"/>
            <a:ext cx="4482059" cy="5310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595959"/>
                </a:solidFill>
              </a:rPr>
              <a:t>We discussed </a:t>
            </a:r>
          </a:p>
          <a:p>
            <a:pPr lvl="1"/>
            <a:r>
              <a:rPr lang="en-US" altLang="en-US" dirty="0">
                <a:solidFill>
                  <a:srgbClr val="595959"/>
                </a:solidFill>
              </a:rPr>
              <a:t>The data streams </a:t>
            </a:r>
          </a:p>
          <a:p>
            <a:pPr lvl="1"/>
            <a:r>
              <a:rPr lang="en-US" altLang="en-US" dirty="0">
                <a:solidFill>
                  <a:srgbClr val="595959"/>
                </a:solidFill>
              </a:rPr>
              <a:t>Models for handling data streams</a:t>
            </a:r>
          </a:p>
          <a:p>
            <a:pPr lvl="1"/>
            <a:r>
              <a:rPr lang="en-US" altLang="en-US" dirty="0">
                <a:solidFill>
                  <a:srgbClr val="595959"/>
                </a:solidFill>
              </a:rPr>
              <a:t>Example queries over data streams (filtering, counting distinct elements)</a:t>
            </a:r>
          </a:p>
          <a:p>
            <a:pPr lvl="1"/>
            <a:r>
              <a:rPr lang="en-US" altLang="en-US" dirty="0">
                <a:solidFill>
                  <a:srgbClr val="595959"/>
                </a:solidFill>
              </a:rPr>
              <a:t>Classification and Clustering of Data streams</a:t>
            </a:r>
          </a:p>
        </p:txBody>
      </p:sp>
    </p:spTree>
    <p:extLst>
      <p:ext uri="{BB962C8B-B14F-4D97-AF65-F5344CB8AC3E}">
        <p14:creationId xmlns:p14="http://schemas.microsoft.com/office/powerpoint/2010/main" val="2181691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Next lecture</a:t>
            </a:r>
          </a:p>
        </p:txBody>
      </p:sp>
      <p:sp>
        <p:nvSpPr>
          <p:cNvPr id="2273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Process Discovery</a:t>
            </a:r>
          </a:p>
          <a:p>
            <a:r>
              <a:rPr lang="en-US" altLang="en-US" dirty="0"/>
              <a:t>Conformance Checking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1C2856-CB3D-D34B-9F1D-8E5B8802D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E04EA-A26C-E447-A8E6-CA04C1B6E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B494A-3097-014D-8BD6-D19A16CE616C}" type="slidenum">
              <a:rPr lang="x-none" smtClean="0"/>
              <a:t>54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571778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FCB09-CDBA-B65E-91F7-DD8C0D64CB55}"/>
              </a:ext>
            </a:extLst>
          </p:cNvPr>
          <p:cNvSpPr txBox="1"/>
          <p:nvPr/>
        </p:nvSpPr>
        <p:spPr>
          <a:xfrm>
            <a:off x="1620982" y="2367171"/>
            <a:ext cx="91301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Extra material for interested students</a:t>
            </a:r>
          </a:p>
          <a:p>
            <a:r>
              <a:rPr lang="en-US" sz="4400" b="1" dirty="0">
                <a:solidFill>
                  <a:srgbClr val="C00000"/>
                </a:solidFill>
              </a:rPr>
              <a:t>Not part of the final exam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A081B4-0EA5-7309-AE18-515CCA6A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88289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FCB09-CDBA-B65E-91F7-DD8C0D64CB55}"/>
              </a:ext>
            </a:extLst>
          </p:cNvPr>
          <p:cNvSpPr txBox="1"/>
          <p:nvPr/>
        </p:nvSpPr>
        <p:spPr>
          <a:xfrm>
            <a:off x="1620982" y="2367171"/>
            <a:ext cx="91301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Does each sample have the same probability to be in the reservoir?</a:t>
            </a:r>
            <a:endParaRPr lang="en-US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A081B4-0EA5-7309-AE18-515CCA6A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69953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 – Reservoir Sampling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9964119" cy="4948280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>
                    <a:solidFill>
                      <a:srgbClr val="C00000"/>
                    </a:solidFill>
                  </a:rPr>
                  <a:t>Claim:</a:t>
                </a:r>
                <a:r>
                  <a:rPr lang="en-AU" altLang="en-US" dirty="0"/>
                  <a:t> each element is kept in the reservoir with prob.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>
                    <a:solidFill>
                      <a:schemeClr val="accent6">
                        <a:lumMod val="75000"/>
                      </a:schemeClr>
                    </a:solidFill>
                  </a:rPr>
                  <a:t>Proof:</a:t>
                </a:r>
                <a:r>
                  <a:rPr lang="en-AU" altLang="en-US" dirty="0"/>
                  <a:t> We prove that using </a:t>
                </a:r>
                <a:r>
                  <a:rPr lang="en-AU" altLang="en-US" b="1" dirty="0">
                    <a:solidFill>
                      <a:srgbClr val="00B0F0"/>
                    </a:solidFill>
                  </a:rPr>
                  <a:t>mathematical induction</a:t>
                </a:r>
                <a:r>
                  <a:rPr lang="en-AU" altLang="en-US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Base case: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After we see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en-US" dirty="0"/>
                  <a:t> elements, the sample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altLang="en-US" dirty="0"/>
                  <a:t> has the desired property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AU" altLang="en-US" dirty="0"/>
                  <a:t>Each sample, (out of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AU" altLang="en-US" dirty="0"/>
                  <a:t> elements), is in the sample with probability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endParaRPr lang="en-AU" altLang="en-US" dirty="0"/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Inductive hypothesis: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After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 elements, the sample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altLang="en-US" dirty="0"/>
                  <a:t> contains each element seen so far with prob.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alt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altLang="en-US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AU" alt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endParaRPr lang="en-AU" altLang="en-US" dirty="0">
                  <a:solidFill>
                    <a:srgbClr val="00B050"/>
                  </a:solidFill>
                </a:endParaRP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>
                    <a:solidFill>
                      <a:srgbClr val="00B050"/>
                    </a:solidFill>
                  </a:rPr>
                  <a:t>Now element n+1 arrives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9964119" cy="4948280"/>
              </a:xfrm>
              <a:blipFill>
                <a:blip r:embed="rId2"/>
                <a:stretch>
                  <a:fillRect l="-1146" t="-767" b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5DD634-DE9B-D77D-EC7A-B28F31C01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480689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Sampling from Data Streams – Reservoir Sampling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3"/>
                <a:ext cx="10515600" cy="5241591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b="1" dirty="0"/>
                  <a:t>Inductive step: </a:t>
                </a:r>
                <a:r>
                  <a:rPr lang="en-AU" altLang="en-US" dirty="0"/>
                  <a:t>For elements already in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altLang="en-US" dirty="0"/>
                  <a:t>, probability that the algorithm keeps it in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AU" altLang="en-US" dirty="0"/>
                  <a:t> is:</a:t>
                </a:r>
              </a:p>
              <a:p>
                <a:pPr lvl="1">
                  <a:lnSpc>
                    <a:spcPct val="120000"/>
                  </a:lnSpc>
                </a:pPr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:endParaRPr lang="en-AU" altLang="en-US" dirty="0"/>
              </a:p>
              <a:p>
                <a:r>
                  <a:rPr lang="en-US" dirty="0"/>
                  <a:t>So, at time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,</a:t>
                </a:r>
                <a:r>
                  <a:rPr lang="en-US" dirty="0"/>
                  <a:t> tuples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were there with prob.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Time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>
                        <a:latin typeface="Cambria Math" panose="02040503050406030204" pitchFamily="18" charset="0"/>
                        <a:sym typeface="Symbol"/>
                      </a:rPr>
                      <m:t>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tuple stayed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with prob.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 prob. tuple is in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at time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+1 = </m:t>
                    </m:r>
                    <m:f>
                      <m:f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lang="en-US" b="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>
                  <a:solidFill>
                    <a:srgbClr val="0000FF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endParaRPr lang="en-AU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3"/>
                <a:ext cx="10515600" cy="5241591"/>
              </a:xfrm>
              <a:blipFill>
                <a:blip r:embed="rId3"/>
                <a:stretch>
                  <a:fillRect l="-1086" t="-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240AAE04-375B-084B-AB54-B37DF39FB87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34725" y="2434757"/>
          <a:ext cx="6338133" cy="131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2600" imgH="431640" progId="Equation.3">
                  <p:embed/>
                </p:oleObj>
              </mc:Choice>
              <mc:Fallback>
                <p:oleObj name="Equation" r:id="rId4" imgW="2082600" imgH="431640" progId="Equation.3">
                  <p:embed/>
                  <p:pic>
                    <p:nvPicPr>
                      <p:cNvPr id="4" name="Content Placeholder 6">
                        <a:extLst>
                          <a:ext uri="{FF2B5EF4-FFF2-40B4-BE49-F238E27FC236}">
                            <a16:creationId xmlns:a16="http://schemas.microsoft.com/office/drawing/2014/main" id="{240AAE04-375B-084B-AB54-B37DF39FB8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4725" y="2434757"/>
                        <a:ext cx="6338133" cy="1314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4024726-031E-F84A-90EA-C52E730E1E5F}"/>
              </a:ext>
            </a:extLst>
          </p:cNvPr>
          <p:cNvSpPr txBox="1"/>
          <p:nvPr/>
        </p:nvSpPr>
        <p:spPr>
          <a:xfrm>
            <a:off x="1692545" y="3813639"/>
            <a:ext cx="19030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 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n+1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discarded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C28F22-B527-4D45-BCB0-B9003D040831}"/>
              </a:ext>
            </a:extLst>
          </p:cNvPr>
          <p:cNvSpPr txBox="1"/>
          <p:nvPr/>
        </p:nvSpPr>
        <p:spPr>
          <a:xfrm>
            <a:off x="3792836" y="3744426"/>
            <a:ext cx="1598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 </a:t>
            </a:r>
            <a:r>
              <a:rPr lang="en-US" b="1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n+1</a:t>
            </a: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not discarded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8BE35-58A4-AD43-A015-607F214598E7}"/>
              </a:ext>
            </a:extLst>
          </p:cNvPr>
          <p:cNvSpPr txBox="1"/>
          <p:nvPr/>
        </p:nvSpPr>
        <p:spPr>
          <a:xfrm>
            <a:off x="5429529" y="3744426"/>
            <a:ext cx="2045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Element in the </a:t>
            </a:r>
            <a:b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</a:br>
            <a:r>
              <a:rPr lang="en-US" dirty="0">
                <a:solidFill>
                  <a:srgbClr val="008000"/>
                </a:solidFill>
                <a:latin typeface="Arial" pitchFamily="34" charset="0"/>
                <a:cs typeface="Arial" pitchFamily="34" charset="0"/>
              </a:rPr>
              <a:t>sample not picked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32F05D-15B4-1626-2AFB-76139ED2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952881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FCB09-CDBA-B65E-91F7-DD8C0D64CB55}"/>
              </a:ext>
            </a:extLst>
          </p:cNvPr>
          <p:cNvSpPr txBox="1"/>
          <p:nvPr/>
        </p:nvSpPr>
        <p:spPr>
          <a:xfrm>
            <a:off x="1620982" y="2367171"/>
            <a:ext cx="913014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chemeClr val="accent5">
                    <a:lumMod val="75000"/>
                  </a:schemeClr>
                </a:solidFill>
              </a:rPr>
              <a:t>Flajolet</a:t>
            </a:r>
            <a:r>
              <a:rPr lang="en-US" sz="4400" b="1" dirty="0">
                <a:solidFill>
                  <a:schemeClr val="accent5">
                    <a:lumMod val="75000"/>
                  </a:schemeClr>
                </a:solidFill>
              </a:rPr>
              <a:t>-Martin Approach for Counting Distinct Items in Data Streams</a:t>
            </a:r>
            <a:endParaRPr lang="en-US" sz="4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A081B4-0EA5-7309-AE18-515CCA6A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59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80476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Flajolet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-Martin Approach Works?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9669651" cy="4948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Intuition:</a:t>
                </a:r>
                <a:r>
                  <a:rPr lang="en-US" altLang="en-US" dirty="0"/>
                  <a:t> for a given element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alt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hashes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 to any of the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keys with the same probability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will have a sequence of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𝑙𝑜</m:t>
                        </m:r>
                        <m:sSub>
                          <m:sSub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</m:oMath>
                </a14:m>
                <a:r>
                  <a:rPr lang="en-US" altLang="en-US" dirty="0"/>
                  <a:t> bits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a:rPr lang="en-US" alt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is the ratio of the keys that have a tail of 0’s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altLang="en-US" dirty="0"/>
                  <a:t>Approximately 50% of the keys will hash to ********0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altLang="en-US" dirty="0"/>
                  <a:t>Approximately 25% of the keys will hash to ******00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US" altLang="en-US" dirty="0"/>
                  <a:t>Example, if a key hashes to *****100, probably 4 keys were hashed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 keys)</a:t>
                </a:r>
              </a:p>
              <a:p>
                <a:pPr lvl="2">
                  <a:lnSpc>
                    <a:spcPct val="120000"/>
                  </a:lnSpc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9669651" cy="4948280"/>
              </a:xfrm>
              <a:blipFill>
                <a:blip r:embed="rId2"/>
                <a:stretch>
                  <a:fillRect l="-1181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429308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Flajolet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-Martin Approach Works?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3"/>
                <a:ext cx="9669651" cy="5105067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Formally: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altLang="en-US" dirty="0"/>
                  <a:t>We 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en-US" dirty="0"/>
                  <a:t> to be the probability of finding a tail of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zeros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en-US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b="0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altLang="en-US" dirty="0"/>
                  <a:t> is the probability of finding NO tail of </a:t>
                </a:r>
                <a14:m>
                  <m:oMath xmlns:m="http://schemas.openxmlformats.org/officeDocument/2006/math"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dirty="0"/>
                  <a:t>zeros, show: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groupChr>
                      <m:groupChrPr>
                        <m:chr m:val="→"/>
                        <m:pos m:val="top"/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≫</m:t>
                        </m:r>
                        <m:sSup>
                          <m:sSupPr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1"/>
                              </m:r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brk m:alnAt="1"/>
                              </m:r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groupCh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groupChr>
                      <m:groupChrPr>
                        <m:chr m:val="→"/>
                        <m:pos m:val="top"/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1"/>
                          </m:r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≪</m:t>
                        </m:r>
                        <m:sSup>
                          <m:sSup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1"/>
                              </m:r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brk m:alnAt="1"/>
                              </m:r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groupCh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en-US" dirty="0"/>
                  <a:t>       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altLang="en-US" dirty="0"/>
                  <a:t> is the number of keys – distinct elements from the steam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altLang="en-US" dirty="0">
                    <a:solidFill>
                      <a:schemeClr val="accent1">
                        <a:lumMod val="75000"/>
                      </a:schemeClr>
                    </a:solidFill>
                  </a:rPr>
                  <a:t>Proof: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dirty="0"/>
                  <a:t> hashed the elements uniformly at random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en-US" dirty="0"/>
                  <a:t> has a tail of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en-US" dirty="0"/>
                  <a:t> 0’s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endParaRPr lang="en-US" altLang="en-US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en-US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1− </m:t>
                    </m:r>
                    <m:sSup>
                      <m:sSup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altLang="en-US" dirty="0"/>
                  <a:t> (probability of finding </a:t>
                </a:r>
                <a:r>
                  <a:rPr lang="en-US" altLang="en-US" b="1" dirty="0">
                    <a:solidFill>
                      <a:srgbClr val="C00000"/>
                    </a:solidFill>
                  </a:rPr>
                  <a:t>NO</a:t>
                </a:r>
                <a:r>
                  <a:rPr lang="en-US" altLang="en-US" dirty="0"/>
                  <a:t> tail of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en-US" dirty="0"/>
                  <a:t> 0’s)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3"/>
                <a:ext cx="9669651" cy="5105067"/>
              </a:xfrm>
              <a:blipFill>
                <a:blip r:embed="rId2"/>
                <a:stretch>
                  <a:fillRect l="-1181" t="-248" r="-3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4868662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</a:t>
            </a:r>
            <a:r>
              <a:rPr lang="en-US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Flajolet</a:t>
            </a:r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-Martin Approach Works?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9669651" cy="4948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altLang="en-US" dirty="0"/>
                  <a:t>After hashing the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altLang="en-US" dirty="0"/>
                  <a:t> keys,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en-US" b="0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</m:oMath>
                </a14:m>
                <a:r>
                  <a:rPr lang="en-US" altLang="en-US" dirty="0"/>
                  <a:t> (prob. that </a:t>
                </a:r>
                <a14:m>
                  <m:oMath xmlns:m="http://schemas.openxmlformats.org/officeDocument/2006/math"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en-US" dirty="0"/>
                  <a:t> has </a:t>
                </a:r>
                <a:r>
                  <a:rPr lang="en-US" altLang="en-US" b="1" dirty="0">
                    <a:solidFill>
                      <a:srgbClr val="C00000"/>
                    </a:solidFill>
                  </a:rPr>
                  <a:t>NO</a:t>
                </a:r>
                <a:r>
                  <a:rPr lang="en-US" altLang="en-US" dirty="0"/>
                  <a:t> tail of length </a:t>
                </a:r>
                <a14:m>
                  <m:oMath xmlns:m="http://schemas.openxmlformats.org/officeDocument/2006/math">
                    <m:r>
                      <a:rPr lang="en-US" alt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altLang="en-US" dirty="0"/>
                  <a:t>,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en-US" dirty="0"/>
                  <a:t>)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en-US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en-US" b="0" i="1" smtClean="0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en-US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sSup>
                          <m:sSup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groupChr>
                      <m:groupChrPr>
                        <m:chr m:val="→"/>
                        <m:pos m:val="top"/>
                        <m:ctrlPr>
                          <a:rPr lang="en-US" altLang="en-US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sSup>
                          <m:sSupPr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brk m:alnAt="1"/>
                              </m:r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m:rPr>
                                <m:brk m:alnAt="1"/>
                              </m:r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groupChr>
                    <m:sSup>
                      <m:sSupPr>
                        <m:ctrlP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sSup>
                          <m:sSupPr>
                            <m:ctrlP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sup>
                    </m:sSup>
                  </m:oMath>
                </a14:m>
                <a:endParaRPr lang="en-US" altLang="en-US" dirty="0"/>
              </a:p>
              <a:p>
                <a:pPr lvl="1">
                  <a:lnSpc>
                    <a:spcPct val="120000"/>
                  </a:lnSpc>
                </a:pPr>
                <a:r>
                  <a:rPr lang="en-US" altLang="en-US" dirty="0"/>
                  <a:t>When </a:t>
                </a:r>
                <a14:m>
                  <m:oMath xmlns:m="http://schemas.openxmlformats.org/officeDocument/2006/math">
                    <m:r>
                      <m:rPr>
                        <m:brk m:alnAt="1"/>
                      </m:rP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≪</m:t>
                    </m:r>
                    <m:sSup>
                      <m:sSup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1"/>
                          </m:r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brk m:alnAt="1"/>
                          </m:r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alt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en-US" altLang="en-US" b="0" dirty="0">
                  <a:solidFill>
                    <a:srgbClr val="00B050"/>
                  </a:solidFill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altLang="en-US" dirty="0"/>
                  <a:t>When </a:t>
                </a:r>
                <a14:m>
                  <m:oMath xmlns:m="http://schemas.openxmlformats.org/officeDocument/2006/math">
                    <m:r>
                      <m:rPr>
                        <m:brk m:alnAt="1"/>
                      </m:rP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≫</m:t>
                    </m:r>
                    <m:sSup>
                      <m:sSup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brk m:alnAt="1"/>
                          </m:r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brk m:alnAt="1"/>
                          </m:r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lang="en-US" altLang="en-US" dirty="0"/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alt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alt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d>
                      <m:dPr>
                        <m:ctrlP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en-US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→1</m:t>
                    </m:r>
                  </m:oMath>
                </a14:m>
                <a:endParaRPr lang="en-US" altLang="en-US" dirty="0"/>
              </a:p>
              <a:p>
                <a:pPr lvl="2">
                  <a:lnSpc>
                    <a:spcPct val="120000"/>
                  </a:lnSpc>
                </a:pPr>
                <a:endParaRPr lang="en-US" alt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9669651" cy="4948280"/>
              </a:xfrm>
              <a:blipFill>
                <a:blip r:embed="rId2"/>
                <a:stretch>
                  <a:fillRect l="-1181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45663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58E363-DEF3-4AC8-A6C7-1973B994C704}"/>
              </a:ext>
            </a:extLst>
          </p:cNvPr>
          <p:cNvSpPr txBox="1">
            <a:spLocks/>
          </p:cNvSpPr>
          <p:nvPr/>
        </p:nvSpPr>
        <p:spPr>
          <a:xfrm>
            <a:off x="1211264" y="2715494"/>
            <a:ext cx="8277726" cy="54207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Clustering</a:t>
            </a:r>
            <a:endParaRPr lang="nl-NL" b="1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79DA28-57D8-46DC-9BF7-32D7F0AE8996}"/>
              </a:ext>
            </a:extLst>
          </p:cNvPr>
          <p:cNvCxnSpPr>
            <a:cxnSpLocks/>
          </p:cNvCxnSpPr>
          <p:nvPr/>
        </p:nvCxnSpPr>
        <p:spPr>
          <a:xfrm>
            <a:off x="1029405" y="3429000"/>
            <a:ext cx="9730554" cy="0"/>
          </a:xfrm>
          <a:prstGeom prst="line">
            <a:avLst/>
          </a:prstGeom>
          <a:ln w="95250">
            <a:gradFill flip="none" rotWithShape="1">
              <a:gsLst>
                <a:gs pos="0">
                  <a:schemeClr val="accent2">
                    <a:lumMod val="67000"/>
                  </a:schemeClr>
                </a:gs>
                <a:gs pos="48000">
                  <a:schemeClr val="accent2">
                    <a:lumMod val="97000"/>
                    <a:lumOff val="3000"/>
                  </a:schemeClr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63A5E-BA66-4B4B-DEC9-AD977BD3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432552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 Data Streams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9325708" cy="4948280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b="1" dirty="0"/>
                  <a:t>Input:</a:t>
                </a:r>
                <a:r>
                  <a:rPr lang="en-AU" altLang="en-US" dirty="0"/>
                  <a:t> Data stream points from metric space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b="1" dirty="0"/>
                  <a:t>Goal:</a:t>
                </a:r>
                <a:r>
                  <a:rPr lang="en-AU" altLang="en-US" dirty="0"/>
                  <a:t> Find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altLang="en-US" dirty="0"/>
                  <a:t> clusters in the stream (based on k-median algorithm)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b="1" dirty="0"/>
                  <a:t>Constant factor approximation algorithm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Two step algorithm: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Depending on the size of memory, divide the batch of data into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AU" altLang="en-US" dirty="0"/>
                  <a:t> sets </a:t>
                </a:r>
                <a14:m>
                  <m:oMath xmlns:m="http://schemas.openxmlformats.org/officeDocument/2006/math">
                    <m:r>
                      <a:rPr lang="en-US" alt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 …,  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       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Select one </a:t>
                </a:r>
                <a:r>
                  <a:rPr lang="en-AU" altLang="en-US" dirty="0" err="1"/>
                  <a:t>center</a:t>
                </a:r>
                <a:r>
                  <a:rPr lang="en-AU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altLang="en-US" dirty="0"/>
                  <a:t> from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   1≤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altLang="en-US" dirty="0"/>
                  <a:t>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Assign each observation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AU" altLang="en-US" dirty="0"/>
                  <a:t> to its closest </a:t>
                </a:r>
                <a:r>
                  <a:rPr lang="en-AU" altLang="en-US" dirty="0" err="1"/>
                  <a:t>center</a:t>
                </a:r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Let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AU" altLang="en-US" dirty="0"/>
                  <a:t> with each </a:t>
                </a:r>
                <a:r>
                  <a:rPr lang="en-AU" altLang="en-US" dirty="0" err="1"/>
                  <a:t>center</a:t>
                </a:r>
                <a:r>
                  <a:rPr lang="en-AU" altLang="en-US" dirty="0"/>
                  <a:t> weighted by number of points assigned to it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Cluster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altLang="en-US" dirty="0"/>
                  <a:t>to find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AU" altLang="en-US" dirty="0"/>
                  <a:t> </a:t>
                </a:r>
                <a:r>
                  <a:rPr lang="en-AU" altLang="en-US" dirty="0" err="1"/>
                  <a:t>centers</a:t>
                </a:r>
                <a:r>
                  <a:rPr lang="en-AU" altLang="en-US" dirty="0"/>
                  <a:t> (medians)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9325708" cy="4948280"/>
              </a:xfrm>
              <a:blipFill>
                <a:blip r:embed="rId2"/>
                <a:stretch>
                  <a:fillRect l="-1088" t="-1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61280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CluStream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251284"/>
                <a:ext cx="10515600" cy="494828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Divide the clustering process into online and  offline components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Online component: stores summary statistics about the stream data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AU" altLang="en-US" dirty="0"/>
                  <a:t>A micro-cluster for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AU" altLang="en-US" dirty="0"/>
                  <a:t> points is defined as a (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2.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 + 3</m:t>
                    </m:r>
                  </m:oMath>
                </a14:m>
                <a:r>
                  <a:rPr lang="en-AU" altLang="en-US" dirty="0"/>
                  <a:t>) tuple </a:t>
                </a:r>
                <a14:m>
                  <m:oMath xmlns:m="http://schemas.openxmlformats.org/officeDocument/2006/math"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̅"/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𝐶𝐹</m:t>
                        </m:r>
                        <m:sSup>
                          <m:sSupPr>
                            <m:ctrlP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𝐶𝐹</m:t>
                        </m:r>
                        <m:sSup>
                          <m:sSupPr>
                            <m:ctrlPr>
                              <a:rPr lang="en-US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US" alt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alt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𝐶𝐹</m:t>
                    </m:r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𝐶𝐹</m:t>
                    </m:r>
                    <m:sSup>
                      <m:sSupPr>
                        <m:ctrlPr>
                          <a:rPr lang="en-US" alt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AU" altLang="en-US" dirty="0"/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Offline component: answers various user questions based on the stored summary statistics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Initialization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Use the first batch from the stream to cluster the data into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AU" altLang="en-US" dirty="0"/>
                  <a:t> micro-cluster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AU" altLang="en-US" i="1" dirty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AU" altLang="en-US" dirty="0"/>
                  <a:t> is significantly larger than the actual number of clusters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251284"/>
                <a:ext cx="10515600" cy="4948280"/>
              </a:xfrm>
              <a:blipFill>
                <a:blip r:embed="rId2"/>
                <a:stretch>
                  <a:fillRect l="-965" t="-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686832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F5F2-267A-4A6E-AAB7-2C088BAE7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</p:spPr>
        <p:txBody>
          <a:bodyPr>
            <a:noAutofit/>
          </a:bodyPr>
          <a:lstStyle/>
          <a:p>
            <a:r>
              <a:rPr lang="en-US" altLang="nl-NL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CluStream</a:t>
            </a:r>
            <a:endParaRPr lang="nl-NL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51284"/>
                <a:ext cx="10515600" cy="467538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Online incremental update of micro-clusters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Upon the arrival of a new observation 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AU" altLang="en-US" dirty="0"/>
                  <a:t>Observation is within max-boundary of one micro-cluster, insert into the micro-cluster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AU" altLang="en-US" dirty="0"/>
                  <a:t>Otherwise, create a new cluster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en-AU" altLang="en-US" dirty="0"/>
                  <a:t>May delete obsolete micro-cluster or merge two closest ones</a:t>
                </a:r>
              </a:p>
              <a:p>
                <a:pPr>
                  <a:lnSpc>
                    <a:spcPct val="120000"/>
                  </a:lnSpc>
                </a:pPr>
                <a:r>
                  <a:rPr lang="en-AU" altLang="en-US" dirty="0"/>
                  <a:t>Query-based macro-clustering (offline)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AU" altLang="en-US" dirty="0"/>
                  <a:t>Based on a user-specified time-horizon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AU" altLang="en-US" dirty="0"/>
                  <a:t> and the number of macro-clusters </a:t>
                </a:r>
                <a14:m>
                  <m:oMath xmlns:m="http://schemas.openxmlformats.org/officeDocument/2006/math">
                    <m:r>
                      <a:rPr lang="en-AU" alt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AU" altLang="en-US" dirty="0"/>
                  <a:t>, compute macro-clusters using </a:t>
                </a:r>
                <a:r>
                  <a:rPr lang="en-AU" altLang="en-US"/>
                  <a:t>the k-medians (or k-means) </a:t>
                </a:r>
                <a:r>
                  <a:rPr lang="en-AU" altLang="en-US" dirty="0"/>
                  <a:t>algorithm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25166-E312-42E3-86E9-D4580053E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51284"/>
                <a:ext cx="10515600" cy="4675383"/>
              </a:xfrm>
              <a:blipFill>
                <a:blip r:embed="rId2"/>
                <a:stretch>
                  <a:fillRect l="-1086" t="-2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9DE65-3379-582E-69E3-C4BFD22F1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D8F54C-053C-4394-9990-70DE256B1A6D}" type="slidenum">
              <a:rPr lang="nl-NL" smtClean="0"/>
              <a:t>66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46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793235904ECB429D95AFCF930B613A" ma:contentTypeVersion="5" ma:contentTypeDescription="Create a new document." ma:contentTypeScope="" ma:versionID="4c390286563cacde125c37b699801796">
  <xsd:schema xmlns:xsd="http://www.w3.org/2001/XMLSchema" xmlns:xs="http://www.w3.org/2001/XMLSchema" xmlns:p="http://schemas.microsoft.com/office/2006/metadata/properties" xmlns:ns3="5032e021-b0cf-43e6-828a-5b682824f23c" xmlns:ns4="ef284efa-1316-4307-b1a8-b157427e4237" targetNamespace="http://schemas.microsoft.com/office/2006/metadata/properties" ma:root="true" ma:fieldsID="8c9c49ab243af388e89cdf0ba7aaaf48" ns3:_="" ns4:_="">
    <xsd:import namespace="5032e021-b0cf-43e6-828a-5b682824f23c"/>
    <xsd:import namespace="ef284efa-1316-4307-b1a8-b157427e42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32e021-b0cf-43e6-828a-5b682824f2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284efa-1316-4307-b1a8-b157427e423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2473D4E-B70B-4136-B747-E79AAA180FB8}">
  <ds:schemaRefs>
    <ds:schemaRef ds:uri="http://purl.org/dc/terms/"/>
    <ds:schemaRef ds:uri="ef284efa-1316-4307-b1a8-b157427e4237"/>
    <ds:schemaRef ds:uri="http://purl.org/dc/dcmitype/"/>
    <ds:schemaRef ds:uri="http://schemas.microsoft.com/office/infopath/2007/PartnerControls"/>
    <ds:schemaRef ds:uri="5032e021-b0cf-43e6-828a-5b682824f23c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EFE0A5C-9604-4B3E-8F9E-98072B6B9F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27FB234-31BD-4786-8167-C9B3AC2407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32e021-b0cf-43e6-828a-5b682824f23c"/>
    <ds:schemaRef ds:uri="ef284efa-1316-4307-b1a8-b157427e42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14557</TotalTime>
  <Words>3684</Words>
  <Application>Microsoft Macintosh PowerPoint</Application>
  <PresentationFormat>Widescreen</PresentationFormat>
  <Paragraphs>609</Paragraphs>
  <Slides>66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8" baseType="lpstr">
      <vt:lpstr>ＭＳ Ｐゴシック</vt:lpstr>
      <vt:lpstr>Arial</vt:lpstr>
      <vt:lpstr>Calibri</vt:lpstr>
      <vt:lpstr>Calibri Light</vt:lpstr>
      <vt:lpstr>Cambria Math</vt:lpstr>
      <vt:lpstr>Candara</vt:lpstr>
      <vt:lpstr>Comic Sans MS</vt:lpstr>
      <vt:lpstr>Courier New</vt:lpstr>
      <vt:lpstr>Tahoma</vt:lpstr>
      <vt:lpstr>Times New Roman</vt:lpstr>
      <vt:lpstr>Office Theme</vt:lpstr>
      <vt:lpstr>Equation</vt:lpstr>
      <vt:lpstr>PowerPoint Presentation</vt:lpstr>
      <vt:lpstr>Topics for Today</vt:lpstr>
      <vt:lpstr>PowerPoint Presentation</vt:lpstr>
      <vt:lpstr>PowerPoint Presentation</vt:lpstr>
      <vt:lpstr>Applications</vt:lpstr>
      <vt:lpstr>Characteristics of Data Streams</vt:lpstr>
      <vt:lpstr>General Stream Processing Model</vt:lpstr>
      <vt:lpstr>PowerPoint Presentation</vt:lpstr>
      <vt:lpstr>Handling Data Streams</vt:lpstr>
      <vt:lpstr>Online Learning</vt:lpstr>
      <vt:lpstr>PowerPoint Presentation</vt:lpstr>
      <vt:lpstr>Sampling from Data Streams</vt:lpstr>
      <vt:lpstr>Sampling from Data Streams</vt:lpstr>
      <vt:lpstr>Sampling from Data Streams – Sample a fixed proportion</vt:lpstr>
      <vt:lpstr>Sampling from Data Streams – Sample a fixed Size sample</vt:lpstr>
      <vt:lpstr>Sampling from Data Streams – Sample a fixed Size sample</vt:lpstr>
      <vt:lpstr>Sampling from Data Streams – Reservoir Sampling</vt:lpstr>
      <vt:lpstr>Sampling from Data Streams – Reservoir Sampling</vt:lpstr>
      <vt:lpstr>Sampling from Data Streams – Reservoir Sampling</vt:lpstr>
      <vt:lpstr>Sampling from Data Streams – Reservoir Sampling</vt:lpstr>
      <vt:lpstr>PowerPoint Presentation</vt:lpstr>
      <vt:lpstr>Windowing Models</vt:lpstr>
      <vt:lpstr>Sliding Window</vt:lpstr>
      <vt:lpstr>Tumbling Window (Disjoint Windows)</vt:lpstr>
      <vt:lpstr>Hopping Window</vt:lpstr>
      <vt:lpstr>Exponentially Decaying Windows</vt:lpstr>
      <vt:lpstr>Sliding vs Exponentially Decaying Windows</vt:lpstr>
      <vt:lpstr>PowerPoint Presentation</vt:lpstr>
      <vt:lpstr>Querying Data Streams (Examples)</vt:lpstr>
      <vt:lpstr>PowerPoint Presentation</vt:lpstr>
      <vt:lpstr>Filtering Data Streams</vt:lpstr>
      <vt:lpstr>Filtering Data Streams</vt:lpstr>
      <vt:lpstr>Filtering Data Streams (discussion)</vt:lpstr>
      <vt:lpstr>Filtering Data Streams (discussion)</vt:lpstr>
      <vt:lpstr>Filtering Data Streams (discussion)</vt:lpstr>
      <vt:lpstr>Bloom Filters</vt:lpstr>
      <vt:lpstr>Bloom Filters</vt:lpstr>
      <vt:lpstr>Bloom Filters</vt:lpstr>
      <vt:lpstr>Bloom Filters</vt:lpstr>
      <vt:lpstr>PowerPoint Presentation</vt:lpstr>
      <vt:lpstr>Counting Distinct Elements</vt:lpstr>
      <vt:lpstr>Example Queries</vt:lpstr>
      <vt:lpstr>Using Small Storage</vt:lpstr>
      <vt:lpstr>Flajolet-Martin Approach</vt:lpstr>
      <vt:lpstr>PowerPoint Presentation</vt:lpstr>
      <vt:lpstr>Classifying Data Streams </vt:lpstr>
      <vt:lpstr>Classifying Data Streams </vt:lpstr>
      <vt:lpstr>Hoeffding Tree (HT)</vt:lpstr>
      <vt:lpstr>Hoeffding Tree (HT) Algorithm </vt:lpstr>
      <vt:lpstr>PowerPoint Presentation</vt:lpstr>
      <vt:lpstr>HT Strengths and Weaknesses</vt:lpstr>
      <vt:lpstr>Very Fast Decision Tree (VFDT)</vt:lpstr>
      <vt:lpstr>Wrap-Up </vt:lpstr>
      <vt:lpstr>Next lecture</vt:lpstr>
      <vt:lpstr>PowerPoint Presentation</vt:lpstr>
      <vt:lpstr>PowerPoint Presentation</vt:lpstr>
      <vt:lpstr>Sampling from Data Streams – Reservoir Sampling</vt:lpstr>
      <vt:lpstr>Sampling from Data Streams – Reservoir Sampling</vt:lpstr>
      <vt:lpstr>PowerPoint Presentation</vt:lpstr>
      <vt:lpstr>Why Flajolet-Martin Approach Works?</vt:lpstr>
      <vt:lpstr>Why Flajolet-Martin Approach Works?</vt:lpstr>
      <vt:lpstr>Why Flajolet-Martin Approach Works?</vt:lpstr>
      <vt:lpstr>PowerPoint Presentation</vt:lpstr>
      <vt:lpstr>Clustering Data Streams</vt:lpstr>
      <vt:lpstr>CluStream</vt:lpstr>
      <vt:lpstr>CluStream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Qahtan, A.A.A. (Hakim)</dc:creator>
  <cp:lastModifiedBy>Qahtan, A. (Hakim)</cp:lastModifiedBy>
  <cp:revision>302</cp:revision>
  <cp:lastPrinted>2024-11-05T09:16:18Z</cp:lastPrinted>
  <dcterms:created xsi:type="dcterms:W3CDTF">2020-02-17T15:53:26Z</dcterms:created>
  <dcterms:modified xsi:type="dcterms:W3CDTF">2025-11-03T09:38:47Z</dcterms:modified>
</cp:coreProperties>
</file>