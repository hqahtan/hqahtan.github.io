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413" r:id="rId2"/>
    <p:sldId id="408" r:id="rId3"/>
    <p:sldId id="409" r:id="rId4"/>
    <p:sldId id="390" r:id="rId5"/>
    <p:sldId id="407" r:id="rId6"/>
    <p:sldId id="410" r:id="rId7"/>
    <p:sldId id="411" r:id="rId8"/>
    <p:sldId id="41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17" d="100"/>
          <a:sy n="117" d="100"/>
        </p:scale>
        <p:origin x="80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CF789-C6E2-449D-8B10-598D043487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D89D36C-020B-2EE0-8DFA-A478F7EF93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8ED4880-C35C-147A-0B58-1237DA319359}"/>
              </a:ext>
            </a:extLst>
          </p:cNvPr>
          <p:cNvSpPr>
            <a:spLocks noGrp="1"/>
          </p:cNvSpPr>
          <p:nvPr>
            <p:ph type="dt" sz="half" idx="10"/>
          </p:nvPr>
        </p:nvSpPr>
        <p:spPr/>
        <p:txBody>
          <a:bodyPr/>
          <a:lstStyle/>
          <a:p>
            <a:fld id="{B0A39554-D82D-854A-A43B-DE4E717E8030}" type="datetimeFigureOut">
              <a:rPr lang="en-US" smtClean="0"/>
              <a:t>11/5/24</a:t>
            </a:fld>
            <a:endParaRPr lang="en-US"/>
          </a:p>
        </p:txBody>
      </p:sp>
      <p:sp>
        <p:nvSpPr>
          <p:cNvPr id="5" name="Footer Placeholder 4">
            <a:extLst>
              <a:ext uri="{FF2B5EF4-FFF2-40B4-BE49-F238E27FC236}">
                <a16:creationId xmlns:a16="http://schemas.microsoft.com/office/drawing/2014/main" id="{B6037D42-8132-2BD1-061E-2A40732152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9DEB02-FAEC-B9E7-952B-F97027C379C4}"/>
              </a:ext>
            </a:extLst>
          </p:cNvPr>
          <p:cNvSpPr>
            <a:spLocks noGrp="1"/>
          </p:cNvSpPr>
          <p:nvPr>
            <p:ph type="sldNum" sz="quarter" idx="12"/>
          </p:nvPr>
        </p:nvSpPr>
        <p:spPr/>
        <p:txBody>
          <a:bodyPr/>
          <a:lstStyle/>
          <a:p>
            <a:fld id="{F170EE13-124D-CC42-8478-A27952F49B75}" type="slidenum">
              <a:rPr lang="en-US" smtClean="0"/>
              <a:t>‹#›</a:t>
            </a:fld>
            <a:endParaRPr lang="en-US"/>
          </a:p>
        </p:txBody>
      </p:sp>
    </p:spTree>
    <p:extLst>
      <p:ext uri="{BB962C8B-B14F-4D97-AF65-F5344CB8AC3E}">
        <p14:creationId xmlns:p14="http://schemas.microsoft.com/office/powerpoint/2010/main" val="3932934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6DFA7-492A-C0AC-FFCA-FFC306E6BC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6D2DBC-EAAE-C7DA-C6AC-B2DD6F51AC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EB5F3E-EB31-7BA4-37B8-A26585F16DB8}"/>
              </a:ext>
            </a:extLst>
          </p:cNvPr>
          <p:cNvSpPr>
            <a:spLocks noGrp="1"/>
          </p:cNvSpPr>
          <p:nvPr>
            <p:ph type="dt" sz="half" idx="10"/>
          </p:nvPr>
        </p:nvSpPr>
        <p:spPr/>
        <p:txBody>
          <a:bodyPr/>
          <a:lstStyle/>
          <a:p>
            <a:fld id="{B0A39554-D82D-854A-A43B-DE4E717E8030}" type="datetimeFigureOut">
              <a:rPr lang="en-US" smtClean="0"/>
              <a:t>11/5/24</a:t>
            </a:fld>
            <a:endParaRPr lang="en-US"/>
          </a:p>
        </p:txBody>
      </p:sp>
      <p:sp>
        <p:nvSpPr>
          <p:cNvPr id="5" name="Footer Placeholder 4">
            <a:extLst>
              <a:ext uri="{FF2B5EF4-FFF2-40B4-BE49-F238E27FC236}">
                <a16:creationId xmlns:a16="http://schemas.microsoft.com/office/drawing/2014/main" id="{527EF567-09A6-8F33-D6E4-4CDFF2B0CE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5C8A06-50D0-2AA2-2006-541BEBEB3263}"/>
              </a:ext>
            </a:extLst>
          </p:cNvPr>
          <p:cNvSpPr>
            <a:spLocks noGrp="1"/>
          </p:cNvSpPr>
          <p:nvPr>
            <p:ph type="sldNum" sz="quarter" idx="12"/>
          </p:nvPr>
        </p:nvSpPr>
        <p:spPr/>
        <p:txBody>
          <a:bodyPr/>
          <a:lstStyle/>
          <a:p>
            <a:fld id="{F170EE13-124D-CC42-8478-A27952F49B75}" type="slidenum">
              <a:rPr lang="en-US" smtClean="0"/>
              <a:t>‹#›</a:t>
            </a:fld>
            <a:endParaRPr lang="en-US"/>
          </a:p>
        </p:txBody>
      </p:sp>
    </p:spTree>
    <p:extLst>
      <p:ext uri="{BB962C8B-B14F-4D97-AF65-F5344CB8AC3E}">
        <p14:creationId xmlns:p14="http://schemas.microsoft.com/office/powerpoint/2010/main" val="21600159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9361D-79FA-E77B-6D3C-743905D1D0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D7BE757-F63C-0E74-5014-9D62D9F815F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7DA540-7DCA-1DA1-101C-0F39E9F3F540}"/>
              </a:ext>
            </a:extLst>
          </p:cNvPr>
          <p:cNvSpPr>
            <a:spLocks noGrp="1"/>
          </p:cNvSpPr>
          <p:nvPr>
            <p:ph type="dt" sz="half" idx="10"/>
          </p:nvPr>
        </p:nvSpPr>
        <p:spPr/>
        <p:txBody>
          <a:bodyPr/>
          <a:lstStyle/>
          <a:p>
            <a:fld id="{B0A39554-D82D-854A-A43B-DE4E717E8030}" type="datetimeFigureOut">
              <a:rPr lang="en-US" smtClean="0"/>
              <a:t>11/5/24</a:t>
            </a:fld>
            <a:endParaRPr lang="en-US"/>
          </a:p>
        </p:txBody>
      </p:sp>
      <p:sp>
        <p:nvSpPr>
          <p:cNvPr id="5" name="Footer Placeholder 4">
            <a:extLst>
              <a:ext uri="{FF2B5EF4-FFF2-40B4-BE49-F238E27FC236}">
                <a16:creationId xmlns:a16="http://schemas.microsoft.com/office/drawing/2014/main" id="{B762D746-6AB5-BFB3-EEFA-3683A6E7D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663C60-54AF-0FF1-700E-A6130593CFEB}"/>
              </a:ext>
            </a:extLst>
          </p:cNvPr>
          <p:cNvSpPr>
            <a:spLocks noGrp="1"/>
          </p:cNvSpPr>
          <p:nvPr>
            <p:ph type="sldNum" sz="quarter" idx="12"/>
          </p:nvPr>
        </p:nvSpPr>
        <p:spPr/>
        <p:txBody>
          <a:bodyPr/>
          <a:lstStyle/>
          <a:p>
            <a:fld id="{F170EE13-124D-CC42-8478-A27952F49B75}" type="slidenum">
              <a:rPr lang="en-US" smtClean="0"/>
              <a:t>‹#›</a:t>
            </a:fld>
            <a:endParaRPr lang="en-US"/>
          </a:p>
        </p:txBody>
      </p:sp>
    </p:spTree>
    <p:extLst>
      <p:ext uri="{BB962C8B-B14F-4D97-AF65-F5344CB8AC3E}">
        <p14:creationId xmlns:p14="http://schemas.microsoft.com/office/powerpoint/2010/main" val="2595681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CF48D-9536-48D3-E98F-661B10537D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9EEC13-A3CE-EC59-5107-87734128FD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D2090B-2F4F-552D-21B0-E20F863D70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A6709D6-63FE-42B8-4515-EB314962219E}"/>
              </a:ext>
            </a:extLst>
          </p:cNvPr>
          <p:cNvSpPr>
            <a:spLocks noGrp="1"/>
          </p:cNvSpPr>
          <p:nvPr>
            <p:ph type="dt" sz="half" idx="10"/>
          </p:nvPr>
        </p:nvSpPr>
        <p:spPr/>
        <p:txBody>
          <a:bodyPr/>
          <a:lstStyle/>
          <a:p>
            <a:fld id="{B0A39554-D82D-854A-A43B-DE4E717E8030}" type="datetimeFigureOut">
              <a:rPr lang="en-US" smtClean="0"/>
              <a:t>11/5/24</a:t>
            </a:fld>
            <a:endParaRPr lang="en-US"/>
          </a:p>
        </p:txBody>
      </p:sp>
      <p:sp>
        <p:nvSpPr>
          <p:cNvPr id="6" name="Footer Placeholder 5">
            <a:extLst>
              <a:ext uri="{FF2B5EF4-FFF2-40B4-BE49-F238E27FC236}">
                <a16:creationId xmlns:a16="http://schemas.microsoft.com/office/drawing/2014/main" id="{08A111D7-02A0-C644-30F4-0750FEF53D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CFAA50-8C0D-FA85-5624-5945468E9B44}"/>
              </a:ext>
            </a:extLst>
          </p:cNvPr>
          <p:cNvSpPr>
            <a:spLocks noGrp="1"/>
          </p:cNvSpPr>
          <p:nvPr>
            <p:ph type="sldNum" sz="quarter" idx="12"/>
          </p:nvPr>
        </p:nvSpPr>
        <p:spPr/>
        <p:txBody>
          <a:bodyPr/>
          <a:lstStyle/>
          <a:p>
            <a:fld id="{F170EE13-124D-CC42-8478-A27952F49B75}" type="slidenum">
              <a:rPr lang="en-US" smtClean="0"/>
              <a:t>‹#›</a:t>
            </a:fld>
            <a:endParaRPr lang="en-US"/>
          </a:p>
        </p:txBody>
      </p:sp>
    </p:spTree>
    <p:extLst>
      <p:ext uri="{BB962C8B-B14F-4D97-AF65-F5344CB8AC3E}">
        <p14:creationId xmlns:p14="http://schemas.microsoft.com/office/powerpoint/2010/main" val="1709143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1C2CF-9D46-B342-0294-C50AE033543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9AA72D7-5182-DC8B-70CC-AA9C990E4F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90F171-0264-6145-123C-27ACEA419F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47DCBC-A563-C3A8-D174-19D037D42D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28A89E-141F-4C1C-F191-3A2EB4DD3E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565016-28B9-EAC6-616F-513547865F59}"/>
              </a:ext>
            </a:extLst>
          </p:cNvPr>
          <p:cNvSpPr>
            <a:spLocks noGrp="1"/>
          </p:cNvSpPr>
          <p:nvPr>
            <p:ph type="dt" sz="half" idx="10"/>
          </p:nvPr>
        </p:nvSpPr>
        <p:spPr/>
        <p:txBody>
          <a:bodyPr/>
          <a:lstStyle/>
          <a:p>
            <a:fld id="{B0A39554-D82D-854A-A43B-DE4E717E8030}" type="datetimeFigureOut">
              <a:rPr lang="en-US" smtClean="0"/>
              <a:t>11/5/24</a:t>
            </a:fld>
            <a:endParaRPr lang="en-US"/>
          </a:p>
        </p:txBody>
      </p:sp>
      <p:sp>
        <p:nvSpPr>
          <p:cNvPr id="8" name="Footer Placeholder 7">
            <a:extLst>
              <a:ext uri="{FF2B5EF4-FFF2-40B4-BE49-F238E27FC236}">
                <a16:creationId xmlns:a16="http://schemas.microsoft.com/office/drawing/2014/main" id="{F6B575DA-3D59-0D12-E6CD-8E09761D0A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1964D6-C445-8E71-1AE1-22CAA6950F12}"/>
              </a:ext>
            </a:extLst>
          </p:cNvPr>
          <p:cNvSpPr>
            <a:spLocks noGrp="1"/>
          </p:cNvSpPr>
          <p:nvPr>
            <p:ph type="sldNum" sz="quarter" idx="12"/>
          </p:nvPr>
        </p:nvSpPr>
        <p:spPr/>
        <p:txBody>
          <a:bodyPr/>
          <a:lstStyle/>
          <a:p>
            <a:fld id="{F170EE13-124D-CC42-8478-A27952F49B75}" type="slidenum">
              <a:rPr lang="en-US" smtClean="0"/>
              <a:t>‹#›</a:t>
            </a:fld>
            <a:endParaRPr lang="en-US"/>
          </a:p>
        </p:txBody>
      </p:sp>
    </p:spTree>
    <p:extLst>
      <p:ext uri="{BB962C8B-B14F-4D97-AF65-F5344CB8AC3E}">
        <p14:creationId xmlns:p14="http://schemas.microsoft.com/office/powerpoint/2010/main" val="866663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9F04A-0E32-667F-B066-412DBA44A6C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1A8D6C-F9CA-4DF1-F7D1-D3F71405739C}"/>
              </a:ext>
            </a:extLst>
          </p:cNvPr>
          <p:cNvSpPr>
            <a:spLocks noGrp="1"/>
          </p:cNvSpPr>
          <p:nvPr>
            <p:ph type="dt" sz="half" idx="10"/>
          </p:nvPr>
        </p:nvSpPr>
        <p:spPr/>
        <p:txBody>
          <a:bodyPr/>
          <a:lstStyle/>
          <a:p>
            <a:fld id="{B0A39554-D82D-854A-A43B-DE4E717E8030}" type="datetimeFigureOut">
              <a:rPr lang="en-US" smtClean="0"/>
              <a:t>11/5/24</a:t>
            </a:fld>
            <a:endParaRPr lang="en-US"/>
          </a:p>
        </p:txBody>
      </p:sp>
      <p:sp>
        <p:nvSpPr>
          <p:cNvPr id="4" name="Footer Placeholder 3">
            <a:extLst>
              <a:ext uri="{FF2B5EF4-FFF2-40B4-BE49-F238E27FC236}">
                <a16:creationId xmlns:a16="http://schemas.microsoft.com/office/drawing/2014/main" id="{433DF6D3-22EF-E38A-48F7-F6D60CA163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576AE76-19D4-FCCE-DBF8-8E6B2C6F3D6A}"/>
              </a:ext>
            </a:extLst>
          </p:cNvPr>
          <p:cNvSpPr>
            <a:spLocks noGrp="1"/>
          </p:cNvSpPr>
          <p:nvPr>
            <p:ph type="sldNum" sz="quarter" idx="12"/>
          </p:nvPr>
        </p:nvSpPr>
        <p:spPr/>
        <p:txBody>
          <a:bodyPr/>
          <a:lstStyle/>
          <a:p>
            <a:fld id="{F170EE13-124D-CC42-8478-A27952F49B75}" type="slidenum">
              <a:rPr lang="en-US" smtClean="0"/>
              <a:t>‹#›</a:t>
            </a:fld>
            <a:endParaRPr lang="en-US"/>
          </a:p>
        </p:txBody>
      </p:sp>
    </p:spTree>
    <p:extLst>
      <p:ext uri="{BB962C8B-B14F-4D97-AF65-F5344CB8AC3E}">
        <p14:creationId xmlns:p14="http://schemas.microsoft.com/office/powerpoint/2010/main" val="91368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7E9CA6-37CA-E1DB-2399-0E28E9E79328}"/>
              </a:ext>
            </a:extLst>
          </p:cNvPr>
          <p:cNvSpPr>
            <a:spLocks noGrp="1"/>
          </p:cNvSpPr>
          <p:nvPr>
            <p:ph type="dt" sz="half" idx="10"/>
          </p:nvPr>
        </p:nvSpPr>
        <p:spPr/>
        <p:txBody>
          <a:bodyPr/>
          <a:lstStyle/>
          <a:p>
            <a:fld id="{B0A39554-D82D-854A-A43B-DE4E717E8030}" type="datetimeFigureOut">
              <a:rPr lang="en-US" smtClean="0"/>
              <a:t>11/5/24</a:t>
            </a:fld>
            <a:endParaRPr lang="en-US"/>
          </a:p>
        </p:txBody>
      </p:sp>
      <p:sp>
        <p:nvSpPr>
          <p:cNvPr id="3" name="Footer Placeholder 2">
            <a:extLst>
              <a:ext uri="{FF2B5EF4-FFF2-40B4-BE49-F238E27FC236}">
                <a16:creationId xmlns:a16="http://schemas.microsoft.com/office/drawing/2014/main" id="{389012F1-87CF-A92D-8CD0-F4BBF0882BF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7CF5281-4271-430D-5D98-22E2872F4A4C}"/>
              </a:ext>
            </a:extLst>
          </p:cNvPr>
          <p:cNvSpPr>
            <a:spLocks noGrp="1"/>
          </p:cNvSpPr>
          <p:nvPr>
            <p:ph type="sldNum" sz="quarter" idx="12"/>
          </p:nvPr>
        </p:nvSpPr>
        <p:spPr/>
        <p:txBody>
          <a:bodyPr/>
          <a:lstStyle/>
          <a:p>
            <a:fld id="{F170EE13-124D-CC42-8478-A27952F49B75}" type="slidenum">
              <a:rPr lang="en-US" smtClean="0"/>
              <a:t>‹#›</a:t>
            </a:fld>
            <a:endParaRPr lang="en-US"/>
          </a:p>
        </p:txBody>
      </p:sp>
    </p:spTree>
    <p:extLst>
      <p:ext uri="{BB962C8B-B14F-4D97-AF65-F5344CB8AC3E}">
        <p14:creationId xmlns:p14="http://schemas.microsoft.com/office/powerpoint/2010/main" val="2376203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8B594-B52B-1480-5508-6012EA448E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E446D77-3586-523A-B186-4819A95949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C7DE2E6-FB9B-2BDB-9AAB-402FCDF766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C1DFBE-53EE-6BCA-4D65-428B22AA8909}"/>
              </a:ext>
            </a:extLst>
          </p:cNvPr>
          <p:cNvSpPr>
            <a:spLocks noGrp="1"/>
          </p:cNvSpPr>
          <p:nvPr>
            <p:ph type="dt" sz="half" idx="10"/>
          </p:nvPr>
        </p:nvSpPr>
        <p:spPr/>
        <p:txBody>
          <a:bodyPr/>
          <a:lstStyle/>
          <a:p>
            <a:fld id="{B0A39554-D82D-854A-A43B-DE4E717E8030}" type="datetimeFigureOut">
              <a:rPr lang="en-US" smtClean="0"/>
              <a:t>11/5/24</a:t>
            </a:fld>
            <a:endParaRPr lang="en-US"/>
          </a:p>
        </p:txBody>
      </p:sp>
      <p:sp>
        <p:nvSpPr>
          <p:cNvPr id="6" name="Footer Placeholder 5">
            <a:extLst>
              <a:ext uri="{FF2B5EF4-FFF2-40B4-BE49-F238E27FC236}">
                <a16:creationId xmlns:a16="http://schemas.microsoft.com/office/drawing/2014/main" id="{23131195-E9D0-A8C8-4B22-216B5978ED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F0FA49-3DF6-956E-0561-28D4AF8C7523}"/>
              </a:ext>
            </a:extLst>
          </p:cNvPr>
          <p:cNvSpPr>
            <a:spLocks noGrp="1"/>
          </p:cNvSpPr>
          <p:nvPr>
            <p:ph type="sldNum" sz="quarter" idx="12"/>
          </p:nvPr>
        </p:nvSpPr>
        <p:spPr/>
        <p:txBody>
          <a:bodyPr/>
          <a:lstStyle/>
          <a:p>
            <a:fld id="{F170EE13-124D-CC42-8478-A27952F49B75}" type="slidenum">
              <a:rPr lang="en-US" smtClean="0"/>
              <a:t>‹#›</a:t>
            </a:fld>
            <a:endParaRPr lang="en-US"/>
          </a:p>
        </p:txBody>
      </p:sp>
    </p:spTree>
    <p:extLst>
      <p:ext uri="{BB962C8B-B14F-4D97-AF65-F5344CB8AC3E}">
        <p14:creationId xmlns:p14="http://schemas.microsoft.com/office/powerpoint/2010/main" val="647068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D20D9-190C-60E7-AF0A-3647FCEFC1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9B46C3-1856-2712-D925-A19A282FDD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E43C36C-1C83-6389-BC82-B0E7D260B4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2743E1-F65F-F5EF-1C3A-81AE15898357}"/>
              </a:ext>
            </a:extLst>
          </p:cNvPr>
          <p:cNvSpPr>
            <a:spLocks noGrp="1"/>
          </p:cNvSpPr>
          <p:nvPr>
            <p:ph type="dt" sz="half" idx="10"/>
          </p:nvPr>
        </p:nvSpPr>
        <p:spPr/>
        <p:txBody>
          <a:bodyPr/>
          <a:lstStyle/>
          <a:p>
            <a:fld id="{B0A39554-D82D-854A-A43B-DE4E717E8030}" type="datetimeFigureOut">
              <a:rPr lang="en-US" smtClean="0"/>
              <a:t>11/5/24</a:t>
            </a:fld>
            <a:endParaRPr lang="en-US"/>
          </a:p>
        </p:txBody>
      </p:sp>
      <p:sp>
        <p:nvSpPr>
          <p:cNvPr id="6" name="Footer Placeholder 5">
            <a:extLst>
              <a:ext uri="{FF2B5EF4-FFF2-40B4-BE49-F238E27FC236}">
                <a16:creationId xmlns:a16="http://schemas.microsoft.com/office/drawing/2014/main" id="{61FA77F3-5490-5F5B-CB75-5E29D0AEEE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2B059A-1834-D281-E5B2-8DC4EA278859}"/>
              </a:ext>
            </a:extLst>
          </p:cNvPr>
          <p:cNvSpPr>
            <a:spLocks noGrp="1"/>
          </p:cNvSpPr>
          <p:nvPr>
            <p:ph type="sldNum" sz="quarter" idx="12"/>
          </p:nvPr>
        </p:nvSpPr>
        <p:spPr/>
        <p:txBody>
          <a:bodyPr/>
          <a:lstStyle/>
          <a:p>
            <a:fld id="{F170EE13-124D-CC42-8478-A27952F49B75}" type="slidenum">
              <a:rPr lang="en-US" smtClean="0"/>
              <a:t>‹#›</a:t>
            </a:fld>
            <a:endParaRPr lang="en-US"/>
          </a:p>
        </p:txBody>
      </p:sp>
    </p:spTree>
    <p:extLst>
      <p:ext uri="{BB962C8B-B14F-4D97-AF65-F5344CB8AC3E}">
        <p14:creationId xmlns:p14="http://schemas.microsoft.com/office/powerpoint/2010/main" val="2958448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061B4-FEDD-BF7C-B296-70D52D6FE1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74F88A1-ED97-678B-8667-DCFFE0745A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FFFC67-74B2-AFEC-B33F-4EF78B68BE9E}"/>
              </a:ext>
            </a:extLst>
          </p:cNvPr>
          <p:cNvSpPr>
            <a:spLocks noGrp="1"/>
          </p:cNvSpPr>
          <p:nvPr>
            <p:ph type="dt" sz="half" idx="10"/>
          </p:nvPr>
        </p:nvSpPr>
        <p:spPr/>
        <p:txBody>
          <a:bodyPr/>
          <a:lstStyle/>
          <a:p>
            <a:fld id="{B0A39554-D82D-854A-A43B-DE4E717E8030}" type="datetimeFigureOut">
              <a:rPr lang="en-US" smtClean="0"/>
              <a:t>11/5/24</a:t>
            </a:fld>
            <a:endParaRPr lang="en-US"/>
          </a:p>
        </p:txBody>
      </p:sp>
      <p:sp>
        <p:nvSpPr>
          <p:cNvPr id="5" name="Footer Placeholder 4">
            <a:extLst>
              <a:ext uri="{FF2B5EF4-FFF2-40B4-BE49-F238E27FC236}">
                <a16:creationId xmlns:a16="http://schemas.microsoft.com/office/drawing/2014/main" id="{76ECF1D1-396A-C4C4-362D-70F0A7FD60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A5B7D1-C105-1599-ABCB-B094285E52FF}"/>
              </a:ext>
            </a:extLst>
          </p:cNvPr>
          <p:cNvSpPr>
            <a:spLocks noGrp="1"/>
          </p:cNvSpPr>
          <p:nvPr>
            <p:ph type="sldNum" sz="quarter" idx="12"/>
          </p:nvPr>
        </p:nvSpPr>
        <p:spPr/>
        <p:txBody>
          <a:bodyPr/>
          <a:lstStyle/>
          <a:p>
            <a:fld id="{F170EE13-124D-CC42-8478-A27952F49B75}" type="slidenum">
              <a:rPr lang="en-US" smtClean="0"/>
              <a:t>‹#›</a:t>
            </a:fld>
            <a:endParaRPr lang="en-US"/>
          </a:p>
        </p:txBody>
      </p:sp>
    </p:spTree>
    <p:extLst>
      <p:ext uri="{BB962C8B-B14F-4D97-AF65-F5344CB8AC3E}">
        <p14:creationId xmlns:p14="http://schemas.microsoft.com/office/powerpoint/2010/main" val="114855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807B00-9552-0F15-FD4F-CDCCF787869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286FF21-E23E-8773-DA1C-37275B839D8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9B0013-11B8-B0EE-5D6F-AE583313DFE5}"/>
              </a:ext>
            </a:extLst>
          </p:cNvPr>
          <p:cNvSpPr>
            <a:spLocks noGrp="1"/>
          </p:cNvSpPr>
          <p:nvPr>
            <p:ph type="dt" sz="half" idx="10"/>
          </p:nvPr>
        </p:nvSpPr>
        <p:spPr/>
        <p:txBody>
          <a:bodyPr/>
          <a:lstStyle/>
          <a:p>
            <a:fld id="{B0A39554-D82D-854A-A43B-DE4E717E8030}" type="datetimeFigureOut">
              <a:rPr lang="en-US" smtClean="0"/>
              <a:t>11/5/24</a:t>
            </a:fld>
            <a:endParaRPr lang="en-US"/>
          </a:p>
        </p:txBody>
      </p:sp>
      <p:sp>
        <p:nvSpPr>
          <p:cNvPr id="5" name="Footer Placeholder 4">
            <a:extLst>
              <a:ext uri="{FF2B5EF4-FFF2-40B4-BE49-F238E27FC236}">
                <a16:creationId xmlns:a16="http://schemas.microsoft.com/office/drawing/2014/main" id="{BBB3C4B2-6E2A-FB80-C919-20A8C7FEDA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CC5A15-DADF-5626-2C98-12F695644F84}"/>
              </a:ext>
            </a:extLst>
          </p:cNvPr>
          <p:cNvSpPr>
            <a:spLocks noGrp="1"/>
          </p:cNvSpPr>
          <p:nvPr>
            <p:ph type="sldNum" sz="quarter" idx="12"/>
          </p:nvPr>
        </p:nvSpPr>
        <p:spPr/>
        <p:txBody>
          <a:bodyPr/>
          <a:lstStyle/>
          <a:p>
            <a:fld id="{F170EE13-124D-CC42-8478-A27952F49B75}" type="slidenum">
              <a:rPr lang="en-US" smtClean="0"/>
              <a:t>‹#›</a:t>
            </a:fld>
            <a:endParaRPr lang="en-US"/>
          </a:p>
        </p:txBody>
      </p:sp>
    </p:spTree>
    <p:extLst>
      <p:ext uri="{BB962C8B-B14F-4D97-AF65-F5344CB8AC3E}">
        <p14:creationId xmlns:p14="http://schemas.microsoft.com/office/powerpoint/2010/main" val="3914186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20D6F3-465F-F4A8-3E49-5A4336C173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198A73C-9FE6-F067-FFA1-093555EB03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3BE7FF-231C-F36E-B963-CE3E08A509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0A39554-D82D-854A-A43B-DE4E717E8030}" type="datetimeFigureOut">
              <a:rPr lang="en-US" smtClean="0"/>
              <a:t>11/5/24</a:t>
            </a:fld>
            <a:endParaRPr lang="en-US"/>
          </a:p>
        </p:txBody>
      </p:sp>
      <p:sp>
        <p:nvSpPr>
          <p:cNvPr id="5" name="Footer Placeholder 4">
            <a:extLst>
              <a:ext uri="{FF2B5EF4-FFF2-40B4-BE49-F238E27FC236}">
                <a16:creationId xmlns:a16="http://schemas.microsoft.com/office/drawing/2014/main" id="{29DFFFAA-E0D1-C8ED-DCA1-C94CBC8C83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9FE3551-D5D6-61E1-B544-6D46F651BD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170EE13-124D-CC42-8478-A27952F49B75}" type="slidenum">
              <a:rPr lang="en-US" smtClean="0"/>
              <a:t>‹#›</a:t>
            </a:fld>
            <a:endParaRPr lang="en-US"/>
          </a:p>
        </p:txBody>
      </p:sp>
    </p:spTree>
    <p:extLst>
      <p:ext uri="{BB962C8B-B14F-4D97-AF65-F5344CB8AC3E}">
        <p14:creationId xmlns:p14="http://schemas.microsoft.com/office/powerpoint/2010/main" val="21748190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3713EF35-50A5-B2FB-C207-C409326D32A3}"/>
              </a:ext>
            </a:extLst>
          </p:cNvPr>
          <p:cNvSpPr txBox="1">
            <a:spLocks/>
          </p:cNvSpPr>
          <p:nvPr/>
        </p:nvSpPr>
        <p:spPr>
          <a:xfrm>
            <a:off x="838200" y="2852057"/>
            <a:ext cx="10515600" cy="26887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dirty="0"/>
              <a:t>Please note that these are sample questions for practicing on the concepts and not questions from </a:t>
            </a:r>
            <a:r>
              <a:rPr lang="en-US" sz="2400"/>
              <a:t>the exam</a:t>
            </a:r>
            <a:endParaRPr lang="en-US" sz="2400" dirty="0"/>
          </a:p>
          <a:p>
            <a:pPr>
              <a:lnSpc>
                <a:spcPct val="100000"/>
              </a:lnSpc>
            </a:pPr>
            <a:endParaRPr lang="en-US" dirty="0"/>
          </a:p>
        </p:txBody>
      </p:sp>
    </p:spTree>
    <p:extLst>
      <p:ext uri="{BB962C8B-B14F-4D97-AF65-F5344CB8AC3E}">
        <p14:creationId xmlns:p14="http://schemas.microsoft.com/office/powerpoint/2010/main" val="50114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918242"/>
          </a:xfrm>
        </p:spPr>
        <p:txBody>
          <a:bodyPr>
            <a:noAutofit/>
          </a:bodyPr>
          <a:lstStyle/>
          <a:p>
            <a:r>
              <a:rPr lang="en-US" sz="3200" b="1" dirty="0">
                <a:latin typeface="Times New Roman" panose="02020603050405020304" pitchFamily="18" charset="0"/>
                <a:cs typeface="Times New Roman" panose="02020603050405020304" pitchFamily="18" charset="0"/>
              </a:rPr>
              <a:t>Q</a:t>
            </a:r>
            <a:endParaRPr lang="nl-NL" sz="3200" b="1" dirty="0">
              <a:latin typeface="Times New Roman" panose="02020603050405020304" pitchFamily="18" charset="0"/>
              <a:cs typeface="Times New Roman" panose="02020603050405020304" pitchFamily="18" charset="0"/>
            </a:endParaRPr>
          </a:p>
        </p:txBody>
      </p:sp>
      <p:sp>
        <p:nvSpPr>
          <p:cNvPr id="11" name="Content Placeholder 4">
            <a:extLst>
              <a:ext uri="{FF2B5EF4-FFF2-40B4-BE49-F238E27FC236}">
                <a16:creationId xmlns:a16="http://schemas.microsoft.com/office/drawing/2014/main" id="{C45A49BA-F1EE-4748-AA1D-3967F9097D38}"/>
              </a:ext>
            </a:extLst>
          </p:cNvPr>
          <p:cNvSpPr txBox="1">
            <a:spLocks/>
          </p:cNvSpPr>
          <p:nvPr/>
        </p:nvSpPr>
        <p:spPr>
          <a:xfrm>
            <a:off x="812562" y="1415143"/>
            <a:ext cx="10515600" cy="486591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dirty="0"/>
              <a:t>a. (2 </a:t>
            </a:r>
            <a:r>
              <a:rPr lang="en-US" sz="2400" dirty="0" err="1"/>
              <a:t>pnts</a:t>
            </a:r>
            <a:r>
              <a:rPr lang="en-US" sz="2400" dirty="0"/>
              <a:t>) Handling the imbalanced data can be done in different ways, list the different techniques that can be used for this purpose. Which one of them is the least feasible technique and why?</a:t>
            </a:r>
          </a:p>
          <a:p>
            <a:pPr>
              <a:lnSpc>
                <a:spcPct val="100000"/>
              </a:lnSpc>
            </a:pPr>
            <a:r>
              <a:rPr lang="en-US" sz="2400" dirty="0"/>
              <a:t>b. (2 </a:t>
            </a:r>
            <a:r>
              <a:rPr lang="en-US" sz="2400" dirty="0" err="1"/>
              <a:t>pnts</a:t>
            </a:r>
            <a:r>
              <a:rPr lang="en-US" sz="2400" dirty="0"/>
              <a:t>) Given:</a:t>
            </a:r>
          </a:p>
          <a:p>
            <a:pPr lvl="1">
              <a:lnSpc>
                <a:spcPct val="100000"/>
              </a:lnSpc>
            </a:pPr>
            <a:r>
              <a:rPr lang="en-US" dirty="0"/>
              <a:t> the number of positive/negative examples in a dataset is 600/300</a:t>
            </a:r>
          </a:p>
          <a:p>
            <a:pPr lvl="1">
              <a:lnSpc>
                <a:spcPct val="100000"/>
              </a:lnSpc>
            </a:pPr>
            <a:r>
              <a:rPr lang="en-US" dirty="0"/>
              <a:t>200 examples from the unprivileged group with 120 positive examples</a:t>
            </a:r>
          </a:p>
          <a:p>
            <a:pPr lvl="1">
              <a:lnSpc>
                <a:spcPct val="100000"/>
              </a:lnSpc>
            </a:pPr>
            <a:r>
              <a:rPr lang="en-US" dirty="0"/>
              <a:t>480 positive examples from the privileged group. </a:t>
            </a:r>
          </a:p>
          <a:p>
            <a:pPr lvl="1">
              <a:lnSpc>
                <a:spcPct val="100000"/>
              </a:lnSpc>
            </a:pPr>
            <a:r>
              <a:rPr lang="en-US" dirty="0"/>
              <a:t>We have only privileged/ unprivileged but nothing in between. </a:t>
            </a:r>
          </a:p>
          <a:p>
            <a:pPr marL="457200" lvl="1" indent="0">
              <a:lnSpc>
                <a:spcPct val="100000"/>
              </a:lnSpc>
              <a:buNone/>
            </a:pPr>
            <a:r>
              <a:rPr lang="en-US" dirty="0"/>
              <a:t>Compute the disparate impact ratio and comment on whether this dataset is fair or not and why? (Note: the formula of DI-ratio metric will be given in the exam if you have a question that requires it or the other fairness metrics).</a:t>
            </a:r>
          </a:p>
          <a:p>
            <a:pPr>
              <a:lnSpc>
                <a:spcPct val="100000"/>
              </a:lnSpc>
            </a:pPr>
            <a:endParaRPr lang="en-US" dirty="0"/>
          </a:p>
        </p:txBody>
      </p:sp>
    </p:spTree>
    <p:extLst>
      <p:ext uri="{BB962C8B-B14F-4D97-AF65-F5344CB8AC3E}">
        <p14:creationId xmlns:p14="http://schemas.microsoft.com/office/powerpoint/2010/main" val="23425758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85CE4-73BF-8F50-6509-B3F5BE8A55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F92746-8CEA-E0C7-7345-DD6A1CEA992B}"/>
              </a:ext>
            </a:extLst>
          </p:cNvPr>
          <p:cNvSpPr>
            <a:spLocks noGrp="1"/>
          </p:cNvSpPr>
          <p:nvPr>
            <p:ph type="title"/>
          </p:nvPr>
        </p:nvSpPr>
        <p:spPr>
          <a:xfrm>
            <a:off x="838200" y="365126"/>
            <a:ext cx="10515600" cy="918242"/>
          </a:xfrm>
        </p:spPr>
        <p:txBody>
          <a:bodyPr>
            <a:noAutofit/>
          </a:bodyPr>
          <a:lstStyle/>
          <a:p>
            <a:r>
              <a:rPr lang="en-US" sz="3200" b="1" dirty="0">
                <a:latin typeface="Times New Roman" panose="02020603050405020304" pitchFamily="18" charset="0"/>
                <a:cs typeface="Times New Roman" panose="02020603050405020304" pitchFamily="18" charset="0"/>
              </a:rPr>
              <a:t>Q</a:t>
            </a:r>
            <a:endParaRPr lang="nl-NL"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1" name="Content Placeholder 4">
                <a:extLst>
                  <a:ext uri="{FF2B5EF4-FFF2-40B4-BE49-F238E27FC236}">
                    <a16:creationId xmlns:a16="http://schemas.microsoft.com/office/drawing/2014/main" id="{B6451331-C5ED-DD06-80D9-B7EEBD832202}"/>
                  </a:ext>
                </a:extLst>
              </p:cNvPr>
              <p:cNvSpPr txBox="1">
                <a:spLocks/>
              </p:cNvSpPr>
              <p:nvPr/>
            </p:nvSpPr>
            <p:spPr>
              <a:xfrm>
                <a:off x="812561" y="1415143"/>
                <a:ext cx="10976667" cy="48332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dirty="0"/>
                  <a:t>c. (2 </a:t>
                </a:r>
                <a:r>
                  <a:rPr lang="en-US" sz="2400" dirty="0" err="1"/>
                  <a:t>pnts</a:t>
                </a:r>
                <a:r>
                  <a:rPr lang="en-US" sz="2400" dirty="0"/>
                  <a:t>) How does SMOTE work to generate synthetic examples? Use SMOTE to generate one more example between the points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oMath>
                </a14:m>
                <a:r>
                  <a:rPr lang="en-US" sz="2400" dirty="0"/>
                  <a:t> and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b="0" i="1" smtClean="0">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b="0" i="1" smtClean="0">
                            <a:latin typeface="Cambria Math" panose="02040503050406030204" pitchFamily="18" charset="0"/>
                          </a:rPr>
                          <m:t>2</m:t>
                        </m:r>
                      </m:sub>
                    </m:sSub>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en-US" sz="2400" b="0" i="1" smtClean="0">
                            <a:latin typeface="Cambria Math" panose="02040503050406030204" pitchFamily="18" charset="0"/>
                          </a:rPr>
                          <m:t>2</m:t>
                        </m:r>
                      </m:sub>
                    </m:sSub>
                    <m:r>
                      <a:rPr lang="en-US" sz="2400" i="1">
                        <a:latin typeface="Cambria Math" panose="02040503050406030204" pitchFamily="18" charset="0"/>
                      </a:rPr>
                      <m:t>)</m:t>
                    </m:r>
                  </m:oMath>
                </a14:m>
                <a:endParaRPr lang="en-US" sz="2400" dirty="0"/>
              </a:p>
              <a:p>
                <a:pPr>
                  <a:lnSpc>
                    <a:spcPct val="100000"/>
                  </a:lnSpc>
                </a:pPr>
                <a:r>
                  <a:rPr lang="en-US" sz="2400" dirty="0"/>
                  <a:t>d. (2 </a:t>
                </a:r>
                <a:r>
                  <a:rPr lang="en-US" sz="2400" dirty="0" err="1"/>
                  <a:t>pnts</a:t>
                </a:r>
                <a:r>
                  <a:rPr lang="en-US" sz="2400" dirty="0"/>
                  <a:t>) Explain how generative adversarial networks work and list two of the failure cases. </a:t>
                </a:r>
              </a:p>
              <a:p>
                <a:pPr>
                  <a:lnSpc>
                    <a:spcPct val="100000"/>
                  </a:lnSpc>
                </a:pPr>
                <a:r>
                  <a:rPr lang="en-US" sz="2400" dirty="0"/>
                  <a:t>e. (3 </a:t>
                </a:r>
                <a:r>
                  <a:rPr lang="en-US" sz="2400" dirty="0" err="1"/>
                  <a:t>pnts</a:t>
                </a:r>
                <a:r>
                  <a:rPr lang="en-US" sz="2400" dirty="0"/>
                  <a:t>) Given the data</a:t>
                </a:r>
              </a:p>
              <a:p>
                <a:pPr>
                  <a:lnSpc>
                    <a:spcPct val="100000"/>
                  </a:lnSpc>
                </a:pPr>
                <a:endParaRPr lang="en-US" dirty="0"/>
              </a:p>
              <a:p>
                <a:pPr>
                  <a:lnSpc>
                    <a:spcPct val="100000"/>
                  </a:lnSpc>
                </a:pPr>
                <a:endParaRPr lang="en-US" dirty="0"/>
              </a:p>
              <a:p>
                <a:pPr lvl="1">
                  <a:lnSpc>
                    <a:spcPct val="100000"/>
                  </a:lnSpc>
                </a:pPr>
                <a:r>
                  <a:rPr lang="en-US" dirty="0"/>
                  <a:t>Use exponential smoothing with </a:t>
                </a:r>
                <a14:m>
                  <m:oMath xmlns:m="http://schemas.openxmlformats.org/officeDocument/2006/math">
                    <m:r>
                      <a:rPr lang="en-US" b="0" i="1" smtClean="0">
                        <a:latin typeface="Cambria Math" panose="02040503050406030204" pitchFamily="18" charset="0"/>
                      </a:rPr>
                      <m:t>𝛼</m:t>
                    </m:r>
                    <m:r>
                      <a:rPr lang="en-US" b="0" i="1" smtClean="0">
                        <a:latin typeface="Cambria Math" panose="02040503050406030204" pitchFamily="18" charset="0"/>
                      </a:rPr>
                      <m:t>=0.3 </m:t>
                    </m:r>
                  </m:oMath>
                </a14:m>
                <a:r>
                  <a:rPr lang="en-US" dirty="0"/>
                  <a:t>for predicting the value at year 1995 given that the predicted value at year 1994 is 17.3</a:t>
                </a:r>
              </a:p>
              <a:p>
                <a:pPr lvl="1">
                  <a:lnSpc>
                    <a:spcPct val="100000"/>
                  </a:lnSpc>
                </a:pPr>
                <a:r>
                  <a:rPr lang="en-US" dirty="0"/>
                  <a:t>Use the moving average with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=4</m:t>
                    </m:r>
                  </m:oMath>
                </a14:m>
                <a:r>
                  <a:rPr lang="en-US" dirty="0"/>
                  <a:t> to predict the value of </a:t>
                </a:r>
                <a14:m>
                  <m:oMath xmlns:m="http://schemas.openxmlformats.org/officeDocument/2006/math">
                    <m:r>
                      <a:rPr lang="en-US" b="0" i="1" smtClean="0">
                        <a:latin typeface="Cambria Math" panose="02040503050406030204" pitchFamily="18" charset="0"/>
                      </a:rPr>
                      <m:t>𝑦</m:t>
                    </m:r>
                  </m:oMath>
                </a14:m>
                <a:r>
                  <a:rPr lang="en-US" dirty="0"/>
                  <a:t> for 1999 and 2000</a:t>
                </a:r>
              </a:p>
            </p:txBody>
          </p:sp>
        </mc:Choice>
        <mc:Fallback>
          <p:sp>
            <p:nvSpPr>
              <p:cNvPr id="11" name="Content Placeholder 4">
                <a:extLst>
                  <a:ext uri="{FF2B5EF4-FFF2-40B4-BE49-F238E27FC236}">
                    <a16:creationId xmlns:a16="http://schemas.microsoft.com/office/drawing/2014/main" id="{B6451331-C5ED-DD06-80D9-B7EEBD832202}"/>
                  </a:ext>
                </a:extLst>
              </p:cNvPr>
              <p:cNvSpPr txBox="1">
                <a:spLocks noRot="1" noChangeAspect="1" noMove="1" noResize="1" noEditPoints="1" noAdjustHandles="1" noChangeArrowheads="1" noChangeShapeType="1" noTextEdit="1"/>
              </p:cNvSpPr>
              <p:nvPr/>
            </p:nvSpPr>
            <p:spPr>
              <a:xfrm>
                <a:off x="812561" y="1415143"/>
                <a:ext cx="10976667" cy="4833257"/>
              </a:xfrm>
              <a:prstGeom prst="rect">
                <a:avLst/>
              </a:prstGeom>
              <a:blipFill>
                <a:blip r:embed="rId2"/>
                <a:stretch>
                  <a:fillRect l="-693" t="-1047" r="-127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02CEE13F-396D-99DC-4474-8DA80F297134}"/>
                  </a:ext>
                </a:extLst>
              </p:cNvPr>
              <p:cNvGraphicFramePr>
                <a:graphicFrameLocks noGrp="1"/>
              </p:cNvGraphicFramePr>
              <p:nvPr>
                <p:extLst>
                  <p:ext uri="{D42A27DB-BD31-4B8C-83A1-F6EECF244321}">
                    <p14:modId xmlns:p14="http://schemas.microsoft.com/office/powerpoint/2010/main" val="3292332963"/>
                  </p:ext>
                </p:extLst>
              </p:nvPr>
            </p:nvGraphicFramePr>
            <p:xfrm>
              <a:off x="2423886" y="3789438"/>
              <a:ext cx="8128000" cy="741680"/>
            </p:xfrm>
            <a:graphic>
              <a:graphicData uri="http://schemas.openxmlformats.org/drawingml/2006/table">
                <a:tbl>
                  <a:tblPr firstRow="1" bandRow="1">
                    <a:tableStyleId>{5C22544A-7EE6-4342-B048-85BDC9FD1C3A}</a:tableStyleId>
                  </a:tblPr>
                  <a:tblGrid>
                    <a:gridCol w="812800">
                      <a:extLst>
                        <a:ext uri="{9D8B030D-6E8A-4147-A177-3AD203B41FA5}">
                          <a16:colId xmlns:a16="http://schemas.microsoft.com/office/drawing/2014/main" val="1748025700"/>
                        </a:ext>
                      </a:extLst>
                    </a:gridCol>
                    <a:gridCol w="812800">
                      <a:extLst>
                        <a:ext uri="{9D8B030D-6E8A-4147-A177-3AD203B41FA5}">
                          <a16:colId xmlns:a16="http://schemas.microsoft.com/office/drawing/2014/main" val="3607248806"/>
                        </a:ext>
                      </a:extLst>
                    </a:gridCol>
                    <a:gridCol w="812800">
                      <a:extLst>
                        <a:ext uri="{9D8B030D-6E8A-4147-A177-3AD203B41FA5}">
                          <a16:colId xmlns:a16="http://schemas.microsoft.com/office/drawing/2014/main" val="3649662325"/>
                        </a:ext>
                      </a:extLst>
                    </a:gridCol>
                    <a:gridCol w="812800">
                      <a:extLst>
                        <a:ext uri="{9D8B030D-6E8A-4147-A177-3AD203B41FA5}">
                          <a16:colId xmlns:a16="http://schemas.microsoft.com/office/drawing/2014/main" val="3919557230"/>
                        </a:ext>
                      </a:extLst>
                    </a:gridCol>
                    <a:gridCol w="812800">
                      <a:extLst>
                        <a:ext uri="{9D8B030D-6E8A-4147-A177-3AD203B41FA5}">
                          <a16:colId xmlns:a16="http://schemas.microsoft.com/office/drawing/2014/main" val="3046040075"/>
                        </a:ext>
                      </a:extLst>
                    </a:gridCol>
                    <a:gridCol w="812800">
                      <a:extLst>
                        <a:ext uri="{9D8B030D-6E8A-4147-A177-3AD203B41FA5}">
                          <a16:colId xmlns:a16="http://schemas.microsoft.com/office/drawing/2014/main" val="1739896634"/>
                        </a:ext>
                      </a:extLst>
                    </a:gridCol>
                    <a:gridCol w="812800">
                      <a:extLst>
                        <a:ext uri="{9D8B030D-6E8A-4147-A177-3AD203B41FA5}">
                          <a16:colId xmlns:a16="http://schemas.microsoft.com/office/drawing/2014/main" val="1694616747"/>
                        </a:ext>
                      </a:extLst>
                    </a:gridCol>
                    <a:gridCol w="812800">
                      <a:extLst>
                        <a:ext uri="{9D8B030D-6E8A-4147-A177-3AD203B41FA5}">
                          <a16:colId xmlns:a16="http://schemas.microsoft.com/office/drawing/2014/main" val="1242252902"/>
                        </a:ext>
                      </a:extLst>
                    </a:gridCol>
                    <a:gridCol w="812800">
                      <a:extLst>
                        <a:ext uri="{9D8B030D-6E8A-4147-A177-3AD203B41FA5}">
                          <a16:colId xmlns:a16="http://schemas.microsoft.com/office/drawing/2014/main" val="2906582248"/>
                        </a:ext>
                      </a:extLst>
                    </a:gridCol>
                    <a:gridCol w="812800">
                      <a:extLst>
                        <a:ext uri="{9D8B030D-6E8A-4147-A177-3AD203B41FA5}">
                          <a16:colId xmlns:a16="http://schemas.microsoft.com/office/drawing/2014/main" val="1622466608"/>
                        </a:ext>
                      </a:extLst>
                    </a:gridCol>
                  </a:tblGrid>
                  <a:tr h="370840">
                    <a:tc>
                      <a:txBody>
                        <a:bodyPr/>
                        <a:lstStyle/>
                        <a:p>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𝑥</m:t>
                                </m:r>
                              </m:oMath>
                            </m:oMathPara>
                          </a14:m>
                          <a:endParaRPr lang="en-US" dirty="0"/>
                        </a:p>
                      </a:txBody>
                      <a:tcPr>
                        <a:solidFill>
                          <a:schemeClr val="accent1"/>
                        </a:solidFill>
                      </a:tcPr>
                    </a:tc>
                    <a:tc>
                      <a:txBody>
                        <a:bodyPr/>
                        <a:lstStyle/>
                        <a:p>
                          <a:r>
                            <a:rPr lang="en-US" b="0" dirty="0">
                              <a:solidFill>
                                <a:schemeClr val="tx1"/>
                              </a:solidFill>
                            </a:rPr>
                            <a:t>1990</a:t>
                          </a:r>
                        </a:p>
                      </a:txBody>
                      <a:tcPr>
                        <a:solidFill>
                          <a:schemeClr val="tx2">
                            <a:lumMod val="25000"/>
                            <a:lumOff val="75000"/>
                          </a:schemeClr>
                        </a:solidFill>
                      </a:tcPr>
                    </a:tc>
                    <a:tc>
                      <a:txBody>
                        <a:bodyPr/>
                        <a:lstStyle/>
                        <a:p>
                          <a:r>
                            <a:rPr lang="en-US" b="0" dirty="0">
                              <a:solidFill>
                                <a:schemeClr val="tx1"/>
                              </a:solidFill>
                            </a:rPr>
                            <a:t>1991</a:t>
                          </a:r>
                        </a:p>
                      </a:txBody>
                      <a:tcPr>
                        <a:solidFill>
                          <a:schemeClr val="tx2">
                            <a:lumMod val="25000"/>
                            <a:lumOff val="75000"/>
                          </a:schemeClr>
                        </a:solidFill>
                      </a:tcPr>
                    </a:tc>
                    <a:tc>
                      <a:txBody>
                        <a:bodyPr/>
                        <a:lstStyle/>
                        <a:p>
                          <a:r>
                            <a:rPr lang="en-US" b="0" dirty="0">
                              <a:solidFill>
                                <a:schemeClr val="tx1"/>
                              </a:solidFill>
                            </a:rPr>
                            <a:t>1992</a:t>
                          </a:r>
                        </a:p>
                      </a:txBody>
                      <a:tcPr>
                        <a:solidFill>
                          <a:schemeClr val="tx2">
                            <a:lumMod val="25000"/>
                            <a:lumOff val="75000"/>
                          </a:schemeClr>
                        </a:solidFill>
                      </a:tcPr>
                    </a:tc>
                    <a:tc>
                      <a:txBody>
                        <a:bodyPr/>
                        <a:lstStyle/>
                        <a:p>
                          <a:r>
                            <a:rPr lang="en-US" b="0" dirty="0">
                              <a:solidFill>
                                <a:schemeClr val="tx1"/>
                              </a:solidFill>
                            </a:rPr>
                            <a:t>1993</a:t>
                          </a:r>
                        </a:p>
                      </a:txBody>
                      <a:tcPr>
                        <a:solidFill>
                          <a:schemeClr val="tx2">
                            <a:lumMod val="25000"/>
                            <a:lumOff val="75000"/>
                          </a:schemeClr>
                        </a:solidFill>
                      </a:tcPr>
                    </a:tc>
                    <a:tc>
                      <a:txBody>
                        <a:bodyPr/>
                        <a:lstStyle/>
                        <a:p>
                          <a:r>
                            <a:rPr lang="en-US" b="0" dirty="0">
                              <a:solidFill>
                                <a:schemeClr val="tx1"/>
                              </a:solidFill>
                            </a:rPr>
                            <a:t>1994</a:t>
                          </a:r>
                        </a:p>
                      </a:txBody>
                      <a:tcPr>
                        <a:solidFill>
                          <a:schemeClr val="tx2">
                            <a:lumMod val="25000"/>
                            <a:lumOff val="75000"/>
                          </a:schemeClr>
                        </a:solidFill>
                      </a:tcPr>
                    </a:tc>
                    <a:tc>
                      <a:txBody>
                        <a:bodyPr/>
                        <a:lstStyle/>
                        <a:p>
                          <a:r>
                            <a:rPr lang="en-US" b="0" dirty="0">
                              <a:solidFill>
                                <a:schemeClr val="tx1"/>
                              </a:solidFill>
                            </a:rPr>
                            <a:t>1995</a:t>
                          </a:r>
                        </a:p>
                      </a:txBody>
                      <a:tcPr>
                        <a:solidFill>
                          <a:schemeClr val="tx2">
                            <a:lumMod val="25000"/>
                            <a:lumOff val="75000"/>
                          </a:schemeClr>
                        </a:solidFill>
                      </a:tcPr>
                    </a:tc>
                    <a:tc>
                      <a:txBody>
                        <a:bodyPr/>
                        <a:lstStyle/>
                        <a:p>
                          <a:r>
                            <a:rPr lang="en-US" b="0" dirty="0">
                              <a:solidFill>
                                <a:schemeClr val="tx1"/>
                              </a:solidFill>
                            </a:rPr>
                            <a:t>1996</a:t>
                          </a:r>
                        </a:p>
                      </a:txBody>
                      <a:tcPr>
                        <a:solidFill>
                          <a:schemeClr val="tx2">
                            <a:lumMod val="25000"/>
                            <a:lumOff val="75000"/>
                          </a:schemeClr>
                        </a:solidFill>
                      </a:tcPr>
                    </a:tc>
                    <a:tc>
                      <a:txBody>
                        <a:bodyPr/>
                        <a:lstStyle/>
                        <a:p>
                          <a:r>
                            <a:rPr lang="en-US" b="0" dirty="0">
                              <a:solidFill>
                                <a:schemeClr val="tx1"/>
                              </a:solidFill>
                            </a:rPr>
                            <a:t>1997</a:t>
                          </a:r>
                        </a:p>
                      </a:txBody>
                      <a:tcPr>
                        <a:solidFill>
                          <a:schemeClr val="tx2">
                            <a:lumMod val="25000"/>
                            <a:lumOff val="75000"/>
                          </a:schemeClr>
                        </a:solidFill>
                      </a:tcPr>
                    </a:tc>
                    <a:tc>
                      <a:txBody>
                        <a:bodyPr/>
                        <a:lstStyle/>
                        <a:p>
                          <a:r>
                            <a:rPr lang="en-US" b="0" dirty="0">
                              <a:solidFill>
                                <a:schemeClr val="tx1"/>
                              </a:solidFill>
                            </a:rPr>
                            <a:t>1998</a:t>
                          </a:r>
                        </a:p>
                      </a:txBody>
                      <a:tcPr>
                        <a:solidFill>
                          <a:schemeClr val="tx2">
                            <a:lumMod val="25000"/>
                            <a:lumOff val="75000"/>
                          </a:schemeClr>
                        </a:solidFill>
                      </a:tcPr>
                    </a:tc>
                    <a:extLst>
                      <a:ext uri="{0D108BD9-81ED-4DB2-BD59-A6C34878D82A}">
                        <a16:rowId xmlns:a16="http://schemas.microsoft.com/office/drawing/2014/main" val="2292033204"/>
                      </a:ext>
                    </a:extLst>
                  </a:tr>
                  <a:tr h="370840">
                    <a:tc>
                      <a:txBody>
                        <a:bodyPr/>
                        <a:lstStyle/>
                        <a:p>
                          <a14:m>
                            <m:oMathPara xmlns:m="http://schemas.openxmlformats.org/officeDocument/2006/math">
                              <m:oMathParaPr>
                                <m:jc m:val="centerGroup"/>
                              </m:oMathParaPr>
                              <m:oMath xmlns:m="http://schemas.openxmlformats.org/officeDocument/2006/math">
                                <m:r>
                                  <a:rPr lang="en-US" b="0" i="1" dirty="0" smtClean="0">
                                    <a:solidFill>
                                      <a:schemeClr val="bg1"/>
                                    </a:solidFill>
                                    <a:latin typeface="Cambria Math" panose="02040503050406030204" pitchFamily="18" charset="0"/>
                                  </a:rPr>
                                  <m:t>𝑦</m:t>
                                </m:r>
                              </m:oMath>
                            </m:oMathPara>
                          </a14:m>
                          <a:endParaRPr lang="en-US" dirty="0">
                            <a:solidFill>
                              <a:schemeClr val="bg1"/>
                            </a:solidFill>
                          </a:endParaRPr>
                        </a:p>
                      </a:txBody>
                      <a:tcPr>
                        <a:solidFill>
                          <a:schemeClr val="accent1"/>
                        </a:solidFill>
                      </a:tcPr>
                    </a:tc>
                    <a:tc>
                      <a:txBody>
                        <a:bodyPr/>
                        <a:lstStyle/>
                        <a:p>
                          <a:r>
                            <a:rPr lang="en-US" dirty="0">
                              <a:solidFill>
                                <a:schemeClr val="tx1"/>
                              </a:solidFill>
                            </a:rPr>
                            <a:t>10</a:t>
                          </a:r>
                        </a:p>
                      </a:txBody>
                      <a:tcPr>
                        <a:solidFill>
                          <a:schemeClr val="tx2">
                            <a:lumMod val="25000"/>
                            <a:lumOff val="75000"/>
                          </a:schemeClr>
                        </a:solidFill>
                      </a:tcPr>
                    </a:tc>
                    <a:tc>
                      <a:txBody>
                        <a:bodyPr/>
                        <a:lstStyle/>
                        <a:p>
                          <a:r>
                            <a:rPr lang="en-US" dirty="0">
                              <a:solidFill>
                                <a:schemeClr val="tx1"/>
                              </a:solidFill>
                            </a:rPr>
                            <a:t>15</a:t>
                          </a:r>
                        </a:p>
                      </a:txBody>
                      <a:tcPr>
                        <a:solidFill>
                          <a:schemeClr val="tx2">
                            <a:lumMod val="25000"/>
                            <a:lumOff val="75000"/>
                          </a:schemeClr>
                        </a:solidFill>
                      </a:tcPr>
                    </a:tc>
                    <a:tc>
                      <a:txBody>
                        <a:bodyPr/>
                        <a:lstStyle/>
                        <a:p>
                          <a:r>
                            <a:rPr lang="en-US" dirty="0">
                              <a:solidFill>
                                <a:schemeClr val="tx1"/>
                              </a:solidFill>
                            </a:rPr>
                            <a:t>20</a:t>
                          </a:r>
                        </a:p>
                      </a:txBody>
                      <a:tcPr>
                        <a:solidFill>
                          <a:schemeClr val="tx2">
                            <a:lumMod val="25000"/>
                            <a:lumOff val="75000"/>
                          </a:schemeClr>
                        </a:solidFill>
                      </a:tcPr>
                    </a:tc>
                    <a:tc>
                      <a:txBody>
                        <a:bodyPr/>
                        <a:lstStyle/>
                        <a:p>
                          <a:r>
                            <a:rPr lang="en-US" dirty="0">
                              <a:solidFill>
                                <a:schemeClr val="tx1"/>
                              </a:solidFill>
                            </a:rPr>
                            <a:t>25</a:t>
                          </a:r>
                        </a:p>
                      </a:txBody>
                      <a:tcPr>
                        <a:solidFill>
                          <a:schemeClr val="tx2">
                            <a:lumMod val="25000"/>
                            <a:lumOff val="75000"/>
                          </a:schemeClr>
                        </a:solidFill>
                      </a:tcPr>
                    </a:tc>
                    <a:tc>
                      <a:txBody>
                        <a:bodyPr/>
                        <a:lstStyle/>
                        <a:p>
                          <a:r>
                            <a:rPr lang="en-US" dirty="0">
                              <a:solidFill>
                                <a:schemeClr val="tx1"/>
                              </a:solidFill>
                            </a:rPr>
                            <a:t>30</a:t>
                          </a:r>
                        </a:p>
                      </a:txBody>
                      <a:tcPr>
                        <a:solidFill>
                          <a:schemeClr val="tx2">
                            <a:lumMod val="25000"/>
                            <a:lumOff val="75000"/>
                          </a:schemeClr>
                        </a:solidFill>
                      </a:tcPr>
                    </a:tc>
                    <a:tc>
                      <a:txBody>
                        <a:bodyPr/>
                        <a:lstStyle/>
                        <a:p>
                          <a:r>
                            <a:rPr lang="en-US" dirty="0">
                              <a:solidFill>
                                <a:schemeClr val="tx1"/>
                              </a:solidFill>
                            </a:rPr>
                            <a:t>?</a:t>
                          </a:r>
                        </a:p>
                      </a:txBody>
                      <a:tcPr>
                        <a:solidFill>
                          <a:schemeClr val="tx2">
                            <a:lumMod val="25000"/>
                            <a:lumOff val="75000"/>
                          </a:schemeClr>
                        </a:solidFill>
                      </a:tcPr>
                    </a:tc>
                    <a:tc>
                      <a:txBody>
                        <a:bodyPr/>
                        <a:lstStyle/>
                        <a:p>
                          <a:r>
                            <a:rPr lang="en-US" dirty="0">
                              <a:solidFill>
                                <a:schemeClr val="tx1"/>
                              </a:solidFill>
                            </a:rPr>
                            <a:t>35</a:t>
                          </a:r>
                        </a:p>
                      </a:txBody>
                      <a:tcPr>
                        <a:solidFill>
                          <a:schemeClr val="tx2">
                            <a:lumMod val="25000"/>
                            <a:lumOff val="75000"/>
                          </a:schemeClr>
                        </a:solidFill>
                      </a:tcPr>
                    </a:tc>
                    <a:tc>
                      <a:txBody>
                        <a:bodyPr/>
                        <a:lstStyle/>
                        <a:p>
                          <a:r>
                            <a:rPr lang="en-US" dirty="0">
                              <a:solidFill>
                                <a:schemeClr val="tx1"/>
                              </a:solidFill>
                            </a:rPr>
                            <a:t>38</a:t>
                          </a:r>
                        </a:p>
                      </a:txBody>
                      <a:tcPr>
                        <a:solidFill>
                          <a:schemeClr val="tx2">
                            <a:lumMod val="25000"/>
                            <a:lumOff val="75000"/>
                          </a:schemeClr>
                        </a:solidFill>
                      </a:tcPr>
                    </a:tc>
                    <a:tc>
                      <a:txBody>
                        <a:bodyPr/>
                        <a:lstStyle/>
                        <a:p>
                          <a:r>
                            <a:rPr lang="en-US" dirty="0">
                              <a:solidFill>
                                <a:schemeClr val="tx1"/>
                              </a:solidFill>
                            </a:rPr>
                            <a:t>40</a:t>
                          </a:r>
                        </a:p>
                      </a:txBody>
                      <a:tcPr>
                        <a:solidFill>
                          <a:schemeClr val="tx2">
                            <a:lumMod val="25000"/>
                            <a:lumOff val="75000"/>
                          </a:schemeClr>
                        </a:solidFill>
                      </a:tcPr>
                    </a:tc>
                    <a:extLst>
                      <a:ext uri="{0D108BD9-81ED-4DB2-BD59-A6C34878D82A}">
                        <a16:rowId xmlns:a16="http://schemas.microsoft.com/office/drawing/2014/main" val="1008750753"/>
                      </a:ext>
                    </a:extLst>
                  </a:tr>
                </a:tbl>
              </a:graphicData>
            </a:graphic>
          </p:graphicFrame>
        </mc:Choice>
        <mc:Fallback>
          <p:graphicFrame>
            <p:nvGraphicFramePr>
              <p:cNvPr id="3" name="Table 2">
                <a:extLst>
                  <a:ext uri="{FF2B5EF4-FFF2-40B4-BE49-F238E27FC236}">
                    <a16:creationId xmlns:a16="http://schemas.microsoft.com/office/drawing/2014/main" id="{02CEE13F-396D-99DC-4474-8DA80F297134}"/>
                  </a:ext>
                </a:extLst>
              </p:cNvPr>
              <p:cNvGraphicFramePr>
                <a:graphicFrameLocks noGrp="1"/>
              </p:cNvGraphicFramePr>
              <p:nvPr>
                <p:extLst>
                  <p:ext uri="{D42A27DB-BD31-4B8C-83A1-F6EECF244321}">
                    <p14:modId xmlns:p14="http://schemas.microsoft.com/office/powerpoint/2010/main" val="3292332963"/>
                  </p:ext>
                </p:extLst>
              </p:nvPr>
            </p:nvGraphicFramePr>
            <p:xfrm>
              <a:off x="2423886" y="3789438"/>
              <a:ext cx="8128000" cy="741680"/>
            </p:xfrm>
            <a:graphic>
              <a:graphicData uri="http://schemas.openxmlformats.org/drawingml/2006/table">
                <a:tbl>
                  <a:tblPr firstRow="1" bandRow="1">
                    <a:tableStyleId>{5C22544A-7EE6-4342-B048-85BDC9FD1C3A}</a:tableStyleId>
                  </a:tblPr>
                  <a:tblGrid>
                    <a:gridCol w="812800">
                      <a:extLst>
                        <a:ext uri="{9D8B030D-6E8A-4147-A177-3AD203B41FA5}">
                          <a16:colId xmlns:a16="http://schemas.microsoft.com/office/drawing/2014/main" val="1748025700"/>
                        </a:ext>
                      </a:extLst>
                    </a:gridCol>
                    <a:gridCol w="812800">
                      <a:extLst>
                        <a:ext uri="{9D8B030D-6E8A-4147-A177-3AD203B41FA5}">
                          <a16:colId xmlns:a16="http://schemas.microsoft.com/office/drawing/2014/main" val="3607248806"/>
                        </a:ext>
                      </a:extLst>
                    </a:gridCol>
                    <a:gridCol w="812800">
                      <a:extLst>
                        <a:ext uri="{9D8B030D-6E8A-4147-A177-3AD203B41FA5}">
                          <a16:colId xmlns:a16="http://schemas.microsoft.com/office/drawing/2014/main" val="3649662325"/>
                        </a:ext>
                      </a:extLst>
                    </a:gridCol>
                    <a:gridCol w="812800">
                      <a:extLst>
                        <a:ext uri="{9D8B030D-6E8A-4147-A177-3AD203B41FA5}">
                          <a16:colId xmlns:a16="http://schemas.microsoft.com/office/drawing/2014/main" val="3919557230"/>
                        </a:ext>
                      </a:extLst>
                    </a:gridCol>
                    <a:gridCol w="812800">
                      <a:extLst>
                        <a:ext uri="{9D8B030D-6E8A-4147-A177-3AD203B41FA5}">
                          <a16:colId xmlns:a16="http://schemas.microsoft.com/office/drawing/2014/main" val="3046040075"/>
                        </a:ext>
                      </a:extLst>
                    </a:gridCol>
                    <a:gridCol w="812800">
                      <a:extLst>
                        <a:ext uri="{9D8B030D-6E8A-4147-A177-3AD203B41FA5}">
                          <a16:colId xmlns:a16="http://schemas.microsoft.com/office/drawing/2014/main" val="1739896634"/>
                        </a:ext>
                      </a:extLst>
                    </a:gridCol>
                    <a:gridCol w="812800">
                      <a:extLst>
                        <a:ext uri="{9D8B030D-6E8A-4147-A177-3AD203B41FA5}">
                          <a16:colId xmlns:a16="http://schemas.microsoft.com/office/drawing/2014/main" val="1694616747"/>
                        </a:ext>
                      </a:extLst>
                    </a:gridCol>
                    <a:gridCol w="812800">
                      <a:extLst>
                        <a:ext uri="{9D8B030D-6E8A-4147-A177-3AD203B41FA5}">
                          <a16:colId xmlns:a16="http://schemas.microsoft.com/office/drawing/2014/main" val="1242252902"/>
                        </a:ext>
                      </a:extLst>
                    </a:gridCol>
                    <a:gridCol w="812800">
                      <a:extLst>
                        <a:ext uri="{9D8B030D-6E8A-4147-A177-3AD203B41FA5}">
                          <a16:colId xmlns:a16="http://schemas.microsoft.com/office/drawing/2014/main" val="2906582248"/>
                        </a:ext>
                      </a:extLst>
                    </a:gridCol>
                    <a:gridCol w="812800">
                      <a:extLst>
                        <a:ext uri="{9D8B030D-6E8A-4147-A177-3AD203B41FA5}">
                          <a16:colId xmlns:a16="http://schemas.microsoft.com/office/drawing/2014/main" val="1622466608"/>
                        </a:ext>
                      </a:extLst>
                    </a:gridCol>
                  </a:tblGrid>
                  <a:tr h="370840">
                    <a:tc>
                      <a:txBody>
                        <a:bodyPr/>
                        <a:lstStyle/>
                        <a:p>
                          <a:endParaRPr lang="en-US"/>
                        </a:p>
                      </a:txBody>
                      <a:tcPr>
                        <a:blipFill>
                          <a:blip r:embed="rId3"/>
                          <a:stretch>
                            <a:fillRect t="-6667" r="-906250" b="-123333"/>
                          </a:stretch>
                        </a:blipFill>
                      </a:tcPr>
                    </a:tc>
                    <a:tc>
                      <a:txBody>
                        <a:bodyPr/>
                        <a:lstStyle/>
                        <a:p>
                          <a:r>
                            <a:rPr lang="en-US" b="0" dirty="0">
                              <a:solidFill>
                                <a:schemeClr val="tx1"/>
                              </a:solidFill>
                            </a:rPr>
                            <a:t>1990</a:t>
                          </a:r>
                        </a:p>
                      </a:txBody>
                      <a:tcPr>
                        <a:solidFill>
                          <a:schemeClr val="tx2">
                            <a:lumMod val="25000"/>
                            <a:lumOff val="75000"/>
                          </a:schemeClr>
                        </a:solidFill>
                      </a:tcPr>
                    </a:tc>
                    <a:tc>
                      <a:txBody>
                        <a:bodyPr/>
                        <a:lstStyle/>
                        <a:p>
                          <a:r>
                            <a:rPr lang="en-US" b="0" dirty="0">
                              <a:solidFill>
                                <a:schemeClr val="tx1"/>
                              </a:solidFill>
                            </a:rPr>
                            <a:t>1991</a:t>
                          </a:r>
                        </a:p>
                      </a:txBody>
                      <a:tcPr>
                        <a:solidFill>
                          <a:schemeClr val="tx2">
                            <a:lumMod val="25000"/>
                            <a:lumOff val="75000"/>
                          </a:schemeClr>
                        </a:solidFill>
                      </a:tcPr>
                    </a:tc>
                    <a:tc>
                      <a:txBody>
                        <a:bodyPr/>
                        <a:lstStyle/>
                        <a:p>
                          <a:r>
                            <a:rPr lang="en-US" b="0" dirty="0">
                              <a:solidFill>
                                <a:schemeClr val="tx1"/>
                              </a:solidFill>
                            </a:rPr>
                            <a:t>1992</a:t>
                          </a:r>
                        </a:p>
                      </a:txBody>
                      <a:tcPr>
                        <a:solidFill>
                          <a:schemeClr val="tx2">
                            <a:lumMod val="25000"/>
                            <a:lumOff val="75000"/>
                          </a:schemeClr>
                        </a:solidFill>
                      </a:tcPr>
                    </a:tc>
                    <a:tc>
                      <a:txBody>
                        <a:bodyPr/>
                        <a:lstStyle/>
                        <a:p>
                          <a:r>
                            <a:rPr lang="en-US" b="0" dirty="0">
                              <a:solidFill>
                                <a:schemeClr val="tx1"/>
                              </a:solidFill>
                            </a:rPr>
                            <a:t>1993</a:t>
                          </a:r>
                        </a:p>
                      </a:txBody>
                      <a:tcPr>
                        <a:solidFill>
                          <a:schemeClr val="tx2">
                            <a:lumMod val="25000"/>
                            <a:lumOff val="75000"/>
                          </a:schemeClr>
                        </a:solidFill>
                      </a:tcPr>
                    </a:tc>
                    <a:tc>
                      <a:txBody>
                        <a:bodyPr/>
                        <a:lstStyle/>
                        <a:p>
                          <a:r>
                            <a:rPr lang="en-US" b="0" dirty="0">
                              <a:solidFill>
                                <a:schemeClr val="tx1"/>
                              </a:solidFill>
                            </a:rPr>
                            <a:t>1994</a:t>
                          </a:r>
                        </a:p>
                      </a:txBody>
                      <a:tcPr>
                        <a:solidFill>
                          <a:schemeClr val="tx2">
                            <a:lumMod val="25000"/>
                            <a:lumOff val="75000"/>
                          </a:schemeClr>
                        </a:solidFill>
                      </a:tcPr>
                    </a:tc>
                    <a:tc>
                      <a:txBody>
                        <a:bodyPr/>
                        <a:lstStyle/>
                        <a:p>
                          <a:r>
                            <a:rPr lang="en-US" b="0" dirty="0">
                              <a:solidFill>
                                <a:schemeClr val="tx1"/>
                              </a:solidFill>
                            </a:rPr>
                            <a:t>1995</a:t>
                          </a:r>
                        </a:p>
                      </a:txBody>
                      <a:tcPr>
                        <a:solidFill>
                          <a:schemeClr val="tx2">
                            <a:lumMod val="25000"/>
                            <a:lumOff val="75000"/>
                          </a:schemeClr>
                        </a:solidFill>
                      </a:tcPr>
                    </a:tc>
                    <a:tc>
                      <a:txBody>
                        <a:bodyPr/>
                        <a:lstStyle/>
                        <a:p>
                          <a:r>
                            <a:rPr lang="en-US" b="0" dirty="0">
                              <a:solidFill>
                                <a:schemeClr val="tx1"/>
                              </a:solidFill>
                            </a:rPr>
                            <a:t>1996</a:t>
                          </a:r>
                        </a:p>
                      </a:txBody>
                      <a:tcPr>
                        <a:solidFill>
                          <a:schemeClr val="tx2">
                            <a:lumMod val="25000"/>
                            <a:lumOff val="75000"/>
                          </a:schemeClr>
                        </a:solidFill>
                      </a:tcPr>
                    </a:tc>
                    <a:tc>
                      <a:txBody>
                        <a:bodyPr/>
                        <a:lstStyle/>
                        <a:p>
                          <a:r>
                            <a:rPr lang="en-US" b="0" dirty="0">
                              <a:solidFill>
                                <a:schemeClr val="tx1"/>
                              </a:solidFill>
                            </a:rPr>
                            <a:t>1997</a:t>
                          </a:r>
                        </a:p>
                      </a:txBody>
                      <a:tcPr>
                        <a:solidFill>
                          <a:schemeClr val="tx2">
                            <a:lumMod val="25000"/>
                            <a:lumOff val="75000"/>
                          </a:schemeClr>
                        </a:solidFill>
                      </a:tcPr>
                    </a:tc>
                    <a:tc>
                      <a:txBody>
                        <a:bodyPr/>
                        <a:lstStyle/>
                        <a:p>
                          <a:r>
                            <a:rPr lang="en-US" b="0" dirty="0">
                              <a:solidFill>
                                <a:schemeClr val="tx1"/>
                              </a:solidFill>
                            </a:rPr>
                            <a:t>1998</a:t>
                          </a:r>
                        </a:p>
                      </a:txBody>
                      <a:tcPr>
                        <a:solidFill>
                          <a:schemeClr val="tx2">
                            <a:lumMod val="25000"/>
                            <a:lumOff val="75000"/>
                          </a:schemeClr>
                        </a:solidFill>
                      </a:tcPr>
                    </a:tc>
                    <a:extLst>
                      <a:ext uri="{0D108BD9-81ED-4DB2-BD59-A6C34878D82A}">
                        <a16:rowId xmlns:a16="http://schemas.microsoft.com/office/drawing/2014/main" val="2292033204"/>
                      </a:ext>
                    </a:extLst>
                  </a:tr>
                  <a:tr h="370840">
                    <a:tc>
                      <a:txBody>
                        <a:bodyPr/>
                        <a:lstStyle/>
                        <a:p>
                          <a:endParaRPr lang="en-US"/>
                        </a:p>
                      </a:txBody>
                      <a:tcPr>
                        <a:blipFill>
                          <a:blip r:embed="rId3"/>
                          <a:stretch>
                            <a:fillRect t="-110345" r="-906250" b="-27586"/>
                          </a:stretch>
                        </a:blipFill>
                      </a:tcPr>
                    </a:tc>
                    <a:tc>
                      <a:txBody>
                        <a:bodyPr/>
                        <a:lstStyle/>
                        <a:p>
                          <a:r>
                            <a:rPr lang="en-US" dirty="0">
                              <a:solidFill>
                                <a:schemeClr val="tx1"/>
                              </a:solidFill>
                            </a:rPr>
                            <a:t>10</a:t>
                          </a:r>
                        </a:p>
                      </a:txBody>
                      <a:tcPr>
                        <a:solidFill>
                          <a:schemeClr val="tx2">
                            <a:lumMod val="25000"/>
                            <a:lumOff val="75000"/>
                          </a:schemeClr>
                        </a:solidFill>
                      </a:tcPr>
                    </a:tc>
                    <a:tc>
                      <a:txBody>
                        <a:bodyPr/>
                        <a:lstStyle/>
                        <a:p>
                          <a:r>
                            <a:rPr lang="en-US" dirty="0">
                              <a:solidFill>
                                <a:schemeClr val="tx1"/>
                              </a:solidFill>
                            </a:rPr>
                            <a:t>15</a:t>
                          </a:r>
                        </a:p>
                      </a:txBody>
                      <a:tcPr>
                        <a:solidFill>
                          <a:schemeClr val="tx2">
                            <a:lumMod val="25000"/>
                            <a:lumOff val="75000"/>
                          </a:schemeClr>
                        </a:solidFill>
                      </a:tcPr>
                    </a:tc>
                    <a:tc>
                      <a:txBody>
                        <a:bodyPr/>
                        <a:lstStyle/>
                        <a:p>
                          <a:r>
                            <a:rPr lang="en-US" dirty="0">
                              <a:solidFill>
                                <a:schemeClr val="tx1"/>
                              </a:solidFill>
                            </a:rPr>
                            <a:t>20</a:t>
                          </a:r>
                        </a:p>
                      </a:txBody>
                      <a:tcPr>
                        <a:solidFill>
                          <a:schemeClr val="tx2">
                            <a:lumMod val="25000"/>
                            <a:lumOff val="75000"/>
                          </a:schemeClr>
                        </a:solidFill>
                      </a:tcPr>
                    </a:tc>
                    <a:tc>
                      <a:txBody>
                        <a:bodyPr/>
                        <a:lstStyle/>
                        <a:p>
                          <a:r>
                            <a:rPr lang="en-US" dirty="0">
                              <a:solidFill>
                                <a:schemeClr val="tx1"/>
                              </a:solidFill>
                            </a:rPr>
                            <a:t>25</a:t>
                          </a:r>
                        </a:p>
                      </a:txBody>
                      <a:tcPr>
                        <a:solidFill>
                          <a:schemeClr val="tx2">
                            <a:lumMod val="25000"/>
                            <a:lumOff val="75000"/>
                          </a:schemeClr>
                        </a:solidFill>
                      </a:tcPr>
                    </a:tc>
                    <a:tc>
                      <a:txBody>
                        <a:bodyPr/>
                        <a:lstStyle/>
                        <a:p>
                          <a:r>
                            <a:rPr lang="en-US" dirty="0">
                              <a:solidFill>
                                <a:schemeClr val="tx1"/>
                              </a:solidFill>
                            </a:rPr>
                            <a:t>30</a:t>
                          </a:r>
                        </a:p>
                      </a:txBody>
                      <a:tcPr>
                        <a:solidFill>
                          <a:schemeClr val="tx2">
                            <a:lumMod val="25000"/>
                            <a:lumOff val="75000"/>
                          </a:schemeClr>
                        </a:solidFill>
                      </a:tcPr>
                    </a:tc>
                    <a:tc>
                      <a:txBody>
                        <a:bodyPr/>
                        <a:lstStyle/>
                        <a:p>
                          <a:r>
                            <a:rPr lang="en-US" dirty="0">
                              <a:solidFill>
                                <a:schemeClr val="tx1"/>
                              </a:solidFill>
                            </a:rPr>
                            <a:t>?</a:t>
                          </a:r>
                        </a:p>
                      </a:txBody>
                      <a:tcPr>
                        <a:solidFill>
                          <a:schemeClr val="tx2">
                            <a:lumMod val="25000"/>
                            <a:lumOff val="75000"/>
                          </a:schemeClr>
                        </a:solidFill>
                      </a:tcPr>
                    </a:tc>
                    <a:tc>
                      <a:txBody>
                        <a:bodyPr/>
                        <a:lstStyle/>
                        <a:p>
                          <a:r>
                            <a:rPr lang="en-US" dirty="0">
                              <a:solidFill>
                                <a:schemeClr val="tx1"/>
                              </a:solidFill>
                            </a:rPr>
                            <a:t>35</a:t>
                          </a:r>
                        </a:p>
                      </a:txBody>
                      <a:tcPr>
                        <a:solidFill>
                          <a:schemeClr val="tx2">
                            <a:lumMod val="25000"/>
                            <a:lumOff val="75000"/>
                          </a:schemeClr>
                        </a:solidFill>
                      </a:tcPr>
                    </a:tc>
                    <a:tc>
                      <a:txBody>
                        <a:bodyPr/>
                        <a:lstStyle/>
                        <a:p>
                          <a:r>
                            <a:rPr lang="en-US" dirty="0">
                              <a:solidFill>
                                <a:schemeClr val="tx1"/>
                              </a:solidFill>
                            </a:rPr>
                            <a:t>38</a:t>
                          </a:r>
                        </a:p>
                      </a:txBody>
                      <a:tcPr>
                        <a:solidFill>
                          <a:schemeClr val="tx2">
                            <a:lumMod val="25000"/>
                            <a:lumOff val="75000"/>
                          </a:schemeClr>
                        </a:solidFill>
                      </a:tcPr>
                    </a:tc>
                    <a:tc>
                      <a:txBody>
                        <a:bodyPr/>
                        <a:lstStyle/>
                        <a:p>
                          <a:r>
                            <a:rPr lang="en-US" dirty="0">
                              <a:solidFill>
                                <a:schemeClr val="tx1"/>
                              </a:solidFill>
                            </a:rPr>
                            <a:t>40</a:t>
                          </a:r>
                        </a:p>
                      </a:txBody>
                      <a:tcPr>
                        <a:solidFill>
                          <a:schemeClr val="tx2">
                            <a:lumMod val="25000"/>
                            <a:lumOff val="75000"/>
                          </a:schemeClr>
                        </a:solidFill>
                      </a:tcPr>
                    </a:tc>
                    <a:extLst>
                      <a:ext uri="{0D108BD9-81ED-4DB2-BD59-A6C34878D82A}">
                        <a16:rowId xmlns:a16="http://schemas.microsoft.com/office/drawing/2014/main" val="1008750753"/>
                      </a:ext>
                    </a:extLst>
                  </a:tr>
                </a:tbl>
              </a:graphicData>
            </a:graphic>
          </p:graphicFrame>
        </mc:Fallback>
      </mc:AlternateContent>
    </p:spTree>
    <p:extLst>
      <p:ext uri="{BB962C8B-B14F-4D97-AF65-F5344CB8AC3E}">
        <p14:creationId xmlns:p14="http://schemas.microsoft.com/office/powerpoint/2010/main" val="2321534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918242"/>
          </a:xfrm>
        </p:spPr>
        <p:txBody>
          <a:bodyPr>
            <a:noAutofit/>
          </a:bodyPr>
          <a:lstStyle/>
          <a:p>
            <a:r>
              <a:rPr lang="en-US" sz="3200" b="1" dirty="0">
                <a:latin typeface="Times New Roman" panose="02020603050405020304" pitchFamily="18" charset="0"/>
                <a:cs typeface="Times New Roman" panose="02020603050405020304" pitchFamily="18" charset="0"/>
              </a:rPr>
              <a:t>A</a:t>
            </a:r>
            <a:endParaRPr lang="nl-NL" sz="3200" b="1" dirty="0">
              <a:latin typeface="Times New Roman" panose="02020603050405020304" pitchFamily="18" charset="0"/>
              <a:cs typeface="Times New Roman" panose="02020603050405020304" pitchFamily="18" charset="0"/>
            </a:endParaRPr>
          </a:p>
        </p:txBody>
      </p:sp>
      <p:sp>
        <p:nvSpPr>
          <p:cNvPr id="11" name="Content Placeholder 4">
            <a:extLst>
              <a:ext uri="{FF2B5EF4-FFF2-40B4-BE49-F238E27FC236}">
                <a16:creationId xmlns:a16="http://schemas.microsoft.com/office/drawing/2014/main" id="{C45A49BA-F1EE-4748-AA1D-3967F9097D38}"/>
              </a:ext>
            </a:extLst>
          </p:cNvPr>
          <p:cNvSpPr txBox="1">
            <a:spLocks/>
          </p:cNvSpPr>
          <p:nvPr/>
        </p:nvSpPr>
        <p:spPr>
          <a:xfrm>
            <a:off x="812562" y="1415143"/>
            <a:ext cx="10515600" cy="4865914"/>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dirty="0"/>
              <a:t>a. (2 </a:t>
            </a:r>
            <a:r>
              <a:rPr lang="en-US" sz="2400" dirty="0" err="1"/>
              <a:t>pnts</a:t>
            </a:r>
            <a:r>
              <a:rPr lang="en-US" sz="2400" dirty="0"/>
              <a:t>) Handling the imbalanced data can be done in different ways, list the different techniques that can be used for this purpose. Which one of them is the least feasible technique and why?</a:t>
            </a:r>
          </a:p>
          <a:p>
            <a:pPr>
              <a:lnSpc>
                <a:spcPct val="100000"/>
              </a:lnSpc>
            </a:pPr>
            <a:r>
              <a:rPr lang="en-US" b="1" dirty="0"/>
              <a:t>Answer:</a:t>
            </a:r>
          </a:p>
          <a:p>
            <a:pPr lvl="1">
              <a:lnSpc>
                <a:spcPct val="100000"/>
              </a:lnSpc>
            </a:pPr>
            <a:r>
              <a:rPr lang="en-US" dirty="0"/>
              <a:t>Imbalanced data can be handled with:</a:t>
            </a:r>
          </a:p>
          <a:p>
            <a:pPr lvl="2">
              <a:lnSpc>
                <a:spcPct val="100000"/>
              </a:lnSpc>
            </a:pPr>
            <a:r>
              <a:rPr lang="en-US" dirty="0"/>
              <a:t>Collecting more sample for the under-represented class</a:t>
            </a:r>
          </a:p>
          <a:p>
            <a:pPr lvl="2">
              <a:lnSpc>
                <a:spcPct val="100000"/>
              </a:lnSpc>
            </a:pPr>
            <a:r>
              <a:rPr lang="en-US" dirty="0"/>
              <a:t>Over/under sample the data</a:t>
            </a:r>
          </a:p>
          <a:p>
            <a:pPr lvl="2">
              <a:lnSpc>
                <a:spcPct val="100000"/>
              </a:lnSpc>
            </a:pPr>
            <a:r>
              <a:rPr lang="en-US" dirty="0"/>
              <a:t>Generate synthetic data</a:t>
            </a:r>
          </a:p>
          <a:p>
            <a:pPr lvl="2">
              <a:lnSpc>
                <a:spcPct val="100000"/>
              </a:lnSpc>
            </a:pPr>
            <a:r>
              <a:rPr lang="en-US" dirty="0"/>
              <a:t>Use cost sensitive classifier </a:t>
            </a:r>
          </a:p>
          <a:p>
            <a:pPr lvl="2">
              <a:lnSpc>
                <a:spcPct val="100000"/>
              </a:lnSpc>
            </a:pPr>
            <a:r>
              <a:rPr lang="en-US" dirty="0"/>
              <a:t>Use ensemble of classifiers</a:t>
            </a:r>
          </a:p>
          <a:p>
            <a:pPr lvl="1">
              <a:lnSpc>
                <a:spcPct val="100000"/>
              </a:lnSpc>
            </a:pPr>
            <a:r>
              <a:rPr lang="en-US" dirty="0"/>
              <a:t>Which one of them is the least feasible technique and why? </a:t>
            </a:r>
          </a:p>
          <a:p>
            <a:pPr lvl="2">
              <a:lnSpc>
                <a:spcPct val="100000"/>
              </a:lnSpc>
            </a:pPr>
            <a:r>
              <a:rPr lang="en-US" dirty="0"/>
              <a:t>The least feasible technique is collecting more samples as this requires a long time and there is no control on how to get more examples from the under-represented class.  </a:t>
            </a:r>
          </a:p>
        </p:txBody>
      </p:sp>
    </p:spTree>
    <p:extLst>
      <p:ext uri="{BB962C8B-B14F-4D97-AF65-F5344CB8AC3E}">
        <p14:creationId xmlns:p14="http://schemas.microsoft.com/office/powerpoint/2010/main" val="2007750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918242"/>
          </a:xfrm>
        </p:spPr>
        <p:txBody>
          <a:bodyPr>
            <a:noAutofit/>
          </a:bodyPr>
          <a:lstStyle/>
          <a:p>
            <a:r>
              <a:rPr lang="en-US" sz="3200" b="1" dirty="0">
                <a:latin typeface="Times New Roman" panose="02020603050405020304" pitchFamily="18" charset="0"/>
                <a:cs typeface="Times New Roman" panose="02020603050405020304" pitchFamily="18" charset="0"/>
              </a:rPr>
              <a:t>A</a:t>
            </a:r>
            <a:endParaRPr lang="nl-NL"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Content Placeholder 4">
                <a:extLst>
                  <a:ext uri="{FF2B5EF4-FFF2-40B4-BE49-F238E27FC236}">
                    <a16:creationId xmlns:a16="http://schemas.microsoft.com/office/drawing/2014/main" id="{C45A49BA-F1EE-4748-AA1D-3967F9097D38}"/>
                  </a:ext>
                </a:extLst>
              </p:cNvPr>
              <p:cNvSpPr txBox="1">
                <a:spLocks/>
              </p:cNvSpPr>
              <p:nvPr/>
            </p:nvSpPr>
            <p:spPr>
              <a:xfrm>
                <a:off x="812562" y="1415143"/>
                <a:ext cx="10515600" cy="4865914"/>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a:t>b. </a:t>
                </a:r>
                <a:r>
                  <a:rPr lang="en-US" sz="2400" dirty="0"/>
                  <a:t>(2 </a:t>
                </a:r>
                <a:r>
                  <a:rPr lang="en-US" sz="2400" dirty="0" err="1"/>
                  <a:t>pnts</a:t>
                </a:r>
                <a:r>
                  <a:rPr lang="en-US" sz="2400" dirty="0"/>
                  <a:t>) Given:</a:t>
                </a:r>
              </a:p>
              <a:p>
                <a:pPr lvl="1">
                  <a:lnSpc>
                    <a:spcPct val="100000"/>
                  </a:lnSpc>
                </a:pPr>
                <a:r>
                  <a:rPr lang="en-US" dirty="0"/>
                  <a:t> the number of positive/negative examples in a dataset is 600/300</a:t>
                </a:r>
              </a:p>
              <a:p>
                <a:pPr lvl="1">
                  <a:lnSpc>
                    <a:spcPct val="100000"/>
                  </a:lnSpc>
                </a:pPr>
                <a:r>
                  <a:rPr lang="en-US" dirty="0"/>
                  <a:t>200 examples from the unprivileged group with 120 positive examples</a:t>
                </a:r>
              </a:p>
              <a:p>
                <a:pPr lvl="1">
                  <a:lnSpc>
                    <a:spcPct val="100000"/>
                  </a:lnSpc>
                </a:pPr>
                <a:r>
                  <a:rPr lang="en-US" dirty="0"/>
                  <a:t>480 positive examples from the privileged group. </a:t>
                </a:r>
              </a:p>
              <a:p>
                <a:pPr lvl="1">
                  <a:lnSpc>
                    <a:spcPct val="100000"/>
                  </a:lnSpc>
                </a:pPr>
                <a:r>
                  <a:rPr lang="en-US" dirty="0"/>
                  <a:t>We have only privileged/ unprivileged but nothing in between. </a:t>
                </a:r>
              </a:p>
              <a:p>
                <a:pPr marL="457200" lvl="1" indent="0">
                  <a:lnSpc>
                    <a:spcPct val="100000"/>
                  </a:lnSpc>
                  <a:buNone/>
                </a:pPr>
                <a:r>
                  <a:rPr lang="en-US" dirty="0"/>
                  <a:t>Compute the disparate impact ratio and comment on whether this dataset is fair or not and why? (Note: the formula of DI-ratio metric will be given in the exam if you have a question that requires it or the other fairness metrics).</a:t>
                </a:r>
              </a:p>
              <a:p>
                <a:pPr marL="457200" lvl="1" indent="-404813">
                  <a:lnSpc>
                    <a:spcPct val="100000"/>
                  </a:lnSpc>
                  <a:buNone/>
                </a:pPr>
                <a:r>
                  <a:rPr lang="en-US" b="1" dirty="0"/>
                  <a:t>Answer: </a:t>
                </a:r>
                <a14:m>
                  <m:oMath xmlns:m="http://schemas.openxmlformats.org/officeDocument/2006/math">
                    <m:r>
                      <a:rPr lang="en-US" b="0" i="1" smtClean="0">
                        <a:latin typeface="Cambria Math" panose="02040503050406030204" pitchFamily="18" charset="0"/>
                      </a:rPr>
                      <m:t>𝑃</m:t>
                    </m:r>
                    <m:d>
                      <m:dPr>
                        <m:endChr m:val="|"/>
                        <m:ctrlPr>
                          <a:rPr lang="en-US" b="0" i="1" smtClean="0">
                            <a:latin typeface="Cambria Math" panose="02040503050406030204" pitchFamily="18" charset="0"/>
                          </a:rPr>
                        </m:ctrlPr>
                      </m:dPr>
                      <m:e>
                        <m:r>
                          <a:rPr lang="en-US" b="0" i="1" smtClean="0">
                            <a:latin typeface="Cambria Math" panose="02040503050406030204" pitchFamily="18" charset="0"/>
                          </a:rPr>
                          <m:t>𝑌</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=1 </m:t>
                        </m:r>
                      </m:e>
                    </m:d>
                    <m:r>
                      <a:rPr lang="en-US" b="0" i="1" smtClean="0">
                        <a:latin typeface="Cambria Math" panose="02040503050406030204" pitchFamily="18" charset="0"/>
                      </a:rPr>
                      <m:t> </m:t>
                    </m:r>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𝐺</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a:latin typeface="Cambria Math" panose="02040503050406030204" pitchFamily="18" charset="0"/>
                          </a:rPr>
                          <m:t>120</m:t>
                        </m:r>
                      </m:num>
                      <m:den>
                        <m:r>
                          <a:rPr lang="en-US" i="1">
                            <a:latin typeface="Cambria Math" panose="02040503050406030204" pitchFamily="18" charset="0"/>
                          </a:rPr>
                          <m:t>200</m:t>
                        </m:r>
                      </m:den>
                    </m:f>
                    <m:r>
                      <a:rPr lang="en-US" b="0" i="1" smtClean="0">
                        <a:latin typeface="Cambria Math" panose="02040503050406030204" pitchFamily="18" charset="0"/>
                      </a:rPr>
                      <m:t>=0.6</m:t>
                    </m:r>
                  </m:oMath>
                </a14:m>
                <a:r>
                  <a:rPr lang="en-US" dirty="0"/>
                  <a:t>    and </a:t>
                </a:r>
              </a:p>
              <a:p>
                <a:pPr marL="0" indent="0">
                  <a:lnSpc>
                    <a:spcPct val="100000"/>
                  </a:lnSpc>
                  <a:buNone/>
                </a:pPr>
                <a14:m>
                  <m:oMath xmlns:m="http://schemas.openxmlformats.org/officeDocument/2006/math">
                    <m:r>
                      <a:rPr lang="en-US" sz="2400" i="1">
                        <a:latin typeface="Cambria Math" panose="02040503050406030204" pitchFamily="18" charset="0"/>
                      </a:rPr>
                      <m:t>𝑃</m:t>
                    </m:r>
                    <m:d>
                      <m:dPr>
                        <m:endChr m:val="|"/>
                        <m:ctrlPr>
                          <a:rPr lang="en-US" sz="2400" i="1">
                            <a:latin typeface="Cambria Math" panose="02040503050406030204" pitchFamily="18" charset="0"/>
                          </a:rPr>
                        </m:ctrlPr>
                      </m:dPr>
                      <m:e>
                        <m:r>
                          <a:rPr lang="en-US" sz="2400" i="1">
                            <a:latin typeface="Cambria Math" panose="02040503050406030204" pitchFamily="18" charset="0"/>
                          </a:rPr>
                          <m:t>𝑌</m:t>
                        </m:r>
                        <m:d>
                          <m:dPr>
                            <m:ctrlPr>
                              <a:rPr lang="en-US" sz="2400" i="1">
                                <a:latin typeface="Cambria Math" panose="02040503050406030204" pitchFamily="18" charset="0"/>
                              </a:rPr>
                            </m:ctrlPr>
                          </m:dPr>
                          <m:e>
                            <m:r>
                              <a:rPr lang="en-US" sz="2400" i="1">
                                <a:latin typeface="Cambria Math" panose="02040503050406030204" pitchFamily="18" charset="0"/>
                              </a:rPr>
                              <m:t>𝑥</m:t>
                            </m:r>
                          </m:e>
                        </m:d>
                        <m:r>
                          <a:rPr lang="en-US" sz="2400" i="1">
                            <a:latin typeface="Cambria Math" panose="02040503050406030204" pitchFamily="18" charset="0"/>
                          </a:rPr>
                          <m:t>=1 </m:t>
                        </m:r>
                      </m:e>
                    </m:d>
                    <m:r>
                      <a:rPr lang="en-US" sz="2400" i="1">
                        <a:latin typeface="Cambria Math" panose="02040503050406030204" pitchFamily="18" charset="0"/>
                      </a:rPr>
                      <m:t> </m:t>
                    </m:r>
                    <m:r>
                      <a:rPr lang="en-US" sz="2400" i="1">
                        <a:latin typeface="Cambria Math" panose="02040503050406030204" pitchFamily="18" charset="0"/>
                      </a:rPr>
                      <m:t>𝑆</m:t>
                    </m:r>
                    <m:r>
                      <a:rPr lang="en-US" sz="2400" i="1">
                        <a:latin typeface="Cambria Math" panose="02040503050406030204" pitchFamily="18" charset="0"/>
                      </a:rPr>
                      <m:t>=</m:t>
                    </m:r>
                    <m:r>
                      <a:rPr lang="en-US" sz="2400" i="1">
                        <a:latin typeface="Cambria Math" panose="02040503050406030204" pitchFamily="18" charset="0"/>
                      </a:rPr>
                      <m:t>𝐺</m:t>
                    </m:r>
                    <m:r>
                      <a:rPr lang="en-US" sz="2400" i="1" smtClean="0">
                        <a:latin typeface="Cambria Math" panose="02040503050406030204" pitchFamily="18" charset="0"/>
                      </a:rPr>
                      <m:t>’</m:t>
                    </m:r>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b="0" i="1" smtClean="0">
                            <a:latin typeface="Cambria Math" panose="02040503050406030204" pitchFamily="18" charset="0"/>
                          </a:rPr>
                          <m:t>48</m:t>
                        </m:r>
                        <m:r>
                          <a:rPr lang="en-US" sz="2400" i="1">
                            <a:latin typeface="Cambria Math" panose="02040503050406030204" pitchFamily="18" charset="0"/>
                          </a:rPr>
                          <m:t>0</m:t>
                        </m:r>
                      </m:num>
                      <m:den>
                        <m:r>
                          <a:rPr lang="en-US" sz="2400" b="0" i="1" smtClean="0">
                            <a:latin typeface="Cambria Math" panose="02040503050406030204" pitchFamily="18" charset="0"/>
                          </a:rPr>
                          <m:t>7</m:t>
                        </m:r>
                        <m:r>
                          <a:rPr lang="en-US" sz="2400" i="1">
                            <a:latin typeface="Cambria Math" panose="02040503050406030204" pitchFamily="18" charset="0"/>
                          </a:rPr>
                          <m:t>00</m:t>
                        </m:r>
                      </m:den>
                    </m:f>
                    <m:r>
                      <a:rPr lang="en-US" sz="2400" i="1">
                        <a:latin typeface="Cambria Math" panose="02040503050406030204" pitchFamily="18" charset="0"/>
                      </a:rPr>
                      <m:t>=0.6</m:t>
                    </m:r>
                    <m:r>
                      <a:rPr lang="en-US" sz="2400" b="0" i="1" smtClean="0">
                        <a:latin typeface="Cambria Math" panose="02040503050406030204" pitchFamily="18" charset="0"/>
                      </a:rPr>
                      <m:t>86</m:t>
                    </m:r>
                  </m:oMath>
                </a14:m>
                <a:r>
                  <a:rPr lang="en-US" sz="2400" dirty="0"/>
                  <a:t> </a:t>
                </a:r>
              </a:p>
              <a:p>
                <a:pPr marL="0" indent="0">
                  <a:lnSpc>
                    <a:spcPct val="100000"/>
                  </a:lnSpc>
                  <a:buNone/>
                </a:pPr>
                <a:r>
                  <a:rPr lang="en-US" sz="2400" dirty="0"/>
                  <a:t>Hence </a:t>
                </a:r>
                <a14:m>
                  <m:oMath xmlns:m="http://schemas.openxmlformats.org/officeDocument/2006/math">
                    <m:r>
                      <a:rPr lang="en-US" sz="2400" b="0" i="1" smtClean="0">
                        <a:latin typeface="Cambria Math" panose="02040503050406030204" pitchFamily="18" charset="0"/>
                      </a:rPr>
                      <m:t>𝐷</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𝑟𝑎𝑡𝑖𝑜</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0.6</m:t>
                        </m:r>
                      </m:num>
                      <m:den>
                        <m:r>
                          <a:rPr lang="en-US" sz="2400" b="0" i="1" smtClean="0">
                            <a:latin typeface="Cambria Math" panose="02040503050406030204" pitchFamily="18" charset="0"/>
                          </a:rPr>
                          <m:t>0.686</m:t>
                        </m:r>
                      </m:den>
                    </m:f>
                    <m:r>
                      <a:rPr lang="en-US" sz="2400" b="0" i="1" smtClean="0">
                        <a:latin typeface="Cambria Math" panose="02040503050406030204" pitchFamily="18" charset="0"/>
                      </a:rPr>
                      <m:t>=0.875</m:t>
                    </m:r>
                  </m:oMath>
                </a14:m>
                <a:r>
                  <a:rPr lang="en-US" sz="2400" dirty="0"/>
                  <a:t> </a:t>
                </a:r>
              </a:p>
              <a:p>
                <a:pPr marL="0" indent="0">
                  <a:lnSpc>
                    <a:spcPct val="100000"/>
                  </a:lnSpc>
                  <a:buNone/>
                </a:pPr>
                <a:r>
                  <a:rPr lang="en-US" sz="2400" dirty="0"/>
                  <a:t>This dataset is said to be fair with respect to the DI-ratio as the requirement is that  </a:t>
                </a:r>
                <a14:m>
                  <m:oMath xmlns:m="http://schemas.openxmlformats.org/officeDocument/2006/math">
                    <m:r>
                      <a:rPr lang="en-US" sz="2400" i="1" dirty="0" smtClean="0">
                        <a:latin typeface="Cambria Math" panose="02040503050406030204" pitchFamily="18" charset="0"/>
                      </a:rPr>
                      <m:t>0.8</m:t>
                    </m:r>
                    <m:r>
                      <a:rPr lang="en-US" sz="2400" b="0" i="1" dirty="0" smtClean="0">
                        <a:latin typeface="Cambria Math" panose="02040503050406030204" pitchFamily="18" charset="0"/>
                      </a:rPr>
                      <m:t>≤</m:t>
                    </m:r>
                    <m:r>
                      <a:rPr lang="en-US" sz="2400" i="1" dirty="0" smtClean="0">
                        <a:latin typeface="Cambria Math" panose="02040503050406030204" pitchFamily="18" charset="0"/>
                      </a:rPr>
                      <m:t> </m:t>
                    </m:r>
                    <m:r>
                      <a:rPr lang="en-US" sz="2400" i="1" dirty="0" smtClean="0">
                        <a:latin typeface="Cambria Math" panose="02040503050406030204" pitchFamily="18" charset="0"/>
                      </a:rPr>
                      <m:t>𝐷</m:t>
                    </m:r>
                    <m:sSub>
                      <m:sSubPr>
                        <m:ctrlPr>
                          <a:rPr lang="en-US" sz="2400" b="0" i="1" dirty="0" smtClean="0">
                            <a:latin typeface="Cambria Math" panose="02040503050406030204" pitchFamily="18" charset="0"/>
                          </a:rPr>
                        </m:ctrlPr>
                      </m:sSubPr>
                      <m:e>
                        <m:r>
                          <a:rPr lang="en-US" sz="2400" i="1" dirty="0" smtClean="0">
                            <a:latin typeface="Cambria Math" panose="02040503050406030204" pitchFamily="18" charset="0"/>
                          </a:rPr>
                          <m:t>𝐼</m:t>
                        </m:r>
                      </m:e>
                      <m:sub>
                        <m:r>
                          <a:rPr lang="en-US" sz="2400" b="0" i="1" dirty="0" smtClean="0">
                            <a:latin typeface="Cambria Math" panose="02040503050406030204" pitchFamily="18" charset="0"/>
                          </a:rPr>
                          <m:t>𝑟𝑎𝑡𝑖𝑜</m:t>
                        </m:r>
                      </m:sub>
                    </m:sSub>
                    <m:r>
                      <a:rPr lang="en-US" sz="2400" b="0" i="1" dirty="0" smtClean="0">
                        <a:latin typeface="Cambria Math" panose="02040503050406030204" pitchFamily="18" charset="0"/>
                      </a:rPr>
                      <m:t>≤1.25</m:t>
                    </m:r>
                  </m:oMath>
                </a14:m>
                <a:r>
                  <a:rPr lang="en-US" sz="2400" dirty="0"/>
                  <a:t>.</a:t>
                </a:r>
              </a:p>
              <a:p>
                <a:pPr>
                  <a:lnSpc>
                    <a:spcPct val="100000"/>
                  </a:lnSpc>
                </a:pPr>
                <a:endParaRPr lang="en-US" dirty="0"/>
              </a:p>
            </p:txBody>
          </p:sp>
        </mc:Choice>
        <mc:Fallback xmlns="">
          <p:sp>
            <p:nvSpPr>
              <p:cNvPr id="11" name="Content Placeholder 4">
                <a:extLst>
                  <a:ext uri="{FF2B5EF4-FFF2-40B4-BE49-F238E27FC236}">
                    <a16:creationId xmlns:a16="http://schemas.microsoft.com/office/drawing/2014/main" id="{C45A49BA-F1EE-4748-AA1D-3967F9097D38}"/>
                  </a:ext>
                </a:extLst>
              </p:cNvPr>
              <p:cNvSpPr txBox="1">
                <a:spLocks noRot="1" noChangeAspect="1" noMove="1" noResize="1" noEditPoints="1" noAdjustHandles="1" noChangeArrowheads="1" noChangeShapeType="1" noTextEdit="1"/>
              </p:cNvSpPr>
              <p:nvPr/>
            </p:nvSpPr>
            <p:spPr>
              <a:xfrm>
                <a:off x="812562" y="1415143"/>
                <a:ext cx="10515600" cy="4865914"/>
              </a:xfrm>
              <a:prstGeom prst="rect">
                <a:avLst/>
              </a:prstGeom>
              <a:blipFill>
                <a:blip r:embed="rId2"/>
                <a:stretch>
                  <a:fillRect l="-603" t="-1823"/>
                </a:stretch>
              </a:blipFill>
            </p:spPr>
            <p:txBody>
              <a:bodyPr/>
              <a:lstStyle/>
              <a:p>
                <a:r>
                  <a:rPr lang="en-US">
                    <a:noFill/>
                  </a:rPr>
                  <a:t> </a:t>
                </a:r>
              </a:p>
            </p:txBody>
          </p:sp>
        </mc:Fallback>
      </mc:AlternateContent>
    </p:spTree>
    <p:extLst>
      <p:ext uri="{BB962C8B-B14F-4D97-AF65-F5344CB8AC3E}">
        <p14:creationId xmlns:p14="http://schemas.microsoft.com/office/powerpoint/2010/main" val="1319279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7A0DE-B4FF-BF3E-279F-D78EA23B4B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282381-11A5-1821-95B1-7BD049F766AD}"/>
              </a:ext>
            </a:extLst>
          </p:cNvPr>
          <p:cNvSpPr>
            <a:spLocks noGrp="1"/>
          </p:cNvSpPr>
          <p:nvPr>
            <p:ph type="title"/>
          </p:nvPr>
        </p:nvSpPr>
        <p:spPr>
          <a:xfrm>
            <a:off x="838200" y="365126"/>
            <a:ext cx="10515600" cy="918242"/>
          </a:xfrm>
        </p:spPr>
        <p:txBody>
          <a:bodyPr>
            <a:noAutofit/>
          </a:bodyPr>
          <a:lstStyle/>
          <a:p>
            <a:r>
              <a:rPr lang="en-US" sz="3200" b="1" dirty="0">
                <a:latin typeface="Times New Roman" panose="02020603050405020304" pitchFamily="18" charset="0"/>
                <a:cs typeface="Times New Roman" panose="02020603050405020304" pitchFamily="18" charset="0"/>
              </a:rPr>
              <a:t>A</a:t>
            </a:r>
            <a:endParaRPr lang="nl-NL"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1" name="Content Placeholder 4">
                <a:extLst>
                  <a:ext uri="{FF2B5EF4-FFF2-40B4-BE49-F238E27FC236}">
                    <a16:creationId xmlns:a16="http://schemas.microsoft.com/office/drawing/2014/main" id="{5704DC82-5D75-DEB2-12ED-F7B16FB10288}"/>
                  </a:ext>
                </a:extLst>
              </p:cNvPr>
              <p:cNvSpPr txBox="1">
                <a:spLocks/>
              </p:cNvSpPr>
              <p:nvPr/>
            </p:nvSpPr>
            <p:spPr>
              <a:xfrm>
                <a:off x="812561" y="1415143"/>
                <a:ext cx="10976667" cy="48332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dirty="0"/>
                  <a:t>c. (2 </a:t>
                </a:r>
                <a:r>
                  <a:rPr lang="en-US" sz="2400" dirty="0" err="1"/>
                  <a:t>pnts</a:t>
                </a:r>
                <a:r>
                  <a:rPr lang="en-US" sz="2400" dirty="0"/>
                  <a:t>) How does SMOTE work to generate synthetic examples? Use SMOTE to generate one more example between the points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oMath>
                </a14:m>
                <a:r>
                  <a:rPr lang="en-US" sz="2400" dirty="0"/>
                  <a:t> and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b="0" i="1" smtClean="0">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b="0" i="1" smtClean="0">
                            <a:latin typeface="Cambria Math" panose="02040503050406030204" pitchFamily="18" charset="0"/>
                          </a:rPr>
                          <m:t>2</m:t>
                        </m:r>
                      </m:sub>
                    </m:sSub>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en-US" sz="2400" b="0" i="1" smtClean="0">
                            <a:latin typeface="Cambria Math" panose="02040503050406030204" pitchFamily="18" charset="0"/>
                          </a:rPr>
                          <m:t>2</m:t>
                        </m:r>
                      </m:sub>
                    </m:sSub>
                    <m:r>
                      <a:rPr lang="en-US" sz="2400" i="1">
                        <a:latin typeface="Cambria Math" panose="02040503050406030204" pitchFamily="18" charset="0"/>
                      </a:rPr>
                      <m:t>)</m:t>
                    </m:r>
                  </m:oMath>
                </a14:m>
                <a:endParaRPr lang="en-US" sz="2400" dirty="0"/>
              </a:p>
              <a:p>
                <a:pPr>
                  <a:lnSpc>
                    <a:spcPct val="100000"/>
                  </a:lnSpc>
                </a:pPr>
                <a:r>
                  <a:rPr lang="en-US" sz="2400" dirty="0"/>
                  <a:t>Solution:</a:t>
                </a:r>
              </a:p>
              <a:p>
                <a:pPr>
                  <a:lnSpc>
                    <a:spcPct val="100000"/>
                  </a:lnSpc>
                </a:pPr>
                <a:r>
                  <a:rPr lang="en-US" sz="2400" dirty="0"/>
                  <a:t>SMOTE work by picking a sample from the minority class randomly (say </a:t>
                </a:r>
                <a14:m>
                  <m:oMath xmlns:m="http://schemas.openxmlformats.org/officeDocument/2006/math">
                    <m:r>
                      <a:rPr lang="en-US" sz="2400" b="0" i="1" smtClean="0">
                        <a:latin typeface="Cambria Math" panose="02040503050406030204" pitchFamily="18" charset="0"/>
                      </a:rPr>
                      <m:t>𝑥</m:t>
                    </m:r>
                  </m:oMath>
                </a14:m>
                <a:r>
                  <a:rPr lang="en-US" sz="2400" dirty="0"/>
                  <a:t>), finds its k-nearest neighbors and pick one them (say </a:t>
                </a:r>
                <a14:m>
                  <m:oMath xmlns:m="http://schemas.openxmlformats.org/officeDocument/2006/math">
                    <m:r>
                      <a:rPr lang="en-US" sz="2400" b="0" i="1" smtClean="0">
                        <a:latin typeface="Cambria Math" panose="02040503050406030204" pitchFamily="18" charset="0"/>
                      </a:rPr>
                      <m:t>𝑦</m:t>
                    </m:r>
                  </m:oMath>
                </a14:m>
                <a:r>
                  <a:rPr lang="en-US" sz="2400" dirty="0"/>
                  <a:t>). Then it picks a random number in the interval </a:t>
                </a:r>
                <a14:m>
                  <m:oMath xmlns:m="http://schemas.openxmlformats.org/officeDocument/2006/math">
                    <m:r>
                      <a:rPr lang="en-US" sz="2400" b="0" i="1" dirty="0" smtClean="0">
                        <a:latin typeface="Cambria Math" panose="02040503050406030204" pitchFamily="18" charset="0"/>
                      </a:rPr>
                      <m:t>𝛿</m:t>
                    </m:r>
                    <m:r>
                      <a:rPr lang="en-US" sz="2400" b="0" i="1" dirty="0" smtClean="0">
                        <a:latin typeface="Cambria Math" panose="02040503050406030204" pitchFamily="18" charset="0"/>
                      </a:rPr>
                      <m:t>∈[0, </m:t>
                    </m:r>
                    <m:r>
                      <a:rPr lang="en-US" sz="2400" i="1" dirty="0" smtClean="0">
                        <a:latin typeface="Cambria Math" panose="02040503050406030204" pitchFamily="18" charset="0"/>
                      </a:rPr>
                      <m:t>1]</m:t>
                    </m:r>
                  </m:oMath>
                </a14:m>
                <a:r>
                  <a:rPr lang="en-US" sz="2400" dirty="0"/>
                  <a:t> and multiply the difference between </a:t>
                </a:r>
                <a14:m>
                  <m:oMath xmlns:m="http://schemas.openxmlformats.org/officeDocument/2006/math">
                    <m:r>
                      <a:rPr lang="en-US" sz="2400" i="1">
                        <a:latin typeface="Cambria Math" panose="02040503050406030204" pitchFamily="18" charset="0"/>
                      </a:rPr>
                      <m:t>𝑥</m:t>
                    </m:r>
                  </m:oMath>
                </a14:m>
                <a:r>
                  <a:rPr lang="en-US" sz="2400" dirty="0"/>
                  <a:t> and </a:t>
                </a:r>
                <a14:m>
                  <m:oMath xmlns:m="http://schemas.openxmlformats.org/officeDocument/2006/math">
                    <m:r>
                      <a:rPr lang="en-US" sz="2400" b="0" i="1" smtClean="0">
                        <a:latin typeface="Cambria Math" panose="02040503050406030204" pitchFamily="18" charset="0"/>
                      </a:rPr>
                      <m:t>𝑦</m:t>
                    </m:r>
                  </m:oMath>
                </a14:m>
                <a:r>
                  <a:rPr lang="en-US" sz="2400" dirty="0"/>
                  <a:t> by </a:t>
                </a:r>
                <a14:m>
                  <m:oMath xmlns:m="http://schemas.openxmlformats.org/officeDocument/2006/math">
                    <m:r>
                      <a:rPr lang="en-US" sz="2400" b="0" i="1" smtClean="0">
                        <a:latin typeface="Cambria Math" panose="02040503050406030204" pitchFamily="18" charset="0"/>
                      </a:rPr>
                      <m:t>𝛿</m:t>
                    </m:r>
                  </m:oMath>
                </a14:m>
                <a:r>
                  <a:rPr lang="en-US" sz="2400" dirty="0"/>
                  <a:t> and add the difference to one the sample (</a:t>
                </a:r>
                <a14:m>
                  <m:oMath xmlns:m="http://schemas.openxmlformats.org/officeDocument/2006/math">
                    <m:r>
                      <a:rPr lang="en-US" sz="2400" i="1">
                        <a:latin typeface="Cambria Math" panose="02040503050406030204" pitchFamily="18" charset="0"/>
                      </a:rPr>
                      <m:t>𝑥</m:t>
                    </m:r>
                  </m:oMath>
                </a14:m>
                <a:r>
                  <a:rPr lang="en-US" sz="2400" dirty="0"/>
                  <a:t> or </a:t>
                </a:r>
                <a14:m>
                  <m:oMath xmlns:m="http://schemas.openxmlformats.org/officeDocument/2006/math">
                    <m:r>
                      <a:rPr lang="en-US" sz="2400" b="0" i="1" smtClean="0">
                        <a:latin typeface="Cambria Math" panose="02040503050406030204" pitchFamily="18" charset="0"/>
                      </a:rPr>
                      <m:t>𝑦</m:t>
                    </m:r>
                  </m:oMath>
                </a14:m>
                <a:r>
                  <a:rPr lang="en-US" sz="2400" dirty="0"/>
                  <a:t>) to generate a new example </a:t>
                </a:r>
                <a14:m>
                  <m:oMath xmlns:m="http://schemas.openxmlformats.org/officeDocument/2006/math">
                    <m:sSub>
                      <m:sSubPr>
                        <m:ctrlPr>
                          <a:rPr lang="en-US" sz="2400" b="0" i="1" smtClean="0">
                            <a:latin typeface="Cambria Math" panose="02040503050406030204" pitchFamily="18" charset="0"/>
                          </a:rPr>
                        </m:ctrlPr>
                      </m:sSubPr>
                      <m:e>
                        <m:r>
                          <a:rPr lang="en-US" sz="2400" i="1">
                            <a:latin typeface="Cambria Math" panose="02040503050406030204" pitchFamily="18" charset="0"/>
                          </a:rPr>
                          <m:t>𝑥</m:t>
                        </m:r>
                      </m:e>
                      <m:sub>
                        <m:r>
                          <a:rPr lang="en-US" sz="2400" b="0" i="1" smtClean="0">
                            <a:latin typeface="Cambria Math" panose="02040503050406030204" pitchFamily="18" charset="0"/>
                          </a:rPr>
                          <m:t>𝑔</m:t>
                        </m:r>
                      </m:sub>
                    </m:sSub>
                  </m:oMath>
                </a14:m>
                <a:r>
                  <a:rPr lang="en-US" sz="2400" dirty="0"/>
                  <a:t>. For example,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𝑔</m:t>
                        </m:r>
                      </m:sub>
                    </m:sSub>
                    <m:r>
                      <a:rPr lang="en-US" sz="2400" b="0" i="1" smtClean="0">
                        <a:latin typeface="Cambria Math" panose="02040503050406030204" pitchFamily="18" charset="0"/>
                      </a:rPr>
                      <m:t>=</m:t>
                    </m:r>
                    <m:r>
                      <a:rPr lang="en-US" sz="2400" b="0" i="1" smtClean="0">
                        <a:latin typeface="Cambria Math" panose="02040503050406030204" pitchFamily="18" charset="0"/>
                      </a:rPr>
                      <m:t>𝛿</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𝑦</m:t>
                        </m:r>
                      </m:e>
                    </m:d>
                    <m:r>
                      <a:rPr lang="en-US" sz="2400" b="0" i="1" smtClean="0">
                        <a:latin typeface="Cambria Math" panose="02040503050406030204" pitchFamily="18" charset="0"/>
                      </a:rPr>
                      <m:t>+</m:t>
                    </m:r>
                    <m:r>
                      <a:rPr lang="en-US" sz="2400" b="0" i="1" smtClean="0">
                        <a:latin typeface="Cambria Math" panose="02040503050406030204" pitchFamily="18" charset="0"/>
                      </a:rPr>
                      <m:t>𝑥</m:t>
                    </m:r>
                  </m:oMath>
                </a14:m>
                <a:endParaRPr lang="en-US" sz="2400" dirty="0"/>
              </a:p>
              <a:p>
                <a:pPr>
                  <a:lnSpc>
                    <a:spcPct val="100000"/>
                  </a:lnSpc>
                </a:pPr>
                <a:r>
                  <a:rPr lang="en-US" sz="2400" dirty="0"/>
                  <a:t>To generate a new example from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oMath>
                </a14:m>
                <a:r>
                  <a:rPr lang="en-US" sz="2400" dirty="0"/>
                  <a:t> and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2</m:t>
                        </m:r>
                      </m:sub>
                    </m:sSub>
                    <m:r>
                      <a:rPr lang="en-US" sz="2400" i="1">
                        <a:latin typeface="Cambria Math" panose="02040503050406030204" pitchFamily="18" charset="0"/>
                      </a:rPr>
                      <m:t>=</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2</m:t>
                            </m:r>
                          </m:sub>
                        </m:sSub>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2</m:t>
                            </m:r>
                          </m:sub>
                        </m:sSub>
                      </m:e>
                    </m:d>
                  </m:oMath>
                </a14:m>
                <a:r>
                  <a:rPr lang="en-US" sz="2400" dirty="0"/>
                  <a:t>, we pick a number between 0 and 1 (let us say 0.4) and compute</a:t>
                </a:r>
              </a:p>
              <a:p>
                <a:pPr lvl="1">
                  <a:lnSpc>
                    <a:spcPct val="100000"/>
                  </a:lnSpc>
                </a:pPr>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𝑔</m:t>
                        </m:r>
                      </m:sub>
                    </m:sSub>
                    <m:r>
                      <a:rPr lang="en-US" sz="2000" i="1">
                        <a:latin typeface="Cambria Math" panose="02040503050406030204" pitchFamily="18" charset="0"/>
                      </a:rPr>
                      <m:t>=</m:t>
                    </m:r>
                    <m:r>
                      <a:rPr lang="en-US" sz="2000" b="0" i="1" smtClean="0">
                        <a:latin typeface="Cambria Math" panose="02040503050406030204" pitchFamily="18" charset="0"/>
                      </a:rPr>
                      <m:t>(0.4∗</m:t>
                    </m:r>
                    <m:d>
                      <m:dPr>
                        <m:ctrlPr>
                          <a:rPr lang="en-US" sz="2000" i="1">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1</m:t>
                            </m:r>
                          </m:sub>
                        </m:sSub>
                        <m:r>
                          <a:rPr lang="en-US" sz="2000" i="1">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2</m:t>
                            </m:r>
                          </m:sub>
                        </m:sSub>
                      </m:e>
                    </m:d>
                    <m:r>
                      <a:rPr lang="en-US" sz="2000" i="1">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 0.4 ∗</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2</m:t>
                            </m:r>
                          </m:sub>
                        </m:sSub>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oMath>
                </a14:m>
                <a:endParaRPr lang="en-US" sz="2000" dirty="0"/>
              </a:p>
              <a:p>
                <a:pPr>
                  <a:lnSpc>
                    <a:spcPct val="100000"/>
                  </a:lnSpc>
                </a:pPr>
                <a:endParaRPr lang="en-US" sz="2400" dirty="0"/>
              </a:p>
            </p:txBody>
          </p:sp>
        </mc:Choice>
        <mc:Fallback>
          <p:sp>
            <p:nvSpPr>
              <p:cNvPr id="11" name="Content Placeholder 4">
                <a:extLst>
                  <a:ext uri="{FF2B5EF4-FFF2-40B4-BE49-F238E27FC236}">
                    <a16:creationId xmlns:a16="http://schemas.microsoft.com/office/drawing/2014/main" id="{5704DC82-5D75-DEB2-12ED-F7B16FB10288}"/>
                  </a:ext>
                </a:extLst>
              </p:cNvPr>
              <p:cNvSpPr txBox="1">
                <a:spLocks noRot="1" noChangeAspect="1" noMove="1" noResize="1" noEditPoints="1" noAdjustHandles="1" noChangeArrowheads="1" noChangeShapeType="1" noTextEdit="1"/>
              </p:cNvSpPr>
              <p:nvPr/>
            </p:nvSpPr>
            <p:spPr>
              <a:xfrm>
                <a:off x="812561" y="1415143"/>
                <a:ext cx="10976667" cy="4833257"/>
              </a:xfrm>
              <a:prstGeom prst="rect">
                <a:avLst/>
              </a:prstGeom>
              <a:blipFill>
                <a:blip r:embed="rId2"/>
                <a:stretch>
                  <a:fillRect l="-693" t="-1047" r="-1270"/>
                </a:stretch>
              </a:blipFill>
            </p:spPr>
            <p:txBody>
              <a:bodyPr/>
              <a:lstStyle/>
              <a:p>
                <a:r>
                  <a:rPr lang="en-US">
                    <a:noFill/>
                  </a:rPr>
                  <a:t> </a:t>
                </a:r>
              </a:p>
            </p:txBody>
          </p:sp>
        </mc:Fallback>
      </mc:AlternateContent>
    </p:spTree>
    <p:extLst>
      <p:ext uri="{BB962C8B-B14F-4D97-AF65-F5344CB8AC3E}">
        <p14:creationId xmlns:p14="http://schemas.microsoft.com/office/powerpoint/2010/main" val="81935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014F0-7EED-8FA3-6BC6-C620C8EE11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5A9321-509F-FE08-6DFF-C9182F90716F}"/>
              </a:ext>
            </a:extLst>
          </p:cNvPr>
          <p:cNvSpPr>
            <a:spLocks noGrp="1"/>
          </p:cNvSpPr>
          <p:nvPr>
            <p:ph type="title"/>
          </p:nvPr>
        </p:nvSpPr>
        <p:spPr>
          <a:xfrm>
            <a:off x="838200" y="365126"/>
            <a:ext cx="10515600" cy="918242"/>
          </a:xfrm>
        </p:spPr>
        <p:txBody>
          <a:bodyPr>
            <a:noAutofit/>
          </a:bodyPr>
          <a:lstStyle/>
          <a:p>
            <a:r>
              <a:rPr lang="en-US" sz="3200" b="1" dirty="0">
                <a:latin typeface="Times New Roman" panose="02020603050405020304" pitchFamily="18" charset="0"/>
                <a:cs typeface="Times New Roman" panose="02020603050405020304" pitchFamily="18" charset="0"/>
              </a:rPr>
              <a:t>A</a:t>
            </a:r>
            <a:endParaRPr lang="nl-NL" sz="3200" b="1" dirty="0">
              <a:latin typeface="Times New Roman" panose="02020603050405020304" pitchFamily="18" charset="0"/>
              <a:cs typeface="Times New Roman" panose="02020603050405020304" pitchFamily="18" charset="0"/>
            </a:endParaRPr>
          </a:p>
        </p:txBody>
      </p:sp>
      <p:sp>
        <p:nvSpPr>
          <p:cNvPr id="11" name="Content Placeholder 4">
            <a:extLst>
              <a:ext uri="{FF2B5EF4-FFF2-40B4-BE49-F238E27FC236}">
                <a16:creationId xmlns:a16="http://schemas.microsoft.com/office/drawing/2014/main" id="{1570619F-E08A-FD5A-67AB-522C11D5031D}"/>
              </a:ext>
            </a:extLst>
          </p:cNvPr>
          <p:cNvSpPr txBox="1">
            <a:spLocks/>
          </p:cNvSpPr>
          <p:nvPr/>
        </p:nvSpPr>
        <p:spPr>
          <a:xfrm>
            <a:off x="812561" y="1415143"/>
            <a:ext cx="10976667" cy="48332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dirty="0"/>
              <a:t>d. (2 </a:t>
            </a:r>
            <a:r>
              <a:rPr lang="en-US" sz="2400" dirty="0" err="1"/>
              <a:t>pnts</a:t>
            </a:r>
            <a:r>
              <a:rPr lang="en-US" sz="2400" dirty="0"/>
              <a:t>) Explain how generative adversarial networks work and list two of the failure cases. </a:t>
            </a:r>
          </a:p>
          <a:p>
            <a:pPr>
              <a:lnSpc>
                <a:spcPct val="100000"/>
              </a:lnSpc>
            </a:pPr>
            <a:r>
              <a:rPr lang="en-US" sz="2400" dirty="0"/>
              <a:t>Solution:</a:t>
            </a:r>
          </a:p>
          <a:p>
            <a:pPr>
              <a:lnSpc>
                <a:spcPct val="100000"/>
              </a:lnSpc>
            </a:pPr>
            <a:r>
              <a:rPr lang="en-US" sz="2400" dirty="0"/>
              <a:t>Generative adversarial networks consists of two neural networks (generator and discriminator). The two networks compete in a zero-sum game approach, where the generator generates new samples that are similar to the original data and the discriminator classifies the samples as real or fake. </a:t>
            </a:r>
          </a:p>
          <a:p>
            <a:pPr>
              <a:lnSpc>
                <a:spcPct val="100000"/>
              </a:lnSpc>
            </a:pPr>
            <a:r>
              <a:rPr lang="en-US" sz="2400" dirty="0"/>
              <a:t>Failure cases:</a:t>
            </a:r>
          </a:p>
          <a:p>
            <a:pPr lvl="1">
              <a:lnSpc>
                <a:spcPct val="100000"/>
              </a:lnSpc>
            </a:pPr>
            <a:r>
              <a:rPr lang="en-US" sz="2000" dirty="0"/>
              <a:t>The discriminator become very strong and correctly identifies all the generated examples</a:t>
            </a:r>
          </a:p>
          <a:p>
            <a:pPr lvl="1">
              <a:lnSpc>
                <a:spcPct val="100000"/>
              </a:lnSpc>
            </a:pPr>
            <a:r>
              <a:rPr lang="en-US" sz="2000" dirty="0"/>
              <a:t>The generator learns only a few specific weaknesses of the discriminator</a:t>
            </a:r>
          </a:p>
        </p:txBody>
      </p:sp>
    </p:spTree>
    <p:extLst>
      <p:ext uri="{BB962C8B-B14F-4D97-AF65-F5344CB8AC3E}">
        <p14:creationId xmlns:p14="http://schemas.microsoft.com/office/powerpoint/2010/main" val="2762439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02E9F-A136-2E0E-ECC9-11151F2366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DEB54-13A1-A47F-3664-12B7B70BD954}"/>
              </a:ext>
            </a:extLst>
          </p:cNvPr>
          <p:cNvSpPr>
            <a:spLocks noGrp="1"/>
          </p:cNvSpPr>
          <p:nvPr>
            <p:ph type="title"/>
          </p:nvPr>
        </p:nvSpPr>
        <p:spPr>
          <a:xfrm>
            <a:off x="838200" y="365126"/>
            <a:ext cx="10515600" cy="918242"/>
          </a:xfrm>
        </p:spPr>
        <p:txBody>
          <a:bodyPr>
            <a:noAutofit/>
          </a:bodyPr>
          <a:lstStyle/>
          <a:p>
            <a:r>
              <a:rPr lang="en-US" sz="3200" b="1" dirty="0">
                <a:latin typeface="Times New Roman" panose="02020603050405020304" pitchFamily="18" charset="0"/>
                <a:cs typeface="Times New Roman" panose="02020603050405020304" pitchFamily="18" charset="0"/>
              </a:rPr>
              <a:t>A</a:t>
            </a:r>
            <a:endParaRPr lang="nl-NL"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1" name="Content Placeholder 4">
                <a:extLst>
                  <a:ext uri="{FF2B5EF4-FFF2-40B4-BE49-F238E27FC236}">
                    <a16:creationId xmlns:a16="http://schemas.microsoft.com/office/drawing/2014/main" id="{3EC860E9-CB8D-5436-ECED-2E4A0EF22759}"/>
                  </a:ext>
                </a:extLst>
              </p:cNvPr>
              <p:cNvSpPr txBox="1">
                <a:spLocks/>
              </p:cNvSpPr>
              <p:nvPr/>
            </p:nvSpPr>
            <p:spPr>
              <a:xfrm>
                <a:off x="838200" y="1132114"/>
                <a:ext cx="10976667" cy="54428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dirty="0"/>
                  <a:t>e. (3 </a:t>
                </a:r>
                <a:r>
                  <a:rPr lang="en-US" sz="2400" dirty="0" err="1"/>
                  <a:t>pnts</a:t>
                </a:r>
                <a:r>
                  <a:rPr lang="en-US" sz="2400" dirty="0"/>
                  <a:t>) Given the data</a:t>
                </a:r>
              </a:p>
              <a:p>
                <a:pPr>
                  <a:lnSpc>
                    <a:spcPct val="100000"/>
                  </a:lnSpc>
                </a:pPr>
                <a:endParaRPr lang="en-US" dirty="0"/>
              </a:p>
              <a:p>
                <a:pPr>
                  <a:lnSpc>
                    <a:spcPct val="100000"/>
                  </a:lnSpc>
                </a:pPr>
                <a:endParaRPr lang="en-US" dirty="0"/>
              </a:p>
              <a:p>
                <a:pPr lvl="1">
                  <a:lnSpc>
                    <a:spcPct val="100000"/>
                  </a:lnSpc>
                </a:pPr>
                <a:r>
                  <a:rPr lang="en-US" dirty="0"/>
                  <a:t>Use exponential smoothing with </a:t>
                </a:r>
                <a14:m>
                  <m:oMath xmlns:m="http://schemas.openxmlformats.org/officeDocument/2006/math">
                    <m:r>
                      <a:rPr lang="en-US" b="0" i="1" smtClean="0">
                        <a:latin typeface="Cambria Math" panose="02040503050406030204" pitchFamily="18" charset="0"/>
                      </a:rPr>
                      <m:t>𝛼</m:t>
                    </m:r>
                    <m:r>
                      <a:rPr lang="en-US" b="0" i="1" smtClean="0">
                        <a:latin typeface="Cambria Math" panose="02040503050406030204" pitchFamily="18" charset="0"/>
                      </a:rPr>
                      <m:t>=0.3 </m:t>
                    </m:r>
                  </m:oMath>
                </a14:m>
                <a:r>
                  <a:rPr lang="en-US" dirty="0"/>
                  <a:t>for predicting the value at year 1995 given that the predicted value at year 1994 is 17.3</a:t>
                </a:r>
              </a:p>
              <a:p>
                <a:pPr lvl="1">
                  <a:lnSpc>
                    <a:spcPct val="100000"/>
                  </a:lnSpc>
                </a:pPr>
                <a:r>
                  <a:rPr lang="en-US" dirty="0"/>
                  <a:t>Use the moving average with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m:t>
                    </m:r>
                  </m:oMath>
                </a14:m>
                <a:r>
                  <a:rPr lang="en-US" dirty="0"/>
                  <a:t>4 to predict the value of </a:t>
                </a:r>
                <a14:m>
                  <m:oMath xmlns:m="http://schemas.openxmlformats.org/officeDocument/2006/math">
                    <m:r>
                      <a:rPr lang="en-US" b="0" i="1" smtClean="0">
                        <a:latin typeface="Cambria Math" panose="02040503050406030204" pitchFamily="18" charset="0"/>
                      </a:rPr>
                      <m:t>𝑦</m:t>
                    </m:r>
                    <m:r>
                      <a:rPr lang="en-US" i="1">
                        <a:latin typeface="Cambria Math" panose="02040503050406030204" pitchFamily="18" charset="0"/>
                      </a:rPr>
                      <m:t> </m:t>
                    </m:r>
                  </m:oMath>
                </a14:m>
                <a:r>
                  <a:rPr lang="en-US" dirty="0"/>
                  <a:t>for 1999 and 2000</a:t>
                </a:r>
              </a:p>
              <a:p>
                <a:pPr>
                  <a:lnSpc>
                    <a:spcPct val="100000"/>
                  </a:lnSpc>
                </a:pPr>
                <a:r>
                  <a:rPr lang="en-US" dirty="0"/>
                  <a:t>Solution</a:t>
                </a:r>
              </a:p>
              <a:p>
                <a:pPr lvl="1">
                  <a:lnSpc>
                    <a:spcPct val="100000"/>
                  </a:lnSpc>
                </a:pPr>
                <a:r>
                  <a:rPr lang="en-US" dirty="0"/>
                  <a:t>Exponential smoothing works as </a:t>
                </a:r>
                <a14:m>
                  <m:oMath xmlns:m="http://schemas.openxmlformats.org/officeDocument/2006/math">
                    <m:sSub>
                      <m:sSubPr>
                        <m:ctrlPr>
                          <a:rPr lang="en-US" altLang="en-US" b="0" i="1" smtClean="0">
                            <a:latin typeface="Cambria Math" panose="02040503050406030204" pitchFamily="18" charset="0"/>
                          </a:rPr>
                        </m:ctrlPr>
                      </m:sSubPr>
                      <m:e>
                        <m:acc>
                          <m:accPr>
                            <m:chr m:val="̂"/>
                            <m:ctrlPr>
                              <a:rPr lang="en-US" altLang="en-US" b="0" i="1" smtClean="0">
                                <a:latin typeface="Cambria Math" panose="02040503050406030204" pitchFamily="18" charset="0"/>
                              </a:rPr>
                            </m:ctrlPr>
                          </m:accPr>
                          <m:e>
                            <m:r>
                              <a:rPr lang="en-US" altLang="en-US" i="1">
                                <a:latin typeface="Cambria Math" panose="02040503050406030204" pitchFamily="18" charset="0"/>
                              </a:rPr>
                              <m:t>𝑦</m:t>
                            </m:r>
                          </m:e>
                        </m:acc>
                      </m:e>
                      <m:sub>
                        <m:r>
                          <a:rPr lang="en-US" altLang="en-US" b="0" i="1" smtClean="0">
                            <a:latin typeface="Cambria Math" panose="02040503050406030204" pitchFamily="18" charset="0"/>
                          </a:rPr>
                          <m:t>𝑡</m:t>
                        </m:r>
                        <m:r>
                          <a:rPr lang="en-US" altLang="en-US" b="0" i="1" smtClean="0">
                            <a:latin typeface="Cambria Math" panose="02040503050406030204" pitchFamily="18" charset="0"/>
                          </a:rPr>
                          <m:t>+1</m:t>
                        </m:r>
                      </m:sub>
                    </m:sSub>
                    <m:r>
                      <a:rPr lang="en-US" altLang="en-US" b="0" i="1" smtClean="0">
                        <a:latin typeface="Cambria Math" panose="02040503050406030204" pitchFamily="18" charset="0"/>
                      </a:rPr>
                      <m:t>=</m:t>
                    </m:r>
                    <m:sSub>
                      <m:sSubPr>
                        <m:ctrlPr>
                          <a:rPr lang="en-US" altLang="en-US" i="1">
                            <a:latin typeface="Cambria Math" panose="02040503050406030204" pitchFamily="18" charset="0"/>
                          </a:rPr>
                        </m:ctrlPr>
                      </m:sSubPr>
                      <m:e>
                        <m:r>
                          <a:rPr lang="en-US" altLang="en-US" b="0" i="1" smtClean="0">
                            <a:latin typeface="Cambria Math" panose="02040503050406030204" pitchFamily="18" charset="0"/>
                          </a:rPr>
                          <m:t>𝛼</m:t>
                        </m:r>
                        <m:r>
                          <a:rPr lang="en-US" altLang="en-US" b="0" i="1" smtClean="0">
                            <a:latin typeface="Cambria Math" panose="02040503050406030204" pitchFamily="18" charset="0"/>
                          </a:rPr>
                          <m:t> </m:t>
                        </m:r>
                        <m:r>
                          <a:rPr lang="en-US" altLang="en-US" i="1">
                            <a:latin typeface="Cambria Math" panose="02040503050406030204" pitchFamily="18" charset="0"/>
                          </a:rPr>
                          <m:t>𝑦</m:t>
                        </m:r>
                      </m:e>
                      <m:sub>
                        <m:r>
                          <a:rPr lang="en-US" altLang="en-US" i="1">
                            <a:latin typeface="Cambria Math" panose="02040503050406030204" pitchFamily="18" charset="0"/>
                          </a:rPr>
                          <m:t>𝑡</m:t>
                        </m:r>
                      </m:sub>
                    </m:sSub>
                    <m:r>
                      <a:rPr lang="en-US" altLang="en-US" i="1">
                        <a:latin typeface="Cambria Math" panose="02040503050406030204" pitchFamily="18" charset="0"/>
                      </a:rPr>
                      <m:t>+</m:t>
                    </m:r>
                    <m:r>
                      <a:rPr lang="en-US" altLang="en-US" b="0" i="1" smtClean="0">
                        <a:latin typeface="Cambria Math" panose="02040503050406030204" pitchFamily="18" charset="0"/>
                      </a:rPr>
                      <m:t>(1−</m:t>
                    </m:r>
                    <m:r>
                      <a:rPr lang="en-US" altLang="en-US" b="0" i="1" smtClean="0">
                        <a:latin typeface="Cambria Math" panose="02040503050406030204" pitchFamily="18" charset="0"/>
                      </a:rPr>
                      <m:t>𝛼</m:t>
                    </m:r>
                    <m:r>
                      <a:rPr lang="en-US" altLang="en-US" b="0" i="1" smtClean="0">
                        <a:latin typeface="Cambria Math" panose="02040503050406030204" pitchFamily="18" charset="0"/>
                      </a:rPr>
                      <m:t>)</m:t>
                    </m:r>
                    <m:sSub>
                      <m:sSubPr>
                        <m:ctrlPr>
                          <a:rPr lang="en-US" altLang="en-US" i="1">
                            <a:latin typeface="Cambria Math" panose="02040503050406030204" pitchFamily="18" charset="0"/>
                          </a:rPr>
                        </m:ctrlPr>
                      </m:sSubPr>
                      <m:e>
                        <m:acc>
                          <m:accPr>
                            <m:chr m:val="̂"/>
                            <m:ctrlPr>
                              <a:rPr lang="en-US" altLang="en-US" b="0" i="1" smtClean="0">
                                <a:latin typeface="Cambria Math" panose="02040503050406030204" pitchFamily="18" charset="0"/>
                              </a:rPr>
                            </m:ctrlPr>
                          </m:accPr>
                          <m:e>
                            <m:r>
                              <a:rPr lang="en-US" altLang="en-US" b="0" i="1" smtClean="0">
                                <a:latin typeface="Cambria Math" panose="02040503050406030204" pitchFamily="18" charset="0"/>
                              </a:rPr>
                              <m:t>𝑦</m:t>
                            </m:r>
                          </m:e>
                        </m:acc>
                      </m:e>
                      <m:sub>
                        <m:r>
                          <a:rPr lang="en-US" altLang="en-US" i="1">
                            <a:latin typeface="Cambria Math" panose="02040503050406030204" pitchFamily="18" charset="0"/>
                          </a:rPr>
                          <m:t>𝑡</m:t>
                        </m:r>
                      </m:sub>
                    </m:sSub>
                  </m:oMath>
                </a14:m>
                <a:r>
                  <a:rPr lang="en-US" dirty="0"/>
                  <a:t>. In our case, </a:t>
                </a:r>
                <a14:m>
                  <m:oMath xmlns:m="http://schemas.openxmlformats.org/officeDocument/2006/math">
                    <m:r>
                      <a:rPr lang="en-US" altLang="en-US" b="0" i="1" smtClean="0">
                        <a:latin typeface="Cambria Math" panose="02040503050406030204" pitchFamily="18" charset="0"/>
                      </a:rPr>
                      <m:t>𝛼</m:t>
                    </m:r>
                    <m:r>
                      <a:rPr lang="en-US" altLang="en-US" b="0" i="1" smtClean="0">
                        <a:latin typeface="Cambria Math" panose="02040503050406030204" pitchFamily="18" charset="0"/>
                      </a:rPr>
                      <m:t>=0.3</m:t>
                    </m:r>
                  </m:oMath>
                </a14:m>
                <a:r>
                  <a:rPr lang="en-US" dirty="0"/>
                  <a:t>, </a:t>
                </a:r>
                <a14:m>
                  <m:oMath xmlns:m="http://schemas.openxmlformats.org/officeDocument/2006/math">
                    <m:sSub>
                      <m:sSubPr>
                        <m:ctrlPr>
                          <a:rPr lang="en-US" altLang="en-US" i="1">
                            <a:latin typeface="Cambria Math" panose="02040503050406030204" pitchFamily="18" charset="0"/>
                          </a:rPr>
                        </m:ctrlPr>
                      </m:sSubPr>
                      <m:e>
                        <m:r>
                          <a:rPr lang="en-US" altLang="en-US" i="1">
                            <a:latin typeface="Cambria Math" panose="02040503050406030204" pitchFamily="18" charset="0"/>
                          </a:rPr>
                          <m:t>𝑦</m:t>
                        </m:r>
                      </m:e>
                      <m:sub>
                        <m:r>
                          <a:rPr lang="en-US" altLang="en-US" i="1">
                            <a:latin typeface="Cambria Math" panose="02040503050406030204" pitchFamily="18" charset="0"/>
                          </a:rPr>
                          <m:t>𝑡</m:t>
                        </m:r>
                      </m:sub>
                    </m:sSub>
                    <m:r>
                      <a:rPr lang="en-US" altLang="en-US" b="0" i="1" smtClean="0">
                        <a:latin typeface="Cambria Math" panose="02040503050406030204" pitchFamily="18" charset="0"/>
                      </a:rPr>
                      <m:t>=30</m:t>
                    </m:r>
                  </m:oMath>
                </a14:m>
                <a:r>
                  <a:rPr lang="en-US" dirty="0"/>
                  <a:t> and </a:t>
                </a:r>
                <a14:m>
                  <m:oMath xmlns:m="http://schemas.openxmlformats.org/officeDocument/2006/math">
                    <m:sSub>
                      <m:sSubPr>
                        <m:ctrlPr>
                          <a:rPr lang="en-US" altLang="en-US" i="1">
                            <a:latin typeface="Cambria Math" panose="02040503050406030204" pitchFamily="18" charset="0"/>
                          </a:rPr>
                        </m:ctrlPr>
                      </m:sSubPr>
                      <m:e>
                        <m:acc>
                          <m:accPr>
                            <m:chr m:val="̂"/>
                            <m:ctrlPr>
                              <a:rPr lang="en-US" altLang="en-US" i="1">
                                <a:latin typeface="Cambria Math" panose="02040503050406030204" pitchFamily="18" charset="0"/>
                              </a:rPr>
                            </m:ctrlPr>
                          </m:accPr>
                          <m:e>
                            <m:r>
                              <a:rPr lang="en-US" altLang="en-US" i="1">
                                <a:latin typeface="Cambria Math" panose="02040503050406030204" pitchFamily="18" charset="0"/>
                              </a:rPr>
                              <m:t>𝑦</m:t>
                            </m:r>
                          </m:e>
                        </m:acc>
                      </m:e>
                      <m:sub>
                        <m:r>
                          <a:rPr lang="en-US" altLang="en-US" i="1">
                            <a:latin typeface="Cambria Math" panose="02040503050406030204" pitchFamily="18" charset="0"/>
                          </a:rPr>
                          <m:t>𝑡</m:t>
                        </m:r>
                      </m:sub>
                    </m:sSub>
                    <m:r>
                      <a:rPr lang="en-US" altLang="en-US" b="0" i="1" smtClean="0">
                        <a:latin typeface="Cambria Math" panose="02040503050406030204" pitchFamily="18" charset="0"/>
                      </a:rPr>
                      <m:t>=17.3</m:t>
                    </m:r>
                  </m:oMath>
                </a14:m>
                <a:r>
                  <a:rPr lang="en-US" dirty="0"/>
                  <a:t> then </a:t>
                </a:r>
                <a14:m>
                  <m:oMath xmlns:m="http://schemas.openxmlformats.org/officeDocument/2006/math">
                    <m:sSub>
                      <m:sSubPr>
                        <m:ctrlPr>
                          <a:rPr lang="en-US" altLang="en-US" i="1">
                            <a:latin typeface="Cambria Math" panose="02040503050406030204" pitchFamily="18" charset="0"/>
                          </a:rPr>
                        </m:ctrlPr>
                      </m:sSubPr>
                      <m:e>
                        <m:acc>
                          <m:accPr>
                            <m:chr m:val="̂"/>
                            <m:ctrlPr>
                              <a:rPr lang="en-US" altLang="en-US" i="1">
                                <a:latin typeface="Cambria Math" panose="02040503050406030204" pitchFamily="18" charset="0"/>
                              </a:rPr>
                            </m:ctrlPr>
                          </m:accPr>
                          <m:e>
                            <m:r>
                              <a:rPr lang="en-US" altLang="en-US" i="1">
                                <a:latin typeface="Cambria Math" panose="02040503050406030204" pitchFamily="18" charset="0"/>
                              </a:rPr>
                              <m:t>𝑦</m:t>
                            </m:r>
                          </m:e>
                        </m:acc>
                      </m:e>
                      <m:sub>
                        <m:r>
                          <a:rPr lang="en-US" altLang="en-US" i="1">
                            <a:latin typeface="Cambria Math" panose="02040503050406030204" pitchFamily="18" charset="0"/>
                          </a:rPr>
                          <m:t>𝑡</m:t>
                        </m:r>
                        <m:r>
                          <a:rPr lang="en-US" altLang="en-US" i="1">
                            <a:latin typeface="Cambria Math" panose="02040503050406030204" pitchFamily="18" charset="0"/>
                          </a:rPr>
                          <m:t>+1</m:t>
                        </m:r>
                      </m:sub>
                    </m:sSub>
                    <m:r>
                      <a:rPr lang="en-US" altLang="en-US" i="1">
                        <a:latin typeface="Cambria Math" panose="02040503050406030204" pitchFamily="18" charset="0"/>
                      </a:rPr>
                      <m:t>=</m:t>
                    </m:r>
                    <m:r>
                      <a:rPr lang="en-US" altLang="en-US" b="0" i="1" smtClean="0">
                        <a:latin typeface="Cambria Math" panose="02040503050406030204" pitchFamily="18" charset="0"/>
                      </a:rPr>
                      <m:t>(0.3∗30)</m:t>
                    </m:r>
                    <m:r>
                      <a:rPr lang="en-US" altLang="en-US" i="1">
                        <a:latin typeface="Cambria Math" panose="02040503050406030204" pitchFamily="18" charset="0"/>
                      </a:rPr>
                      <m:t>+</m:t>
                    </m:r>
                    <m:r>
                      <a:rPr lang="en-US" altLang="en-US" b="0" i="1" smtClean="0">
                        <a:latin typeface="Cambria Math" panose="02040503050406030204" pitchFamily="18" charset="0"/>
                      </a:rPr>
                      <m:t>(0.7 ∗17.3)=21.11</m:t>
                    </m:r>
                  </m:oMath>
                </a14:m>
                <a:endParaRPr lang="en-US" dirty="0"/>
              </a:p>
              <a:p>
                <a:pPr lvl="1">
                  <a:lnSpc>
                    <a:spcPct val="100000"/>
                  </a:lnSpc>
                </a:pPr>
                <a:r>
                  <a:rPr lang="en-US" dirty="0"/>
                  <a:t>For year 1999, we will use the predicted value for year 1995 since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m:t>
                    </m:r>
                  </m:oMath>
                </a14:m>
                <a:r>
                  <a:rPr lang="en-US" dirty="0"/>
                  <a:t>4 so we will get </a:t>
                </a:r>
                <a14:m>
                  <m:oMath xmlns:m="http://schemas.openxmlformats.org/officeDocument/2006/math">
                    <m:sSub>
                      <m:sSubPr>
                        <m:ctrlPr>
                          <a:rPr lang="en-US" altLang="en-US" i="1">
                            <a:latin typeface="Cambria Math" panose="02040503050406030204" pitchFamily="18" charset="0"/>
                          </a:rPr>
                        </m:ctrlPr>
                      </m:sSubPr>
                      <m:e>
                        <m:acc>
                          <m:accPr>
                            <m:chr m:val="̂"/>
                            <m:ctrlPr>
                              <a:rPr lang="en-US" altLang="en-US" sz="2400" b="0" i="1" dirty="0" smtClean="0">
                                <a:latin typeface="Cambria Math" panose="02040503050406030204" pitchFamily="18" charset="0"/>
                              </a:rPr>
                            </m:ctrlPr>
                          </m:accPr>
                          <m:e>
                            <m:r>
                              <a:rPr lang="en-US" altLang="en-US" sz="2400" b="0" i="1" dirty="0" smtClean="0">
                                <a:latin typeface="Cambria Math" panose="02040503050406030204" pitchFamily="18" charset="0"/>
                              </a:rPr>
                              <m:t>𝑦</m:t>
                            </m:r>
                          </m:e>
                        </m:acc>
                      </m:e>
                      <m:sub>
                        <m:r>
                          <a:rPr lang="en-US" altLang="en-US" b="0" i="1" smtClean="0">
                            <a:latin typeface="Cambria Math" panose="02040503050406030204" pitchFamily="18" charset="0"/>
                          </a:rPr>
                          <m:t>1999</m:t>
                        </m:r>
                      </m:sub>
                    </m:sSub>
                    <m:r>
                      <a:rPr lang="en-US" altLang="en-US" i="1">
                        <a:latin typeface="Cambria Math" panose="02040503050406030204" pitchFamily="18" charset="0"/>
                      </a:rPr>
                      <m:t>=</m:t>
                    </m:r>
                    <m:f>
                      <m:fPr>
                        <m:ctrlPr>
                          <a:rPr lang="en-US" altLang="en-US" b="0" i="1" smtClean="0">
                            <a:latin typeface="Cambria Math" panose="02040503050406030204" pitchFamily="18" charset="0"/>
                          </a:rPr>
                        </m:ctrlPr>
                      </m:fPr>
                      <m:num>
                        <m:r>
                          <a:rPr lang="en-US" altLang="en-US" b="0" i="1" smtClean="0">
                            <a:latin typeface="Cambria Math" panose="02040503050406030204" pitchFamily="18" charset="0"/>
                          </a:rPr>
                          <m:t>21.11+35+38+40</m:t>
                        </m:r>
                      </m:num>
                      <m:den>
                        <m:r>
                          <a:rPr lang="en-US" altLang="en-US" b="0" i="1" smtClean="0">
                            <a:latin typeface="Cambria Math" panose="02040503050406030204" pitchFamily="18" charset="0"/>
                          </a:rPr>
                          <m:t>4</m:t>
                        </m:r>
                      </m:den>
                    </m:f>
                    <m:r>
                      <a:rPr lang="en-US" altLang="en-US" b="0" i="1" smtClean="0">
                        <a:latin typeface="Cambria Math" panose="02040503050406030204" pitchFamily="18" charset="0"/>
                      </a:rPr>
                      <m:t>=33.53 </m:t>
                    </m:r>
                  </m:oMath>
                </a14:m>
                <a:r>
                  <a:rPr lang="en-US" dirty="0"/>
                  <a:t> and </a:t>
                </a:r>
                <a14:m>
                  <m:oMath xmlns:m="http://schemas.openxmlformats.org/officeDocument/2006/math">
                    <m:sSub>
                      <m:sSubPr>
                        <m:ctrlPr>
                          <a:rPr lang="en-US" altLang="en-US" i="1">
                            <a:latin typeface="Cambria Math" panose="02040503050406030204" pitchFamily="18" charset="0"/>
                          </a:rPr>
                        </m:ctrlPr>
                      </m:sSubPr>
                      <m:e>
                        <m:acc>
                          <m:accPr>
                            <m:chr m:val="̂"/>
                            <m:ctrlPr>
                              <a:rPr lang="en-US" altLang="en-US" sz="2400" b="0" i="1" dirty="0" smtClean="0">
                                <a:latin typeface="Cambria Math" panose="02040503050406030204" pitchFamily="18" charset="0"/>
                              </a:rPr>
                            </m:ctrlPr>
                          </m:accPr>
                          <m:e>
                            <m:r>
                              <a:rPr lang="en-US" altLang="en-US" sz="2400" b="0" i="1" dirty="0" smtClean="0">
                                <a:latin typeface="Cambria Math" panose="02040503050406030204" pitchFamily="18" charset="0"/>
                              </a:rPr>
                              <m:t>𝑦</m:t>
                            </m:r>
                          </m:e>
                        </m:acc>
                      </m:e>
                      <m:sub>
                        <m:r>
                          <a:rPr lang="en-US" altLang="en-US" b="0" i="1" smtClean="0">
                            <a:latin typeface="Cambria Math" panose="02040503050406030204" pitchFamily="18" charset="0"/>
                          </a:rPr>
                          <m:t>2000</m:t>
                        </m:r>
                      </m:sub>
                    </m:sSub>
                    <m:r>
                      <a:rPr lang="en-US" altLang="en-US" i="1">
                        <a:latin typeface="Cambria Math" panose="02040503050406030204" pitchFamily="18" charset="0"/>
                      </a:rPr>
                      <m:t>=</m:t>
                    </m:r>
                    <m:f>
                      <m:fPr>
                        <m:ctrlPr>
                          <a:rPr lang="en-US" altLang="en-US" i="1">
                            <a:latin typeface="Cambria Math" panose="02040503050406030204" pitchFamily="18" charset="0"/>
                          </a:rPr>
                        </m:ctrlPr>
                      </m:fPr>
                      <m:num>
                        <m:r>
                          <a:rPr lang="en-US" altLang="en-US" i="1">
                            <a:latin typeface="Cambria Math" panose="02040503050406030204" pitchFamily="18" charset="0"/>
                          </a:rPr>
                          <m:t>35+38+40</m:t>
                        </m:r>
                        <m:r>
                          <a:rPr lang="en-US" altLang="en-US" b="0" i="1" smtClean="0">
                            <a:latin typeface="Cambria Math" panose="02040503050406030204" pitchFamily="18" charset="0"/>
                          </a:rPr>
                          <m:t>+33.53</m:t>
                        </m:r>
                      </m:num>
                      <m:den>
                        <m:r>
                          <a:rPr lang="en-US" altLang="en-US" i="1">
                            <a:latin typeface="Cambria Math" panose="02040503050406030204" pitchFamily="18" charset="0"/>
                          </a:rPr>
                          <m:t>4</m:t>
                        </m:r>
                      </m:den>
                    </m:f>
                    <m:r>
                      <a:rPr lang="en-US" altLang="en-US" i="1">
                        <a:latin typeface="Cambria Math" panose="02040503050406030204" pitchFamily="18" charset="0"/>
                      </a:rPr>
                      <m:t>=3</m:t>
                    </m:r>
                    <m:r>
                      <a:rPr lang="en-US" altLang="en-US" b="0" i="1" smtClean="0">
                        <a:latin typeface="Cambria Math" panose="02040503050406030204" pitchFamily="18" charset="0"/>
                      </a:rPr>
                      <m:t>6</m:t>
                    </m:r>
                    <m:r>
                      <a:rPr lang="en-US" altLang="en-US" i="1">
                        <a:latin typeface="Cambria Math" panose="02040503050406030204" pitchFamily="18" charset="0"/>
                      </a:rPr>
                      <m:t>.</m:t>
                    </m:r>
                    <m:r>
                      <a:rPr lang="en-US" altLang="en-US" b="0" i="1" smtClean="0">
                        <a:latin typeface="Cambria Math" panose="02040503050406030204" pitchFamily="18" charset="0"/>
                      </a:rPr>
                      <m:t>6</m:t>
                    </m:r>
                    <m:r>
                      <a:rPr lang="en-US" altLang="en-US" i="1">
                        <a:latin typeface="Cambria Math" panose="02040503050406030204" pitchFamily="18" charset="0"/>
                      </a:rPr>
                      <m:t>3 </m:t>
                    </m:r>
                  </m:oMath>
                </a14:m>
                <a:endParaRPr lang="en-US" dirty="0"/>
              </a:p>
            </p:txBody>
          </p:sp>
        </mc:Choice>
        <mc:Fallback>
          <p:sp>
            <p:nvSpPr>
              <p:cNvPr id="11" name="Content Placeholder 4">
                <a:extLst>
                  <a:ext uri="{FF2B5EF4-FFF2-40B4-BE49-F238E27FC236}">
                    <a16:creationId xmlns:a16="http://schemas.microsoft.com/office/drawing/2014/main" id="{3EC860E9-CB8D-5436-ECED-2E4A0EF22759}"/>
                  </a:ext>
                </a:extLst>
              </p:cNvPr>
              <p:cNvSpPr txBox="1">
                <a:spLocks noRot="1" noChangeAspect="1" noMove="1" noResize="1" noEditPoints="1" noAdjustHandles="1" noChangeArrowheads="1" noChangeShapeType="1" noTextEdit="1"/>
              </p:cNvSpPr>
              <p:nvPr/>
            </p:nvSpPr>
            <p:spPr>
              <a:xfrm>
                <a:off x="838200" y="1132114"/>
                <a:ext cx="10976667" cy="5442857"/>
              </a:xfrm>
              <a:prstGeom prst="rect">
                <a:avLst/>
              </a:prstGeom>
              <a:blipFill>
                <a:blip r:embed="rId2"/>
                <a:stretch>
                  <a:fillRect l="-1040" t="-932" r="-34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80879A59-8CE4-A970-B8F2-72643E45F865}"/>
                  </a:ext>
                </a:extLst>
              </p:cNvPr>
              <p:cNvGraphicFramePr>
                <a:graphicFrameLocks noGrp="1"/>
              </p:cNvGraphicFramePr>
              <p:nvPr>
                <p:extLst>
                  <p:ext uri="{D42A27DB-BD31-4B8C-83A1-F6EECF244321}">
                    <p14:modId xmlns:p14="http://schemas.microsoft.com/office/powerpoint/2010/main" val="1764944007"/>
                  </p:ext>
                </p:extLst>
              </p:nvPr>
            </p:nvGraphicFramePr>
            <p:xfrm>
              <a:off x="2262533" y="1679516"/>
              <a:ext cx="8128000" cy="741680"/>
            </p:xfrm>
            <a:graphic>
              <a:graphicData uri="http://schemas.openxmlformats.org/drawingml/2006/table">
                <a:tbl>
                  <a:tblPr firstRow="1" bandRow="1">
                    <a:tableStyleId>{5C22544A-7EE6-4342-B048-85BDC9FD1C3A}</a:tableStyleId>
                  </a:tblPr>
                  <a:tblGrid>
                    <a:gridCol w="812800">
                      <a:extLst>
                        <a:ext uri="{9D8B030D-6E8A-4147-A177-3AD203B41FA5}">
                          <a16:colId xmlns:a16="http://schemas.microsoft.com/office/drawing/2014/main" val="1748025700"/>
                        </a:ext>
                      </a:extLst>
                    </a:gridCol>
                    <a:gridCol w="812800">
                      <a:extLst>
                        <a:ext uri="{9D8B030D-6E8A-4147-A177-3AD203B41FA5}">
                          <a16:colId xmlns:a16="http://schemas.microsoft.com/office/drawing/2014/main" val="3607248806"/>
                        </a:ext>
                      </a:extLst>
                    </a:gridCol>
                    <a:gridCol w="812800">
                      <a:extLst>
                        <a:ext uri="{9D8B030D-6E8A-4147-A177-3AD203B41FA5}">
                          <a16:colId xmlns:a16="http://schemas.microsoft.com/office/drawing/2014/main" val="3649662325"/>
                        </a:ext>
                      </a:extLst>
                    </a:gridCol>
                    <a:gridCol w="812800">
                      <a:extLst>
                        <a:ext uri="{9D8B030D-6E8A-4147-A177-3AD203B41FA5}">
                          <a16:colId xmlns:a16="http://schemas.microsoft.com/office/drawing/2014/main" val="3919557230"/>
                        </a:ext>
                      </a:extLst>
                    </a:gridCol>
                    <a:gridCol w="812800">
                      <a:extLst>
                        <a:ext uri="{9D8B030D-6E8A-4147-A177-3AD203B41FA5}">
                          <a16:colId xmlns:a16="http://schemas.microsoft.com/office/drawing/2014/main" val="3046040075"/>
                        </a:ext>
                      </a:extLst>
                    </a:gridCol>
                    <a:gridCol w="812800">
                      <a:extLst>
                        <a:ext uri="{9D8B030D-6E8A-4147-A177-3AD203B41FA5}">
                          <a16:colId xmlns:a16="http://schemas.microsoft.com/office/drawing/2014/main" val="1739896634"/>
                        </a:ext>
                      </a:extLst>
                    </a:gridCol>
                    <a:gridCol w="812800">
                      <a:extLst>
                        <a:ext uri="{9D8B030D-6E8A-4147-A177-3AD203B41FA5}">
                          <a16:colId xmlns:a16="http://schemas.microsoft.com/office/drawing/2014/main" val="1694616747"/>
                        </a:ext>
                      </a:extLst>
                    </a:gridCol>
                    <a:gridCol w="812800">
                      <a:extLst>
                        <a:ext uri="{9D8B030D-6E8A-4147-A177-3AD203B41FA5}">
                          <a16:colId xmlns:a16="http://schemas.microsoft.com/office/drawing/2014/main" val="1242252902"/>
                        </a:ext>
                      </a:extLst>
                    </a:gridCol>
                    <a:gridCol w="812800">
                      <a:extLst>
                        <a:ext uri="{9D8B030D-6E8A-4147-A177-3AD203B41FA5}">
                          <a16:colId xmlns:a16="http://schemas.microsoft.com/office/drawing/2014/main" val="2906582248"/>
                        </a:ext>
                      </a:extLst>
                    </a:gridCol>
                    <a:gridCol w="812800">
                      <a:extLst>
                        <a:ext uri="{9D8B030D-6E8A-4147-A177-3AD203B41FA5}">
                          <a16:colId xmlns:a16="http://schemas.microsoft.com/office/drawing/2014/main" val="1622466608"/>
                        </a:ext>
                      </a:extLst>
                    </a:gridCol>
                  </a:tblGrid>
                  <a:tr h="370840">
                    <a:tc>
                      <a:txBody>
                        <a:bodyPr/>
                        <a:lstStyle/>
                        <a:p>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𝑥</m:t>
                                </m:r>
                              </m:oMath>
                            </m:oMathPara>
                          </a14:m>
                          <a:endParaRPr lang="en-US" dirty="0"/>
                        </a:p>
                      </a:txBody>
                      <a:tcPr>
                        <a:solidFill>
                          <a:schemeClr val="accent1"/>
                        </a:solidFill>
                      </a:tcPr>
                    </a:tc>
                    <a:tc>
                      <a:txBody>
                        <a:bodyPr/>
                        <a:lstStyle/>
                        <a:p>
                          <a:r>
                            <a:rPr lang="en-US" b="0" dirty="0">
                              <a:solidFill>
                                <a:schemeClr val="tx1"/>
                              </a:solidFill>
                            </a:rPr>
                            <a:t>1990</a:t>
                          </a:r>
                        </a:p>
                      </a:txBody>
                      <a:tcPr>
                        <a:solidFill>
                          <a:schemeClr val="tx2">
                            <a:lumMod val="25000"/>
                            <a:lumOff val="75000"/>
                          </a:schemeClr>
                        </a:solidFill>
                      </a:tcPr>
                    </a:tc>
                    <a:tc>
                      <a:txBody>
                        <a:bodyPr/>
                        <a:lstStyle/>
                        <a:p>
                          <a:r>
                            <a:rPr lang="en-US" b="0" dirty="0">
                              <a:solidFill>
                                <a:schemeClr val="tx1"/>
                              </a:solidFill>
                            </a:rPr>
                            <a:t>1991</a:t>
                          </a:r>
                        </a:p>
                      </a:txBody>
                      <a:tcPr>
                        <a:solidFill>
                          <a:schemeClr val="tx2">
                            <a:lumMod val="25000"/>
                            <a:lumOff val="75000"/>
                          </a:schemeClr>
                        </a:solidFill>
                      </a:tcPr>
                    </a:tc>
                    <a:tc>
                      <a:txBody>
                        <a:bodyPr/>
                        <a:lstStyle/>
                        <a:p>
                          <a:r>
                            <a:rPr lang="en-US" b="0" dirty="0">
                              <a:solidFill>
                                <a:schemeClr val="tx1"/>
                              </a:solidFill>
                            </a:rPr>
                            <a:t>1992</a:t>
                          </a:r>
                        </a:p>
                      </a:txBody>
                      <a:tcPr>
                        <a:solidFill>
                          <a:schemeClr val="tx2">
                            <a:lumMod val="25000"/>
                            <a:lumOff val="75000"/>
                          </a:schemeClr>
                        </a:solidFill>
                      </a:tcPr>
                    </a:tc>
                    <a:tc>
                      <a:txBody>
                        <a:bodyPr/>
                        <a:lstStyle/>
                        <a:p>
                          <a:r>
                            <a:rPr lang="en-US" b="0" dirty="0">
                              <a:solidFill>
                                <a:schemeClr val="tx1"/>
                              </a:solidFill>
                            </a:rPr>
                            <a:t>1993</a:t>
                          </a:r>
                        </a:p>
                      </a:txBody>
                      <a:tcPr>
                        <a:solidFill>
                          <a:schemeClr val="tx2">
                            <a:lumMod val="25000"/>
                            <a:lumOff val="75000"/>
                          </a:schemeClr>
                        </a:solidFill>
                      </a:tcPr>
                    </a:tc>
                    <a:tc>
                      <a:txBody>
                        <a:bodyPr/>
                        <a:lstStyle/>
                        <a:p>
                          <a:r>
                            <a:rPr lang="en-US" b="0" dirty="0">
                              <a:solidFill>
                                <a:schemeClr val="tx1"/>
                              </a:solidFill>
                            </a:rPr>
                            <a:t>1994</a:t>
                          </a:r>
                        </a:p>
                      </a:txBody>
                      <a:tcPr>
                        <a:solidFill>
                          <a:schemeClr val="tx2">
                            <a:lumMod val="25000"/>
                            <a:lumOff val="75000"/>
                          </a:schemeClr>
                        </a:solidFill>
                      </a:tcPr>
                    </a:tc>
                    <a:tc>
                      <a:txBody>
                        <a:bodyPr/>
                        <a:lstStyle/>
                        <a:p>
                          <a:r>
                            <a:rPr lang="en-US" b="0" dirty="0">
                              <a:solidFill>
                                <a:schemeClr val="tx1"/>
                              </a:solidFill>
                            </a:rPr>
                            <a:t>1995</a:t>
                          </a:r>
                        </a:p>
                      </a:txBody>
                      <a:tcPr>
                        <a:solidFill>
                          <a:schemeClr val="tx2">
                            <a:lumMod val="25000"/>
                            <a:lumOff val="75000"/>
                          </a:schemeClr>
                        </a:solidFill>
                      </a:tcPr>
                    </a:tc>
                    <a:tc>
                      <a:txBody>
                        <a:bodyPr/>
                        <a:lstStyle/>
                        <a:p>
                          <a:r>
                            <a:rPr lang="en-US" b="0" dirty="0">
                              <a:solidFill>
                                <a:schemeClr val="tx1"/>
                              </a:solidFill>
                            </a:rPr>
                            <a:t>1996</a:t>
                          </a:r>
                        </a:p>
                      </a:txBody>
                      <a:tcPr>
                        <a:solidFill>
                          <a:schemeClr val="tx2">
                            <a:lumMod val="25000"/>
                            <a:lumOff val="75000"/>
                          </a:schemeClr>
                        </a:solidFill>
                      </a:tcPr>
                    </a:tc>
                    <a:tc>
                      <a:txBody>
                        <a:bodyPr/>
                        <a:lstStyle/>
                        <a:p>
                          <a:r>
                            <a:rPr lang="en-US" b="0" dirty="0">
                              <a:solidFill>
                                <a:schemeClr val="tx1"/>
                              </a:solidFill>
                            </a:rPr>
                            <a:t>1997</a:t>
                          </a:r>
                        </a:p>
                      </a:txBody>
                      <a:tcPr>
                        <a:solidFill>
                          <a:schemeClr val="tx2">
                            <a:lumMod val="25000"/>
                            <a:lumOff val="75000"/>
                          </a:schemeClr>
                        </a:solidFill>
                      </a:tcPr>
                    </a:tc>
                    <a:tc>
                      <a:txBody>
                        <a:bodyPr/>
                        <a:lstStyle/>
                        <a:p>
                          <a:r>
                            <a:rPr lang="en-US" b="0" dirty="0">
                              <a:solidFill>
                                <a:schemeClr val="tx1"/>
                              </a:solidFill>
                            </a:rPr>
                            <a:t>1998</a:t>
                          </a:r>
                        </a:p>
                      </a:txBody>
                      <a:tcPr>
                        <a:solidFill>
                          <a:schemeClr val="tx2">
                            <a:lumMod val="25000"/>
                            <a:lumOff val="75000"/>
                          </a:schemeClr>
                        </a:solidFill>
                      </a:tcPr>
                    </a:tc>
                    <a:extLst>
                      <a:ext uri="{0D108BD9-81ED-4DB2-BD59-A6C34878D82A}">
                        <a16:rowId xmlns:a16="http://schemas.microsoft.com/office/drawing/2014/main" val="2292033204"/>
                      </a:ext>
                    </a:extLst>
                  </a:tr>
                  <a:tr h="370840">
                    <a:tc>
                      <a:txBody>
                        <a:bodyPr/>
                        <a:lstStyle/>
                        <a:p>
                          <a14:m>
                            <m:oMathPara xmlns:m="http://schemas.openxmlformats.org/officeDocument/2006/math">
                              <m:oMathParaPr>
                                <m:jc m:val="centerGroup"/>
                              </m:oMathParaPr>
                              <m:oMath xmlns:m="http://schemas.openxmlformats.org/officeDocument/2006/math">
                                <m:r>
                                  <a:rPr lang="en-US" b="0" i="1" dirty="0" smtClean="0">
                                    <a:solidFill>
                                      <a:schemeClr val="bg1"/>
                                    </a:solidFill>
                                    <a:latin typeface="Cambria Math" panose="02040503050406030204" pitchFamily="18" charset="0"/>
                                  </a:rPr>
                                  <m:t>𝑦</m:t>
                                </m:r>
                              </m:oMath>
                            </m:oMathPara>
                          </a14:m>
                          <a:endParaRPr lang="en-US" dirty="0">
                            <a:solidFill>
                              <a:schemeClr val="bg1"/>
                            </a:solidFill>
                          </a:endParaRPr>
                        </a:p>
                      </a:txBody>
                      <a:tcPr>
                        <a:solidFill>
                          <a:schemeClr val="accent1"/>
                        </a:solidFill>
                      </a:tcPr>
                    </a:tc>
                    <a:tc>
                      <a:txBody>
                        <a:bodyPr/>
                        <a:lstStyle/>
                        <a:p>
                          <a:r>
                            <a:rPr lang="en-US" dirty="0">
                              <a:solidFill>
                                <a:schemeClr val="tx1"/>
                              </a:solidFill>
                            </a:rPr>
                            <a:t>10</a:t>
                          </a:r>
                        </a:p>
                      </a:txBody>
                      <a:tcPr>
                        <a:solidFill>
                          <a:schemeClr val="tx2">
                            <a:lumMod val="25000"/>
                            <a:lumOff val="75000"/>
                          </a:schemeClr>
                        </a:solidFill>
                      </a:tcPr>
                    </a:tc>
                    <a:tc>
                      <a:txBody>
                        <a:bodyPr/>
                        <a:lstStyle/>
                        <a:p>
                          <a:r>
                            <a:rPr lang="en-US" dirty="0">
                              <a:solidFill>
                                <a:schemeClr val="tx1"/>
                              </a:solidFill>
                            </a:rPr>
                            <a:t>15</a:t>
                          </a:r>
                        </a:p>
                      </a:txBody>
                      <a:tcPr>
                        <a:solidFill>
                          <a:schemeClr val="tx2">
                            <a:lumMod val="25000"/>
                            <a:lumOff val="75000"/>
                          </a:schemeClr>
                        </a:solidFill>
                      </a:tcPr>
                    </a:tc>
                    <a:tc>
                      <a:txBody>
                        <a:bodyPr/>
                        <a:lstStyle/>
                        <a:p>
                          <a:r>
                            <a:rPr lang="en-US" dirty="0">
                              <a:solidFill>
                                <a:schemeClr val="tx1"/>
                              </a:solidFill>
                            </a:rPr>
                            <a:t>20</a:t>
                          </a:r>
                        </a:p>
                      </a:txBody>
                      <a:tcPr>
                        <a:solidFill>
                          <a:schemeClr val="tx2">
                            <a:lumMod val="25000"/>
                            <a:lumOff val="75000"/>
                          </a:schemeClr>
                        </a:solidFill>
                      </a:tcPr>
                    </a:tc>
                    <a:tc>
                      <a:txBody>
                        <a:bodyPr/>
                        <a:lstStyle/>
                        <a:p>
                          <a:r>
                            <a:rPr lang="en-US" dirty="0">
                              <a:solidFill>
                                <a:schemeClr val="tx1"/>
                              </a:solidFill>
                            </a:rPr>
                            <a:t>25</a:t>
                          </a:r>
                        </a:p>
                      </a:txBody>
                      <a:tcPr>
                        <a:solidFill>
                          <a:schemeClr val="tx2">
                            <a:lumMod val="25000"/>
                            <a:lumOff val="75000"/>
                          </a:schemeClr>
                        </a:solidFill>
                      </a:tcPr>
                    </a:tc>
                    <a:tc>
                      <a:txBody>
                        <a:bodyPr/>
                        <a:lstStyle/>
                        <a:p>
                          <a:r>
                            <a:rPr lang="en-US" dirty="0">
                              <a:solidFill>
                                <a:schemeClr val="tx1"/>
                              </a:solidFill>
                            </a:rPr>
                            <a:t>30</a:t>
                          </a:r>
                        </a:p>
                      </a:txBody>
                      <a:tcPr>
                        <a:solidFill>
                          <a:schemeClr val="tx2">
                            <a:lumMod val="25000"/>
                            <a:lumOff val="75000"/>
                          </a:schemeClr>
                        </a:solidFill>
                      </a:tcPr>
                    </a:tc>
                    <a:tc>
                      <a:txBody>
                        <a:bodyPr/>
                        <a:lstStyle/>
                        <a:p>
                          <a:r>
                            <a:rPr lang="en-US" dirty="0">
                              <a:solidFill>
                                <a:schemeClr val="tx1"/>
                              </a:solidFill>
                            </a:rPr>
                            <a:t>?</a:t>
                          </a:r>
                        </a:p>
                      </a:txBody>
                      <a:tcPr>
                        <a:solidFill>
                          <a:schemeClr val="tx2">
                            <a:lumMod val="25000"/>
                            <a:lumOff val="75000"/>
                          </a:schemeClr>
                        </a:solidFill>
                      </a:tcPr>
                    </a:tc>
                    <a:tc>
                      <a:txBody>
                        <a:bodyPr/>
                        <a:lstStyle/>
                        <a:p>
                          <a:r>
                            <a:rPr lang="en-US" dirty="0">
                              <a:solidFill>
                                <a:schemeClr val="tx1"/>
                              </a:solidFill>
                            </a:rPr>
                            <a:t>35</a:t>
                          </a:r>
                        </a:p>
                      </a:txBody>
                      <a:tcPr>
                        <a:solidFill>
                          <a:schemeClr val="tx2">
                            <a:lumMod val="25000"/>
                            <a:lumOff val="75000"/>
                          </a:schemeClr>
                        </a:solidFill>
                      </a:tcPr>
                    </a:tc>
                    <a:tc>
                      <a:txBody>
                        <a:bodyPr/>
                        <a:lstStyle/>
                        <a:p>
                          <a:r>
                            <a:rPr lang="en-US" dirty="0">
                              <a:solidFill>
                                <a:schemeClr val="tx1"/>
                              </a:solidFill>
                            </a:rPr>
                            <a:t>38</a:t>
                          </a:r>
                        </a:p>
                      </a:txBody>
                      <a:tcPr>
                        <a:solidFill>
                          <a:schemeClr val="tx2">
                            <a:lumMod val="25000"/>
                            <a:lumOff val="75000"/>
                          </a:schemeClr>
                        </a:solidFill>
                      </a:tcPr>
                    </a:tc>
                    <a:tc>
                      <a:txBody>
                        <a:bodyPr/>
                        <a:lstStyle/>
                        <a:p>
                          <a:r>
                            <a:rPr lang="en-US" dirty="0">
                              <a:solidFill>
                                <a:schemeClr val="tx1"/>
                              </a:solidFill>
                            </a:rPr>
                            <a:t>40</a:t>
                          </a:r>
                        </a:p>
                      </a:txBody>
                      <a:tcPr>
                        <a:solidFill>
                          <a:schemeClr val="tx2">
                            <a:lumMod val="25000"/>
                            <a:lumOff val="75000"/>
                          </a:schemeClr>
                        </a:solidFill>
                      </a:tcPr>
                    </a:tc>
                    <a:extLst>
                      <a:ext uri="{0D108BD9-81ED-4DB2-BD59-A6C34878D82A}">
                        <a16:rowId xmlns:a16="http://schemas.microsoft.com/office/drawing/2014/main" val="1008750753"/>
                      </a:ext>
                    </a:extLst>
                  </a:tr>
                </a:tbl>
              </a:graphicData>
            </a:graphic>
          </p:graphicFrame>
        </mc:Choice>
        <mc:Fallback>
          <p:graphicFrame>
            <p:nvGraphicFramePr>
              <p:cNvPr id="3" name="Table 2">
                <a:extLst>
                  <a:ext uri="{FF2B5EF4-FFF2-40B4-BE49-F238E27FC236}">
                    <a16:creationId xmlns:a16="http://schemas.microsoft.com/office/drawing/2014/main" id="{80879A59-8CE4-A970-B8F2-72643E45F865}"/>
                  </a:ext>
                </a:extLst>
              </p:cNvPr>
              <p:cNvGraphicFramePr>
                <a:graphicFrameLocks noGrp="1"/>
              </p:cNvGraphicFramePr>
              <p:nvPr>
                <p:extLst>
                  <p:ext uri="{D42A27DB-BD31-4B8C-83A1-F6EECF244321}">
                    <p14:modId xmlns:p14="http://schemas.microsoft.com/office/powerpoint/2010/main" val="1764944007"/>
                  </p:ext>
                </p:extLst>
              </p:nvPr>
            </p:nvGraphicFramePr>
            <p:xfrm>
              <a:off x="2262533" y="1679516"/>
              <a:ext cx="8128000" cy="741680"/>
            </p:xfrm>
            <a:graphic>
              <a:graphicData uri="http://schemas.openxmlformats.org/drawingml/2006/table">
                <a:tbl>
                  <a:tblPr firstRow="1" bandRow="1">
                    <a:tableStyleId>{5C22544A-7EE6-4342-B048-85BDC9FD1C3A}</a:tableStyleId>
                  </a:tblPr>
                  <a:tblGrid>
                    <a:gridCol w="812800">
                      <a:extLst>
                        <a:ext uri="{9D8B030D-6E8A-4147-A177-3AD203B41FA5}">
                          <a16:colId xmlns:a16="http://schemas.microsoft.com/office/drawing/2014/main" val="1748025700"/>
                        </a:ext>
                      </a:extLst>
                    </a:gridCol>
                    <a:gridCol w="812800">
                      <a:extLst>
                        <a:ext uri="{9D8B030D-6E8A-4147-A177-3AD203B41FA5}">
                          <a16:colId xmlns:a16="http://schemas.microsoft.com/office/drawing/2014/main" val="3607248806"/>
                        </a:ext>
                      </a:extLst>
                    </a:gridCol>
                    <a:gridCol w="812800">
                      <a:extLst>
                        <a:ext uri="{9D8B030D-6E8A-4147-A177-3AD203B41FA5}">
                          <a16:colId xmlns:a16="http://schemas.microsoft.com/office/drawing/2014/main" val="3649662325"/>
                        </a:ext>
                      </a:extLst>
                    </a:gridCol>
                    <a:gridCol w="812800">
                      <a:extLst>
                        <a:ext uri="{9D8B030D-6E8A-4147-A177-3AD203B41FA5}">
                          <a16:colId xmlns:a16="http://schemas.microsoft.com/office/drawing/2014/main" val="3919557230"/>
                        </a:ext>
                      </a:extLst>
                    </a:gridCol>
                    <a:gridCol w="812800">
                      <a:extLst>
                        <a:ext uri="{9D8B030D-6E8A-4147-A177-3AD203B41FA5}">
                          <a16:colId xmlns:a16="http://schemas.microsoft.com/office/drawing/2014/main" val="3046040075"/>
                        </a:ext>
                      </a:extLst>
                    </a:gridCol>
                    <a:gridCol w="812800">
                      <a:extLst>
                        <a:ext uri="{9D8B030D-6E8A-4147-A177-3AD203B41FA5}">
                          <a16:colId xmlns:a16="http://schemas.microsoft.com/office/drawing/2014/main" val="1739896634"/>
                        </a:ext>
                      </a:extLst>
                    </a:gridCol>
                    <a:gridCol w="812800">
                      <a:extLst>
                        <a:ext uri="{9D8B030D-6E8A-4147-A177-3AD203B41FA5}">
                          <a16:colId xmlns:a16="http://schemas.microsoft.com/office/drawing/2014/main" val="1694616747"/>
                        </a:ext>
                      </a:extLst>
                    </a:gridCol>
                    <a:gridCol w="812800">
                      <a:extLst>
                        <a:ext uri="{9D8B030D-6E8A-4147-A177-3AD203B41FA5}">
                          <a16:colId xmlns:a16="http://schemas.microsoft.com/office/drawing/2014/main" val="1242252902"/>
                        </a:ext>
                      </a:extLst>
                    </a:gridCol>
                    <a:gridCol w="812800">
                      <a:extLst>
                        <a:ext uri="{9D8B030D-6E8A-4147-A177-3AD203B41FA5}">
                          <a16:colId xmlns:a16="http://schemas.microsoft.com/office/drawing/2014/main" val="2906582248"/>
                        </a:ext>
                      </a:extLst>
                    </a:gridCol>
                    <a:gridCol w="812800">
                      <a:extLst>
                        <a:ext uri="{9D8B030D-6E8A-4147-A177-3AD203B41FA5}">
                          <a16:colId xmlns:a16="http://schemas.microsoft.com/office/drawing/2014/main" val="1622466608"/>
                        </a:ext>
                      </a:extLst>
                    </a:gridCol>
                  </a:tblGrid>
                  <a:tr h="370840">
                    <a:tc>
                      <a:txBody>
                        <a:bodyPr/>
                        <a:lstStyle/>
                        <a:p>
                          <a:endParaRPr lang="en-US"/>
                        </a:p>
                      </a:txBody>
                      <a:tcPr>
                        <a:blipFill>
                          <a:blip r:embed="rId3"/>
                          <a:stretch>
                            <a:fillRect l="-1563" t="-6667" r="-904688" b="-123333"/>
                          </a:stretch>
                        </a:blipFill>
                      </a:tcPr>
                    </a:tc>
                    <a:tc>
                      <a:txBody>
                        <a:bodyPr/>
                        <a:lstStyle/>
                        <a:p>
                          <a:r>
                            <a:rPr lang="en-US" b="0" dirty="0">
                              <a:solidFill>
                                <a:schemeClr val="tx1"/>
                              </a:solidFill>
                            </a:rPr>
                            <a:t>1990</a:t>
                          </a:r>
                        </a:p>
                      </a:txBody>
                      <a:tcPr>
                        <a:solidFill>
                          <a:schemeClr val="tx2">
                            <a:lumMod val="25000"/>
                            <a:lumOff val="75000"/>
                          </a:schemeClr>
                        </a:solidFill>
                      </a:tcPr>
                    </a:tc>
                    <a:tc>
                      <a:txBody>
                        <a:bodyPr/>
                        <a:lstStyle/>
                        <a:p>
                          <a:r>
                            <a:rPr lang="en-US" b="0" dirty="0">
                              <a:solidFill>
                                <a:schemeClr val="tx1"/>
                              </a:solidFill>
                            </a:rPr>
                            <a:t>1991</a:t>
                          </a:r>
                        </a:p>
                      </a:txBody>
                      <a:tcPr>
                        <a:solidFill>
                          <a:schemeClr val="tx2">
                            <a:lumMod val="25000"/>
                            <a:lumOff val="75000"/>
                          </a:schemeClr>
                        </a:solidFill>
                      </a:tcPr>
                    </a:tc>
                    <a:tc>
                      <a:txBody>
                        <a:bodyPr/>
                        <a:lstStyle/>
                        <a:p>
                          <a:r>
                            <a:rPr lang="en-US" b="0" dirty="0">
                              <a:solidFill>
                                <a:schemeClr val="tx1"/>
                              </a:solidFill>
                            </a:rPr>
                            <a:t>1992</a:t>
                          </a:r>
                        </a:p>
                      </a:txBody>
                      <a:tcPr>
                        <a:solidFill>
                          <a:schemeClr val="tx2">
                            <a:lumMod val="25000"/>
                            <a:lumOff val="75000"/>
                          </a:schemeClr>
                        </a:solidFill>
                      </a:tcPr>
                    </a:tc>
                    <a:tc>
                      <a:txBody>
                        <a:bodyPr/>
                        <a:lstStyle/>
                        <a:p>
                          <a:r>
                            <a:rPr lang="en-US" b="0" dirty="0">
                              <a:solidFill>
                                <a:schemeClr val="tx1"/>
                              </a:solidFill>
                            </a:rPr>
                            <a:t>1993</a:t>
                          </a:r>
                        </a:p>
                      </a:txBody>
                      <a:tcPr>
                        <a:solidFill>
                          <a:schemeClr val="tx2">
                            <a:lumMod val="25000"/>
                            <a:lumOff val="75000"/>
                          </a:schemeClr>
                        </a:solidFill>
                      </a:tcPr>
                    </a:tc>
                    <a:tc>
                      <a:txBody>
                        <a:bodyPr/>
                        <a:lstStyle/>
                        <a:p>
                          <a:r>
                            <a:rPr lang="en-US" b="0" dirty="0">
                              <a:solidFill>
                                <a:schemeClr val="tx1"/>
                              </a:solidFill>
                            </a:rPr>
                            <a:t>1994</a:t>
                          </a:r>
                        </a:p>
                      </a:txBody>
                      <a:tcPr>
                        <a:solidFill>
                          <a:schemeClr val="tx2">
                            <a:lumMod val="25000"/>
                            <a:lumOff val="75000"/>
                          </a:schemeClr>
                        </a:solidFill>
                      </a:tcPr>
                    </a:tc>
                    <a:tc>
                      <a:txBody>
                        <a:bodyPr/>
                        <a:lstStyle/>
                        <a:p>
                          <a:r>
                            <a:rPr lang="en-US" b="0" dirty="0">
                              <a:solidFill>
                                <a:schemeClr val="tx1"/>
                              </a:solidFill>
                            </a:rPr>
                            <a:t>1995</a:t>
                          </a:r>
                        </a:p>
                      </a:txBody>
                      <a:tcPr>
                        <a:solidFill>
                          <a:schemeClr val="tx2">
                            <a:lumMod val="25000"/>
                            <a:lumOff val="75000"/>
                          </a:schemeClr>
                        </a:solidFill>
                      </a:tcPr>
                    </a:tc>
                    <a:tc>
                      <a:txBody>
                        <a:bodyPr/>
                        <a:lstStyle/>
                        <a:p>
                          <a:r>
                            <a:rPr lang="en-US" b="0" dirty="0">
                              <a:solidFill>
                                <a:schemeClr val="tx1"/>
                              </a:solidFill>
                            </a:rPr>
                            <a:t>1996</a:t>
                          </a:r>
                        </a:p>
                      </a:txBody>
                      <a:tcPr>
                        <a:solidFill>
                          <a:schemeClr val="tx2">
                            <a:lumMod val="25000"/>
                            <a:lumOff val="75000"/>
                          </a:schemeClr>
                        </a:solidFill>
                      </a:tcPr>
                    </a:tc>
                    <a:tc>
                      <a:txBody>
                        <a:bodyPr/>
                        <a:lstStyle/>
                        <a:p>
                          <a:r>
                            <a:rPr lang="en-US" b="0" dirty="0">
                              <a:solidFill>
                                <a:schemeClr val="tx1"/>
                              </a:solidFill>
                            </a:rPr>
                            <a:t>1997</a:t>
                          </a:r>
                        </a:p>
                      </a:txBody>
                      <a:tcPr>
                        <a:solidFill>
                          <a:schemeClr val="tx2">
                            <a:lumMod val="25000"/>
                            <a:lumOff val="75000"/>
                          </a:schemeClr>
                        </a:solidFill>
                      </a:tcPr>
                    </a:tc>
                    <a:tc>
                      <a:txBody>
                        <a:bodyPr/>
                        <a:lstStyle/>
                        <a:p>
                          <a:r>
                            <a:rPr lang="en-US" b="0" dirty="0">
                              <a:solidFill>
                                <a:schemeClr val="tx1"/>
                              </a:solidFill>
                            </a:rPr>
                            <a:t>1998</a:t>
                          </a:r>
                        </a:p>
                      </a:txBody>
                      <a:tcPr>
                        <a:solidFill>
                          <a:schemeClr val="tx2">
                            <a:lumMod val="25000"/>
                            <a:lumOff val="75000"/>
                          </a:schemeClr>
                        </a:solidFill>
                      </a:tcPr>
                    </a:tc>
                    <a:extLst>
                      <a:ext uri="{0D108BD9-81ED-4DB2-BD59-A6C34878D82A}">
                        <a16:rowId xmlns:a16="http://schemas.microsoft.com/office/drawing/2014/main" val="2292033204"/>
                      </a:ext>
                    </a:extLst>
                  </a:tr>
                  <a:tr h="370840">
                    <a:tc>
                      <a:txBody>
                        <a:bodyPr/>
                        <a:lstStyle/>
                        <a:p>
                          <a:endParaRPr lang="en-US"/>
                        </a:p>
                      </a:txBody>
                      <a:tcPr>
                        <a:blipFill>
                          <a:blip r:embed="rId3"/>
                          <a:stretch>
                            <a:fillRect l="-1563" t="-110345" r="-904688" b="-27586"/>
                          </a:stretch>
                        </a:blipFill>
                      </a:tcPr>
                    </a:tc>
                    <a:tc>
                      <a:txBody>
                        <a:bodyPr/>
                        <a:lstStyle/>
                        <a:p>
                          <a:r>
                            <a:rPr lang="en-US" dirty="0">
                              <a:solidFill>
                                <a:schemeClr val="tx1"/>
                              </a:solidFill>
                            </a:rPr>
                            <a:t>10</a:t>
                          </a:r>
                        </a:p>
                      </a:txBody>
                      <a:tcPr>
                        <a:solidFill>
                          <a:schemeClr val="tx2">
                            <a:lumMod val="25000"/>
                            <a:lumOff val="75000"/>
                          </a:schemeClr>
                        </a:solidFill>
                      </a:tcPr>
                    </a:tc>
                    <a:tc>
                      <a:txBody>
                        <a:bodyPr/>
                        <a:lstStyle/>
                        <a:p>
                          <a:r>
                            <a:rPr lang="en-US" dirty="0">
                              <a:solidFill>
                                <a:schemeClr val="tx1"/>
                              </a:solidFill>
                            </a:rPr>
                            <a:t>15</a:t>
                          </a:r>
                        </a:p>
                      </a:txBody>
                      <a:tcPr>
                        <a:solidFill>
                          <a:schemeClr val="tx2">
                            <a:lumMod val="25000"/>
                            <a:lumOff val="75000"/>
                          </a:schemeClr>
                        </a:solidFill>
                      </a:tcPr>
                    </a:tc>
                    <a:tc>
                      <a:txBody>
                        <a:bodyPr/>
                        <a:lstStyle/>
                        <a:p>
                          <a:r>
                            <a:rPr lang="en-US" dirty="0">
                              <a:solidFill>
                                <a:schemeClr val="tx1"/>
                              </a:solidFill>
                            </a:rPr>
                            <a:t>20</a:t>
                          </a:r>
                        </a:p>
                      </a:txBody>
                      <a:tcPr>
                        <a:solidFill>
                          <a:schemeClr val="tx2">
                            <a:lumMod val="25000"/>
                            <a:lumOff val="75000"/>
                          </a:schemeClr>
                        </a:solidFill>
                      </a:tcPr>
                    </a:tc>
                    <a:tc>
                      <a:txBody>
                        <a:bodyPr/>
                        <a:lstStyle/>
                        <a:p>
                          <a:r>
                            <a:rPr lang="en-US" dirty="0">
                              <a:solidFill>
                                <a:schemeClr val="tx1"/>
                              </a:solidFill>
                            </a:rPr>
                            <a:t>25</a:t>
                          </a:r>
                        </a:p>
                      </a:txBody>
                      <a:tcPr>
                        <a:solidFill>
                          <a:schemeClr val="tx2">
                            <a:lumMod val="25000"/>
                            <a:lumOff val="75000"/>
                          </a:schemeClr>
                        </a:solidFill>
                      </a:tcPr>
                    </a:tc>
                    <a:tc>
                      <a:txBody>
                        <a:bodyPr/>
                        <a:lstStyle/>
                        <a:p>
                          <a:r>
                            <a:rPr lang="en-US" dirty="0">
                              <a:solidFill>
                                <a:schemeClr val="tx1"/>
                              </a:solidFill>
                            </a:rPr>
                            <a:t>30</a:t>
                          </a:r>
                        </a:p>
                      </a:txBody>
                      <a:tcPr>
                        <a:solidFill>
                          <a:schemeClr val="tx2">
                            <a:lumMod val="25000"/>
                            <a:lumOff val="75000"/>
                          </a:schemeClr>
                        </a:solidFill>
                      </a:tcPr>
                    </a:tc>
                    <a:tc>
                      <a:txBody>
                        <a:bodyPr/>
                        <a:lstStyle/>
                        <a:p>
                          <a:r>
                            <a:rPr lang="en-US" dirty="0">
                              <a:solidFill>
                                <a:schemeClr val="tx1"/>
                              </a:solidFill>
                            </a:rPr>
                            <a:t>?</a:t>
                          </a:r>
                        </a:p>
                      </a:txBody>
                      <a:tcPr>
                        <a:solidFill>
                          <a:schemeClr val="tx2">
                            <a:lumMod val="25000"/>
                            <a:lumOff val="75000"/>
                          </a:schemeClr>
                        </a:solidFill>
                      </a:tcPr>
                    </a:tc>
                    <a:tc>
                      <a:txBody>
                        <a:bodyPr/>
                        <a:lstStyle/>
                        <a:p>
                          <a:r>
                            <a:rPr lang="en-US" dirty="0">
                              <a:solidFill>
                                <a:schemeClr val="tx1"/>
                              </a:solidFill>
                            </a:rPr>
                            <a:t>35</a:t>
                          </a:r>
                        </a:p>
                      </a:txBody>
                      <a:tcPr>
                        <a:solidFill>
                          <a:schemeClr val="tx2">
                            <a:lumMod val="25000"/>
                            <a:lumOff val="75000"/>
                          </a:schemeClr>
                        </a:solidFill>
                      </a:tcPr>
                    </a:tc>
                    <a:tc>
                      <a:txBody>
                        <a:bodyPr/>
                        <a:lstStyle/>
                        <a:p>
                          <a:r>
                            <a:rPr lang="en-US" dirty="0">
                              <a:solidFill>
                                <a:schemeClr val="tx1"/>
                              </a:solidFill>
                            </a:rPr>
                            <a:t>38</a:t>
                          </a:r>
                        </a:p>
                      </a:txBody>
                      <a:tcPr>
                        <a:solidFill>
                          <a:schemeClr val="tx2">
                            <a:lumMod val="25000"/>
                            <a:lumOff val="75000"/>
                          </a:schemeClr>
                        </a:solidFill>
                      </a:tcPr>
                    </a:tc>
                    <a:tc>
                      <a:txBody>
                        <a:bodyPr/>
                        <a:lstStyle/>
                        <a:p>
                          <a:r>
                            <a:rPr lang="en-US" dirty="0">
                              <a:solidFill>
                                <a:schemeClr val="tx1"/>
                              </a:solidFill>
                            </a:rPr>
                            <a:t>40</a:t>
                          </a:r>
                        </a:p>
                      </a:txBody>
                      <a:tcPr>
                        <a:solidFill>
                          <a:schemeClr val="tx2">
                            <a:lumMod val="25000"/>
                            <a:lumOff val="75000"/>
                          </a:schemeClr>
                        </a:solidFill>
                      </a:tcPr>
                    </a:tc>
                    <a:extLst>
                      <a:ext uri="{0D108BD9-81ED-4DB2-BD59-A6C34878D82A}">
                        <a16:rowId xmlns:a16="http://schemas.microsoft.com/office/drawing/2014/main" val="1008750753"/>
                      </a:ext>
                    </a:extLst>
                  </a:tr>
                </a:tbl>
              </a:graphicData>
            </a:graphic>
          </p:graphicFrame>
        </mc:Fallback>
      </mc:AlternateContent>
    </p:spTree>
    <p:extLst>
      <p:ext uri="{BB962C8B-B14F-4D97-AF65-F5344CB8AC3E}">
        <p14:creationId xmlns:p14="http://schemas.microsoft.com/office/powerpoint/2010/main" val="15366682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TotalTime>
  <Words>965</Words>
  <Application>Microsoft Macintosh PowerPoint</Application>
  <PresentationFormat>Widescreen</PresentationFormat>
  <Paragraphs>101</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Cambria Math</vt:lpstr>
      <vt:lpstr>Times New Roman</vt:lpstr>
      <vt:lpstr>Office Theme</vt:lpstr>
      <vt:lpstr>PowerPoint Presentation</vt:lpstr>
      <vt:lpstr>Q</vt:lpstr>
      <vt:lpstr>Q</vt:lpstr>
      <vt:lpstr>A</vt:lpstr>
      <vt:lpstr>A</vt:lpstr>
      <vt:lpstr>A</vt:lpstr>
      <vt:lpstr>A</vt:lpstr>
      <vt:lpst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Qahtan, A.A.A. (Hakim)</dc:creator>
  <cp:lastModifiedBy>Qahtan, A.A.A. (Hakim)</cp:lastModifiedBy>
  <cp:revision>7</cp:revision>
  <cp:lastPrinted>2024-11-05T10:47:09Z</cp:lastPrinted>
  <dcterms:created xsi:type="dcterms:W3CDTF">2024-11-04T09:01:48Z</dcterms:created>
  <dcterms:modified xsi:type="dcterms:W3CDTF">2024-11-05T10:47:38Z</dcterms:modified>
</cp:coreProperties>
</file>