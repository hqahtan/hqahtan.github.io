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75"/>
  </p:notesMasterIdLst>
  <p:sldIdLst>
    <p:sldId id="256" r:id="rId5"/>
    <p:sldId id="2241" r:id="rId6"/>
    <p:sldId id="335" r:id="rId7"/>
    <p:sldId id="2236" r:id="rId8"/>
    <p:sldId id="401" r:id="rId9"/>
    <p:sldId id="2311" r:id="rId10"/>
    <p:sldId id="402" r:id="rId11"/>
    <p:sldId id="2310" r:id="rId12"/>
    <p:sldId id="2243" r:id="rId13"/>
    <p:sldId id="403" r:id="rId14"/>
    <p:sldId id="2244" r:id="rId15"/>
    <p:sldId id="404" r:id="rId16"/>
    <p:sldId id="2245" r:id="rId17"/>
    <p:sldId id="2248" r:id="rId18"/>
    <p:sldId id="2246" r:id="rId19"/>
    <p:sldId id="2249" r:id="rId20"/>
    <p:sldId id="2250" r:id="rId21"/>
    <p:sldId id="2251" r:id="rId22"/>
    <p:sldId id="2256" r:id="rId23"/>
    <p:sldId id="2253" r:id="rId24"/>
    <p:sldId id="2252" r:id="rId25"/>
    <p:sldId id="2254" r:id="rId26"/>
    <p:sldId id="2314" r:id="rId27"/>
    <p:sldId id="2315" r:id="rId28"/>
    <p:sldId id="2316" r:id="rId29"/>
    <p:sldId id="2318" r:id="rId30"/>
    <p:sldId id="2317" r:id="rId31"/>
    <p:sldId id="274" r:id="rId32"/>
    <p:sldId id="262" r:id="rId33"/>
    <p:sldId id="406" r:id="rId34"/>
    <p:sldId id="2257" r:id="rId35"/>
    <p:sldId id="2259" r:id="rId36"/>
    <p:sldId id="2258" r:id="rId37"/>
    <p:sldId id="2312" r:id="rId38"/>
    <p:sldId id="1126" r:id="rId39"/>
    <p:sldId id="1129" r:id="rId40"/>
    <p:sldId id="1130" r:id="rId41"/>
    <p:sldId id="2263" r:id="rId42"/>
    <p:sldId id="1131" r:id="rId43"/>
    <p:sldId id="2264" r:id="rId44"/>
    <p:sldId id="2260" r:id="rId45"/>
    <p:sldId id="2265" r:id="rId46"/>
    <p:sldId id="2237" r:id="rId47"/>
    <p:sldId id="364" r:id="rId48"/>
    <p:sldId id="2266" r:id="rId49"/>
    <p:sldId id="2267" r:id="rId50"/>
    <p:sldId id="2268" r:id="rId51"/>
    <p:sldId id="2269" r:id="rId52"/>
    <p:sldId id="2270" r:id="rId53"/>
    <p:sldId id="2271" r:id="rId54"/>
    <p:sldId id="2308" r:id="rId55"/>
    <p:sldId id="2309" r:id="rId56"/>
    <p:sldId id="2319" r:id="rId57"/>
    <p:sldId id="2320" r:id="rId58"/>
    <p:sldId id="2313" r:id="rId59"/>
    <p:sldId id="2272" r:id="rId60"/>
    <p:sldId id="2273" r:id="rId61"/>
    <p:sldId id="2274" r:id="rId62"/>
    <p:sldId id="2275" r:id="rId63"/>
    <p:sldId id="2278" r:id="rId64"/>
    <p:sldId id="2277" r:id="rId65"/>
    <p:sldId id="2279" r:id="rId66"/>
    <p:sldId id="2281" r:id="rId67"/>
    <p:sldId id="2280" r:id="rId68"/>
    <p:sldId id="2282" r:id="rId69"/>
    <p:sldId id="2283" r:id="rId70"/>
    <p:sldId id="2284" r:id="rId71"/>
    <p:sldId id="2285" r:id="rId72"/>
    <p:sldId id="363" r:id="rId73"/>
    <p:sldId id="910" r:id="rId74"/>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0DEE89-9CA4-4ED3-9958-20DE248A0756}" v="62" dt="2020-04-11T23:16:22.0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250" autoAdjust="0"/>
    <p:restoredTop sz="94660"/>
  </p:normalViewPr>
  <p:slideViewPr>
    <p:cSldViewPr snapToGrid="0">
      <p:cViewPr varScale="1">
        <p:scale>
          <a:sx n="107" d="100"/>
          <a:sy n="107" d="100"/>
        </p:scale>
        <p:origin x="192"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ahtan, A.A.A. (Hakim)" userId="2e0f559b-8f84-4ffd-87e2-eac7fe92b5e6" providerId="ADAL" clId="{9F92DAC1-9246-4107-A871-0E47AEA90CD9}"/>
    <pc:docChg chg="custSel modSld">
      <pc:chgData name="Qahtan, A.A.A. (Hakim)" userId="2e0f559b-8f84-4ffd-87e2-eac7fe92b5e6" providerId="ADAL" clId="{9F92DAC1-9246-4107-A871-0E47AEA90CD9}" dt="2020-03-23T12:22:32.515" v="39" actId="20577"/>
      <pc:docMkLst>
        <pc:docMk/>
      </pc:docMkLst>
      <pc:sldChg chg="modSp">
        <pc:chgData name="Qahtan, A.A.A. (Hakim)" userId="2e0f559b-8f84-4ffd-87e2-eac7fe92b5e6" providerId="ADAL" clId="{9F92DAC1-9246-4107-A871-0E47AEA90CD9}" dt="2020-03-23T12:22:32.515" v="39" actId="20577"/>
        <pc:sldMkLst>
          <pc:docMk/>
          <pc:sldMk cId="4206597098" sldId="257"/>
        </pc:sldMkLst>
        <pc:spChg chg="mod">
          <ac:chgData name="Qahtan, A.A.A. (Hakim)" userId="2e0f559b-8f84-4ffd-87e2-eac7fe92b5e6" providerId="ADAL" clId="{9F92DAC1-9246-4107-A871-0E47AEA90CD9}" dt="2020-03-23T12:22:32.515" v="39" actId="20577"/>
          <ac:spMkLst>
            <pc:docMk/>
            <pc:sldMk cId="4206597098" sldId="257"/>
            <ac:spMk id="3" creationId="{C1825166-E312-42E3-86E9-D4580053EAA4}"/>
          </ac:spMkLst>
        </pc:spChg>
      </pc:sldChg>
    </pc:docChg>
  </pc:docChgLst>
  <pc:docChgLst>
    <pc:chgData name="Qahtan, A.A.A. (Hakim)" userId="2e0f559b-8f84-4ffd-87e2-eac7fe92b5e6" providerId="ADAL" clId="{D60DEE89-9CA4-4ED3-9958-20DE248A0756}"/>
    <pc:docChg chg="delSld modSld">
      <pc:chgData name="Qahtan, A.A.A. (Hakim)" userId="2e0f559b-8f84-4ffd-87e2-eac7fe92b5e6" providerId="ADAL" clId="{D60DEE89-9CA4-4ED3-9958-20DE248A0756}" dt="2020-04-12T01:54:11.916" v="124" actId="2696"/>
      <pc:docMkLst>
        <pc:docMk/>
      </pc:docMkLst>
      <pc:sldChg chg="modSp">
        <pc:chgData name="Qahtan, A.A.A. (Hakim)" userId="2e0f559b-8f84-4ffd-87e2-eac7fe92b5e6" providerId="ADAL" clId="{D60DEE89-9CA4-4ED3-9958-20DE248A0756}" dt="2020-04-11T01:05:01.908" v="41" actId="20577"/>
        <pc:sldMkLst>
          <pc:docMk/>
          <pc:sldMk cId="2132904506" sldId="410"/>
        </pc:sldMkLst>
        <pc:spChg chg="mod">
          <ac:chgData name="Qahtan, A.A.A. (Hakim)" userId="2e0f559b-8f84-4ffd-87e2-eac7fe92b5e6" providerId="ADAL" clId="{D60DEE89-9CA4-4ED3-9958-20DE248A0756}" dt="2020-04-11T01:05:01.908" v="41" actId="20577"/>
          <ac:spMkLst>
            <pc:docMk/>
            <pc:sldMk cId="2132904506" sldId="410"/>
            <ac:spMk id="3" creationId="{C1825166-E312-42E3-86E9-D4580053EAA4}"/>
          </ac:spMkLst>
        </pc:spChg>
      </pc:sldChg>
      <pc:sldChg chg="modSp">
        <pc:chgData name="Qahtan, A.A.A. (Hakim)" userId="2e0f559b-8f84-4ffd-87e2-eac7fe92b5e6" providerId="ADAL" clId="{D60DEE89-9CA4-4ED3-9958-20DE248A0756}" dt="2020-04-11T23:16:22.062" v="123" actId="20577"/>
        <pc:sldMkLst>
          <pc:docMk/>
          <pc:sldMk cId="459008096" sldId="1066"/>
        </pc:sldMkLst>
        <pc:spChg chg="mod">
          <ac:chgData name="Qahtan, A.A.A. (Hakim)" userId="2e0f559b-8f84-4ffd-87e2-eac7fe92b5e6" providerId="ADAL" clId="{D60DEE89-9CA4-4ED3-9958-20DE248A0756}" dt="2020-04-11T23:16:22.062" v="123" actId="20577"/>
          <ac:spMkLst>
            <pc:docMk/>
            <pc:sldMk cId="459008096" sldId="1066"/>
            <ac:spMk id="3" creationId="{C1825166-E312-42E3-86E9-D4580053EAA4}"/>
          </ac:spMkLst>
        </pc:spChg>
      </pc:sldChg>
      <pc:sldChg chg="modSp">
        <pc:chgData name="Qahtan, A.A.A. (Hakim)" userId="2e0f559b-8f84-4ffd-87e2-eac7fe92b5e6" providerId="ADAL" clId="{D60DEE89-9CA4-4ED3-9958-20DE248A0756}" dt="2020-04-11T02:52:36.458" v="59" actId="20577"/>
        <pc:sldMkLst>
          <pc:docMk/>
          <pc:sldMk cId="3655855791" sldId="1069"/>
        </pc:sldMkLst>
        <pc:spChg chg="mod">
          <ac:chgData name="Qahtan, A.A.A. (Hakim)" userId="2e0f559b-8f84-4ffd-87e2-eac7fe92b5e6" providerId="ADAL" clId="{D60DEE89-9CA4-4ED3-9958-20DE248A0756}" dt="2020-04-11T02:52:36.458" v="59" actId="20577"/>
          <ac:spMkLst>
            <pc:docMk/>
            <pc:sldMk cId="3655855791" sldId="1069"/>
            <ac:spMk id="25" creationId="{3B759A7E-B026-4A89-A9F6-63BBC93C445D}"/>
          </ac:spMkLst>
        </pc:spChg>
      </pc:sldChg>
      <pc:sldChg chg="del">
        <pc:chgData name="Qahtan, A.A.A. (Hakim)" userId="2e0f559b-8f84-4ffd-87e2-eac7fe92b5e6" providerId="ADAL" clId="{D60DEE89-9CA4-4ED3-9958-20DE248A0756}" dt="2020-04-12T01:54:11.916" v="124" actId="2696"/>
        <pc:sldMkLst>
          <pc:docMk/>
          <pc:sldMk cId="1915551059" sldId="1074"/>
        </pc:sldMkLst>
      </pc:sldChg>
      <pc:sldChg chg="modSp">
        <pc:chgData name="Qahtan, A.A.A. (Hakim)" userId="2e0f559b-8f84-4ffd-87e2-eac7fe92b5e6" providerId="ADAL" clId="{D60DEE89-9CA4-4ED3-9958-20DE248A0756}" dt="2020-04-11T02:25:55.839" v="48" actId="20577"/>
        <pc:sldMkLst>
          <pc:docMk/>
          <pc:sldMk cId="1084775298" sldId="1076"/>
        </pc:sldMkLst>
        <pc:spChg chg="mod">
          <ac:chgData name="Qahtan, A.A.A. (Hakim)" userId="2e0f559b-8f84-4ffd-87e2-eac7fe92b5e6" providerId="ADAL" clId="{D60DEE89-9CA4-4ED3-9958-20DE248A0756}" dt="2020-04-11T02:25:55.839" v="48" actId="20577"/>
          <ac:spMkLst>
            <pc:docMk/>
            <pc:sldMk cId="1084775298" sldId="1076"/>
            <ac:spMk id="3" creationId="{C1825166-E312-42E3-86E9-D4580053EAA4}"/>
          </ac:spMkLst>
        </pc:spChg>
      </pc:sldChg>
    </pc:docChg>
  </pc:docChgLst>
  <pc:docChgLst>
    <pc:chgData name="Qahtan, A.A.A. (Hakim)" userId="2e0f559b-8f84-4ffd-87e2-eac7fe92b5e6" providerId="ADAL" clId="{13CC65BD-843C-4A3B-98C3-94852964BE3C}"/>
    <pc:docChg chg="delSld">
      <pc:chgData name="Qahtan, A.A.A. (Hakim)" userId="2e0f559b-8f84-4ffd-87e2-eac7fe92b5e6" providerId="ADAL" clId="{13CC65BD-843C-4A3B-98C3-94852964BE3C}" dt="2020-03-23T12:18:35.498" v="39" actId="2696"/>
      <pc:docMkLst>
        <pc:docMk/>
      </pc:docMkLst>
      <pc:sldChg chg="del">
        <pc:chgData name="Qahtan, A.A.A. (Hakim)" userId="2e0f559b-8f84-4ffd-87e2-eac7fe92b5e6" providerId="ADAL" clId="{13CC65BD-843C-4A3B-98C3-94852964BE3C}" dt="2020-03-23T12:18:17.231" v="0" actId="2696"/>
        <pc:sldMkLst>
          <pc:docMk/>
          <pc:sldMk cId="291229494" sldId="1081"/>
        </pc:sldMkLst>
      </pc:sldChg>
      <pc:sldChg chg="del">
        <pc:chgData name="Qahtan, A.A.A. (Hakim)" userId="2e0f559b-8f84-4ffd-87e2-eac7fe92b5e6" providerId="ADAL" clId="{13CC65BD-843C-4A3B-98C3-94852964BE3C}" dt="2020-03-23T12:18:19.753" v="1" actId="2696"/>
        <pc:sldMkLst>
          <pc:docMk/>
          <pc:sldMk cId="3163506799" sldId="1082"/>
        </pc:sldMkLst>
      </pc:sldChg>
      <pc:sldChg chg="del">
        <pc:chgData name="Qahtan, A.A.A. (Hakim)" userId="2e0f559b-8f84-4ffd-87e2-eac7fe92b5e6" providerId="ADAL" clId="{13CC65BD-843C-4A3B-98C3-94852964BE3C}" dt="2020-03-23T12:18:20.445" v="2" actId="2696"/>
        <pc:sldMkLst>
          <pc:docMk/>
          <pc:sldMk cId="2554313806" sldId="1083"/>
        </pc:sldMkLst>
      </pc:sldChg>
      <pc:sldChg chg="del">
        <pc:chgData name="Qahtan, A.A.A. (Hakim)" userId="2e0f559b-8f84-4ffd-87e2-eac7fe92b5e6" providerId="ADAL" clId="{13CC65BD-843C-4A3B-98C3-94852964BE3C}" dt="2020-03-23T12:18:22.403" v="11" actId="2696"/>
        <pc:sldMkLst>
          <pc:docMk/>
          <pc:sldMk cId="4287762621" sldId="1084"/>
        </pc:sldMkLst>
      </pc:sldChg>
      <pc:sldChg chg="del">
        <pc:chgData name="Qahtan, A.A.A. (Hakim)" userId="2e0f559b-8f84-4ffd-87e2-eac7fe92b5e6" providerId="ADAL" clId="{13CC65BD-843C-4A3B-98C3-94852964BE3C}" dt="2020-03-23T12:18:22.565" v="12" actId="2696"/>
        <pc:sldMkLst>
          <pc:docMk/>
          <pc:sldMk cId="495594847" sldId="1085"/>
        </pc:sldMkLst>
      </pc:sldChg>
      <pc:sldChg chg="del">
        <pc:chgData name="Qahtan, A.A.A. (Hakim)" userId="2e0f559b-8f84-4ffd-87e2-eac7fe92b5e6" providerId="ADAL" clId="{13CC65BD-843C-4A3B-98C3-94852964BE3C}" dt="2020-03-23T12:18:22.755" v="13" actId="2696"/>
        <pc:sldMkLst>
          <pc:docMk/>
          <pc:sldMk cId="1001354965" sldId="1086"/>
        </pc:sldMkLst>
      </pc:sldChg>
      <pc:sldChg chg="del">
        <pc:chgData name="Qahtan, A.A.A. (Hakim)" userId="2e0f559b-8f84-4ffd-87e2-eac7fe92b5e6" providerId="ADAL" clId="{13CC65BD-843C-4A3B-98C3-94852964BE3C}" dt="2020-03-23T12:18:23.320" v="15" actId="2696"/>
        <pc:sldMkLst>
          <pc:docMk/>
          <pc:sldMk cId="3858431177" sldId="1088"/>
        </pc:sldMkLst>
      </pc:sldChg>
      <pc:sldChg chg="del">
        <pc:chgData name="Qahtan, A.A.A. (Hakim)" userId="2e0f559b-8f84-4ffd-87e2-eac7fe92b5e6" providerId="ADAL" clId="{13CC65BD-843C-4A3B-98C3-94852964BE3C}" dt="2020-03-23T12:18:23.528" v="16" actId="2696"/>
        <pc:sldMkLst>
          <pc:docMk/>
          <pc:sldMk cId="2171332194" sldId="1089"/>
        </pc:sldMkLst>
      </pc:sldChg>
      <pc:sldChg chg="del">
        <pc:chgData name="Qahtan, A.A.A. (Hakim)" userId="2e0f559b-8f84-4ffd-87e2-eac7fe92b5e6" providerId="ADAL" clId="{13CC65BD-843C-4A3B-98C3-94852964BE3C}" dt="2020-03-23T12:18:23.083" v="14" actId="2696"/>
        <pc:sldMkLst>
          <pc:docMk/>
          <pc:sldMk cId="1062252283" sldId="1090"/>
        </pc:sldMkLst>
      </pc:sldChg>
      <pc:sldChg chg="del">
        <pc:chgData name="Qahtan, A.A.A. (Hakim)" userId="2e0f559b-8f84-4ffd-87e2-eac7fe92b5e6" providerId="ADAL" clId="{13CC65BD-843C-4A3B-98C3-94852964BE3C}" dt="2020-03-23T12:18:23.750" v="17" actId="2696"/>
        <pc:sldMkLst>
          <pc:docMk/>
          <pc:sldMk cId="1602098250" sldId="1091"/>
        </pc:sldMkLst>
      </pc:sldChg>
      <pc:sldChg chg="del">
        <pc:chgData name="Qahtan, A.A.A. (Hakim)" userId="2e0f559b-8f84-4ffd-87e2-eac7fe92b5e6" providerId="ADAL" clId="{13CC65BD-843C-4A3B-98C3-94852964BE3C}" dt="2020-03-23T12:18:24.028" v="18" actId="2696"/>
        <pc:sldMkLst>
          <pc:docMk/>
          <pc:sldMk cId="3706857891" sldId="1092"/>
        </pc:sldMkLst>
      </pc:sldChg>
      <pc:sldChg chg="del">
        <pc:chgData name="Qahtan, A.A.A. (Hakim)" userId="2e0f559b-8f84-4ffd-87e2-eac7fe92b5e6" providerId="ADAL" clId="{13CC65BD-843C-4A3B-98C3-94852964BE3C}" dt="2020-03-23T12:18:24.356" v="19" actId="2696"/>
        <pc:sldMkLst>
          <pc:docMk/>
          <pc:sldMk cId="3657336332" sldId="1093"/>
        </pc:sldMkLst>
      </pc:sldChg>
      <pc:sldChg chg="del">
        <pc:chgData name="Qahtan, A.A.A. (Hakim)" userId="2e0f559b-8f84-4ffd-87e2-eac7fe92b5e6" providerId="ADAL" clId="{13CC65BD-843C-4A3B-98C3-94852964BE3C}" dt="2020-03-23T12:18:24.500" v="20" actId="2696"/>
        <pc:sldMkLst>
          <pc:docMk/>
          <pc:sldMk cId="1722229024" sldId="1094"/>
        </pc:sldMkLst>
      </pc:sldChg>
      <pc:sldChg chg="del">
        <pc:chgData name="Qahtan, A.A.A. (Hakim)" userId="2e0f559b-8f84-4ffd-87e2-eac7fe92b5e6" providerId="ADAL" clId="{13CC65BD-843C-4A3B-98C3-94852964BE3C}" dt="2020-03-23T12:18:24.583" v="21" actId="2696"/>
        <pc:sldMkLst>
          <pc:docMk/>
          <pc:sldMk cId="4256355823" sldId="1095"/>
        </pc:sldMkLst>
      </pc:sldChg>
      <pc:sldChg chg="del">
        <pc:chgData name="Qahtan, A.A.A. (Hakim)" userId="2e0f559b-8f84-4ffd-87e2-eac7fe92b5e6" providerId="ADAL" clId="{13CC65BD-843C-4A3B-98C3-94852964BE3C}" dt="2020-03-23T12:18:24.788" v="22" actId="2696"/>
        <pc:sldMkLst>
          <pc:docMk/>
          <pc:sldMk cId="2518234483" sldId="1096"/>
        </pc:sldMkLst>
      </pc:sldChg>
      <pc:sldChg chg="del">
        <pc:chgData name="Qahtan, A.A.A. (Hakim)" userId="2e0f559b-8f84-4ffd-87e2-eac7fe92b5e6" providerId="ADAL" clId="{13CC65BD-843C-4A3B-98C3-94852964BE3C}" dt="2020-03-23T12:18:25.317" v="23" actId="2696"/>
        <pc:sldMkLst>
          <pc:docMk/>
          <pc:sldMk cId="3737971764" sldId="1097"/>
        </pc:sldMkLst>
      </pc:sldChg>
      <pc:sldChg chg="del">
        <pc:chgData name="Qahtan, A.A.A. (Hakim)" userId="2e0f559b-8f84-4ffd-87e2-eac7fe92b5e6" providerId="ADAL" clId="{13CC65BD-843C-4A3B-98C3-94852964BE3C}" dt="2020-03-23T12:18:25.568" v="24" actId="2696"/>
        <pc:sldMkLst>
          <pc:docMk/>
          <pc:sldMk cId="3291275678" sldId="1098"/>
        </pc:sldMkLst>
      </pc:sldChg>
      <pc:sldChg chg="del">
        <pc:chgData name="Qahtan, A.A.A. (Hakim)" userId="2e0f559b-8f84-4ffd-87e2-eac7fe92b5e6" providerId="ADAL" clId="{13CC65BD-843C-4A3B-98C3-94852964BE3C}" dt="2020-03-23T12:18:25.938" v="25" actId="2696"/>
        <pc:sldMkLst>
          <pc:docMk/>
          <pc:sldMk cId="3400318586" sldId="1099"/>
        </pc:sldMkLst>
      </pc:sldChg>
      <pc:sldChg chg="del">
        <pc:chgData name="Qahtan, A.A.A. (Hakim)" userId="2e0f559b-8f84-4ffd-87e2-eac7fe92b5e6" providerId="ADAL" clId="{13CC65BD-843C-4A3B-98C3-94852964BE3C}" dt="2020-03-23T12:18:26.410" v="27" actId="2696"/>
        <pc:sldMkLst>
          <pc:docMk/>
          <pc:sldMk cId="3877893763" sldId="1100"/>
        </pc:sldMkLst>
      </pc:sldChg>
      <pc:sldChg chg="del">
        <pc:chgData name="Qahtan, A.A.A. (Hakim)" userId="2e0f559b-8f84-4ffd-87e2-eac7fe92b5e6" providerId="ADAL" clId="{13CC65BD-843C-4A3B-98C3-94852964BE3C}" dt="2020-03-23T12:18:26.105" v="26" actId="2696"/>
        <pc:sldMkLst>
          <pc:docMk/>
          <pc:sldMk cId="985700354" sldId="1101"/>
        </pc:sldMkLst>
      </pc:sldChg>
      <pc:sldChg chg="del">
        <pc:chgData name="Qahtan, A.A.A. (Hakim)" userId="2e0f559b-8f84-4ffd-87e2-eac7fe92b5e6" providerId="ADAL" clId="{13CC65BD-843C-4A3B-98C3-94852964BE3C}" dt="2020-03-23T12:18:26.914" v="28" actId="2696"/>
        <pc:sldMkLst>
          <pc:docMk/>
          <pc:sldMk cId="2904219264" sldId="1102"/>
        </pc:sldMkLst>
      </pc:sldChg>
      <pc:sldChg chg="del">
        <pc:chgData name="Qahtan, A.A.A. (Hakim)" userId="2e0f559b-8f84-4ffd-87e2-eac7fe92b5e6" providerId="ADAL" clId="{13CC65BD-843C-4A3B-98C3-94852964BE3C}" dt="2020-03-23T12:18:27.006" v="29" actId="2696"/>
        <pc:sldMkLst>
          <pc:docMk/>
          <pc:sldMk cId="786646970" sldId="1103"/>
        </pc:sldMkLst>
      </pc:sldChg>
      <pc:sldChg chg="del">
        <pc:chgData name="Qahtan, A.A.A. (Hakim)" userId="2e0f559b-8f84-4ffd-87e2-eac7fe92b5e6" providerId="ADAL" clId="{13CC65BD-843C-4A3B-98C3-94852964BE3C}" dt="2020-03-23T12:18:27.305" v="30" actId="2696"/>
        <pc:sldMkLst>
          <pc:docMk/>
          <pc:sldMk cId="550208015" sldId="1104"/>
        </pc:sldMkLst>
      </pc:sldChg>
      <pc:sldChg chg="del">
        <pc:chgData name="Qahtan, A.A.A. (Hakim)" userId="2e0f559b-8f84-4ffd-87e2-eac7fe92b5e6" providerId="ADAL" clId="{13CC65BD-843C-4A3B-98C3-94852964BE3C}" dt="2020-03-23T12:18:27.527" v="31" actId="2696"/>
        <pc:sldMkLst>
          <pc:docMk/>
          <pc:sldMk cId="3148371749" sldId="1105"/>
        </pc:sldMkLst>
      </pc:sldChg>
      <pc:sldChg chg="del">
        <pc:chgData name="Qahtan, A.A.A. (Hakim)" userId="2e0f559b-8f84-4ffd-87e2-eac7fe92b5e6" providerId="ADAL" clId="{13CC65BD-843C-4A3B-98C3-94852964BE3C}" dt="2020-03-23T12:18:20.867" v="3" actId="2696"/>
        <pc:sldMkLst>
          <pc:docMk/>
          <pc:sldMk cId="2960165591" sldId="1106"/>
        </pc:sldMkLst>
      </pc:sldChg>
      <pc:sldChg chg="del">
        <pc:chgData name="Qahtan, A.A.A. (Hakim)" userId="2e0f559b-8f84-4ffd-87e2-eac7fe92b5e6" providerId="ADAL" clId="{13CC65BD-843C-4A3B-98C3-94852964BE3C}" dt="2020-03-23T12:18:21.208" v="4" actId="2696"/>
        <pc:sldMkLst>
          <pc:docMk/>
          <pc:sldMk cId="465984472" sldId="1107"/>
        </pc:sldMkLst>
      </pc:sldChg>
      <pc:sldChg chg="del">
        <pc:chgData name="Qahtan, A.A.A. (Hakim)" userId="2e0f559b-8f84-4ffd-87e2-eac7fe92b5e6" providerId="ADAL" clId="{13CC65BD-843C-4A3B-98C3-94852964BE3C}" dt="2020-03-23T12:18:21.544" v="5" actId="2696"/>
        <pc:sldMkLst>
          <pc:docMk/>
          <pc:sldMk cId="4130703618" sldId="1108"/>
        </pc:sldMkLst>
      </pc:sldChg>
      <pc:sldChg chg="del">
        <pc:chgData name="Qahtan, A.A.A. (Hakim)" userId="2e0f559b-8f84-4ffd-87e2-eac7fe92b5e6" providerId="ADAL" clId="{13CC65BD-843C-4A3B-98C3-94852964BE3C}" dt="2020-03-23T12:18:21.734" v="6" actId="2696"/>
        <pc:sldMkLst>
          <pc:docMk/>
          <pc:sldMk cId="2170495588" sldId="1109"/>
        </pc:sldMkLst>
      </pc:sldChg>
      <pc:sldChg chg="del">
        <pc:chgData name="Qahtan, A.A.A. (Hakim)" userId="2e0f559b-8f84-4ffd-87e2-eac7fe92b5e6" providerId="ADAL" clId="{13CC65BD-843C-4A3B-98C3-94852964BE3C}" dt="2020-03-23T12:18:21.899" v="7" actId="2696"/>
        <pc:sldMkLst>
          <pc:docMk/>
          <pc:sldMk cId="1143238543" sldId="1110"/>
        </pc:sldMkLst>
      </pc:sldChg>
      <pc:sldChg chg="del">
        <pc:chgData name="Qahtan, A.A.A. (Hakim)" userId="2e0f559b-8f84-4ffd-87e2-eac7fe92b5e6" providerId="ADAL" clId="{13CC65BD-843C-4A3B-98C3-94852964BE3C}" dt="2020-03-23T12:18:22.045" v="8" actId="2696"/>
        <pc:sldMkLst>
          <pc:docMk/>
          <pc:sldMk cId="272692862" sldId="1111"/>
        </pc:sldMkLst>
      </pc:sldChg>
      <pc:sldChg chg="del">
        <pc:chgData name="Qahtan, A.A.A. (Hakim)" userId="2e0f559b-8f84-4ffd-87e2-eac7fe92b5e6" providerId="ADAL" clId="{13CC65BD-843C-4A3B-98C3-94852964BE3C}" dt="2020-03-23T12:18:22.197" v="9" actId="2696"/>
        <pc:sldMkLst>
          <pc:docMk/>
          <pc:sldMk cId="389647025" sldId="1112"/>
        </pc:sldMkLst>
      </pc:sldChg>
      <pc:sldChg chg="del">
        <pc:chgData name="Qahtan, A.A.A. (Hakim)" userId="2e0f559b-8f84-4ffd-87e2-eac7fe92b5e6" providerId="ADAL" clId="{13CC65BD-843C-4A3B-98C3-94852964BE3C}" dt="2020-03-23T12:18:22.317" v="10" actId="2696"/>
        <pc:sldMkLst>
          <pc:docMk/>
          <pc:sldMk cId="1065788880" sldId="1113"/>
        </pc:sldMkLst>
      </pc:sldChg>
      <pc:sldChg chg="del">
        <pc:chgData name="Qahtan, A.A.A. (Hakim)" userId="2e0f559b-8f84-4ffd-87e2-eac7fe92b5e6" providerId="ADAL" clId="{13CC65BD-843C-4A3B-98C3-94852964BE3C}" dt="2020-03-23T12:18:27.902" v="32" actId="2696"/>
        <pc:sldMkLst>
          <pc:docMk/>
          <pc:sldMk cId="889100306" sldId="1114"/>
        </pc:sldMkLst>
      </pc:sldChg>
      <pc:sldChg chg="del">
        <pc:chgData name="Qahtan, A.A.A. (Hakim)" userId="2e0f559b-8f84-4ffd-87e2-eac7fe92b5e6" providerId="ADAL" clId="{13CC65BD-843C-4A3B-98C3-94852964BE3C}" dt="2020-03-23T12:18:28.523" v="33" actId="2696"/>
        <pc:sldMkLst>
          <pc:docMk/>
          <pc:sldMk cId="1687131174" sldId="1115"/>
        </pc:sldMkLst>
      </pc:sldChg>
      <pc:sldChg chg="del">
        <pc:chgData name="Qahtan, A.A.A. (Hakim)" userId="2e0f559b-8f84-4ffd-87e2-eac7fe92b5e6" providerId="ADAL" clId="{13CC65BD-843C-4A3B-98C3-94852964BE3C}" dt="2020-03-23T12:18:28.808" v="34" actId="2696"/>
        <pc:sldMkLst>
          <pc:docMk/>
          <pc:sldMk cId="3169171861" sldId="1116"/>
        </pc:sldMkLst>
      </pc:sldChg>
      <pc:sldChg chg="del">
        <pc:chgData name="Qahtan, A.A.A. (Hakim)" userId="2e0f559b-8f84-4ffd-87e2-eac7fe92b5e6" providerId="ADAL" clId="{13CC65BD-843C-4A3B-98C3-94852964BE3C}" dt="2020-03-23T12:18:29.210" v="35" actId="2696"/>
        <pc:sldMkLst>
          <pc:docMk/>
          <pc:sldMk cId="97460913" sldId="1117"/>
        </pc:sldMkLst>
      </pc:sldChg>
      <pc:sldChg chg="del">
        <pc:chgData name="Qahtan, A.A.A. (Hakim)" userId="2e0f559b-8f84-4ffd-87e2-eac7fe92b5e6" providerId="ADAL" clId="{13CC65BD-843C-4A3B-98C3-94852964BE3C}" dt="2020-03-23T12:18:29.422" v="36" actId="2696"/>
        <pc:sldMkLst>
          <pc:docMk/>
          <pc:sldMk cId="3583263098" sldId="1118"/>
        </pc:sldMkLst>
      </pc:sldChg>
      <pc:sldChg chg="del">
        <pc:chgData name="Qahtan, A.A.A. (Hakim)" userId="2e0f559b-8f84-4ffd-87e2-eac7fe92b5e6" providerId="ADAL" clId="{13CC65BD-843C-4A3B-98C3-94852964BE3C}" dt="2020-03-23T12:18:29.800" v="37" actId="2696"/>
        <pc:sldMkLst>
          <pc:docMk/>
          <pc:sldMk cId="1984393103" sldId="1119"/>
        </pc:sldMkLst>
      </pc:sldChg>
      <pc:sldChg chg="del">
        <pc:chgData name="Qahtan, A.A.A. (Hakim)" userId="2e0f559b-8f84-4ffd-87e2-eac7fe92b5e6" providerId="ADAL" clId="{13CC65BD-843C-4A3B-98C3-94852964BE3C}" dt="2020-03-23T12:18:30.561" v="38" actId="2696"/>
        <pc:sldMkLst>
          <pc:docMk/>
          <pc:sldMk cId="247878691" sldId="1120"/>
        </pc:sldMkLst>
      </pc:sldChg>
      <pc:sldChg chg="del">
        <pc:chgData name="Qahtan, A.A.A. (Hakim)" userId="2e0f559b-8f84-4ffd-87e2-eac7fe92b5e6" providerId="ADAL" clId="{13CC65BD-843C-4A3B-98C3-94852964BE3C}" dt="2020-03-23T12:18:35.498" v="39" actId="2696"/>
        <pc:sldMkLst>
          <pc:docMk/>
          <pc:sldMk cId="2345571238" sldId="112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6C72E7-1AC8-4769-8510-C8FBA4EE0D31}" type="datetimeFigureOut">
              <a:rPr lang="nl-NL" smtClean="0"/>
              <a:t>29-10-2025</a:t>
            </a:fld>
            <a:endParaRPr lang="nl-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06F6A5-1236-40E7-B937-7650038E63C3}" type="slidenum">
              <a:rPr lang="nl-NL" smtClean="0"/>
              <a:t>‹#›</a:t>
            </a:fld>
            <a:endParaRPr lang="nl-NL"/>
          </a:p>
        </p:txBody>
      </p:sp>
    </p:spTree>
    <p:extLst>
      <p:ext uri="{BB962C8B-B14F-4D97-AF65-F5344CB8AC3E}">
        <p14:creationId xmlns:p14="http://schemas.microsoft.com/office/powerpoint/2010/main" val="4053527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06F6A5-1236-40E7-B937-7650038E63C3}" type="slidenum">
              <a:rPr lang="nl-NL" smtClean="0"/>
              <a:t>37</a:t>
            </a:fld>
            <a:endParaRPr lang="nl-NL"/>
          </a:p>
        </p:txBody>
      </p:sp>
    </p:spTree>
    <p:extLst>
      <p:ext uri="{BB962C8B-B14F-4D97-AF65-F5344CB8AC3E}">
        <p14:creationId xmlns:p14="http://schemas.microsoft.com/office/powerpoint/2010/main" val="1720207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06F6A5-1236-40E7-B937-7650038E63C3}" type="slidenum">
              <a:rPr lang="nl-NL" smtClean="0"/>
              <a:t>39</a:t>
            </a:fld>
            <a:endParaRPr lang="nl-NL"/>
          </a:p>
        </p:txBody>
      </p:sp>
    </p:spTree>
    <p:extLst>
      <p:ext uri="{BB962C8B-B14F-4D97-AF65-F5344CB8AC3E}">
        <p14:creationId xmlns:p14="http://schemas.microsoft.com/office/powerpoint/2010/main" val="25067001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06F6A5-1236-40E7-B937-7650038E63C3}" type="slidenum">
              <a:rPr lang="nl-NL" smtClean="0"/>
              <a:t>40</a:t>
            </a:fld>
            <a:endParaRPr lang="nl-NL"/>
          </a:p>
        </p:txBody>
      </p:sp>
    </p:spTree>
    <p:extLst>
      <p:ext uri="{BB962C8B-B14F-4D97-AF65-F5344CB8AC3E}">
        <p14:creationId xmlns:p14="http://schemas.microsoft.com/office/powerpoint/2010/main" val="1207222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C0E5B486-6A9F-DE47-872C-B95ED20BB4BE}" type="slidenum">
              <a:rPr lang="x-none" smtClean="0"/>
              <a:t>70</a:t>
            </a:fld>
            <a:endParaRPr lang="x-none"/>
          </a:p>
        </p:txBody>
      </p:sp>
    </p:spTree>
    <p:extLst>
      <p:ext uri="{BB962C8B-B14F-4D97-AF65-F5344CB8AC3E}">
        <p14:creationId xmlns:p14="http://schemas.microsoft.com/office/powerpoint/2010/main" val="1049357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1F436-0D9D-46AD-BEFF-5E111B7B38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5147BDE8-4FB5-4522-BEB2-CB4D9D4287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5" name="Footer Placeholder 4">
            <a:extLst>
              <a:ext uri="{FF2B5EF4-FFF2-40B4-BE49-F238E27FC236}">
                <a16:creationId xmlns:a16="http://schemas.microsoft.com/office/drawing/2014/main" id="{64C33C5D-99D5-4165-B1F8-06B37021373E}"/>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6B4D59A6-9BE8-4C30-961C-4CAF7195873B}"/>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7" name="Afbeelding 9">
            <a:extLst>
              <a:ext uri="{FF2B5EF4-FFF2-40B4-BE49-F238E27FC236}">
                <a16:creationId xmlns:a16="http://schemas.microsoft.com/office/drawing/2014/main" id="{5B115A1C-F137-473C-B049-8E2E1D4382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4171098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FF329-0391-403E-893E-D576018AC6DB}"/>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6C20DF60-B5C5-4B67-9C59-D776B1162E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Footer Placeholder 4">
            <a:extLst>
              <a:ext uri="{FF2B5EF4-FFF2-40B4-BE49-F238E27FC236}">
                <a16:creationId xmlns:a16="http://schemas.microsoft.com/office/drawing/2014/main" id="{6727592F-54D9-46E8-91E8-E3155C6AEBD9}"/>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D54E3E60-7A04-4ACB-A597-49AF9D1E0152}"/>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7" name="Afbeelding 9">
            <a:extLst>
              <a:ext uri="{FF2B5EF4-FFF2-40B4-BE49-F238E27FC236}">
                <a16:creationId xmlns:a16="http://schemas.microsoft.com/office/drawing/2014/main" id="{0FE4EE32-EE92-49A9-B978-9AF46FFCEEF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2678216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3EC57-5DD0-4A03-BF25-28F500D6A7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A1EA68C0-D0E2-4B3B-8DF5-99D3AE4826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04E84D37-B5E3-465E-AB9F-1A46C3CB818F}"/>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4C507BA4-8DAB-4D1A-8C7A-0034BED320AF}"/>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7" name="Afbeelding 9">
            <a:extLst>
              <a:ext uri="{FF2B5EF4-FFF2-40B4-BE49-F238E27FC236}">
                <a16:creationId xmlns:a16="http://schemas.microsoft.com/office/drawing/2014/main" id="{B4FFACBE-778B-452B-B7B2-D991B629EC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3319564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F4064-BB62-46B8-9CC2-D029177ED97E}"/>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320FF1E0-3B14-45A4-A725-D5051F77CA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3097A2AD-DE0E-4543-BF32-97E6165844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a:extLst>
              <a:ext uri="{FF2B5EF4-FFF2-40B4-BE49-F238E27FC236}">
                <a16:creationId xmlns:a16="http://schemas.microsoft.com/office/drawing/2014/main" id="{5C78A81F-A3D5-45B8-A8C9-BF8B43453A60}"/>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2658AD99-EEEA-444C-A59A-65F3888F1114}"/>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8" name="Afbeelding 9">
            <a:extLst>
              <a:ext uri="{FF2B5EF4-FFF2-40B4-BE49-F238E27FC236}">
                <a16:creationId xmlns:a16="http://schemas.microsoft.com/office/drawing/2014/main" id="{6E2A276F-6FEF-4ED3-85CF-E9CF7545433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1499754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77D37-7754-4A9C-BCC6-11C47E9284C0}"/>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A4D75442-2125-4972-A200-5E35EC3A2A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CEFCD3-FF8C-4968-9CED-85E6346B6E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71DA86E1-83D0-49D4-A54B-9F17BF050F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0C060A-6098-4350-8720-54C7423C64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8" name="Footer Placeholder 7">
            <a:extLst>
              <a:ext uri="{FF2B5EF4-FFF2-40B4-BE49-F238E27FC236}">
                <a16:creationId xmlns:a16="http://schemas.microsoft.com/office/drawing/2014/main" id="{90682D38-0587-46DF-BC2F-54BCA5167C81}"/>
              </a:ext>
            </a:extLst>
          </p:cNvPr>
          <p:cNvSpPr>
            <a:spLocks noGrp="1"/>
          </p:cNvSpPr>
          <p:nvPr>
            <p:ph type="ftr" sz="quarter" idx="11"/>
          </p:nvPr>
        </p:nvSpPr>
        <p:spPr/>
        <p:txBody>
          <a:bodyPr/>
          <a:lstStyle/>
          <a:p>
            <a:endParaRPr lang="nl-NL"/>
          </a:p>
        </p:txBody>
      </p:sp>
      <p:sp>
        <p:nvSpPr>
          <p:cNvPr id="9" name="Slide Number Placeholder 8">
            <a:extLst>
              <a:ext uri="{FF2B5EF4-FFF2-40B4-BE49-F238E27FC236}">
                <a16:creationId xmlns:a16="http://schemas.microsoft.com/office/drawing/2014/main" id="{ACEDE6AB-74D5-42F1-A4DE-5A6E0B56C634}"/>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10" name="Afbeelding 9">
            <a:extLst>
              <a:ext uri="{FF2B5EF4-FFF2-40B4-BE49-F238E27FC236}">
                <a16:creationId xmlns:a16="http://schemas.microsoft.com/office/drawing/2014/main" id="{CC785A4D-427F-44CB-8E0A-B101B55E5BE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2899719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89489-85CB-4669-ACBD-78EF5FE99A63}"/>
              </a:ext>
            </a:extLst>
          </p:cNvPr>
          <p:cNvSpPr>
            <a:spLocks noGrp="1"/>
          </p:cNvSpPr>
          <p:nvPr>
            <p:ph type="title"/>
          </p:nvPr>
        </p:nvSpPr>
        <p:spPr/>
        <p:txBody>
          <a:bodyPr/>
          <a:lstStyle/>
          <a:p>
            <a:r>
              <a:rPr lang="en-US"/>
              <a:t>Click to edit Master title style</a:t>
            </a:r>
            <a:endParaRPr lang="nl-NL"/>
          </a:p>
        </p:txBody>
      </p:sp>
      <p:sp>
        <p:nvSpPr>
          <p:cNvPr id="4" name="Footer Placeholder 3">
            <a:extLst>
              <a:ext uri="{FF2B5EF4-FFF2-40B4-BE49-F238E27FC236}">
                <a16:creationId xmlns:a16="http://schemas.microsoft.com/office/drawing/2014/main" id="{35CE259A-9F68-4D64-B695-B05BF20BA964}"/>
              </a:ext>
            </a:extLst>
          </p:cNvPr>
          <p:cNvSpPr>
            <a:spLocks noGrp="1"/>
          </p:cNvSpPr>
          <p:nvPr>
            <p:ph type="ftr" sz="quarter" idx="11"/>
          </p:nvPr>
        </p:nvSpPr>
        <p:spPr/>
        <p:txBody>
          <a:bodyPr/>
          <a:lstStyle/>
          <a:p>
            <a:endParaRPr lang="nl-NL"/>
          </a:p>
        </p:txBody>
      </p:sp>
      <p:sp>
        <p:nvSpPr>
          <p:cNvPr id="5" name="Slide Number Placeholder 4">
            <a:extLst>
              <a:ext uri="{FF2B5EF4-FFF2-40B4-BE49-F238E27FC236}">
                <a16:creationId xmlns:a16="http://schemas.microsoft.com/office/drawing/2014/main" id="{22B55463-B67C-4CFD-B89A-A5AC40491AA7}"/>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6" name="Afbeelding 9">
            <a:extLst>
              <a:ext uri="{FF2B5EF4-FFF2-40B4-BE49-F238E27FC236}">
                <a16:creationId xmlns:a16="http://schemas.microsoft.com/office/drawing/2014/main" id="{4E1FECAE-E5B2-4686-BED7-57C4C269E9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2227888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5975913-F874-4ACB-BF38-06993DE482AB}"/>
              </a:ext>
            </a:extLst>
          </p:cNvPr>
          <p:cNvSpPr>
            <a:spLocks noGrp="1"/>
          </p:cNvSpPr>
          <p:nvPr>
            <p:ph type="ftr" sz="quarter" idx="11"/>
          </p:nvPr>
        </p:nvSpPr>
        <p:spPr/>
        <p:txBody>
          <a:bodyPr/>
          <a:lstStyle/>
          <a:p>
            <a:endParaRPr lang="nl-NL"/>
          </a:p>
        </p:txBody>
      </p:sp>
      <p:sp>
        <p:nvSpPr>
          <p:cNvPr id="4" name="Slide Number Placeholder 3">
            <a:extLst>
              <a:ext uri="{FF2B5EF4-FFF2-40B4-BE49-F238E27FC236}">
                <a16:creationId xmlns:a16="http://schemas.microsoft.com/office/drawing/2014/main" id="{9158B41A-AEDF-4412-BB53-522D256DE078}"/>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5" name="Afbeelding 9">
            <a:extLst>
              <a:ext uri="{FF2B5EF4-FFF2-40B4-BE49-F238E27FC236}">
                <a16:creationId xmlns:a16="http://schemas.microsoft.com/office/drawing/2014/main" id="{003DCD53-61B3-4260-9781-C03ECF355EF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1629995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75079-FBD9-4B6E-93BC-C2C72C3D63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8FCFB345-DC72-4009-80DF-ADF36B45C8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F554BB79-2FE3-4EEC-A47B-F6AA444FCF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DD404493-2A24-4F5A-99BE-DED35B9AC3CD}"/>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8643EAAD-7F90-46F6-8777-C00D5AD3AD36}"/>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8" name="Afbeelding 9">
            <a:extLst>
              <a:ext uri="{FF2B5EF4-FFF2-40B4-BE49-F238E27FC236}">
                <a16:creationId xmlns:a16="http://schemas.microsoft.com/office/drawing/2014/main" id="{F5965B39-71B2-49D0-86D7-1658D734E32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2010239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0C5DE-40EB-400F-BB8C-DD4CE993E4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BB0676FA-A76F-4435-A2C2-2AD6DBB5C9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a:extLst>
              <a:ext uri="{FF2B5EF4-FFF2-40B4-BE49-F238E27FC236}">
                <a16:creationId xmlns:a16="http://schemas.microsoft.com/office/drawing/2014/main" id="{39D88418-CE82-4860-B21C-19BC3A38AE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337901AD-1CEA-40EE-8192-D18DA32CA3E6}"/>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A29D7769-3DBE-45F4-9D6C-319778BCB54D}"/>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8" name="Afbeelding 9">
            <a:extLst>
              <a:ext uri="{FF2B5EF4-FFF2-40B4-BE49-F238E27FC236}">
                <a16:creationId xmlns:a16="http://schemas.microsoft.com/office/drawing/2014/main" id="{6E6FBEF1-7C0B-499C-A27C-52802B84CB9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3559820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7AE8A-1C31-4B80-8E0E-FA8EE7EA7E8E}"/>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E4A7039C-9E8F-49C2-A124-D628993DB0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Footer Placeholder 4">
            <a:extLst>
              <a:ext uri="{FF2B5EF4-FFF2-40B4-BE49-F238E27FC236}">
                <a16:creationId xmlns:a16="http://schemas.microsoft.com/office/drawing/2014/main" id="{69DC1EB7-C34F-4E92-8B14-28B788637B72}"/>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8CBF4EAA-ABFC-4164-BDD9-D6C18344DF63}"/>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7" name="Afbeelding 9">
            <a:extLst>
              <a:ext uri="{FF2B5EF4-FFF2-40B4-BE49-F238E27FC236}">
                <a16:creationId xmlns:a16="http://schemas.microsoft.com/office/drawing/2014/main" id="{AA2390CE-E4A9-42B0-B346-6C3BF875E19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2617979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0A7D13-05FB-4F56-9DD4-53C5B300C3B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685630CA-2274-448F-B50F-D48D280FDE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Footer Placeholder 4">
            <a:extLst>
              <a:ext uri="{FF2B5EF4-FFF2-40B4-BE49-F238E27FC236}">
                <a16:creationId xmlns:a16="http://schemas.microsoft.com/office/drawing/2014/main" id="{B7717B21-54CC-48E7-894A-27142611C417}"/>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4EF97B17-C995-407A-9DC9-4DE969B4F302}"/>
              </a:ext>
            </a:extLst>
          </p:cNvPr>
          <p:cNvSpPr>
            <a:spLocks noGrp="1"/>
          </p:cNvSpPr>
          <p:nvPr>
            <p:ph type="sldNum" sz="quarter" idx="12"/>
          </p:nvPr>
        </p:nvSpPr>
        <p:spPr/>
        <p:txBody>
          <a:bodyPr/>
          <a:lstStyle/>
          <a:p>
            <a:fld id="{F8D8F54C-053C-4394-9990-70DE256B1A6D}" type="slidenum">
              <a:rPr lang="nl-NL" smtClean="0"/>
              <a:t>‹#›</a:t>
            </a:fld>
            <a:endParaRPr lang="nl-NL"/>
          </a:p>
        </p:txBody>
      </p:sp>
      <p:pic>
        <p:nvPicPr>
          <p:cNvPr id="7" name="Afbeelding 9">
            <a:extLst>
              <a:ext uri="{FF2B5EF4-FFF2-40B4-BE49-F238E27FC236}">
                <a16:creationId xmlns:a16="http://schemas.microsoft.com/office/drawing/2014/main" id="{4359B83E-457B-4A56-97E8-EF80F651073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1870" y="6069578"/>
            <a:ext cx="2624372" cy="1041073"/>
          </a:xfrm>
          <a:prstGeom prst="rect">
            <a:avLst/>
          </a:prstGeom>
          <a:ln>
            <a:noFill/>
          </a:ln>
        </p:spPr>
      </p:pic>
    </p:spTree>
    <p:extLst>
      <p:ext uri="{BB962C8B-B14F-4D97-AF65-F5344CB8AC3E}">
        <p14:creationId xmlns:p14="http://schemas.microsoft.com/office/powerpoint/2010/main" val="2848894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7109B4-6259-4B71-963F-E6EF909171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86F9CCA7-0EF3-49F7-943E-25DD645B6B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715F321C-7E99-47F2-9215-9A27ED0A15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nl-NL"/>
          </a:p>
        </p:txBody>
      </p:sp>
      <p:sp>
        <p:nvSpPr>
          <p:cNvPr id="5" name="Footer Placeholder 4">
            <a:extLst>
              <a:ext uri="{FF2B5EF4-FFF2-40B4-BE49-F238E27FC236}">
                <a16:creationId xmlns:a16="http://schemas.microsoft.com/office/drawing/2014/main" id="{C4A2F472-351E-4F7F-B8E9-339BDFCA7B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Slide Number Placeholder 5">
            <a:extLst>
              <a:ext uri="{FF2B5EF4-FFF2-40B4-BE49-F238E27FC236}">
                <a16:creationId xmlns:a16="http://schemas.microsoft.com/office/drawing/2014/main" id="{721653A4-AF1B-4E4A-ACF4-770CE4B004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D8F54C-053C-4394-9990-70DE256B1A6D}" type="slidenum">
              <a:rPr lang="nl-NL" smtClean="0"/>
              <a:t>‹#›</a:t>
            </a:fld>
            <a:endParaRPr lang="nl-NL"/>
          </a:p>
        </p:txBody>
      </p:sp>
    </p:spTree>
    <p:extLst>
      <p:ext uri="{BB962C8B-B14F-4D97-AF65-F5344CB8AC3E}">
        <p14:creationId xmlns:p14="http://schemas.microsoft.com/office/powerpoint/2010/main" val="902710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70.png"/><Relationship Id="rId4" Type="http://schemas.openxmlformats.org/officeDocument/2006/relationships/image" Target="../media/image160.png"/></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41.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2">
            <a:extLst>
              <a:ext uri="{FF2B5EF4-FFF2-40B4-BE49-F238E27FC236}">
                <a16:creationId xmlns:a16="http://schemas.microsoft.com/office/drawing/2014/main" id="{67D5AF9D-B0DC-43A3-AAC6-1547D97B9220}"/>
              </a:ext>
            </a:extLst>
          </p:cNvPr>
          <p:cNvSpPr txBox="1">
            <a:spLocks/>
          </p:cNvSpPr>
          <p:nvPr/>
        </p:nvSpPr>
        <p:spPr>
          <a:xfrm>
            <a:off x="3578203" y="5316032"/>
            <a:ext cx="5038747" cy="43881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200" b="1" dirty="0">
                <a:latin typeface="Times New Roman" panose="02020603050405020304" pitchFamily="18" charset="0"/>
                <a:cs typeface="Times New Roman" panose="02020603050405020304" pitchFamily="18" charset="0"/>
              </a:rPr>
              <a:t>Hakim Qahtan</a:t>
            </a:r>
            <a:endParaRPr lang="nl-NL" sz="2200" b="1" dirty="0">
              <a:latin typeface="Times New Roman" panose="02020603050405020304" pitchFamily="18" charset="0"/>
              <a:cs typeface="Times New Roman" panose="02020603050405020304" pitchFamily="18" charset="0"/>
            </a:endParaRPr>
          </a:p>
        </p:txBody>
      </p:sp>
      <p:sp>
        <p:nvSpPr>
          <p:cNvPr id="5" name="Tijdelijke aanduiding voor tekst 3">
            <a:extLst>
              <a:ext uri="{FF2B5EF4-FFF2-40B4-BE49-F238E27FC236}">
                <a16:creationId xmlns:a16="http://schemas.microsoft.com/office/drawing/2014/main" id="{A0C7FD2C-79F4-4035-B87B-567FCDEE550A}"/>
              </a:ext>
            </a:extLst>
          </p:cNvPr>
          <p:cNvSpPr txBox="1">
            <a:spLocks/>
          </p:cNvSpPr>
          <p:nvPr/>
        </p:nvSpPr>
        <p:spPr>
          <a:xfrm>
            <a:off x="2743201" y="5842400"/>
            <a:ext cx="7376984" cy="8673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latin typeface="Times New Roman" panose="02020603050405020304" pitchFamily="18" charset="0"/>
                <a:cs typeface="Times New Roman" panose="02020603050405020304" pitchFamily="18" charset="0"/>
              </a:rPr>
              <a:t>Department of Information and Computing Sciences</a:t>
            </a:r>
          </a:p>
          <a:p>
            <a:pPr marL="0" indent="0" algn="ctr">
              <a:buNone/>
            </a:pPr>
            <a:r>
              <a:rPr lang="en-US" sz="2000" dirty="0">
                <a:latin typeface="Times New Roman" panose="02020603050405020304" pitchFamily="18" charset="0"/>
                <a:cs typeface="Times New Roman" panose="02020603050405020304" pitchFamily="18" charset="0"/>
              </a:rPr>
              <a:t>Utrecht University</a:t>
            </a:r>
            <a:endParaRPr lang="nl-NL" sz="2000" dirty="0">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B95150EB-C963-4057-9C23-EDF2C9EC6773}"/>
              </a:ext>
            </a:extLst>
          </p:cNvPr>
          <p:cNvSpPr/>
          <p:nvPr/>
        </p:nvSpPr>
        <p:spPr>
          <a:xfrm>
            <a:off x="620785" y="1342238"/>
            <a:ext cx="11308360" cy="2360691"/>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latin typeface="Times New Roman" panose="02020603050405020304" pitchFamily="18" charset="0"/>
                <a:cs typeface="Times New Roman" panose="02020603050405020304" pitchFamily="18" charset="0"/>
              </a:rPr>
              <a:t>Data Wrangling and Data Analysis</a:t>
            </a:r>
          </a:p>
          <a:p>
            <a:pPr algn="ctr"/>
            <a:r>
              <a:rPr lang="en-US" sz="3600" b="1" dirty="0">
                <a:solidFill>
                  <a:schemeClr val="tx1"/>
                </a:solidFill>
                <a:latin typeface="Times New Roman" panose="02020603050405020304" pitchFamily="18" charset="0"/>
                <a:cs typeface="Times New Roman" panose="02020603050405020304" pitchFamily="18" charset="0"/>
              </a:rPr>
              <a:t> </a:t>
            </a:r>
          </a:p>
          <a:p>
            <a:pPr algn="ctr"/>
            <a:r>
              <a:rPr lang="en-US" altLang="nl-NL" sz="3600" b="1" dirty="0">
                <a:solidFill>
                  <a:schemeClr val="tx1"/>
                </a:solidFill>
                <a:latin typeface="Times New Roman" panose="02020603050405020304" pitchFamily="18" charset="0"/>
                <a:cs typeface="Times New Roman" panose="02020603050405020304" pitchFamily="18" charset="0"/>
              </a:rPr>
              <a:t>Time Series and Demand Forecasting</a:t>
            </a:r>
          </a:p>
        </p:txBody>
      </p:sp>
      <p:sp>
        <p:nvSpPr>
          <p:cNvPr id="7" name="Rectangle 3">
            <a:extLst>
              <a:ext uri="{FF2B5EF4-FFF2-40B4-BE49-F238E27FC236}">
                <a16:creationId xmlns:a16="http://schemas.microsoft.com/office/drawing/2014/main" id="{EA95B730-DEB8-45EC-95F6-9E624B67ABF0}"/>
              </a:ext>
            </a:extLst>
          </p:cNvPr>
          <p:cNvSpPr txBox="1">
            <a:spLocks noChangeArrowheads="1"/>
          </p:cNvSpPr>
          <p:nvPr/>
        </p:nvSpPr>
        <p:spPr>
          <a:xfrm>
            <a:off x="2897187" y="3702930"/>
            <a:ext cx="6400800" cy="1199423"/>
          </a:xfrm>
          <a:prstGeom prst="rect">
            <a:avLst/>
          </a:prstGeom>
        </p:spPr>
        <p:txBody>
          <a:bodyPr/>
          <a:lstStyle>
            <a:lvl1pPr marL="0" indent="0" algn="l" defTabSz="914400" rtl="0" eaLnBrk="1" latinLnBrk="0" hangingPunct="1">
              <a:lnSpc>
                <a:spcPct val="110000"/>
              </a:lnSpc>
              <a:spcBef>
                <a:spcPts val="0"/>
              </a:spcBef>
              <a:buFont typeface="Arial" pitchFamily="34" charset="0"/>
              <a:buNone/>
              <a:defRPr sz="1600"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0" indent="0" algn="l" defTabSz="914400" rtl="0" eaLnBrk="1" latinLnBrk="0" hangingPunct="1">
              <a:lnSpc>
                <a:spcPct val="110000"/>
              </a:lnSpc>
              <a:spcBef>
                <a:spcPts val="0"/>
              </a:spcBef>
              <a:buFont typeface="Arial" pitchFamily="34" charset="0"/>
              <a:buNone/>
              <a:defRPr sz="1600" b="1"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270000" indent="-270000" algn="l" defTabSz="914400" rtl="0" eaLnBrk="1" latinLnBrk="0" hangingPunct="1">
              <a:lnSpc>
                <a:spcPct val="110000"/>
              </a:lnSpc>
              <a:spcBef>
                <a:spcPts val="2100"/>
              </a:spcBef>
              <a:buFont typeface="Verdana" pitchFamily="34" charset="0"/>
              <a:buChar char="•"/>
              <a:defRPr sz="1600"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270000" indent="-270000" algn="l" defTabSz="914400" rtl="0" eaLnBrk="1" latinLnBrk="0" hangingPunct="1">
              <a:lnSpc>
                <a:spcPct val="110000"/>
              </a:lnSpc>
              <a:spcBef>
                <a:spcPts val="2100"/>
              </a:spcBef>
              <a:buFont typeface="Verdana" pitchFamily="34" charset="0"/>
              <a:buChar char="•"/>
              <a:defRPr sz="1600"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810000" indent="-270000" algn="l" defTabSz="914400" rtl="0" eaLnBrk="1" latinLnBrk="0" hangingPunct="1">
              <a:lnSpc>
                <a:spcPct val="110000"/>
              </a:lnSpc>
              <a:spcBef>
                <a:spcPts val="0"/>
              </a:spcBef>
              <a:buFont typeface="Verdana" pitchFamily="34" charset="0"/>
              <a:buChar char="–"/>
              <a:defRPr sz="1600"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endParaRPr lang="en-US" altLang="nl-NL"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5568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sz="3200" b="1" dirty="0">
                <a:latin typeface="Times New Roman" panose="02020603050405020304" pitchFamily="18" charset="0"/>
                <a:cs typeface="Times New Roman" panose="02020603050405020304" pitchFamily="18" charset="0"/>
              </a:rPr>
              <a:t>Topics for Today</a:t>
            </a:r>
            <a:endParaRPr lang="nl-NL" sz="3200" b="1" dirty="0"/>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marL="342797" indent="-342797">
              <a:lnSpc>
                <a:spcPct val="150000"/>
              </a:lnSpc>
            </a:pPr>
            <a:r>
              <a:rPr lang="en-US" altLang="nl-NL" dirty="0">
                <a:latin typeface="Times New Roman" panose="02020603050405020304" pitchFamily="18" charset="0"/>
                <a:cs typeface="Times New Roman" panose="02020603050405020304" pitchFamily="18" charset="0"/>
              </a:rPr>
              <a:t>Time Series Analysis</a:t>
            </a:r>
          </a:p>
          <a:p>
            <a:pPr marL="342797" indent="-342797">
              <a:lnSpc>
                <a:spcPct val="150000"/>
              </a:lnSpc>
            </a:pPr>
            <a:r>
              <a:rPr lang="en-US">
                <a:latin typeface="Times New Roman" panose="02020603050405020304" pitchFamily="18" charset="0"/>
                <a:cs typeface="Times New Roman" panose="02020603050405020304" pitchFamily="18" charset="0"/>
              </a:rPr>
              <a:t>Demand Forecasting</a:t>
            </a:r>
            <a:endParaRPr lang="en-US" dirty="0">
              <a:latin typeface="Times New Roman" panose="02020603050405020304" pitchFamily="18" charset="0"/>
              <a:cs typeface="Times New Roman" panose="02020603050405020304" pitchFamily="18" charset="0"/>
            </a:endParaRPr>
          </a:p>
          <a:p>
            <a:pPr marL="1257197" lvl="2" indent="-342797">
              <a:lnSpc>
                <a:spcPct val="150000"/>
              </a:lnSpc>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FEEBBC2-E31C-BC05-F48E-656CE08E9B34}"/>
              </a:ext>
            </a:extLst>
          </p:cNvPr>
          <p:cNvSpPr>
            <a:spLocks noGrp="1"/>
          </p:cNvSpPr>
          <p:nvPr>
            <p:ph type="sldNum" sz="quarter" idx="12"/>
          </p:nvPr>
        </p:nvSpPr>
        <p:spPr/>
        <p:txBody>
          <a:bodyPr/>
          <a:lstStyle/>
          <a:p>
            <a:fld id="{F8D8F54C-053C-4394-9990-70DE256B1A6D}" type="slidenum">
              <a:rPr lang="nl-NL" smtClean="0"/>
              <a:t>2</a:t>
            </a:fld>
            <a:endParaRPr lang="nl-NL"/>
          </a:p>
        </p:txBody>
      </p:sp>
    </p:spTree>
    <p:extLst>
      <p:ext uri="{BB962C8B-B14F-4D97-AF65-F5344CB8AC3E}">
        <p14:creationId xmlns:p14="http://schemas.microsoft.com/office/powerpoint/2010/main" val="3269545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DE31A-2E87-4F8E-9C08-60AB736A5534}"/>
              </a:ext>
            </a:extLst>
          </p:cNvPr>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Reading Material</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3DBC05C-E7E5-4AD4-ABEB-21FB4CACCF9E}"/>
              </a:ext>
            </a:extLst>
          </p:cNvPr>
          <p:cNvSpPr>
            <a:spLocks noGrp="1"/>
          </p:cNvSpPr>
          <p:nvPr>
            <p:ph idx="1"/>
          </p:nvPr>
        </p:nvSpPr>
        <p:spPr>
          <a:xfrm>
            <a:off x="838199" y="1825625"/>
            <a:ext cx="8343899" cy="4351338"/>
          </a:xfrm>
        </p:spPr>
        <p:txBody>
          <a:bodyPr/>
          <a:lstStyle/>
          <a:p>
            <a:r>
              <a:rPr lang="en-US" dirty="0"/>
              <a:t>Operations Management (4-th Edition) Reid Sanders</a:t>
            </a:r>
          </a:p>
          <a:p>
            <a:pPr lvl="1"/>
            <a:r>
              <a:rPr lang="en-US" b="0" i="0" dirty="0">
                <a:solidFill>
                  <a:srgbClr val="212529"/>
                </a:solidFill>
                <a:effectLst/>
                <a:latin typeface="Arial" panose="020B0604020202020204" pitchFamily="34" charset="0"/>
              </a:rPr>
              <a:t>pages 265-294 (forecasting)</a:t>
            </a:r>
            <a:endParaRPr lang="en-US" dirty="0"/>
          </a:p>
          <a:p>
            <a:r>
              <a:rPr lang="en-US" dirty="0"/>
              <a:t>A good replacement would be:</a:t>
            </a:r>
          </a:p>
          <a:p>
            <a:r>
              <a:rPr lang="nl-NL" dirty="0" err="1"/>
              <a:t>Forecasting</a:t>
            </a:r>
            <a:r>
              <a:rPr lang="nl-NL" dirty="0"/>
              <a:t>: </a:t>
            </a:r>
            <a:r>
              <a:rPr lang="nl-NL" dirty="0" err="1"/>
              <a:t>Principles</a:t>
            </a:r>
            <a:r>
              <a:rPr lang="nl-NL" dirty="0"/>
              <a:t> </a:t>
            </a:r>
            <a:r>
              <a:rPr lang="nl-NL" dirty="0" err="1"/>
              <a:t>and</a:t>
            </a:r>
            <a:r>
              <a:rPr lang="nl-NL" dirty="0"/>
              <a:t> </a:t>
            </a:r>
            <a:r>
              <a:rPr lang="nl-NL" dirty="0" err="1"/>
              <a:t>Practice</a:t>
            </a:r>
            <a:r>
              <a:rPr lang="nl-NL" dirty="0"/>
              <a:t> (2nd </a:t>
            </a:r>
            <a:r>
              <a:rPr lang="nl-NL" dirty="0" err="1"/>
              <a:t>ed</a:t>
            </a:r>
            <a:r>
              <a:rPr lang="nl-NL" dirty="0"/>
              <a:t>)</a:t>
            </a:r>
          </a:p>
          <a:p>
            <a:pPr lvl="1"/>
            <a:r>
              <a:rPr lang="nl-NL" dirty="0"/>
              <a:t>Rob J </a:t>
            </a:r>
            <a:r>
              <a:rPr lang="nl-NL" dirty="0" err="1"/>
              <a:t>Hyndman</a:t>
            </a:r>
            <a:r>
              <a:rPr lang="nl-NL" dirty="0"/>
              <a:t> </a:t>
            </a:r>
            <a:r>
              <a:rPr lang="nl-NL" dirty="0" err="1"/>
              <a:t>and</a:t>
            </a:r>
            <a:r>
              <a:rPr lang="nl-NL" dirty="0"/>
              <a:t> George </a:t>
            </a:r>
            <a:r>
              <a:rPr lang="nl-NL" dirty="0" err="1"/>
              <a:t>Athanasopoulos</a:t>
            </a:r>
            <a:endParaRPr lang="nl-NL" dirty="0"/>
          </a:p>
          <a:p>
            <a:pPr lvl="1"/>
            <a:r>
              <a:rPr lang="nl-NL" dirty="0"/>
              <a:t>Relevant </a:t>
            </a:r>
            <a:r>
              <a:rPr lang="nl-NL" dirty="0" err="1"/>
              <a:t>sections</a:t>
            </a:r>
            <a:r>
              <a:rPr lang="nl-NL" dirty="0"/>
              <a:t> </a:t>
            </a:r>
            <a:r>
              <a:rPr lang="nl-NL" dirty="0" err="1"/>
              <a:t>that</a:t>
            </a:r>
            <a:r>
              <a:rPr lang="nl-NL" dirty="0"/>
              <a:t> </a:t>
            </a:r>
            <a:r>
              <a:rPr lang="nl-NL" dirty="0" err="1"/>
              <a:t>explain</a:t>
            </a:r>
            <a:r>
              <a:rPr lang="nl-NL" dirty="0"/>
              <a:t> </a:t>
            </a:r>
            <a:r>
              <a:rPr lang="nl-NL" dirty="0" err="1"/>
              <a:t>the</a:t>
            </a:r>
            <a:r>
              <a:rPr lang="nl-NL" dirty="0"/>
              <a:t> </a:t>
            </a:r>
            <a:r>
              <a:rPr lang="nl-NL" dirty="0" err="1"/>
              <a:t>concepts</a:t>
            </a:r>
            <a:r>
              <a:rPr lang="nl-NL" dirty="0"/>
              <a:t> in </a:t>
            </a:r>
            <a:r>
              <a:rPr lang="nl-NL" dirty="0" err="1"/>
              <a:t>the</a:t>
            </a:r>
            <a:r>
              <a:rPr lang="nl-NL" dirty="0"/>
              <a:t> slides</a:t>
            </a:r>
          </a:p>
          <a:p>
            <a:pPr marL="0" indent="0">
              <a:buNone/>
            </a:pPr>
            <a:endParaRPr lang="nl-NL" dirty="0"/>
          </a:p>
        </p:txBody>
      </p:sp>
      <p:pic>
        <p:nvPicPr>
          <p:cNvPr id="1026" name="Picture 2">
            <a:extLst>
              <a:ext uri="{FF2B5EF4-FFF2-40B4-BE49-F238E27FC236}">
                <a16:creationId xmlns:a16="http://schemas.microsoft.com/office/drawing/2014/main" id="{754B7795-3308-A597-D49F-74BBC9431C9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01" t="3414" r="17802" b="8274"/>
          <a:stretch/>
        </p:blipFill>
        <p:spPr bwMode="auto">
          <a:xfrm>
            <a:off x="9182098" y="151374"/>
            <a:ext cx="2349501" cy="303076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65CC68B2-40EC-529F-579D-4C802911EA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82099" y="3225641"/>
            <a:ext cx="2349501" cy="341860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DBBFEC4D-F901-6130-F49A-474F14BFA6DC}"/>
              </a:ext>
            </a:extLst>
          </p:cNvPr>
          <p:cNvSpPr>
            <a:spLocks noGrp="1"/>
          </p:cNvSpPr>
          <p:nvPr>
            <p:ph type="sldNum" sz="quarter" idx="12"/>
          </p:nvPr>
        </p:nvSpPr>
        <p:spPr/>
        <p:txBody>
          <a:bodyPr/>
          <a:lstStyle/>
          <a:p>
            <a:fld id="{F8D8F54C-053C-4394-9990-70DE256B1A6D}" type="slidenum">
              <a:rPr lang="nl-NL" smtClean="0"/>
              <a:t>3</a:t>
            </a:fld>
            <a:endParaRPr lang="nl-NL"/>
          </a:p>
        </p:txBody>
      </p:sp>
    </p:spTree>
    <p:extLst>
      <p:ext uri="{BB962C8B-B14F-4D97-AF65-F5344CB8AC3E}">
        <p14:creationId xmlns:p14="http://schemas.microsoft.com/office/powerpoint/2010/main" val="1980164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58E363-DEF3-4AC8-A6C7-1973B994C704}"/>
              </a:ext>
            </a:extLst>
          </p:cNvPr>
          <p:cNvSpPr txBox="1">
            <a:spLocks/>
          </p:cNvSpPr>
          <p:nvPr/>
        </p:nvSpPr>
        <p:spPr>
          <a:xfrm>
            <a:off x="1202028" y="2620260"/>
            <a:ext cx="8277726" cy="609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Time Series Analysis</a:t>
            </a:r>
            <a:endParaRPr lang="nl-NL" dirty="0"/>
          </a:p>
        </p:txBody>
      </p:sp>
      <p:cxnSp>
        <p:nvCxnSpPr>
          <p:cNvPr id="3" name="Straight Connector 2">
            <a:extLst>
              <a:ext uri="{FF2B5EF4-FFF2-40B4-BE49-F238E27FC236}">
                <a16:creationId xmlns:a16="http://schemas.microsoft.com/office/drawing/2014/main" id="{3879DA28-57D8-46DC-9BF7-32D7F0AE8996}"/>
              </a:ext>
            </a:extLst>
          </p:cNvPr>
          <p:cNvCxnSpPr>
            <a:cxnSpLocks/>
          </p:cNvCxnSpPr>
          <p:nvPr/>
        </p:nvCxnSpPr>
        <p:spPr>
          <a:xfrm>
            <a:off x="1029405" y="3429000"/>
            <a:ext cx="9730554" cy="0"/>
          </a:xfrm>
          <a:prstGeom prst="line">
            <a:avLst/>
          </a:prstGeom>
          <a:ln w="95250">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p:spPr>
        <p:style>
          <a:lnRef idx="1">
            <a:schemeClr val="accent2"/>
          </a:lnRef>
          <a:fillRef idx="0">
            <a:schemeClr val="accent2"/>
          </a:fillRef>
          <a:effectRef idx="0">
            <a:schemeClr val="accent2"/>
          </a:effectRef>
          <a:fontRef idx="minor">
            <a:schemeClr val="tx1"/>
          </a:fontRef>
        </p:style>
      </p:cxnSp>
      <p:sp>
        <p:nvSpPr>
          <p:cNvPr id="4" name="Slide Number Placeholder 3">
            <a:extLst>
              <a:ext uri="{FF2B5EF4-FFF2-40B4-BE49-F238E27FC236}">
                <a16:creationId xmlns:a16="http://schemas.microsoft.com/office/drawing/2014/main" id="{FB104084-81B0-C12D-1F4B-ECEE47605317}"/>
              </a:ext>
            </a:extLst>
          </p:cNvPr>
          <p:cNvSpPr>
            <a:spLocks noGrp="1"/>
          </p:cNvSpPr>
          <p:nvPr>
            <p:ph type="sldNum" sz="quarter" idx="12"/>
          </p:nvPr>
        </p:nvSpPr>
        <p:spPr/>
        <p:txBody>
          <a:bodyPr/>
          <a:lstStyle/>
          <a:p>
            <a:fld id="{F8D8F54C-053C-4394-9990-70DE256B1A6D}" type="slidenum">
              <a:rPr lang="nl-NL" smtClean="0"/>
              <a:t>4</a:t>
            </a:fld>
            <a:endParaRPr lang="nl-NL"/>
          </a:p>
        </p:txBody>
      </p:sp>
    </p:spTree>
    <p:extLst>
      <p:ext uri="{BB962C8B-B14F-4D97-AF65-F5344CB8AC3E}">
        <p14:creationId xmlns:p14="http://schemas.microsoft.com/office/powerpoint/2010/main" val="1096741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lnSpc>
                <a:spcPct val="120000"/>
              </a:lnSpc>
            </a:pPr>
            <a:r>
              <a:rPr lang="en-US" altLang="nl-NL" dirty="0"/>
              <a:t>A </a:t>
            </a:r>
            <a:r>
              <a:rPr lang="en-US" altLang="nl-NL" b="1" dirty="0">
                <a:solidFill>
                  <a:srgbClr val="C00000"/>
                </a:solidFill>
              </a:rPr>
              <a:t>Time Series </a:t>
            </a:r>
            <a:r>
              <a:rPr lang="en-US" altLang="nl-NL" dirty="0"/>
              <a:t>is a</a:t>
            </a:r>
            <a:r>
              <a:rPr lang="en-AU" altLang="en-US" dirty="0"/>
              <a:t> set of observations measured at specified, usually equal, time intervals</a:t>
            </a:r>
          </a:p>
          <a:p>
            <a:pPr>
              <a:lnSpc>
                <a:spcPct val="120000"/>
              </a:lnSpc>
            </a:pPr>
            <a:r>
              <a:rPr lang="en-US" altLang="nl-NL" dirty="0"/>
              <a:t>Adjacent observations are dependent</a:t>
            </a:r>
          </a:p>
          <a:p>
            <a:pPr lvl="2"/>
            <a:endParaRPr lang="en-US" altLang="nl-NL" dirty="0"/>
          </a:p>
        </p:txBody>
      </p:sp>
      <p:grpSp>
        <p:nvGrpSpPr>
          <p:cNvPr id="8" name="Group 7">
            <a:extLst>
              <a:ext uri="{FF2B5EF4-FFF2-40B4-BE49-F238E27FC236}">
                <a16:creationId xmlns:a16="http://schemas.microsoft.com/office/drawing/2014/main" id="{220BE9D1-FC7A-CBDB-2BF4-9E568E697548}"/>
              </a:ext>
            </a:extLst>
          </p:cNvPr>
          <p:cNvGrpSpPr>
            <a:grpSpLocks noChangeAspect="1"/>
          </p:cNvGrpSpPr>
          <p:nvPr/>
        </p:nvGrpSpPr>
        <p:grpSpPr>
          <a:xfrm>
            <a:off x="4071000" y="3514675"/>
            <a:ext cx="7282800" cy="3239427"/>
            <a:chOff x="863962" y="261259"/>
            <a:chExt cx="10707168" cy="4762604"/>
          </a:xfrm>
        </p:grpSpPr>
        <p:pic>
          <p:nvPicPr>
            <p:cNvPr id="9" name="Picture 8">
              <a:extLst>
                <a:ext uri="{FF2B5EF4-FFF2-40B4-BE49-F238E27FC236}">
                  <a16:creationId xmlns:a16="http://schemas.microsoft.com/office/drawing/2014/main" id="{70579399-639B-B2EC-CD1F-A0AFF7EC03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962" y="261259"/>
              <a:ext cx="10707168" cy="4762604"/>
            </a:xfrm>
            <a:prstGeom prst="rect">
              <a:avLst/>
            </a:prstGeom>
          </p:spPr>
        </p:pic>
        <p:sp>
          <p:nvSpPr>
            <p:cNvPr id="10" name="Oval 9">
              <a:extLst>
                <a:ext uri="{FF2B5EF4-FFF2-40B4-BE49-F238E27FC236}">
                  <a16:creationId xmlns:a16="http://schemas.microsoft.com/office/drawing/2014/main" id="{18AA1132-FFF9-A9E8-9BC8-6BA49826C743}"/>
                </a:ext>
              </a:extLst>
            </p:cNvPr>
            <p:cNvSpPr/>
            <p:nvPr/>
          </p:nvSpPr>
          <p:spPr>
            <a:xfrm>
              <a:off x="3282462" y="729388"/>
              <a:ext cx="562989" cy="31652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71EABF8D-26FB-7A1A-5E44-5B0202E09C14}"/>
                </a:ext>
              </a:extLst>
            </p:cNvPr>
            <p:cNvSpPr/>
            <p:nvPr/>
          </p:nvSpPr>
          <p:spPr>
            <a:xfrm>
              <a:off x="5650725" y="2399935"/>
              <a:ext cx="562989" cy="31652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80AF230-F2FF-E4D7-219D-428F86877387}"/>
                </a:ext>
              </a:extLst>
            </p:cNvPr>
            <p:cNvSpPr/>
            <p:nvPr/>
          </p:nvSpPr>
          <p:spPr>
            <a:xfrm>
              <a:off x="6168251" y="2328558"/>
              <a:ext cx="562989" cy="31652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865C8C0-D3B4-5F6F-DA63-E33B468033A3}"/>
                </a:ext>
              </a:extLst>
            </p:cNvPr>
            <p:cNvSpPr/>
            <p:nvPr/>
          </p:nvSpPr>
          <p:spPr>
            <a:xfrm>
              <a:off x="7368114" y="1549007"/>
              <a:ext cx="562989" cy="31652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FC08BF9-1D7F-7F97-C64E-E74BDD599311}"/>
                </a:ext>
              </a:extLst>
            </p:cNvPr>
            <p:cNvSpPr/>
            <p:nvPr/>
          </p:nvSpPr>
          <p:spPr>
            <a:xfrm>
              <a:off x="9747017" y="2275641"/>
              <a:ext cx="424369" cy="684646"/>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itle 1">
            <a:extLst>
              <a:ext uri="{FF2B5EF4-FFF2-40B4-BE49-F238E27FC236}">
                <a16:creationId xmlns:a16="http://schemas.microsoft.com/office/drawing/2014/main" id="{48360AD1-D382-B922-A55D-4651493B4CAE}"/>
              </a:ext>
            </a:extLst>
          </p:cNvPr>
          <p:cNvSpPr txBox="1">
            <a:spLocks/>
          </p:cNvSpPr>
          <p:nvPr/>
        </p:nvSpPr>
        <p:spPr>
          <a:xfrm>
            <a:off x="46673" y="4682168"/>
            <a:ext cx="4259149" cy="7896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nl-NL" sz="2800" dirty="0">
                <a:latin typeface="+mn-lt"/>
                <a:ea typeface="+mn-ea"/>
                <a:cs typeface="+mn-cs"/>
              </a:rPr>
              <a:t>Oil Price in Ecuador 2013 </a:t>
            </a:r>
            <a:endParaRPr lang="en-US" sz="2800" dirty="0">
              <a:latin typeface="+mn-lt"/>
              <a:ea typeface="+mn-ea"/>
              <a:cs typeface="+mn-cs"/>
            </a:endParaRPr>
          </a:p>
        </p:txBody>
      </p:sp>
      <p:sp>
        <p:nvSpPr>
          <p:cNvPr id="4" name="Slide Number Placeholder 3">
            <a:extLst>
              <a:ext uri="{FF2B5EF4-FFF2-40B4-BE49-F238E27FC236}">
                <a16:creationId xmlns:a16="http://schemas.microsoft.com/office/drawing/2014/main" id="{CC9E6206-9D83-0BA9-8E70-4A5E88E6385A}"/>
              </a:ext>
            </a:extLst>
          </p:cNvPr>
          <p:cNvSpPr>
            <a:spLocks noGrp="1"/>
          </p:cNvSpPr>
          <p:nvPr>
            <p:ph type="sldNum" sz="quarter" idx="12"/>
          </p:nvPr>
        </p:nvSpPr>
        <p:spPr/>
        <p:txBody>
          <a:bodyPr/>
          <a:lstStyle/>
          <a:p>
            <a:fld id="{F8D8F54C-053C-4394-9990-70DE256B1A6D}" type="slidenum">
              <a:rPr lang="nl-NL" smtClean="0"/>
              <a:t>5</a:t>
            </a:fld>
            <a:endParaRPr lang="nl-NL"/>
          </a:p>
        </p:txBody>
      </p:sp>
    </p:spTree>
    <p:extLst>
      <p:ext uri="{BB962C8B-B14F-4D97-AF65-F5344CB8AC3E}">
        <p14:creationId xmlns:p14="http://schemas.microsoft.com/office/powerpoint/2010/main" val="2230743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CE69B6-249E-767B-4F44-18AD25F98A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9127" y="404078"/>
            <a:ext cx="7453745" cy="5399421"/>
          </a:xfrm>
          <a:prstGeom prst="rect">
            <a:avLst/>
          </a:prstGeom>
        </p:spPr>
      </p:pic>
      <p:sp>
        <p:nvSpPr>
          <p:cNvPr id="6" name="Title 1">
            <a:extLst>
              <a:ext uri="{FF2B5EF4-FFF2-40B4-BE49-F238E27FC236}">
                <a16:creationId xmlns:a16="http://schemas.microsoft.com/office/drawing/2014/main" id="{28372883-F0B2-1592-2FC9-B36D6FFCC5D6}"/>
              </a:ext>
            </a:extLst>
          </p:cNvPr>
          <p:cNvSpPr txBox="1">
            <a:spLocks/>
          </p:cNvSpPr>
          <p:nvPr/>
        </p:nvSpPr>
        <p:spPr>
          <a:xfrm>
            <a:off x="3966424" y="5913631"/>
            <a:ext cx="4259149" cy="7896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nl-NL" sz="2800" dirty="0">
                <a:latin typeface="+mn-lt"/>
                <a:ea typeface="+mn-ea"/>
                <a:cs typeface="+mn-cs"/>
              </a:rPr>
              <a:t>Car Sales Dataset</a:t>
            </a:r>
            <a:endParaRPr lang="en-US" sz="2800" dirty="0">
              <a:latin typeface="+mn-lt"/>
              <a:ea typeface="+mn-ea"/>
              <a:cs typeface="+mn-cs"/>
            </a:endParaRPr>
          </a:p>
        </p:txBody>
      </p:sp>
      <p:sp>
        <p:nvSpPr>
          <p:cNvPr id="2" name="Slide Number Placeholder 1">
            <a:extLst>
              <a:ext uri="{FF2B5EF4-FFF2-40B4-BE49-F238E27FC236}">
                <a16:creationId xmlns:a16="http://schemas.microsoft.com/office/drawing/2014/main" id="{6BFC9CA3-BC8C-E40A-CA51-019E418B03F9}"/>
              </a:ext>
            </a:extLst>
          </p:cNvPr>
          <p:cNvSpPr>
            <a:spLocks noGrp="1"/>
          </p:cNvSpPr>
          <p:nvPr>
            <p:ph type="sldNum" sz="quarter" idx="12"/>
          </p:nvPr>
        </p:nvSpPr>
        <p:spPr/>
        <p:txBody>
          <a:bodyPr/>
          <a:lstStyle/>
          <a:p>
            <a:fld id="{F8D8F54C-053C-4394-9990-70DE256B1A6D}" type="slidenum">
              <a:rPr lang="nl-NL" smtClean="0"/>
              <a:t>6</a:t>
            </a:fld>
            <a:endParaRPr lang="nl-NL"/>
          </a:p>
        </p:txBody>
      </p:sp>
    </p:spTree>
    <p:extLst>
      <p:ext uri="{BB962C8B-B14F-4D97-AF65-F5344CB8AC3E}">
        <p14:creationId xmlns:p14="http://schemas.microsoft.com/office/powerpoint/2010/main" val="42647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 Examples</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371600"/>
            <a:ext cx="10515600" cy="5121275"/>
          </a:xfrm>
        </p:spPr>
        <p:txBody>
          <a:bodyPr>
            <a:normAutofit/>
          </a:bodyPr>
          <a:lstStyle/>
          <a:p>
            <a:r>
              <a:rPr lang="en-AU" altLang="en-US" dirty="0"/>
              <a:t>Sales data</a:t>
            </a:r>
          </a:p>
          <a:p>
            <a:r>
              <a:rPr lang="en-AU" altLang="en-US" dirty="0"/>
              <a:t>Gross national product</a:t>
            </a:r>
          </a:p>
          <a:p>
            <a:r>
              <a:rPr lang="en-AU" altLang="en-US" dirty="0"/>
              <a:t>Share prices</a:t>
            </a:r>
          </a:p>
          <a:p>
            <a:r>
              <a:rPr lang="en-AU" altLang="en-US" dirty="0"/>
              <a:t>Euro-to-Dollar Exchange rate</a:t>
            </a:r>
          </a:p>
          <a:p>
            <a:r>
              <a:rPr lang="en-AU" altLang="en-US" dirty="0"/>
              <a:t>Unemployment rates</a:t>
            </a:r>
          </a:p>
          <a:p>
            <a:r>
              <a:rPr lang="en-AU" altLang="en-US" dirty="0"/>
              <a:t>Population</a:t>
            </a:r>
          </a:p>
          <a:p>
            <a:r>
              <a:rPr lang="en-AU" altLang="en-US" dirty="0"/>
              <a:t>Interest rates</a:t>
            </a:r>
          </a:p>
          <a:p>
            <a:r>
              <a:rPr lang="en-AU" altLang="en-US" dirty="0"/>
              <a:t>Weather readings: temperature, humidity and wind speed</a:t>
            </a:r>
          </a:p>
          <a:p>
            <a:r>
              <a:rPr lang="en-AU" altLang="en-US" dirty="0"/>
              <a:t>… </a:t>
            </a:r>
          </a:p>
        </p:txBody>
      </p:sp>
      <p:sp>
        <p:nvSpPr>
          <p:cNvPr id="4" name="Slide Number Placeholder 3">
            <a:extLst>
              <a:ext uri="{FF2B5EF4-FFF2-40B4-BE49-F238E27FC236}">
                <a16:creationId xmlns:a16="http://schemas.microsoft.com/office/drawing/2014/main" id="{059FCDE8-BC2A-9934-8B2B-9B1EFDF171B8}"/>
              </a:ext>
            </a:extLst>
          </p:cNvPr>
          <p:cNvSpPr>
            <a:spLocks noGrp="1"/>
          </p:cNvSpPr>
          <p:nvPr>
            <p:ph type="sldNum" sz="quarter" idx="12"/>
          </p:nvPr>
        </p:nvSpPr>
        <p:spPr/>
        <p:txBody>
          <a:bodyPr/>
          <a:lstStyle/>
          <a:p>
            <a:fld id="{F8D8F54C-053C-4394-9990-70DE256B1A6D}" type="slidenum">
              <a:rPr lang="nl-NL" smtClean="0"/>
              <a:t>7</a:t>
            </a:fld>
            <a:endParaRPr lang="nl-NL"/>
          </a:p>
        </p:txBody>
      </p:sp>
    </p:spTree>
    <p:extLst>
      <p:ext uri="{BB962C8B-B14F-4D97-AF65-F5344CB8AC3E}">
        <p14:creationId xmlns:p14="http://schemas.microsoft.com/office/powerpoint/2010/main" val="572099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 Analysis</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lnSpc>
                <a:spcPct val="120000"/>
              </a:lnSpc>
            </a:pPr>
            <a:r>
              <a:rPr lang="en-US" altLang="nl-NL" dirty="0"/>
              <a:t>Adjacent observations in a time series are dependent</a:t>
            </a:r>
          </a:p>
          <a:p>
            <a:pPr>
              <a:lnSpc>
                <a:spcPct val="120000"/>
              </a:lnSpc>
            </a:pPr>
            <a:r>
              <a:rPr lang="en-AU" altLang="en-US" dirty="0"/>
              <a:t>Time series analysis attempts to identify the factors that exert influence on the values in the series</a:t>
            </a:r>
          </a:p>
          <a:p>
            <a:pPr lvl="1">
              <a:lnSpc>
                <a:spcPct val="120000"/>
              </a:lnSpc>
            </a:pPr>
            <a:r>
              <a:rPr lang="en-AU" altLang="en-US" dirty="0"/>
              <a:t>Concerned with techniques for the analysis of dependence between the observations</a:t>
            </a:r>
          </a:p>
          <a:p>
            <a:pPr>
              <a:lnSpc>
                <a:spcPct val="120000"/>
              </a:lnSpc>
            </a:pPr>
            <a:endParaRPr lang="en-US" altLang="nl-NL" dirty="0"/>
          </a:p>
          <a:p>
            <a:pPr lvl="2"/>
            <a:endParaRPr lang="en-US" altLang="nl-NL" dirty="0"/>
          </a:p>
        </p:txBody>
      </p:sp>
      <p:sp>
        <p:nvSpPr>
          <p:cNvPr id="4" name="Slide Number Placeholder 3">
            <a:extLst>
              <a:ext uri="{FF2B5EF4-FFF2-40B4-BE49-F238E27FC236}">
                <a16:creationId xmlns:a16="http://schemas.microsoft.com/office/drawing/2014/main" id="{277D3CD7-D36C-C09D-52E7-84C224956818}"/>
              </a:ext>
            </a:extLst>
          </p:cNvPr>
          <p:cNvSpPr>
            <a:spLocks noGrp="1"/>
          </p:cNvSpPr>
          <p:nvPr>
            <p:ph type="sldNum" sz="quarter" idx="12"/>
          </p:nvPr>
        </p:nvSpPr>
        <p:spPr/>
        <p:txBody>
          <a:bodyPr/>
          <a:lstStyle/>
          <a:p>
            <a:fld id="{F8D8F54C-053C-4394-9990-70DE256B1A6D}" type="slidenum">
              <a:rPr lang="nl-NL" smtClean="0"/>
              <a:t>8</a:t>
            </a:fld>
            <a:endParaRPr lang="nl-NL"/>
          </a:p>
        </p:txBody>
      </p:sp>
    </p:spTree>
    <p:extLst>
      <p:ext uri="{BB962C8B-B14F-4D97-AF65-F5344CB8AC3E}">
        <p14:creationId xmlns:p14="http://schemas.microsoft.com/office/powerpoint/2010/main" val="1020973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 Analysis</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371600"/>
            <a:ext cx="10515600" cy="5121275"/>
          </a:xfrm>
        </p:spPr>
        <p:txBody>
          <a:bodyPr>
            <a:normAutofit/>
          </a:bodyPr>
          <a:lstStyle/>
          <a:p>
            <a:pPr>
              <a:lnSpc>
                <a:spcPct val="120000"/>
              </a:lnSpc>
            </a:pPr>
            <a:r>
              <a:rPr lang="en-AU" altLang="en-US" dirty="0"/>
              <a:t>Areas of application</a:t>
            </a:r>
          </a:p>
          <a:p>
            <a:pPr lvl="1">
              <a:lnSpc>
                <a:spcPct val="120000"/>
              </a:lnSpc>
            </a:pPr>
            <a:r>
              <a:rPr lang="en-AU" altLang="en-US" dirty="0"/>
              <a:t>Forecasting </a:t>
            </a:r>
          </a:p>
          <a:p>
            <a:pPr lvl="2">
              <a:lnSpc>
                <a:spcPct val="120000"/>
              </a:lnSpc>
            </a:pPr>
            <a:r>
              <a:rPr lang="en-AU" altLang="en-US" dirty="0"/>
              <a:t>Industry and government must forecast future activity to make decisions and plans to meet projected changes</a:t>
            </a:r>
          </a:p>
          <a:p>
            <a:pPr lvl="1">
              <a:lnSpc>
                <a:spcPct val="120000"/>
              </a:lnSpc>
            </a:pPr>
            <a:r>
              <a:rPr lang="en-AU" altLang="en-US" dirty="0"/>
              <a:t>Determining the transfer function of a system</a:t>
            </a:r>
          </a:p>
          <a:p>
            <a:pPr lvl="2">
              <a:lnSpc>
                <a:spcPct val="120000"/>
              </a:lnSpc>
            </a:pPr>
            <a:r>
              <a:rPr lang="en-AU" altLang="en-US" dirty="0"/>
              <a:t>Determining the effect of any given series of inputs on the output of a system</a:t>
            </a:r>
          </a:p>
          <a:p>
            <a:pPr lvl="1">
              <a:lnSpc>
                <a:spcPct val="120000"/>
              </a:lnSpc>
            </a:pPr>
            <a:r>
              <a:rPr lang="en-AU" altLang="en-US" dirty="0"/>
              <a:t>Using indicator input variables in transfer function</a:t>
            </a:r>
          </a:p>
          <a:p>
            <a:pPr lvl="2">
              <a:lnSpc>
                <a:spcPct val="120000"/>
              </a:lnSpc>
            </a:pPr>
            <a:r>
              <a:rPr lang="en-AU" altLang="en-US" dirty="0"/>
              <a:t>Assess the effects of unusual intervention events on the </a:t>
            </a:r>
            <a:r>
              <a:rPr lang="en-AU" altLang="en-US" dirty="0" err="1"/>
              <a:t>behavior</a:t>
            </a:r>
            <a:r>
              <a:rPr lang="en-AU" altLang="en-US" dirty="0"/>
              <a:t> of a time series</a:t>
            </a:r>
          </a:p>
          <a:p>
            <a:pPr lvl="1">
              <a:lnSpc>
                <a:spcPct val="120000"/>
              </a:lnSpc>
            </a:pPr>
            <a:r>
              <a:rPr lang="en-AU" altLang="en-US" dirty="0"/>
              <a:t>Examining the interrelationships among several related time series variables</a:t>
            </a:r>
          </a:p>
        </p:txBody>
      </p:sp>
      <p:sp>
        <p:nvSpPr>
          <p:cNvPr id="4" name="Slide Number Placeholder 3">
            <a:extLst>
              <a:ext uri="{FF2B5EF4-FFF2-40B4-BE49-F238E27FC236}">
                <a16:creationId xmlns:a16="http://schemas.microsoft.com/office/drawing/2014/main" id="{86C55E9C-1660-B828-D83E-085C3F405A10}"/>
              </a:ext>
            </a:extLst>
          </p:cNvPr>
          <p:cNvSpPr>
            <a:spLocks noGrp="1"/>
          </p:cNvSpPr>
          <p:nvPr>
            <p:ph type="sldNum" sz="quarter" idx="12"/>
          </p:nvPr>
        </p:nvSpPr>
        <p:spPr/>
        <p:txBody>
          <a:bodyPr/>
          <a:lstStyle/>
          <a:p>
            <a:fld id="{F8D8F54C-053C-4394-9990-70DE256B1A6D}" type="slidenum">
              <a:rPr lang="nl-NL" smtClean="0"/>
              <a:t>9</a:t>
            </a:fld>
            <a:endParaRPr lang="nl-NL"/>
          </a:p>
        </p:txBody>
      </p:sp>
    </p:spTree>
    <p:extLst>
      <p:ext uri="{BB962C8B-B14F-4D97-AF65-F5344CB8AC3E}">
        <p14:creationId xmlns:p14="http://schemas.microsoft.com/office/powerpoint/2010/main" val="938873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 Components</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r>
              <a:rPr lang="en-US" altLang="nl-NL" dirty="0"/>
              <a:t>Can be broken into these four components:</a:t>
            </a:r>
          </a:p>
          <a:p>
            <a:pPr lvl="1"/>
            <a:r>
              <a:rPr lang="en-US" altLang="nl-NL" dirty="0"/>
              <a:t>Trend</a:t>
            </a:r>
          </a:p>
          <a:p>
            <a:pPr lvl="1"/>
            <a:r>
              <a:rPr lang="en-US" altLang="nl-NL" dirty="0"/>
              <a:t>Seasonal variation</a:t>
            </a:r>
          </a:p>
          <a:p>
            <a:pPr lvl="1"/>
            <a:r>
              <a:rPr lang="en-US" altLang="nl-NL" dirty="0"/>
              <a:t>Cyclical variation</a:t>
            </a:r>
          </a:p>
          <a:p>
            <a:pPr lvl="1"/>
            <a:r>
              <a:rPr lang="en-US" altLang="nl-NL" dirty="0"/>
              <a:t>Irregular variation</a:t>
            </a:r>
          </a:p>
        </p:txBody>
      </p:sp>
      <p:sp>
        <p:nvSpPr>
          <p:cNvPr id="4" name="Slide Number Placeholder 3">
            <a:extLst>
              <a:ext uri="{FF2B5EF4-FFF2-40B4-BE49-F238E27FC236}">
                <a16:creationId xmlns:a16="http://schemas.microsoft.com/office/drawing/2014/main" id="{F243AFD7-050A-BC9F-89B1-97E02F0A4253}"/>
              </a:ext>
            </a:extLst>
          </p:cNvPr>
          <p:cNvSpPr>
            <a:spLocks noGrp="1"/>
          </p:cNvSpPr>
          <p:nvPr>
            <p:ph type="sldNum" sz="quarter" idx="12"/>
          </p:nvPr>
        </p:nvSpPr>
        <p:spPr/>
        <p:txBody>
          <a:bodyPr/>
          <a:lstStyle/>
          <a:p>
            <a:fld id="{F8D8F54C-053C-4394-9990-70DE256B1A6D}" type="slidenum">
              <a:rPr lang="nl-NL" smtClean="0"/>
              <a:t>10</a:t>
            </a:fld>
            <a:endParaRPr lang="nl-NL"/>
          </a:p>
        </p:txBody>
      </p:sp>
    </p:spTree>
    <p:extLst>
      <p:ext uri="{BB962C8B-B14F-4D97-AF65-F5344CB8AC3E}">
        <p14:creationId xmlns:p14="http://schemas.microsoft.com/office/powerpoint/2010/main" val="2970839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13B53F-35D6-F747-9A9E-E08F9CA11472}"/>
              </a:ext>
            </a:extLst>
          </p:cNvPr>
          <p:cNvSpPr>
            <a:spLocks noGrp="1"/>
          </p:cNvSpPr>
          <p:nvPr>
            <p:ph type="title"/>
          </p:nvPr>
        </p:nvSpPr>
        <p:spPr/>
        <p:txBody>
          <a:bodyPr>
            <a:noAutofit/>
          </a:bodyPr>
          <a:lstStyle/>
          <a:p>
            <a:r>
              <a:rPr lang="en-US" altLang="nl-NL" sz="3200" b="1" dirty="0">
                <a:latin typeface="Times New Roman" panose="02020603050405020304" pitchFamily="18" charset="0"/>
                <a:cs typeface="Times New Roman" panose="02020603050405020304" pitchFamily="18" charset="0"/>
              </a:rPr>
              <a:t>Time Series Components</a:t>
            </a:r>
            <a:endParaRPr lang="nl-NL" sz="3200" b="1" dirty="0">
              <a:latin typeface="Times New Roman" panose="02020603050405020304" pitchFamily="18" charset="0"/>
              <a:cs typeface="Times New Roman" panose="02020603050405020304" pitchFamily="18" charset="0"/>
            </a:endParaRPr>
          </a:p>
        </p:txBody>
      </p:sp>
      <p:grpSp>
        <p:nvGrpSpPr>
          <p:cNvPr id="57" name="Group 56">
            <a:extLst>
              <a:ext uri="{FF2B5EF4-FFF2-40B4-BE49-F238E27FC236}">
                <a16:creationId xmlns:a16="http://schemas.microsoft.com/office/drawing/2014/main" id="{8FB3E5AD-CB88-B651-79C4-D847A6507945}"/>
              </a:ext>
            </a:extLst>
          </p:cNvPr>
          <p:cNvGrpSpPr/>
          <p:nvPr/>
        </p:nvGrpSpPr>
        <p:grpSpPr>
          <a:xfrm>
            <a:off x="2573619" y="2602818"/>
            <a:ext cx="7506178" cy="2564004"/>
            <a:chOff x="899507" y="4712037"/>
            <a:chExt cx="7506178" cy="2564004"/>
          </a:xfrm>
        </p:grpSpPr>
        <p:sp>
          <p:nvSpPr>
            <p:cNvPr id="9" name="Freeform 22">
              <a:extLst>
                <a:ext uri="{FF2B5EF4-FFF2-40B4-BE49-F238E27FC236}">
                  <a16:creationId xmlns:a16="http://schemas.microsoft.com/office/drawing/2014/main" id="{BFDFEE37-1FFC-BB4D-A8A4-A609C5423D67}"/>
                </a:ext>
              </a:extLst>
            </p:cNvPr>
            <p:cNvSpPr>
              <a:spLocks/>
            </p:cNvSpPr>
            <p:nvPr/>
          </p:nvSpPr>
          <p:spPr bwMode="auto">
            <a:xfrm>
              <a:off x="899507" y="4712037"/>
              <a:ext cx="7506178" cy="1893770"/>
            </a:xfrm>
            <a:custGeom>
              <a:avLst/>
              <a:gdLst>
                <a:gd name="T0" fmla="*/ 62 w 4321"/>
                <a:gd name="T1" fmla="*/ 925 h 1046"/>
                <a:gd name="T2" fmla="*/ 137 w 4321"/>
                <a:gd name="T3" fmla="*/ 713 h 1046"/>
                <a:gd name="T4" fmla="*/ 205 w 4321"/>
                <a:gd name="T5" fmla="*/ 650 h 1046"/>
                <a:gd name="T6" fmla="*/ 280 w 4321"/>
                <a:gd name="T7" fmla="*/ 721 h 1046"/>
                <a:gd name="T8" fmla="*/ 348 w 4321"/>
                <a:gd name="T9" fmla="*/ 452 h 1046"/>
                <a:gd name="T10" fmla="*/ 423 w 4321"/>
                <a:gd name="T11" fmla="*/ 643 h 1046"/>
                <a:gd name="T12" fmla="*/ 492 w 4321"/>
                <a:gd name="T13" fmla="*/ 466 h 1046"/>
                <a:gd name="T14" fmla="*/ 567 w 4321"/>
                <a:gd name="T15" fmla="*/ 466 h 1046"/>
                <a:gd name="T16" fmla="*/ 635 w 4321"/>
                <a:gd name="T17" fmla="*/ 593 h 1046"/>
                <a:gd name="T18" fmla="*/ 710 w 4321"/>
                <a:gd name="T19" fmla="*/ 396 h 1046"/>
                <a:gd name="T20" fmla="*/ 778 w 4321"/>
                <a:gd name="T21" fmla="*/ 643 h 1046"/>
                <a:gd name="T22" fmla="*/ 853 w 4321"/>
                <a:gd name="T23" fmla="*/ 530 h 1046"/>
                <a:gd name="T24" fmla="*/ 922 w 4321"/>
                <a:gd name="T25" fmla="*/ 586 h 1046"/>
                <a:gd name="T26" fmla="*/ 990 w 4321"/>
                <a:gd name="T27" fmla="*/ 756 h 1046"/>
                <a:gd name="T28" fmla="*/ 1065 w 4321"/>
                <a:gd name="T29" fmla="*/ 593 h 1046"/>
                <a:gd name="T30" fmla="*/ 1133 w 4321"/>
                <a:gd name="T31" fmla="*/ 869 h 1046"/>
                <a:gd name="T32" fmla="*/ 1208 w 4321"/>
                <a:gd name="T33" fmla="*/ 763 h 1046"/>
                <a:gd name="T34" fmla="*/ 1277 w 4321"/>
                <a:gd name="T35" fmla="*/ 834 h 1046"/>
                <a:gd name="T36" fmla="*/ 1352 w 4321"/>
                <a:gd name="T37" fmla="*/ 975 h 1046"/>
                <a:gd name="T38" fmla="*/ 1420 w 4321"/>
                <a:gd name="T39" fmla="*/ 791 h 1046"/>
                <a:gd name="T40" fmla="*/ 1495 w 4321"/>
                <a:gd name="T41" fmla="*/ 1031 h 1046"/>
                <a:gd name="T42" fmla="*/ 1563 w 4321"/>
                <a:gd name="T43" fmla="*/ 869 h 1046"/>
                <a:gd name="T44" fmla="*/ 1638 w 4321"/>
                <a:gd name="T45" fmla="*/ 890 h 1046"/>
                <a:gd name="T46" fmla="*/ 1707 w 4321"/>
                <a:gd name="T47" fmla="*/ 968 h 1046"/>
                <a:gd name="T48" fmla="*/ 1782 w 4321"/>
                <a:gd name="T49" fmla="*/ 728 h 1046"/>
                <a:gd name="T50" fmla="*/ 1850 w 4321"/>
                <a:gd name="T51" fmla="*/ 904 h 1046"/>
                <a:gd name="T52" fmla="*/ 1918 w 4321"/>
                <a:gd name="T53" fmla="*/ 678 h 1046"/>
                <a:gd name="T54" fmla="*/ 1993 w 4321"/>
                <a:gd name="T55" fmla="*/ 650 h 1046"/>
                <a:gd name="T56" fmla="*/ 2061 w 4321"/>
                <a:gd name="T57" fmla="*/ 678 h 1046"/>
                <a:gd name="T58" fmla="*/ 2136 w 4321"/>
                <a:gd name="T59" fmla="*/ 396 h 1046"/>
                <a:gd name="T60" fmla="*/ 2205 w 4321"/>
                <a:gd name="T61" fmla="*/ 551 h 1046"/>
                <a:gd name="T62" fmla="*/ 2280 w 4321"/>
                <a:gd name="T63" fmla="*/ 304 h 1046"/>
                <a:gd name="T64" fmla="*/ 2348 w 4321"/>
                <a:gd name="T65" fmla="*/ 290 h 1046"/>
                <a:gd name="T66" fmla="*/ 2423 w 4321"/>
                <a:gd name="T67" fmla="*/ 318 h 1046"/>
                <a:gd name="T68" fmla="*/ 2491 w 4321"/>
                <a:gd name="T69" fmla="*/ 71 h 1046"/>
                <a:gd name="T70" fmla="*/ 2566 w 4321"/>
                <a:gd name="T71" fmla="*/ 269 h 1046"/>
                <a:gd name="T72" fmla="*/ 2635 w 4321"/>
                <a:gd name="T73" fmla="*/ 64 h 1046"/>
                <a:gd name="T74" fmla="*/ 2710 w 4321"/>
                <a:gd name="T75" fmla="*/ 113 h 1046"/>
                <a:gd name="T76" fmla="*/ 2778 w 4321"/>
                <a:gd name="T77" fmla="*/ 198 h 1046"/>
                <a:gd name="T78" fmla="*/ 2846 w 4321"/>
                <a:gd name="T79" fmla="*/ 14 h 1046"/>
                <a:gd name="T80" fmla="*/ 2921 w 4321"/>
                <a:gd name="T81" fmla="*/ 276 h 1046"/>
                <a:gd name="T82" fmla="*/ 2990 w 4321"/>
                <a:gd name="T83" fmla="*/ 127 h 1046"/>
                <a:gd name="T84" fmla="*/ 3065 w 4321"/>
                <a:gd name="T85" fmla="*/ 233 h 1046"/>
                <a:gd name="T86" fmla="*/ 3133 w 4321"/>
                <a:gd name="T87" fmla="*/ 360 h 1046"/>
                <a:gd name="T88" fmla="*/ 3208 w 4321"/>
                <a:gd name="T89" fmla="*/ 219 h 1046"/>
                <a:gd name="T90" fmla="*/ 3276 w 4321"/>
                <a:gd name="T91" fmla="*/ 502 h 1046"/>
                <a:gd name="T92" fmla="*/ 3351 w 4321"/>
                <a:gd name="T93" fmla="*/ 360 h 1046"/>
                <a:gd name="T94" fmla="*/ 3420 w 4321"/>
                <a:gd name="T95" fmla="*/ 480 h 1046"/>
                <a:gd name="T96" fmla="*/ 3495 w 4321"/>
                <a:gd name="T97" fmla="*/ 579 h 1046"/>
                <a:gd name="T98" fmla="*/ 3563 w 4321"/>
                <a:gd name="T99" fmla="*/ 417 h 1046"/>
                <a:gd name="T100" fmla="*/ 3638 w 4321"/>
                <a:gd name="T101" fmla="*/ 664 h 1046"/>
                <a:gd name="T102" fmla="*/ 3706 w 4321"/>
                <a:gd name="T103" fmla="*/ 466 h 1046"/>
                <a:gd name="T104" fmla="*/ 3774 w 4321"/>
                <a:gd name="T105" fmla="*/ 537 h 1046"/>
                <a:gd name="T106" fmla="*/ 3850 w 4321"/>
                <a:gd name="T107" fmla="*/ 565 h 1046"/>
                <a:gd name="T108" fmla="*/ 3918 w 4321"/>
                <a:gd name="T109" fmla="*/ 346 h 1046"/>
                <a:gd name="T110" fmla="*/ 3993 w 4321"/>
                <a:gd name="T111" fmla="*/ 530 h 1046"/>
                <a:gd name="T112" fmla="*/ 4061 w 4321"/>
                <a:gd name="T113" fmla="*/ 269 h 1046"/>
                <a:gd name="T114" fmla="*/ 4136 w 4321"/>
                <a:gd name="T115" fmla="*/ 290 h 1046"/>
                <a:gd name="T116" fmla="*/ 4204 w 4321"/>
                <a:gd name="T117" fmla="*/ 269 h 1046"/>
                <a:gd name="T118" fmla="*/ 4279 w 4321"/>
                <a:gd name="T119" fmla="*/ 14 h 104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4321"/>
                <a:gd name="T181" fmla="*/ 0 h 1046"/>
                <a:gd name="T182" fmla="*/ 4321 w 4321"/>
                <a:gd name="T183" fmla="*/ 1046 h 104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4321" h="1046">
                  <a:moveTo>
                    <a:pt x="0" y="777"/>
                  </a:moveTo>
                  <a:lnTo>
                    <a:pt x="14" y="791"/>
                  </a:lnTo>
                  <a:lnTo>
                    <a:pt x="21" y="812"/>
                  </a:lnTo>
                  <a:lnTo>
                    <a:pt x="34" y="848"/>
                  </a:lnTo>
                  <a:lnTo>
                    <a:pt x="41" y="876"/>
                  </a:lnTo>
                  <a:lnTo>
                    <a:pt x="55" y="904"/>
                  </a:lnTo>
                  <a:lnTo>
                    <a:pt x="62" y="925"/>
                  </a:lnTo>
                  <a:lnTo>
                    <a:pt x="75" y="932"/>
                  </a:lnTo>
                  <a:lnTo>
                    <a:pt x="82" y="925"/>
                  </a:lnTo>
                  <a:lnTo>
                    <a:pt x="96" y="904"/>
                  </a:lnTo>
                  <a:lnTo>
                    <a:pt x="103" y="869"/>
                  </a:lnTo>
                  <a:lnTo>
                    <a:pt x="116" y="819"/>
                  </a:lnTo>
                  <a:lnTo>
                    <a:pt x="123" y="770"/>
                  </a:lnTo>
                  <a:lnTo>
                    <a:pt x="137" y="713"/>
                  </a:lnTo>
                  <a:lnTo>
                    <a:pt x="144" y="671"/>
                  </a:lnTo>
                  <a:lnTo>
                    <a:pt x="157" y="629"/>
                  </a:lnTo>
                  <a:lnTo>
                    <a:pt x="164" y="608"/>
                  </a:lnTo>
                  <a:lnTo>
                    <a:pt x="178" y="593"/>
                  </a:lnTo>
                  <a:lnTo>
                    <a:pt x="185" y="600"/>
                  </a:lnTo>
                  <a:lnTo>
                    <a:pt x="198" y="622"/>
                  </a:lnTo>
                  <a:lnTo>
                    <a:pt x="205" y="650"/>
                  </a:lnTo>
                  <a:lnTo>
                    <a:pt x="219" y="685"/>
                  </a:lnTo>
                  <a:lnTo>
                    <a:pt x="226" y="721"/>
                  </a:lnTo>
                  <a:lnTo>
                    <a:pt x="239" y="749"/>
                  </a:lnTo>
                  <a:lnTo>
                    <a:pt x="246" y="763"/>
                  </a:lnTo>
                  <a:lnTo>
                    <a:pt x="260" y="763"/>
                  </a:lnTo>
                  <a:lnTo>
                    <a:pt x="266" y="749"/>
                  </a:lnTo>
                  <a:lnTo>
                    <a:pt x="280" y="721"/>
                  </a:lnTo>
                  <a:lnTo>
                    <a:pt x="287" y="685"/>
                  </a:lnTo>
                  <a:lnTo>
                    <a:pt x="301" y="636"/>
                  </a:lnTo>
                  <a:lnTo>
                    <a:pt x="307" y="586"/>
                  </a:lnTo>
                  <a:lnTo>
                    <a:pt x="321" y="537"/>
                  </a:lnTo>
                  <a:lnTo>
                    <a:pt x="328" y="495"/>
                  </a:lnTo>
                  <a:lnTo>
                    <a:pt x="342" y="466"/>
                  </a:lnTo>
                  <a:lnTo>
                    <a:pt x="348" y="452"/>
                  </a:lnTo>
                  <a:lnTo>
                    <a:pt x="362" y="459"/>
                  </a:lnTo>
                  <a:lnTo>
                    <a:pt x="369" y="473"/>
                  </a:lnTo>
                  <a:lnTo>
                    <a:pt x="382" y="509"/>
                  </a:lnTo>
                  <a:lnTo>
                    <a:pt x="389" y="544"/>
                  </a:lnTo>
                  <a:lnTo>
                    <a:pt x="403" y="579"/>
                  </a:lnTo>
                  <a:lnTo>
                    <a:pt x="410" y="615"/>
                  </a:lnTo>
                  <a:lnTo>
                    <a:pt x="423" y="643"/>
                  </a:lnTo>
                  <a:lnTo>
                    <a:pt x="430" y="650"/>
                  </a:lnTo>
                  <a:lnTo>
                    <a:pt x="444" y="650"/>
                  </a:lnTo>
                  <a:lnTo>
                    <a:pt x="451" y="636"/>
                  </a:lnTo>
                  <a:lnTo>
                    <a:pt x="464" y="600"/>
                  </a:lnTo>
                  <a:lnTo>
                    <a:pt x="471" y="558"/>
                  </a:lnTo>
                  <a:lnTo>
                    <a:pt x="485" y="516"/>
                  </a:lnTo>
                  <a:lnTo>
                    <a:pt x="492" y="466"/>
                  </a:lnTo>
                  <a:lnTo>
                    <a:pt x="505" y="431"/>
                  </a:lnTo>
                  <a:lnTo>
                    <a:pt x="512" y="403"/>
                  </a:lnTo>
                  <a:lnTo>
                    <a:pt x="526" y="389"/>
                  </a:lnTo>
                  <a:lnTo>
                    <a:pt x="533" y="389"/>
                  </a:lnTo>
                  <a:lnTo>
                    <a:pt x="546" y="403"/>
                  </a:lnTo>
                  <a:lnTo>
                    <a:pt x="553" y="431"/>
                  </a:lnTo>
                  <a:lnTo>
                    <a:pt x="567" y="466"/>
                  </a:lnTo>
                  <a:lnTo>
                    <a:pt x="574" y="509"/>
                  </a:lnTo>
                  <a:lnTo>
                    <a:pt x="587" y="551"/>
                  </a:lnTo>
                  <a:lnTo>
                    <a:pt x="594" y="586"/>
                  </a:lnTo>
                  <a:lnTo>
                    <a:pt x="608" y="615"/>
                  </a:lnTo>
                  <a:lnTo>
                    <a:pt x="615" y="622"/>
                  </a:lnTo>
                  <a:lnTo>
                    <a:pt x="628" y="615"/>
                  </a:lnTo>
                  <a:lnTo>
                    <a:pt x="635" y="593"/>
                  </a:lnTo>
                  <a:lnTo>
                    <a:pt x="649" y="565"/>
                  </a:lnTo>
                  <a:lnTo>
                    <a:pt x="655" y="523"/>
                  </a:lnTo>
                  <a:lnTo>
                    <a:pt x="669" y="480"/>
                  </a:lnTo>
                  <a:lnTo>
                    <a:pt x="676" y="445"/>
                  </a:lnTo>
                  <a:lnTo>
                    <a:pt x="690" y="410"/>
                  </a:lnTo>
                  <a:lnTo>
                    <a:pt x="696" y="396"/>
                  </a:lnTo>
                  <a:lnTo>
                    <a:pt x="710" y="396"/>
                  </a:lnTo>
                  <a:lnTo>
                    <a:pt x="717" y="410"/>
                  </a:lnTo>
                  <a:lnTo>
                    <a:pt x="731" y="438"/>
                  </a:lnTo>
                  <a:lnTo>
                    <a:pt x="737" y="473"/>
                  </a:lnTo>
                  <a:lnTo>
                    <a:pt x="751" y="523"/>
                  </a:lnTo>
                  <a:lnTo>
                    <a:pt x="758" y="565"/>
                  </a:lnTo>
                  <a:lnTo>
                    <a:pt x="772" y="608"/>
                  </a:lnTo>
                  <a:lnTo>
                    <a:pt x="778" y="643"/>
                  </a:lnTo>
                  <a:lnTo>
                    <a:pt x="792" y="664"/>
                  </a:lnTo>
                  <a:lnTo>
                    <a:pt x="799" y="671"/>
                  </a:lnTo>
                  <a:lnTo>
                    <a:pt x="812" y="657"/>
                  </a:lnTo>
                  <a:lnTo>
                    <a:pt x="819" y="636"/>
                  </a:lnTo>
                  <a:lnTo>
                    <a:pt x="833" y="600"/>
                  </a:lnTo>
                  <a:lnTo>
                    <a:pt x="840" y="565"/>
                  </a:lnTo>
                  <a:lnTo>
                    <a:pt x="853" y="530"/>
                  </a:lnTo>
                  <a:lnTo>
                    <a:pt x="860" y="495"/>
                  </a:lnTo>
                  <a:lnTo>
                    <a:pt x="874" y="473"/>
                  </a:lnTo>
                  <a:lnTo>
                    <a:pt x="881" y="473"/>
                  </a:lnTo>
                  <a:lnTo>
                    <a:pt x="894" y="480"/>
                  </a:lnTo>
                  <a:lnTo>
                    <a:pt x="901" y="509"/>
                  </a:lnTo>
                  <a:lnTo>
                    <a:pt x="915" y="544"/>
                  </a:lnTo>
                  <a:lnTo>
                    <a:pt x="922" y="586"/>
                  </a:lnTo>
                  <a:lnTo>
                    <a:pt x="928" y="643"/>
                  </a:lnTo>
                  <a:lnTo>
                    <a:pt x="942" y="685"/>
                  </a:lnTo>
                  <a:lnTo>
                    <a:pt x="949" y="728"/>
                  </a:lnTo>
                  <a:lnTo>
                    <a:pt x="963" y="756"/>
                  </a:lnTo>
                  <a:lnTo>
                    <a:pt x="969" y="770"/>
                  </a:lnTo>
                  <a:lnTo>
                    <a:pt x="983" y="770"/>
                  </a:lnTo>
                  <a:lnTo>
                    <a:pt x="990" y="756"/>
                  </a:lnTo>
                  <a:lnTo>
                    <a:pt x="1004" y="728"/>
                  </a:lnTo>
                  <a:lnTo>
                    <a:pt x="1010" y="692"/>
                  </a:lnTo>
                  <a:lnTo>
                    <a:pt x="1024" y="657"/>
                  </a:lnTo>
                  <a:lnTo>
                    <a:pt x="1031" y="629"/>
                  </a:lnTo>
                  <a:lnTo>
                    <a:pt x="1044" y="600"/>
                  </a:lnTo>
                  <a:lnTo>
                    <a:pt x="1051" y="593"/>
                  </a:lnTo>
                  <a:lnTo>
                    <a:pt x="1065" y="593"/>
                  </a:lnTo>
                  <a:lnTo>
                    <a:pt x="1072" y="615"/>
                  </a:lnTo>
                  <a:lnTo>
                    <a:pt x="1085" y="650"/>
                  </a:lnTo>
                  <a:lnTo>
                    <a:pt x="1092" y="692"/>
                  </a:lnTo>
                  <a:lnTo>
                    <a:pt x="1106" y="742"/>
                  </a:lnTo>
                  <a:lnTo>
                    <a:pt x="1113" y="791"/>
                  </a:lnTo>
                  <a:lnTo>
                    <a:pt x="1126" y="834"/>
                  </a:lnTo>
                  <a:lnTo>
                    <a:pt x="1133" y="869"/>
                  </a:lnTo>
                  <a:lnTo>
                    <a:pt x="1147" y="890"/>
                  </a:lnTo>
                  <a:lnTo>
                    <a:pt x="1154" y="897"/>
                  </a:lnTo>
                  <a:lnTo>
                    <a:pt x="1167" y="890"/>
                  </a:lnTo>
                  <a:lnTo>
                    <a:pt x="1174" y="869"/>
                  </a:lnTo>
                  <a:lnTo>
                    <a:pt x="1188" y="834"/>
                  </a:lnTo>
                  <a:lnTo>
                    <a:pt x="1195" y="798"/>
                  </a:lnTo>
                  <a:lnTo>
                    <a:pt x="1208" y="763"/>
                  </a:lnTo>
                  <a:lnTo>
                    <a:pt x="1215" y="735"/>
                  </a:lnTo>
                  <a:lnTo>
                    <a:pt x="1229" y="713"/>
                  </a:lnTo>
                  <a:lnTo>
                    <a:pt x="1236" y="713"/>
                  </a:lnTo>
                  <a:lnTo>
                    <a:pt x="1249" y="721"/>
                  </a:lnTo>
                  <a:lnTo>
                    <a:pt x="1256" y="749"/>
                  </a:lnTo>
                  <a:lnTo>
                    <a:pt x="1270" y="784"/>
                  </a:lnTo>
                  <a:lnTo>
                    <a:pt x="1277" y="834"/>
                  </a:lnTo>
                  <a:lnTo>
                    <a:pt x="1290" y="883"/>
                  </a:lnTo>
                  <a:lnTo>
                    <a:pt x="1297" y="925"/>
                  </a:lnTo>
                  <a:lnTo>
                    <a:pt x="1311" y="968"/>
                  </a:lnTo>
                  <a:lnTo>
                    <a:pt x="1317" y="989"/>
                  </a:lnTo>
                  <a:lnTo>
                    <a:pt x="1331" y="1003"/>
                  </a:lnTo>
                  <a:lnTo>
                    <a:pt x="1338" y="996"/>
                  </a:lnTo>
                  <a:lnTo>
                    <a:pt x="1352" y="975"/>
                  </a:lnTo>
                  <a:lnTo>
                    <a:pt x="1358" y="946"/>
                  </a:lnTo>
                  <a:lnTo>
                    <a:pt x="1372" y="911"/>
                  </a:lnTo>
                  <a:lnTo>
                    <a:pt x="1379" y="869"/>
                  </a:lnTo>
                  <a:lnTo>
                    <a:pt x="1393" y="834"/>
                  </a:lnTo>
                  <a:lnTo>
                    <a:pt x="1399" y="805"/>
                  </a:lnTo>
                  <a:lnTo>
                    <a:pt x="1413" y="791"/>
                  </a:lnTo>
                  <a:lnTo>
                    <a:pt x="1420" y="791"/>
                  </a:lnTo>
                  <a:lnTo>
                    <a:pt x="1434" y="812"/>
                  </a:lnTo>
                  <a:lnTo>
                    <a:pt x="1440" y="841"/>
                  </a:lnTo>
                  <a:lnTo>
                    <a:pt x="1454" y="876"/>
                  </a:lnTo>
                  <a:lnTo>
                    <a:pt x="1461" y="925"/>
                  </a:lnTo>
                  <a:lnTo>
                    <a:pt x="1474" y="968"/>
                  </a:lnTo>
                  <a:lnTo>
                    <a:pt x="1481" y="1003"/>
                  </a:lnTo>
                  <a:lnTo>
                    <a:pt x="1495" y="1031"/>
                  </a:lnTo>
                  <a:lnTo>
                    <a:pt x="1502" y="1045"/>
                  </a:lnTo>
                  <a:lnTo>
                    <a:pt x="1515" y="1045"/>
                  </a:lnTo>
                  <a:lnTo>
                    <a:pt x="1522" y="1031"/>
                  </a:lnTo>
                  <a:lnTo>
                    <a:pt x="1536" y="996"/>
                  </a:lnTo>
                  <a:lnTo>
                    <a:pt x="1543" y="961"/>
                  </a:lnTo>
                  <a:lnTo>
                    <a:pt x="1556" y="911"/>
                  </a:lnTo>
                  <a:lnTo>
                    <a:pt x="1563" y="869"/>
                  </a:lnTo>
                  <a:lnTo>
                    <a:pt x="1577" y="834"/>
                  </a:lnTo>
                  <a:lnTo>
                    <a:pt x="1584" y="812"/>
                  </a:lnTo>
                  <a:lnTo>
                    <a:pt x="1597" y="798"/>
                  </a:lnTo>
                  <a:lnTo>
                    <a:pt x="1604" y="805"/>
                  </a:lnTo>
                  <a:lnTo>
                    <a:pt x="1618" y="826"/>
                  </a:lnTo>
                  <a:lnTo>
                    <a:pt x="1625" y="855"/>
                  </a:lnTo>
                  <a:lnTo>
                    <a:pt x="1638" y="890"/>
                  </a:lnTo>
                  <a:lnTo>
                    <a:pt x="1645" y="932"/>
                  </a:lnTo>
                  <a:lnTo>
                    <a:pt x="1659" y="968"/>
                  </a:lnTo>
                  <a:lnTo>
                    <a:pt x="1666" y="996"/>
                  </a:lnTo>
                  <a:lnTo>
                    <a:pt x="1679" y="1017"/>
                  </a:lnTo>
                  <a:lnTo>
                    <a:pt x="1686" y="1017"/>
                  </a:lnTo>
                  <a:lnTo>
                    <a:pt x="1700" y="1003"/>
                  </a:lnTo>
                  <a:lnTo>
                    <a:pt x="1707" y="968"/>
                  </a:lnTo>
                  <a:lnTo>
                    <a:pt x="1720" y="932"/>
                  </a:lnTo>
                  <a:lnTo>
                    <a:pt x="1727" y="883"/>
                  </a:lnTo>
                  <a:lnTo>
                    <a:pt x="1741" y="834"/>
                  </a:lnTo>
                  <a:lnTo>
                    <a:pt x="1747" y="791"/>
                  </a:lnTo>
                  <a:lnTo>
                    <a:pt x="1761" y="756"/>
                  </a:lnTo>
                  <a:lnTo>
                    <a:pt x="1768" y="735"/>
                  </a:lnTo>
                  <a:lnTo>
                    <a:pt x="1782" y="728"/>
                  </a:lnTo>
                  <a:lnTo>
                    <a:pt x="1788" y="735"/>
                  </a:lnTo>
                  <a:lnTo>
                    <a:pt x="1802" y="756"/>
                  </a:lnTo>
                  <a:lnTo>
                    <a:pt x="1809" y="784"/>
                  </a:lnTo>
                  <a:lnTo>
                    <a:pt x="1823" y="819"/>
                  </a:lnTo>
                  <a:lnTo>
                    <a:pt x="1829" y="855"/>
                  </a:lnTo>
                  <a:lnTo>
                    <a:pt x="1843" y="890"/>
                  </a:lnTo>
                  <a:lnTo>
                    <a:pt x="1850" y="904"/>
                  </a:lnTo>
                  <a:lnTo>
                    <a:pt x="1857" y="911"/>
                  </a:lnTo>
                  <a:lnTo>
                    <a:pt x="1870" y="897"/>
                  </a:lnTo>
                  <a:lnTo>
                    <a:pt x="1877" y="869"/>
                  </a:lnTo>
                  <a:lnTo>
                    <a:pt x="1891" y="826"/>
                  </a:lnTo>
                  <a:lnTo>
                    <a:pt x="1898" y="777"/>
                  </a:lnTo>
                  <a:lnTo>
                    <a:pt x="1911" y="728"/>
                  </a:lnTo>
                  <a:lnTo>
                    <a:pt x="1918" y="678"/>
                  </a:lnTo>
                  <a:lnTo>
                    <a:pt x="1932" y="636"/>
                  </a:lnTo>
                  <a:lnTo>
                    <a:pt x="1939" y="600"/>
                  </a:lnTo>
                  <a:lnTo>
                    <a:pt x="1952" y="586"/>
                  </a:lnTo>
                  <a:lnTo>
                    <a:pt x="1959" y="579"/>
                  </a:lnTo>
                  <a:lnTo>
                    <a:pt x="1973" y="593"/>
                  </a:lnTo>
                  <a:lnTo>
                    <a:pt x="1980" y="622"/>
                  </a:lnTo>
                  <a:lnTo>
                    <a:pt x="1993" y="650"/>
                  </a:lnTo>
                  <a:lnTo>
                    <a:pt x="2000" y="685"/>
                  </a:lnTo>
                  <a:lnTo>
                    <a:pt x="2014" y="713"/>
                  </a:lnTo>
                  <a:lnTo>
                    <a:pt x="2020" y="735"/>
                  </a:lnTo>
                  <a:lnTo>
                    <a:pt x="2034" y="742"/>
                  </a:lnTo>
                  <a:lnTo>
                    <a:pt x="2041" y="735"/>
                  </a:lnTo>
                  <a:lnTo>
                    <a:pt x="2055" y="713"/>
                  </a:lnTo>
                  <a:lnTo>
                    <a:pt x="2061" y="678"/>
                  </a:lnTo>
                  <a:lnTo>
                    <a:pt x="2075" y="629"/>
                  </a:lnTo>
                  <a:lnTo>
                    <a:pt x="2082" y="572"/>
                  </a:lnTo>
                  <a:lnTo>
                    <a:pt x="2096" y="523"/>
                  </a:lnTo>
                  <a:lnTo>
                    <a:pt x="2102" y="473"/>
                  </a:lnTo>
                  <a:lnTo>
                    <a:pt x="2116" y="431"/>
                  </a:lnTo>
                  <a:lnTo>
                    <a:pt x="2123" y="410"/>
                  </a:lnTo>
                  <a:lnTo>
                    <a:pt x="2136" y="396"/>
                  </a:lnTo>
                  <a:lnTo>
                    <a:pt x="2143" y="403"/>
                  </a:lnTo>
                  <a:lnTo>
                    <a:pt x="2157" y="424"/>
                  </a:lnTo>
                  <a:lnTo>
                    <a:pt x="2164" y="452"/>
                  </a:lnTo>
                  <a:lnTo>
                    <a:pt x="2177" y="480"/>
                  </a:lnTo>
                  <a:lnTo>
                    <a:pt x="2184" y="516"/>
                  </a:lnTo>
                  <a:lnTo>
                    <a:pt x="2198" y="537"/>
                  </a:lnTo>
                  <a:lnTo>
                    <a:pt x="2205" y="551"/>
                  </a:lnTo>
                  <a:lnTo>
                    <a:pt x="2218" y="551"/>
                  </a:lnTo>
                  <a:lnTo>
                    <a:pt x="2225" y="537"/>
                  </a:lnTo>
                  <a:lnTo>
                    <a:pt x="2239" y="502"/>
                  </a:lnTo>
                  <a:lnTo>
                    <a:pt x="2246" y="459"/>
                  </a:lnTo>
                  <a:lnTo>
                    <a:pt x="2259" y="410"/>
                  </a:lnTo>
                  <a:lnTo>
                    <a:pt x="2266" y="360"/>
                  </a:lnTo>
                  <a:lnTo>
                    <a:pt x="2280" y="304"/>
                  </a:lnTo>
                  <a:lnTo>
                    <a:pt x="2287" y="262"/>
                  </a:lnTo>
                  <a:lnTo>
                    <a:pt x="2300" y="233"/>
                  </a:lnTo>
                  <a:lnTo>
                    <a:pt x="2307" y="219"/>
                  </a:lnTo>
                  <a:lnTo>
                    <a:pt x="2321" y="219"/>
                  </a:lnTo>
                  <a:lnTo>
                    <a:pt x="2328" y="233"/>
                  </a:lnTo>
                  <a:lnTo>
                    <a:pt x="2341" y="254"/>
                  </a:lnTo>
                  <a:lnTo>
                    <a:pt x="2348" y="290"/>
                  </a:lnTo>
                  <a:lnTo>
                    <a:pt x="2362" y="325"/>
                  </a:lnTo>
                  <a:lnTo>
                    <a:pt x="2369" y="353"/>
                  </a:lnTo>
                  <a:lnTo>
                    <a:pt x="2382" y="375"/>
                  </a:lnTo>
                  <a:lnTo>
                    <a:pt x="2389" y="382"/>
                  </a:lnTo>
                  <a:lnTo>
                    <a:pt x="2403" y="375"/>
                  </a:lnTo>
                  <a:lnTo>
                    <a:pt x="2409" y="353"/>
                  </a:lnTo>
                  <a:lnTo>
                    <a:pt x="2423" y="318"/>
                  </a:lnTo>
                  <a:lnTo>
                    <a:pt x="2430" y="276"/>
                  </a:lnTo>
                  <a:lnTo>
                    <a:pt x="2444" y="226"/>
                  </a:lnTo>
                  <a:lnTo>
                    <a:pt x="2450" y="177"/>
                  </a:lnTo>
                  <a:lnTo>
                    <a:pt x="2464" y="134"/>
                  </a:lnTo>
                  <a:lnTo>
                    <a:pt x="2471" y="99"/>
                  </a:lnTo>
                  <a:lnTo>
                    <a:pt x="2485" y="78"/>
                  </a:lnTo>
                  <a:lnTo>
                    <a:pt x="2491" y="71"/>
                  </a:lnTo>
                  <a:lnTo>
                    <a:pt x="2505" y="85"/>
                  </a:lnTo>
                  <a:lnTo>
                    <a:pt x="2512" y="113"/>
                  </a:lnTo>
                  <a:lnTo>
                    <a:pt x="2525" y="141"/>
                  </a:lnTo>
                  <a:lnTo>
                    <a:pt x="2532" y="184"/>
                  </a:lnTo>
                  <a:lnTo>
                    <a:pt x="2546" y="219"/>
                  </a:lnTo>
                  <a:lnTo>
                    <a:pt x="2553" y="247"/>
                  </a:lnTo>
                  <a:lnTo>
                    <a:pt x="2566" y="269"/>
                  </a:lnTo>
                  <a:lnTo>
                    <a:pt x="2573" y="269"/>
                  </a:lnTo>
                  <a:lnTo>
                    <a:pt x="2587" y="262"/>
                  </a:lnTo>
                  <a:lnTo>
                    <a:pt x="2594" y="233"/>
                  </a:lnTo>
                  <a:lnTo>
                    <a:pt x="2607" y="198"/>
                  </a:lnTo>
                  <a:lnTo>
                    <a:pt x="2614" y="156"/>
                  </a:lnTo>
                  <a:lnTo>
                    <a:pt x="2628" y="106"/>
                  </a:lnTo>
                  <a:lnTo>
                    <a:pt x="2635" y="64"/>
                  </a:lnTo>
                  <a:lnTo>
                    <a:pt x="2648" y="28"/>
                  </a:lnTo>
                  <a:lnTo>
                    <a:pt x="2655" y="7"/>
                  </a:lnTo>
                  <a:lnTo>
                    <a:pt x="2669" y="0"/>
                  </a:lnTo>
                  <a:lnTo>
                    <a:pt x="2676" y="14"/>
                  </a:lnTo>
                  <a:lnTo>
                    <a:pt x="2689" y="36"/>
                  </a:lnTo>
                  <a:lnTo>
                    <a:pt x="2696" y="71"/>
                  </a:lnTo>
                  <a:lnTo>
                    <a:pt x="2710" y="113"/>
                  </a:lnTo>
                  <a:lnTo>
                    <a:pt x="2717" y="156"/>
                  </a:lnTo>
                  <a:lnTo>
                    <a:pt x="2730" y="191"/>
                  </a:lnTo>
                  <a:lnTo>
                    <a:pt x="2737" y="219"/>
                  </a:lnTo>
                  <a:lnTo>
                    <a:pt x="2751" y="240"/>
                  </a:lnTo>
                  <a:lnTo>
                    <a:pt x="2758" y="240"/>
                  </a:lnTo>
                  <a:lnTo>
                    <a:pt x="2771" y="226"/>
                  </a:lnTo>
                  <a:lnTo>
                    <a:pt x="2778" y="198"/>
                  </a:lnTo>
                  <a:lnTo>
                    <a:pt x="2785" y="163"/>
                  </a:lnTo>
                  <a:lnTo>
                    <a:pt x="2798" y="120"/>
                  </a:lnTo>
                  <a:lnTo>
                    <a:pt x="2805" y="78"/>
                  </a:lnTo>
                  <a:lnTo>
                    <a:pt x="2819" y="43"/>
                  </a:lnTo>
                  <a:lnTo>
                    <a:pt x="2826" y="21"/>
                  </a:lnTo>
                  <a:lnTo>
                    <a:pt x="2839" y="7"/>
                  </a:lnTo>
                  <a:lnTo>
                    <a:pt x="2846" y="14"/>
                  </a:lnTo>
                  <a:lnTo>
                    <a:pt x="2860" y="43"/>
                  </a:lnTo>
                  <a:lnTo>
                    <a:pt x="2867" y="71"/>
                  </a:lnTo>
                  <a:lnTo>
                    <a:pt x="2880" y="120"/>
                  </a:lnTo>
                  <a:lnTo>
                    <a:pt x="2887" y="163"/>
                  </a:lnTo>
                  <a:lnTo>
                    <a:pt x="2901" y="212"/>
                  </a:lnTo>
                  <a:lnTo>
                    <a:pt x="2908" y="247"/>
                  </a:lnTo>
                  <a:lnTo>
                    <a:pt x="2921" y="276"/>
                  </a:lnTo>
                  <a:lnTo>
                    <a:pt x="2928" y="290"/>
                  </a:lnTo>
                  <a:lnTo>
                    <a:pt x="2942" y="283"/>
                  </a:lnTo>
                  <a:lnTo>
                    <a:pt x="2949" y="269"/>
                  </a:lnTo>
                  <a:lnTo>
                    <a:pt x="2962" y="233"/>
                  </a:lnTo>
                  <a:lnTo>
                    <a:pt x="2969" y="198"/>
                  </a:lnTo>
                  <a:lnTo>
                    <a:pt x="2983" y="163"/>
                  </a:lnTo>
                  <a:lnTo>
                    <a:pt x="2990" y="127"/>
                  </a:lnTo>
                  <a:lnTo>
                    <a:pt x="3003" y="99"/>
                  </a:lnTo>
                  <a:lnTo>
                    <a:pt x="3010" y="92"/>
                  </a:lnTo>
                  <a:lnTo>
                    <a:pt x="3024" y="92"/>
                  </a:lnTo>
                  <a:lnTo>
                    <a:pt x="3031" y="113"/>
                  </a:lnTo>
                  <a:lnTo>
                    <a:pt x="3044" y="141"/>
                  </a:lnTo>
                  <a:lnTo>
                    <a:pt x="3051" y="184"/>
                  </a:lnTo>
                  <a:lnTo>
                    <a:pt x="3065" y="233"/>
                  </a:lnTo>
                  <a:lnTo>
                    <a:pt x="3071" y="283"/>
                  </a:lnTo>
                  <a:lnTo>
                    <a:pt x="3085" y="332"/>
                  </a:lnTo>
                  <a:lnTo>
                    <a:pt x="3092" y="367"/>
                  </a:lnTo>
                  <a:lnTo>
                    <a:pt x="3106" y="389"/>
                  </a:lnTo>
                  <a:lnTo>
                    <a:pt x="3112" y="389"/>
                  </a:lnTo>
                  <a:lnTo>
                    <a:pt x="3126" y="382"/>
                  </a:lnTo>
                  <a:lnTo>
                    <a:pt x="3133" y="360"/>
                  </a:lnTo>
                  <a:lnTo>
                    <a:pt x="3147" y="332"/>
                  </a:lnTo>
                  <a:lnTo>
                    <a:pt x="3153" y="290"/>
                  </a:lnTo>
                  <a:lnTo>
                    <a:pt x="3167" y="254"/>
                  </a:lnTo>
                  <a:lnTo>
                    <a:pt x="3174" y="226"/>
                  </a:lnTo>
                  <a:lnTo>
                    <a:pt x="3188" y="212"/>
                  </a:lnTo>
                  <a:lnTo>
                    <a:pt x="3194" y="212"/>
                  </a:lnTo>
                  <a:lnTo>
                    <a:pt x="3208" y="219"/>
                  </a:lnTo>
                  <a:lnTo>
                    <a:pt x="3215" y="247"/>
                  </a:lnTo>
                  <a:lnTo>
                    <a:pt x="3228" y="290"/>
                  </a:lnTo>
                  <a:lnTo>
                    <a:pt x="3235" y="339"/>
                  </a:lnTo>
                  <a:lnTo>
                    <a:pt x="3249" y="389"/>
                  </a:lnTo>
                  <a:lnTo>
                    <a:pt x="3256" y="438"/>
                  </a:lnTo>
                  <a:lnTo>
                    <a:pt x="3269" y="473"/>
                  </a:lnTo>
                  <a:lnTo>
                    <a:pt x="3276" y="502"/>
                  </a:lnTo>
                  <a:lnTo>
                    <a:pt x="3290" y="516"/>
                  </a:lnTo>
                  <a:lnTo>
                    <a:pt x="3297" y="516"/>
                  </a:lnTo>
                  <a:lnTo>
                    <a:pt x="3310" y="495"/>
                  </a:lnTo>
                  <a:lnTo>
                    <a:pt x="3317" y="466"/>
                  </a:lnTo>
                  <a:lnTo>
                    <a:pt x="3331" y="431"/>
                  </a:lnTo>
                  <a:lnTo>
                    <a:pt x="3338" y="396"/>
                  </a:lnTo>
                  <a:lnTo>
                    <a:pt x="3351" y="360"/>
                  </a:lnTo>
                  <a:lnTo>
                    <a:pt x="3358" y="339"/>
                  </a:lnTo>
                  <a:lnTo>
                    <a:pt x="3372" y="332"/>
                  </a:lnTo>
                  <a:lnTo>
                    <a:pt x="3379" y="332"/>
                  </a:lnTo>
                  <a:lnTo>
                    <a:pt x="3392" y="353"/>
                  </a:lnTo>
                  <a:lnTo>
                    <a:pt x="3399" y="389"/>
                  </a:lnTo>
                  <a:lnTo>
                    <a:pt x="3413" y="431"/>
                  </a:lnTo>
                  <a:lnTo>
                    <a:pt x="3420" y="480"/>
                  </a:lnTo>
                  <a:lnTo>
                    <a:pt x="3433" y="523"/>
                  </a:lnTo>
                  <a:lnTo>
                    <a:pt x="3440" y="565"/>
                  </a:lnTo>
                  <a:lnTo>
                    <a:pt x="3454" y="600"/>
                  </a:lnTo>
                  <a:lnTo>
                    <a:pt x="3461" y="615"/>
                  </a:lnTo>
                  <a:lnTo>
                    <a:pt x="3474" y="622"/>
                  </a:lnTo>
                  <a:lnTo>
                    <a:pt x="3481" y="608"/>
                  </a:lnTo>
                  <a:lnTo>
                    <a:pt x="3495" y="579"/>
                  </a:lnTo>
                  <a:lnTo>
                    <a:pt x="3501" y="544"/>
                  </a:lnTo>
                  <a:lnTo>
                    <a:pt x="3515" y="502"/>
                  </a:lnTo>
                  <a:lnTo>
                    <a:pt x="3522" y="466"/>
                  </a:lnTo>
                  <a:lnTo>
                    <a:pt x="3536" y="438"/>
                  </a:lnTo>
                  <a:lnTo>
                    <a:pt x="3542" y="417"/>
                  </a:lnTo>
                  <a:lnTo>
                    <a:pt x="3556" y="410"/>
                  </a:lnTo>
                  <a:lnTo>
                    <a:pt x="3563" y="417"/>
                  </a:lnTo>
                  <a:lnTo>
                    <a:pt x="3577" y="445"/>
                  </a:lnTo>
                  <a:lnTo>
                    <a:pt x="3583" y="480"/>
                  </a:lnTo>
                  <a:lnTo>
                    <a:pt x="3597" y="523"/>
                  </a:lnTo>
                  <a:lnTo>
                    <a:pt x="3604" y="565"/>
                  </a:lnTo>
                  <a:lnTo>
                    <a:pt x="3617" y="608"/>
                  </a:lnTo>
                  <a:lnTo>
                    <a:pt x="3624" y="643"/>
                  </a:lnTo>
                  <a:lnTo>
                    <a:pt x="3638" y="664"/>
                  </a:lnTo>
                  <a:lnTo>
                    <a:pt x="3645" y="664"/>
                  </a:lnTo>
                  <a:lnTo>
                    <a:pt x="3658" y="657"/>
                  </a:lnTo>
                  <a:lnTo>
                    <a:pt x="3665" y="629"/>
                  </a:lnTo>
                  <a:lnTo>
                    <a:pt x="3679" y="593"/>
                  </a:lnTo>
                  <a:lnTo>
                    <a:pt x="3686" y="551"/>
                  </a:lnTo>
                  <a:lnTo>
                    <a:pt x="3699" y="509"/>
                  </a:lnTo>
                  <a:lnTo>
                    <a:pt x="3706" y="466"/>
                  </a:lnTo>
                  <a:lnTo>
                    <a:pt x="3713" y="438"/>
                  </a:lnTo>
                  <a:lnTo>
                    <a:pt x="3727" y="424"/>
                  </a:lnTo>
                  <a:lnTo>
                    <a:pt x="3733" y="417"/>
                  </a:lnTo>
                  <a:lnTo>
                    <a:pt x="3747" y="431"/>
                  </a:lnTo>
                  <a:lnTo>
                    <a:pt x="3754" y="459"/>
                  </a:lnTo>
                  <a:lnTo>
                    <a:pt x="3768" y="495"/>
                  </a:lnTo>
                  <a:lnTo>
                    <a:pt x="3774" y="537"/>
                  </a:lnTo>
                  <a:lnTo>
                    <a:pt x="3788" y="572"/>
                  </a:lnTo>
                  <a:lnTo>
                    <a:pt x="3795" y="608"/>
                  </a:lnTo>
                  <a:lnTo>
                    <a:pt x="3809" y="629"/>
                  </a:lnTo>
                  <a:lnTo>
                    <a:pt x="3815" y="636"/>
                  </a:lnTo>
                  <a:lnTo>
                    <a:pt x="3829" y="629"/>
                  </a:lnTo>
                  <a:lnTo>
                    <a:pt x="3836" y="608"/>
                  </a:lnTo>
                  <a:lnTo>
                    <a:pt x="3850" y="565"/>
                  </a:lnTo>
                  <a:lnTo>
                    <a:pt x="3856" y="523"/>
                  </a:lnTo>
                  <a:lnTo>
                    <a:pt x="3870" y="473"/>
                  </a:lnTo>
                  <a:lnTo>
                    <a:pt x="3877" y="424"/>
                  </a:lnTo>
                  <a:lnTo>
                    <a:pt x="3890" y="389"/>
                  </a:lnTo>
                  <a:lnTo>
                    <a:pt x="3897" y="360"/>
                  </a:lnTo>
                  <a:lnTo>
                    <a:pt x="3911" y="346"/>
                  </a:lnTo>
                  <a:lnTo>
                    <a:pt x="3918" y="346"/>
                  </a:lnTo>
                  <a:lnTo>
                    <a:pt x="3931" y="360"/>
                  </a:lnTo>
                  <a:lnTo>
                    <a:pt x="3938" y="389"/>
                  </a:lnTo>
                  <a:lnTo>
                    <a:pt x="3952" y="424"/>
                  </a:lnTo>
                  <a:lnTo>
                    <a:pt x="3959" y="459"/>
                  </a:lnTo>
                  <a:lnTo>
                    <a:pt x="3972" y="495"/>
                  </a:lnTo>
                  <a:lnTo>
                    <a:pt x="3979" y="516"/>
                  </a:lnTo>
                  <a:lnTo>
                    <a:pt x="3993" y="530"/>
                  </a:lnTo>
                  <a:lnTo>
                    <a:pt x="4000" y="523"/>
                  </a:lnTo>
                  <a:lnTo>
                    <a:pt x="4013" y="502"/>
                  </a:lnTo>
                  <a:lnTo>
                    <a:pt x="4020" y="466"/>
                  </a:lnTo>
                  <a:lnTo>
                    <a:pt x="4034" y="424"/>
                  </a:lnTo>
                  <a:lnTo>
                    <a:pt x="4041" y="367"/>
                  </a:lnTo>
                  <a:lnTo>
                    <a:pt x="4054" y="318"/>
                  </a:lnTo>
                  <a:lnTo>
                    <a:pt x="4061" y="269"/>
                  </a:lnTo>
                  <a:lnTo>
                    <a:pt x="4075" y="233"/>
                  </a:lnTo>
                  <a:lnTo>
                    <a:pt x="4082" y="212"/>
                  </a:lnTo>
                  <a:lnTo>
                    <a:pt x="4095" y="198"/>
                  </a:lnTo>
                  <a:lnTo>
                    <a:pt x="4102" y="205"/>
                  </a:lnTo>
                  <a:lnTo>
                    <a:pt x="4116" y="226"/>
                  </a:lnTo>
                  <a:lnTo>
                    <a:pt x="4123" y="254"/>
                  </a:lnTo>
                  <a:lnTo>
                    <a:pt x="4136" y="290"/>
                  </a:lnTo>
                  <a:lnTo>
                    <a:pt x="4143" y="318"/>
                  </a:lnTo>
                  <a:lnTo>
                    <a:pt x="4157" y="346"/>
                  </a:lnTo>
                  <a:lnTo>
                    <a:pt x="4163" y="360"/>
                  </a:lnTo>
                  <a:lnTo>
                    <a:pt x="4177" y="360"/>
                  </a:lnTo>
                  <a:lnTo>
                    <a:pt x="4184" y="339"/>
                  </a:lnTo>
                  <a:lnTo>
                    <a:pt x="4198" y="311"/>
                  </a:lnTo>
                  <a:lnTo>
                    <a:pt x="4204" y="269"/>
                  </a:lnTo>
                  <a:lnTo>
                    <a:pt x="4218" y="219"/>
                  </a:lnTo>
                  <a:lnTo>
                    <a:pt x="4225" y="163"/>
                  </a:lnTo>
                  <a:lnTo>
                    <a:pt x="4239" y="113"/>
                  </a:lnTo>
                  <a:lnTo>
                    <a:pt x="4245" y="64"/>
                  </a:lnTo>
                  <a:lnTo>
                    <a:pt x="4259" y="36"/>
                  </a:lnTo>
                  <a:lnTo>
                    <a:pt x="4266" y="21"/>
                  </a:lnTo>
                  <a:lnTo>
                    <a:pt x="4279" y="14"/>
                  </a:lnTo>
                  <a:lnTo>
                    <a:pt x="4286" y="28"/>
                  </a:lnTo>
                  <a:lnTo>
                    <a:pt x="4300" y="57"/>
                  </a:lnTo>
                  <a:lnTo>
                    <a:pt x="4307" y="85"/>
                  </a:lnTo>
                  <a:lnTo>
                    <a:pt x="4320" y="120"/>
                  </a:lnTo>
                </a:path>
              </a:pathLst>
            </a:custGeom>
            <a:noFill/>
            <a:ln w="12699" cap="rnd">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2" name="Group 38">
              <a:extLst>
                <a:ext uri="{FF2B5EF4-FFF2-40B4-BE49-F238E27FC236}">
                  <a16:creationId xmlns:a16="http://schemas.microsoft.com/office/drawing/2014/main" id="{F935B5A6-E874-F642-9B14-7AE651806BA5}"/>
                </a:ext>
              </a:extLst>
            </p:cNvPr>
            <p:cNvGrpSpPr>
              <a:grpSpLocks/>
            </p:cNvGrpSpPr>
            <p:nvPr/>
          </p:nvGrpSpPr>
          <p:grpSpPr bwMode="auto">
            <a:xfrm>
              <a:off x="6747675" y="5644792"/>
              <a:ext cx="1422717" cy="1631249"/>
              <a:chOff x="3978" y="2032"/>
              <a:chExt cx="819" cy="901"/>
            </a:xfrm>
          </p:grpSpPr>
          <p:sp>
            <p:nvSpPr>
              <p:cNvPr id="24" name="Rectangle 39">
                <a:extLst>
                  <a:ext uri="{FF2B5EF4-FFF2-40B4-BE49-F238E27FC236}">
                    <a16:creationId xmlns:a16="http://schemas.microsoft.com/office/drawing/2014/main" id="{4AC36F9B-0F5A-0C4F-BB7C-4978E411BBF0}"/>
                  </a:ext>
                </a:extLst>
              </p:cNvPr>
              <p:cNvSpPr>
                <a:spLocks noChangeArrowheads="1"/>
              </p:cNvSpPr>
              <p:nvPr/>
            </p:nvSpPr>
            <p:spPr bwMode="auto">
              <a:xfrm>
                <a:off x="3978" y="2679"/>
                <a:ext cx="819" cy="254"/>
              </a:xfrm>
              <a:prstGeom prst="rect">
                <a:avLst/>
              </a:prstGeom>
              <a:noFill/>
              <a:ln w="12699">
                <a:no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dirty="0">
                    <a:solidFill>
                      <a:srgbClr val="FF0000"/>
                    </a:solidFill>
                    <a:latin typeface="Trebuchet MS" panose="020B0703020202090204" pitchFamily="34" charset="0"/>
                  </a:rPr>
                  <a:t>Seasonal</a:t>
                </a:r>
              </a:p>
            </p:txBody>
          </p:sp>
          <p:sp>
            <p:nvSpPr>
              <p:cNvPr id="25" name="Line 40">
                <a:extLst>
                  <a:ext uri="{FF2B5EF4-FFF2-40B4-BE49-F238E27FC236}">
                    <a16:creationId xmlns:a16="http://schemas.microsoft.com/office/drawing/2014/main" id="{AB6FCA2C-D970-D543-945A-C01A705C2F54}"/>
                  </a:ext>
                </a:extLst>
              </p:cNvPr>
              <p:cNvSpPr>
                <a:spLocks noChangeShapeType="1"/>
              </p:cNvSpPr>
              <p:nvPr/>
            </p:nvSpPr>
            <p:spPr bwMode="auto">
              <a:xfrm flipH="1" flipV="1">
                <a:off x="4096" y="2140"/>
                <a:ext cx="316" cy="610"/>
              </a:xfrm>
              <a:prstGeom prst="line">
                <a:avLst/>
              </a:prstGeom>
              <a:noFill/>
              <a:ln w="25399">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41">
                <a:extLst>
                  <a:ext uri="{FF2B5EF4-FFF2-40B4-BE49-F238E27FC236}">
                    <a16:creationId xmlns:a16="http://schemas.microsoft.com/office/drawing/2014/main" id="{CDFA5257-3207-0040-BB45-C7132248628A}"/>
                  </a:ext>
                </a:extLst>
              </p:cNvPr>
              <p:cNvSpPr>
                <a:spLocks noChangeShapeType="1"/>
              </p:cNvSpPr>
              <p:nvPr/>
            </p:nvSpPr>
            <p:spPr bwMode="auto">
              <a:xfrm flipV="1">
                <a:off x="4412" y="2152"/>
                <a:ext cx="26" cy="598"/>
              </a:xfrm>
              <a:prstGeom prst="line">
                <a:avLst/>
              </a:prstGeom>
              <a:noFill/>
              <a:ln w="25399">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42">
                <a:extLst>
                  <a:ext uri="{FF2B5EF4-FFF2-40B4-BE49-F238E27FC236}">
                    <a16:creationId xmlns:a16="http://schemas.microsoft.com/office/drawing/2014/main" id="{A1516F4F-84EB-A740-A321-E7DC2A6B11EF}"/>
                  </a:ext>
                </a:extLst>
              </p:cNvPr>
              <p:cNvSpPr>
                <a:spLocks noChangeShapeType="1"/>
              </p:cNvSpPr>
              <p:nvPr/>
            </p:nvSpPr>
            <p:spPr bwMode="auto">
              <a:xfrm flipV="1">
                <a:off x="4412" y="2032"/>
                <a:ext cx="188" cy="736"/>
              </a:xfrm>
              <a:prstGeom prst="line">
                <a:avLst/>
              </a:prstGeom>
              <a:noFill/>
              <a:ln w="25399">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59" name="Group 58">
            <a:extLst>
              <a:ext uri="{FF2B5EF4-FFF2-40B4-BE49-F238E27FC236}">
                <a16:creationId xmlns:a16="http://schemas.microsoft.com/office/drawing/2014/main" id="{9578C207-3AFE-9174-E744-DEFE3A28B719}"/>
              </a:ext>
            </a:extLst>
          </p:cNvPr>
          <p:cNvGrpSpPr/>
          <p:nvPr/>
        </p:nvGrpSpPr>
        <p:grpSpPr>
          <a:xfrm>
            <a:off x="2616826" y="1950696"/>
            <a:ext cx="7506178" cy="2330098"/>
            <a:chOff x="2422978" y="1799317"/>
            <a:chExt cx="7506178" cy="2330098"/>
          </a:xfrm>
        </p:grpSpPr>
        <p:sp>
          <p:nvSpPr>
            <p:cNvPr id="7" name="Freeform 20">
              <a:extLst>
                <a:ext uri="{FF2B5EF4-FFF2-40B4-BE49-F238E27FC236}">
                  <a16:creationId xmlns:a16="http://schemas.microsoft.com/office/drawing/2014/main" id="{C67FF68F-9FC7-8F48-A998-091A9229FA54}"/>
                </a:ext>
              </a:extLst>
            </p:cNvPr>
            <p:cNvSpPr>
              <a:spLocks/>
            </p:cNvSpPr>
            <p:nvPr/>
          </p:nvSpPr>
          <p:spPr bwMode="auto">
            <a:xfrm>
              <a:off x="2422978" y="2606795"/>
              <a:ext cx="7506178" cy="1522620"/>
            </a:xfrm>
            <a:custGeom>
              <a:avLst/>
              <a:gdLst>
                <a:gd name="T0" fmla="*/ 62 w 4321"/>
                <a:gd name="T1" fmla="*/ 741 h 841"/>
                <a:gd name="T2" fmla="*/ 137 w 4321"/>
                <a:gd name="T3" fmla="*/ 671 h 841"/>
                <a:gd name="T4" fmla="*/ 205 w 4321"/>
                <a:gd name="T5" fmla="*/ 600 h 841"/>
                <a:gd name="T6" fmla="*/ 280 w 4321"/>
                <a:gd name="T7" fmla="*/ 544 h 841"/>
                <a:gd name="T8" fmla="*/ 348 w 4321"/>
                <a:gd name="T9" fmla="*/ 494 h 841"/>
                <a:gd name="T10" fmla="*/ 423 w 4321"/>
                <a:gd name="T11" fmla="*/ 452 h 841"/>
                <a:gd name="T12" fmla="*/ 492 w 4321"/>
                <a:gd name="T13" fmla="*/ 431 h 841"/>
                <a:gd name="T14" fmla="*/ 567 w 4321"/>
                <a:gd name="T15" fmla="*/ 417 h 841"/>
                <a:gd name="T16" fmla="*/ 635 w 4321"/>
                <a:gd name="T17" fmla="*/ 417 h 841"/>
                <a:gd name="T18" fmla="*/ 710 w 4321"/>
                <a:gd name="T19" fmla="*/ 431 h 841"/>
                <a:gd name="T20" fmla="*/ 778 w 4321"/>
                <a:gd name="T21" fmla="*/ 452 h 841"/>
                <a:gd name="T22" fmla="*/ 853 w 4321"/>
                <a:gd name="T23" fmla="*/ 487 h 841"/>
                <a:gd name="T24" fmla="*/ 922 w 4321"/>
                <a:gd name="T25" fmla="*/ 530 h 841"/>
                <a:gd name="T26" fmla="*/ 990 w 4321"/>
                <a:gd name="T27" fmla="*/ 579 h 841"/>
                <a:gd name="T28" fmla="*/ 1065 w 4321"/>
                <a:gd name="T29" fmla="*/ 628 h 841"/>
                <a:gd name="T30" fmla="*/ 1133 w 4321"/>
                <a:gd name="T31" fmla="*/ 678 h 841"/>
                <a:gd name="T32" fmla="*/ 1208 w 4321"/>
                <a:gd name="T33" fmla="*/ 727 h 841"/>
                <a:gd name="T34" fmla="*/ 1277 w 4321"/>
                <a:gd name="T35" fmla="*/ 770 h 841"/>
                <a:gd name="T36" fmla="*/ 1352 w 4321"/>
                <a:gd name="T37" fmla="*/ 805 h 841"/>
                <a:gd name="T38" fmla="*/ 1420 w 4321"/>
                <a:gd name="T39" fmla="*/ 826 h 841"/>
                <a:gd name="T40" fmla="*/ 1495 w 4321"/>
                <a:gd name="T41" fmla="*/ 840 h 841"/>
                <a:gd name="T42" fmla="*/ 1563 w 4321"/>
                <a:gd name="T43" fmla="*/ 840 h 841"/>
                <a:gd name="T44" fmla="*/ 1638 w 4321"/>
                <a:gd name="T45" fmla="*/ 826 h 841"/>
                <a:gd name="T46" fmla="*/ 1707 w 4321"/>
                <a:gd name="T47" fmla="*/ 798 h 841"/>
                <a:gd name="T48" fmla="*/ 1782 w 4321"/>
                <a:gd name="T49" fmla="*/ 763 h 841"/>
                <a:gd name="T50" fmla="*/ 1850 w 4321"/>
                <a:gd name="T51" fmla="*/ 713 h 841"/>
                <a:gd name="T52" fmla="*/ 1918 w 4321"/>
                <a:gd name="T53" fmla="*/ 650 h 841"/>
                <a:gd name="T54" fmla="*/ 1993 w 4321"/>
                <a:gd name="T55" fmla="*/ 579 h 841"/>
                <a:gd name="T56" fmla="*/ 2061 w 4321"/>
                <a:gd name="T57" fmla="*/ 508 h 841"/>
                <a:gd name="T58" fmla="*/ 2136 w 4321"/>
                <a:gd name="T59" fmla="*/ 431 h 841"/>
                <a:gd name="T60" fmla="*/ 2205 w 4321"/>
                <a:gd name="T61" fmla="*/ 353 h 841"/>
                <a:gd name="T62" fmla="*/ 2280 w 4321"/>
                <a:gd name="T63" fmla="*/ 282 h 841"/>
                <a:gd name="T64" fmla="*/ 2348 w 4321"/>
                <a:gd name="T65" fmla="*/ 212 h 841"/>
                <a:gd name="T66" fmla="*/ 2423 w 4321"/>
                <a:gd name="T67" fmla="*/ 155 h 841"/>
                <a:gd name="T68" fmla="*/ 2491 w 4321"/>
                <a:gd name="T69" fmla="*/ 106 h 841"/>
                <a:gd name="T70" fmla="*/ 2566 w 4321"/>
                <a:gd name="T71" fmla="*/ 71 h 841"/>
                <a:gd name="T72" fmla="*/ 2635 w 4321"/>
                <a:gd name="T73" fmla="*/ 42 h 841"/>
                <a:gd name="T74" fmla="*/ 2710 w 4321"/>
                <a:gd name="T75" fmla="*/ 35 h 841"/>
                <a:gd name="T76" fmla="*/ 2778 w 4321"/>
                <a:gd name="T77" fmla="*/ 35 h 841"/>
                <a:gd name="T78" fmla="*/ 2846 w 4321"/>
                <a:gd name="T79" fmla="*/ 49 h 841"/>
                <a:gd name="T80" fmla="*/ 2921 w 4321"/>
                <a:gd name="T81" fmla="*/ 78 h 841"/>
                <a:gd name="T82" fmla="*/ 2990 w 4321"/>
                <a:gd name="T83" fmla="*/ 113 h 841"/>
                <a:gd name="T84" fmla="*/ 3065 w 4321"/>
                <a:gd name="T85" fmla="*/ 155 h 841"/>
                <a:gd name="T86" fmla="*/ 3133 w 4321"/>
                <a:gd name="T87" fmla="*/ 205 h 841"/>
                <a:gd name="T88" fmla="*/ 3208 w 4321"/>
                <a:gd name="T89" fmla="*/ 254 h 841"/>
                <a:gd name="T90" fmla="*/ 3276 w 4321"/>
                <a:gd name="T91" fmla="*/ 304 h 841"/>
                <a:gd name="T92" fmla="*/ 3351 w 4321"/>
                <a:gd name="T93" fmla="*/ 353 h 841"/>
                <a:gd name="T94" fmla="*/ 3420 w 4321"/>
                <a:gd name="T95" fmla="*/ 395 h 841"/>
                <a:gd name="T96" fmla="*/ 3495 w 4321"/>
                <a:gd name="T97" fmla="*/ 424 h 841"/>
                <a:gd name="T98" fmla="*/ 3563 w 4321"/>
                <a:gd name="T99" fmla="*/ 452 h 841"/>
                <a:gd name="T100" fmla="*/ 3638 w 4321"/>
                <a:gd name="T101" fmla="*/ 459 h 841"/>
                <a:gd name="T102" fmla="*/ 3706 w 4321"/>
                <a:gd name="T103" fmla="*/ 459 h 841"/>
                <a:gd name="T104" fmla="*/ 3774 w 4321"/>
                <a:gd name="T105" fmla="*/ 445 h 841"/>
                <a:gd name="T106" fmla="*/ 3850 w 4321"/>
                <a:gd name="T107" fmla="*/ 417 h 841"/>
                <a:gd name="T108" fmla="*/ 3918 w 4321"/>
                <a:gd name="T109" fmla="*/ 374 h 841"/>
                <a:gd name="T110" fmla="*/ 3993 w 4321"/>
                <a:gd name="T111" fmla="*/ 325 h 841"/>
                <a:gd name="T112" fmla="*/ 4061 w 4321"/>
                <a:gd name="T113" fmla="*/ 261 h 841"/>
                <a:gd name="T114" fmla="*/ 4136 w 4321"/>
                <a:gd name="T115" fmla="*/ 191 h 841"/>
                <a:gd name="T116" fmla="*/ 4204 w 4321"/>
                <a:gd name="T117" fmla="*/ 120 h 841"/>
                <a:gd name="T118" fmla="*/ 4279 w 4321"/>
                <a:gd name="T119" fmla="*/ 42 h 84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4321"/>
                <a:gd name="T181" fmla="*/ 0 h 841"/>
                <a:gd name="T182" fmla="*/ 4321 w 4321"/>
                <a:gd name="T183" fmla="*/ 841 h 84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4321" h="841">
                  <a:moveTo>
                    <a:pt x="0" y="805"/>
                  </a:moveTo>
                  <a:lnTo>
                    <a:pt x="14" y="798"/>
                  </a:lnTo>
                  <a:lnTo>
                    <a:pt x="21" y="784"/>
                  </a:lnTo>
                  <a:lnTo>
                    <a:pt x="34" y="777"/>
                  </a:lnTo>
                  <a:lnTo>
                    <a:pt x="41" y="763"/>
                  </a:lnTo>
                  <a:lnTo>
                    <a:pt x="55" y="756"/>
                  </a:lnTo>
                  <a:lnTo>
                    <a:pt x="62" y="741"/>
                  </a:lnTo>
                  <a:lnTo>
                    <a:pt x="75" y="734"/>
                  </a:lnTo>
                  <a:lnTo>
                    <a:pt x="82" y="720"/>
                  </a:lnTo>
                  <a:lnTo>
                    <a:pt x="96" y="713"/>
                  </a:lnTo>
                  <a:lnTo>
                    <a:pt x="103" y="699"/>
                  </a:lnTo>
                  <a:lnTo>
                    <a:pt x="116" y="692"/>
                  </a:lnTo>
                  <a:lnTo>
                    <a:pt x="123" y="678"/>
                  </a:lnTo>
                  <a:lnTo>
                    <a:pt x="137" y="671"/>
                  </a:lnTo>
                  <a:lnTo>
                    <a:pt x="144" y="657"/>
                  </a:lnTo>
                  <a:lnTo>
                    <a:pt x="157" y="650"/>
                  </a:lnTo>
                  <a:lnTo>
                    <a:pt x="164" y="643"/>
                  </a:lnTo>
                  <a:lnTo>
                    <a:pt x="178" y="628"/>
                  </a:lnTo>
                  <a:lnTo>
                    <a:pt x="185" y="621"/>
                  </a:lnTo>
                  <a:lnTo>
                    <a:pt x="198" y="614"/>
                  </a:lnTo>
                  <a:lnTo>
                    <a:pt x="205" y="600"/>
                  </a:lnTo>
                  <a:lnTo>
                    <a:pt x="219" y="593"/>
                  </a:lnTo>
                  <a:lnTo>
                    <a:pt x="226" y="586"/>
                  </a:lnTo>
                  <a:lnTo>
                    <a:pt x="239" y="572"/>
                  </a:lnTo>
                  <a:lnTo>
                    <a:pt x="246" y="565"/>
                  </a:lnTo>
                  <a:lnTo>
                    <a:pt x="260" y="558"/>
                  </a:lnTo>
                  <a:lnTo>
                    <a:pt x="266" y="551"/>
                  </a:lnTo>
                  <a:lnTo>
                    <a:pt x="280" y="544"/>
                  </a:lnTo>
                  <a:lnTo>
                    <a:pt x="287" y="537"/>
                  </a:lnTo>
                  <a:lnTo>
                    <a:pt x="301" y="530"/>
                  </a:lnTo>
                  <a:lnTo>
                    <a:pt x="307" y="523"/>
                  </a:lnTo>
                  <a:lnTo>
                    <a:pt x="321" y="515"/>
                  </a:lnTo>
                  <a:lnTo>
                    <a:pt x="328" y="508"/>
                  </a:lnTo>
                  <a:lnTo>
                    <a:pt x="342" y="501"/>
                  </a:lnTo>
                  <a:lnTo>
                    <a:pt x="348" y="494"/>
                  </a:lnTo>
                  <a:lnTo>
                    <a:pt x="362" y="487"/>
                  </a:lnTo>
                  <a:lnTo>
                    <a:pt x="369" y="480"/>
                  </a:lnTo>
                  <a:lnTo>
                    <a:pt x="382" y="473"/>
                  </a:lnTo>
                  <a:lnTo>
                    <a:pt x="389" y="466"/>
                  </a:lnTo>
                  <a:lnTo>
                    <a:pt x="403" y="466"/>
                  </a:lnTo>
                  <a:lnTo>
                    <a:pt x="410" y="459"/>
                  </a:lnTo>
                  <a:lnTo>
                    <a:pt x="423" y="452"/>
                  </a:lnTo>
                  <a:lnTo>
                    <a:pt x="430" y="452"/>
                  </a:lnTo>
                  <a:lnTo>
                    <a:pt x="444" y="445"/>
                  </a:lnTo>
                  <a:lnTo>
                    <a:pt x="451" y="438"/>
                  </a:lnTo>
                  <a:lnTo>
                    <a:pt x="464" y="438"/>
                  </a:lnTo>
                  <a:lnTo>
                    <a:pt x="471" y="431"/>
                  </a:lnTo>
                  <a:lnTo>
                    <a:pt x="485" y="431"/>
                  </a:lnTo>
                  <a:lnTo>
                    <a:pt x="492" y="431"/>
                  </a:lnTo>
                  <a:lnTo>
                    <a:pt x="505" y="424"/>
                  </a:lnTo>
                  <a:lnTo>
                    <a:pt x="512" y="424"/>
                  </a:lnTo>
                  <a:lnTo>
                    <a:pt x="526" y="424"/>
                  </a:lnTo>
                  <a:lnTo>
                    <a:pt x="533" y="417"/>
                  </a:lnTo>
                  <a:lnTo>
                    <a:pt x="546" y="417"/>
                  </a:lnTo>
                  <a:lnTo>
                    <a:pt x="553" y="417"/>
                  </a:lnTo>
                  <a:lnTo>
                    <a:pt x="567" y="417"/>
                  </a:lnTo>
                  <a:lnTo>
                    <a:pt x="574" y="417"/>
                  </a:lnTo>
                  <a:lnTo>
                    <a:pt x="587" y="417"/>
                  </a:lnTo>
                  <a:lnTo>
                    <a:pt x="594" y="417"/>
                  </a:lnTo>
                  <a:lnTo>
                    <a:pt x="608" y="417"/>
                  </a:lnTo>
                  <a:lnTo>
                    <a:pt x="615" y="417"/>
                  </a:lnTo>
                  <a:lnTo>
                    <a:pt x="628" y="417"/>
                  </a:lnTo>
                  <a:lnTo>
                    <a:pt x="635" y="417"/>
                  </a:lnTo>
                  <a:lnTo>
                    <a:pt x="649" y="417"/>
                  </a:lnTo>
                  <a:lnTo>
                    <a:pt x="655" y="417"/>
                  </a:lnTo>
                  <a:lnTo>
                    <a:pt x="669" y="424"/>
                  </a:lnTo>
                  <a:lnTo>
                    <a:pt x="676" y="424"/>
                  </a:lnTo>
                  <a:lnTo>
                    <a:pt x="690" y="424"/>
                  </a:lnTo>
                  <a:lnTo>
                    <a:pt x="696" y="424"/>
                  </a:lnTo>
                  <a:lnTo>
                    <a:pt x="710" y="431"/>
                  </a:lnTo>
                  <a:lnTo>
                    <a:pt x="717" y="431"/>
                  </a:lnTo>
                  <a:lnTo>
                    <a:pt x="731" y="438"/>
                  </a:lnTo>
                  <a:lnTo>
                    <a:pt x="737" y="438"/>
                  </a:lnTo>
                  <a:lnTo>
                    <a:pt x="751" y="445"/>
                  </a:lnTo>
                  <a:lnTo>
                    <a:pt x="758" y="445"/>
                  </a:lnTo>
                  <a:lnTo>
                    <a:pt x="772" y="452"/>
                  </a:lnTo>
                  <a:lnTo>
                    <a:pt x="778" y="452"/>
                  </a:lnTo>
                  <a:lnTo>
                    <a:pt x="792" y="459"/>
                  </a:lnTo>
                  <a:lnTo>
                    <a:pt x="799" y="466"/>
                  </a:lnTo>
                  <a:lnTo>
                    <a:pt x="812" y="466"/>
                  </a:lnTo>
                  <a:lnTo>
                    <a:pt x="819" y="473"/>
                  </a:lnTo>
                  <a:lnTo>
                    <a:pt x="833" y="480"/>
                  </a:lnTo>
                  <a:lnTo>
                    <a:pt x="840" y="487"/>
                  </a:lnTo>
                  <a:lnTo>
                    <a:pt x="853" y="487"/>
                  </a:lnTo>
                  <a:lnTo>
                    <a:pt x="860" y="494"/>
                  </a:lnTo>
                  <a:lnTo>
                    <a:pt x="874" y="501"/>
                  </a:lnTo>
                  <a:lnTo>
                    <a:pt x="881" y="508"/>
                  </a:lnTo>
                  <a:lnTo>
                    <a:pt x="894" y="515"/>
                  </a:lnTo>
                  <a:lnTo>
                    <a:pt x="901" y="523"/>
                  </a:lnTo>
                  <a:lnTo>
                    <a:pt x="915" y="523"/>
                  </a:lnTo>
                  <a:lnTo>
                    <a:pt x="922" y="530"/>
                  </a:lnTo>
                  <a:lnTo>
                    <a:pt x="928" y="537"/>
                  </a:lnTo>
                  <a:lnTo>
                    <a:pt x="942" y="544"/>
                  </a:lnTo>
                  <a:lnTo>
                    <a:pt x="949" y="551"/>
                  </a:lnTo>
                  <a:lnTo>
                    <a:pt x="963" y="558"/>
                  </a:lnTo>
                  <a:lnTo>
                    <a:pt x="969" y="565"/>
                  </a:lnTo>
                  <a:lnTo>
                    <a:pt x="983" y="572"/>
                  </a:lnTo>
                  <a:lnTo>
                    <a:pt x="990" y="579"/>
                  </a:lnTo>
                  <a:lnTo>
                    <a:pt x="1004" y="586"/>
                  </a:lnTo>
                  <a:lnTo>
                    <a:pt x="1010" y="593"/>
                  </a:lnTo>
                  <a:lnTo>
                    <a:pt x="1024" y="600"/>
                  </a:lnTo>
                  <a:lnTo>
                    <a:pt x="1031" y="607"/>
                  </a:lnTo>
                  <a:lnTo>
                    <a:pt x="1044" y="614"/>
                  </a:lnTo>
                  <a:lnTo>
                    <a:pt x="1051" y="621"/>
                  </a:lnTo>
                  <a:lnTo>
                    <a:pt x="1065" y="628"/>
                  </a:lnTo>
                  <a:lnTo>
                    <a:pt x="1072" y="636"/>
                  </a:lnTo>
                  <a:lnTo>
                    <a:pt x="1085" y="643"/>
                  </a:lnTo>
                  <a:lnTo>
                    <a:pt x="1092" y="650"/>
                  </a:lnTo>
                  <a:lnTo>
                    <a:pt x="1106" y="657"/>
                  </a:lnTo>
                  <a:lnTo>
                    <a:pt x="1113" y="664"/>
                  </a:lnTo>
                  <a:lnTo>
                    <a:pt x="1126" y="671"/>
                  </a:lnTo>
                  <a:lnTo>
                    <a:pt x="1133" y="678"/>
                  </a:lnTo>
                  <a:lnTo>
                    <a:pt x="1147" y="685"/>
                  </a:lnTo>
                  <a:lnTo>
                    <a:pt x="1154" y="692"/>
                  </a:lnTo>
                  <a:lnTo>
                    <a:pt x="1167" y="699"/>
                  </a:lnTo>
                  <a:lnTo>
                    <a:pt x="1174" y="706"/>
                  </a:lnTo>
                  <a:lnTo>
                    <a:pt x="1188" y="713"/>
                  </a:lnTo>
                  <a:lnTo>
                    <a:pt x="1195" y="720"/>
                  </a:lnTo>
                  <a:lnTo>
                    <a:pt x="1208" y="727"/>
                  </a:lnTo>
                  <a:lnTo>
                    <a:pt x="1215" y="734"/>
                  </a:lnTo>
                  <a:lnTo>
                    <a:pt x="1229" y="741"/>
                  </a:lnTo>
                  <a:lnTo>
                    <a:pt x="1236" y="749"/>
                  </a:lnTo>
                  <a:lnTo>
                    <a:pt x="1249" y="756"/>
                  </a:lnTo>
                  <a:lnTo>
                    <a:pt x="1256" y="763"/>
                  </a:lnTo>
                  <a:lnTo>
                    <a:pt x="1270" y="763"/>
                  </a:lnTo>
                  <a:lnTo>
                    <a:pt x="1277" y="770"/>
                  </a:lnTo>
                  <a:lnTo>
                    <a:pt x="1290" y="777"/>
                  </a:lnTo>
                  <a:lnTo>
                    <a:pt x="1297" y="784"/>
                  </a:lnTo>
                  <a:lnTo>
                    <a:pt x="1311" y="784"/>
                  </a:lnTo>
                  <a:lnTo>
                    <a:pt x="1317" y="791"/>
                  </a:lnTo>
                  <a:lnTo>
                    <a:pt x="1331" y="798"/>
                  </a:lnTo>
                  <a:lnTo>
                    <a:pt x="1338" y="798"/>
                  </a:lnTo>
                  <a:lnTo>
                    <a:pt x="1352" y="805"/>
                  </a:lnTo>
                  <a:lnTo>
                    <a:pt x="1358" y="812"/>
                  </a:lnTo>
                  <a:lnTo>
                    <a:pt x="1372" y="812"/>
                  </a:lnTo>
                  <a:lnTo>
                    <a:pt x="1379" y="819"/>
                  </a:lnTo>
                  <a:lnTo>
                    <a:pt x="1393" y="819"/>
                  </a:lnTo>
                  <a:lnTo>
                    <a:pt x="1399" y="826"/>
                  </a:lnTo>
                  <a:lnTo>
                    <a:pt x="1413" y="826"/>
                  </a:lnTo>
                  <a:lnTo>
                    <a:pt x="1420" y="826"/>
                  </a:lnTo>
                  <a:lnTo>
                    <a:pt x="1434" y="833"/>
                  </a:lnTo>
                  <a:lnTo>
                    <a:pt x="1440" y="833"/>
                  </a:lnTo>
                  <a:lnTo>
                    <a:pt x="1454" y="833"/>
                  </a:lnTo>
                  <a:lnTo>
                    <a:pt x="1461" y="840"/>
                  </a:lnTo>
                  <a:lnTo>
                    <a:pt x="1474" y="840"/>
                  </a:lnTo>
                  <a:lnTo>
                    <a:pt x="1481" y="840"/>
                  </a:lnTo>
                  <a:lnTo>
                    <a:pt x="1495" y="840"/>
                  </a:lnTo>
                  <a:lnTo>
                    <a:pt x="1502" y="840"/>
                  </a:lnTo>
                  <a:lnTo>
                    <a:pt x="1515" y="840"/>
                  </a:lnTo>
                  <a:lnTo>
                    <a:pt x="1522" y="840"/>
                  </a:lnTo>
                  <a:lnTo>
                    <a:pt x="1536" y="840"/>
                  </a:lnTo>
                  <a:lnTo>
                    <a:pt x="1543" y="840"/>
                  </a:lnTo>
                  <a:lnTo>
                    <a:pt x="1556" y="840"/>
                  </a:lnTo>
                  <a:lnTo>
                    <a:pt x="1563" y="840"/>
                  </a:lnTo>
                  <a:lnTo>
                    <a:pt x="1577" y="840"/>
                  </a:lnTo>
                  <a:lnTo>
                    <a:pt x="1584" y="840"/>
                  </a:lnTo>
                  <a:lnTo>
                    <a:pt x="1597" y="833"/>
                  </a:lnTo>
                  <a:lnTo>
                    <a:pt x="1604" y="833"/>
                  </a:lnTo>
                  <a:lnTo>
                    <a:pt x="1618" y="833"/>
                  </a:lnTo>
                  <a:lnTo>
                    <a:pt x="1625" y="833"/>
                  </a:lnTo>
                  <a:lnTo>
                    <a:pt x="1638" y="826"/>
                  </a:lnTo>
                  <a:lnTo>
                    <a:pt x="1645" y="826"/>
                  </a:lnTo>
                  <a:lnTo>
                    <a:pt x="1659" y="819"/>
                  </a:lnTo>
                  <a:lnTo>
                    <a:pt x="1666" y="819"/>
                  </a:lnTo>
                  <a:lnTo>
                    <a:pt x="1679" y="812"/>
                  </a:lnTo>
                  <a:lnTo>
                    <a:pt x="1686" y="812"/>
                  </a:lnTo>
                  <a:lnTo>
                    <a:pt x="1700" y="805"/>
                  </a:lnTo>
                  <a:lnTo>
                    <a:pt x="1707" y="798"/>
                  </a:lnTo>
                  <a:lnTo>
                    <a:pt x="1720" y="798"/>
                  </a:lnTo>
                  <a:lnTo>
                    <a:pt x="1727" y="791"/>
                  </a:lnTo>
                  <a:lnTo>
                    <a:pt x="1741" y="784"/>
                  </a:lnTo>
                  <a:lnTo>
                    <a:pt x="1747" y="777"/>
                  </a:lnTo>
                  <a:lnTo>
                    <a:pt x="1761" y="777"/>
                  </a:lnTo>
                  <a:lnTo>
                    <a:pt x="1768" y="770"/>
                  </a:lnTo>
                  <a:lnTo>
                    <a:pt x="1782" y="763"/>
                  </a:lnTo>
                  <a:lnTo>
                    <a:pt x="1788" y="756"/>
                  </a:lnTo>
                  <a:lnTo>
                    <a:pt x="1802" y="749"/>
                  </a:lnTo>
                  <a:lnTo>
                    <a:pt x="1809" y="741"/>
                  </a:lnTo>
                  <a:lnTo>
                    <a:pt x="1823" y="734"/>
                  </a:lnTo>
                  <a:lnTo>
                    <a:pt x="1829" y="727"/>
                  </a:lnTo>
                  <a:lnTo>
                    <a:pt x="1843" y="720"/>
                  </a:lnTo>
                  <a:lnTo>
                    <a:pt x="1850" y="713"/>
                  </a:lnTo>
                  <a:lnTo>
                    <a:pt x="1857" y="699"/>
                  </a:lnTo>
                  <a:lnTo>
                    <a:pt x="1870" y="692"/>
                  </a:lnTo>
                  <a:lnTo>
                    <a:pt x="1877" y="685"/>
                  </a:lnTo>
                  <a:lnTo>
                    <a:pt x="1891" y="678"/>
                  </a:lnTo>
                  <a:lnTo>
                    <a:pt x="1898" y="671"/>
                  </a:lnTo>
                  <a:lnTo>
                    <a:pt x="1911" y="657"/>
                  </a:lnTo>
                  <a:lnTo>
                    <a:pt x="1918" y="650"/>
                  </a:lnTo>
                  <a:lnTo>
                    <a:pt x="1932" y="643"/>
                  </a:lnTo>
                  <a:lnTo>
                    <a:pt x="1939" y="628"/>
                  </a:lnTo>
                  <a:lnTo>
                    <a:pt x="1952" y="621"/>
                  </a:lnTo>
                  <a:lnTo>
                    <a:pt x="1959" y="614"/>
                  </a:lnTo>
                  <a:lnTo>
                    <a:pt x="1973" y="600"/>
                  </a:lnTo>
                  <a:lnTo>
                    <a:pt x="1980" y="593"/>
                  </a:lnTo>
                  <a:lnTo>
                    <a:pt x="1993" y="579"/>
                  </a:lnTo>
                  <a:lnTo>
                    <a:pt x="2000" y="572"/>
                  </a:lnTo>
                  <a:lnTo>
                    <a:pt x="2014" y="558"/>
                  </a:lnTo>
                  <a:lnTo>
                    <a:pt x="2020" y="551"/>
                  </a:lnTo>
                  <a:lnTo>
                    <a:pt x="2034" y="537"/>
                  </a:lnTo>
                  <a:lnTo>
                    <a:pt x="2041" y="530"/>
                  </a:lnTo>
                  <a:lnTo>
                    <a:pt x="2055" y="515"/>
                  </a:lnTo>
                  <a:lnTo>
                    <a:pt x="2061" y="508"/>
                  </a:lnTo>
                  <a:lnTo>
                    <a:pt x="2075" y="494"/>
                  </a:lnTo>
                  <a:lnTo>
                    <a:pt x="2082" y="487"/>
                  </a:lnTo>
                  <a:lnTo>
                    <a:pt x="2096" y="473"/>
                  </a:lnTo>
                  <a:lnTo>
                    <a:pt x="2102" y="466"/>
                  </a:lnTo>
                  <a:lnTo>
                    <a:pt x="2116" y="452"/>
                  </a:lnTo>
                  <a:lnTo>
                    <a:pt x="2123" y="445"/>
                  </a:lnTo>
                  <a:lnTo>
                    <a:pt x="2136" y="431"/>
                  </a:lnTo>
                  <a:lnTo>
                    <a:pt x="2143" y="424"/>
                  </a:lnTo>
                  <a:lnTo>
                    <a:pt x="2157" y="410"/>
                  </a:lnTo>
                  <a:lnTo>
                    <a:pt x="2164" y="395"/>
                  </a:lnTo>
                  <a:lnTo>
                    <a:pt x="2177" y="388"/>
                  </a:lnTo>
                  <a:lnTo>
                    <a:pt x="2184" y="374"/>
                  </a:lnTo>
                  <a:lnTo>
                    <a:pt x="2198" y="367"/>
                  </a:lnTo>
                  <a:lnTo>
                    <a:pt x="2205" y="353"/>
                  </a:lnTo>
                  <a:lnTo>
                    <a:pt x="2218" y="346"/>
                  </a:lnTo>
                  <a:lnTo>
                    <a:pt x="2225" y="332"/>
                  </a:lnTo>
                  <a:lnTo>
                    <a:pt x="2239" y="325"/>
                  </a:lnTo>
                  <a:lnTo>
                    <a:pt x="2246" y="311"/>
                  </a:lnTo>
                  <a:lnTo>
                    <a:pt x="2259" y="304"/>
                  </a:lnTo>
                  <a:lnTo>
                    <a:pt x="2266" y="290"/>
                  </a:lnTo>
                  <a:lnTo>
                    <a:pt x="2280" y="282"/>
                  </a:lnTo>
                  <a:lnTo>
                    <a:pt x="2287" y="275"/>
                  </a:lnTo>
                  <a:lnTo>
                    <a:pt x="2300" y="261"/>
                  </a:lnTo>
                  <a:lnTo>
                    <a:pt x="2307" y="254"/>
                  </a:lnTo>
                  <a:lnTo>
                    <a:pt x="2321" y="240"/>
                  </a:lnTo>
                  <a:lnTo>
                    <a:pt x="2328" y="233"/>
                  </a:lnTo>
                  <a:lnTo>
                    <a:pt x="2341" y="226"/>
                  </a:lnTo>
                  <a:lnTo>
                    <a:pt x="2348" y="212"/>
                  </a:lnTo>
                  <a:lnTo>
                    <a:pt x="2362" y="205"/>
                  </a:lnTo>
                  <a:lnTo>
                    <a:pt x="2369" y="198"/>
                  </a:lnTo>
                  <a:lnTo>
                    <a:pt x="2382" y="191"/>
                  </a:lnTo>
                  <a:lnTo>
                    <a:pt x="2389" y="184"/>
                  </a:lnTo>
                  <a:lnTo>
                    <a:pt x="2403" y="169"/>
                  </a:lnTo>
                  <a:lnTo>
                    <a:pt x="2409" y="162"/>
                  </a:lnTo>
                  <a:lnTo>
                    <a:pt x="2423" y="155"/>
                  </a:lnTo>
                  <a:lnTo>
                    <a:pt x="2430" y="148"/>
                  </a:lnTo>
                  <a:lnTo>
                    <a:pt x="2444" y="141"/>
                  </a:lnTo>
                  <a:lnTo>
                    <a:pt x="2450" y="134"/>
                  </a:lnTo>
                  <a:lnTo>
                    <a:pt x="2464" y="127"/>
                  </a:lnTo>
                  <a:lnTo>
                    <a:pt x="2471" y="120"/>
                  </a:lnTo>
                  <a:lnTo>
                    <a:pt x="2485" y="113"/>
                  </a:lnTo>
                  <a:lnTo>
                    <a:pt x="2491" y="106"/>
                  </a:lnTo>
                  <a:lnTo>
                    <a:pt x="2505" y="99"/>
                  </a:lnTo>
                  <a:lnTo>
                    <a:pt x="2512" y="92"/>
                  </a:lnTo>
                  <a:lnTo>
                    <a:pt x="2525" y="92"/>
                  </a:lnTo>
                  <a:lnTo>
                    <a:pt x="2532" y="85"/>
                  </a:lnTo>
                  <a:lnTo>
                    <a:pt x="2546" y="78"/>
                  </a:lnTo>
                  <a:lnTo>
                    <a:pt x="2553" y="71"/>
                  </a:lnTo>
                  <a:lnTo>
                    <a:pt x="2566" y="71"/>
                  </a:lnTo>
                  <a:lnTo>
                    <a:pt x="2573" y="64"/>
                  </a:lnTo>
                  <a:lnTo>
                    <a:pt x="2587" y="64"/>
                  </a:lnTo>
                  <a:lnTo>
                    <a:pt x="2594" y="56"/>
                  </a:lnTo>
                  <a:lnTo>
                    <a:pt x="2607" y="56"/>
                  </a:lnTo>
                  <a:lnTo>
                    <a:pt x="2614" y="49"/>
                  </a:lnTo>
                  <a:lnTo>
                    <a:pt x="2628" y="49"/>
                  </a:lnTo>
                  <a:lnTo>
                    <a:pt x="2635" y="42"/>
                  </a:lnTo>
                  <a:lnTo>
                    <a:pt x="2648" y="42"/>
                  </a:lnTo>
                  <a:lnTo>
                    <a:pt x="2655" y="42"/>
                  </a:lnTo>
                  <a:lnTo>
                    <a:pt x="2669" y="35"/>
                  </a:lnTo>
                  <a:lnTo>
                    <a:pt x="2676" y="35"/>
                  </a:lnTo>
                  <a:lnTo>
                    <a:pt x="2689" y="35"/>
                  </a:lnTo>
                  <a:lnTo>
                    <a:pt x="2696" y="35"/>
                  </a:lnTo>
                  <a:lnTo>
                    <a:pt x="2710" y="35"/>
                  </a:lnTo>
                  <a:lnTo>
                    <a:pt x="2717" y="35"/>
                  </a:lnTo>
                  <a:lnTo>
                    <a:pt x="2730" y="35"/>
                  </a:lnTo>
                  <a:lnTo>
                    <a:pt x="2737" y="35"/>
                  </a:lnTo>
                  <a:lnTo>
                    <a:pt x="2751" y="35"/>
                  </a:lnTo>
                  <a:lnTo>
                    <a:pt x="2758" y="35"/>
                  </a:lnTo>
                  <a:lnTo>
                    <a:pt x="2771" y="35"/>
                  </a:lnTo>
                  <a:lnTo>
                    <a:pt x="2778" y="35"/>
                  </a:lnTo>
                  <a:lnTo>
                    <a:pt x="2785" y="35"/>
                  </a:lnTo>
                  <a:lnTo>
                    <a:pt x="2798" y="35"/>
                  </a:lnTo>
                  <a:lnTo>
                    <a:pt x="2805" y="42"/>
                  </a:lnTo>
                  <a:lnTo>
                    <a:pt x="2819" y="42"/>
                  </a:lnTo>
                  <a:lnTo>
                    <a:pt x="2826" y="42"/>
                  </a:lnTo>
                  <a:lnTo>
                    <a:pt x="2839" y="49"/>
                  </a:lnTo>
                  <a:lnTo>
                    <a:pt x="2846" y="49"/>
                  </a:lnTo>
                  <a:lnTo>
                    <a:pt x="2860" y="49"/>
                  </a:lnTo>
                  <a:lnTo>
                    <a:pt x="2867" y="56"/>
                  </a:lnTo>
                  <a:lnTo>
                    <a:pt x="2880" y="56"/>
                  </a:lnTo>
                  <a:lnTo>
                    <a:pt x="2887" y="64"/>
                  </a:lnTo>
                  <a:lnTo>
                    <a:pt x="2901" y="64"/>
                  </a:lnTo>
                  <a:lnTo>
                    <a:pt x="2908" y="71"/>
                  </a:lnTo>
                  <a:lnTo>
                    <a:pt x="2921" y="78"/>
                  </a:lnTo>
                  <a:lnTo>
                    <a:pt x="2928" y="78"/>
                  </a:lnTo>
                  <a:lnTo>
                    <a:pt x="2942" y="85"/>
                  </a:lnTo>
                  <a:lnTo>
                    <a:pt x="2949" y="92"/>
                  </a:lnTo>
                  <a:lnTo>
                    <a:pt x="2962" y="92"/>
                  </a:lnTo>
                  <a:lnTo>
                    <a:pt x="2969" y="99"/>
                  </a:lnTo>
                  <a:lnTo>
                    <a:pt x="2983" y="106"/>
                  </a:lnTo>
                  <a:lnTo>
                    <a:pt x="2990" y="113"/>
                  </a:lnTo>
                  <a:lnTo>
                    <a:pt x="3003" y="120"/>
                  </a:lnTo>
                  <a:lnTo>
                    <a:pt x="3010" y="120"/>
                  </a:lnTo>
                  <a:lnTo>
                    <a:pt x="3024" y="127"/>
                  </a:lnTo>
                  <a:lnTo>
                    <a:pt x="3031" y="134"/>
                  </a:lnTo>
                  <a:lnTo>
                    <a:pt x="3044" y="141"/>
                  </a:lnTo>
                  <a:lnTo>
                    <a:pt x="3051" y="148"/>
                  </a:lnTo>
                  <a:lnTo>
                    <a:pt x="3065" y="155"/>
                  </a:lnTo>
                  <a:lnTo>
                    <a:pt x="3071" y="162"/>
                  </a:lnTo>
                  <a:lnTo>
                    <a:pt x="3085" y="169"/>
                  </a:lnTo>
                  <a:lnTo>
                    <a:pt x="3092" y="177"/>
                  </a:lnTo>
                  <a:lnTo>
                    <a:pt x="3106" y="184"/>
                  </a:lnTo>
                  <a:lnTo>
                    <a:pt x="3112" y="191"/>
                  </a:lnTo>
                  <a:lnTo>
                    <a:pt x="3126" y="198"/>
                  </a:lnTo>
                  <a:lnTo>
                    <a:pt x="3133" y="205"/>
                  </a:lnTo>
                  <a:lnTo>
                    <a:pt x="3147" y="212"/>
                  </a:lnTo>
                  <a:lnTo>
                    <a:pt x="3153" y="219"/>
                  </a:lnTo>
                  <a:lnTo>
                    <a:pt x="3167" y="226"/>
                  </a:lnTo>
                  <a:lnTo>
                    <a:pt x="3174" y="233"/>
                  </a:lnTo>
                  <a:lnTo>
                    <a:pt x="3188" y="240"/>
                  </a:lnTo>
                  <a:lnTo>
                    <a:pt x="3194" y="247"/>
                  </a:lnTo>
                  <a:lnTo>
                    <a:pt x="3208" y="254"/>
                  </a:lnTo>
                  <a:lnTo>
                    <a:pt x="3215" y="261"/>
                  </a:lnTo>
                  <a:lnTo>
                    <a:pt x="3228" y="268"/>
                  </a:lnTo>
                  <a:lnTo>
                    <a:pt x="3235" y="275"/>
                  </a:lnTo>
                  <a:lnTo>
                    <a:pt x="3249" y="282"/>
                  </a:lnTo>
                  <a:lnTo>
                    <a:pt x="3256" y="290"/>
                  </a:lnTo>
                  <a:lnTo>
                    <a:pt x="3269" y="297"/>
                  </a:lnTo>
                  <a:lnTo>
                    <a:pt x="3276" y="304"/>
                  </a:lnTo>
                  <a:lnTo>
                    <a:pt x="3290" y="311"/>
                  </a:lnTo>
                  <a:lnTo>
                    <a:pt x="3297" y="318"/>
                  </a:lnTo>
                  <a:lnTo>
                    <a:pt x="3310" y="325"/>
                  </a:lnTo>
                  <a:lnTo>
                    <a:pt x="3317" y="332"/>
                  </a:lnTo>
                  <a:lnTo>
                    <a:pt x="3331" y="339"/>
                  </a:lnTo>
                  <a:lnTo>
                    <a:pt x="3338" y="346"/>
                  </a:lnTo>
                  <a:lnTo>
                    <a:pt x="3351" y="353"/>
                  </a:lnTo>
                  <a:lnTo>
                    <a:pt x="3358" y="360"/>
                  </a:lnTo>
                  <a:lnTo>
                    <a:pt x="3372" y="360"/>
                  </a:lnTo>
                  <a:lnTo>
                    <a:pt x="3379" y="367"/>
                  </a:lnTo>
                  <a:lnTo>
                    <a:pt x="3392" y="374"/>
                  </a:lnTo>
                  <a:lnTo>
                    <a:pt x="3399" y="381"/>
                  </a:lnTo>
                  <a:lnTo>
                    <a:pt x="3413" y="388"/>
                  </a:lnTo>
                  <a:lnTo>
                    <a:pt x="3420" y="395"/>
                  </a:lnTo>
                  <a:lnTo>
                    <a:pt x="3433" y="395"/>
                  </a:lnTo>
                  <a:lnTo>
                    <a:pt x="3440" y="402"/>
                  </a:lnTo>
                  <a:lnTo>
                    <a:pt x="3454" y="410"/>
                  </a:lnTo>
                  <a:lnTo>
                    <a:pt x="3461" y="410"/>
                  </a:lnTo>
                  <a:lnTo>
                    <a:pt x="3474" y="417"/>
                  </a:lnTo>
                  <a:lnTo>
                    <a:pt x="3481" y="424"/>
                  </a:lnTo>
                  <a:lnTo>
                    <a:pt x="3495" y="424"/>
                  </a:lnTo>
                  <a:lnTo>
                    <a:pt x="3501" y="431"/>
                  </a:lnTo>
                  <a:lnTo>
                    <a:pt x="3515" y="431"/>
                  </a:lnTo>
                  <a:lnTo>
                    <a:pt x="3522" y="438"/>
                  </a:lnTo>
                  <a:lnTo>
                    <a:pt x="3536" y="438"/>
                  </a:lnTo>
                  <a:lnTo>
                    <a:pt x="3542" y="445"/>
                  </a:lnTo>
                  <a:lnTo>
                    <a:pt x="3556" y="445"/>
                  </a:lnTo>
                  <a:lnTo>
                    <a:pt x="3563" y="452"/>
                  </a:lnTo>
                  <a:lnTo>
                    <a:pt x="3577" y="452"/>
                  </a:lnTo>
                  <a:lnTo>
                    <a:pt x="3583" y="452"/>
                  </a:lnTo>
                  <a:lnTo>
                    <a:pt x="3597" y="452"/>
                  </a:lnTo>
                  <a:lnTo>
                    <a:pt x="3604" y="459"/>
                  </a:lnTo>
                  <a:lnTo>
                    <a:pt x="3617" y="459"/>
                  </a:lnTo>
                  <a:lnTo>
                    <a:pt x="3624" y="459"/>
                  </a:lnTo>
                  <a:lnTo>
                    <a:pt x="3638" y="459"/>
                  </a:lnTo>
                  <a:lnTo>
                    <a:pt x="3645" y="459"/>
                  </a:lnTo>
                  <a:lnTo>
                    <a:pt x="3658" y="459"/>
                  </a:lnTo>
                  <a:lnTo>
                    <a:pt x="3665" y="459"/>
                  </a:lnTo>
                  <a:lnTo>
                    <a:pt x="3679" y="459"/>
                  </a:lnTo>
                  <a:lnTo>
                    <a:pt x="3686" y="459"/>
                  </a:lnTo>
                  <a:lnTo>
                    <a:pt x="3699" y="459"/>
                  </a:lnTo>
                  <a:lnTo>
                    <a:pt x="3706" y="459"/>
                  </a:lnTo>
                  <a:lnTo>
                    <a:pt x="3713" y="459"/>
                  </a:lnTo>
                  <a:lnTo>
                    <a:pt x="3727" y="459"/>
                  </a:lnTo>
                  <a:lnTo>
                    <a:pt x="3733" y="452"/>
                  </a:lnTo>
                  <a:lnTo>
                    <a:pt x="3747" y="452"/>
                  </a:lnTo>
                  <a:lnTo>
                    <a:pt x="3754" y="452"/>
                  </a:lnTo>
                  <a:lnTo>
                    <a:pt x="3768" y="445"/>
                  </a:lnTo>
                  <a:lnTo>
                    <a:pt x="3774" y="445"/>
                  </a:lnTo>
                  <a:lnTo>
                    <a:pt x="3788" y="438"/>
                  </a:lnTo>
                  <a:lnTo>
                    <a:pt x="3795" y="438"/>
                  </a:lnTo>
                  <a:lnTo>
                    <a:pt x="3809" y="431"/>
                  </a:lnTo>
                  <a:lnTo>
                    <a:pt x="3815" y="431"/>
                  </a:lnTo>
                  <a:lnTo>
                    <a:pt x="3829" y="424"/>
                  </a:lnTo>
                  <a:lnTo>
                    <a:pt x="3836" y="424"/>
                  </a:lnTo>
                  <a:lnTo>
                    <a:pt x="3850" y="417"/>
                  </a:lnTo>
                  <a:lnTo>
                    <a:pt x="3856" y="410"/>
                  </a:lnTo>
                  <a:lnTo>
                    <a:pt x="3870" y="402"/>
                  </a:lnTo>
                  <a:lnTo>
                    <a:pt x="3877" y="402"/>
                  </a:lnTo>
                  <a:lnTo>
                    <a:pt x="3890" y="395"/>
                  </a:lnTo>
                  <a:lnTo>
                    <a:pt x="3897" y="388"/>
                  </a:lnTo>
                  <a:lnTo>
                    <a:pt x="3911" y="381"/>
                  </a:lnTo>
                  <a:lnTo>
                    <a:pt x="3918" y="374"/>
                  </a:lnTo>
                  <a:lnTo>
                    <a:pt x="3931" y="367"/>
                  </a:lnTo>
                  <a:lnTo>
                    <a:pt x="3938" y="360"/>
                  </a:lnTo>
                  <a:lnTo>
                    <a:pt x="3952" y="353"/>
                  </a:lnTo>
                  <a:lnTo>
                    <a:pt x="3959" y="346"/>
                  </a:lnTo>
                  <a:lnTo>
                    <a:pt x="3972" y="339"/>
                  </a:lnTo>
                  <a:lnTo>
                    <a:pt x="3979" y="332"/>
                  </a:lnTo>
                  <a:lnTo>
                    <a:pt x="3993" y="325"/>
                  </a:lnTo>
                  <a:lnTo>
                    <a:pt x="4000" y="318"/>
                  </a:lnTo>
                  <a:lnTo>
                    <a:pt x="4013" y="311"/>
                  </a:lnTo>
                  <a:lnTo>
                    <a:pt x="4020" y="297"/>
                  </a:lnTo>
                  <a:lnTo>
                    <a:pt x="4034" y="290"/>
                  </a:lnTo>
                  <a:lnTo>
                    <a:pt x="4041" y="282"/>
                  </a:lnTo>
                  <a:lnTo>
                    <a:pt x="4054" y="275"/>
                  </a:lnTo>
                  <a:lnTo>
                    <a:pt x="4061" y="261"/>
                  </a:lnTo>
                  <a:lnTo>
                    <a:pt x="4075" y="254"/>
                  </a:lnTo>
                  <a:lnTo>
                    <a:pt x="4082" y="247"/>
                  </a:lnTo>
                  <a:lnTo>
                    <a:pt x="4095" y="233"/>
                  </a:lnTo>
                  <a:lnTo>
                    <a:pt x="4102" y="226"/>
                  </a:lnTo>
                  <a:lnTo>
                    <a:pt x="4116" y="212"/>
                  </a:lnTo>
                  <a:lnTo>
                    <a:pt x="4123" y="205"/>
                  </a:lnTo>
                  <a:lnTo>
                    <a:pt x="4136" y="191"/>
                  </a:lnTo>
                  <a:lnTo>
                    <a:pt x="4143" y="184"/>
                  </a:lnTo>
                  <a:lnTo>
                    <a:pt x="4157" y="177"/>
                  </a:lnTo>
                  <a:lnTo>
                    <a:pt x="4163" y="162"/>
                  </a:lnTo>
                  <a:lnTo>
                    <a:pt x="4177" y="155"/>
                  </a:lnTo>
                  <a:lnTo>
                    <a:pt x="4184" y="141"/>
                  </a:lnTo>
                  <a:lnTo>
                    <a:pt x="4198" y="134"/>
                  </a:lnTo>
                  <a:lnTo>
                    <a:pt x="4204" y="120"/>
                  </a:lnTo>
                  <a:lnTo>
                    <a:pt x="4218" y="106"/>
                  </a:lnTo>
                  <a:lnTo>
                    <a:pt x="4225" y="99"/>
                  </a:lnTo>
                  <a:lnTo>
                    <a:pt x="4239" y="85"/>
                  </a:lnTo>
                  <a:lnTo>
                    <a:pt x="4245" y="78"/>
                  </a:lnTo>
                  <a:lnTo>
                    <a:pt x="4259" y="64"/>
                  </a:lnTo>
                  <a:lnTo>
                    <a:pt x="4266" y="56"/>
                  </a:lnTo>
                  <a:lnTo>
                    <a:pt x="4279" y="42"/>
                  </a:lnTo>
                  <a:lnTo>
                    <a:pt x="4286" y="35"/>
                  </a:lnTo>
                  <a:lnTo>
                    <a:pt x="4300" y="21"/>
                  </a:lnTo>
                  <a:lnTo>
                    <a:pt x="4307" y="14"/>
                  </a:lnTo>
                  <a:lnTo>
                    <a:pt x="4320" y="0"/>
                  </a:lnTo>
                </a:path>
              </a:pathLst>
            </a:custGeom>
            <a:noFill/>
            <a:ln w="12699" cap="rnd">
              <a:solidFill>
                <a:srgbClr val="008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3" name="Group 43">
              <a:extLst>
                <a:ext uri="{FF2B5EF4-FFF2-40B4-BE49-F238E27FC236}">
                  <a16:creationId xmlns:a16="http://schemas.microsoft.com/office/drawing/2014/main" id="{9893EB51-3AD7-4546-89AD-EEAEF19A8999}"/>
                </a:ext>
              </a:extLst>
            </p:cNvPr>
            <p:cNvGrpSpPr>
              <a:grpSpLocks/>
            </p:cNvGrpSpPr>
            <p:nvPr/>
          </p:nvGrpSpPr>
          <p:grpSpPr bwMode="auto">
            <a:xfrm>
              <a:off x="3477422" y="1799317"/>
              <a:ext cx="3376998" cy="2315613"/>
              <a:chOff x="1234" y="1179"/>
              <a:chExt cx="1944" cy="1279"/>
            </a:xfrm>
          </p:grpSpPr>
          <p:sp>
            <p:nvSpPr>
              <p:cNvPr id="20" name="Rectangle 44">
                <a:extLst>
                  <a:ext uri="{FF2B5EF4-FFF2-40B4-BE49-F238E27FC236}">
                    <a16:creationId xmlns:a16="http://schemas.microsoft.com/office/drawing/2014/main" id="{BCE3633F-762C-234E-BA92-B8E6180C0236}"/>
                  </a:ext>
                </a:extLst>
              </p:cNvPr>
              <p:cNvSpPr>
                <a:spLocks noChangeArrowheads="1"/>
              </p:cNvSpPr>
              <p:nvPr/>
            </p:nvSpPr>
            <p:spPr bwMode="auto">
              <a:xfrm>
                <a:off x="1845" y="1179"/>
                <a:ext cx="80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dirty="0">
                    <a:solidFill>
                      <a:srgbClr val="00AE00"/>
                    </a:solidFill>
                    <a:latin typeface="Trebuchet MS" panose="020B0703020202090204" pitchFamily="34" charset="0"/>
                  </a:rPr>
                  <a:t>Cyclical</a:t>
                </a:r>
              </a:p>
            </p:txBody>
          </p:sp>
          <p:sp>
            <p:nvSpPr>
              <p:cNvPr id="21" name="Line 45">
                <a:extLst>
                  <a:ext uri="{FF2B5EF4-FFF2-40B4-BE49-F238E27FC236}">
                    <a16:creationId xmlns:a16="http://schemas.microsoft.com/office/drawing/2014/main" id="{7E0BEFDB-C678-0444-B8ED-2A611EDD18BD}"/>
                  </a:ext>
                </a:extLst>
              </p:cNvPr>
              <p:cNvSpPr>
                <a:spLocks noChangeShapeType="1"/>
              </p:cNvSpPr>
              <p:nvPr/>
            </p:nvSpPr>
            <p:spPr bwMode="auto">
              <a:xfrm>
                <a:off x="2258" y="1424"/>
                <a:ext cx="920" cy="260"/>
              </a:xfrm>
              <a:prstGeom prst="line">
                <a:avLst/>
              </a:prstGeom>
              <a:noFill/>
              <a:ln w="25399">
                <a:solidFill>
                  <a:srgbClr val="00AE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46">
                <a:extLst>
                  <a:ext uri="{FF2B5EF4-FFF2-40B4-BE49-F238E27FC236}">
                    <a16:creationId xmlns:a16="http://schemas.microsoft.com/office/drawing/2014/main" id="{65CA8234-CB08-3742-A42B-68F991A3AC4E}"/>
                  </a:ext>
                </a:extLst>
              </p:cNvPr>
              <p:cNvSpPr>
                <a:spLocks noChangeShapeType="1"/>
              </p:cNvSpPr>
              <p:nvPr/>
            </p:nvSpPr>
            <p:spPr bwMode="auto">
              <a:xfrm flipH="1">
                <a:off x="1234" y="1424"/>
                <a:ext cx="1036" cy="608"/>
              </a:xfrm>
              <a:prstGeom prst="line">
                <a:avLst/>
              </a:prstGeom>
              <a:noFill/>
              <a:ln w="25399">
                <a:solidFill>
                  <a:srgbClr val="00AE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47">
                <a:extLst>
                  <a:ext uri="{FF2B5EF4-FFF2-40B4-BE49-F238E27FC236}">
                    <a16:creationId xmlns:a16="http://schemas.microsoft.com/office/drawing/2014/main" id="{8C5ECECF-86A0-6B4E-94CE-545BA5186F1F}"/>
                  </a:ext>
                </a:extLst>
              </p:cNvPr>
              <p:cNvSpPr>
                <a:spLocks noChangeShapeType="1"/>
              </p:cNvSpPr>
              <p:nvPr/>
            </p:nvSpPr>
            <p:spPr bwMode="auto">
              <a:xfrm flipH="1">
                <a:off x="2128" y="1430"/>
                <a:ext cx="142" cy="1028"/>
              </a:xfrm>
              <a:prstGeom prst="line">
                <a:avLst/>
              </a:prstGeom>
              <a:noFill/>
              <a:ln w="25399">
                <a:solidFill>
                  <a:srgbClr val="00AE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56" name="Group 55">
            <a:extLst>
              <a:ext uri="{FF2B5EF4-FFF2-40B4-BE49-F238E27FC236}">
                <a16:creationId xmlns:a16="http://schemas.microsoft.com/office/drawing/2014/main" id="{05726F3A-47D0-5035-F504-66442ABEF23B}"/>
              </a:ext>
            </a:extLst>
          </p:cNvPr>
          <p:cNvGrpSpPr/>
          <p:nvPr/>
        </p:nvGrpSpPr>
        <p:grpSpPr>
          <a:xfrm>
            <a:off x="2573619" y="2737615"/>
            <a:ext cx="7506178" cy="2275783"/>
            <a:chOff x="3970960" y="20511"/>
            <a:chExt cx="7506178" cy="2275783"/>
          </a:xfrm>
        </p:grpSpPr>
        <p:sp>
          <p:nvSpPr>
            <p:cNvPr id="6" name="Freeform 19">
              <a:extLst>
                <a:ext uri="{FF2B5EF4-FFF2-40B4-BE49-F238E27FC236}">
                  <a16:creationId xmlns:a16="http://schemas.microsoft.com/office/drawing/2014/main" id="{35C43273-DD91-974A-B4D5-EB9C6FD038A7}"/>
                </a:ext>
              </a:extLst>
            </p:cNvPr>
            <p:cNvSpPr>
              <a:spLocks/>
            </p:cNvSpPr>
            <p:nvPr/>
          </p:nvSpPr>
          <p:spPr bwMode="auto">
            <a:xfrm>
              <a:off x="3970960" y="20511"/>
              <a:ext cx="7506178" cy="1395886"/>
            </a:xfrm>
            <a:custGeom>
              <a:avLst/>
              <a:gdLst>
                <a:gd name="T0" fmla="*/ 62 w 4321"/>
                <a:gd name="T1" fmla="*/ 756 h 771"/>
                <a:gd name="T2" fmla="*/ 137 w 4321"/>
                <a:gd name="T3" fmla="*/ 742 h 771"/>
                <a:gd name="T4" fmla="*/ 205 w 4321"/>
                <a:gd name="T5" fmla="*/ 735 h 771"/>
                <a:gd name="T6" fmla="*/ 280 w 4321"/>
                <a:gd name="T7" fmla="*/ 721 h 771"/>
                <a:gd name="T8" fmla="*/ 348 w 4321"/>
                <a:gd name="T9" fmla="*/ 707 h 771"/>
                <a:gd name="T10" fmla="*/ 423 w 4321"/>
                <a:gd name="T11" fmla="*/ 692 h 771"/>
                <a:gd name="T12" fmla="*/ 492 w 4321"/>
                <a:gd name="T13" fmla="*/ 678 h 771"/>
                <a:gd name="T14" fmla="*/ 567 w 4321"/>
                <a:gd name="T15" fmla="*/ 671 h 771"/>
                <a:gd name="T16" fmla="*/ 635 w 4321"/>
                <a:gd name="T17" fmla="*/ 657 h 771"/>
                <a:gd name="T18" fmla="*/ 710 w 4321"/>
                <a:gd name="T19" fmla="*/ 643 h 771"/>
                <a:gd name="T20" fmla="*/ 778 w 4321"/>
                <a:gd name="T21" fmla="*/ 629 h 771"/>
                <a:gd name="T22" fmla="*/ 853 w 4321"/>
                <a:gd name="T23" fmla="*/ 615 h 771"/>
                <a:gd name="T24" fmla="*/ 922 w 4321"/>
                <a:gd name="T25" fmla="*/ 608 h 771"/>
                <a:gd name="T26" fmla="*/ 990 w 4321"/>
                <a:gd name="T27" fmla="*/ 594 h 771"/>
                <a:gd name="T28" fmla="*/ 1065 w 4321"/>
                <a:gd name="T29" fmla="*/ 579 h 771"/>
                <a:gd name="T30" fmla="*/ 1133 w 4321"/>
                <a:gd name="T31" fmla="*/ 565 h 771"/>
                <a:gd name="T32" fmla="*/ 1208 w 4321"/>
                <a:gd name="T33" fmla="*/ 551 h 771"/>
                <a:gd name="T34" fmla="*/ 1277 w 4321"/>
                <a:gd name="T35" fmla="*/ 537 h 771"/>
                <a:gd name="T36" fmla="*/ 1352 w 4321"/>
                <a:gd name="T37" fmla="*/ 530 h 771"/>
                <a:gd name="T38" fmla="*/ 1420 w 4321"/>
                <a:gd name="T39" fmla="*/ 516 h 771"/>
                <a:gd name="T40" fmla="*/ 1495 w 4321"/>
                <a:gd name="T41" fmla="*/ 502 h 771"/>
                <a:gd name="T42" fmla="*/ 1563 w 4321"/>
                <a:gd name="T43" fmla="*/ 488 h 771"/>
                <a:gd name="T44" fmla="*/ 1638 w 4321"/>
                <a:gd name="T45" fmla="*/ 474 h 771"/>
                <a:gd name="T46" fmla="*/ 1707 w 4321"/>
                <a:gd name="T47" fmla="*/ 466 h 771"/>
                <a:gd name="T48" fmla="*/ 1782 w 4321"/>
                <a:gd name="T49" fmla="*/ 452 h 771"/>
                <a:gd name="T50" fmla="*/ 1850 w 4321"/>
                <a:gd name="T51" fmla="*/ 438 h 771"/>
                <a:gd name="T52" fmla="*/ 1918 w 4321"/>
                <a:gd name="T53" fmla="*/ 424 h 771"/>
                <a:gd name="T54" fmla="*/ 1993 w 4321"/>
                <a:gd name="T55" fmla="*/ 410 h 771"/>
                <a:gd name="T56" fmla="*/ 2061 w 4321"/>
                <a:gd name="T57" fmla="*/ 403 h 771"/>
                <a:gd name="T58" fmla="*/ 2136 w 4321"/>
                <a:gd name="T59" fmla="*/ 389 h 771"/>
                <a:gd name="T60" fmla="*/ 2205 w 4321"/>
                <a:gd name="T61" fmla="*/ 375 h 771"/>
                <a:gd name="T62" fmla="*/ 2280 w 4321"/>
                <a:gd name="T63" fmla="*/ 361 h 771"/>
                <a:gd name="T64" fmla="*/ 2348 w 4321"/>
                <a:gd name="T65" fmla="*/ 346 h 771"/>
                <a:gd name="T66" fmla="*/ 2423 w 4321"/>
                <a:gd name="T67" fmla="*/ 339 h 771"/>
                <a:gd name="T68" fmla="*/ 2491 w 4321"/>
                <a:gd name="T69" fmla="*/ 325 h 771"/>
                <a:gd name="T70" fmla="*/ 2566 w 4321"/>
                <a:gd name="T71" fmla="*/ 311 h 771"/>
                <a:gd name="T72" fmla="*/ 2635 w 4321"/>
                <a:gd name="T73" fmla="*/ 297 h 771"/>
                <a:gd name="T74" fmla="*/ 2710 w 4321"/>
                <a:gd name="T75" fmla="*/ 283 h 771"/>
                <a:gd name="T76" fmla="*/ 2778 w 4321"/>
                <a:gd name="T77" fmla="*/ 276 h 771"/>
                <a:gd name="T78" fmla="*/ 2846 w 4321"/>
                <a:gd name="T79" fmla="*/ 262 h 771"/>
                <a:gd name="T80" fmla="*/ 2921 w 4321"/>
                <a:gd name="T81" fmla="*/ 248 h 771"/>
                <a:gd name="T82" fmla="*/ 2990 w 4321"/>
                <a:gd name="T83" fmla="*/ 233 h 771"/>
                <a:gd name="T84" fmla="*/ 3065 w 4321"/>
                <a:gd name="T85" fmla="*/ 219 h 771"/>
                <a:gd name="T86" fmla="*/ 3133 w 4321"/>
                <a:gd name="T87" fmla="*/ 212 h 771"/>
                <a:gd name="T88" fmla="*/ 3208 w 4321"/>
                <a:gd name="T89" fmla="*/ 198 h 771"/>
                <a:gd name="T90" fmla="*/ 3276 w 4321"/>
                <a:gd name="T91" fmla="*/ 184 h 771"/>
                <a:gd name="T92" fmla="*/ 3351 w 4321"/>
                <a:gd name="T93" fmla="*/ 170 h 771"/>
                <a:gd name="T94" fmla="*/ 3420 w 4321"/>
                <a:gd name="T95" fmla="*/ 156 h 771"/>
                <a:gd name="T96" fmla="*/ 3495 w 4321"/>
                <a:gd name="T97" fmla="*/ 149 h 771"/>
                <a:gd name="T98" fmla="*/ 3563 w 4321"/>
                <a:gd name="T99" fmla="*/ 135 h 771"/>
                <a:gd name="T100" fmla="*/ 3638 w 4321"/>
                <a:gd name="T101" fmla="*/ 120 h 771"/>
                <a:gd name="T102" fmla="*/ 3706 w 4321"/>
                <a:gd name="T103" fmla="*/ 106 h 771"/>
                <a:gd name="T104" fmla="*/ 3774 w 4321"/>
                <a:gd name="T105" fmla="*/ 92 h 771"/>
                <a:gd name="T106" fmla="*/ 3850 w 4321"/>
                <a:gd name="T107" fmla="*/ 78 h 771"/>
                <a:gd name="T108" fmla="*/ 3918 w 4321"/>
                <a:gd name="T109" fmla="*/ 71 h 771"/>
                <a:gd name="T110" fmla="*/ 3993 w 4321"/>
                <a:gd name="T111" fmla="*/ 57 h 771"/>
                <a:gd name="T112" fmla="*/ 4061 w 4321"/>
                <a:gd name="T113" fmla="*/ 43 h 771"/>
                <a:gd name="T114" fmla="*/ 4136 w 4321"/>
                <a:gd name="T115" fmla="*/ 29 h 771"/>
                <a:gd name="T116" fmla="*/ 4204 w 4321"/>
                <a:gd name="T117" fmla="*/ 15 h 771"/>
                <a:gd name="T118" fmla="*/ 4279 w 4321"/>
                <a:gd name="T119" fmla="*/ 7 h 77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4321"/>
                <a:gd name="T181" fmla="*/ 0 h 771"/>
                <a:gd name="T182" fmla="*/ 4321 w 4321"/>
                <a:gd name="T183" fmla="*/ 771 h 77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4321" h="771">
                  <a:moveTo>
                    <a:pt x="0" y="770"/>
                  </a:moveTo>
                  <a:lnTo>
                    <a:pt x="14" y="763"/>
                  </a:lnTo>
                  <a:lnTo>
                    <a:pt x="21" y="763"/>
                  </a:lnTo>
                  <a:lnTo>
                    <a:pt x="34" y="763"/>
                  </a:lnTo>
                  <a:lnTo>
                    <a:pt x="41" y="763"/>
                  </a:lnTo>
                  <a:lnTo>
                    <a:pt x="55" y="756"/>
                  </a:lnTo>
                  <a:lnTo>
                    <a:pt x="62" y="756"/>
                  </a:lnTo>
                  <a:lnTo>
                    <a:pt x="75" y="756"/>
                  </a:lnTo>
                  <a:lnTo>
                    <a:pt x="82" y="756"/>
                  </a:lnTo>
                  <a:lnTo>
                    <a:pt x="96" y="749"/>
                  </a:lnTo>
                  <a:lnTo>
                    <a:pt x="103" y="749"/>
                  </a:lnTo>
                  <a:lnTo>
                    <a:pt x="116" y="749"/>
                  </a:lnTo>
                  <a:lnTo>
                    <a:pt x="123" y="749"/>
                  </a:lnTo>
                  <a:lnTo>
                    <a:pt x="137" y="742"/>
                  </a:lnTo>
                  <a:lnTo>
                    <a:pt x="144" y="742"/>
                  </a:lnTo>
                  <a:lnTo>
                    <a:pt x="157" y="742"/>
                  </a:lnTo>
                  <a:lnTo>
                    <a:pt x="164" y="742"/>
                  </a:lnTo>
                  <a:lnTo>
                    <a:pt x="178" y="735"/>
                  </a:lnTo>
                  <a:lnTo>
                    <a:pt x="185" y="735"/>
                  </a:lnTo>
                  <a:lnTo>
                    <a:pt x="198" y="735"/>
                  </a:lnTo>
                  <a:lnTo>
                    <a:pt x="205" y="735"/>
                  </a:lnTo>
                  <a:lnTo>
                    <a:pt x="219" y="728"/>
                  </a:lnTo>
                  <a:lnTo>
                    <a:pt x="226" y="728"/>
                  </a:lnTo>
                  <a:lnTo>
                    <a:pt x="239" y="728"/>
                  </a:lnTo>
                  <a:lnTo>
                    <a:pt x="246" y="728"/>
                  </a:lnTo>
                  <a:lnTo>
                    <a:pt x="260" y="721"/>
                  </a:lnTo>
                  <a:lnTo>
                    <a:pt x="266" y="721"/>
                  </a:lnTo>
                  <a:lnTo>
                    <a:pt x="280" y="721"/>
                  </a:lnTo>
                  <a:lnTo>
                    <a:pt x="287" y="721"/>
                  </a:lnTo>
                  <a:lnTo>
                    <a:pt x="301" y="714"/>
                  </a:lnTo>
                  <a:lnTo>
                    <a:pt x="307" y="714"/>
                  </a:lnTo>
                  <a:lnTo>
                    <a:pt x="321" y="714"/>
                  </a:lnTo>
                  <a:lnTo>
                    <a:pt x="328" y="707"/>
                  </a:lnTo>
                  <a:lnTo>
                    <a:pt x="342" y="707"/>
                  </a:lnTo>
                  <a:lnTo>
                    <a:pt x="348" y="707"/>
                  </a:lnTo>
                  <a:lnTo>
                    <a:pt x="362" y="707"/>
                  </a:lnTo>
                  <a:lnTo>
                    <a:pt x="369" y="700"/>
                  </a:lnTo>
                  <a:lnTo>
                    <a:pt x="382" y="700"/>
                  </a:lnTo>
                  <a:lnTo>
                    <a:pt x="389" y="700"/>
                  </a:lnTo>
                  <a:lnTo>
                    <a:pt x="403" y="700"/>
                  </a:lnTo>
                  <a:lnTo>
                    <a:pt x="410" y="692"/>
                  </a:lnTo>
                  <a:lnTo>
                    <a:pt x="423" y="692"/>
                  </a:lnTo>
                  <a:lnTo>
                    <a:pt x="430" y="692"/>
                  </a:lnTo>
                  <a:lnTo>
                    <a:pt x="444" y="692"/>
                  </a:lnTo>
                  <a:lnTo>
                    <a:pt x="451" y="685"/>
                  </a:lnTo>
                  <a:lnTo>
                    <a:pt x="464" y="685"/>
                  </a:lnTo>
                  <a:lnTo>
                    <a:pt x="471" y="685"/>
                  </a:lnTo>
                  <a:lnTo>
                    <a:pt x="485" y="685"/>
                  </a:lnTo>
                  <a:lnTo>
                    <a:pt x="492" y="678"/>
                  </a:lnTo>
                  <a:lnTo>
                    <a:pt x="505" y="678"/>
                  </a:lnTo>
                  <a:lnTo>
                    <a:pt x="512" y="678"/>
                  </a:lnTo>
                  <a:lnTo>
                    <a:pt x="526" y="678"/>
                  </a:lnTo>
                  <a:lnTo>
                    <a:pt x="533" y="671"/>
                  </a:lnTo>
                  <a:lnTo>
                    <a:pt x="546" y="671"/>
                  </a:lnTo>
                  <a:lnTo>
                    <a:pt x="553" y="671"/>
                  </a:lnTo>
                  <a:lnTo>
                    <a:pt x="567" y="671"/>
                  </a:lnTo>
                  <a:lnTo>
                    <a:pt x="574" y="664"/>
                  </a:lnTo>
                  <a:lnTo>
                    <a:pt x="587" y="664"/>
                  </a:lnTo>
                  <a:lnTo>
                    <a:pt x="594" y="664"/>
                  </a:lnTo>
                  <a:lnTo>
                    <a:pt x="608" y="664"/>
                  </a:lnTo>
                  <a:lnTo>
                    <a:pt x="615" y="657"/>
                  </a:lnTo>
                  <a:lnTo>
                    <a:pt x="628" y="657"/>
                  </a:lnTo>
                  <a:lnTo>
                    <a:pt x="635" y="657"/>
                  </a:lnTo>
                  <a:lnTo>
                    <a:pt x="649" y="650"/>
                  </a:lnTo>
                  <a:lnTo>
                    <a:pt x="655" y="650"/>
                  </a:lnTo>
                  <a:lnTo>
                    <a:pt x="669" y="650"/>
                  </a:lnTo>
                  <a:lnTo>
                    <a:pt x="676" y="650"/>
                  </a:lnTo>
                  <a:lnTo>
                    <a:pt x="690" y="643"/>
                  </a:lnTo>
                  <a:lnTo>
                    <a:pt x="696" y="643"/>
                  </a:lnTo>
                  <a:lnTo>
                    <a:pt x="710" y="643"/>
                  </a:lnTo>
                  <a:lnTo>
                    <a:pt x="717" y="643"/>
                  </a:lnTo>
                  <a:lnTo>
                    <a:pt x="731" y="636"/>
                  </a:lnTo>
                  <a:lnTo>
                    <a:pt x="737" y="636"/>
                  </a:lnTo>
                  <a:lnTo>
                    <a:pt x="751" y="636"/>
                  </a:lnTo>
                  <a:lnTo>
                    <a:pt x="758" y="636"/>
                  </a:lnTo>
                  <a:lnTo>
                    <a:pt x="772" y="629"/>
                  </a:lnTo>
                  <a:lnTo>
                    <a:pt x="778" y="629"/>
                  </a:lnTo>
                  <a:lnTo>
                    <a:pt x="792" y="629"/>
                  </a:lnTo>
                  <a:lnTo>
                    <a:pt x="799" y="629"/>
                  </a:lnTo>
                  <a:lnTo>
                    <a:pt x="812" y="622"/>
                  </a:lnTo>
                  <a:lnTo>
                    <a:pt x="819" y="622"/>
                  </a:lnTo>
                  <a:lnTo>
                    <a:pt x="833" y="622"/>
                  </a:lnTo>
                  <a:lnTo>
                    <a:pt x="840" y="622"/>
                  </a:lnTo>
                  <a:lnTo>
                    <a:pt x="853" y="615"/>
                  </a:lnTo>
                  <a:lnTo>
                    <a:pt x="860" y="615"/>
                  </a:lnTo>
                  <a:lnTo>
                    <a:pt x="874" y="615"/>
                  </a:lnTo>
                  <a:lnTo>
                    <a:pt x="881" y="615"/>
                  </a:lnTo>
                  <a:lnTo>
                    <a:pt x="894" y="608"/>
                  </a:lnTo>
                  <a:lnTo>
                    <a:pt x="901" y="608"/>
                  </a:lnTo>
                  <a:lnTo>
                    <a:pt x="915" y="608"/>
                  </a:lnTo>
                  <a:lnTo>
                    <a:pt x="922" y="608"/>
                  </a:lnTo>
                  <a:lnTo>
                    <a:pt x="928" y="601"/>
                  </a:lnTo>
                  <a:lnTo>
                    <a:pt x="942" y="601"/>
                  </a:lnTo>
                  <a:lnTo>
                    <a:pt x="949" y="601"/>
                  </a:lnTo>
                  <a:lnTo>
                    <a:pt x="963" y="594"/>
                  </a:lnTo>
                  <a:lnTo>
                    <a:pt x="969" y="594"/>
                  </a:lnTo>
                  <a:lnTo>
                    <a:pt x="983" y="594"/>
                  </a:lnTo>
                  <a:lnTo>
                    <a:pt x="990" y="594"/>
                  </a:lnTo>
                  <a:lnTo>
                    <a:pt x="1004" y="587"/>
                  </a:lnTo>
                  <a:lnTo>
                    <a:pt x="1010" y="587"/>
                  </a:lnTo>
                  <a:lnTo>
                    <a:pt x="1024" y="587"/>
                  </a:lnTo>
                  <a:lnTo>
                    <a:pt x="1031" y="587"/>
                  </a:lnTo>
                  <a:lnTo>
                    <a:pt x="1044" y="579"/>
                  </a:lnTo>
                  <a:lnTo>
                    <a:pt x="1051" y="579"/>
                  </a:lnTo>
                  <a:lnTo>
                    <a:pt x="1065" y="579"/>
                  </a:lnTo>
                  <a:lnTo>
                    <a:pt x="1072" y="579"/>
                  </a:lnTo>
                  <a:lnTo>
                    <a:pt x="1085" y="572"/>
                  </a:lnTo>
                  <a:lnTo>
                    <a:pt x="1092" y="572"/>
                  </a:lnTo>
                  <a:lnTo>
                    <a:pt x="1106" y="572"/>
                  </a:lnTo>
                  <a:lnTo>
                    <a:pt x="1113" y="572"/>
                  </a:lnTo>
                  <a:lnTo>
                    <a:pt x="1126" y="565"/>
                  </a:lnTo>
                  <a:lnTo>
                    <a:pt x="1133" y="565"/>
                  </a:lnTo>
                  <a:lnTo>
                    <a:pt x="1147" y="565"/>
                  </a:lnTo>
                  <a:lnTo>
                    <a:pt x="1154" y="565"/>
                  </a:lnTo>
                  <a:lnTo>
                    <a:pt x="1167" y="558"/>
                  </a:lnTo>
                  <a:lnTo>
                    <a:pt x="1174" y="558"/>
                  </a:lnTo>
                  <a:lnTo>
                    <a:pt x="1188" y="558"/>
                  </a:lnTo>
                  <a:lnTo>
                    <a:pt x="1195" y="558"/>
                  </a:lnTo>
                  <a:lnTo>
                    <a:pt x="1208" y="551"/>
                  </a:lnTo>
                  <a:lnTo>
                    <a:pt x="1215" y="551"/>
                  </a:lnTo>
                  <a:lnTo>
                    <a:pt x="1229" y="551"/>
                  </a:lnTo>
                  <a:lnTo>
                    <a:pt x="1236" y="551"/>
                  </a:lnTo>
                  <a:lnTo>
                    <a:pt x="1249" y="544"/>
                  </a:lnTo>
                  <a:lnTo>
                    <a:pt x="1256" y="544"/>
                  </a:lnTo>
                  <a:lnTo>
                    <a:pt x="1270" y="544"/>
                  </a:lnTo>
                  <a:lnTo>
                    <a:pt x="1277" y="537"/>
                  </a:lnTo>
                  <a:lnTo>
                    <a:pt x="1290" y="537"/>
                  </a:lnTo>
                  <a:lnTo>
                    <a:pt x="1297" y="537"/>
                  </a:lnTo>
                  <a:lnTo>
                    <a:pt x="1311" y="537"/>
                  </a:lnTo>
                  <a:lnTo>
                    <a:pt x="1317" y="530"/>
                  </a:lnTo>
                  <a:lnTo>
                    <a:pt x="1331" y="530"/>
                  </a:lnTo>
                  <a:lnTo>
                    <a:pt x="1338" y="530"/>
                  </a:lnTo>
                  <a:lnTo>
                    <a:pt x="1352" y="530"/>
                  </a:lnTo>
                  <a:lnTo>
                    <a:pt x="1358" y="523"/>
                  </a:lnTo>
                  <a:lnTo>
                    <a:pt x="1372" y="523"/>
                  </a:lnTo>
                  <a:lnTo>
                    <a:pt x="1379" y="523"/>
                  </a:lnTo>
                  <a:lnTo>
                    <a:pt x="1393" y="523"/>
                  </a:lnTo>
                  <a:lnTo>
                    <a:pt x="1399" y="516"/>
                  </a:lnTo>
                  <a:lnTo>
                    <a:pt x="1413" y="516"/>
                  </a:lnTo>
                  <a:lnTo>
                    <a:pt x="1420" y="516"/>
                  </a:lnTo>
                  <a:lnTo>
                    <a:pt x="1434" y="516"/>
                  </a:lnTo>
                  <a:lnTo>
                    <a:pt x="1440" y="509"/>
                  </a:lnTo>
                  <a:lnTo>
                    <a:pt x="1454" y="509"/>
                  </a:lnTo>
                  <a:lnTo>
                    <a:pt x="1461" y="509"/>
                  </a:lnTo>
                  <a:lnTo>
                    <a:pt x="1474" y="509"/>
                  </a:lnTo>
                  <a:lnTo>
                    <a:pt x="1481" y="502"/>
                  </a:lnTo>
                  <a:lnTo>
                    <a:pt x="1495" y="502"/>
                  </a:lnTo>
                  <a:lnTo>
                    <a:pt x="1502" y="502"/>
                  </a:lnTo>
                  <a:lnTo>
                    <a:pt x="1515" y="502"/>
                  </a:lnTo>
                  <a:lnTo>
                    <a:pt x="1522" y="495"/>
                  </a:lnTo>
                  <a:lnTo>
                    <a:pt x="1536" y="495"/>
                  </a:lnTo>
                  <a:lnTo>
                    <a:pt x="1543" y="495"/>
                  </a:lnTo>
                  <a:lnTo>
                    <a:pt x="1556" y="495"/>
                  </a:lnTo>
                  <a:lnTo>
                    <a:pt x="1563" y="488"/>
                  </a:lnTo>
                  <a:lnTo>
                    <a:pt x="1577" y="488"/>
                  </a:lnTo>
                  <a:lnTo>
                    <a:pt x="1584" y="488"/>
                  </a:lnTo>
                  <a:lnTo>
                    <a:pt x="1597" y="481"/>
                  </a:lnTo>
                  <a:lnTo>
                    <a:pt x="1604" y="481"/>
                  </a:lnTo>
                  <a:lnTo>
                    <a:pt x="1618" y="481"/>
                  </a:lnTo>
                  <a:lnTo>
                    <a:pt x="1625" y="481"/>
                  </a:lnTo>
                  <a:lnTo>
                    <a:pt x="1638" y="474"/>
                  </a:lnTo>
                  <a:lnTo>
                    <a:pt x="1645" y="474"/>
                  </a:lnTo>
                  <a:lnTo>
                    <a:pt x="1659" y="474"/>
                  </a:lnTo>
                  <a:lnTo>
                    <a:pt x="1666" y="474"/>
                  </a:lnTo>
                  <a:lnTo>
                    <a:pt x="1679" y="466"/>
                  </a:lnTo>
                  <a:lnTo>
                    <a:pt x="1686" y="466"/>
                  </a:lnTo>
                  <a:lnTo>
                    <a:pt x="1700" y="466"/>
                  </a:lnTo>
                  <a:lnTo>
                    <a:pt x="1707" y="466"/>
                  </a:lnTo>
                  <a:lnTo>
                    <a:pt x="1720" y="459"/>
                  </a:lnTo>
                  <a:lnTo>
                    <a:pt x="1727" y="459"/>
                  </a:lnTo>
                  <a:lnTo>
                    <a:pt x="1741" y="459"/>
                  </a:lnTo>
                  <a:lnTo>
                    <a:pt x="1747" y="459"/>
                  </a:lnTo>
                  <a:lnTo>
                    <a:pt x="1761" y="452"/>
                  </a:lnTo>
                  <a:lnTo>
                    <a:pt x="1768" y="452"/>
                  </a:lnTo>
                  <a:lnTo>
                    <a:pt x="1782" y="452"/>
                  </a:lnTo>
                  <a:lnTo>
                    <a:pt x="1788" y="452"/>
                  </a:lnTo>
                  <a:lnTo>
                    <a:pt x="1802" y="445"/>
                  </a:lnTo>
                  <a:lnTo>
                    <a:pt x="1809" y="445"/>
                  </a:lnTo>
                  <a:lnTo>
                    <a:pt x="1823" y="445"/>
                  </a:lnTo>
                  <a:lnTo>
                    <a:pt x="1829" y="445"/>
                  </a:lnTo>
                  <a:lnTo>
                    <a:pt x="1843" y="438"/>
                  </a:lnTo>
                  <a:lnTo>
                    <a:pt x="1850" y="438"/>
                  </a:lnTo>
                  <a:lnTo>
                    <a:pt x="1857" y="438"/>
                  </a:lnTo>
                  <a:lnTo>
                    <a:pt x="1870" y="438"/>
                  </a:lnTo>
                  <a:lnTo>
                    <a:pt x="1877" y="431"/>
                  </a:lnTo>
                  <a:lnTo>
                    <a:pt x="1891" y="431"/>
                  </a:lnTo>
                  <a:lnTo>
                    <a:pt x="1898" y="431"/>
                  </a:lnTo>
                  <a:lnTo>
                    <a:pt x="1911" y="424"/>
                  </a:lnTo>
                  <a:lnTo>
                    <a:pt x="1918" y="424"/>
                  </a:lnTo>
                  <a:lnTo>
                    <a:pt x="1932" y="424"/>
                  </a:lnTo>
                  <a:lnTo>
                    <a:pt x="1939" y="424"/>
                  </a:lnTo>
                  <a:lnTo>
                    <a:pt x="1952" y="417"/>
                  </a:lnTo>
                  <a:lnTo>
                    <a:pt x="1959" y="417"/>
                  </a:lnTo>
                  <a:lnTo>
                    <a:pt x="1973" y="417"/>
                  </a:lnTo>
                  <a:lnTo>
                    <a:pt x="1980" y="417"/>
                  </a:lnTo>
                  <a:lnTo>
                    <a:pt x="1993" y="410"/>
                  </a:lnTo>
                  <a:lnTo>
                    <a:pt x="2000" y="410"/>
                  </a:lnTo>
                  <a:lnTo>
                    <a:pt x="2014" y="410"/>
                  </a:lnTo>
                  <a:lnTo>
                    <a:pt x="2020" y="410"/>
                  </a:lnTo>
                  <a:lnTo>
                    <a:pt x="2034" y="403"/>
                  </a:lnTo>
                  <a:lnTo>
                    <a:pt x="2041" y="403"/>
                  </a:lnTo>
                  <a:lnTo>
                    <a:pt x="2055" y="403"/>
                  </a:lnTo>
                  <a:lnTo>
                    <a:pt x="2061" y="403"/>
                  </a:lnTo>
                  <a:lnTo>
                    <a:pt x="2075" y="396"/>
                  </a:lnTo>
                  <a:lnTo>
                    <a:pt x="2082" y="396"/>
                  </a:lnTo>
                  <a:lnTo>
                    <a:pt x="2096" y="396"/>
                  </a:lnTo>
                  <a:lnTo>
                    <a:pt x="2102" y="396"/>
                  </a:lnTo>
                  <a:lnTo>
                    <a:pt x="2116" y="389"/>
                  </a:lnTo>
                  <a:lnTo>
                    <a:pt x="2123" y="389"/>
                  </a:lnTo>
                  <a:lnTo>
                    <a:pt x="2136" y="389"/>
                  </a:lnTo>
                  <a:lnTo>
                    <a:pt x="2143" y="389"/>
                  </a:lnTo>
                  <a:lnTo>
                    <a:pt x="2157" y="382"/>
                  </a:lnTo>
                  <a:lnTo>
                    <a:pt x="2164" y="382"/>
                  </a:lnTo>
                  <a:lnTo>
                    <a:pt x="2177" y="382"/>
                  </a:lnTo>
                  <a:lnTo>
                    <a:pt x="2184" y="382"/>
                  </a:lnTo>
                  <a:lnTo>
                    <a:pt x="2198" y="375"/>
                  </a:lnTo>
                  <a:lnTo>
                    <a:pt x="2205" y="375"/>
                  </a:lnTo>
                  <a:lnTo>
                    <a:pt x="2218" y="375"/>
                  </a:lnTo>
                  <a:lnTo>
                    <a:pt x="2225" y="368"/>
                  </a:lnTo>
                  <a:lnTo>
                    <a:pt x="2239" y="368"/>
                  </a:lnTo>
                  <a:lnTo>
                    <a:pt x="2246" y="368"/>
                  </a:lnTo>
                  <a:lnTo>
                    <a:pt x="2259" y="368"/>
                  </a:lnTo>
                  <a:lnTo>
                    <a:pt x="2266" y="361"/>
                  </a:lnTo>
                  <a:lnTo>
                    <a:pt x="2280" y="361"/>
                  </a:lnTo>
                  <a:lnTo>
                    <a:pt x="2287" y="361"/>
                  </a:lnTo>
                  <a:lnTo>
                    <a:pt x="2300" y="361"/>
                  </a:lnTo>
                  <a:lnTo>
                    <a:pt x="2307" y="353"/>
                  </a:lnTo>
                  <a:lnTo>
                    <a:pt x="2321" y="353"/>
                  </a:lnTo>
                  <a:lnTo>
                    <a:pt x="2328" y="353"/>
                  </a:lnTo>
                  <a:lnTo>
                    <a:pt x="2341" y="353"/>
                  </a:lnTo>
                  <a:lnTo>
                    <a:pt x="2348" y="346"/>
                  </a:lnTo>
                  <a:lnTo>
                    <a:pt x="2362" y="346"/>
                  </a:lnTo>
                  <a:lnTo>
                    <a:pt x="2369" y="346"/>
                  </a:lnTo>
                  <a:lnTo>
                    <a:pt x="2382" y="346"/>
                  </a:lnTo>
                  <a:lnTo>
                    <a:pt x="2389" y="339"/>
                  </a:lnTo>
                  <a:lnTo>
                    <a:pt x="2403" y="339"/>
                  </a:lnTo>
                  <a:lnTo>
                    <a:pt x="2409" y="339"/>
                  </a:lnTo>
                  <a:lnTo>
                    <a:pt x="2423" y="339"/>
                  </a:lnTo>
                  <a:lnTo>
                    <a:pt x="2430" y="332"/>
                  </a:lnTo>
                  <a:lnTo>
                    <a:pt x="2444" y="332"/>
                  </a:lnTo>
                  <a:lnTo>
                    <a:pt x="2450" y="332"/>
                  </a:lnTo>
                  <a:lnTo>
                    <a:pt x="2464" y="332"/>
                  </a:lnTo>
                  <a:lnTo>
                    <a:pt x="2471" y="325"/>
                  </a:lnTo>
                  <a:lnTo>
                    <a:pt x="2485" y="325"/>
                  </a:lnTo>
                  <a:lnTo>
                    <a:pt x="2491" y="325"/>
                  </a:lnTo>
                  <a:lnTo>
                    <a:pt x="2505" y="325"/>
                  </a:lnTo>
                  <a:lnTo>
                    <a:pt x="2512" y="318"/>
                  </a:lnTo>
                  <a:lnTo>
                    <a:pt x="2525" y="318"/>
                  </a:lnTo>
                  <a:lnTo>
                    <a:pt x="2532" y="318"/>
                  </a:lnTo>
                  <a:lnTo>
                    <a:pt x="2546" y="318"/>
                  </a:lnTo>
                  <a:lnTo>
                    <a:pt x="2553" y="311"/>
                  </a:lnTo>
                  <a:lnTo>
                    <a:pt x="2566" y="311"/>
                  </a:lnTo>
                  <a:lnTo>
                    <a:pt x="2573" y="311"/>
                  </a:lnTo>
                  <a:lnTo>
                    <a:pt x="2587" y="304"/>
                  </a:lnTo>
                  <a:lnTo>
                    <a:pt x="2594" y="304"/>
                  </a:lnTo>
                  <a:lnTo>
                    <a:pt x="2607" y="304"/>
                  </a:lnTo>
                  <a:lnTo>
                    <a:pt x="2614" y="304"/>
                  </a:lnTo>
                  <a:lnTo>
                    <a:pt x="2628" y="297"/>
                  </a:lnTo>
                  <a:lnTo>
                    <a:pt x="2635" y="297"/>
                  </a:lnTo>
                  <a:lnTo>
                    <a:pt x="2648" y="297"/>
                  </a:lnTo>
                  <a:lnTo>
                    <a:pt x="2655" y="297"/>
                  </a:lnTo>
                  <a:lnTo>
                    <a:pt x="2669" y="290"/>
                  </a:lnTo>
                  <a:lnTo>
                    <a:pt x="2676" y="290"/>
                  </a:lnTo>
                  <a:lnTo>
                    <a:pt x="2689" y="290"/>
                  </a:lnTo>
                  <a:lnTo>
                    <a:pt x="2696" y="290"/>
                  </a:lnTo>
                  <a:lnTo>
                    <a:pt x="2710" y="283"/>
                  </a:lnTo>
                  <a:lnTo>
                    <a:pt x="2717" y="283"/>
                  </a:lnTo>
                  <a:lnTo>
                    <a:pt x="2730" y="283"/>
                  </a:lnTo>
                  <a:lnTo>
                    <a:pt x="2737" y="283"/>
                  </a:lnTo>
                  <a:lnTo>
                    <a:pt x="2751" y="276"/>
                  </a:lnTo>
                  <a:lnTo>
                    <a:pt x="2758" y="276"/>
                  </a:lnTo>
                  <a:lnTo>
                    <a:pt x="2771" y="276"/>
                  </a:lnTo>
                  <a:lnTo>
                    <a:pt x="2778" y="276"/>
                  </a:lnTo>
                  <a:lnTo>
                    <a:pt x="2785" y="269"/>
                  </a:lnTo>
                  <a:lnTo>
                    <a:pt x="2798" y="269"/>
                  </a:lnTo>
                  <a:lnTo>
                    <a:pt x="2805" y="269"/>
                  </a:lnTo>
                  <a:lnTo>
                    <a:pt x="2819" y="269"/>
                  </a:lnTo>
                  <a:lnTo>
                    <a:pt x="2826" y="262"/>
                  </a:lnTo>
                  <a:lnTo>
                    <a:pt x="2839" y="262"/>
                  </a:lnTo>
                  <a:lnTo>
                    <a:pt x="2846" y="262"/>
                  </a:lnTo>
                  <a:lnTo>
                    <a:pt x="2860" y="262"/>
                  </a:lnTo>
                  <a:lnTo>
                    <a:pt x="2867" y="255"/>
                  </a:lnTo>
                  <a:lnTo>
                    <a:pt x="2880" y="255"/>
                  </a:lnTo>
                  <a:lnTo>
                    <a:pt x="2887" y="255"/>
                  </a:lnTo>
                  <a:lnTo>
                    <a:pt x="2901" y="248"/>
                  </a:lnTo>
                  <a:lnTo>
                    <a:pt x="2908" y="248"/>
                  </a:lnTo>
                  <a:lnTo>
                    <a:pt x="2921" y="248"/>
                  </a:lnTo>
                  <a:lnTo>
                    <a:pt x="2928" y="248"/>
                  </a:lnTo>
                  <a:lnTo>
                    <a:pt x="2942" y="241"/>
                  </a:lnTo>
                  <a:lnTo>
                    <a:pt x="2949" y="241"/>
                  </a:lnTo>
                  <a:lnTo>
                    <a:pt x="2962" y="241"/>
                  </a:lnTo>
                  <a:lnTo>
                    <a:pt x="2969" y="241"/>
                  </a:lnTo>
                  <a:lnTo>
                    <a:pt x="2983" y="233"/>
                  </a:lnTo>
                  <a:lnTo>
                    <a:pt x="2990" y="233"/>
                  </a:lnTo>
                  <a:lnTo>
                    <a:pt x="3003" y="233"/>
                  </a:lnTo>
                  <a:lnTo>
                    <a:pt x="3010" y="233"/>
                  </a:lnTo>
                  <a:lnTo>
                    <a:pt x="3024" y="226"/>
                  </a:lnTo>
                  <a:lnTo>
                    <a:pt x="3031" y="226"/>
                  </a:lnTo>
                  <a:lnTo>
                    <a:pt x="3044" y="226"/>
                  </a:lnTo>
                  <a:lnTo>
                    <a:pt x="3051" y="226"/>
                  </a:lnTo>
                  <a:lnTo>
                    <a:pt x="3065" y="219"/>
                  </a:lnTo>
                  <a:lnTo>
                    <a:pt x="3071" y="219"/>
                  </a:lnTo>
                  <a:lnTo>
                    <a:pt x="3085" y="219"/>
                  </a:lnTo>
                  <a:lnTo>
                    <a:pt x="3092" y="219"/>
                  </a:lnTo>
                  <a:lnTo>
                    <a:pt x="3106" y="212"/>
                  </a:lnTo>
                  <a:lnTo>
                    <a:pt x="3112" y="212"/>
                  </a:lnTo>
                  <a:lnTo>
                    <a:pt x="3126" y="212"/>
                  </a:lnTo>
                  <a:lnTo>
                    <a:pt x="3133" y="212"/>
                  </a:lnTo>
                  <a:lnTo>
                    <a:pt x="3147" y="205"/>
                  </a:lnTo>
                  <a:lnTo>
                    <a:pt x="3153" y="205"/>
                  </a:lnTo>
                  <a:lnTo>
                    <a:pt x="3167" y="205"/>
                  </a:lnTo>
                  <a:lnTo>
                    <a:pt x="3174" y="205"/>
                  </a:lnTo>
                  <a:lnTo>
                    <a:pt x="3188" y="198"/>
                  </a:lnTo>
                  <a:lnTo>
                    <a:pt x="3194" y="198"/>
                  </a:lnTo>
                  <a:lnTo>
                    <a:pt x="3208" y="198"/>
                  </a:lnTo>
                  <a:lnTo>
                    <a:pt x="3215" y="191"/>
                  </a:lnTo>
                  <a:lnTo>
                    <a:pt x="3228" y="191"/>
                  </a:lnTo>
                  <a:lnTo>
                    <a:pt x="3235" y="191"/>
                  </a:lnTo>
                  <a:lnTo>
                    <a:pt x="3249" y="191"/>
                  </a:lnTo>
                  <a:lnTo>
                    <a:pt x="3256" y="184"/>
                  </a:lnTo>
                  <a:lnTo>
                    <a:pt x="3269" y="184"/>
                  </a:lnTo>
                  <a:lnTo>
                    <a:pt x="3276" y="184"/>
                  </a:lnTo>
                  <a:lnTo>
                    <a:pt x="3290" y="184"/>
                  </a:lnTo>
                  <a:lnTo>
                    <a:pt x="3297" y="177"/>
                  </a:lnTo>
                  <a:lnTo>
                    <a:pt x="3310" y="177"/>
                  </a:lnTo>
                  <a:lnTo>
                    <a:pt x="3317" y="177"/>
                  </a:lnTo>
                  <a:lnTo>
                    <a:pt x="3331" y="177"/>
                  </a:lnTo>
                  <a:lnTo>
                    <a:pt x="3338" y="170"/>
                  </a:lnTo>
                  <a:lnTo>
                    <a:pt x="3351" y="170"/>
                  </a:lnTo>
                  <a:lnTo>
                    <a:pt x="3358" y="170"/>
                  </a:lnTo>
                  <a:lnTo>
                    <a:pt x="3372" y="170"/>
                  </a:lnTo>
                  <a:lnTo>
                    <a:pt x="3379" y="163"/>
                  </a:lnTo>
                  <a:lnTo>
                    <a:pt x="3392" y="163"/>
                  </a:lnTo>
                  <a:lnTo>
                    <a:pt x="3399" y="163"/>
                  </a:lnTo>
                  <a:lnTo>
                    <a:pt x="3413" y="163"/>
                  </a:lnTo>
                  <a:lnTo>
                    <a:pt x="3420" y="156"/>
                  </a:lnTo>
                  <a:lnTo>
                    <a:pt x="3433" y="156"/>
                  </a:lnTo>
                  <a:lnTo>
                    <a:pt x="3440" y="156"/>
                  </a:lnTo>
                  <a:lnTo>
                    <a:pt x="3454" y="156"/>
                  </a:lnTo>
                  <a:lnTo>
                    <a:pt x="3461" y="149"/>
                  </a:lnTo>
                  <a:lnTo>
                    <a:pt x="3474" y="149"/>
                  </a:lnTo>
                  <a:lnTo>
                    <a:pt x="3481" y="149"/>
                  </a:lnTo>
                  <a:lnTo>
                    <a:pt x="3495" y="149"/>
                  </a:lnTo>
                  <a:lnTo>
                    <a:pt x="3501" y="142"/>
                  </a:lnTo>
                  <a:lnTo>
                    <a:pt x="3515" y="142"/>
                  </a:lnTo>
                  <a:lnTo>
                    <a:pt x="3522" y="142"/>
                  </a:lnTo>
                  <a:lnTo>
                    <a:pt x="3536" y="135"/>
                  </a:lnTo>
                  <a:lnTo>
                    <a:pt x="3542" y="135"/>
                  </a:lnTo>
                  <a:lnTo>
                    <a:pt x="3556" y="135"/>
                  </a:lnTo>
                  <a:lnTo>
                    <a:pt x="3563" y="135"/>
                  </a:lnTo>
                  <a:lnTo>
                    <a:pt x="3577" y="128"/>
                  </a:lnTo>
                  <a:lnTo>
                    <a:pt x="3583" y="128"/>
                  </a:lnTo>
                  <a:lnTo>
                    <a:pt x="3597" y="128"/>
                  </a:lnTo>
                  <a:lnTo>
                    <a:pt x="3604" y="128"/>
                  </a:lnTo>
                  <a:lnTo>
                    <a:pt x="3617" y="120"/>
                  </a:lnTo>
                  <a:lnTo>
                    <a:pt x="3624" y="120"/>
                  </a:lnTo>
                  <a:lnTo>
                    <a:pt x="3638" y="120"/>
                  </a:lnTo>
                  <a:lnTo>
                    <a:pt x="3645" y="120"/>
                  </a:lnTo>
                  <a:lnTo>
                    <a:pt x="3658" y="113"/>
                  </a:lnTo>
                  <a:lnTo>
                    <a:pt x="3665" y="113"/>
                  </a:lnTo>
                  <a:lnTo>
                    <a:pt x="3679" y="113"/>
                  </a:lnTo>
                  <a:lnTo>
                    <a:pt x="3686" y="113"/>
                  </a:lnTo>
                  <a:lnTo>
                    <a:pt x="3699" y="106"/>
                  </a:lnTo>
                  <a:lnTo>
                    <a:pt x="3706" y="106"/>
                  </a:lnTo>
                  <a:lnTo>
                    <a:pt x="3713" y="106"/>
                  </a:lnTo>
                  <a:lnTo>
                    <a:pt x="3727" y="106"/>
                  </a:lnTo>
                  <a:lnTo>
                    <a:pt x="3733" y="99"/>
                  </a:lnTo>
                  <a:lnTo>
                    <a:pt x="3747" y="99"/>
                  </a:lnTo>
                  <a:lnTo>
                    <a:pt x="3754" y="99"/>
                  </a:lnTo>
                  <a:lnTo>
                    <a:pt x="3768" y="99"/>
                  </a:lnTo>
                  <a:lnTo>
                    <a:pt x="3774" y="92"/>
                  </a:lnTo>
                  <a:lnTo>
                    <a:pt x="3788" y="92"/>
                  </a:lnTo>
                  <a:lnTo>
                    <a:pt x="3795" y="92"/>
                  </a:lnTo>
                  <a:lnTo>
                    <a:pt x="3809" y="92"/>
                  </a:lnTo>
                  <a:lnTo>
                    <a:pt x="3815" y="85"/>
                  </a:lnTo>
                  <a:lnTo>
                    <a:pt x="3829" y="85"/>
                  </a:lnTo>
                  <a:lnTo>
                    <a:pt x="3836" y="85"/>
                  </a:lnTo>
                  <a:lnTo>
                    <a:pt x="3850" y="78"/>
                  </a:lnTo>
                  <a:lnTo>
                    <a:pt x="3856" y="78"/>
                  </a:lnTo>
                  <a:lnTo>
                    <a:pt x="3870" y="78"/>
                  </a:lnTo>
                  <a:lnTo>
                    <a:pt x="3877" y="78"/>
                  </a:lnTo>
                  <a:lnTo>
                    <a:pt x="3890" y="71"/>
                  </a:lnTo>
                  <a:lnTo>
                    <a:pt x="3897" y="71"/>
                  </a:lnTo>
                  <a:lnTo>
                    <a:pt x="3911" y="71"/>
                  </a:lnTo>
                  <a:lnTo>
                    <a:pt x="3918" y="71"/>
                  </a:lnTo>
                  <a:lnTo>
                    <a:pt x="3931" y="64"/>
                  </a:lnTo>
                  <a:lnTo>
                    <a:pt x="3938" y="64"/>
                  </a:lnTo>
                  <a:lnTo>
                    <a:pt x="3952" y="64"/>
                  </a:lnTo>
                  <a:lnTo>
                    <a:pt x="3959" y="64"/>
                  </a:lnTo>
                  <a:lnTo>
                    <a:pt x="3972" y="57"/>
                  </a:lnTo>
                  <a:lnTo>
                    <a:pt x="3979" y="57"/>
                  </a:lnTo>
                  <a:lnTo>
                    <a:pt x="3993" y="57"/>
                  </a:lnTo>
                  <a:lnTo>
                    <a:pt x="4000" y="57"/>
                  </a:lnTo>
                  <a:lnTo>
                    <a:pt x="4013" y="50"/>
                  </a:lnTo>
                  <a:lnTo>
                    <a:pt x="4020" y="50"/>
                  </a:lnTo>
                  <a:lnTo>
                    <a:pt x="4034" y="50"/>
                  </a:lnTo>
                  <a:lnTo>
                    <a:pt x="4041" y="50"/>
                  </a:lnTo>
                  <a:lnTo>
                    <a:pt x="4054" y="43"/>
                  </a:lnTo>
                  <a:lnTo>
                    <a:pt x="4061" y="43"/>
                  </a:lnTo>
                  <a:lnTo>
                    <a:pt x="4075" y="43"/>
                  </a:lnTo>
                  <a:lnTo>
                    <a:pt x="4082" y="43"/>
                  </a:lnTo>
                  <a:lnTo>
                    <a:pt x="4095" y="36"/>
                  </a:lnTo>
                  <a:lnTo>
                    <a:pt x="4102" y="36"/>
                  </a:lnTo>
                  <a:lnTo>
                    <a:pt x="4116" y="36"/>
                  </a:lnTo>
                  <a:lnTo>
                    <a:pt x="4123" y="36"/>
                  </a:lnTo>
                  <a:lnTo>
                    <a:pt x="4136" y="29"/>
                  </a:lnTo>
                  <a:lnTo>
                    <a:pt x="4143" y="29"/>
                  </a:lnTo>
                  <a:lnTo>
                    <a:pt x="4157" y="29"/>
                  </a:lnTo>
                  <a:lnTo>
                    <a:pt x="4163" y="22"/>
                  </a:lnTo>
                  <a:lnTo>
                    <a:pt x="4177" y="22"/>
                  </a:lnTo>
                  <a:lnTo>
                    <a:pt x="4184" y="22"/>
                  </a:lnTo>
                  <a:lnTo>
                    <a:pt x="4198" y="22"/>
                  </a:lnTo>
                  <a:lnTo>
                    <a:pt x="4204" y="15"/>
                  </a:lnTo>
                  <a:lnTo>
                    <a:pt x="4218" y="15"/>
                  </a:lnTo>
                  <a:lnTo>
                    <a:pt x="4225" y="15"/>
                  </a:lnTo>
                  <a:lnTo>
                    <a:pt x="4239" y="15"/>
                  </a:lnTo>
                  <a:lnTo>
                    <a:pt x="4245" y="7"/>
                  </a:lnTo>
                  <a:lnTo>
                    <a:pt x="4259" y="7"/>
                  </a:lnTo>
                  <a:lnTo>
                    <a:pt x="4266" y="7"/>
                  </a:lnTo>
                  <a:lnTo>
                    <a:pt x="4279" y="7"/>
                  </a:lnTo>
                  <a:lnTo>
                    <a:pt x="4286" y="0"/>
                  </a:lnTo>
                  <a:lnTo>
                    <a:pt x="4300" y="0"/>
                  </a:lnTo>
                  <a:lnTo>
                    <a:pt x="4307" y="0"/>
                  </a:lnTo>
                  <a:lnTo>
                    <a:pt x="4320" y="0"/>
                  </a:lnTo>
                </a:path>
              </a:pathLst>
            </a:custGeom>
            <a:noFill/>
            <a:ln w="12699" cap="rnd">
              <a:solidFill>
                <a:srgbClr val="0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4" name="Group 48">
              <a:extLst>
                <a:ext uri="{FF2B5EF4-FFF2-40B4-BE49-F238E27FC236}">
                  <a16:creationId xmlns:a16="http://schemas.microsoft.com/office/drawing/2014/main" id="{B93BAAF4-4CE4-7141-BD9C-8F4D74EA7591}"/>
                </a:ext>
              </a:extLst>
            </p:cNvPr>
            <p:cNvGrpSpPr>
              <a:grpSpLocks/>
            </p:cNvGrpSpPr>
            <p:nvPr/>
          </p:nvGrpSpPr>
          <p:grpSpPr bwMode="auto">
            <a:xfrm>
              <a:off x="7971593" y="614351"/>
              <a:ext cx="955427" cy="1681943"/>
              <a:chOff x="2930" y="2002"/>
              <a:chExt cx="550" cy="929"/>
            </a:xfrm>
          </p:grpSpPr>
          <p:sp>
            <p:nvSpPr>
              <p:cNvPr id="18" name="Rectangle 49">
                <a:extLst>
                  <a:ext uri="{FF2B5EF4-FFF2-40B4-BE49-F238E27FC236}">
                    <a16:creationId xmlns:a16="http://schemas.microsoft.com/office/drawing/2014/main" id="{7B3E9FDC-9481-7745-9055-B28615C1452F}"/>
                  </a:ext>
                </a:extLst>
              </p:cNvPr>
              <p:cNvSpPr>
                <a:spLocks noChangeArrowheads="1"/>
              </p:cNvSpPr>
              <p:nvPr/>
            </p:nvSpPr>
            <p:spPr bwMode="auto">
              <a:xfrm>
                <a:off x="2930" y="2677"/>
                <a:ext cx="550"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dirty="0">
                    <a:solidFill>
                      <a:srgbClr val="7030A0"/>
                    </a:solidFill>
                    <a:latin typeface="Trebuchet MS" panose="020B0703020202090204" pitchFamily="34" charset="0"/>
                  </a:rPr>
                  <a:t>Trend</a:t>
                </a:r>
              </a:p>
            </p:txBody>
          </p:sp>
          <p:sp>
            <p:nvSpPr>
              <p:cNvPr id="19" name="Line 50">
                <a:extLst>
                  <a:ext uri="{FF2B5EF4-FFF2-40B4-BE49-F238E27FC236}">
                    <a16:creationId xmlns:a16="http://schemas.microsoft.com/office/drawing/2014/main" id="{8C53941A-F198-F645-BEA7-464A1625DF09}"/>
                  </a:ext>
                </a:extLst>
              </p:cNvPr>
              <p:cNvSpPr>
                <a:spLocks noChangeShapeType="1"/>
              </p:cNvSpPr>
              <p:nvPr/>
            </p:nvSpPr>
            <p:spPr bwMode="auto">
              <a:xfrm flipV="1">
                <a:off x="3216" y="2002"/>
                <a:ext cx="0" cy="766"/>
              </a:xfrm>
              <a:prstGeom prst="line">
                <a:avLst/>
              </a:prstGeom>
              <a:noFill/>
              <a:ln w="25399">
                <a:solidFill>
                  <a:srgbClr val="7030A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58" name="Group 57">
            <a:extLst>
              <a:ext uri="{FF2B5EF4-FFF2-40B4-BE49-F238E27FC236}">
                <a16:creationId xmlns:a16="http://schemas.microsoft.com/office/drawing/2014/main" id="{7491735A-7342-C5C2-558B-8FFBCE0C1FCE}"/>
              </a:ext>
            </a:extLst>
          </p:cNvPr>
          <p:cNvGrpSpPr/>
          <p:nvPr/>
        </p:nvGrpSpPr>
        <p:grpSpPr>
          <a:xfrm>
            <a:off x="2262294" y="1701560"/>
            <a:ext cx="7827548" cy="2844893"/>
            <a:chOff x="840154" y="1261009"/>
            <a:chExt cx="7827548" cy="2844893"/>
          </a:xfrm>
        </p:grpSpPr>
        <p:sp>
          <p:nvSpPr>
            <p:cNvPr id="8" name="Freeform 21">
              <a:extLst>
                <a:ext uri="{FF2B5EF4-FFF2-40B4-BE49-F238E27FC236}">
                  <a16:creationId xmlns:a16="http://schemas.microsoft.com/office/drawing/2014/main" id="{00E2A187-F99C-AB4A-9AB4-E83D2B738209}"/>
                </a:ext>
              </a:extLst>
            </p:cNvPr>
            <p:cNvSpPr>
              <a:spLocks/>
            </p:cNvSpPr>
            <p:nvPr/>
          </p:nvSpPr>
          <p:spPr bwMode="auto">
            <a:xfrm>
              <a:off x="1161524" y="2070914"/>
              <a:ext cx="7506178" cy="2034988"/>
            </a:xfrm>
            <a:custGeom>
              <a:avLst/>
              <a:gdLst>
                <a:gd name="T0" fmla="*/ 62 w 4321"/>
                <a:gd name="T1" fmla="*/ 918 h 1124"/>
                <a:gd name="T2" fmla="*/ 137 w 4321"/>
                <a:gd name="T3" fmla="*/ 770 h 1124"/>
                <a:gd name="T4" fmla="*/ 205 w 4321"/>
                <a:gd name="T5" fmla="*/ 741 h 1124"/>
                <a:gd name="T6" fmla="*/ 280 w 4321"/>
                <a:gd name="T7" fmla="*/ 706 h 1124"/>
                <a:gd name="T8" fmla="*/ 348 w 4321"/>
                <a:gd name="T9" fmla="*/ 537 h 1124"/>
                <a:gd name="T10" fmla="*/ 423 w 4321"/>
                <a:gd name="T11" fmla="*/ 741 h 1124"/>
                <a:gd name="T12" fmla="*/ 492 w 4321"/>
                <a:gd name="T13" fmla="*/ 537 h 1124"/>
                <a:gd name="T14" fmla="*/ 567 w 4321"/>
                <a:gd name="T15" fmla="*/ 452 h 1124"/>
                <a:gd name="T16" fmla="*/ 635 w 4321"/>
                <a:gd name="T17" fmla="*/ 692 h 1124"/>
                <a:gd name="T18" fmla="*/ 710 w 4321"/>
                <a:gd name="T19" fmla="*/ 424 h 1124"/>
                <a:gd name="T20" fmla="*/ 778 w 4321"/>
                <a:gd name="T21" fmla="*/ 642 h 1124"/>
                <a:gd name="T22" fmla="*/ 853 w 4321"/>
                <a:gd name="T23" fmla="*/ 515 h 1124"/>
                <a:gd name="T24" fmla="*/ 922 w 4321"/>
                <a:gd name="T25" fmla="*/ 579 h 1124"/>
                <a:gd name="T26" fmla="*/ 990 w 4321"/>
                <a:gd name="T27" fmla="*/ 755 h 1124"/>
                <a:gd name="T28" fmla="*/ 1065 w 4321"/>
                <a:gd name="T29" fmla="*/ 579 h 1124"/>
                <a:gd name="T30" fmla="*/ 1133 w 4321"/>
                <a:gd name="T31" fmla="*/ 953 h 1124"/>
                <a:gd name="T32" fmla="*/ 1208 w 4321"/>
                <a:gd name="T33" fmla="*/ 854 h 1124"/>
                <a:gd name="T34" fmla="*/ 1277 w 4321"/>
                <a:gd name="T35" fmla="*/ 819 h 1124"/>
                <a:gd name="T36" fmla="*/ 1352 w 4321"/>
                <a:gd name="T37" fmla="*/ 1003 h 1124"/>
                <a:gd name="T38" fmla="*/ 1420 w 4321"/>
                <a:gd name="T39" fmla="*/ 777 h 1124"/>
                <a:gd name="T40" fmla="*/ 1495 w 4321"/>
                <a:gd name="T41" fmla="*/ 1024 h 1124"/>
                <a:gd name="T42" fmla="*/ 1563 w 4321"/>
                <a:gd name="T43" fmla="*/ 861 h 1124"/>
                <a:gd name="T44" fmla="*/ 1638 w 4321"/>
                <a:gd name="T45" fmla="*/ 953 h 1124"/>
                <a:gd name="T46" fmla="*/ 1707 w 4321"/>
                <a:gd name="T47" fmla="*/ 1073 h 1124"/>
                <a:gd name="T48" fmla="*/ 1782 w 4321"/>
                <a:gd name="T49" fmla="*/ 713 h 1124"/>
                <a:gd name="T50" fmla="*/ 1850 w 4321"/>
                <a:gd name="T51" fmla="*/ 890 h 1124"/>
                <a:gd name="T52" fmla="*/ 1918 w 4321"/>
                <a:gd name="T53" fmla="*/ 671 h 1124"/>
                <a:gd name="T54" fmla="*/ 1993 w 4321"/>
                <a:gd name="T55" fmla="*/ 678 h 1124"/>
                <a:gd name="T56" fmla="*/ 2061 w 4321"/>
                <a:gd name="T57" fmla="*/ 755 h 1124"/>
                <a:gd name="T58" fmla="*/ 2136 w 4321"/>
                <a:gd name="T59" fmla="*/ 487 h 1124"/>
                <a:gd name="T60" fmla="*/ 2205 w 4321"/>
                <a:gd name="T61" fmla="*/ 642 h 1124"/>
                <a:gd name="T62" fmla="*/ 2280 w 4321"/>
                <a:gd name="T63" fmla="*/ 339 h 1124"/>
                <a:gd name="T64" fmla="*/ 2348 w 4321"/>
                <a:gd name="T65" fmla="*/ 388 h 1124"/>
                <a:gd name="T66" fmla="*/ 2423 w 4321"/>
                <a:gd name="T67" fmla="*/ 374 h 1124"/>
                <a:gd name="T68" fmla="*/ 2491 w 4321"/>
                <a:gd name="T69" fmla="*/ 106 h 1124"/>
                <a:gd name="T70" fmla="*/ 2566 w 4321"/>
                <a:gd name="T71" fmla="*/ 367 h 1124"/>
                <a:gd name="T72" fmla="*/ 2635 w 4321"/>
                <a:gd name="T73" fmla="*/ 148 h 1124"/>
                <a:gd name="T74" fmla="*/ 2710 w 4321"/>
                <a:gd name="T75" fmla="*/ 205 h 1124"/>
                <a:gd name="T76" fmla="*/ 2778 w 4321"/>
                <a:gd name="T77" fmla="*/ 176 h 1124"/>
                <a:gd name="T78" fmla="*/ 2846 w 4321"/>
                <a:gd name="T79" fmla="*/ 0 h 1124"/>
                <a:gd name="T80" fmla="*/ 2921 w 4321"/>
                <a:gd name="T81" fmla="*/ 374 h 1124"/>
                <a:gd name="T82" fmla="*/ 2990 w 4321"/>
                <a:gd name="T83" fmla="*/ 106 h 1124"/>
                <a:gd name="T84" fmla="*/ 3065 w 4321"/>
                <a:gd name="T85" fmla="*/ 247 h 1124"/>
                <a:gd name="T86" fmla="*/ 3133 w 4321"/>
                <a:gd name="T87" fmla="*/ 466 h 1124"/>
                <a:gd name="T88" fmla="*/ 3208 w 4321"/>
                <a:gd name="T89" fmla="*/ 296 h 1124"/>
                <a:gd name="T90" fmla="*/ 3276 w 4321"/>
                <a:gd name="T91" fmla="*/ 515 h 1124"/>
                <a:gd name="T92" fmla="*/ 3351 w 4321"/>
                <a:gd name="T93" fmla="*/ 438 h 1124"/>
                <a:gd name="T94" fmla="*/ 3420 w 4321"/>
                <a:gd name="T95" fmla="*/ 459 h 1124"/>
                <a:gd name="T96" fmla="*/ 3495 w 4321"/>
                <a:gd name="T97" fmla="*/ 572 h 1124"/>
                <a:gd name="T98" fmla="*/ 3563 w 4321"/>
                <a:gd name="T99" fmla="*/ 459 h 1124"/>
                <a:gd name="T100" fmla="*/ 3638 w 4321"/>
                <a:gd name="T101" fmla="*/ 748 h 1124"/>
                <a:gd name="T102" fmla="*/ 3706 w 4321"/>
                <a:gd name="T103" fmla="*/ 501 h 1124"/>
                <a:gd name="T104" fmla="*/ 3774 w 4321"/>
                <a:gd name="T105" fmla="*/ 522 h 1124"/>
                <a:gd name="T106" fmla="*/ 3850 w 4321"/>
                <a:gd name="T107" fmla="*/ 628 h 1124"/>
                <a:gd name="T108" fmla="*/ 3918 w 4321"/>
                <a:gd name="T109" fmla="*/ 409 h 1124"/>
                <a:gd name="T110" fmla="*/ 3993 w 4321"/>
                <a:gd name="T111" fmla="*/ 621 h 1124"/>
                <a:gd name="T112" fmla="*/ 4061 w 4321"/>
                <a:gd name="T113" fmla="*/ 296 h 1124"/>
                <a:gd name="T114" fmla="*/ 4136 w 4321"/>
                <a:gd name="T115" fmla="*/ 367 h 1124"/>
                <a:gd name="T116" fmla="*/ 4204 w 4321"/>
                <a:gd name="T117" fmla="*/ 367 h 1124"/>
                <a:gd name="T118" fmla="*/ 4279 w 4321"/>
                <a:gd name="T119" fmla="*/ 63 h 112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4321"/>
                <a:gd name="T181" fmla="*/ 0 h 1124"/>
                <a:gd name="T182" fmla="*/ 4321 w 4321"/>
                <a:gd name="T183" fmla="*/ 1124 h 112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4321" h="1124">
                  <a:moveTo>
                    <a:pt x="0" y="791"/>
                  </a:moveTo>
                  <a:lnTo>
                    <a:pt x="14" y="819"/>
                  </a:lnTo>
                  <a:lnTo>
                    <a:pt x="21" y="883"/>
                  </a:lnTo>
                  <a:lnTo>
                    <a:pt x="34" y="925"/>
                  </a:lnTo>
                  <a:lnTo>
                    <a:pt x="41" y="861"/>
                  </a:lnTo>
                  <a:lnTo>
                    <a:pt x="55" y="1003"/>
                  </a:lnTo>
                  <a:lnTo>
                    <a:pt x="62" y="918"/>
                  </a:lnTo>
                  <a:lnTo>
                    <a:pt x="75" y="946"/>
                  </a:lnTo>
                  <a:lnTo>
                    <a:pt x="82" y="967"/>
                  </a:lnTo>
                  <a:lnTo>
                    <a:pt x="96" y="890"/>
                  </a:lnTo>
                  <a:lnTo>
                    <a:pt x="103" y="918"/>
                  </a:lnTo>
                  <a:lnTo>
                    <a:pt x="116" y="847"/>
                  </a:lnTo>
                  <a:lnTo>
                    <a:pt x="123" y="763"/>
                  </a:lnTo>
                  <a:lnTo>
                    <a:pt x="137" y="770"/>
                  </a:lnTo>
                  <a:lnTo>
                    <a:pt x="144" y="720"/>
                  </a:lnTo>
                  <a:lnTo>
                    <a:pt x="157" y="642"/>
                  </a:lnTo>
                  <a:lnTo>
                    <a:pt x="164" y="706"/>
                  </a:lnTo>
                  <a:lnTo>
                    <a:pt x="178" y="579"/>
                  </a:lnTo>
                  <a:lnTo>
                    <a:pt x="185" y="699"/>
                  </a:lnTo>
                  <a:lnTo>
                    <a:pt x="198" y="607"/>
                  </a:lnTo>
                  <a:lnTo>
                    <a:pt x="205" y="741"/>
                  </a:lnTo>
                  <a:lnTo>
                    <a:pt x="219" y="791"/>
                  </a:lnTo>
                  <a:lnTo>
                    <a:pt x="226" y="805"/>
                  </a:lnTo>
                  <a:lnTo>
                    <a:pt x="239" y="763"/>
                  </a:lnTo>
                  <a:lnTo>
                    <a:pt x="246" y="755"/>
                  </a:lnTo>
                  <a:lnTo>
                    <a:pt x="260" y="748"/>
                  </a:lnTo>
                  <a:lnTo>
                    <a:pt x="266" y="784"/>
                  </a:lnTo>
                  <a:lnTo>
                    <a:pt x="280" y="706"/>
                  </a:lnTo>
                  <a:lnTo>
                    <a:pt x="287" y="777"/>
                  </a:lnTo>
                  <a:lnTo>
                    <a:pt x="301" y="621"/>
                  </a:lnTo>
                  <a:lnTo>
                    <a:pt x="307" y="628"/>
                  </a:lnTo>
                  <a:lnTo>
                    <a:pt x="321" y="572"/>
                  </a:lnTo>
                  <a:lnTo>
                    <a:pt x="328" y="487"/>
                  </a:lnTo>
                  <a:lnTo>
                    <a:pt x="342" y="565"/>
                  </a:lnTo>
                  <a:lnTo>
                    <a:pt x="348" y="537"/>
                  </a:lnTo>
                  <a:lnTo>
                    <a:pt x="362" y="459"/>
                  </a:lnTo>
                  <a:lnTo>
                    <a:pt x="369" y="466"/>
                  </a:lnTo>
                  <a:lnTo>
                    <a:pt x="382" y="579"/>
                  </a:lnTo>
                  <a:lnTo>
                    <a:pt x="389" y="607"/>
                  </a:lnTo>
                  <a:lnTo>
                    <a:pt x="403" y="565"/>
                  </a:lnTo>
                  <a:lnTo>
                    <a:pt x="410" y="685"/>
                  </a:lnTo>
                  <a:lnTo>
                    <a:pt x="423" y="741"/>
                  </a:lnTo>
                  <a:lnTo>
                    <a:pt x="430" y="650"/>
                  </a:lnTo>
                  <a:lnTo>
                    <a:pt x="444" y="720"/>
                  </a:lnTo>
                  <a:lnTo>
                    <a:pt x="451" y="650"/>
                  </a:lnTo>
                  <a:lnTo>
                    <a:pt x="464" y="706"/>
                  </a:lnTo>
                  <a:lnTo>
                    <a:pt x="471" y="544"/>
                  </a:lnTo>
                  <a:lnTo>
                    <a:pt x="485" y="586"/>
                  </a:lnTo>
                  <a:lnTo>
                    <a:pt x="492" y="537"/>
                  </a:lnTo>
                  <a:lnTo>
                    <a:pt x="505" y="480"/>
                  </a:lnTo>
                  <a:lnTo>
                    <a:pt x="512" y="494"/>
                  </a:lnTo>
                  <a:lnTo>
                    <a:pt x="526" y="374"/>
                  </a:lnTo>
                  <a:lnTo>
                    <a:pt x="533" y="374"/>
                  </a:lnTo>
                  <a:lnTo>
                    <a:pt x="546" y="395"/>
                  </a:lnTo>
                  <a:lnTo>
                    <a:pt x="553" y="529"/>
                  </a:lnTo>
                  <a:lnTo>
                    <a:pt x="567" y="452"/>
                  </a:lnTo>
                  <a:lnTo>
                    <a:pt x="574" y="494"/>
                  </a:lnTo>
                  <a:lnTo>
                    <a:pt x="587" y="635"/>
                  </a:lnTo>
                  <a:lnTo>
                    <a:pt x="594" y="586"/>
                  </a:lnTo>
                  <a:lnTo>
                    <a:pt x="608" y="664"/>
                  </a:lnTo>
                  <a:lnTo>
                    <a:pt x="615" y="699"/>
                  </a:lnTo>
                  <a:lnTo>
                    <a:pt x="628" y="614"/>
                  </a:lnTo>
                  <a:lnTo>
                    <a:pt x="635" y="692"/>
                  </a:lnTo>
                  <a:lnTo>
                    <a:pt x="649" y="635"/>
                  </a:lnTo>
                  <a:lnTo>
                    <a:pt x="655" y="621"/>
                  </a:lnTo>
                  <a:lnTo>
                    <a:pt x="669" y="565"/>
                  </a:lnTo>
                  <a:lnTo>
                    <a:pt x="676" y="522"/>
                  </a:lnTo>
                  <a:lnTo>
                    <a:pt x="690" y="501"/>
                  </a:lnTo>
                  <a:lnTo>
                    <a:pt x="696" y="402"/>
                  </a:lnTo>
                  <a:lnTo>
                    <a:pt x="710" y="424"/>
                  </a:lnTo>
                  <a:lnTo>
                    <a:pt x="717" y="431"/>
                  </a:lnTo>
                  <a:lnTo>
                    <a:pt x="731" y="494"/>
                  </a:lnTo>
                  <a:lnTo>
                    <a:pt x="737" y="494"/>
                  </a:lnTo>
                  <a:lnTo>
                    <a:pt x="751" y="522"/>
                  </a:lnTo>
                  <a:lnTo>
                    <a:pt x="758" y="565"/>
                  </a:lnTo>
                  <a:lnTo>
                    <a:pt x="772" y="593"/>
                  </a:lnTo>
                  <a:lnTo>
                    <a:pt x="778" y="642"/>
                  </a:lnTo>
                  <a:lnTo>
                    <a:pt x="792" y="650"/>
                  </a:lnTo>
                  <a:lnTo>
                    <a:pt x="799" y="770"/>
                  </a:lnTo>
                  <a:lnTo>
                    <a:pt x="812" y="650"/>
                  </a:lnTo>
                  <a:lnTo>
                    <a:pt x="819" y="734"/>
                  </a:lnTo>
                  <a:lnTo>
                    <a:pt x="833" y="706"/>
                  </a:lnTo>
                  <a:lnTo>
                    <a:pt x="840" y="586"/>
                  </a:lnTo>
                  <a:lnTo>
                    <a:pt x="853" y="515"/>
                  </a:lnTo>
                  <a:lnTo>
                    <a:pt x="860" y="508"/>
                  </a:lnTo>
                  <a:lnTo>
                    <a:pt x="874" y="579"/>
                  </a:lnTo>
                  <a:lnTo>
                    <a:pt x="881" y="558"/>
                  </a:lnTo>
                  <a:lnTo>
                    <a:pt x="894" y="551"/>
                  </a:lnTo>
                  <a:lnTo>
                    <a:pt x="901" y="544"/>
                  </a:lnTo>
                  <a:lnTo>
                    <a:pt x="915" y="529"/>
                  </a:lnTo>
                  <a:lnTo>
                    <a:pt x="922" y="579"/>
                  </a:lnTo>
                  <a:lnTo>
                    <a:pt x="928" y="642"/>
                  </a:lnTo>
                  <a:lnTo>
                    <a:pt x="942" y="692"/>
                  </a:lnTo>
                  <a:lnTo>
                    <a:pt x="949" y="713"/>
                  </a:lnTo>
                  <a:lnTo>
                    <a:pt x="963" y="861"/>
                  </a:lnTo>
                  <a:lnTo>
                    <a:pt x="969" y="861"/>
                  </a:lnTo>
                  <a:lnTo>
                    <a:pt x="983" y="755"/>
                  </a:lnTo>
                  <a:lnTo>
                    <a:pt x="990" y="755"/>
                  </a:lnTo>
                  <a:lnTo>
                    <a:pt x="1004" y="777"/>
                  </a:lnTo>
                  <a:lnTo>
                    <a:pt x="1010" y="678"/>
                  </a:lnTo>
                  <a:lnTo>
                    <a:pt x="1024" y="706"/>
                  </a:lnTo>
                  <a:lnTo>
                    <a:pt x="1031" y="706"/>
                  </a:lnTo>
                  <a:lnTo>
                    <a:pt x="1044" y="678"/>
                  </a:lnTo>
                  <a:lnTo>
                    <a:pt x="1051" y="642"/>
                  </a:lnTo>
                  <a:lnTo>
                    <a:pt x="1065" y="579"/>
                  </a:lnTo>
                  <a:lnTo>
                    <a:pt x="1072" y="706"/>
                  </a:lnTo>
                  <a:lnTo>
                    <a:pt x="1085" y="635"/>
                  </a:lnTo>
                  <a:lnTo>
                    <a:pt x="1092" y="678"/>
                  </a:lnTo>
                  <a:lnTo>
                    <a:pt x="1106" y="840"/>
                  </a:lnTo>
                  <a:lnTo>
                    <a:pt x="1113" y="770"/>
                  </a:lnTo>
                  <a:lnTo>
                    <a:pt x="1126" y="939"/>
                  </a:lnTo>
                  <a:lnTo>
                    <a:pt x="1133" y="953"/>
                  </a:lnTo>
                  <a:lnTo>
                    <a:pt x="1147" y="967"/>
                  </a:lnTo>
                  <a:lnTo>
                    <a:pt x="1154" y="1003"/>
                  </a:lnTo>
                  <a:lnTo>
                    <a:pt x="1167" y="974"/>
                  </a:lnTo>
                  <a:lnTo>
                    <a:pt x="1174" y="847"/>
                  </a:lnTo>
                  <a:lnTo>
                    <a:pt x="1188" y="833"/>
                  </a:lnTo>
                  <a:lnTo>
                    <a:pt x="1195" y="784"/>
                  </a:lnTo>
                  <a:lnTo>
                    <a:pt x="1208" y="854"/>
                  </a:lnTo>
                  <a:lnTo>
                    <a:pt x="1215" y="748"/>
                  </a:lnTo>
                  <a:lnTo>
                    <a:pt x="1229" y="770"/>
                  </a:lnTo>
                  <a:lnTo>
                    <a:pt x="1236" y="713"/>
                  </a:lnTo>
                  <a:lnTo>
                    <a:pt x="1249" y="791"/>
                  </a:lnTo>
                  <a:lnTo>
                    <a:pt x="1256" y="840"/>
                  </a:lnTo>
                  <a:lnTo>
                    <a:pt x="1270" y="833"/>
                  </a:lnTo>
                  <a:lnTo>
                    <a:pt x="1277" y="819"/>
                  </a:lnTo>
                  <a:lnTo>
                    <a:pt x="1290" y="967"/>
                  </a:lnTo>
                  <a:lnTo>
                    <a:pt x="1297" y="1031"/>
                  </a:lnTo>
                  <a:lnTo>
                    <a:pt x="1311" y="960"/>
                  </a:lnTo>
                  <a:lnTo>
                    <a:pt x="1317" y="974"/>
                  </a:lnTo>
                  <a:lnTo>
                    <a:pt x="1331" y="1010"/>
                  </a:lnTo>
                  <a:lnTo>
                    <a:pt x="1338" y="1003"/>
                  </a:lnTo>
                  <a:lnTo>
                    <a:pt x="1352" y="1003"/>
                  </a:lnTo>
                  <a:lnTo>
                    <a:pt x="1358" y="981"/>
                  </a:lnTo>
                  <a:lnTo>
                    <a:pt x="1372" y="996"/>
                  </a:lnTo>
                  <a:lnTo>
                    <a:pt x="1379" y="974"/>
                  </a:lnTo>
                  <a:lnTo>
                    <a:pt x="1393" y="833"/>
                  </a:lnTo>
                  <a:lnTo>
                    <a:pt x="1399" y="798"/>
                  </a:lnTo>
                  <a:lnTo>
                    <a:pt x="1413" y="861"/>
                  </a:lnTo>
                  <a:lnTo>
                    <a:pt x="1420" y="777"/>
                  </a:lnTo>
                  <a:lnTo>
                    <a:pt x="1434" y="911"/>
                  </a:lnTo>
                  <a:lnTo>
                    <a:pt x="1440" y="925"/>
                  </a:lnTo>
                  <a:lnTo>
                    <a:pt x="1454" y="883"/>
                  </a:lnTo>
                  <a:lnTo>
                    <a:pt x="1461" y="932"/>
                  </a:lnTo>
                  <a:lnTo>
                    <a:pt x="1474" y="953"/>
                  </a:lnTo>
                  <a:lnTo>
                    <a:pt x="1481" y="1087"/>
                  </a:lnTo>
                  <a:lnTo>
                    <a:pt x="1495" y="1024"/>
                  </a:lnTo>
                  <a:lnTo>
                    <a:pt x="1502" y="1123"/>
                  </a:lnTo>
                  <a:lnTo>
                    <a:pt x="1515" y="1024"/>
                  </a:lnTo>
                  <a:lnTo>
                    <a:pt x="1522" y="1123"/>
                  </a:lnTo>
                  <a:lnTo>
                    <a:pt x="1536" y="1066"/>
                  </a:lnTo>
                  <a:lnTo>
                    <a:pt x="1543" y="953"/>
                  </a:lnTo>
                  <a:lnTo>
                    <a:pt x="1556" y="939"/>
                  </a:lnTo>
                  <a:lnTo>
                    <a:pt x="1563" y="861"/>
                  </a:lnTo>
                  <a:lnTo>
                    <a:pt x="1577" y="876"/>
                  </a:lnTo>
                  <a:lnTo>
                    <a:pt x="1584" y="890"/>
                  </a:lnTo>
                  <a:lnTo>
                    <a:pt x="1597" y="904"/>
                  </a:lnTo>
                  <a:lnTo>
                    <a:pt x="1604" y="890"/>
                  </a:lnTo>
                  <a:lnTo>
                    <a:pt x="1618" y="840"/>
                  </a:lnTo>
                  <a:lnTo>
                    <a:pt x="1625" y="946"/>
                  </a:lnTo>
                  <a:lnTo>
                    <a:pt x="1638" y="953"/>
                  </a:lnTo>
                  <a:lnTo>
                    <a:pt x="1645" y="1031"/>
                  </a:lnTo>
                  <a:lnTo>
                    <a:pt x="1659" y="1017"/>
                  </a:lnTo>
                  <a:lnTo>
                    <a:pt x="1666" y="1003"/>
                  </a:lnTo>
                  <a:lnTo>
                    <a:pt x="1679" y="1003"/>
                  </a:lnTo>
                  <a:lnTo>
                    <a:pt x="1686" y="1080"/>
                  </a:lnTo>
                  <a:lnTo>
                    <a:pt x="1700" y="1066"/>
                  </a:lnTo>
                  <a:lnTo>
                    <a:pt x="1707" y="1073"/>
                  </a:lnTo>
                  <a:lnTo>
                    <a:pt x="1720" y="1010"/>
                  </a:lnTo>
                  <a:lnTo>
                    <a:pt x="1727" y="981"/>
                  </a:lnTo>
                  <a:lnTo>
                    <a:pt x="1741" y="932"/>
                  </a:lnTo>
                  <a:lnTo>
                    <a:pt x="1747" y="784"/>
                  </a:lnTo>
                  <a:lnTo>
                    <a:pt x="1761" y="861"/>
                  </a:lnTo>
                  <a:lnTo>
                    <a:pt x="1768" y="770"/>
                  </a:lnTo>
                  <a:lnTo>
                    <a:pt x="1782" y="713"/>
                  </a:lnTo>
                  <a:lnTo>
                    <a:pt x="1788" y="720"/>
                  </a:lnTo>
                  <a:lnTo>
                    <a:pt x="1802" y="833"/>
                  </a:lnTo>
                  <a:lnTo>
                    <a:pt x="1809" y="819"/>
                  </a:lnTo>
                  <a:lnTo>
                    <a:pt x="1823" y="826"/>
                  </a:lnTo>
                  <a:lnTo>
                    <a:pt x="1829" y="847"/>
                  </a:lnTo>
                  <a:lnTo>
                    <a:pt x="1843" y="868"/>
                  </a:lnTo>
                  <a:lnTo>
                    <a:pt x="1850" y="890"/>
                  </a:lnTo>
                  <a:lnTo>
                    <a:pt x="1857" y="918"/>
                  </a:lnTo>
                  <a:lnTo>
                    <a:pt x="1870" y="996"/>
                  </a:lnTo>
                  <a:lnTo>
                    <a:pt x="1877" y="974"/>
                  </a:lnTo>
                  <a:lnTo>
                    <a:pt x="1891" y="819"/>
                  </a:lnTo>
                  <a:lnTo>
                    <a:pt x="1898" y="847"/>
                  </a:lnTo>
                  <a:lnTo>
                    <a:pt x="1911" y="734"/>
                  </a:lnTo>
                  <a:lnTo>
                    <a:pt x="1918" y="671"/>
                  </a:lnTo>
                  <a:lnTo>
                    <a:pt x="1932" y="727"/>
                  </a:lnTo>
                  <a:lnTo>
                    <a:pt x="1939" y="699"/>
                  </a:lnTo>
                  <a:lnTo>
                    <a:pt x="1952" y="678"/>
                  </a:lnTo>
                  <a:lnTo>
                    <a:pt x="1959" y="565"/>
                  </a:lnTo>
                  <a:lnTo>
                    <a:pt x="1973" y="628"/>
                  </a:lnTo>
                  <a:lnTo>
                    <a:pt x="1980" y="607"/>
                  </a:lnTo>
                  <a:lnTo>
                    <a:pt x="1993" y="678"/>
                  </a:lnTo>
                  <a:lnTo>
                    <a:pt x="2000" y="763"/>
                  </a:lnTo>
                  <a:lnTo>
                    <a:pt x="2014" y="748"/>
                  </a:lnTo>
                  <a:lnTo>
                    <a:pt x="2020" y="770"/>
                  </a:lnTo>
                  <a:lnTo>
                    <a:pt x="2034" y="847"/>
                  </a:lnTo>
                  <a:lnTo>
                    <a:pt x="2041" y="734"/>
                  </a:lnTo>
                  <a:lnTo>
                    <a:pt x="2055" y="720"/>
                  </a:lnTo>
                  <a:lnTo>
                    <a:pt x="2061" y="755"/>
                  </a:lnTo>
                  <a:lnTo>
                    <a:pt x="2075" y="614"/>
                  </a:lnTo>
                  <a:lnTo>
                    <a:pt x="2082" y="593"/>
                  </a:lnTo>
                  <a:lnTo>
                    <a:pt x="2096" y="501"/>
                  </a:lnTo>
                  <a:lnTo>
                    <a:pt x="2102" y="572"/>
                  </a:lnTo>
                  <a:lnTo>
                    <a:pt x="2116" y="480"/>
                  </a:lnTo>
                  <a:lnTo>
                    <a:pt x="2123" y="431"/>
                  </a:lnTo>
                  <a:lnTo>
                    <a:pt x="2136" y="487"/>
                  </a:lnTo>
                  <a:lnTo>
                    <a:pt x="2143" y="381"/>
                  </a:lnTo>
                  <a:lnTo>
                    <a:pt x="2157" y="417"/>
                  </a:lnTo>
                  <a:lnTo>
                    <a:pt x="2164" y="529"/>
                  </a:lnTo>
                  <a:lnTo>
                    <a:pt x="2177" y="586"/>
                  </a:lnTo>
                  <a:lnTo>
                    <a:pt x="2184" y="572"/>
                  </a:lnTo>
                  <a:lnTo>
                    <a:pt x="2198" y="628"/>
                  </a:lnTo>
                  <a:lnTo>
                    <a:pt x="2205" y="642"/>
                  </a:lnTo>
                  <a:lnTo>
                    <a:pt x="2218" y="558"/>
                  </a:lnTo>
                  <a:lnTo>
                    <a:pt x="2225" y="635"/>
                  </a:lnTo>
                  <a:lnTo>
                    <a:pt x="2239" y="551"/>
                  </a:lnTo>
                  <a:lnTo>
                    <a:pt x="2246" y="537"/>
                  </a:lnTo>
                  <a:lnTo>
                    <a:pt x="2259" y="508"/>
                  </a:lnTo>
                  <a:lnTo>
                    <a:pt x="2266" y="417"/>
                  </a:lnTo>
                  <a:lnTo>
                    <a:pt x="2280" y="339"/>
                  </a:lnTo>
                  <a:lnTo>
                    <a:pt x="2287" y="261"/>
                  </a:lnTo>
                  <a:lnTo>
                    <a:pt x="2300" y="332"/>
                  </a:lnTo>
                  <a:lnTo>
                    <a:pt x="2307" y="296"/>
                  </a:lnTo>
                  <a:lnTo>
                    <a:pt x="2321" y="318"/>
                  </a:lnTo>
                  <a:lnTo>
                    <a:pt x="2328" y="254"/>
                  </a:lnTo>
                  <a:lnTo>
                    <a:pt x="2341" y="311"/>
                  </a:lnTo>
                  <a:lnTo>
                    <a:pt x="2348" y="388"/>
                  </a:lnTo>
                  <a:lnTo>
                    <a:pt x="2362" y="424"/>
                  </a:lnTo>
                  <a:lnTo>
                    <a:pt x="2369" y="332"/>
                  </a:lnTo>
                  <a:lnTo>
                    <a:pt x="2382" y="360"/>
                  </a:lnTo>
                  <a:lnTo>
                    <a:pt x="2389" y="388"/>
                  </a:lnTo>
                  <a:lnTo>
                    <a:pt x="2403" y="409"/>
                  </a:lnTo>
                  <a:lnTo>
                    <a:pt x="2409" y="339"/>
                  </a:lnTo>
                  <a:lnTo>
                    <a:pt x="2423" y="374"/>
                  </a:lnTo>
                  <a:lnTo>
                    <a:pt x="2430" y="339"/>
                  </a:lnTo>
                  <a:lnTo>
                    <a:pt x="2444" y="233"/>
                  </a:lnTo>
                  <a:lnTo>
                    <a:pt x="2450" y="155"/>
                  </a:lnTo>
                  <a:lnTo>
                    <a:pt x="2464" y="127"/>
                  </a:lnTo>
                  <a:lnTo>
                    <a:pt x="2471" y="78"/>
                  </a:lnTo>
                  <a:lnTo>
                    <a:pt x="2485" y="155"/>
                  </a:lnTo>
                  <a:lnTo>
                    <a:pt x="2491" y="106"/>
                  </a:lnTo>
                  <a:lnTo>
                    <a:pt x="2505" y="148"/>
                  </a:lnTo>
                  <a:lnTo>
                    <a:pt x="2512" y="198"/>
                  </a:lnTo>
                  <a:lnTo>
                    <a:pt x="2525" y="240"/>
                  </a:lnTo>
                  <a:lnTo>
                    <a:pt x="2532" y="254"/>
                  </a:lnTo>
                  <a:lnTo>
                    <a:pt x="2546" y="205"/>
                  </a:lnTo>
                  <a:lnTo>
                    <a:pt x="2553" y="346"/>
                  </a:lnTo>
                  <a:lnTo>
                    <a:pt x="2566" y="367"/>
                  </a:lnTo>
                  <a:lnTo>
                    <a:pt x="2573" y="353"/>
                  </a:lnTo>
                  <a:lnTo>
                    <a:pt x="2587" y="240"/>
                  </a:lnTo>
                  <a:lnTo>
                    <a:pt x="2594" y="219"/>
                  </a:lnTo>
                  <a:lnTo>
                    <a:pt x="2607" y="205"/>
                  </a:lnTo>
                  <a:lnTo>
                    <a:pt x="2614" y="169"/>
                  </a:lnTo>
                  <a:lnTo>
                    <a:pt x="2628" y="205"/>
                  </a:lnTo>
                  <a:lnTo>
                    <a:pt x="2635" y="148"/>
                  </a:lnTo>
                  <a:lnTo>
                    <a:pt x="2648" y="78"/>
                  </a:lnTo>
                  <a:lnTo>
                    <a:pt x="2655" y="21"/>
                  </a:lnTo>
                  <a:lnTo>
                    <a:pt x="2669" y="42"/>
                  </a:lnTo>
                  <a:lnTo>
                    <a:pt x="2676" y="92"/>
                  </a:lnTo>
                  <a:lnTo>
                    <a:pt x="2689" y="92"/>
                  </a:lnTo>
                  <a:lnTo>
                    <a:pt x="2696" y="134"/>
                  </a:lnTo>
                  <a:lnTo>
                    <a:pt x="2710" y="205"/>
                  </a:lnTo>
                  <a:lnTo>
                    <a:pt x="2717" y="254"/>
                  </a:lnTo>
                  <a:lnTo>
                    <a:pt x="2730" y="212"/>
                  </a:lnTo>
                  <a:lnTo>
                    <a:pt x="2737" y="325"/>
                  </a:lnTo>
                  <a:lnTo>
                    <a:pt x="2751" y="247"/>
                  </a:lnTo>
                  <a:lnTo>
                    <a:pt x="2758" y="233"/>
                  </a:lnTo>
                  <a:lnTo>
                    <a:pt x="2771" y="212"/>
                  </a:lnTo>
                  <a:lnTo>
                    <a:pt x="2778" y="176"/>
                  </a:lnTo>
                  <a:lnTo>
                    <a:pt x="2785" y="141"/>
                  </a:lnTo>
                  <a:lnTo>
                    <a:pt x="2798" y="169"/>
                  </a:lnTo>
                  <a:lnTo>
                    <a:pt x="2805" y="63"/>
                  </a:lnTo>
                  <a:lnTo>
                    <a:pt x="2819" y="70"/>
                  </a:lnTo>
                  <a:lnTo>
                    <a:pt x="2826" y="14"/>
                  </a:lnTo>
                  <a:lnTo>
                    <a:pt x="2839" y="42"/>
                  </a:lnTo>
                  <a:lnTo>
                    <a:pt x="2846" y="0"/>
                  </a:lnTo>
                  <a:lnTo>
                    <a:pt x="2860" y="127"/>
                  </a:lnTo>
                  <a:lnTo>
                    <a:pt x="2867" y="78"/>
                  </a:lnTo>
                  <a:lnTo>
                    <a:pt x="2880" y="113"/>
                  </a:lnTo>
                  <a:lnTo>
                    <a:pt x="2887" y="183"/>
                  </a:lnTo>
                  <a:lnTo>
                    <a:pt x="2901" y="219"/>
                  </a:lnTo>
                  <a:lnTo>
                    <a:pt x="2908" y="282"/>
                  </a:lnTo>
                  <a:lnTo>
                    <a:pt x="2921" y="374"/>
                  </a:lnTo>
                  <a:lnTo>
                    <a:pt x="2928" y="289"/>
                  </a:lnTo>
                  <a:lnTo>
                    <a:pt x="2942" y="275"/>
                  </a:lnTo>
                  <a:lnTo>
                    <a:pt x="2949" y="353"/>
                  </a:lnTo>
                  <a:lnTo>
                    <a:pt x="2962" y="339"/>
                  </a:lnTo>
                  <a:lnTo>
                    <a:pt x="2969" y="212"/>
                  </a:lnTo>
                  <a:lnTo>
                    <a:pt x="2983" y="219"/>
                  </a:lnTo>
                  <a:lnTo>
                    <a:pt x="2990" y="106"/>
                  </a:lnTo>
                  <a:lnTo>
                    <a:pt x="3003" y="191"/>
                  </a:lnTo>
                  <a:lnTo>
                    <a:pt x="3010" y="92"/>
                  </a:lnTo>
                  <a:lnTo>
                    <a:pt x="3024" y="78"/>
                  </a:lnTo>
                  <a:lnTo>
                    <a:pt x="3031" y="92"/>
                  </a:lnTo>
                  <a:lnTo>
                    <a:pt x="3044" y="226"/>
                  </a:lnTo>
                  <a:lnTo>
                    <a:pt x="3051" y="205"/>
                  </a:lnTo>
                  <a:lnTo>
                    <a:pt x="3065" y="247"/>
                  </a:lnTo>
                  <a:lnTo>
                    <a:pt x="3071" y="275"/>
                  </a:lnTo>
                  <a:lnTo>
                    <a:pt x="3085" y="424"/>
                  </a:lnTo>
                  <a:lnTo>
                    <a:pt x="3092" y="381"/>
                  </a:lnTo>
                  <a:lnTo>
                    <a:pt x="3106" y="452"/>
                  </a:lnTo>
                  <a:lnTo>
                    <a:pt x="3112" y="395"/>
                  </a:lnTo>
                  <a:lnTo>
                    <a:pt x="3126" y="374"/>
                  </a:lnTo>
                  <a:lnTo>
                    <a:pt x="3133" y="466"/>
                  </a:lnTo>
                  <a:lnTo>
                    <a:pt x="3147" y="431"/>
                  </a:lnTo>
                  <a:lnTo>
                    <a:pt x="3153" y="282"/>
                  </a:lnTo>
                  <a:lnTo>
                    <a:pt x="3167" y="247"/>
                  </a:lnTo>
                  <a:lnTo>
                    <a:pt x="3174" y="304"/>
                  </a:lnTo>
                  <a:lnTo>
                    <a:pt x="3188" y="282"/>
                  </a:lnTo>
                  <a:lnTo>
                    <a:pt x="3194" y="304"/>
                  </a:lnTo>
                  <a:lnTo>
                    <a:pt x="3208" y="296"/>
                  </a:lnTo>
                  <a:lnTo>
                    <a:pt x="3215" y="304"/>
                  </a:lnTo>
                  <a:lnTo>
                    <a:pt x="3228" y="275"/>
                  </a:lnTo>
                  <a:lnTo>
                    <a:pt x="3235" y="424"/>
                  </a:lnTo>
                  <a:lnTo>
                    <a:pt x="3249" y="459"/>
                  </a:lnTo>
                  <a:lnTo>
                    <a:pt x="3256" y="537"/>
                  </a:lnTo>
                  <a:lnTo>
                    <a:pt x="3269" y="529"/>
                  </a:lnTo>
                  <a:lnTo>
                    <a:pt x="3276" y="515"/>
                  </a:lnTo>
                  <a:lnTo>
                    <a:pt x="3290" y="501"/>
                  </a:lnTo>
                  <a:lnTo>
                    <a:pt x="3297" y="551"/>
                  </a:lnTo>
                  <a:lnTo>
                    <a:pt x="3310" y="558"/>
                  </a:lnTo>
                  <a:lnTo>
                    <a:pt x="3317" y="558"/>
                  </a:lnTo>
                  <a:lnTo>
                    <a:pt x="3331" y="445"/>
                  </a:lnTo>
                  <a:lnTo>
                    <a:pt x="3338" y="381"/>
                  </a:lnTo>
                  <a:lnTo>
                    <a:pt x="3351" y="438"/>
                  </a:lnTo>
                  <a:lnTo>
                    <a:pt x="3358" y="346"/>
                  </a:lnTo>
                  <a:lnTo>
                    <a:pt x="3372" y="424"/>
                  </a:lnTo>
                  <a:lnTo>
                    <a:pt x="3379" y="325"/>
                  </a:lnTo>
                  <a:lnTo>
                    <a:pt x="3392" y="395"/>
                  </a:lnTo>
                  <a:lnTo>
                    <a:pt x="3399" y="452"/>
                  </a:lnTo>
                  <a:lnTo>
                    <a:pt x="3413" y="501"/>
                  </a:lnTo>
                  <a:lnTo>
                    <a:pt x="3420" y="459"/>
                  </a:lnTo>
                  <a:lnTo>
                    <a:pt x="3433" y="621"/>
                  </a:lnTo>
                  <a:lnTo>
                    <a:pt x="3440" y="593"/>
                  </a:lnTo>
                  <a:lnTo>
                    <a:pt x="3454" y="650"/>
                  </a:lnTo>
                  <a:lnTo>
                    <a:pt x="3461" y="713"/>
                  </a:lnTo>
                  <a:lnTo>
                    <a:pt x="3474" y="713"/>
                  </a:lnTo>
                  <a:lnTo>
                    <a:pt x="3481" y="671"/>
                  </a:lnTo>
                  <a:lnTo>
                    <a:pt x="3495" y="572"/>
                  </a:lnTo>
                  <a:lnTo>
                    <a:pt x="3501" y="572"/>
                  </a:lnTo>
                  <a:lnTo>
                    <a:pt x="3515" y="494"/>
                  </a:lnTo>
                  <a:lnTo>
                    <a:pt x="3522" y="473"/>
                  </a:lnTo>
                  <a:lnTo>
                    <a:pt x="3536" y="537"/>
                  </a:lnTo>
                  <a:lnTo>
                    <a:pt x="3542" y="409"/>
                  </a:lnTo>
                  <a:lnTo>
                    <a:pt x="3556" y="508"/>
                  </a:lnTo>
                  <a:lnTo>
                    <a:pt x="3563" y="459"/>
                  </a:lnTo>
                  <a:lnTo>
                    <a:pt x="3577" y="431"/>
                  </a:lnTo>
                  <a:lnTo>
                    <a:pt x="3583" y="466"/>
                  </a:lnTo>
                  <a:lnTo>
                    <a:pt x="3597" y="522"/>
                  </a:lnTo>
                  <a:lnTo>
                    <a:pt x="3604" y="664"/>
                  </a:lnTo>
                  <a:lnTo>
                    <a:pt x="3617" y="642"/>
                  </a:lnTo>
                  <a:lnTo>
                    <a:pt x="3624" y="621"/>
                  </a:lnTo>
                  <a:lnTo>
                    <a:pt x="3638" y="748"/>
                  </a:lnTo>
                  <a:lnTo>
                    <a:pt x="3645" y="770"/>
                  </a:lnTo>
                  <a:lnTo>
                    <a:pt x="3658" y="755"/>
                  </a:lnTo>
                  <a:lnTo>
                    <a:pt x="3665" y="614"/>
                  </a:lnTo>
                  <a:lnTo>
                    <a:pt x="3679" y="628"/>
                  </a:lnTo>
                  <a:lnTo>
                    <a:pt x="3686" y="537"/>
                  </a:lnTo>
                  <a:lnTo>
                    <a:pt x="3699" y="537"/>
                  </a:lnTo>
                  <a:lnTo>
                    <a:pt x="3706" y="501"/>
                  </a:lnTo>
                  <a:lnTo>
                    <a:pt x="3713" y="424"/>
                  </a:lnTo>
                  <a:lnTo>
                    <a:pt x="3727" y="424"/>
                  </a:lnTo>
                  <a:lnTo>
                    <a:pt x="3733" y="501"/>
                  </a:lnTo>
                  <a:lnTo>
                    <a:pt x="3747" y="501"/>
                  </a:lnTo>
                  <a:lnTo>
                    <a:pt x="3754" y="515"/>
                  </a:lnTo>
                  <a:lnTo>
                    <a:pt x="3768" y="565"/>
                  </a:lnTo>
                  <a:lnTo>
                    <a:pt x="3774" y="522"/>
                  </a:lnTo>
                  <a:lnTo>
                    <a:pt x="3788" y="678"/>
                  </a:lnTo>
                  <a:lnTo>
                    <a:pt x="3795" y="706"/>
                  </a:lnTo>
                  <a:lnTo>
                    <a:pt x="3809" y="671"/>
                  </a:lnTo>
                  <a:lnTo>
                    <a:pt x="3815" y="628"/>
                  </a:lnTo>
                  <a:lnTo>
                    <a:pt x="3829" y="692"/>
                  </a:lnTo>
                  <a:lnTo>
                    <a:pt x="3836" y="685"/>
                  </a:lnTo>
                  <a:lnTo>
                    <a:pt x="3850" y="628"/>
                  </a:lnTo>
                  <a:lnTo>
                    <a:pt x="3856" y="586"/>
                  </a:lnTo>
                  <a:lnTo>
                    <a:pt x="3870" y="565"/>
                  </a:lnTo>
                  <a:lnTo>
                    <a:pt x="3877" y="501"/>
                  </a:lnTo>
                  <a:lnTo>
                    <a:pt x="3890" y="459"/>
                  </a:lnTo>
                  <a:lnTo>
                    <a:pt x="3897" y="438"/>
                  </a:lnTo>
                  <a:lnTo>
                    <a:pt x="3911" y="445"/>
                  </a:lnTo>
                  <a:lnTo>
                    <a:pt x="3918" y="409"/>
                  </a:lnTo>
                  <a:lnTo>
                    <a:pt x="3931" y="353"/>
                  </a:lnTo>
                  <a:lnTo>
                    <a:pt x="3938" y="459"/>
                  </a:lnTo>
                  <a:lnTo>
                    <a:pt x="3952" y="424"/>
                  </a:lnTo>
                  <a:lnTo>
                    <a:pt x="3959" y="565"/>
                  </a:lnTo>
                  <a:lnTo>
                    <a:pt x="3972" y="501"/>
                  </a:lnTo>
                  <a:lnTo>
                    <a:pt x="3979" y="600"/>
                  </a:lnTo>
                  <a:lnTo>
                    <a:pt x="3993" y="621"/>
                  </a:lnTo>
                  <a:lnTo>
                    <a:pt x="4000" y="522"/>
                  </a:lnTo>
                  <a:lnTo>
                    <a:pt x="4013" y="579"/>
                  </a:lnTo>
                  <a:lnTo>
                    <a:pt x="4020" y="473"/>
                  </a:lnTo>
                  <a:lnTo>
                    <a:pt x="4034" y="424"/>
                  </a:lnTo>
                  <a:lnTo>
                    <a:pt x="4041" y="459"/>
                  </a:lnTo>
                  <a:lnTo>
                    <a:pt x="4054" y="402"/>
                  </a:lnTo>
                  <a:lnTo>
                    <a:pt x="4061" y="296"/>
                  </a:lnTo>
                  <a:lnTo>
                    <a:pt x="4075" y="318"/>
                  </a:lnTo>
                  <a:lnTo>
                    <a:pt x="4082" y="205"/>
                  </a:lnTo>
                  <a:lnTo>
                    <a:pt x="4095" y="254"/>
                  </a:lnTo>
                  <a:lnTo>
                    <a:pt x="4102" y="304"/>
                  </a:lnTo>
                  <a:lnTo>
                    <a:pt x="4116" y="318"/>
                  </a:lnTo>
                  <a:lnTo>
                    <a:pt x="4123" y="275"/>
                  </a:lnTo>
                  <a:lnTo>
                    <a:pt x="4136" y="367"/>
                  </a:lnTo>
                  <a:lnTo>
                    <a:pt x="4143" y="304"/>
                  </a:lnTo>
                  <a:lnTo>
                    <a:pt x="4157" y="445"/>
                  </a:lnTo>
                  <a:lnTo>
                    <a:pt x="4163" y="438"/>
                  </a:lnTo>
                  <a:lnTo>
                    <a:pt x="4177" y="339"/>
                  </a:lnTo>
                  <a:lnTo>
                    <a:pt x="4184" y="325"/>
                  </a:lnTo>
                  <a:lnTo>
                    <a:pt x="4198" y="339"/>
                  </a:lnTo>
                  <a:lnTo>
                    <a:pt x="4204" y="367"/>
                  </a:lnTo>
                  <a:lnTo>
                    <a:pt x="4218" y="233"/>
                  </a:lnTo>
                  <a:lnTo>
                    <a:pt x="4225" y="261"/>
                  </a:lnTo>
                  <a:lnTo>
                    <a:pt x="4239" y="92"/>
                  </a:lnTo>
                  <a:lnTo>
                    <a:pt x="4245" y="113"/>
                  </a:lnTo>
                  <a:lnTo>
                    <a:pt x="4259" y="28"/>
                  </a:lnTo>
                  <a:lnTo>
                    <a:pt x="4266" y="120"/>
                  </a:lnTo>
                  <a:lnTo>
                    <a:pt x="4279" y="63"/>
                  </a:lnTo>
                  <a:lnTo>
                    <a:pt x="4286" y="28"/>
                  </a:lnTo>
                  <a:lnTo>
                    <a:pt x="4300" y="120"/>
                  </a:lnTo>
                  <a:lnTo>
                    <a:pt x="4307" y="85"/>
                  </a:lnTo>
                  <a:lnTo>
                    <a:pt x="4320" y="205"/>
                  </a:lnTo>
                </a:path>
              </a:pathLst>
            </a:custGeom>
            <a:noFill/>
            <a:ln w="12699" cap="rnd">
              <a:solidFill>
                <a:srgbClr val="808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5" name="Group 51">
              <a:extLst>
                <a:ext uri="{FF2B5EF4-FFF2-40B4-BE49-F238E27FC236}">
                  <a16:creationId xmlns:a16="http://schemas.microsoft.com/office/drawing/2014/main" id="{67CAF457-B7FF-024F-9BF6-DE2A54538CB8}"/>
                </a:ext>
              </a:extLst>
            </p:cNvPr>
            <p:cNvGrpSpPr>
              <a:grpSpLocks/>
            </p:cNvGrpSpPr>
            <p:nvPr/>
          </p:nvGrpSpPr>
          <p:grpSpPr bwMode="auto">
            <a:xfrm>
              <a:off x="840154" y="1261009"/>
              <a:ext cx="2053298" cy="1806867"/>
              <a:chOff x="409" y="1119"/>
              <a:chExt cx="1182" cy="998"/>
            </a:xfrm>
          </p:grpSpPr>
          <p:sp>
            <p:nvSpPr>
              <p:cNvPr id="16" name="Rectangle 52">
                <a:extLst>
                  <a:ext uri="{FF2B5EF4-FFF2-40B4-BE49-F238E27FC236}">
                    <a16:creationId xmlns:a16="http://schemas.microsoft.com/office/drawing/2014/main" id="{A694BD62-85C2-5942-8A50-57D2C0D7F5D5}"/>
                  </a:ext>
                </a:extLst>
              </p:cNvPr>
              <p:cNvSpPr>
                <a:spLocks noChangeArrowheads="1"/>
              </p:cNvSpPr>
              <p:nvPr/>
            </p:nvSpPr>
            <p:spPr bwMode="auto">
              <a:xfrm>
                <a:off x="409" y="1119"/>
                <a:ext cx="1182"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b="1" dirty="0">
                    <a:solidFill>
                      <a:srgbClr val="9966FF"/>
                    </a:solidFill>
                    <a:latin typeface="Trebuchet MS" panose="020B0703020202090204" pitchFamily="34" charset="0"/>
                  </a:rPr>
                  <a:t>Irregular</a:t>
                </a:r>
              </a:p>
              <a:p>
                <a:pPr algn="ctr">
                  <a:spcBef>
                    <a:spcPct val="0"/>
                  </a:spcBef>
                  <a:buFontTx/>
                  <a:buNone/>
                </a:pPr>
                <a:r>
                  <a:rPr lang="en-US" altLang="en-US" sz="2400" b="1" dirty="0">
                    <a:solidFill>
                      <a:srgbClr val="9966FF"/>
                    </a:solidFill>
                    <a:latin typeface="Trebuchet MS" panose="020B0703020202090204" pitchFamily="34" charset="0"/>
                  </a:rPr>
                  <a:t>fluctuations</a:t>
                </a:r>
              </a:p>
            </p:txBody>
          </p:sp>
          <p:sp>
            <p:nvSpPr>
              <p:cNvPr id="17" name="Line 53">
                <a:extLst>
                  <a:ext uri="{FF2B5EF4-FFF2-40B4-BE49-F238E27FC236}">
                    <a16:creationId xmlns:a16="http://schemas.microsoft.com/office/drawing/2014/main" id="{43602C62-075C-8748-A069-46E0147D13C6}"/>
                  </a:ext>
                </a:extLst>
              </p:cNvPr>
              <p:cNvSpPr>
                <a:spLocks noChangeShapeType="1"/>
              </p:cNvSpPr>
              <p:nvPr/>
            </p:nvSpPr>
            <p:spPr bwMode="auto">
              <a:xfrm flipH="1">
                <a:off x="804" y="1594"/>
                <a:ext cx="196" cy="523"/>
              </a:xfrm>
              <a:prstGeom prst="line">
                <a:avLst/>
              </a:prstGeom>
              <a:noFill/>
              <a:ln w="50799">
                <a:solidFill>
                  <a:srgbClr val="9966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 name="Line 53">
              <a:extLst>
                <a:ext uri="{FF2B5EF4-FFF2-40B4-BE49-F238E27FC236}">
                  <a16:creationId xmlns:a16="http://schemas.microsoft.com/office/drawing/2014/main" id="{0A090DE8-8FF4-2984-96D2-6FDBB1D0ED0B}"/>
                </a:ext>
              </a:extLst>
            </p:cNvPr>
            <p:cNvSpPr>
              <a:spLocks noChangeShapeType="1"/>
            </p:cNvSpPr>
            <p:nvPr/>
          </p:nvSpPr>
          <p:spPr bwMode="auto">
            <a:xfrm>
              <a:off x="1910230" y="2120991"/>
              <a:ext cx="182400" cy="648767"/>
            </a:xfrm>
            <a:prstGeom prst="line">
              <a:avLst/>
            </a:prstGeom>
            <a:noFill/>
            <a:ln w="50799">
              <a:solidFill>
                <a:srgbClr val="9966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0" name="Group 59">
            <a:extLst>
              <a:ext uri="{FF2B5EF4-FFF2-40B4-BE49-F238E27FC236}">
                <a16:creationId xmlns:a16="http://schemas.microsoft.com/office/drawing/2014/main" id="{E70CE26E-7565-936A-FFF7-2F5892139971}"/>
              </a:ext>
            </a:extLst>
          </p:cNvPr>
          <p:cNvGrpSpPr/>
          <p:nvPr/>
        </p:nvGrpSpPr>
        <p:grpSpPr>
          <a:xfrm>
            <a:off x="2417767" y="2516813"/>
            <a:ext cx="8194085" cy="3651210"/>
            <a:chOff x="2417767" y="2516813"/>
            <a:chExt cx="8194085" cy="3651210"/>
          </a:xfrm>
        </p:grpSpPr>
        <p:grpSp>
          <p:nvGrpSpPr>
            <p:cNvPr id="5" name="Group 4">
              <a:extLst>
                <a:ext uri="{FF2B5EF4-FFF2-40B4-BE49-F238E27FC236}">
                  <a16:creationId xmlns:a16="http://schemas.microsoft.com/office/drawing/2014/main" id="{F92B0EC4-D068-9E49-939C-05EA6DC6D708}"/>
                </a:ext>
              </a:extLst>
            </p:cNvPr>
            <p:cNvGrpSpPr>
              <a:grpSpLocks/>
            </p:cNvGrpSpPr>
            <p:nvPr/>
          </p:nvGrpSpPr>
          <p:grpSpPr bwMode="auto">
            <a:xfrm>
              <a:off x="2417767" y="5143287"/>
              <a:ext cx="8055114" cy="92335"/>
              <a:chOff x="624" y="3107"/>
              <a:chExt cx="4637" cy="51"/>
            </a:xfrm>
          </p:grpSpPr>
          <p:sp>
            <p:nvSpPr>
              <p:cNvPr id="41" name="Line 5">
                <a:extLst>
                  <a:ext uri="{FF2B5EF4-FFF2-40B4-BE49-F238E27FC236}">
                    <a16:creationId xmlns:a16="http://schemas.microsoft.com/office/drawing/2014/main" id="{809E94A8-206A-084B-B9F5-9E307011E2D1}"/>
                  </a:ext>
                </a:extLst>
              </p:cNvPr>
              <p:cNvSpPr>
                <a:spLocks noChangeShapeType="1"/>
              </p:cNvSpPr>
              <p:nvPr/>
            </p:nvSpPr>
            <p:spPr bwMode="auto">
              <a:xfrm>
                <a:off x="624" y="3107"/>
                <a:ext cx="4633" cy="0"/>
              </a:xfrm>
              <a:prstGeom prst="line">
                <a:avLst/>
              </a:prstGeom>
              <a:noFill/>
              <a:ln w="12699">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 name="Line 6">
                <a:extLst>
                  <a:ext uri="{FF2B5EF4-FFF2-40B4-BE49-F238E27FC236}">
                    <a16:creationId xmlns:a16="http://schemas.microsoft.com/office/drawing/2014/main" id="{90777496-0616-C845-B952-063D68580DEE}"/>
                  </a:ext>
                </a:extLst>
              </p:cNvPr>
              <p:cNvSpPr>
                <a:spLocks noChangeShapeType="1"/>
              </p:cNvSpPr>
              <p:nvPr/>
            </p:nvSpPr>
            <p:spPr bwMode="auto">
              <a:xfrm flipV="1">
                <a:off x="975" y="3107"/>
                <a:ext cx="0" cy="51"/>
              </a:xfrm>
              <a:prstGeom prst="line">
                <a:avLst/>
              </a:prstGeom>
              <a:noFill/>
              <a:ln w="12699">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7">
                <a:extLst>
                  <a:ext uri="{FF2B5EF4-FFF2-40B4-BE49-F238E27FC236}">
                    <a16:creationId xmlns:a16="http://schemas.microsoft.com/office/drawing/2014/main" id="{29F0AAA6-14BB-9444-8D1F-8B8A6C781A66}"/>
                  </a:ext>
                </a:extLst>
              </p:cNvPr>
              <p:cNvSpPr>
                <a:spLocks noChangeShapeType="1"/>
              </p:cNvSpPr>
              <p:nvPr/>
            </p:nvSpPr>
            <p:spPr bwMode="auto">
              <a:xfrm flipV="1">
                <a:off x="1337" y="3107"/>
                <a:ext cx="0" cy="51"/>
              </a:xfrm>
              <a:prstGeom prst="line">
                <a:avLst/>
              </a:prstGeom>
              <a:noFill/>
              <a:ln w="12699">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8">
                <a:extLst>
                  <a:ext uri="{FF2B5EF4-FFF2-40B4-BE49-F238E27FC236}">
                    <a16:creationId xmlns:a16="http://schemas.microsoft.com/office/drawing/2014/main" id="{2CBC7764-101D-9046-BF56-CAD8B8D5D943}"/>
                  </a:ext>
                </a:extLst>
              </p:cNvPr>
              <p:cNvSpPr>
                <a:spLocks noChangeShapeType="1"/>
              </p:cNvSpPr>
              <p:nvPr/>
            </p:nvSpPr>
            <p:spPr bwMode="auto">
              <a:xfrm flipV="1">
                <a:off x="1692" y="3107"/>
                <a:ext cx="0" cy="51"/>
              </a:xfrm>
              <a:prstGeom prst="line">
                <a:avLst/>
              </a:prstGeom>
              <a:noFill/>
              <a:ln w="12699">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9">
                <a:extLst>
                  <a:ext uri="{FF2B5EF4-FFF2-40B4-BE49-F238E27FC236}">
                    <a16:creationId xmlns:a16="http://schemas.microsoft.com/office/drawing/2014/main" id="{B66FB093-AF28-AF42-A8FD-476411666867}"/>
                  </a:ext>
                </a:extLst>
              </p:cNvPr>
              <p:cNvSpPr>
                <a:spLocks noChangeShapeType="1"/>
              </p:cNvSpPr>
              <p:nvPr/>
            </p:nvSpPr>
            <p:spPr bwMode="auto">
              <a:xfrm flipV="1">
                <a:off x="2047" y="3107"/>
                <a:ext cx="0" cy="51"/>
              </a:xfrm>
              <a:prstGeom prst="line">
                <a:avLst/>
              </a:prstGeom>
              <a:noFill/>
              <a:ln w="12699">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10">
                <a:extLst>
                  <a:ext uri="{FF2B5EF4-FFF2-40B4-BE49-F238E27FC236}">
                    <a16:creationId xmlns:a16="http://schemas.microsoft.com/office/drawing/2014/main" id="{159A9689-9015-7549-B79E-57C625006126}"/>
                  </a:ext>
                </a:extLst>
              </p:cNvPr>
              <p:cNvSpPr>
                <a:spLocks noChangeShapeType="1"/>
              </p:cNvSpPr>
              <p:nvPr/>
            </p:nvSpPr>
            <p:spPr bwMode="auto">
              <a:xfrm flipV="1">
                <a:off x="2409" y="3107"/>
                <a:ext cx="0" cy="51"/>
              </a:xfrm>
              <a:prstGeom prst="line">
                <a:avLst/>
              </a:prstGeom>
              <a:noFill/>
              <a:ln w="12699">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11">
                <a:extLst>
                  <a:ext uri="{FF2B5EF4-FFF2-40B4-BE49-F238E27FC236}">
                    <a16:creationId xmlns:a16="http://schemas.microsoft.com/office/drawing/2014/main" id="{5A008355-232B-4F4D-A2C2-2514B1752BB3}"/>
                  </a:ext>
                </a:extLst>
              </p:cNvPr>
              <p:cNvSpPr>
                <a:spLocks noChangeShapeType="1"/>
              </p:cNvSpPr>
              <p:nvPr/>
            </p:nvSpPr>
            <p:spPr bwMode="auto">
              <a:xfrm flipV="1">
                <a:off x="2763" y="3107"/>
                <a:ext cx="0" cy="51"/>
              </a:xfrm>
              <a:prstGeom prst="line">
                <a:avLst/>
              </a:prstGeom>
              <a:noFill/>
              <a:ln w="12699">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Line 12">
                <a:extLst>
                  <a:ext uri="{FF2B5EF4-FFF2-40B4-BE49-F238E27FC236}">
                    <a16:creationId xmlns:a16="http://schemas.microsoft.com/office/drawing/2014/main" id="{56A9F73C-E0E2-5F47-B2CB-078AA98A08E1}"/>
                  </a:ext>
                </a:extLst>
              </p:cNvPr>
              <p:cNvSpPr>
                <a:spLocks noChangeShapeType="1"/>
              </p:cNvSpPr>
              <p:nvPr/>
            </p:nvSpPr>
            <p:spPr bwMode="auto">
              <a:xfrm flipV="1">
                <a:off x="3118" y="3107"/>
                <a:ext cx="0" cy="51"/>
              </a:xfrm>
              <a:prstGeom prst="line">
                <a:avLst/>
              </a:prstGeom>
              <a:noFill/>
              <a:ln w="12699">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 name="Line 13">
                <a:extLst>
                  <a:ext uri="{FF2B5EF4-FFF2-40B4-BE49-F238E27FC236}">
                    <a16:creationId xmlns:a16="http://schemas.microsoft.com/office/drawing/2014/main" id="{DF9D35CE-7454-B847-B19B-86F6B86DD352}"/>
                  </a:ext>
                </a:extLst>
              </p:cNvPr>
              <p:cNvSpPr>
                <a:spLocks noChangeShapeType="1"/>
              </p:cNvSpPr>
              <p:nvPr/>
            </p:nvSpPr>
            <p:spPr bwMode="auto">
              <a:xfrm flipV="1">
                <a:off x="3473" y="3107"/>
                <a:ext cx="0" cy="51"/>
              </a:xfrm>
              <a:prstGeom prst="line">
                <a:avLst/>
              </a:prstGeom>
              <a:noFill/>
              <a:ln w="12699">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0" name="Line 14">
                <a:extLst>
                  <a:ext uri="{FF2B5EF4-FFF2-40B4-BE49-F238E27FC236}">
                    <a16:creationId xmlns:a16="http://schemas.microsoft.com/office/drawing/2014/main" id="{4A3AD819-7C89-5843-89E5-2883CD8795D5}"/>
                  </a:ext>
                </a:extLst>
              </p:cNvPr>
              <p:cNvSpPr>
                <a:spLocks noChangeShapeType="1"/>
              </p:cNvSpPr>
              <p:nvPr/>
            </p:nvSpPr>
            <p:spPr bwMode="auto">
              <a:xfrm flipV="1">
                <a:off x="3835" y="3107"/>
                <a:ext cx="0" cy="51"/>
              </a:xfrm>
              <a:prstGeom prst="line">
                <a:avLst/>
              </a:prstGeom>
              <a:noFill/>
              <a:ln w="12699">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 name="Line 15">
                <a:extLst>
                  <a:ext uri="{FF2B5EF4-FFF2-40B4-BE49-F238E27FC236}">
                    <a16:creationId xmlns:a16="http://schemas.microsoft.com/office/drawing/2014/main" id="{1D65E771-0FA6-A84A-9CF6-E57FB00F078F}"/>
                  </a:ext>
                </a:extLst>
              </p:cNvPr>
              <p:cNvSpPr>
                <a:spLocks noChangeShapeType="1"/>
              </p:cNvSpPr>
              <p:nvPr/>
            </p:nvSpPr>
            <p:spPr bwMode="auto">
              <a:xfrm flipV="1">
                <a:off x="4190" y="3107"/>
                <a:ext cx="0" cy="51"/>
              </a:xfrm>
              <a:prstGeom prst="line">
                <a:avLst/>
              </a:prstGeom>
              <a:noFill/>
              <a:ln w="12699">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 name="Line 16">
                <a:extLst>
                  <a:ext uri="{FF2B5EF4-FFF2-40B4-BE49-F238E27FC236}">
                    <a16:creationId xmlns:a16="http://schemas.microsoft.com/office/drawing/2014/main" id="{553B3C09-D46F-DD4E-B08D-99FBA554DCC4}"/>
                  </a:ext>
                </a:extLst>
              </p:cNvPr>
              <p:cNvSpPr>
                <a:spLocks noChangeShapeType="1"/>
              </p:cNvSpPr>
              <p:nvPr/>
            </p:nvSpPr>
            <p:spPr bwMode="auto">
              <a:xfrm flipV="1">
                <a:off x="4545" y="3107"/>
                <a:ext cx="0" cy="51"/>
              </a:xfrm>
              <a:prstGeom prst="line">
                <a:avLst/>
              </a:prstGeom>
              <a:noFill/>
              <a:ln w="12699">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Line 17">
                <a:extLst>
                  <a:ext uri="{FF2B5EF4-FFF2-40B4-BE49-F238E27FC236}">
                    <a16:creationId xmlns:a16="http://schemas.microsoft.com/office/drawing/2014/main" id="{B757A256-DF0D-D74A-830F-04A2BBEC4E2F}"/>
                  </a:ext>
                </a:extLst>
              </p:cNvPr>
              <p:cNvSpPr>
                <a:spLocks noChangeShapeType="1"/>
              </p:cNvSpPr>
              <p:nvPr/>
            </p:nvSpPr>
            <p:spPr bwMode="auto">
              <a:xfrm flipV="1">
                <a:off x="4906" y="3107"/>
                <a:ext cx="0" cy="51"/>
              </a:xfrm>
              <a:prstGeom prst="line">
                <a:avLst/>
              </a:prstGeom>
              <a:noFill/>
              <a:ln w="12699">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 name="Line 18">
                <a:extLst>
                  <a:ext uri="{FF2B5EF4-FFF2-40B4-BE49-F238E27FC236}">
                    <a16:creationId xmlns:a16="http://schemas.microsoft.com/office/drawing/2014/main" id="{B64580F2-3E03-C249-9B89-38FCFE213479}"/>
                  </a:ext>
                </a:extLst>
              </p:cNvPr>
              <p:cNvSpPr>
                <a:spLocks noChangeShapeType="1"/>
              </p:cNvSpPr>
              <p:nvPr/>
            </p:nvSpPr>
            <p:spPr bwMode="auto">
              <a:xfrm flipV="1">
                <a:off x="5261" y="3107"/>
                <a:ext cx="0" cy="51"/>
              </a:xfrm>
              <a:prstGeom prst="line">
                <a:avLst/>
              </a:prstGeom>
              <a:noFill/>
              <a:ln w="12699">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 name="Group 23">
              <a:extLst>
                <a:ext uri="{FF2B5EF4-FFF2-40B4-BE49-F238E27FC236}">
                  <a16:creationId xmlns:a16="http://schemas.microsoft.com/office/drawing/2014/main" id="{2060639C-408D-7949-BE88-33D929527F4F}"/>
                </a:ext>
              </a:extLst>
            </p:cNvPr>
            <p:cNvGrpSpPr>
              <a:grpSpLocks/>
            </p:cNvGrpSpPr>
            <p:nvPr/>
          </p:nvGrpSpPr>
          <p:grpSpPr bwMode="auto">
            <a:xfrm>
              <a:off x="2857263" y="5255537"/>
              <a:ext cx="7754589" cy="242605"/>
              <a:chOff x="877" y="3169"/>
              <a:chExt cx="4464" cy="134"/>
            </a:xfrm>
          </p:grpSpPr>
          <p:sp>
            <p:nvSpPr>
              <p:cNvPr id="28" name="Rectangle 24">
                <a:extLst>
                  <a:ext uri="{FF2B5EF4-FFF2-40B4-BE49-F238E27FC236}">
                    <a16:creationId xmlns:a16="http://schemas.microsoft.com/office/drawing/2014/main" id="{93259EEA-A4EC-3849-8B76-DB26C257B59D}"/>
                  </a:ext>
                </a:extLst>
              </p:cNvPr>
              <p:cNvSpPr>
                <a:spLocks noChangeArrowheads="1"/>
              </p:cNvSpPr>
              <p:nvPr/>
            </p:nvSpPr>
            <p:spPr bwMode="auto">
              <a:xfrm>
                <a:off x="877" y="3169"/>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solidFill>
                      <a:srgbClr val="000000"/>
                    </a:solidFill>
                    <a:latin typeface="Trebuchet MS" panose="020B0703020202090204" pitchFamily="34" charset="0"/>
                  </a:rPr>
                  <a:t>1</a:t>
                </a:r>
              </a:p>
            </p:txBody>
          </p:sp>
          <p:sp>
            <p:nvSpPr>
              <p:cNvPr id="29" name="Rectangle 25">
                <a:extLst>
                  <a:ext uri="{FF2B5EF4-FFF2-40B4-BE49-F238E27FC236}">
                    <a16:creationId xmlns:a16="http://schemas.microsoft.com/office/drawing/2014/main" id="{1428B8D1-00C1-3041-81AE-1317218756E5}"/>
                  </a:ext>
                </a:extLst>
              </p:cNvPr>
              <p:cNvSpPr>
                <a:spLocks noChangeArrowheads="1"/>
              </p:cNvSpPr>
              <p:nvPr/>
            </p:nvSpPr>
            <p:spPr bwMode="auto">
              <a:xfrm>
                <a:off x="1239" y="3169"/>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solidFill>
                      <a:srgbClr val="000000"/>
                    </a:solidFill>
                    <a:latin typeface="Trebuchet MS" panose="020B0703020202090204" pitchFamily="34" charset="0"/>
                  </a:rPr>
                  <a:t>2</a:t>
                </a:r>
              </a:p>
            </p:txBody>
          </p:sp>
          <p:sp>
            <p:nvSpPr>
              <p:cNvPr id="30" name="Rectangle 26">
                <a:extLst>
                  <a:ext uri="{FF2B5EF4-FFF2-40B4-BE49-F238E27FC236}">
                    <a16:creationId xmlns:a16="http://schemas.microsoft.com/office/drawing/2014/main" id="{6BA63C68-D077-6A44-B8EE-639101F2680E}"/>
                  </a:ext>
                </a:extLst>
              </p:cNvPr>
              <p:cNvSpPr>
                <a:spLocks noChangeArrowheads="1"/>
              </p:cNvSpPr>
              <p:nvPr/>
            </p:nvSpPr>
            <p:spPr bwMode="auto">
              <a:xfrm>
                <a:off x="1575" y="3169"/>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solidFill>
                      <a:srgbClr val="000000"/>
                    </a:solidFill>
                    <a:latin typeface="Trebuchet MS" panose="020B0703020202090204" pitchFamily="34" charset="0"/>
                  </a:rPr>
                  <a:t>3</a:t>
                </a:r>
              </a:p>
            </p:txBody>
          </p:sp>
          <p:sp>
            <p:nvSpPr>
              <p:cNvPr id="31" name="Rectangle 27">
                <a:extLst>
                  <a:ext uri="{FF2B5EF4-FFF2-40B4-BE49-F238E27FC236}">
                    <a16:creationId xmlns:a16="http://schemas.microsoft.com/office/drawing/2014/main" id="{2228D610-4947-D54D-B121-A1879F138CD0}"/>
                  </a:ext>
                </a:extLst>
              </p:cNvPr>
              <p:cNvSpPr>
                <a:spLocks noChangeArrowheads="1"/>
              </p:cNvSpPr>
              <p:nvPr/>
            </p:nvSpPr>
            <p:spPr bwMode="auto">
              <a:xfrm>
                <a:off x="1929" y="3169"/>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solidFill>
                      <a:srgbClr val="000000"/>
                    </a:solidFill>
                    <a:latin typeface="Trebuchet MS" panose="020B0703020202090204" pitchFamily="34" charset="0"/>
                  </a:rPr>
                  <a:t>4</a:t>
                </a:r>
              </a:p>
            </p:txBody>
          </p:sp>
          <p:sp>
            <p:nvSpPr>
              <p:cNvPr id="32" name="Rectangle 28">
                <a:extLst>
                  <a:ext uri="{FF2B5EF4-FFF2-40B4-BE49-F238E27FC236}">
                    <a16:creationId xmlns:a16="http://schemas.microsoft.com/office/drawing/2014/main" id="{EBFE25F6-4B12-1842-AD13-15F78BF9E8E7}"/>
                  </a:ext>
                </a:extLst>
              </p:cNvPr>
              <p:cNvSpPr>
                <a:spLocks noChangeArrowheads="1"/>
              </p:cNvSpPr>
              <p:nvPr/>
            </p:nvSpPr>
            <p:spPr bwMode="auto">
              <a:xfrm>
                <a:off x="2291" y="3169"/>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solidFill>
                      <a:srgbClr val="000000"/>
                    </a:solidFill>
                    <a:latin typeface="Trebuchet MS" panose="020B0703020202090204" pitchFamily="34" charset="0"/>
                  </a:rPr>
                  <a:t>5</a:t>
                </a:r>
              </a:p>
            </p:txBody>
          </p:sp>
          <p:sp>
            <p:nvSpPr>
              <p:cNvPr id="33" name="Rectangle 29">
                <a:extLst>
                  <a:ext uri="{FF2B5EF4-FFF2-40B4-BE49-F238E27FC236}">
                    <a16:creationId xmlns:a16="http://schemas.microsoft.com/office/drawing/2014/main" id="{F2773E60-A026-AD45-8ABD-2C4296E40EAB}"/>
                  </a:ext>
                </a:extLst>
              </p:cNvPr>
              <p:cNvSpPr>
                <a:spLocks noChangeArrowheads="1"/>
              </p:cNvSpPr>
              <p:nvPr/>
            </p:nvSpPr>
            <p:spPr bwMode="auto">
              <a:xfrm>
                <a:off x="2646" y="3169"/>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solidFill>
                      <a:srgbClr val="000000"/>
                    </a:solidFill>
                    <a:latin typeface="Trebuchet MS" panose="020B0703020202090204" pitchFamily="34" charset="0"/>
                  </a:rPr>
                  <a:t>6</a:t>
                </a:r>
              </a:p>
            </p:txBody>
          </p:sp>
          <p:sp>
            <p:nvSpPr>
              <p:cNvPr id="34" name="Rectangle 30">
                <a:extLst>
                  <a:ext uri="{FF2B5EF4-FFF2-40B4-BE49-F238E27FC236}">
                    <a16:creationId xmlns:a16="http://schemas.microsoft.com/office/drawing/2014/main" id="{B4880859-AF5F-2448-A21A-F282EBAD2AAF}"/>
                  </a:ext>
                </a:extLst>
              </p:cNvPr>
              <p:cNvSpPr>
                <a:spLocks noChangeArrowheads="1"/>
              </p:cNvSpPr>
              <p:nvPr/>
            </p:nvSpPr>
            <p:spPr bwMode="auto">
              <a:xfrm>
                <a:off x="3000" y="3169"/>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solidFill>
                      <a:srgbClr val="000000"/>
                    </a:solidFill>
                    <a:latin typeface="Trebuchet MS" panose="020B0703020202090204" pitchFamily="34" charset="0"/>
                  </a:rPr>
                  <a:t>7</a:t>
                </a:r>
              </a:p>
            </p:txBody>
          </p:sp>
          <p:sp>
            <p:nvSpPr>
              <p:cNvPr id="35" name="Rectangle 31">
                <a:extLst>
                  <a:ext uri="{FF2B5EF4-FFF2-40B4-BE49-F238E27FC236}">
                    <a16:creationId xmlns:a16="http://schemas.microsoft.com/office/drawing/2014/main" id="{709317DA-E10C-3B44-B921-CCE6684517BF}"/>
                  </a:ext>
                </a:extLst>
              </p:cNvPr>
              <p:cNvSpPr>
                <a:spLocks noChangeArrowheads="1"/>
              </p:cNvSpPr>
              <p:nvPr/>
            </p:nvSpPr>
            <p:spPr bwMode="auto">
              <a:xfrm>
                <a:off x="3355" y="3169"/>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solidFill>
                      <a:srgbClr val="000000"/>
                    </a:solidFill>
                    <a:latin typeface="Trebuchet MS" panose="020B0703020202090204" pitchFamily="34" charset="0"/>
                  </a:rPr>
                  <a:t>8</a:t>
                </a:r>
              </a:p>
            </p:txBody>
          </p:sp>
          <p:sp>
            <p:nvSpPr>
              <p:cNvPr id="36" name="Rectangle 32">
                <a:extLst>
                  <a:ext uri="{FF2B5EF4-FFF2-40B4-BE49-F238E27FC236}">
                    <a16:creationId xmlns:a16="http://schemas.microsoft.com/office/drawing/2014/main" id="{A4D082A9-0E72-A448-92E5-6A4BD4580220}"/>
                  </a:ext>
                </a:extLst>
              </p:cNvPr>
              <p:cNvSpPr>
                <a:spLocks noChangeArrowheads="1"/>
              </p:cNvSpPr>
              <p:nvPr/>
            </p:nvSpPr>
            <p:spPr bwMode="auto">
              <a:xfrm>
                <a:off x="3717" y="3169"/>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solidFill>
                      <a:srgbClr val="000000"/>
                    </a:solidFill>
                    <a:latin typeface="Trebuchet MS" panose="020B0703020202090204" pitchFamily="34" charset="0"/>
                  </a:rPr>
                  <a:t>9</a:t>
                </a:r>
              </a:p>
            </p:txBody>
          </p:sp>
          <p:sp>
            <p:nvSpPr>
              <p:cNvPr id="37" name="Rectangle 33">
                <a:extLst>
                  <a:ext uri="{FF2B5EF4-FFF2-40B4-BE49-F238E27FC236}">
                    <a16:creationId xmlns:a16="http://schemas.microsoft.com/office/drawing/2014/main" id="{0FE05B00-E1C6-454C-BACA-2CF89142C4C8}"/>
                  </a:ext>
                </a:extLst>
              </p:cNvPr>
              <p:cNvSpPr>
                <a:spLocks noChangeArrowheads="1"/>
              </p:cNvSpPr>
              <p:nvPr/>
            </p:nvSpPr>
            <p:spPr bwMode="auto">
              <a:xfrm>
                <a:off x="4071" y="3169"/>
                <a:ext cx="19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solidFill>
                      <a:srgbClr val="000000"/>
                    </a:solidFill>
                    <a:latin typeface="Trebuchet MS" panose="020B0703020202090204" pitchFamily="34" charset="0"/>
                  </a:rPr>
                  <a:t>10</a:t>
                </a:r>
              </a:p>
            </p:txBody>
          </p:sp>
          <p:sp>
            <p:nvSpPr>
              <p:cNvPr id="38" name="Rectangle 34">
                <a:extLst>
                  <a:ext uri="{FF2B5EF4-FFF2-40B4-BE49-F238E27FC236}">
                    <a16:creationId xmlns:a16="http://schemas.microsoft.com/office/drawing/2014/main" id="{1B15CE57-EDB0-2C4A-8E6F-0B66178B32E8}"/>
                  </a:ext>
                </a:extLst>
              </p:cNvPr>
              <p:cNvSpPr>
                <a:spLocks noChangeArrowheads="1"/>
              </p:cNvSpPr>
              <p:nvPr/>
            </p:nvSpPr>
            <p:spPr bwMode="auto">
              <a:xfrm>
                <a:off x="4426" y="3169"/>
                <a:ext cx="19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solidFill>
                      <a:srgbClr val="000000"/>
                    </a:solidFill>
                    <a:latin typeface="Trebuchet MS" panose="020B0703020202090204" pitchFamily="34" charset="0"/>
                  </a:rPr>
                  <a:t>11</a:t>
                </a:r>
              </a:p>
            </p:txBody>
          </p:sp>
          <p:sp>
            <p:nvSpPr>
              <p:cNvPr id="39" name="Rectangle 35">
                <a:extLst>
                  <a:ext uri="{FF2B5EF4-FFF2-40B4-BE49-F238E27FC236}">
                    <a16:creationId xmlns:a16="http://schemas.microsoft.com/office/drawing/2014/main" id="{41DD8080-3EDD-A141-8464-ABB94A5FF32C}"/>
                  </a:ext>
                </a:extLst>
              </p:cNvPr>
              <p:cNvSpPr>
                <a:spLocks noChangeArrowheads="1"/>
              </p:cNvSpPr>
              <p:nvPr/>
            </p:nvSpPr>
            <p:spPr bwMode="auto">
              <a:xfrm>
                <a:off x="4788" y="3169"/>
                <a:ext cx="19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solidFill>
                      <a:srgbClr val="000000"/>
                    </a:solidFill>
                    <a:latin typeface="Trebuchet MS" panose="020B0703020202090204" pitchFamily="34" charset="0"/>
                  </a:rPr>
                  <a:t>12</a:t>
                </a:r>
              </a:p>
            </p:txBody>
          </p:sp>
          <p:sp>
            <p:nvSpPr>
              <p:cNvPr id="40" name="Rectangle 36">
                <a:extLst>
                  <a:ext uri="{FF2B5EF4-FFF2-40B4-BE49-F238E27FC236}">
                    <a16:creationId xmlns:a16="http://schemas.microsoft.com/office/drawing/2014/main" id="{DC95D070-3710-DC4C-89AD-1071E122D851}"/>
                  </a:ext>
                </a:extLst>
              </p:cNvPr>
              <p:cNvSpPr>
                <a:spLocks noChangeArrowheads="1"/>
              </p:cNvSpPr>
              <p:nvPr/>
            </p:nvSpPr>
            <p:spPr bwMode="auto">
              <a:xfrm>
                <a:off x="5143" y="3169"/>
                <a:ext cx="19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solidFill>
                      <a:srgbClr val="000000"/>
                    </a:solidFill>
                    <a:latin typeface="Trebuchet MS" panose="020B0703020202090204" pitchFamily="34" charset="0"/>
                  </a:rPr>
                  <a:t>13</a:t>
                </a:r>
              </a:p>
            </p:txBody>
          </p:sp>
        </p:grpSp>
        <p:sp>
          <p:nvSpPr>
            <p:cNvPr id="11" name="Rectangle 37">
              <a:extLst>
                <a:ext uri="{FF2B5EF4-FFF2-40B4-BE49-F238E27FC236}">
                  <a16:creationId xmlns:a16="http://schemas.microsoft.com/office/drawing/2014/main" id="{56753D5F-4B41-D443-9472-A265BED3CEFB}"/>
                </a:ext>
              </a:extLst>
            </p:cNvPr>
            <p:cNvSpPr>
              <a:spLocks noChangeArrowheads="1"/>
            </p:cNvSpPr>
            <p:nvPr/>
          </p:nvSpPr>
          <p:spPr bwMode="auto">
            <a:xfrm>
              <a:off x="5911154" y="5644792"/>
              <a:ext cx="851198" cy="52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2400" dirty="0">
                  <a:solidFill>
                    <a:srgbClr val="0000CC"/>
                  </a:solidFill>
                  <a:latin typeface="Trebuchet MS" panose="020B0703020202090204" pitchFamily="34" charset="0"/>
                </a:rPr>
                <a:t>Year</a:t>
              </a:r>
            </a:p>
          </p:txBody>
        </p:sp>
        <p:sp>
          <p:nvSpPr>
            <p:cNvPr id="55" name="Freeform 21">
              <a:extLst>
                <a:ext uri="{FF2B5EF4-FFF2-40B4-BE49-F238E27FC236}">
                  <a16:creationId xmlns:a16="http://schemas.microsoft.com/office/drawing/2014/main" id="{8195EC23-4E70-63A4-27FE-7B94B052F844}"/>
                </a:ext>
              </a:extLst>
            </p:cNvPr>
            <p:cNvSpPr>
              <a:spLocks/>
            </p:cNvSpPr>
            <p:nvPr/>
          </p:nvSpPr>
          <p:spPr bwMode="auto">
            <a:xfrm>
              <a:off x="2583664" y="2516813"/>
              <a:ext cx="7506178" cy="2034988"/>
            </a:xfrm>
            <a:custGeom>
              <a:avLst/>
              <a:gdLst>
                <a:gd name="T0" fmla="*/ 62 w 4321"/>
                <a:gd name="T1" fmla="*/ 918 h 1124"/>
                <a:gd name="T2" fmla="*/ 137 w 4321"/>
                <a:gd name="T3" fmla="*/ 770 h 1124"/>
                <a:gd name="T4" fmla="*/ 205 w 4321"/>
                <a:gd name="T5" fmla="*/ 741 h 1124"/>
                <a:gd name="T6" fmla="*/ 280 w 4321"/>
                <a:gd name="T7" fmla="*/ 706 h 1124"/>
                <a:gd name="T8" fmla="*/ 348 w 4321"/>
                <a:gd name="T9" fmla="*/ 537 h 1124"/>
                <a:gd name="T10" fmla="*/ 423 w 4321"/>
                <a:gd name="T11" fmla="*/ 741 h 1124"/>
                <a:gd name="T12" fmla="*/ 492 w 4321"/>
                <a:gd name="T13" fmla="*/ 537 h 1124"/>
                <a:gd name="T14" fmla="*/ 567 w 4321"/>
                <a:gd name="T15" fmla="*/ 452 h 1124"/>
                <a:gd name="T16" fmla="*/ 635 w 4321"/>
                <a:gd name="T17" fmla="*/ 692 h 1124"/>
                <a:gd name="T18" fmla="*/ 710 w 4321"/>
                <a:gd name="T19" fmla="*/ 424 h 1124"/>
                <a:gd name="T20" fmla="*/ 778 w 4321"/>
                <a:gd name="T21" fmla="*/ 642 h 1124"/>
                <a:gd name="T22" fmla="*/ 853 w 4321"/>
                <a:gd name="T23" fmla="*/ 515 h 1124"/>
                <a:gd name="T24" fmla="*/ 922 w 4321"/>
                <a:gd name="T25" fmla="*/ 579 h 1124"/>
                <a:gd name="T26" fmla="*/ 990 w 4321"/>
                <a:gd name="T27" fmla="*/ 755 h 1124"/>
                <a:gd name="T28" fmla="*/ 1065 w 4321"/>
                <a:gd name="T29" fmla="*/ 579 h 1124"/>
                <a:gd name="T30" fmla="*/ 1133 w 4321"/>
                <a:gd name="T31" fmla="*/ 953 h 1124"/>
                <a:gd name="T32" fmla="*/ 1208 w 4321"/>
                <a:gd name="T33" fmla="*/ 854 h 1124"/>
                <a:gd name="T34" fmla="*/ 1277 w 4321"/>
                <a:gd name="T35" fmla="*/ 819 h 1124"/>
                <a:gd name="T36" fmla="*/ 1352 w 4321"/>
                <a:gd name="T37" fmla="*/ 1003 h 1124"/>
                <a:gd name="T38" fmla="*/ 1420 w 4321"/>
                <a:gd name="T39" fmla="*/ 777 h 1124"/>
                <a:gd name="T40" fmla="*/ 1495 w 4321"/>
                <a:gd name="T41" fmla="*/ 1024 h 1124"/>
                <a:gd name="T42" fmla="*/ 1563 w 4321"/>
                <a:gd name="T43" fmla="*/ 861 h 1124"/>
                <a:gd name="T44" fmla="*/ 1638 w 4321"/>
                <a:gd name="T45" fmla="*/ 953 h 1124"/>
                <a:gd name="T46" fmla="*/ 1707 w 4321"/>
                <a:gd name="T47" fmla="*/ 1073 h 1124"/>
                <a:gd name="T48" fmla="*/ 1782 w 4321"/>
                <a:gd name="T49" fmla="*/ 713 h 1124"/>
                <a:gd name="T50" fmla="*/ 1850 w 4321"/>
                <a:gd name="T51" fmla="*/ 890 h 1124"/>
                <a:gd name="T52" fmla="*/ 1918 w 4321"/>
                <a:gd name="T53" fmla="*/ 671 h 1124"/>
                <a:gd name="T54" fmla="*/ 1993 w 4321"/>
                <a:gd name="T55" fmla="*/ 678 h 1124"/>
                <a:gd name="T56" fmla="*/ 2061 w 4321"/>
                <a:gd name="T57" fmla="*/ 755 h 1124"/>
                <a:gd name="T58" fmla="*/ 2136 w 4321"/>
                <a:gd name="T59" fmla="*/ 487 h 1124"/>
                <a:gd name="T60" fmla="*/ 2205 w 4321"/>
                <a:gd name="T61" fmla="*/ 642 h 1124"/>
                <a:gd name="T62" fmla="*/ 2280 w 4321"/>
                <a:gd name="T63" fmla="*/ 339 h 1124"/>
                <a:gd name="T64" fmla="*/ 2348 w 4321"/>
                <a:gd name="T65" fmla="*/ 388 h 1124"/>
                <a:gd name="T66" fmla="*/ 2423 w 4321"/>
                <a:gd name="T67" fmla="*/ 374 h 1124"/>
                <a:gd name="T68" fmla="*/ 2491 w 4321"/>
                <a:gd name="T69" fmla="*/ 106 h 1124"/>
                <a:gd name="T70" fmla="*/ 2566 w 4321"/>
                <a:gd name="T71" fmla="*/ 367 h 1124"/>
                <a:gd name="T72" fmla="*/ 2635 w 4321"/>
                <a:gd name="T73" fmla="*/ 148 h 1124"/>
                <a:gd name="T74" fmla="*/ 2710 w 4321"/>
                <a:gd name="T75" fmla="*/ 205 h 1124"/>
                <a:gd name="T76" fmla="*/ 2778 w 4321"/>
                <a:gd name="T77" fmla="*/ 176 h 1124"/>
                <a:gd name="T78" fmla="*/ 2846 w 4321"/>
                <a:gd name="T79" fmla="*/ 0 h 1124"/>
                <a:gd name="T80" fmla="*/ 2921 w 4321"/>
                <a:gd name="T81" fmla="*/ 374 h 1124"/>
                <a:gd name="T82" fmla="*/ 2990 w 4321"/>
                <a:gd name="T83" fmla="*/ 106 h 1124"/>
                <a:gd name="T84" fmla="*/ 3065 w 4321"/>
                <a:gd name="T85" fmla="*/ 247 h 1124"/>
                <a:gd name="T86" fmla="*/ 3133 w 4321"/>
                <a:gd name="T87" fmla="*/ 466 h 1124"/>
                <a:gd name="T88" fmla="*/ 3208 w 4321"/>
                <a:gd name="T89" fmla="*/ 296 h 1124"/>
                <a:gd name="T90" fmla="*/ 3276 w 4321"/>
                <a:gd name="T91" fmla="*/ 515 h 1124"/>
                <a:gd name="T92" fmla="*/ 3351 w 4321"/>
                <a:gd name="T93" fmla="*/ 438 h 1124"/>
                <a:gd name="T94" fmla="*/ 3420 w 4321"/>
                <a:gd name="T95" fmla="*/ 459 h 1124"/>
                <a:gd name="T96" fmla="*/ 3495 w 4321"/>
                <a:gd name="T97" fmla="*/ 572 h 1124"/>
                <a:gd name="T98" fmla="*/ 3563 w 4321"/>
                <a:gd name="T99" fmla="*/ 459 h 1124"/>
                <a:gd name="T100" fmla="*/ 3638 w 4321"/>
                <a:gd name="T101" fmla="*/ 748 h 1124"/>
                <a:gd name="T102" fmla="*/ 3706 w 4321"/>
                <a:gd name="T103" fmla="*/ 501 h 1124"/>
                <a:gd name="T104" fmla="*/ 3774 w 4321"/>
                <a:gd name="T105" fmla="*/ 522 h 1124"/>
                <a:gd name="T106" fmla="*/ 3850 w 4321"/>
                <a:gd name="T107" fmla="*/ 628 h 1124"/>
                <a:gd name="T108" fmla="*/ 3918 w 4321"/>
                <a:gd name="T109" fmla="*/ 409 h 1124"/>
                <a:gd name="T110" fmla="*/ 3993 w 4321"/>
                <a:gd name="T111" fmla="*/ 621 h 1124"/>
                <a:gd name="T112" fmla="*/ 4061 w 4321"/>
                <a:gd name="T113" fmla="*/ 296 h 1124"/>
                <a:gd name="T114" fmla="*/ 4136 w 4321"/>
                <a:gd name="T115" fmla="*/ 367 h 1124"/>
                <a:gd name="T116" fmla="*/ 4204 w 4321"/>
                <a:gd name="T117" fmla="*/ 367 h 1124"/>
                <a:gd name="T118" fmla="*/ 4279 w 4321"/>
                <a:gd name="T119" fmla="*/ 63 h 112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4321"/>
                <a:gd name="T181" fmla="*/ 0 h 1124"/>
                <a:gd name="T182" fmla="*/ 4321 w 4321"/>
                <a:gd name="T183" fmla="*/ 1124 h 112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4321" h="1124">
                  <a:moveTo>
                    <a:pt x="0" y="791"/>
                  </a:moveTo>
                  <a:lnTo>
                    <a:pt x="14" y="819"/>
                  </a:lnTo>
                  <a:lnTo>
                    <a:pt x="21" y="883"/>
                  </a:lnTo>
                  <a:lnTo>
                    <a:pt x="34" y="925"/>
                  </a:lnTo>
                  <a:lnTo>
                    <a:pt x="41" y="861"/>
                  </a:lnTo>
                  <a:lnTo>
                    <a:pt x="55" y="1003"/>
                  </a:lnTo>
                  <a:lnTo>
                    <a:pt x="62" y="918"/>
                  </a:lnTo>
                  <a:lnTo>
                    <a:pt x="75" y="946"/>
                  </a:lnTo>
                  <a:lnTo>
                    <a:pt x="82" y="967"/>
                  </a:lnTo>
                  <a:lnTo>
                    <a:pt x="96" y="890"/>
                  </a:lnTo>
                  <a:lnTo>
                    <a:pt x="103" y="918"/>
                  </a:lnTo>
                  <a:lnTo>
                    <a:pt x="116" y="847"/>
                  </a:lnTo>
                  <a:lnTo>
                    <a:pt x="123" y="763"/>
                  </a:lnTo>
                  <a:lnTo>
                    <a:pt x="137" y="770"/>
                  </a:lnTo>
                  <a:lnTo>
                    <a:pt x="144" y="720"/>
                  </a:lnTo>
                  <a:lnTo>
                    <a:pt x="157" y="642"/>
                  </a:lnTo>
                  <a:lnTo>
                    <a:pt x="164" y="706"/>
                  </a:lnTo>
                  <a:lnTo>
                    <a:pt x="178" y="579"/>
                  </a:lnTo>
                  <a:lnTo>
                    <a:pt x="185" y="699"/>
                  </a:lnTo>
                  <a:lnTo>
                    <a:pt x="198" y="607"/>
                  </a:lnTo>
                  <a:lnTo>
                    <a:pt x="205" y="741"/>
                  </a:lnTo>
                  <a:lnTo>
                    <a:pt x="219" y="791"/>
                  </a:lnTo>
                  <a:lnTo>
                    <a:pt x="226" y="805"/>
                  </a:lnTo>
                  <a:lnTo>
                    <a:pt x="239" y="763"/>
                  </a:lnTo>
                  <a:lnTo>
                    <a:pt x="246" y="755"/>
                  </a:lnTo>
                  <a:lnTo>
                    <a:pt x="260" y="748"/>
                  </a:lnTo>
                  <a:lnTo>
                    <a:pt x="266" y="784"/>
                  </a:lnTo>
                  <a:lnTo>
                    <a:pt x="280" y="706"/>
                  </a:lnTo>
                  <a:lnTo>
                    <a:pt x="287" y="777"/>
                  </a:lnTo>
                  <a:lnTo>
                    <a:pt x="301" y="621"/>
                  </a:lnTo>
                  <a:lnTo>
                    <a:pt x="307" y="628"/>
                  </a:lnTo>
                  <a:lnTo>
                    <a:pt x="321" y="572"/>
                  </a:lnTo>
                  <a:lnTo>
                    <a:pt x="328" y="487"/>
                  </a:lnTo>
                  <a:lnTo>
                    <a:pt x="342" y="565"/>
                  </a:lnTo>
                  <a:lnTo>
                    <a:pt x="348" y="537"/>
                  </a:lnTo>
                  <a:lnTo>
                    <a:pt x="362" y="459"/>
                  </a:lnTo>
                  <a:lnTo>
                    <a:pt x="369" y="466"/>
                  </a:lnTo>
                  <a:lnTo>
                    <a:pt x="382" y="579"/>
                  </a:lnTo>
                  <a:lnTo>
                    <a:pt x="389" y="607"/>
                  </a:lnTo>
                  <a:lnTo>
                    <a:pt x="403" y="565"/>
                  </a:lnTo>
                  <a:lnTo>
                    <a:pt x="410" y="685"/>
                  </a:lnTo>
                  <a:lnTo>
                    <a:pt x="423" y="741"/>
                  </a:lnTo>
                  <a:lnTo>
                    <a:pt x="430" y="650"/>
                  </a:lnTo>
                  <a:lnTo>
                    <a:pt x="444" y="720"/>
                  </a:lnTo>
                  <a:lnTo>
                    <a:pt x="451" y="650"/>
                  </a:lnTo>
                  <a:lnTo>
                    <a:pt x="464" y="706"/>
                  </a:lnTo>
                  <a:lnTo>
                    <a:pt x="471" y="544"/>
                  </a:lnTo>
                  <a:lnTo>
                    <a:pt x="485" y="586"/>
                  </a:lnTo>
                  <a:lnTo>
                    <a:pt x="492" y="537"/>
                  </a:lnTo>
                  <a:lnTo>
                    <a:pt x="505" y="480"/>
                  </a:lnTo>
                  <a:lnTo>
                    <a:pt x="512" y="494"/>
                  </a:lnTo>
                  <a:lnTo>
                    <a:pt x="526" y="374"/>
                  </a:lnTo>
                  <a:lnTo>
                    <a:pt x="533" y="374"/>
                  </a:lnTo>
                  <a:lnTo>
                    <a:pt x="546" y="395"/>
                  </a:lnTo>
                  <a:lnTo>
                    <a:pt x="553" y="529"/>
                  </a:lnTo>
                  <a:lnTo>
                    <a:pt x="567" y="452"/>
                  </a:lnTo>
                  <a:lnTo>
                    <a:pt x="574" y="494"/>
                  </a:lnTo>
                  <a:lnTo>
                    <a:pt x="587" y="635"/>
                  </a:lnTo>
                  <a:lnTo>
                    <a:pt x="594" y="586"/>
                  </a:lnTo>
                  <a:lnTo>
                    <a:pt x="608" y="664"/>
                  </a:lnTo>
                  <a:lnTo>
                    <a:pt x="615" y="699"/>
                  </a:lnTo>
                  <a:lnTo>
                    <a:pt x="628" y="614"/>
                  </a:lnTo>
                  <a:lnTo>
                    <a:pt x="635" y="692"/>
                  </a:lnTo>
                  <a:lnTo>
                    <a:pt x="649" y="635"/>
                  </a:lnTo>
                  <a:lnTo>
                    <a:pt x="655" y="621"/>
                  </a:lnTo>
                  <a:lnTo>
                    <a:pt x="669" y="565"/>
                  </a:lnTo>
                  <a:lnTo>
                    <a:pt x="676" y="522"/>
                  </a:lnTo>
                  <a:lnTo>
                    <a:pt x="690" y="501"/>
                  </a:lnTo>
                  <a:lnTo>
                    <a:pt x="696" y="402"/>
                  </a:lnTo>
                  <a:lnTo>
                    <a:pt x="710" y="424"/>
                  </a:lnTo>
                  <a:lnTo>
                    <a:pt x="717" y="431"/>
                  </a:lnTo>
                  <a:lnTo>
                    <a:pt x="731" y="494"/>
                  </a:lnTo>
                  <a:lnTo>
                    <a:pt x="737" y="494"/>
                  </a:lnTo>
                  <a:lnTo>
                    <a:pt x="751" y="522"/>
                  </a:lnTo>
                  <a:lnTo>
                    <a:pt x="758" y="565"/>
                  </a:lnTo>
                  <a:lnTo>
                    <a:pt x="772" y="593"/>
                  </a:lnTo>
                  <a:lnTo>
                    <a:pt x="778" y="642"/>
                  </a:lnTo>
                  <a:lnTo>
                    <a:pt x="792" y="650"/>
                  </a:lnTo>
                  <a:lnTo>
                    <a:pt x="799" y="770"/>
                  </a:lnTo>
                  <a:lnTo>
                    <a:pt x="812" y="650"/>
                  </a:lnTo>
                  <a:lnTo>
                    <a:pt x="819" y="734"/>
                  </a:lnTo>
                  <a:lnTo>
                    <a:pt x="833" y="706"/>
                  </a:lnTo>
                  <a:lnTo>
                    <a:pt x="840" y="586"/>
                  </a:lnTo>
                  <a:lnTo>
                    <a:pt x="853" y="515"/>
                  </a:lnTo>
                  <a:lnTo>
                    <a:pt x="860" y="508"/>
                  </a:lnTo>
                  <a:lnTo>
                    <a:pt x="874" y="579"/>
                  </a:lnTo>
                  <a:lnTo>
                    <a:pt x="881" y="558"/>
                  </a:lnTo>
                  <a:lnTo>
                    <a:pt x="894" y="551"/>
                  </a:lnTo>
                  <a:lnTo>
                    <a:pt x="901" y="544"/>
                  </a:lnTo>
                  <a:lnTo>
                    <a:pt x="915" y="529"/>
                  </a:lnTo>
                  <a:lnTo>
                    <a:pt x="922" y="579"/>
                  </a:lnTo>
                  <a:lnTo>
                    <a:pt x="928" y="642"/>
                  </a:lnTo>
                  <a:lnTo>
                    <a:pt x="942" y="692"/>
                  </a:lnTo>
                  <a:lnTo>
                    <a:pt x="949" y="713"/>
                  </a:lnTo>
                  <a:lnTo>
                    <a:pt x="963" y="861"/>
                  </a:lnTo>
                  <a:lnTo>
                    <a:pt x="969" y="861"/>
                  </a:lnTo>
                  <a:lnTo>
                    <a:pt x="983" y="755"/>
                  </a:lnTo>
                  <a:lnTo>
                    <a:pt x="990" y="755"/>
                  </a:lnTo>
                  <a:lnTo>
                    <a:pt x="1004" y="777"/>
                  </a:lnTo>
                  <a:lnTo>
                    <a:pt x="1010" y="678"/>
                  </a:lnTo>
                  <a:lnTo>
                    <a:pt x="1024" y="706"/>
                  </a:lnTo>
                  <a:lnTo>
                    <a:pt x="1031" y="706"/>
                  </a:lnTo>
                  <a:lnTo>
                    <a:pt x="1044" y="678"/>
                  </a:lnTo>
                  <a:lnTo>
                    <a:pt x="1051" y="642"/>
                  </a:lnTo>
                  <a:lnTo>
                    <a:pt x="1065" y="579"/>
                  </a:lnTo>
                  <a:lnTo>
                    <a:pt x="1072" y="706"/>
                  </a:lnTo>
                  <a:lnTo>
                    <a:pt x="1085" y="635"/>
                  </a:lnTo>
                  <a:lnTo>
                    <a:pt x="1092" y="678"/>
                  </a:lnTo>
                  <a:lnTo>
                    <a:pt x="1106" y="840"/>
                  </a:lnTo>
                  <a:lnTo>
                    <a:pt x="1113" y="770"/>
                  </a:lnTo>
                  <a:lnTo>
                    <a:pt x="1126" y="939"/>
                  </a:lnTo>
                  <a:lnTo>
                    <a:pt x="1133" y="953"/>
                  </a:lnTo>
                  <a:lnTo>
                    <a:pt x="1147" y="967"/>
                  </a:lnTo>
                  <a:lnTo>
                    <a:pt x="1154" y="1003"/>
                  </a:lnTo>
                  <a:lnTo>
                    <a:pt x="1167" y="974"/>
                  </a:lnTo>
                  <a:lnTo>
                    <a:pt x="1174" y="847"/>
                  </a:lnTo>
                  <a:lnTo>
                    <a:pt x="1188" y="833"/>
                  </a:lnTo>
                  <a:lnTo>
                    <a:pt x="1195" y="784"/>
                  </a:lnTo>
                  <a:lnTo>
                    <a:pt x="1208" y="854"/>
                  </a:lnTo>
                  <a:lnTo>
                    <a:pt x="1215" y="748"/>
                  </a:lnTo>
                  <a:lnTo>
                    <a:pt x="1229" y="770"/>
                  </a:lnTo>
                  <a:lnTo>
                    <a:pt x="1236" y="713"/>
                  </a:lnTo>
                  <a:lnTo>
                    <a:pt x="1249" y="791"/>
                  </a:lnTo>
                  <a:lnTo>
                    <a:pt x="1256" y="840"/>
                  </a:lnTo>
                  <a:lnTo>
                    <a:pt x="1270" y="833"/>
                  </a:lnTo>
                  <a:lnTo>
                    <a:pt x="1277" y="819"/>
                  </a:lnTo>
                  <a:lnTo>
                    <a:pt x="1290" y="967"/>
                  </a:lnTo>
                  <a:lnTo>
                    <a:pt x="1297" y="1031"/>
                  </a:lnTo>
                  <a:lnTo>
                    <a:pt x="1311" y="960"/>
                  </a:lnTo>
                  <a:lnTo>
                    <a:pt x="1317" y="974"/>
                  </a:lnTo>
                  <a:lnTo>
                    <a:pt x="1331" y="1010"/>
                  </a:lnTo>
                  <a:lnTo>
                    <a:pt x="1338" y="1003"/>
                  </a:lnTo>
                  <a:lnTo>
                    <a:pt x="1352" y="1003"/>
                  </a:lnTo>
                  <a:lnTo>
                    <a:pt x="1358" y="981"/>
                  </a:lnTo>
                  <a:lnTo>
                    <a:pt x="1372" y="996"/>
                  </a:lnTo>
                  <a:lnTo>
                    <a:pt x="1379" y="974"/>
                  </a:lnTo>
                  <a:lnTo>
                    <a:pt x="1393" y="833"/>
                  </a:lnTo>
                  <a:lnTo>
                    <a:pt x="1399" y="798"/>
                  </a:lnTo>
                  <a:lnTo>
                    <a:pt x="1413" y="861"/>
                  </a:lnTo>
                  <a:lnTo>
                    <a:pt x="1420" y="777"/>
                  </a:lnTo>
                  <a:lnTo>
                    <a:pt x="1434" y="911"/>
                  </a:lnTo>
                  <a:lnTo>
                    <a:pt x="1440" y="925"/>
                  </a:lnTo>
                  <a:lnTo>
                    <a:pt x="1454" y="883"/>
                  </a:lnTo>
                  <a:lnTo>
                    <a:pt x="1461" y="932"/>
                  </a:lnTo>
                  <a:lnTo>
                    <a:pt x="1474" y="953"/>
                  </a:lnTo>
                  <a:lnTo>
                    <a:pt x="1481" y="1087"/>
                  </a:lnTo>
                  <a:lnTo>
                    <a:pt x="1495" y="1024"/>
                  </a:lnTo>
                  <a:lnTo>
                    <a:pt x="1502" y="1123"/>
                  </a:lnTo>
                  <a:lnTo>
                    <a:pt x="1515" y="1024"/>
                  </a:lnTo>
                  <a:lnTo>
                    <a:pt x="1522" y="1123"/>
                  </a:lnTo>
                  <a:lnTo>
                    <a:pt x="1536" y="1066"/>
                  </a:lnTo>
                  <a:lnTo>
                    <a:pt x="1543" y="953"/>
                  </a:lnTo>
                  <a:lnTo>
                    <a:pt x="1556" y="939"/>
                  </a:lnTo>
                  <a:lnTo>
                    <a:pt x="1563" y="861"/>
                  </a:lnTo>
                  <a:lnTo>
                    <a:pt x="1577" y="876"/>
                  </a:lnTo>
                  <a:lnTo>
                    <a:pt x="1584" y="890"/>
                  </a:lnTo>
                  <a:lnTo>
                    <a:pt x="1597" y="904"/>
                  </a:lnTo>
                  <a:lnTo>
                    <a:pt x="1604" y="890"/>
                  </a:lnTo>
                  <a:lnTo>
                    <a:pt x="1618" y="840"/>
                  </a:lnTo>
                  <a:lnTo>
                    <a:pt x="1625" y="946"/>
                  </a:lnTo>
                  <a:lnTo>
                    <a:pt x="1638" y="953"/>
                  </a:lnTo>
                  <a:lnTo>
                    <a:pt x="1645" y="1031"/>
                  </a:lnTo>
                  <a:lnTo>
                    <a:pt x="1659" y="1017"/>
                  </a:lnTo>
                  <a:lnTo>
                    <a:pt x="1666" y="1003"/>
                  </a:lnTo>
                  <a:lnTo>
                    <a:pt x="1679" y="1003"/>
                  </a:lnTo>
                  <a:lnTo>
                    <a:pt x="1686" y="1080"/>
                  </a:lnTo>
                  <a:lnTo>
                    <a:pt x="1700" y="1066"/>
                  </a:lnTo>
                  <a:lnTo>
                    <a:pt x="1707" y="1073"/>
                  </a:lnTo>
                  <a:lnTo>
                    <a:pt x="1720" y="1010"/>
                  </a:lnTo>
                  <a:lnTo>
                    <a:pt x="1727" y="981"/>
                  </a:lnTo>
                  <a:lnTo>
                    <a:pt x="1741" y="932"/>
                  </a:lnTo>
                  <a:lnTo>
                    <a:pt x="1747" y="784"/>
                  </a:lnTo>
                  <a:lnTo>
                    <a:pt x="1761" y="861"/>
                  </a:lnTo>
                  <a:lnTo>
                    <a:pt x="1768" y="770"/>
                  </a:lnTo>
                  <a:lnTo>
                    <a:pt x="1782" y="713"/>
                  </a:lnTo>
                  <a:lnTo>
                    <a:pt x="1788" y="720"/>
                  </a:lnTo>
                  <a:lnTo>
                    <a:pt x="1802" y="833"/>
                  </a:lnTo>
                  <a:lnTo>
                    <a:pt x="1809" y="819"/>
                  </a:lnTo>
                  <a:lnTo>
                    <a:pt x="1823" y="826"/>
                  </a:lnTo>
                  <a:lnTo>
                    <a:pt x="1829" y="847"/>
                  </a:lnTo>
                  <a:lnTo>
                    <a:pt x="1843" y="868"/>
                  </a:lnTo>
                  <a:lnTo>
                    <a:pt x="1850" y="890"/>
                  </a:lnTo>
                  <a:lnTo>
                    <a:pt x="1857" y="918"/>
                  </a:lnTo>
                  <a:lnTo>
                    <a:pt x="1870" y="996"/>
                  </a:lnTo>
                  <a:lnTo>
                    <a:pt x="1877" y="974"/>
                  </a:lnTo>
                  <a:lnTo>
                    <a:pt x="1891" y="819"/>
                  </a:lnTo>
                  <a:lnTo>
                    <a:pt x="1898" y="847"/>
                  </a:lnTo>
                  <a:lnTo>
                    <a:pt x="1911" y="734"/>
                  </a:lnTo>
                  <a:lnTo>
                    <a:pt x="1918" y="671"/>
                  </a:lnTo>
                  <a:lnTo>
                    <a:pt x="1932" y="727"/>
                  </a:lnTo>
                  <a:lnTo>
                    <a:pt x="1939" y="699"/>
                  </a:lnTo>
                  <a:lnTo>
                    <a:pt x="1952" y="678"/>
                  </a:lnTo>
                  <a:lnTo>
                    <a:pt x="1959" y="565"/>
                  </a:lnTo>
                  <a:lnTo>
                    <a:pt x="1973" y="628"/>
                  </a:lnTo>
                  <a:lnTo>
                    <a:pt x="1980" y="607"/>
                  </a:lnTo>
                  <a:lnTo>
                    <a:pt x="1993" y="678"/>
                  </a:lnTo>
                  <a:lnTo>
                    <a:pt x="2000" y="763"/>
                  </a:lnTo>
                  <a:lnTo>
                    <a:pt x="2014" y="748"/>
                  </a:lnTo>
                  <a:lnTo>
                    <a:pt x="2020" y="770"/>
                  </a:lnTo>
                  <a:lnTo>
                    <a:pt x="2034" y="847"/>
                  </a:lnTo>
                  <a:lnTo>
                    <a:pt x="2041" y="734"/>
                  </a:lnTo>
                  <a:lnTo>
                    <a:pt x="2055" y="720"/>
                  </a:lnTo>
                  <a:lnTo>
                    <a:pt x="2061" y="755"/>
                  </a:lnTo>
                  <a:lnTo>
                    <a:pt x="2075" y="614"/>
                  </a:lnTo>
                  <a:lnTo>
                    <a:pt x="2082" y="593"/>
                  </a:lnTo>
                  <a:lnTo>
                    <a:pt x="2096" y="501"/>
                  </a:lnTo>
                  <a:lnTo>
                    <a:pt x="2102" y="572"/>
                  </a:lnTo>
                  <a:lnTo>
                    <a:pt x="2116" y="480"/>
                  </a:lnTo>
                  <a:lnTo>
                    <a:pt x="2123" y="431"/>
                  </a:lnTo>
                  <a:lnTo>
                    <a:pt x="2136" y="487"/>
                  </a:lnTo>
                  <a:lnTo>
                    <a:pt x="2143" y="381"/>
                  </a:lnTo>
                  <a:lnTo>
                    <a:pt x="2157" y="417"/>
                  </a:lnTo>
                  <a:lnTo>
                    <a:pt x="2164" y="529"/>
                  </a:lnTo>
                  <a:lnTo>
                    <a:pt x="2177" y="586"/>
                  </a:lnTo>
                  <a:lnTo>
                    <a:pt x="2184" y="572"/>
                  </a:lnTo>
                  <a:lnTo>
                    <a:pt x="2198" y="628"/>
                  </a:lnTo>
                  <a:lnTo>
                    <a:pt x="2205" y="642"/>
                  </a:lnTo>
                  <a:lnTo>
                    <a:pt x="2218" y="558"/>
                  </a:lnTo>
                  <a:lnTo>
                    <a:pt x="2225" y="635"/>
                  </a:lnTo>
                  <a:lnTo>
                    <a:pt x="2239" y="551"/>
                  </a:lnTo>
                  <a:lnTo>
                    <a:pt x="2246" y="537"/>
                  </a:lnTo>
                  <a:lnTo>
                    <a:pt x="2259" y="508"/>
                  </a:lnTo>
                  <a:lnTo>
                    <a:pt x="2266" y="417"/>
                  </a:lnTo>
                  <a:lnTo>
                    <a:pt x="2280" y="339"/>
                  </a:lnTo>
                  <a:lnTo>
                    <a:pt x="2287" y="261"/>
                  </a:lnTo>
                  <a:lnTo>
                    <a:pt x="2300" y="332"/>
                  </a:lnTo>
                  <a:lnTo>
                    <a:pt x="2307" y="296"/>
                  </a:lnTo>
                  <a:lnTo>
                    <a:pt x="2321" y="318"/>
                  </a:lnTo>
                  <a:lnTo>
                    <a:pt x="2328" y="254"/>
                  </a:lnTo>
                  <a:lnTo>
                    <a:pt x="2341" y="311"/>
                  </a:lnTo>
                  <a:lnTo>
                    <a:pt x="2348" y="388"/>
                  </a:lnTo>
                  <a:lnTo>
                    <a:pt x="2362" y="424"/>
                  </a:lnTo>
                  <a:lnTo>
                    <a:pt x="2369" y="332"/>
                  </a:lnTo>
                  <a:lnTo>
                    <a:pt x="2382" y="360"/>
                  </a:lnTo>
                  <a:lnTo>
                    <a:pt x="2389" y="388"/>
                  </a:lnTo>
                  <a:lnTo>
                    <a:pt x="2403" y="409"/>
                  </a:lnTo>
                  <a:lnTo>
                    <a:pt x="2409" y="339"/>
                  </a:lnTo>
                  <a:lnTo>
                    <a:pt x="2423" y="374"/>
                  </a:lnTo>
                  <a:lnTo>
                    <a:pt x="2430" y="339"/>
                  </a:lnTo>
                  <a:lnTo>
                    <a:pt x="2444" y="233"/>
                  </a:lnTo>
                  <a:lnTo>
                    <a:pt x="2450" y="155"/>
                  </a:lnTo>
                  <a:lnTo>
                    <a:pt x="2464" y="127"/>
                  </a:lnTo>
                  <a:lnTo>
                    <a:pt x="2471" y="78"/>
                  </a:lnTo>
                  <a:lnTo>
                    <a:pt x="2485" y="155"/>
                  </a:lnTo>
                  <a:lnTo>
                    <a:pt x="2491" y="106"/>
                  </a:lnTo>
                  <a:lnTo>
                    <a:pt x="2505" y="148"/>
                  </a:lnTo>
                  <a:lnTo>
                    <a:pt x="2512" y="198"/>
                  </a:lnTo>
                  <a:lnTo>
                    <a:pt x="2525" y="240"/>
                  </a:lnTo>
                  <a:lnTo>
                    <a:pt x="2532" y="254"/>
                  </a:lnTo>
                  <a:lnTo>
                    <a:pt x="2546" y="205"/>
                  </a:lnTo>
                  <a:lnTo>
                    <a:pt x="2553" y="346"/>
                  </a:lnTo>
                  <a:lnTo>
                    <a:pt x="2566" y="367"/>
                  </a:lnTo>
                  <a:lnTo>
                    <a:pt x="2573" y="353"/>
                  </a:lnTo>
                  <a:lnTo>
                    <a:pt x="2587" y="240"/>
                  </a:lnTo>
                  <a:lnTo>
                    <a:pt x="2594" y="219"/>
                  </a:lnTo>
                  <a:lnTo>
                    <a:pt x="2607" y="205"/>
                  </a:lnTo>
                  <a:lnTo>
                    <a:pt x="2614" y="169"/>
                  </a:lnTo>
                  <a:lnTo>
                    <a:pt x="2628" y="205"/>
                  </a:lnTo>
                  <a:lnTo>
                    <a:pt x="2635" y="148"/>
                  </a:lnTo>
                  <a:lnTo>
                    <a:pt x="2648" y="78"/>
                  </a:lnTo>
                  <a:lnTo>
                    <a:pt x="2655" y="21"/>
                  </a:lnTo>
                  <a:lnTo>
                    <a:pt x="2669" y="42"/>
                  </a:lnTo>
                  <a:lnTo>
                    <a:pt x="2676" y="92"/>
                  </a:lnTo>
                  <a:lnTo>
                    <a:pt x="2689" y="92"/>
                  </a:lnTo>
                  <a:lnTo>
                    <a:pt x="2696" y="134"/>
                  </a:lnTo>
                  <a:lnTo>
                    <a:pt x="2710" y="205"/>
                  </a:lnTo>
                  <a:lnTo>
                    <a:pt x="2717" y="254"/>
                  </a:lnTo>
                  <a:lnTo>
                    <a:pt x="2730" y="212"/>
                  </a:lnTo>
                  <a:lnTo>
                    <a:pt x="2737" y="325"/>
                  </a:lnTo>
                  <a:lnTo>
                    <a:pt x="2751" y="247"/>
                  </a:lnTo>
                  <a:lnTo>
                    <a:pt x="2758" y="233"/>
                  </a:lnTo>
                  <a:lnTo>
                    <a:pt x="2771" y="212"/>
                  </a:lnTo>
                  <a:lnTo>
                    <a:pt x="2778" y="176"/>
                  </a:lnTo>
                  <a:lnTo>
                    <a:pt x="2785" y="141"/>
                  </a:lnTo>
                  <a:lnTo>
                    <a:pt x="2798" y="169"/>
                  </a:lnTo>
                  <a:lnTo>
                    <a:pt x="2805" y="63"/>
                  </a:lnTo>
                  <a:lnTo>
                    <a:pt x="2819" y="70"/>
                  </a:lnTo>
                  <a:lnTo>
                    <a:pt x="2826" y="14"/>
                  </a:lnTo>
                  <a:lnTo>
                    <a:pt x="2839" y="42"/>
                  </a:lnTo>
                  <a:lnTo>
                    <a:pt x="2846" y="0"/>
                  </a:lnTo>
                  <a:lnTo>
                    <a:pt x="2860" y="127"/>
                  </a:lnTo>
                  <a:lnTo>
                    <a:pt x="2867" y="78"/>
                  </a:lnTo>
                  <a:lnTo>
                    <a:pt x="2880" y="113"/>
                  </a:lnTo>
                  <a:lnTo>
                    <a:pt x="2887" y="183"/>
                  </a:lnTo>
                  <a:lnTo>
                    <a:pt x="2901" y="219"/>
                  </a:lnTo>
                  <a:lnTo>
                    <a:pt x="2908" y="282"/>
                  </a:lnTo>
                  <a:lnTo>
                    <a:pt x="2921" y="374"/>
                  </a:lnTo>
                  <a:lnTo>
                    <a:pt x="2928" y="289"/>
                  </a:lnTo>
                  <a:lnTo>
                    <a:pt x="2942" y="275"/>
                  </a:lnTo>
                  <a:lnTo>
                    <a:pt x="2949" y="353"/>
                  </a:lnTo>
                  <a:lnTo>
                    <a:pt x="2962" y="339"/>
                  </a:lnTo>
                  <a:lnTo>
                    <a:pt x="2969" y="212"/>
                  </a:lnTo>
                  <a:lnTo>
                    <a:pt x="2983" y="219"/>
                  </a:lnTo>
                  <a:lnTo>
                    <a:pt x="2990" y="106"/>
                  </a:lnTo>
                  <a:lnTo>
                    <a:pt x="3003" y="191"/>
                  </a:lnTo>
                  <a:lnTo>
                    <a:pt x="3010" y="92"/>
                  </a:lnTo>
                  <a:lnTo>
                    <a:pt x="3024" y="78"/>
                  </a:lnTo>
                  <a:lnTo>
                    <a:pt x="3031" y="92"/>
                  </a:lnTo>
                  <a:lnTo>
                    <a:pt x="3044" y="226"/>
                  </a:lnTo>
                  <a:lnTo>
                    <a:pt x="3051" y="205"/>
                  </a:lnTo>
                  <a:lnTo>
                    <a:pt x="3065" y="247"/>
                  </a:lnTo>
                  <a:lnTo>
                    <a:pt x="3071" y="275"/>
                  </a:lnTo>
                  <a:lnTo>
                    <a:pt x="3085" y="424"/>
                  </a:lnTo>
                  <a:lnTo>
                    <a:pt x="3092" y="381"/>
                  </a:lnTo>
                  <a:lnTo>
                    <a:pt x="3106" y="452"/>
                  </a:lnTo>
                  <a:lnTo>
                    <a:pt x="3112" y="395"/>
                  </a:lnTo>
                  <a:lnTo>
                    <a:pt x="3126" y="374"/>
                  </a:lnTo>
                  <a:lnTo>
                    <a:pt x="3133" y="466"/>
                  </a:lnTo>
                  <a:lnTo>
                    <a:pt x="3147" y="431"/>
                  </a:lnTo>
                  <a:lnTo>
                    <a:pt x="3153" y="282"/>
                  </a:lnTo>
                  <a:lnTo>
                    <a:pt x="3167" y="247"/>
                  </a:lnTo>
                  <a:lnTo>
                    <a:pt x="3174" y="304"/>
                  </a:lnTo>
                  <a:lnTo>
                    <a:pt x="3188" y="282"/>
                  </a:lnTo>
                  <a:lnTo>
                    <a:pt x="3194" y="304"/>
                  </a:lnTo>
                  <a:lnTo>
                    <a:pt x="3208" y="296"/>
                  </a:lnTo>
                  <a:lnTo>
                    <a:pt x="3215" y="304"/>
                  </a:lnTo>
                  <a:lnTo>
                    <a:pt x="3228" y="275"/>
                  </a:lnTo>
                  <a:lnTo>
                    <a:pt x="3235" y="424"/>
                  </a:lnTo>
                  <a:lnTo>
                    <a:pt x="3249" y="459"/>
                  </a:lnTo>
                  <a:lnTo>
                    <a:pt x="3256" y="537"/>
                  </a:lnTo>
                  <a:lnTo>
                    <a:pt x="3269" y="529"/>
                  </a:lnTo>
                  <a:lnTo>
                    <a:pt x="3276" y="515"/>
                  </a:lnTo>
                  <a:lnTo>
                    <a:pt x="3290" y="501"/>
                  </a:lnTo>
                  <a:lnTo>
                    <a:pt x="3297" y="551"/>
                  </a:lnTo>
                  <a:lnTo>
                    <a:pt x="3310" y="558"/>
                  </a:lnTo>
                  <a:lnTo>
                    <a:pt x="3317" y="558"/>
                  </a:lnTo>
                  <a:lnTo>
                    <a:pt x="3331" y="445"/>
                  </a:lnTo>
                  <a:lnTo>
                    <a:pt x="3338" y="381"/>
                  </a:lnTo>
                  <a:lnTo>
                    <a:pt x="3351" y="438"/>
                  </a:lnTo>
                  <a:lnTo>
                    <a:pt x="3358" y="346"/>
                  </a:lnTo>
                  <a:lnTo>
                    <a:pt x="3372" y="424"/>
                  </a:lnTo>
                  <a:lnTo>
                    <a:pt x="3379" y="325"/>
                  </a:lnTo>
                  <a:lnTo>
                    <a:pt x="3392" y="395"/>
                  </a:lnTo>
                  <a:lnTo>
                    <a:pt x="3399" y="452"/>
                  </a:lnTo>
                  <a:lnTo>
                    <a:pt x="3413" y="501"/>
                  </a:lnTo>
                  <a:lnTo>
                    <a:pt x="3420" y="459"/>
                  </a:lnTo>
                  <a:lnTo>
                    <a:pt x="3433" y="621"/>
                  </a:lnTo>
                  <a:lnTo>
                    <a:pt x="3440" y="593"/>
                  </a:lnTo>
                  <a:lnTo>
                    <a:pt x="3454" y="650"/>
                  </a:lnTo>
                  <a:lnTo>
                    <a:pt x="3461" y="713"/>
                  </a:lnTo>
                  <a:lnTo>
                    <a:pt x="3474" y="713"/>
                  </a:lnTo>
                  <a:lnTo>
                    <a:pt x="3481" y="671"/>
                  </a:lnTo>
                  <a:lnTo>
                    <a:pt x="3495" y="572"/>
                  </a:lnTo>
                  <a:lnTo>
                    <a:pt x="3501" y="572"/>
                  </a:lnTo>
                  <a:lnTo>
                    <a:pt x="3515" y="494"/>
                  </a:lnTo>
                  <a:lnTo>
                    <a:pt x="3522" y="473"/>
                  </a:lnTo>
                  <a:lnTo>
                    <a:pt x="3536" y="537"/>
                  </a:lnTo>
                  <a:lnTo>
                    <a:pt x="3542" y="409"/>
                  </a:lnTo>
                  <a:lnTo>
                    <a:pt x="3556" y="508"/>
                  </a:lnTo>
                  <a:lnTo>
                    <a:pt x="3563" y="459"/>
                  </a:lnTo>
                  <a:lnTo>
                    <a:pt x="3577" y="431"/>
                  </a:lnTo>
                  <a:lnTo>
                    <a:pt x="3583" y="466"/>
                  </a:lnTo>
                  <a:lnTo>
                    <a:pt x="3597" y="522"/>
                  </a:lnTo>
                  <a:lnTo>
                    <a:pt x="3604" y="664"/>
                  </a:lnTo>
                  <a:lnTo>
                    <a:pt x="3617" y="642"/>
                  </a:lnTo>
                  <a:lnTo>
                    <a:pt x="3624" y="621"/>
                  </a:lnTo>
                  <a:lnTo>
                    <a:pt x="3638" y="748"/>
                  </a:lnTo>
                  <a:lnTo>
                    <a:pt x="3645" y="770"/>
                  </a:lnTo>
                  <a:lnTo>
                    <a:pt x="3658" y="755"/>
                  </a:lnTo>
                  <a:lnTo>
                    <a:pt x="3665" y="614"/>
                  </a:lnTo>
                  <a:lnTo>
                    <a:pt x="3679" y="628"/>
                  </a:lnTo>
                  <a:lnTo>
                    <a:pt x="3686" y="537"/>
                  </a:lnTo>
                  <a:lnTo>
                    <a:pt x="3699" y="537"/>
                  </a:lnTo>
                  <a:lnTo>
                    <a:pt x="3706" y="501"/>
                  </a:lnTo>
                  <a:lnTo>
                    <a:pt x="3713" y="424"/>
                  </a:lnTo>
                  <a:lnTo>
                    <a:pt x="3727" y="424"/>
                  </a:lnTo>
                  <a:lnTo>
                    <a:pt x="3733" y="501"/>
                  </a:lnTo>
                  <a:lnTo>
                    <a:pt x="3747" y="501"/>
                  </a:lnTo>
                  <a:lnTo>
                    <a:pt x="3754" y="515"/>
                  </a:lnTo>
                  <a:lnTo>
                    <a:pt x="3768" y="565"/>
                  </a:lnTo>
                  <a:lnTo>
                    <a:pt x="3774" y="522"/>
                  </a:lnTo>
                  <a:lnTo>
                    <a:pt x="3788" y="678"/>
                  </a:lnTo>
                  <a:lnTo>
                    <a:pt x="3795" y="706"/>
                  </a:lnTo>
                  <a:lnTo>
                    <a:pt x="3809" y="671"/>
                  </a:lnTo>
                  <a:lnTo>
                    <a:pt x="3815" y="628"/>
                  </a:lnTo>
                  <a:lnTo>
                    <a:pt x="3829" y="692"/>
                  </a:lnTo>
                  <a:lnTo>
                    <a:pt x="3836" y="685"/>
                  </a:lnTo>
                  <a:lnTo>
                    <a:pt x="3850" y="628"/>
                  </a:lnTo>
                  <a:lnTo>
                    <a:pt x="3856" y="586"/>
                  </a:lnTo>
                  <a:lnTo>
                    <a:pt x="3870" y="565"/>
                  </a:lnTo>
                  <a:lnTo>
                    <a:pt x="3877" y="501"/>
                  </a:lnTo>
                  <a:lnTo>
                    <a:pt x="3890" y="459"/>
                  </a:lnTo>
                  <a:lnTo>
                    <a:pt x="3897" y="438"/>
                  </a:lnTo>
                  <a:lnTo>
                    <a:pt x="3911" y="445"/>
                  </a:lnTo>
                  <a:lnTo>
                    <a:pt x="3918" y="409"/>
                  </a:lnTo>
                  <a:lnTo>
                    <a:pt x="3931" y="353"/>
                  </a:lnTo>
                  <a:lnTo>
                    <a:pt x="3938" y="459"/>
                  </a:lnTo>
                  <a:lnTo>
                    <a:pt x="3952" y="424"/>
                  </a:lnTo>
                  <a:lnTo>
                    <a:pt x="3959" y="565"/>
                  </a:lnTo>
                  <a:lnTo>
                    <a:pt x="3972" y="501"/>
                  </a:lnTo>
                  <a:lnTo>
                    <a:pt x="3979" y="600"/>
                  </a:lnTo>
                  <a:lnTo>
                    <a:pt x="3993" y="621"/>
                  </a:lnTo>
                  <a:lnTo>
                    <a:pt x="4000" y="522"/>
                  </a:lnTo>
                  <a:lnTo>
                    <a:pt x="4013" y="579"/>
                  </a:lnTo>
                  <a:lnTo>
                    <a:pt x="4020" y="473"/>
                  </a:lnTo>
                  <a:lnTo>
                    <a:pt x="4034" y="424"/>
                  </a:lnTo>
                  <a:lnTo>
                    <a:pt x="4041" y="459"/>
                  </a:lnTo>
                  <a:lnTo>
                    <a:pt x="4054" y="402"/>
                  </a:lnTo>
                  <a:lnTo>
                    <a:pt x="4061" y="296"/>
                  </a:lnTo>
                  <a:lnTo>
                    <a:pt x="4075" y="318"/>
                  </a:lnTo>
                  <a:lnTo>
                    <a:pt x="4082" y="205"/>
                  </a:lnTo>
                  <a:lnTo>
                    <a:pt x="4095" y="254"/>
                  </a:lnTo>
                  <a:lnTo>
                    <a:pt x="4102" y="304"/>
                  </a:lnTo>
                  <a:lnTo>
                    <a:pt x="4116" y="318"/>
                  </a:lnTo>
                  <a:lnTo>
                    <a:pt x="4123" y="275"/>
                  </a:lnTo>
                  <a:lnTo>
                    <a:pt x="4136" y="367"/>
                  </a:lnTo>
                  <a:lnTo>
                    <a:pt x="4143" y="304"/>
                  </a:lnTo>
                  <a:lnTo>
                    <a:pt x="4157" y="445"/>
                  </a:lnTo>
                  <a:lnTo>
                    <a:pt x="4163" y="438"/>
                  </a:lnTo>
                  <a:lnTo>
                    <a:pt x="4177" y="339"/>
                  </a:lnTo>
                  <a:lnTo>
                    <a:pt x="4184" y="325"/>
                  </a:lnTo>
                  <a:lnTo>
                    <a:pt x="4198" y="339"/>
                  </a:lnTo>
                  <a:lnTo>
                    <a:pt x="4204" y="367"/>
                  </a:lnTo>
                  <a:lnTo>
                    <a:pt x="4218" y="233"/>
                  </a:lnTo>
                  <a:lnTo>
                    <a:pt x="4225" y="261"/>
                  </a:lnTo>
                  <a:lnTo>
                    <a:pt x="4239" y="92"/>
                  </a:lnTo>
                  <a:lnTo>
                    <a:pt x="4245" y="113"/>
                  </a:lnTo>
                  <a:lnTo>
                    <a:pt x="4259" y="28"/>
                  </a:lnTo>
                  <a:lnTo>
                    <a:pt x="4266" y="120"/>
                  </a:lnTo>
                  <a:lnTo>
                    <a:pt x="4279" y="63"/>
                  </a:lnTo>
                  <a:lnTo>
                    <a:pt x="4286" y="28"/>
                  </a:lnTo>
                  <a:lnTo>
                    <a:pt x="4300" y="120"/>
                  </a:lnTo>
                  <a:lnTo>
                    <a:pt x="4307" y="85"/>
                  </a:lnTo>
                  <a:lnTo>
                    <a:pt x="4320" y="205"/>
                  </a:lnTo>
                </a:path>
              </a:pathLst>
            </a:custGeom>
            <a:noFill/>
            <a:ln w="12699" cap="rnd">
              <a:solidFill>
                <a:srgbClr val="7030A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 name="Slide Number Placeholder 3">
            <a:extLst>
              <a:ext uri="{FF2B5EF4-FFF2-40B4-BE49-F238E27FC236}">
                <a16:creationId xmlns:a16="http://schemas.microsoft.com/office/drawing/2014/main" id="{822B6A1E-4797-AF0B-9260-C47B67E9C4CE}"/>
              </a:ext>
            </a:extLst>
          </p:cNvPr>
          <p:cNvSpPr>
            <a:spLocks noGrp="1"/>
          </p:cNvSpPr>
          <p:nvPr>
            <p:ph type="sldNum" sz="quarter" idx="12"/>
          </p:nvPr>
        </p:nvSpPr>
        <p:spPr/>
        <p:txBody>
          <a:bodyPr/>
          <a:lstStyle/>
          <a:p>
            <a:fld id="{F8D8F54C-053C-4394-9990-70DE256B1A6D}" type="slidenum">
              <a:rPr lang="nl-NL" smtClean="0"/>
              <a:t>11</a:t>
            </a:fld>
            <a:endParaRPr lang="nl-NL"/>
          </a:p>
        </p:txBody>
      </p:sp>
    </p:spTree>
    <p:extLst>
      <p:ext uri="{BB962C8B-B14F-4D97-AF65-F5344CB8AC3E}">
        <p14:creationId xmlns:p14="http://schemas.microsoft.com/office/powerpoint/2010/main" val="422080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dissolve">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6"/>
                                        </p:tgtEl>
                                        <p:attrNameLst>
                                          <p:attrName>style.visibility</p:attrName>
                                        </p:attrNameLst>
                                      </p:cBhvr>
                                      <p:to>
                                        <p:strVal val="visible"/>
                                      </p:to>
                                    </p:set>
                                    <p:anim calcmode="lin" valueType="num">
                                      <p:cBhvr additive="base">
                                        <p:cTn id="12" dur="500" fill="hold"/>
                                        <p:tgtEl>
                                          <p:spTgt spid="56"/>
                                        </p:tgtEl>
                                        <p:attrNameLst>
                                          <p:attrName>ppt_x</p:attrName>
                                        </p:attrNameLst>
                                      </p:cBhvr>
                                      <p:tavLst>
                                        <p:tav tm="0">
                                          <p:val>
                                            <p:strVal val="#ppt_x"/>
                                          </p:val>
                                        </p:tav>
                                        <p:tav tm="100000">
                                          <p:val>
                                            <p:strVal val="#ppt_x"/>
                                          </p:val>
                                        </p:tav>
                                      </p:tavLst>
                                    </p:anim>
                                    <p:anim calcmode="lin" valueType="num">
                                      <p:cBhvr additive="base">
                                        <p:cTn id="13"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7"/>
                                        </p:tgtEl>
                                        <p:attrNameLst>
                                          <p:attrName>style.visibility</p:attrName>
                                        </p:attrNameLst>
                                      </p:cBhvr>
                                      <p:to>
                                        <p:strVal val="visible"/>
                                      </p:to>
                                    </p:set>
                                    <p:anim calcmode="lin" valueType="num">
                                      <p:cBhvr additive="base">
                                        <p:cTn id="18" dur="500" fill="hold"/>
                                        <p:tgtEl>
                                          <p:spTgt spid="57"/>
                                        </p:tgtEl>
                                        <p:attrNameLst>
                                          <p:attrName>ppt_x</p:attrName>
                                        </p:attrNameLst>
                                      </p:cBhvr>
                                      <p:tavLst>
                                        <p:tav tm="0">
                                          <p:val>
                                            <p:strVal val="#ppt_x"/>
                                          </p:val>
                                        </p:tav>
                                        <p:tav tm="100000">
                                          <p:val>
                                            <p:strVal val="#ppt_x"/>
                                          </p:val>
                                        </p:tav>
                                      </p:tavLst>
                                    </p:anim>
                                    <p:anim calcmode="lin" valueType="num">
                                      <p:cBhvr additive="base">
                                        <p:cTn id="19"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59"/>
                                        </p:tgtEl>
                                        <p:attrNameLst>
                                          <p:attrName>style.visibility</p:attrName>
                                        </p:attrNameLst>
                                      </p:cBhvr>
                                      <p:to>
                                        <p:strVal val="visible"/>
                                      </p:to>
                                    </p:set>
                                    <p:animEffect transition="in" filter="blinds(horizontal)">
                                      <p:cBhvr>
                                        <p:cTn id="24" dur="500"/>
                                        <p:tgtEl>
                                          <p:spTgt spid="59"/>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8"/>
                                        </p:tgtEl>
                                        <p:attrNameLst>
                                          <p:attrName>style.visibility</p:attrName>
                                        </p:attrNameLst>
                                      </p:cBhvr>
                                      <p:to>
                                        <p:strVal val="visible"/>
                                      </p:to>
                                    </p:set>
                                    <p:anim calcmode="lin" valueType="num">
                                      <p:cBhvr additive="base">
                                        <p:cTn id="29" dur="500" fill="hold"/>
                                        <p:tgtEl>
                                          <p:spTgt spid="58"/>
                                        </p:tgtEl>
                                        <p:attrNameLst>
                                          <p:attrName>ppt_x</p:attrName>
                                        </p:attrNameLst>
                                      </p:cBhvr>
                                      <p:tavLst>
                                        <p:tav tm="0">
                                          <p:val>
                                            <p:strVal val="#ppt_x"/>
                                          </p:val>
                                        </p:tav>
                                        <p:tav tm="100000">
                                          <p:val>
                                            <p:strVal val="#ppt_x"/>
                                          </p:val>
                                        </p:tav>
                                      </p:tavLst>
                                    </p:anim>
                                    <p:anim calcmode="lin" valueType="num">
                                      <p:cBhvr additive="base">
                                        <p:cTn id="30"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 Components – Trend </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lnSpc>
                <a:spcPct val="100000"/>
              </a:lnSpc>
              <a:defRPr/>
            </a:pPr>
            <a:r>
              <a:rPr lang="en-AU" dirty="0"/>
              <a:t>This is the long-term growth or decline of the series</a:t>
            </a:r>
          </a:p>
          <a:p>
            <a:pPr lvl="1">
              <a:lnSpc>
                <a:spcPct val="100000"/>
              </a:lnSpc>
              <a:buFont typeface="Arial" charset="0"/>
              <a:buChar char="•"/>
              <a:defRPr/>
            </a:pPr>
            <a:r>
              <a:rPr lang="en-AU" dirty="0"/>
              <a:t>In economic terms, long term may mean &gt;10 years </a:t>
            </a:r>
          </a:p>
          <a:p>
            <a:pPr lvl="1">
              <a:lnSpc>
                <a:spcPct val="100000"/>
              </a:lnSpc>
              <a:buFont typeface="Arial" charset="0"/>
              <a:buChar char="•"/>
              <a:defRPr/>
            </a:pPr>
            <a:endParaRPr lang="en-AU" sz="400" dirty="0"/>
          </a:p>
          <a:p>
            <a:pPr lvl="1">
              <a:lnSpc>
                <a:spcPct val="100000"/>
              </a:lnSpc>
              <a:buFont typeface="Arial" charset="0"/>
              <a:buChar char="•"/>
              <a:defRPr/>
            </a:pPr>
            <a:r>
              <a:rPr lang="en-AU" dirty="0"/>
              <a:t>Describes the history of the time series</a:t>
            </a:r>
          </a:p>
          <a:p>
            <a:pPr lvl="1">
              <a:lnSpc>
                <a:spcPct val="100000"/>
              </a:lnSpc>
              <a:buFont typeface="Arial" charset="0"/>
              <a:buChar char="•"/>
              <a:defRPr/>
            </a:pPr>
            <a:endParaRPr lang="en-AU" sz="400" dirty="0"/>
          </a:p>
          <a:p>
            <a:pPr lvl="1">
              <a:lnSpc>
                <a:spcPct val="100000"/>
              </a:lnSpc>
              <a:buFont typeface="Arial" charset="0"/>
              <a:buChar char="•"/>
              <a:defRPr/>
            </a:pPr>
            <a:r>
              <a:rPr lang="en-AU" dirty="0"/>
              <a:t>Uses past trends to make prediction about the future</a:t>
            </a:r>
          </a:p>
          <a:p>
            <a:pPr>
              <a:lnSpc>
                <a:spcPct val="100000"/>
              </a:lnSpc>
              <a:buFont typeface="Arial" charset="0"/>
              <a:buChar char="•"/>
              <a:defRPr/>
            </a:pPr>
            <a:r>
              <a:rPr lang="en-AU" altLang="en-US" dirty="0"/>
              <a:t>An analysis of the trend of the observations is needed to acquire an understanding of the progress of events leading to prevailing conditions</a:t>
            </a:r>
            <a:endParaRPr lang="en-AU" dirty="0"/>
          </a:p>
          <a:p>
            <a:pPr>
              <a:buFont typeface="Arial" charset="0"/>
              <a:buChar char="•"/>
              <a:defRPr/>
            </a:pPr>
            <a:endParaRPr lang="en-AU" dirty="0"/>
          </a:p>
        </p:txBody>
      </p:sp>
      <p:sp>
        <p:nvSpPr>
          <p:cNvPr id="4" name="Slide Number Placeholder 3">
            <a:extLst>
              <a:ext uri="{FF2B5EF4-FFF2-40B4-BE49-F238E27FC236}">
                <a16:creationId xmlns:a16="http://schemas.microsoft.com/office/drawing/2014/main" id="{08EEAC87-9CC8-3868-15F6-A74709ACDB61}"/>
              </a:ext>
            </a:extLst>
          </p:cNvPr>
          <p:cNvSpPr>
            <a:spLocks noGrp="1"/>
          </p:cNvSpPr>
          <p:nvPr>
            <p:ph type="sldNum" sz="quarter" idx="12"/>
          </p:nvPr>
        </p:nvSpPr>
        <p:spPr/>
        <p:txBody>
          <a:bodyPr/>
          <a:lstStyle/>
          <a:p>
            <a:fld id="{F8D8F54C-053C-4394-9990-70DE256B1A6D}" type="slidenum">
              <a:rPr lang="nl-NL" smtClean="0"/>
              <a:t>12</a:t>
            </a:fld>
            <a:endParaRPr lang="nl-NL"/>
          </a:p>
        </p:txBody>
      </p:sp>
    </p:spTree>
    <p:extLst>
      <p:ext uri="{BB962C8B-B14F-4D97-AF65-F5344CB8AC3E}">
        <p14:creationId xmlns:p14="http://schemas.microsoft.com/office/powerpoint/2010/main" val="4075914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 Components – Trend </a:t>
            </a:r>
            <a:endParaRPr lang="nl-NL" sz="3200" b="1" dirty="0">
              <a:latin typeface="Times New Roman" panose="02020603050405020304" pitchFamily="18" charset="0"/>
              <a:cs typeface="Times New Roman" panose="02020603050405020304" pitchFamily="18" charset="0"/>
            </a:endParaRPr>
          </a:p>
        </p:txBody>
      </p:sp>
      <p:pic>
        <p:nvPicPr>
          <p:cNvPr id="6" name="Picture 11">
            <a:extLst>
              <a:ext uri="{FF2B5EF4-FFF2-40B4-BE49-F238E27FC236}">
                <a16:creationId xmlns:a16="http://schemas.microsoft.com/office/drawing/2014/main" id="{25F83F0F-6E3E-A845-ADA0-FB0C5904D6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84" t="8435" r="2527" b="2391"/>
          <a:stretch/>
        </p:blipFill>
        <p:spPr bwMode="auto">
          <a:xfrm>
            <a:off x="1690290" y="1681842"/>
            <a:ext cx="9135554" cy="4490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14">
            <a:extLst>
              <a:ext uri="{FF2B5EF4-FFF2-40B4-BE49-F238E27FC236}">
                <a16:creationId xmlns:a16="http://schemas.microsoft.com/office/drawing/2014/main" id="{97B2DF6F-0DCC-C746-859B-A018AAA4A171}"/>
              </a:ext>
            </a:extLst>
          </p:cNvPr>
          <p:cNvSpPr>
            <a:spLocks noChangeArrowheads="1"/>
          </p:cNvSpPr>
          <p:nvPr/>
        </p:nvSpPr>
        <p:spPr bwMode="auto">
          <a:xfrm>
            <a:off x="7686675" y="6607115"/>
            <a:ext cx="4752975" cy="19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just">
              <a:spcBef>
                <a:spcPct val="20000"/>
              </a:spcBef>
              <a:buFont typeface="Wingdings" pitchFamily="2" charset="2"/>
              <a:buNone/>
              <a:defRPr/>
            </a:pPr>
            <a:r>
              <a:rPr lang="en-GB" sz="1200" dirty="0">
                <a:solidFill>
                  <a:srgbClr val="0070C0"/>
                </a:solidFill>
                <a:latin typeface="Arial" charset="0"/>
                <a:cs typeface="+mn-cs"/>
              </a:rPr>
              <a:t>© 2015 by EUROSTAT. All rights reserved. Open to the public</a:t>
            </a:r>
          </a:p>
        </p:txBody>
      </p:sp>
      <p:sp>
        <p:nvSpPr>
          <p:cNvPr id="3" name="Slide Number Placeholder 2">
            <a:extLst>
              <a:ext uri="{FF2B5EF4-FFF2-40B4-BE49-F238E27FC236}">
                <a16:creationId xmlns:a16="http://schemas.microsoft.com/office/drawing/2014/main" id="{01AE50BF-3FAA-9D61-106B-13EDDE6365A7}"/>
              </a:ext>
            </a:extLst>
          </p:cNvPr>
          <p:cNvSpPr>
            <a:spLocks noGrp="1"/>
          </p:cNvSpPr>
          <p:nvPr>
            <p:ph type="sldNum" sz="quarter" idx="12"/>
          </p:nvPr>
        </p:nvSpPr>
        <p:spPr/>
        <p:txBody>
          <a:bodyPr/>
          <a:lstStyle/>
          <a:p>
            <a:fld id="{F8D8F54C-053C-4394-9990-70DE256B1A6D}" type="slidenum">
              <a:rPr lang="nl-NL" smtClean="0"/>
              <a:t>13</a:t>
            </a:fld>
            <a:endParaRPr lang="nl-NL"/>
          </a:p>
        </p:txBody>
      </p:sp>
    </p:spTree>
    <p:extLst>
      <p:ext uri="{BB962C8B-B14F-4D97-AF65-F5344CB8AC3E}">
        <p14:creationId xmlns:p14="http://schemas.microsoft.com/office/powerpoint/2010/main" val="4050715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Remarks: Time Series Components – Trend </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defRPr/>
            </a:pPr>
            <a:r>
              <a:rPr lang="en-AU" dirty="0"/>
              <a:t>Trend estimates are often reliable; however, in some instances the usefulness of estimates is reduced by:</a:t>
            </a:r>
          </a:p>
          <a:p>
            <a:pPr lvl="1">
              <a:defRPr/>
            </a:pPr>
            <a:endParaRPr lang="en-AU" dirty="0"/>
          </a:p>
          <a:p>
            <a:pPr lvl="1">
              <a:defRPr/>
            </a:pPr>
            <a:r>
              <a:rPr lang="en-AU" dirty="0"/>
              <a:t>high degree of irregularity in original or seasonally adjusted series or</a:t>
            </a:r>
          </a:p>
          <a:p>
            <a:pPr>
              <a:defRPr/>
            </a:pPr>
            <a:endParaRPr lang="en-AU" dirty="0"/>
          </a:p>
          <a:p>
            <a:pPr lvl="1">
              <a:defRPr/>
            </a:pPr>
            <a:r>
              <a:rPr lang="en-AU" dirty="0"/>
              <a:t>abrupt change in the time series characteristics of the original data</a:t>
            </a:r>
          </a:p>
        </p:txBody>
      </p:sp>
      <p:sp>
        <p:nvSpPr>
          <p:cNvPr id="4" name="Slide Number Placeholder 3">
            <a:extLst>
              <a:ext uri="{FF2B5EF4-FFF2-40B4-BE49-F238E27FC236}">
                <a16:creationId xmlns:a16="http://schemas.microsoft.com/office/drawing/2014/main" id="{C416872F-C6B4-A720-33BE-4109156D458F}"/>
              </a:ext>
            </a:extLst>
          </p:cNvPr>
          <p:cNvSpPr>
            <a:spLocks noGrp="1"/>
          </p:cNvSpPr>
          <p:nvPr>
            <p:ph type="sldNum" sz="quarter" idx="12"/>
          </p:nvPr>
        </p:nvSpPr>
        <p:spPr/>
        <p:txBody>
          <a:bodyPr/>
          <a:lstStyle/>
          <a:p>
            <a:fld id="{F8D8F54C-053C-4394-9990-70DE256B1A6D}" type="slidenum">
              <a:rPr lang="nl-NL" smtClean="0"/>
              <a:t>14</a:t>
            </a:fld>
            <a:endParaRPr lang="nl-NL"/>
          </a:p>
        </p:txBody>
      </p:sp>
    </p:spTree>
    <p:extLst>
      <p:ext uri="{BB962C8B-B14F-4D97-AF65-F5344CB8AC3E}">
        <p14:creationId xmlns:p14="http://schemas.microsoft.com/office/powerpoint/2010/main" val="2485315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Remarks: Time Series Components – Trend </a:t>
            </a:r>
            <a:endParaRPr lang="nl-NL" sz="3200" b="1" dirty="0">
              <a:latin typeface="Times New Roman" panose="02020603050405020304" pitchFamily="18" charset="0"/>
              <a:cs typeface="Times New Roman" panose="02020603050405020304" pitchFamily="18" charset="0"/>
            </a:endParaRPr>
          </a:p>
        </p:txBody>
      </p:sp>
      <p:pic>
        <p:nvPicPr>
          <p:cNvPr id="8" name="Picture 7" descr="Chart, line chart&#10;&#10;Description automatically generated">
            <a:extLst>
              <a:ext uri="{FF2B5EF4-FFF2-40B4-BE49-F238E27FC236}">
                <a16:creationId xmlns:a16="http://schemas.microsoft.com/office/drawing/2014/main" id="{5102B881-477E-8442-A501-89150C1911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8401" y="1283368"/>
            <a:ext cx="8604739" cy="5085418"/>
          </a:xfrm>
          <a:prstGeom prst="rect">
            <a:avLst/>
          </a:prstGeom>
        </p:spPr>
      </p:pic>
      <p:sp>
        <p:nvSpPr>
          <p:cNvPr id="9" name="TextBox 8">
            <a:extLst>
              <a:ext uri="{FF2B5EF4-FFF2-40B4-BE49-F238E27FC236}">
                <a16:creationId xmlns:a16="http://schemas.microsoft.com/office/drawing/2014/main" id="{5735B2E3-6828-F947-A387-6F5DA0874233}"/>
              </a:ext>
            </a:extLst>
          </p:cNvPr>
          <p:cNvSpPr txBox="1"/>
          <p:nvPr/>
        </p:nvSpPr>
        <p:spPr>
          <a:xfrm>
            <a:off x="3997569" y="2988129"/>
            <a:ext cx="2288931" cy="646331"/>
          </a:xfrm>
          <a:prstGeom prst="rect">
            <a:avLst/>
          </a:prstGeom>
          <a:noFill/>
        </p:spPr>
        <p:txBody>
          <a:bodyPr wrap="square" rtlCol="0">
            <a:spAutoFit/>
          </a:bodyPr>
          <a:lstStyle/>
          <a:p>
            <a:pPr lvl="1"/>
            <a:r>
              <a:rPr lang="en-US" dirty="0"/>
              <a:t>Global Financial Crisis 2007 - 2008</a:t>
            </a:r>
          </a:p>
        </p:txBody>
      </p:sp>
      <p:sp>
        <p:nvSpPr>
          <p:cNvPr id="12" name="TextBox 11">
            <a:extLst>
              <a:ext uri="{FF2B5EF4-FFF2-40B4-BE49-F238E27FC236}">
                <a16:creationId xmlns:a16="http://schemas.microsoft.com/office/drawing/2014/main" id="{3221A4E9-5B8D-7E48-B7D7-84F110BCDE09}"/>
              </a:ext>
            </a:extLst>
          </p:cNvPr>
          <p:cNvSpPr txBox="1"/>
          <p:nvPr/>
        </p:nvSpPr>
        <p:spPr>
          <a:xfrm>
            <a:off x="7737231" y="4371452"/>
            <a:ext cx="2288931" cy="369332"/>
          </a:xfrm>
          <a:prstGeom prst="rect">
            <a:avLst/>
          </a:prstGeom>
          <a:noFill/>
        </p:spPr>
        <p:txBody>
          <a:bodyPr wrap="square" rtlCol="0">
            <a:spAutoFit/>
          </a:bodyPr>
          <a:lstStyle/>
          <a:p>
            <a:pPr lvl="1"/>
            <a:r>
              <a:rPr lang="en-US" dirty="0"/>
              <a:t>COVID-19 Crisis</a:t>
            </a:r>
          </a:p>
        </p:txBody>
      </p:sp>
      <p:sp>
        <p:nvSpPr>
          <p:cNvPr id="3" name="Slide Number Placeholder 2">
            <a:extLst>
              <a:ext uri="{FF2B5EF4-FFF2-40B4-BE49-F238E27FC236}">
                <a16:creationId xmlns:a16="http://schemas.microsoft.com/office/drawing/2014/main" id="{D0CD164F-497A-E936-554A-703E23FA6E57}"/>
              </a:ext>
            </a:extLst>
          </p:cNvPr>
          <p:cNvSpPr>
            <a:spLocks noGrp="1"/>
          </p:cNvSpPr>
          <p:nvPr>
            <p:ph type="sldNum" sz="quarter" idx="12"/>
          </p:nvPr>
        </p:nvSpPr>
        <p:spPr/>
        <p:txBody>
          <a:bodyPr/>
          <a:lstStyle/>
          <a:p>
            <a:fld id="{F8D8F54C-053C-4394-9990-70DE256B1A6D}" type="slidenum">
              <a:rPr lang="nl-NL" smtClean="0"/>
              <a:t>15</a:t>
            </a:fld>
            <a:endParaRPr lang="nl-NL"/>
          </a:p>
        </p:txBody>
      </p:sp>
    </p:spTree>
    <p:extLst>
      <p:ext uri="{BB962C8B-B14F-4D97-AF65-F5344CB8AC3E}">
        <p14:creationId xmlns:p14="http://schemas.microsoft.com/office/powerpoint/2010/main" val="2952155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 Components – Seasonal Variation (Seasonality)</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defRPr/>
            </a:pPr>
            <a:r>
              <a:rPr lang="en-AU" dirty="0"/>
              <a:t>Seasonal variation of a time series is a pattern of change that </a:t>
            </a:r>
            <a:r>
              <a:rPr lang="en-AU" b="1" dirty="0"/>
              <a:t>recurs</a:t>
            </a:r>
            <a:r>
              <a:rPr lang="en-AU" dirty="0"/>
              <a:t> regularly over time.</a:t>
            </a:r>
          </a:p>
          <a:p>
            <a:pPr>
              <a:defRPr/>
            </a:pPr>
            <a:endParaRPr lang="en-AU" sz="800" dirty="0"/>
          </a:p>
          <a:p>
            <a:pPr>
              <a:defRPr/>
            </a:pPr>
            <a:r>
              <a:rPr lang="en-AU" dirty="0"/>
              <a:t>Seasonal variations are  usually due to the differences between seasons and to festive occasions such as Easter and Christmas.</a:t>
            </a:r>
          </a:p>
          <a:p>
            <a:pPr lvl="1">
              <a:defRPr/>
            </a:pPr>
            <a:r>
              <a:rPr lang="en-AU" dirty="0"/>
              <a:t>Usually changes occur within a year</a:t>
            </a:r>
          </a:p>
          <a:p>
            <a:pPr>
              <a:defRPr/>
            </a:pPr>
            <a:endParaRPr lang="en-AU" sz="800" dirty="0"/>
          </a:p>
          <a:p>
            <a:pPr>
              <a:defRPr/>
            </a:pPr>
            <a:r>
              <a:rPr lang="en-AU" dirty="0"/>
              <a:t>Examples include:</a:t>
            </a:r>
          </a:p>
          <a:p>
            <a:pPr lvl="1">
              <a:buFont typeface="Arial" charset="0"/>
              <a:buChar char="•"/>
              <a:defRPr/>
            </a:pPr>
            <a:r>
              <a:rPr lang="en-AU" dirty="0"/>
              <a:t>Air conditioner sales in Summer</a:t>
            </a:r>
          </a:p>
          <a:p>
            <a:pPr lvl="1">
              <a:buFont typeface="Arial" charset="0"/>
              <a:buChar char="•"/>
              <a:defRPr/>
            </a:pPr>
            <a:r>
              <a:rPr lang="en-AU" dirty="0"/>
              <a:t>Heater sales in Winter</a:t>
            </a:r>
          </a:p>
          <a:p>
            <a:pPr lvl="1">
              <a:buFont typeface="Arial" charset="0"/>
              <a:buChar char="•"/>
              <a:defRPr/>
            </a:pPr>
            <a:r>
              <a:rPr lang="en-AU" dirty="0"/>
              <a:t>Flu cases in Winter</a:t>
            </a:r>
          </a:p>
          <a:p>
            <a:pPr lvl="1">
              <a:buFont typeface="Arial" charset="0"/>
              <a:buChar char="•"/>
              <a:defRPr/>
            </a:pPr>
            <a:r>
              <a:rPr lang="en-AU" dirty="0"/>
              <a:t>Airline tickets for flights during school vacations</a:t>
            </a:r>
          </a:p>
        </p:txBody>
      </p:sp>
      <p:sp>
        <p:nvSpPr>
          <p:cNvPr id="4" name="Slide Number Placeholder 3">
            <a:extLst>
              <a:ext uri="{FF2B5EF4-FFF2-40B4-BE49-F238E27FC236}">
                <a16:creationId xmlns:a16="http://schemas.microsoft.com/office/drawing/2014/main" id="{C4EFAC74-1326-9C39-D592-CB8702B553CE}"/>
              </a:ext>
            </a:extLst>
          </p:cNvPr>
          <p:cNvSpPr>
            <a:spLocks noGrp="1"/>
          </p:cNvSpPr>
          <p:nvPr>
            <p:ph type="sldNum" sz="quarter" idx="12"/>
          </p:nvPr>
        </p:nvSpPr>
        <p:spPr/>
        <p:txBody>
          <a:bodyPr/>
          <a:lstStyle/>
          <a:p>
            <a:fld id="{F8D8F54C-053C-4394-9990-70DE256B1A6D}" type="slidenum">
              <a:rPr lang="nl-NL" smtClean="0"/>
              <a:t>16</a:t>
            </a:fld>
            <a:endParaRPr lang="nl-NL"/>
          </a:p>
        </p:txBody>
      </p:sp>
    </p:spTree>
    <p:extLst>
      <p:ext uri="{BB962C8B-B14F-4D97-AF65-F5344CB8AC3E}">
        <p14:creationId xmlns:p14="http://schemas.microsoft.com/office/powerpoint/2010/main" val="3082592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a:latin typeface="Times New Roman" panose="02020603050405020304" pitchFamily="18" charset="0"/>
                <a:cs typeface="Times New Roman" panose="02020603050405020304" pitchFamily="18" charset="0"/>
              </a:rPr>
              <a:t>Time Series Components – Seasonal Variation (Seasonality)</a:t>
            </a:r>
            <a:endParaRPr lang="nl-NL" sz="3200" b="1" dirty="0">
              <a:latin typeface="Times New Roman" panose="02020603050405020304" pitchFamily="18" charset="0"/>
              <a:cs typeface="Times New Roman" panose="02020603050405020304" pitchFamily="18" charset="0"/>
            </a:endParaRPr>
          </a:p>
        </p:txBody>
      </p:sp>
      <p:pic>
        <p:nvPicPr>
          <p:cNvPr id="7170" name="Picture 2">
            <a:extLst>
              <a:ext uri="{FF2B5EF4-FFF2-40B4-BE49-F238E27FC236}">
                <a16:creationId xmlns:a16="http://schemas.microsoft.com/office/drawing/2014/main" id="{526710B0-62D7-1E47-B1BB-592F8CCAD2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1" y="1650999"/>
            <a:ext cx="11516364" cy="411298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DC8FA14-708A-2049-9F8D-2D6A72192C8D}"/>
              </a:ext>
            </a:extLst>
          </p:cNvPr>
          <p:cNvSpPr txBox="1"/>
          <p:nvPr/>
        </p:nvSpPr>
        <p:spPr>
          <a:xfrm>
            <a:off x="1086678" y="5916173"/>
            <a:ext cx="10929956" cy="430887"/>
          </a:xfrm>
          <a:prstGeom prst="rect">
            <a:avLst/>
          </a:prstGeom>
          <a:noFill/>
        </p:spPr>
        <p:txBody>
          <a:bodyPr wrap="square" rtlCol="0">
            <a:spAutoFit/>
          </a:bodyPr>
          <a:lstStyle/>
          <a:p>
            <a:r>
              <a:rPr lang="en-AU" altLang="en-US" sz="2200" dirty="0"/>
              <a:t>Seasonality in a time series can be identified by regularly spaced peaks and troughs (Kaggle) </a:t>
            </a:r>
            <a:endParaRPr lang="en-US" sz="2200" dirty="0"/>
          </a:p>
        </p:txBody>
      </p:sp>
      <p:sp>
        <p:nvSpPr>
          <p:cNvPr id="3" name="Slide Number Placeholder 2">
            <a:extLst>
              <a:ext uri="{FF2B5EF4-FFF2-40B4-BE49-F238E27FC236}">
                <a16:creationId xmlns:a16="http://schemas.microsoft.com/office/drawing/2014/main" id="{FAE10D23-C2B3-FA32-7E3C-6DABDDB7FE46}"/>
              </a:ext>
            </a:extLst>
          </p:cNvPr>
          <p:cNvSpPr>
            <a:spLocks noGrp="1"/>
          </p:cNvSpPr>
          <p:nvPr>
            <p:ph type="sldNum" sz="quarter" idx="12"/>
          </p:nvPr>
        </p:nvSpPr>
        <p:spPr/>
        <p:txBody>
          <a:bodyPr/>
          <a:lstStyle/>
          <a:p>
            <a:fld id="{F8D8F54C-053C-4394-9990-70DE256B1A6D}" type="slidenum">
              <a:rPr lang="nl-NL" smtClean="0"/>
              <a:t>17</a:t>
            </a:fld>
            <a:endParaRPr lang="nl-NL"/>
          </a:p>
        </p:txBody>
      </p:sp>
    </p:spTree>
    <p:extLst>
      <p:ext uri="{BB962C8B-B14F-4D97-AF65-F5344CB8AC3E}">
        <p14:creationId xmlns:p14="http://schemas.microsoft.com/office/powerpoint/2010/main" val="690889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 Components – Cyclical Variation</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defRPr/>
            </a:pPr>
            <a:r>
              <a:rPr lang="en-AU" dirty="0"/>
              <a:t>Cyclical variations have recurring patterns but with a longer and more erratic time scale compared to Seasonal variations (e.g. 2- 10 years)</a:t>
            </a:r>
          </a:p>
          <a:p>
            <a:pPr>
              <a:defRPr/>
            </a:pPr>
            <a:r>
              <a:rPr lang="en-AU" dirty="0"/>
              <a:t>The name is quite misleading </a:t>
            </a:r>
          </a:p>
          <a:p>
            <a:pPr lvl="1">
              <a:defRPr/>
            </a:pPr>
            <a:r>
              <a:rPr lang="en-AU" dirty="0"/>
              <a:t>these cycles can be far from regular </a:t>
            </a:r>
          </a:p>
          <a:p>
            <a:pPr lvl="1">
              <a:defRPr/>
            </a:pPr>
            <a:r>
              <a:rPr lang="en-AU" dirty="0"/>
              <a:t>it is usually impossible to predict the length of expansion/contraction periods</a:t>
            </a:r>
          </a:p>
          <a:p>
            <a:pPr>
              <a:defRPr/>
            </a:pPr>
            <a:r>
              <a:rPr lang="en-AU" dirty="0"/>
              <a:t>There are no guarantees of a regularly returning pattern. </a:t>
            </a:r>
          </a:p>
          <a:p>
            <a:pPr>
              <a:defRPr/>
            </a:pPr>
            <a:r>
              <a:rPr lang="en-AU" dirty="0"/>
              <a:t>Examples include:</a:t>
            </a:r>
            <a:endParaRPr lang="en-AU" sz="800" dirty="0"/>
          </a:p>
          <a:p>
            <a:pPr lvl="1">
              <a:buFont typeface="Arial" charset="0"/>
              <a:buChar char="•"/>
              <a:defRPr/>
            </a:pPr>
            <a:r>
              <a:rPr lang="en-AU" dirty="0"/>
              <a:t>Floods</a:t>
            </a:r>
          </a:p>
          <a:p>
            <a:pPr lvl="1">
              <a:buFont typeface="Arial" charset="0"/>
              <a:buChar char="•"/>
              <a:defRPr/>
            </a:pPr>
            <a:r>
              <a:rPr lang="en-AU" dirty="0"/>
              <a:t>Wars</a:t>
            </a:r>
          </a:p>
          <a:p>
            <a:pPr lvl="1">
              <a:buFont typeface="Arial" charset="0"/>
              <a:buChar char="•"/>
              <a:defRPr/>
            </a:pPr>
            <a:r>
              <a:rPr lang="en-AU" dirty="0"/>
              <a:t>Changes in interest rates</a:t>
            </a:r>
          </a:p>
          <a:p>
            <a:pPr lvl="1">
              <a:buFont typeface="Arial" charset="0"/>
              <a:buChar char="•"/>
              <a:defRPr/>
            </a:pPr>
            <a:r>
              <a:rPr lang="en-AU" dirty="0"/>
              <a:t>Economic depressions or recessions</a:t>
            </a:r>
          </a:p>
        </p:txBody>
      </p:sp>
      <p:sp>
        <p:nvSpPr>
          <p:cNvPr id="4" name="Slide Number Placeholder 3">
            <a:extLst>
              <a:ext uri="{FF2B5EF4-FFF2-40B4-BE49-F238E27FC236}">
                <a16:creationId xmlns:a16="http://schemas.microsoft.com/office/drawing/2014/main" id="{0856DCE7-FEC5-5C87-4A99-AA212EE2357B}"/>
              </a:ext>
            </a:extLst>
          </p:cNvPr>
          <p:cNvSpPr>
            <a:spLocks noGrp="1"/>
          </p:cNvSpPr>
          <p:nvPr>
            <p:ph type="sldNum" sz="quarter" idx="12"/>
          </p:nvPr>
        </p:nvSpPr>
        <p:spPr/>
        <p:txBody>
          <a:bodyPr/>
          <a:lstStyle/>
          <a:p>
            <a:fld id="{F8D8F54C-053C-4394-9990-70DE256B1A6D}" type="slidenum">
              <a:rPr lang="nl-NL" smtClean="0"/>
              <a:t>18</a:t>
            </a:fld>
            <a:endParaRPr lang="nl-NL"/>
          </a:p>
        </p:txBody>
      </p:sp>
    </p:spTree>
    <p:extLst>
      <p:ext uri="{BB962C8B-B14F-4D97-AF65-F5344CB8AC3E}">
        <p14:creationId xmlns:p14="http://schemas.microsoft.com/office/powerpoint/2010/main" val="25788392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 Components – Cyclical Variation</a:t>
            </a:r>
            <a:endParaRPr lang="nl-NL"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4CF2D2F-B44C-F247-8533-BC71235637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7506" y="1470931"/>
            <a:ext cx="6446294" cy="5191126"/>
          </a:xfrm>
          <a:prstGeom prst="rect">
            <a:avLst/>
          </a:prstGeom>
        </p:spPr>
      </p:pic>
      <p:sp>
        <p:nvSpPr>
          <p:cNvPr id="5" name="TextBox 4">
            <a:extLst>
              <a:ext uri="{FF2B5EF4-FFF2-40B4-BE49-F238E27FC236}">
                <a16:creationId xmlns:a16="http://schemas.microsoft.com/office/drawing/2014/main" id="{2E21CAF6-5399-2B44-B9B9-F050309648EF}"/>
              </a:ext>
            </a:extLst>
          </p:cNvPr>
          <p:cNvSpPr txBox="1"/>
          <p:nvPr/>
        </p:nvSpPr>
        <p:spPr>
          <a:xfrm>
            <a:off x="445477" y="2745712"/>
            <a:ext cx="3669323" cy="830997"/>
          </a:xfrm>
          <a:prstGeom prst="rect">
            <a:avLst/>
          </a:prstGeom>
          <a:noFill/>
        </p:spPr>
        <p:txBody>
          <a:bodyPr wrap="square" rtlCol="0">
            <a:spAutoFit/>
          </a:bodyPr>
          <a:lstStyle/>
          <a:p>
            <a:r>
              <a:rPr lang="en-US" sz="2400" dirty="0"/>
              <a:t>Average temperature in Algeria (10-1997 to 2-1999) </a:t>
            </a:r>
          </a:p>
        </p:txBody>
      </p:sp>
      <p:sp>
        <p:nvSpPr>
          <p:cNvPr id="3" name="Slide Number Placeholder 2">
            <a:extLst>
              <a:ext uri="{FF2B5EF4-FFF2-40B4-BE49-F238E27FC236}">
                <a16:creationId xmlns:a16="http://schemas.microsoft.com/office/drawing/2014/main" id="{7B742A97-1FA7-B17B-DA4D-129BA0C89FB9}"/>
              </a:ext>
            </a:extLst>
          </p:cNvPr>
          <p:cNvSpPr>
            <a:spLocks noGrp="1"/>
          </p:cNvSpPr>
          <p:nvPr>
            <p:ph type="sldNum" sz="quarter" idx="12"/>
          </p:nvPr>
        </p:nvSpPr>
        <p:spPr/>
        <p:txBody>
          <a:bodyPr/>
          <a:lstStyle/>
          <a:p>
            <a:fld id="{F8D8F54C-053C-4394-9990-70DE256B1A6D}" type="slidenum">
              <a:rPr lang="nl-NL" smtClean="0"/>
              <a:t>19</a:t>
            </a:fld>
            <a:endParaRPr lang="nl-NL"/>
          </a:p>
        </p:txBody>
      </p:sp>
    </p:spTree>
    <p:extLst>
      <p:ext uri="{BB962C8B-B14F-4D97-AF65-F5344CB8AC3E}">
        <p14:creationId xmlns:p14="http://schemas.microsoft.com/office/powerpoint/2010/main" val="172377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 Components – Cyclical Variation</a:t>
            </a:r>
            <a:endParaRPr lang="nl-NL" sz="3200" b="1" dirty="0">
              <a:latin typeface="Times New Roman" panose="02020603050405020304" pitchFamily="18" charset="0"/>
              <a:cs typeface="Times New Roman" panose="02020603050405020304" pitchFamily="18" charset="0"/>
            </a:endParaRPr>
          </a:p>
        </p:txBody>
      </p:sp>
      <p:grpSp>
        <p:nvGrpSpPr>
          <p:cNvPr id="28" name="Group 27">
            <a:extLst>
              <a:ext uri="{FF2B5EF4-FFF2-40B4-BE49-F238E27FC236}">
                <a16:creationId xmlns:a16="http://schemas.microsoft.com/office/drawing/2014/main" id="{FBAF0937-BC63-CC4D-BF69-23A4232DE013}"/>
              </a:ext>
            </a:extLst>
          </p:cNvPr>
          <p:cNvGrpSpPr/>
          <p:nvPr/>
        </p:nvGrpSpPr>
        <p:grpSpPr>
          <a:xfrm>
            <a:off x="4931508" y="1311578"/>
            <a:ext cx="6946900" cy="5477363"/>
            <a:chOff x="3454400" y="1346199"/>
            <a:chExt cx="6946900" cy="5477363"/>
          </a:xfrm>
        </p:grpSpPr>
        <p:pic>
          <p:nvPicPr>
            <p:cNvPr id="7" name="Picture 6">
              <a:extLst>
                <a:ext uri="{FF2B5EF4-FFF2-40B4-BE49-F238E27FC236}">
                  <a16:creationId xmlns:a16="http://schemas.microsoft.com/office/drawing/2014/main" id="{1B01ECEE-BE0A-1D46-9E8D-B4C919D80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4400" y="1346199"/>
              <a:ext cx="6946900" cy="5477363"/>
            </a:xfrm>
            <a:prstGeom prst="rect">
              <a:avLst/>
            </a:prstGeom>
          </p:spPr>
        </p:pic>
        <p:sp>
          <p:nvSpPr>
            <p:cNvPr id="8" name="Oval 7">
              <a:extLst>
                <a:ext uri="{FF2B5EF4-FFF2-40B4-BE49-F238E27FC236}">
                  <a16:creationId xmlns:a16="http://schemas.microsoft.com/office/drawing/2014/main" id="{372C9928-1B1F-8245-832E-8E3BAC1A5BB6}"/>
                </a:ext>
              </a:extLst>
            </p:cNvPr>
            <p:cNvSpPr/>
            <p:nvPr/>
          </p:nvSpPr>
          <p:spPr>
            <a:xfrm>
              <a:off x="7074875" y="1583871"/>
              <a:ext cx="118800" cy="118800"/>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74B3E2-502D-294E-85A7-EE6E9B565FDB}"/>
                </a:ext>
              </a:extLst>
            </p:cNvPr>
            <p:cNvSpPr/>
            <p:nvPr/>
          </p:nvSpPr>
          <p:spPr>
            <a:xfrm>
              <a:off x="7848598" y="4842886"/>
              <a:ext cx="118800" cy="118800"/>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DB7E9687-0856-C349-A1E9-0394A009FA85}"/>
                </a:ext>
              </a:extLst>
            </p:cNvPr>
            <p:cNvCxnSpPr/>
            <p:nvPr/>
          </p:nvCxnSpPr>
          <p:spPr>
            <a:xfrm flipH="1">
              <a:off x="7967398" y="4902286"/>
              <a:ext cx="567002" cy="0"/>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21D65AE-6651-0D47-9536-5E4798454826}"/>
                </a:ext>
              </a:extLst>
            </p:cNvPr>
            <p:cNvSpPr txBox="1"/>
            <p:nvPr/>
          </p:nvSpPr>
          <p:spPr>
            <a:xfrm>
              <a:off x="8579723" y="4717620"/>
              <a:ext cx="1031631" cy="369332"/>
            </a:xfrm>
            <a:prstGeom prst="rect">
              <a:avLst/>
            </a:prstGeom>
            <a:noFill/>
          </p:spPr>
          <p:txBody>
            <a:bodyPr wrap="square" rtlCol="0">
              <a:spAutoFit/>
            </a:bodyPr>
            <a:lstStyle/>
            <a:p>
              <a:r>
                <a:rPr lang="en-US" dirty="0"/>
                <a:t>Trough</a:t>
              </a:r>
            </a:p>
          </p:txBody>
        </p:sp>
        <p:cxnSp>
          <p:nvCxnSpPr>
            <p:cNvPr id="16" name="Straight Arrow Connector 15">
              <a:extLst>
                <a:ext uri="{FF2B5EF4-FFF2-40B4-BE49-F238E27FC236}">
                  <a16:creationId xmlns:a16="http://schemas.microsoft.com/office/drawing/2014/main" id="{5DBE688D-17FC-C14B-92D1-EE72C74C09FD}"/>
                </a:ext>
              </a:extLst>
            </p:cNvPr>
            <p:cNvCxnSpPr>
              <a:cxnSpLocks/>
            </p:cNvCxnSpPr>
            <p:nvPr/>
          </p:nvCxnSpPr>
          <p:spPr>
            <a:xfrm>
              <a:off x="6412523" y="1619040"/>
              <a:ext cx="674075" cy="0"/>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D41AB26-6015-8547-BC65-4406394D3B82}"/>
                </a:ext>
              </a:extLst>
            </p:cNvPr>
            <p:cNvSpPr txBox="1"/>
            <p:nvPr/>
          </p:nvSpPr>
          <p:spPr>
            <a:xfrm>
              <a:off x="5750953" y="1434374"/>
              <a:ext cx="706894" cy="369332"/>
            </a:xfrm>
            <a:prstGeom prst="rect">
              <a:avLst/>
            </a:prstGeom>
            <a:noFill/>
          </p:spPr>
          <p:txBody>
            <a:bodyPr wrap="square" rtlCol="0">
              <a:spAutoFit/>
            </a:bodyPr>
            <a:lstStyle/>
            <a:p>
              <a:r>
                <a:rPr lang="en-US" dirty="0"/>
                <a:t>Peak</a:t>
              </a:r>
            </a:p>
          </p:txBody>
        </p:sp>
        <p:cxnSp>
          <p:nvCxnSpPr>
            <p:cNvPr id="21" name="Straight Arrow Connector 20">
              <a:extLst>
                <a:ext uri="{FF2B5EF4-FFF2-40B4-BE49-F238E27FC236}">
                  <a16:creationId xmlns:a16="http://schemas.microsoft.com/office/drawing/2014/main" id="{076957C1-E764-C24B-A029-E28315C03103}"/>
                </a:ext>
              </a:extLst>
            </p:cNvPr>
            <p:cNvCxnSpPr>
              <a:cxnSpLocks/>
            </p:cNvCxnSpPr>
            <p:nvPr/>
          </p:nvCxnSpPr>
          <p:spPr>
            <a:xfrm>
              <a:off x="6075485" y="2556887"/>
              <a:ext cx="674075" cy="0"/>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67E5F72-76A8-2243-BE04-7BF03830FD4E}"/>
                </a:ext>
              </a:extLst>
            </p:cNvPr>
            <p:cNvSpPr txBox="1"/>
            <p:nvPr/>
          </p:nvSpPr>
          <p:spPr>
            <a:xfrm>
              <a:off x="4994031" y="2372221"/>
              <a:ext cx="1126778" cy="369332"/>
            </a:xfrm>
            <a:prstGeom prst="rect">
              <a:avLst/>
            </a:prstGeom>
            <a:noFill/>
          </p:spPr>
          <p:txBody>
            <a:bodyPr wrap="square" rtlCol="0">
              <a:spAutoFit/>
            </a:bodyPr>
            <a:lstStyle/>
            <a:p>
              <a:r>
                <a:rPr lang="en-US" dirty="0">
                  <a:solidFill>
                    <a:schemeClr val="accent6">
                      <a:lumMod val="75000"/>
                    </a:schemeClr>
                  </a:solidFill>
                </a:rPr>
                <a:t>Expansion</a:t>
              </a:r>
            </a:p>
          </p:txBody>
        </p:sp>
        <p:cxnSp>
          <p:nvCxnSpPr>
            <p:cNvPr id="23" name="Straight Arrow Connector 22">
              <a:extLst>
                <a:ext uri="{FF2B5EF4-FFF2-40B4-BE49-F238E27FC236}">
                  <a16:creationId xmlns:a16="http://schemas.microsoft.com/office/drawing/2014/main" id="{2484328C-1566-9144-946C-76CAB84978B9}"/>
                </a:ext>
              </a:extLst>
            </p:cNvPr>
            <p:cNvCxnSpPr>
              <a:cxnSpLocks/>
            </p:cNvCxnSpPr>
            <p:nvPr/>
          </p:nvCxnSpPr>
          <p:spPr>
            <a:xfrm flipH="1">
              <a:off x="7549663" y="3146042"/>
              <a:ext cx="417735"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1335DB8A-F1E4-DA4B-9F5E-F6C33D596F4F}"/>
                </a:ext>
              </a:extLst>
            </p:cNvPr>
            <p:cNvSpPr txBox="1"/>
            <p:nvPr/>
          </p:nvSpPr>
          <p:spPr>
            <a:xfrm>
              <a:off x="7971011" y="2939577"/>
              <a:ext cx="1126778" cy="369332"/>
            </a:xfrm>
            <a:prstGeom prst="rect">
              <a:avLst/>
            </a:prstGeom>
            <a:noFill/>
          </p:spPr>
          <p:txBody>
            <a:bodyPr wrap="square" rtlCol="0">
              <a:spAutoFit/>
            </a:bodyPr>
            <a:lstStyle/>
            <a:p>
              <a:r>
                <a:rPr lang="en-AU" dirty="0">
                  <a:solidFill>
                    <a:srgbClr val="FF0000"/>
                  </a:solidFill>
                </a:rPr>
                <a:t>recession</a:t>
              </a:r>
              <a:endParaRPr lang="en-US" dirty="0">
                <a:solidFill>
                  <a:srgbClr val="FF0000"/>
                </a:solidFill>
              </a:endParaRPr>
            </a:p>
          </p:txBody>
        </p:sp>
      </p:grpSp>
      <p:sp>
        <p:nvSpPr>
          <p:cNvPr id="27" name="TextBox 26">
            <a:extLst>
              <a:ext uri="{FF2B5EF4-FFF2-40B4-BE49-F238E27FC236}">
                <a16:creationId xmlns:a16="http://schemas.microsoft.com/office/drawing/2014/main" id="{B357863D-FF09-8D48-B4A6-71ED3A1471AA}"/>
              </a:ext>
            </a:extLst>
          </p:cNvPr>
          <p:cNvSpPr txBox="1"/>
          <p:nvPr/>
        </p:nvSpPr>
        <p:spPr>
          <a:xfrm>
            <a:off x="445477" y="2745712"/>
            <a:ext cx="3880337" cy="1200329"/>
          </a:xfrm>
          <a:prstGeom prst="rect">
            <a:avLst/>
          </a:prstGeom>
          <a:noFill/>
        </p:spPr>
        <p:txBody>
          <a:bodyPr wrap="square" rtlCol="0">
            <a:spAutoFit/>
          </a:bodyPr>
          <a:lstStyle/>
          <a:p>
            <a:r>
              <a:rPr lang="en-US" sz="2400" dirty="0"/>
              <a:t>Average temperature in Algeria (2-1998 to 1-2001) smoothed by moving average</a:t>
            </a:r>
          </a:p>
        </p:txBody>
      </p:sp>
      <p:sp>
        <p:nvSpPr>
          <p:cNvPr id="3" name="Slide Number Placeholder 2">
            <a:extLst>
              <a:ext uri="{FF2B5EF4-FFF2-40B4-BE49-F238E27FC236}">
                <a16:creationId xmlns:a16="http://schemas.microsoft.com/office/drawing/2014/main" id="{BDD96979-7AFE-B1F7-FAE5-C1F49046BE5B}"/>
              </a:ext>
            </a:extLst>
          </p:cNvPr>
          <p:cNvSpPr>
            <a:spLocks noGrp="1"/>
          </p:cNvSpPr>
          <p:nvPr>
            <p:ph type="sldNum" sz="quarter" idx="12"/>
          </p:nvPr>
        </p:nvSpPr>
        <p:spPr/>
        <p:txBody>
          <a:bodyPr/>
          <a:lstStyle/>
          <a:p>
            <a:fld id="{F8D8F54C-053C-4394-9990-70DE256B1A6D}" type="slidenum">
              <a:rPr lang="nl-NL" smtClean="0"/>
              <a:t>20</a:t>
            </a:fld>
            <a:endParaRPr lang="nl-NL"/>
          </a:p>
        </p:txBody>
      </p:sp>
    </p:spTree>
    <p:extLst>
      <p:ext uri="{BB962C8B-B14F-4D97-AF65-F5344CB8AC3E}">
        <p14:creationId xmlns:p14="http://schemas.microsoft.com/office/powerpoint/2010/main" val="35481381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 Components – Irregular Variation</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defRPr/>
            </a:pPr>
            <a:r>
              <a:rPr lang="en-AU" dirty="0"/>
              <a:t>An irregular (or random) variation in a time series occurs over varying (usually short) periods.</a:t>
            </a:r>
          </a:p>
          <a:p>
            <a:pPr>
              <a:defRPr/>
            </a:pPr>
            <a:endParaRPr lang="en-AU" dirty="0"/>
          </a:p>
          <a:p>
            <a:pPr>
              <a:defRPr/>
            </a:pPr>
            <a:r>
              <a:rPr lang="en-AU" dirty="0"/>
              <a:t>It follows no pattern and is, by nature, unpredictable.</a:t>
            </a:r>
          </a:p>
          <a:p>
            <a:pPr>
              <a:defRPr/>
            </a:pPr>
            <a:endParaRPr lang="en-AU" dirty="0"/>
          </a:p>
          <a:p>
            <a:pPr>
              <a:defRPr/>
            </a:pPr>
            <a:r>
              <a:rPr lang="en-AU" dirty="0"/>
              <a:t>It usually occurs randomly and may be linked to events that also occur randomly.</a:t>
            </a:r>
          </a:p>
          <a:p>
            <a:pPr>
              <a:defRPr/>
            </a:pPr>
            <a:endParaRPr lang="en-AU" dirty="0"/>
          </a:p>
          <a:p>
            <a:pPr>
              <a:defRPr/>
            </a:pPr>
            <a:r>
              <a:rPr lang="en-AU" dirty="0"/>
              <a:t>Irregular variation cannot be explained mathematically. </a:t>
            </a:r>
          </a:p>
          <a:p>
            <a:pPr lvl="1">
              <a:buFont typeface="Arial" charset="0"/>
              <a:buChar char="•"/>
              <a:defRPr/>
            </a:pPr>
            <a:endParaRPr lang="en-AU" dirty="0"/>
          </a:p>
        </p:txBody>
      </p:sp>
      <p:sp>
        <p:nvSpPr>
          <p:cNvPr id="4" name="Slide Number Placeholder 3">
            <a:extLst>
              <a:ext uri="{FF2B5EF4-FFF2-40B4-BE49-F238E27FC236}">
                <a16:creationId xmlns:a16="http://schemas.microsoft.com/office/drawing/2014/main" id="{556C8F71-CA20-CE1E-D598-061C45C4A870}"/>
              </a:ext>
            </a:extLst>
          </p:cNvPr>
          <p:cNvSpPr>
            <a:spLocks noGrp="1"/>
          </p:cNvSpPr>
          <p:nvPr>
            <p:ph type="sldNum" sz="quarter" idx="12"/>
          </p:nvPr>
        </p:nvSpPr>
        <p:spPr/>
        <p:txBody>
          <a:bodyPr/>
          <a:lstStyle/>
          <a:p>
            <a:fld id="{F8D8F54C-053C-4394-9990-70DE256B1A6D}" type="slidenum">
              <a:rPr lang="nl-NL" smtClean="0"/>
              <a:t>21</a:t>
            </a:fld>
            <a:endParaRPr lang="nl-NL"/>
          </a:p>
        </p:txBody>
      </p:sp>
    </p:spTree>
    <p:extLst>
      <p:ext uri="{BB962C8B-B14F-4D97-AF65-F5344CB8AC3E}">
        <p14:creationId xmlns:p14="http://schemas.microsoft.com/office/powerpoint/2010/main" val="735323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 Components – Irregular Variation</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defRPr/>
            </a:pPr>
            <a:r>
              <a:rPr lang="en-AU" dirty="0"/>
              <a:t>If the variation cannot be accounted for by the trend, season or cyclical variation, then it is usually attributed to irregular variation. </a:t>
            </a:r>
          </a:p>
          <a:p>
            <a:pPr>
              <a:defRPr/>
            </a:pPr>
            <a:endParaRPr lang="en-AU" dirty="0"/>
          </a:p>
          <a:p>
            <a:pPr marL="0" indent="0">
              <a:buNone/>
              <a:defRPr/>
            </a:pPr>
            <a:r>
              <a:rPr lang="en-AU" dirty="0"/>
              <a:t>Example include:</a:t>
            </a:r>
          </a:p>
          <a:p>
            <a:pPr lvl="1">
              <a:buFont typeface="Arial" charset="0"/>
              <a:buChar char="–"/>
              <a:defRPr/>
            </a:pPr>
            <a:r>
              <a:rPr lang="en-AU" dirty="0"/>
              <a:t>Sudden changes in interest rates</a:t>
            </a:r>
          </a:p>
          <a:p>
            <a:pPr lvl="1">
              <a:buFont typeface="Arial" charset="0"/>
              <a:buChar char="–"/>
              <a:defRPr/>
            </a:pPr>
            <a:r>
              <a:rPr lang="en-AU" dirty="0"/>
              <a:t>Collapse of companies</a:t>
            </a:r>
          </a:p>
          <a:p>
            <a:pPr lvl="1">
              <a:buFont typeface="Arial" charset="0"/>
              <a:buChar char="–"/>
              <a:defRPr/>
            </a:pPr>
            <a:r>
              <a:rPr lang="en-AU" dirty="0"/>
              <a:t>Natural disasters</a:t>
            </a:r>
          </a:p>
          <a:p>
            <a:pPr lvl="1">
              <a:buFont typeface="Arial" charset="0"/>
              <a:buChar char="–"/>
              <a:defRPr/>
            </a:pPr>
            <a:r>
              <a:rPr lang="en-AU" dirty="0"/>
              <a:t>Sudden shifts in government policy</a:t>
            </a:r>
          </a:p>
          <a:p>
            <a:pPr lvl="1">
              <a:buFont typeface="Arial" charset="0"/>
              <a:buChar char="–"/>
              <a:defRPr/>
            </a:pPr>
            <a:r>
              <a:rPr lang="en-AU" dirty="0"/>
              <a:t>Dramatic changes to the stock market</a:t>
            </a:r>
          </a:p>
          <a:p>
            <a:pPr lvl="1">
              <a:buFont typeface="Arial" charset="0"/>
              <a:buChar char="–"/>
              <a:defRPr/>
            </a:pPr>
            <a:r>
              <a:rPr lang="en-AU" dirty="0"/>
              <a:t>Effect of Middle East unrest on petrol prices</a:t>
            </a:r>
          </a:p>
        </p:txBody>
      </p:sp>
      <p:sp>
        <p:nvSpPr>
          <p:cNvPr id="4" name="Slide Number Placeholder 3">
            <a:extLst>
              <a:ext uri="{FF2B5EF4-FFF2-40B4-BE49-F238E27FC236}">
                <a16:creationId xmlns:a16="http://schemas.microsoft.com/office/drawing/2014/main" id="{807732E2-BE2E-2C89-818E-DEFEC310C954}"/>
              </a:ext>
            </a:extLst>
          </p:cNvPr>
          <p:cNvSpPr>
            <a:spLocks noGrp="1"/>
          </p:cNvSpPr>
          <p:nvPr>
            <p:ph type="sldNum" sz="quarter" idx="12"/>
          </p:nvPr>
        </p:nvSpPr>
        <p:spPr/>
        <p:txBody>
          <a:bodyPr/>
          <a:lstStyle/>
          <a:p>
            <a:fld id="{F8D8F54C-053C-4394-9990-70DE256B1A6D}" type="slidenum">
              <a:rPr lang="nl-NL" smtClean="0"/>
              <a:t>22</a:t>
            </a:fld>
            <a:endParaRPr lang="nl-NL"/>
          </a:p>
        </p:txBody>
      </p:sp>
    </p:spTree>
    <p:extLst>
      <p:ext uri="{BB962C8B-B14F-4D97-AF65-F5344CB8AC3E}">
        <p14:creationId xmlns:p14="http://schemas.microsoft.com/office/powerpoint/2010/main" val="1882576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 Decomposition</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a:bodyPr>
              <a:lstStyle/>
              <a:p>
                <a:pPr>
                  <a:lnSpc>
                    <a:spcPct val="120000"/>
                  </a:lnSpc>
                </a:pPr>
                <a:r>
                  <a:rPr lang="en-AU" altLang="en-US" dirty="0"/>
                  <a:t>Additive decomposition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𝑆</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𝑇</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𝑅</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𝑆</m:t>
                            </m:r>
                          </m:e>
                        </m:acc>
                      </m:e>
                      <m:sub>
                        <m:r>
                          <a:rPr lang="en-US" altLang="en-US" i="1">
                            <a:latin typeface="Cambria Math" panose="02040503050406030204" pitchFamily="18" charset="0"/>
                          </a:rPr>
                          <m:t>𝑡</m:t>
                        </m:r>
                      </m:sub>
                    </m:sSub>
                    <m:r>
                      <a:rPr lang="en-US" altLang="en-US" i="1">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𝑇</m:t>
                            </m:r>
                          </m:e>
                        </m:acc>
                      </m:e>
                      <m:sub>
                        <m:r>
                          <a:rPr lang="en-US" altLang="en-US" i="1">
                            <a:latin typeface="Cambria Math" panose="02040503050406030204" pitchFamily="18" charset="0"/>
                          </a:rPr>
                          <m:t>𝑡</m:t>
                        </m:r>
                      </m:sub>
                    </m:sSub>
                    <m:r>
                      <a:rPr lang="en-US" altLang="en-US" i="1">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𝑅</m:t>
                            </m:r>
                          </m:e>
                        </m:acc>
                      </m:e>
                      <m:sub>
                        <m:r>
                          <a:rPr lang="en-US" altLang="en-US" i="1">
                            <a:latin typeface="Cambria Math" panose="02040503050406030204" pitchFamily="18" charset="0"/>
                          </a:rPr>
                          <m:t>𝑡</m:t>
                        </m:r>
                      </m:sub>
                    </m:sSub>
                  </m:oMath>
                </a14:m>
                <a:endParaRPr lang="en-AU" altLang="en-US" dirty="0"/>
              </a:p>
              <a:p>
                <a:pPr lvl="1">
                  <a:lnSpc>
                    <a:spcPct val="120000"/>
                  </a:lnSpc>
                </a:pP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𝑡</m:t>
                        </m:r>
                      </m:sub>
                    </m:sSub>
                  </m:oMath>
                </a14:m>
                <a:r>
                  <a:rPr lang="en-AU" altLang="en-US" dirty="0"/>
                  <a:t>: time series values</a:t>
                </a:r>
              </a:p>
              <a:p>
                <a:pPr lvl="1">
                  <a:lnSpc>
                    <a:spcPct val="120000"/>
                  </a:lnSpc>
                </a:pP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𝑆</m:t>
                        </m:r>
                      </m:e>
                      <m:sub>
                        <m:r>
                          <a:rPr lang="en-US" altLang="en-US" b="0" i="1" smtClean="0">
                            <a:latin typeface="Cambria Math" panose="02040503050406030204" pitchFamily="18" charset="0"/>
                          </a:rPr>
                          <m:t>𝑡</m:t>
                        </m:r>
                      </m:sub>
                    </m:sSub>
                  </m:oMath>
                </a14:m>
                <a:r>
                  <a:rPr lang="en-AU" altLang="en-US" dirty="0"/>
                  <a:t>: seasonal component</a:t>
                </a:r>
              </a:p>
              <a:p>
                <a:pPr lvl="1">
                  <a:lnSpc>
                    <a:spcPct val="120000"/>
                  </a:lnSpc>
                </a:pP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𝑇</m:t>
                        </m:r>
                      </m:e>
                      <m:sub>
                        <m:r>
                          <a:rPr lang="en-US" altLang="en-US" b="0" i="1" smtClean="0">
                            <a:latin typeface="Cambria Math" panose="02040503050406030204" pitchFamily="18" charset="0"/>
                          </a:rPr>
                          <m:t>𝑡</m:t>
                        </m:r>
                      </m:sub>
                    </m:sSub>
                  </m:oMath>
                </a14:m>
                <a:r>
                  <a:rPr lang="en-AU" altLang="en-US" dirty="0"/>
                  <a:t>: trend component</a:t>
                </a:r>
              </a:p>
              <a:p>
                <a:pPr lvl="1">
                  <a:lnSpc>
                    <a:spcPct val="120000"/>
                  </a:lnSpc>
                </a:pP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𝑅</m:t>
                        </m:r>
                      </m:e>
                      <m:sub>
                        <m:r>
                          <a:rPr lang="en-US" altLang="en-US" b="0" i="1" smtClean="0">
                            <a:latin typeface="Cambria Math" panose="02040503050406030204" pitchFamily="18" charset="0"/>
                          </a:rPr>
                          <m:t>𝑡</m:t>
                        </m:r>
                      </m:sub>
                    </m:sSub>
                  </m:oMath>
                </a14:m>
                <a:r>
                  <a:rPr lang="en-AU" altLang="en-US" dirty="0"/>
                  <a:t>: the remainder</a:t>
                </a:r>
              </a:p>
              <a:p>
                <a:pPr lvl="1">
                  <a:lnSpc>
                    <a:spcPct val="120000"/>
                  </a:lnSpc>
                </a:pPr>
                <a:r>
                  <a:rPr lang="en-AU" altLang="en-US" dirty="0"/>
                  <a:t>Good for situation when the variation in the seasonal fluctuations is almost stable</a:t>
                </a:r>
              </a:p>
              <a:p>
                <a:pPr>
                  <a:lnSpc>
                    <a:spcPct val="120000"/>
                  </a:lnSpc>
                </a:pPr>
                <a:r>
                  <a:rPr lang="en-AU" altLang="en-US" dirty="0"/>
                  <a:t>Multiplicative decomposition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𝑆</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𝑇</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𝑅</m:t>
                        </m:r>
                      </m:e>
                      <m:sub>
                        <m:r>
                          <a:rPr lang="en-US" altLang="en-US" b="0" i="1" smtClean="0">
                            <a:latin typeface="Cambria Math" panose="02040503050406030204" pitchFamily="18" charset="0"/>
                          </a:rPr>
                          <m:t>𝑡</m:t>
                        </m:r>
                      </m:sub>
                    </m:sSub>
                    <m:r>
                      <a:rPr lang="en-US" altLang="en-US" i="1">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𝑆</m:t>
                            </m:r>
                          </m:e>
                        </m:acc>
                      </m:e>
                      <m:sub>
                        <m:r>
                          <a:rPr lang="en-US" altLang="en-US" i="1">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𝑇</m:t>
                            </m:r>
                          </m:e>
                        </m:acc>
                      </m:e>
                      <m:sub>
                        <m:r>
                          <a:rPr lang="en-US" altLang="en-US" i="1">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𝑅</m:t>
                            </m:r>
                          </m:e>
                        </m:acc>
                      </m:e>
                      <m:sub>
                        <m:r>
                          <a:rPr lang="en-US" altLang="en-US" i="1">
                            <a:latin typeface="Cambria Math" panose="02040503050406030204" pitchFamily="18" charset="0"/>
                          </a:rPr>
                          <m:t>𝑡</m:t>
                        </m:r>
                      </m:sub>
                    </m:sSub>
                  </m:oMath>
                </a14:m>
                <a:endParaRPr lang="en-AU" altLang="en-US" dirty="0"/>
              </a:p>
              <a:p>
                <a:pPr lvl="1">
                  <a:lnSpc>
                    <a:spcPct val="120000"/>
                  </a:lnSpc>
                </a:pPr>
                <a:r>
                  <a:rPr lang="en-AU" altLang="en-US" dirty="0"/>
                  <a:t>Common with economic time series</a:t>
                </a:r>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838200" y="1251284"/>
                <a:ext cx="10515600" cy="4948280"/>
              </a:xfrm>
              <a:blipFill>
                <a:blip r:embed="rId2"/>
                <a:stretch>
                  <a:fillRect l="-108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BBB4E62-FE04-1471-42A5-526845ECF047}"/>
              </a:ext>
            </a:extLst>
          </p:cNvPr>
          <p:cNvSpPr>
            <a:spLocks noGrp="1"/>
          </p:cNvSpPr>
          <p:nvPr>
            <p:ph type="sldNum" sz="quarter" idx="12"/>
          </p:nvPr>
        </p:nvSpPr>
        <p:spPr/>
        <p:txBody>
          <a:bodyPr/>
          <a:lstStyle/>
          <a:p>
            <a:fld id="{F8D8F54C-053C-4394-9990-70DE256B1A6D}" type="slidenum">
              <a:rPr lang="nl-NL" smtClean="0"/>
              <a:t>23</a:t>
            </a:fld>
            <a:endParaRPr lang="nl-NL"/>
          </a:p>
        </p:txBody>
      </p:sp>
    </p:spTree>
    <p:extLst>
      <p:ext uri="{BB962C8B-B14F-4D97-AF65-F5344CB8AC3E}">
        <p14:creationId xmlns:p14="http://schemas.microsoft.com/office/powerpoint/2010/main" val="218338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 Decomposition – Detrending </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a:bodyPr>
              <a:lstStyle/>
              <a:p>
                <a:pPr>
                  <a:lnSpc>
                    <a:spcPct val="120000"/>
                  </a:lnSpc>
                </a:pPr>
                <a:r>
                  <a:rPr lang="en-US" altLang="en-US" dirty="0"/>
                  <a:t>Estimate a smoothed trend </a:t>
                </a:r>
                <a14:m>
                  <m:oMath xmlns:m="http://schemas.openxmlformats.org/officeDocument/2006/math">
                    <m:sSub>
                      <m:sSubPr>
                        <m:ctrlPr>
                          <a:rPr lang="en-US" altLang="en-US" i="1" smtClean="0">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𝑇</m:t>
                            </m:r>
                          </m:e>
                        </m:acc>
                      </m:e>
                      <m:sub>
                        <m:r>
                          <a:rPr lang="en-US" altLang="en-US" i="1">
                            <a:latin typeface="Cambria Math" panose="02040503050406030204" pitchFamily="18" charset="0"/>
                          </a:rPr>
                          <m:t>𝑡</m:t>
                        </m:r>
                      </m:sub>
                    </m:sSub>
                  </m:oMath>
                </a14:m>
                <a:r>
                  <a:rPr lang="en-US" altLang="en-US" dirty="0"/>
                  <a:t> (details will follow)</a:t>
                </a:r>
              </a:p>
              <a:p>
                <a:pPr>
                  <a:lnSpc>
                    <a:spcPct val="120000"/>
                  </a:lnSpc>
                </a:pPr>
                <a:r>
                  <a:rPr lang="en-US" altLang="en-US" dirty="0"/>
                  <a:t>Remove the smoothed </a:t>
                </a:r>
                <a14:m>
                  <m:oMath xmlns:m="http://schemas.openxmlformats.org/officeDocument/2006/math">
                    <m:sSub>
                      <m:sSubPr>
                        <m:ctrlPr>
                          <a:rPr lang="en-US" altLang="en-US" i="1" smtClean="0">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𝑇</m:t>
                            </m:r>
                          </m:e>
                        </m:acc>
                      </m:e>
                      <m:sub>
                        <m:r>
                          <a:rPr lang="en-US" altLang="en-US" i="1">
                            <a:latin typeface="Cambria Math" panose="02040503050406030204" pitchFamily="18" charset="0"/>
                          </a:rPr>
                          <m:t>𝑡</m:t>
                        </m:r>
                      </m:sub>
                    </m:sSub>
                  </m:oMath>
                </a14:m>
                <a:r>
                  <a:rPr lang="en-AU" altLang="en-US" dirty="0"/>
                  <a:t> from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𝑡</m:t>
                        </m:r>
                      </m:sub>
                    </m:sSub>
                  </m:oMath>
                </a14:m>
                <a:r>
                  <a:rPr lang="en-AU" altLang="en-US" dirty="0"/>
                  <a:t> to get the </a:t>
                </a:r>
                <a14:m>
                  <m:oMath xmlns:m="http://schemas.openxmlformats.org/officeDocument/2006/math">
                    <m:sSub>
                      <m:sSubPr>
                        <m:ctrlPr>
                          <a:rPr lang="en-US" altLang="en-US" i="1">
                            <a:latin typeface="Cambria Math" panose="02040503050406030204" pitchFamily="18" charset="0"/>
                          </a:rPr>
                        </m:ctrlPr>
                      </m:sSubPr>
                      <m:e>
                        <m:acc>
                          <m:accPr>
                            <m:chr m:val="̂"/>
                            <m:ctrlPr>
                              <a:rPr lang="en-US" altLang="en-US" i="1" dirty="0">
                                <a:latin typeface="Cambria Math" panose="02040503050406030204" pitchFamily="18" charset="0"/>
                              </a:rPr>
                            </m:ctrlPr>
                          </m:accPr>
                          <m:e>
                            <m:r>
                              <a:rPr lang="en-US" altLang="en-US" b="0" i="1" dirty="0" smtClean="0">
                                <a:latin typeface="Cambria Math" panose="02040503050406030204" pitchFamily="18" charset="0"/>
                              </a:rPr>
                              <m:t>𝑆</m:t>
                            </m:r>
                          </m:e>
                        </m:acc>
                      </m:e>
                      <m:sub>
                        <m:r>
                          <a:rPr lang="en-US" altLang="en-US" i="1">
                            <a:latin typeface="Cambria Math" panose="02040503050406030204" pitchFamily="18" charset="0"/>
                          </a:rPr>
                          <m:t>𝑡</m:t>
                        </m:r>
                      </m:sub>
                    </m:sSub>
                  </m:oMath>
                </a14:m>
                <a:r>
                  <a:rPr lang="en-AU" altLang="en-US" dirty="0"/>
                  <a:t> and</a:t>
                </a:r>
                <a14:m>
                  <m:oMath xmlns:m="http://schemas.openxmlformats.org/officeDocument/2006/math">
                    <m:r>
                      <a:rPr lang="en-US" altLang="en-US" b="0" i="0" smtClean="0">
                        <a:latin typeface="Cambria Math" panose="02040503050406030204" pitchFamily="18" charset="0"/>
                      </a:rPr>
                      <m:t> </m:t>
                    </m:r>
                    <m:sSub>
                      <m:sSubPr>
                        <m:ctrlPr>
                          <a:rPr lang="en-US" altLang="en-US" i="1">
                            <a:latin typeface="Cambria Math" panose="02040503050406030204" pitchFamily="18" charset="0"/>
                          </a:rPr>
                        </m:ctrlPr>
                      </m:sSubPr>
                      <m:e>
                        <m:acc>
                          <m:accPr>
                            <m:chr m:val="̂"/>
                            <m:ctrlPr>
                              <a:rPr lang="en-US" altLang="en-US" i="1" dirty="0">
                                <a:latin typeface="Cambria Math" panose="02040503050406030204" pitchFamily="18" charset="0"/>
                              </a:rPr>
                            </m:ctrlPr>
                          </m:accPr>
                          <m:e>
                            <m:r>
                              <a:rPr lang="en-US" altLang="en-US" b="0" i="1" dirty="0" smtClean="0">
                                <a:latin typeface="Cambria Math" panose="02040503050406030204" pitchFamily="18" charset="0"/>
                              </a:rPr>
                              <m:t>𝑅</m:t>
                            </m:r>
                          </m:e>
                        </m:acc>
                      </m:e>
                      <m:sub>
                        <m:r>
                          <a:rPr lang="en-US" altLang="en-US" i="1">
                            <a:latin typeface="Cambria Math" panose="02040503050406030204" pitchFamily="18" charset="0"/>
                          </a:rPr>
                          <m:t>𝑡</m:t>
                        </m:r>
                      </m:sub>
                    </m:sSub>
                  </m:oMath>
                </a14:m>
                <a:endParaRPr lang="en-US" altLang="en-US" dirty="0"/>
              </a:p>
              <a:p>
                <a:pPr>
                  <a:lnSpc>
                    <a:spcPct val="120000"/>
                  </a:lnSpc>
                </a:pPr>
                <a:r>
                  <a:rPr lang="en-AU" altLang="en-US" dirty="0"/>
                  <a:t>In additive decomposition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acc>
                          <m:accPr>
                            <m:chr m:val="̂"/>
                            <m:ctrlPr>
                              <a:rPr lang="en-US" altLang="en-US" b="0" i="1" smtClean="0">
                                <a:latin typeface="Cambria Math" panose="02040503050406030204" pitchFamily="18" charset="0"/>
                              </a:rPr>
                            </m:ctrlPr>
                          </m:accPr>
                          <m:e>
                            <m:r>
                              <a:rPr lang="en-US" altLang="en-US" b="0" i="1" smtClean="0">
                                <a:latin typeface="Cambria Math" panose="02040503050406030204" pitchFamily="18" charset="0"/>
                              </a:rPr>
                              <m:t>𝑇</m:t>
                            </m:r>
                          </m:e>
                        </m:acc>
                      </m:e>
                      <m:sub>
                        <m:r>
                          <a:rPr lang="en-US" altLang="en-US" b="0" i="1" smtClean="0">
                            <a:latin typeface="Cambria Math" panose="02040503050406030204" pitchFamily="18" charset="0"/>
                          </a:rPr>
                          <m:t>𝑡</m:t>
                        </m:r>
                      </m:sub>
                    </m:sSub>
                    <m:sSub>
                      <m:sSubPr>
                        <m:ctrlPr>
                          <a:rPr lang="en-US" altLang="en-US" i="1">
                            <a:latin typeface="Cambria Math" panose="02040503050406030204" pitchFamily="18" charset="0"/>
                          </a:rPr>
                        </m:ctrlPr>
                      </m:sSubPr>
                      <m:e>
                        <m:r>
                          <a:rPr lang="en-US" altLang="en-US" b="0" i="1" smtClean="0">
                            <a:latin typeface="Cambria Math" panose="02040503050406030204" pitchFamily="18" charset="0"/>
                          </a:rPr>
                          <m:t>=</m:t>
                        </m:r>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𝑆</m:t>
                            </m:r>
                          </m:e>
                        </m:acc>
                      </m:e>
                      <m:sub>
                        <m:r>
                          <a:rPr lang="en-US" altLang="en-US" i="1">
                            <a:latin typeface="Cambria Math" panose="02040503050406030204" pitchFamily="18" charset="0"/>
                          </a:rPr>
                          <m:t>𝑡</m:t>
                        </m:r>
                      </m:sub>
                    </m:sSub>
                    <m:r>
                      <a:rPr lang="en-US" altLang="en-US" i="1">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𝑅</m:t>
                            </m:r>
                          </m:e>
                        </m:acc>
                      </m:e>
                      <m:sub>
                        <m:r>
                          <a:rPr lang="en-US" altLang="en-US" i="1">
                            <a:latin typeface="Cambria Math" panose="02040503050406030204" pitchFamily="18" charset="0"/>
                          </a:rPr>
                          <m:t>𝑡</m:t>
                        </m:r>
                      </m:sub>
                    </m:sSub>
                  </m:oMath>
                </a14:m>
                <a:endParaRPr lang="en-AU" altLang="en-US" dirty="0"/>
              </a:p>
              <a:p>
                <a:pPr>
                  <a:lnSpc>
                    <a:spcPct val="120000"/>
                  </a:lnSpc>
                </a:pPr>
                <a:r>
                  <a:rPr lang="en-AU" altLang="en-US" dirty="0"/>
                  <a:t>In multiplicative decomposition </a:t>
                </a:r>
                <a14:m>
                  <m:oMath xmlns:m="http://schemas.openxmlformats.org/officeDocument/2006/math">
                    <m:f>
                      <m:fPr>
                        <m:ctrlPr>
                          <a:rPr lang="en-US" altLang="en-US" b="0" i="1" smtClean="0">
                            <a:latin typeface="Cambria Math" panose="02040503050406030204" pitchFamily="18" charset="0"/>
                          </a:rPr>
                        </m:ctrlPr>
                      </m:fPr>
                      <m:num>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𝑡</m:t>
                            </m:r>
                          </m:sub>
                        </m:sSub>
                      </m:num>
                      <m:den>
                        <m:sSub>
                          <m:sSubPr>
                            <m:ctrlPr>
                              <a:rPr lang="en-US" altLang="en-US" b="0" i="1" smtClean="0">
                                <a:latin typeface="Cambria Math" panose="02040503050406030204" pitchFamily="18" charset="0"/>
                              </a:rPr>
                            </m:ctrlPr>
                          </m:sSubPr>
                          <m:e>
                            <m:acc>
                              <m:accPr>
                                <m:chr m:val="̂"/>
                                <m:ctrlPr>
                                  <a:rPr lang="en-US" altLang="en-US" b="0" i="1" smtClean="0">
                                    <a:latin typeface="Cambria Math" panose="02040503050406030204" pitchFamily="18" charset="0"/>
                                  </a:rPr>
                                </m:ctrlPr>
                              </m:accPr>
                              <m:e>
                                <m:r>
                                  <a:rPr lang="en-US" altLang="en-US" b="0" i="1" smtClean="0">
                                    <a:latin typeface="Cambria Math" panose="02040503050406030204" pitchFamily="18" charset="0"/>
                                  </a:rPr>
                                  <m:t>𝑇</m:t>
                                </m:r>
                              </m:e>
                            </m:acc>
                          </m:e>
                          <m:sub>
                            <m:r>
                              <a:rPr lang="en-US" altLang="en-US" b="0" i="1" smtClean="0">
                                <a:latin typeface="Cambria Math" panose="02040503050406030204" pitchFamily="18" charset="0"/>
                              </a:rPr>
                              <m:t>𝑡</m:t>
                            </m:r>
                          </m:sub>
                        </m:sSub>
                      </m:den>
                    </m:f>
                    <m:sSub>
                      <m:sSubPr>
                        <m:ctrlPr>
                          <a:rPr lang="en-US" altLang="en-US" i="1">
                            <a:latin typeface="Cambria Math" panose="02040503050406030204" pitchFamily="18" charset="0"/>
                          </a:rPr>
                        </m:ctrlPr>
                      </m:sSubPr>
                      <m:e>
                        <m:r>
                          <a:rPr lang="en-US" altLang="en-US" b="0" i="1" smtClean="0">
                            <a:latin typeface="Cambria Math" panose="02040503050406030204" pitchFamily="18" charset="0"/>
                          </a:rPr>
                          <m:t>=</m:t>
                        </m:r>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𝑆</m:t>
                            </m:r>
                          </m:e>
                        </m:acc>
                      </m:e>
                      <m:sub>
                        <m:r>
                          <a:rPr lang="en-US" altLang="en-US" i="1">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𝑅</m:t>
                            </m:r>
                          </m:e>
                        </m:acc>
                      </m:e>
                      <m:sub>
                        <m:r>
                          <a:rPr lang="en-US" altLang="en-US" i="1">
                            <a:latin typeface="Cambria Math" panose="02040503050406030204" pitchFamily="18" charset="0"/>
                          </a:rPr>
                          <m:t>𝑡</m:t>
                        </m:r>
                      </m:sub>
                    </m:sSub>
                  </m:oMath>
                </a14:m>
                <a:endParaRPr lang="en-AU" altLang="en-US" dirty="0"/>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838200" y="1251284"/>
                <a:ext cx="10515600" cy="4948280"/>
              </a:xfrm>
              <a:blipFill>
                <a:blip r:embed="rId2"/>
                <a:stretch>
                  <a:fillRect l="-108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65D6C07-EDB2-707D-A893-97678BF22476}"/>
              </a:ext>
            </a:extLst>
          </p:cNvPr>
          <p:cNvSpPr>
            <a:spLocks noGrp="1"/>
          </p:cNvSpPr>
          <p:nvPr>
            <p:ph type="sldNum" sz="quarter" idx="12"/>
          </p:nvPr>
        </p:nvSpPr>
        <p:spPr/>
        <p:txBody>
          <a:bodyPr/>
          <a:lstStyle/>
          <a:p>
            <a:fld id="{F8D8F54C-053C-4394-9990-70DE256B1A6D}" type="slidenum">
              <a:rPr lang="nl-NL" smtClean="0"/>
              <a:t>24</a:t>
            </a:fld>
            <a:endParaRPr lang="nl-NL"/>
          </a:p>
        </p:txBody>
      </p:sp>
    </p:spTree>
    <p:extLst>
      <p:ext uri="{BB962C8B-B14F-4D97-AF65-F5344CB8AC3E}">
        <p14:creationId xmlns:p14="http://schemas.microsoft.com/office/powerpoint/2010/main" val="7204568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 Decomposition – Seasonal Component </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a:bodyPr>
              <a:lstStyle/>
              <a:p>
                <a:pPr>
                  <a:lnSpc>
                    <a:spcPct val="120000"/>
                  </a:lnSpc>
                </a:pPr>
                <a:r>
                  <a:rPr lang="en-US" altLang="en-US" dirty="0"/>
                  <a:t>Compute a seasonal index for each season over the past years </a:t>
                </a:r>
              </a:p>
              <a:p>
                <a:pPr lvl="1">
                  <a:lnSpc>
                    <a:spcPct val="120000"/>
                  </a:lnSpc>
                </a:pPr>
                <a:r>
                  <a:rPr lang="en-US" altLang="en-US" dirty="0"/>
                  <a:t>Per month </a:t>
                </a:r>
                <a14:m>
                  <m:oMath xmlns:m="http://schemas.openxmlformats.org/officeDocument/2006/math">
                    <m:r>
                      <a:rPr lang="en-US" altLang="en-US" i="1">
                        <a:latin typeface="Cambria Math" panose="02040503050406030204" pitchFamily="18" charset="0"/>
                      </a:rPr>
                      <m:t>{</m:t>
                    </m:r>
                    <m:sSup>
                      <m:sSupPr>
                        <m:ctrlPr>
                          <a:rPr lang="en-US" altLang="en-US" i="1">
                            <a:latin typeface="Cambria Math" panose="02040503050406030204" pitchFamily="18" charset="0"/>
                          </a:rPr>
                        </m:ctrlPr>
                      </m:sSupPr>
                      <m:e>
                        <m:acc>
                          <m:accPr>
                            <m:chr m:val="̂"/>
                            <m:ctrlPr>
                              <a:rPr lang="en-US" altLang="en-US" b="0" i="1" dirty="0" smtClean="0">
                                <a:latin typeface="Cambria Math" panose="02040503050406030204" pitchFamily="18" charset="0"/>
                              </a:rPr>
                            </m:ctrlPr>
                          </m:accPr>
                          <m:e>
                            <m:r>
                              <a:rPr lang="en-US" altLang="en-US" i="1">
                                <a:latin typeface="Cambria Math" panose="02040503050406030204" pitchFamily="18" charset="0"/>
                              </a:rPr>
                              <m:t>𝑆</m:t>
                            </m:r>
                          </m:e>
                        </m:acc>
                      </m:e>
                      <m:sup>
                        <m:d>
                          <m:dPr>
                            <m:ctrlPr>
                              <a:rPr lang="en-US" altLang="en-US" i="1">
                                <a:latin typeface="Cambria Math" panose="02040503050406030204" pitchFamily="18" charset="0"/>
                              </a:rPr>
                            </m:ctrlPr>
                          </m:dPr>
                          <m:e>
                            <m:r>
                              <a:rPr lang="en-US" altLang="en-US" i="1">
                                <a:latin typeface="Cambria Math" panose="02040503050406030204" pitchFamily="18" charset="0"/>
                              </a:rPr>
                              <m:t>1</m:t>
                            </m:r>
                          </m:e>
                        </m:d>
                      </m:sup>
                    </m:sSup>
                    <m:r>
                      <a:rPr lang="en-US" altLang="en-US" i="1">
                        <a:latin typeface="Cambria Math" panose="02040503050406030204" pitchFamily="18" charset="0"/>
                      </a:rPr>
                      <m:t>, …,</m:t>
                    </m:r>
                    <m:sSup>
                      <m:sSupPr>
                        <m:ctrlPr>
                          <a:rPr lang="en-US" altLang="en-US" i="1">
                            <a:latin typeface="Cambria Math" panose="02040503050406030204" pitchFamily="18" charset="0"/>
                          </a:rPr>
                        </m:ctrlPr>
                      </m:sSupPr>
                      <m:e>
                        <m:acc>
                          <m:accPr>
                            <m:chr m:val="̂"/>
                            <m:ctrlPr>
                              <a:rPr lang="en-US" altLang="en-US" i="1" dirty="0">
                                <a:latin typeface="Cambria Math" panose="02040503050406030204" pitchFamily="18" charset="0"/>
                              </a:rPr>
                            </m:ctrlPr>
                          </m:accPr>
                          <m:e>
                            <m:r>
                              <a:rPr lang="en-US" altLang="en-US" i="1">
                                <a:latin typeface="Cambria Math" panose="02040503050406030204" pitchFamily="18" charset="0"/>
                              </a:rPr>
                              <m:t>𝑆</m:t>
                            </m:r>
                          </m:e>
                        </m:acc>
                      </m:e>
                      <m:sup>
                        <m:d>
                          <m:dPr>
                            <m:ctrlPr>
                              <a:rPr lang="en-US" altLang="en-US" i="1">
                                <a:latin typeface="Cambria Math" panose="02040503050406030204" pitchFamily="18" charset="0"/>
                              </a:rPr>
                            </m:ctrlPr>
                          </m:dPr>
                          <m:e>
                            <m:r>
                              <a:rPr lang="en-US" altLang="en-US" i="1">
                                <a:latin typeface="Cambria Math" panose="02040503050406030204" pitchFamily="18" charset="0"/>
                              </a:rPr>
                              <m:t>1</m:t>
                            </m:r>
                            <m:r>
                              <a:rPr lang="en-US" altLang="en-US" b="0" i="1" smtClean="0">
                                <a:latin typeface="Cambria Math" panose="02040503050406030204" pitchFamily="18" charset="0"/>
                              </a:rPr>
                              <m:t>2</m:t>
                            </m:r>
                          </m:e>
                        </m:d>
                      </m:sup>
                    </m:sSup>
                    <m:r>
                      <a:rPr lang="en-US" altLang="en-US" i="1">
                        <a:latin typeface="Cambria Math" panose="02040503050406030204" pitchFamily="18" charset="0"/>
                      </a:rPr>
                      <m:t>} </m:t>
                    </m:r>
                  </m:oMath>
                </a14:m>
                <a:r>
                  <a:rPr lang="en-US" altLang="en-US" dirty="0"/>
                  <a:t> or quarter </a:t>
                </a:r>
                <a14:m>
                  <m:oMath xmlns:m="http://schemas.openxmlformats.org/officeDocument/2006/math">
                    <m:r>
                      <a:rPr lang="en-US" altLang="en-US" b="0" i="1" smtClean="0">
                        <a:latin typeface="Cambria Math" panose="02040503050406030204" pitchFamily="18" charset="0"/>
                      </a:rPr>
                      <m:t>{</m:t>
                    </m:r>
                    <m:sSup>
                      <m:sSupPr>
                        <m:ctrlPr>
                          <a:rPr lang="en-US" altLang="en-US" i="1">
                            <a:latin typeface="Cambria Math" panose="02040503050406030204" pitchFamily="18" charset="0"/>
                          </a:rPr>
                        </m:ctrlPr>
                      </m:sSupPr>
                      <m:e>
                        <m:acc>
                          <m:accPr>
                            <m:chr m:val="̂"/>
                            <m:ctrlPr>
                              <a:rPr lang="en-US" altLang="en-US" i="1" dirty="0">
                                <a:latin typeface="Cambria Math" panose="02040503050406030204" pitchFamily="18" charset="0"/>
                              </a:rPr>
                            </m:ctrlPr>
                          </m:accPr>
                          <m:e>
                            <m:r>
                              <a:rPr lang="en-US" altLang="en-US" i="1">
                                <a:latin typeface="Cambria Math" panose="02040503050406030204" pitchFamily="18" charset="0"/>
                              </a:rPr>
                              <m:t>𝑆</m:t>
                            </m:r>
                          </m:e>
                        </m:acc>
                      </m:e>
                      <m:sup>
                        <m:d>
                          <m:dPr>
                            <m:ctrlPr>
                              <a:rPr lang="en-US" altLang="en-US" i="1">
                                <a:latin typeface="Cambria Math" panose="02040503050406030204" pitchFamily="18" charset="0"/>
                              </a:rPr>
                            </m:ctrlPr>
                          </m:dPr>
                          <m:e>
                            <m:r>
                              <a:rPr lang="en-US" altLang="en-US" i="1">
                                <a:latin typeface="Cambria Math" panose="02040503050406030204" pitchFamily="18" charset="0"/>
                              </a:rPr>
                              <m:t>1</m:t>
                            </m:r>
                          </m:e>
                        </m:d>
                      </m:sup>
                    </m:sSup>
                    <m:r>
                      <a:rPr lang="en-US" altLang="en-US" b="0" i="1" smtClean="0">
                        <a:latin typeface="Cambria Math" panose="02040503050406030204" pitchFamily="18" charset="0"/>
                      </a:rPr>
                      <m:t>, …,</m:t>
                    </m:r>
                    <m:sSup>
                      <m:sSupPr>
                        <m:ctrlPr>
                          <a:rPr lang="en-US" altLang="en-US" i="1">
                            <a:latin typeface="Cambria Math" panose="02040503050406030204" pitchFamily="18" charset="0"/>
                          </a:rPr>
                        </m:ctrlPr>
                      </m:sSupPr>
                      <m:e>
                        <m:acc>
                          <m:accPr>
                            <m:chr m:val="̂"/>
                            <m:ctrlPr>
                              <a:rPr lang="en-US" altLang="en-US" i="1" dirty="0">
                                <a:latin typeface="Cambria Math" panose="02040503050406030204" pitchFamily="18" charset="0"/>
                              </a:rPr>
                            </m:ctrlPr>
                          </m:accPr>
                          <m:e>
                            <m:r>
                              <a:rPr lang="en-US" altLang="en-US" i="1">
                                <a:latin typeface="Cambria Math" panose="02040503050406030204" pitchFamily="18" charset="0"/>
                              </a:rPr>
                              <m:t>𝑆</m:t>
                            </m:r>
                          </m:e>
                        </m:acc>
                      </m:e>
                      <m:sup>
                        <m:d>
                          <m:dPr>
                            <m:ctrlPr>
                              <a:rPr lang="en-US" altLang="en-US" i="1">
                                <a:latin typeface="Cambria Math" panose="02040503050406030204" pitchFamily="18" charset="0"/>
                              </a:rPr>
                            </m:ctrlPr>
                          </m:dPr>
                          <m:e>
                            <m:r>
                              <a:rPr lang="en-US" altLang="en-US" b="0" i="1" smtClean="0">
                                <a:latin typeface="Cambria Math" panose="02040503050406030204" pitchFamily="18" charset="0"/>
                              </a:rPr>
                              <m:t>4</m:t>
                            </m:r>
                          </m:e>
                        </m:d>
                      </m:sup>
                    </m:sSup>
                    <m:r>
                      <a:rPr lang="en-US" altLang="en-US" b="0" i="1" smtClean="0">
                        <a:latin typeface="Cambria Math" panose="02040503050406030204" pitchFamily="18" charset="0"/>
                      </a:rPr>
                      <m:t>}</m:t>
                    </m:r>
                  </m:oMath>
                </a14:m>
                <a:r>
                  <a:rPr lang="en-AU" altLang="en-US" dirty="0"/>
                  <a:t>, …</a:t>
                </a:r>
              </a:p>
              <a:p>
                <a:pPr>
                  <a:lnSpc>
                    <a:spcPct val="120000"/>
                  </a:lnSpc>
                </a:pPr>
                <a:r>
                  <a:rPr lang="en-AU" altLang="en-US" dirty="0"/>
                  <a:t>If necessary, adjust the indices so that:</a:t>
                </a:r>
              </a:p>
              <a:p>
                <a:pPr lvl="1">
                  <a:lnSpc>
                    <a:spcPct val="120000"/>
                  </a:lnSpc>
                </a:pPr>
                <a:r>
                  <a:rPr lang="en-AU" altLang="en-US" dirty="0"/>
                  <a:t>For additive decomposition </a:t>
                </a:r>
                <a14:m>
                  <m:oMath xmlns:m="http://schemas.openxmlformats.org/officeDocument/2006/math">
                    <m:sSup>
                      <m:sSupPr>
                        <m:ctrlPr>
                          <a:rPr lang="en-US" altLang="en-US" i="1">
                            <a:latin typeface="Cambria Math" panose="02040503050406030204" pitchFamily="18" charset="0"/>
                          </a:rPr>
                        </m:ctrlPr>
                      </m:sSupPr>
                      <m:e>
                        <m:acc>
                          <m:accPr>
                            <m:chr m:val="̂"/>
                            <m:ctrlPr>
                              <a:rPr lang="en-US" altLang="en-US" i="1" dirty="0">
                                <a:latin typeface="Cambria Math" panose="02040503050406030204" pitchFamily="18" charset="0"/>
                              </a:rPr>
                            </m:ctrlPr>
                          </m:accPr>
                          <m:e>
                            <m:r>
                              <a:rPr lang="en-US" altLang="en-US" i="1">
                                <a:latin typeface="Cambria Math" panose="02040503050406030204" pitchFamily="18" charset="0"/>
                              </a:rPr>
                              <m:t>𝑆</m:t>
                            </m:r>
                          </m:e>
                        </m:acc>
                      </m:e>
                      <m:sup>
                        <m:d>
                          <m:dPr>
                            <m:ctrlPr>
                              <a:rPr lang="en-US" altLang="en-US" i="1">
                                <a:latin typeface="Cambria Math" panose="02040503050406030204" pitchFamily="18" charset="0"/>
                              </a:rPr>
                            </m:ctrlPr>
                          </m:dPr>
                          <m:e>
                            <m:r>
                              <a:rPr lang="en-US" altLang="en-US" i="1">
                                <a:latin typeface="Cambria Math" panose="02040503050406030204" pitchFamily="18" charset="0"/>
                              </a:rPr>
                              <m:t>1</m:t>
                            </m:r>
                          </m:e>
                        </m:d>
                      </m:sup>
                    </m:sSup>
                    <m:r>
                      <a:rPr lang="en-US" altLang="en-US" b="0" i="1" smtClean="0">
                        <a:latin typeface="Cambria Math" panose="02040503050406030204" pitchFamily="18" charset="0"/>
                      </a:rPr>
                      <m:t>+</m:t>
                    </m:r>
                    <m:r>
                      <a:rPr lang="en-US" altLang="en-US" i="1">
                        <a:latin typeface="Cambria Math" panose="02040503050406030204" pitchFamily="18" charset="0"/>
                      </a:rPr>
                      <m:t>…</m:t>
                    </m:r>
                    <m:r>
                      <a:rPr lang="en-US" altLang="en-US" b="0" i="1" smtClean="0">
                        <a:latin typeface="Cambria Math" panose="02040503050406030204" pitchFamily="18" charset="0"/>
                      </a:rPr>
                      <m:t>+</m:t>
                    </m:r>
                    <m:sSup>
                      <m:sSupPr>
                        <m:ctrlPr>
                          <a:rPr lang="en-US" altLang="en-US" i="1">
                            <a:latin typeface="Cambria Math" panose="02040503050406030204" pitchFamily="18" charset="0"/>
                          </a:rPr>
                        </m:ctrlPr>
                      </m:sSupPr>
                      <m:e>
                        <m:acc>
                          <m:accPr>
                            <m:chr m:val="̂"/>
                            <m:ctrlPr>
                              <a:rPr lang="en-US" altLang="en-US" i="1" dirty="0">
                                <a:latin typeface="Cambria Math" panose="02040503050406030204" pitchFamily="18" charset="0"/>
                              </a:rPr>
                            </m:ctrlPr>
                          </m:accPr>
                          <m:e>
                            <m:r>
                              <a:rPr lang="en-US" altLang="en-US" i="1">
                                <a:latin typeface="Cambria Math" panose="02040503050406030204" pitchFamily="18" charset="0"/>
                              </a:rPr>
                              <m:t>𝑆</m:t>
                            </m:r>
                          </m:e>
                        </m:acc>
                      </m:e>
                      <m:sup>
                        <m:d>
                          <m:dPr>
                            <m:ctrlPr>
                              <a:rPr lang="en-US" altLang="en-US" i="1">
                                <a:latin typeface="Cambria Math" panose="02040503050406030204" pitchFamily="18" charset="0"/>
                              </a:rPr>
                            </m:ctrlPr>
                          </m:dPr>
                          <m:e>
                            <m:r>
                              <a:rPr lang="en-US" altLang="en-US" b="0" i="1" smtClean="0">
                                <a:latin typeface="Cambria Math" panose="02040503050406030204" pitchFamily="18" charset="0"/>
                              </a:rPr>
                              <m:t>𝑚</m:t>
                            </m:r>
                          </m:e>
                        </m:d>
                      </m:sup>
                    </m:sSup>
                    <m:r>
                      <a:rPr lang="en-US" altLang="en-US" b="0" i="1" smtClean="0">
                        <a:latin typeface="Cambria Math" panose="02040503050406030204" pitchFamily="18" charset="0"/>
                      </a:rPr>
                      <m:t>=0</m:t>
                    </m:r>
                  </m:oMath>
                </a14:m>
                <a:r>
                  <a:rPr lang="en-AU" altLang="en-US" dirty="0"/>
                  <a:t>, </a:t>
                </a:r>
                <a14:m>
                  <m:oMath xmlns:m="http://schemas.openxmlformats.org/officeDocument/2006/math">
                    <m:r>
                      <a:rPr lang="en-US" altLang="en-US" b="0" i="1" smtClean="0">
                        <a:latin typeface="Cambria Math" panose="02040503050406030204" pitchFamily="18" charset="0"/>
                      </a:rPr>
                      <m:t>𝑚</m:t>
                    </m:r>
                  </m:oMath>
                </a14:m>
                <a:r>
                  <a:rPr lang="en-AU" altLang="en-US" dirty="0"/>
                  <a:t> = number of seasons</a:t>
                </a:r>
              </a:p>
              <a:p>
                <a:pPr lvl="1">
                  <a:lnSpc>
                    <a:spcPct val="120000"/>
                  </a:lnSpc>
                </a:pPr>
                <a:r>
                  <a:rPr lang="en-AU" altLang="en-US" dirty="0"/>
                  <a:t>For multiplicative decomposition </a:t>
                </a:r>
                <a14:m>
                  <m:oMath xmlns:m="http://schemas.openxmlformats.org/officeDocument/2006/math">
                    <m:sSup>
                      <m:sSupPr>
                        <m:ctrlPr>
                          <a:rPr lang="en-US" altLang="en-US" i="1">
                            <a:latin typeface="Cambria Math" panose="02040503050406030204" pitchFamily="18" charset="0"/>
                          </a:rPr>
                        </m:ctrlPr>
                      </m:sSupPr>
                      <m:e>
                        <m:acc>
                          <m:accPr>
                            <m:chr m:val="̂"/>
                            <m:ctrlPr>
                              <a:rPr lang="en-US" altLang="en-US" i="1" dirty="0">
                                <a:latin typeface="Cambria Math" panose="02040503050406030204" pitchFamily="18" charset="0"/>
                              </a:rPr>
                            </m:ctrlPr>
                          </m:accPr>
                          <m:e>
                            <m:r>
                              <a:rPr lang="en-US" altLang="en-US" i="1">
                                <a:latin typeface="Cambria Math" panose="02040503050406030204" pitchFamily="18" charset="0"/>
                              </a:rPr>
                              <m:t>𝑆</m:t>
                            </m:r>
                          </m:e>
                        </m:acc>
                      </m:e>
                      <m:sup>
                        <m:d>
                          <m:dPr>
                            <m:ctrlPr>
                              <a:rPr lang="en-US" altLang="en-US" i="1">
                                <a:latin typeface="Cambria Math" panose="02040503050406030204" pitchFamily="18" charset="0"/>
                              </a:rPr>
                            </m:ctrlPr>
                          </m:dPr>
                          <m:e>
                            <m:r>
                              <a:rPr lang="en-US" altLang="en-US" i="1">
                                <a:latin typeface="Cambria Math" panose="02040503050406030204" pitchFamily="18" charset="0"/>
                              </a:rPr>
                              <m:t>1</m:t>
                            </m:r>
                          </m:e>
                        </m:d>
                      </m:sup>
                    </m:sSup>
                    <m:r>
                      <a:rPr lang="en-US" altLang="en-US" b="0" i="1" smtClean="0">
                        <a:latin typeface="Cambria Math" panose="02040503050406030204" pitchFamily="18" charset="0"/>
                      </a:rPr>
                      <m:t>+</m:t>
                    </m:r>
                    <m:r>
                      <a:rPr lang="en-US" altLang="en-US" i="1">
                        <a:latin typeface="Cambria Math" panose="02040503050406030204" pitchFamily="18" charset="0"/>
                      </a:rPr>
                      <m:t>…</m:t>
                    </m:r>
                    <m:r>
                      <a:rPr lang="en-US" altLang="en-US" b="0" i="1" smtClean="0">
                        <a:latin typeface="Cambria Math" panose="02040503050406030204" pitchFamily="18" charset="0"/>
                      </a:rPr>
                      <m:t>+</m:t>
                    </m:r>
                    <m:sSup>
                      <m:sSupPr>
                        <m:ctrlPr>
                          <a:rPr lang="en-US" altLang="en-US" i="1">
                            <a:latin typeface="Cambria Math" panose="02040503050406030204" pitchFamily="18" charset="0"/>
                          </a:rPr>
                        </m:ctrlPr>
                      </m:sSupPr>
                      <m:e>
                        <m:acc>
                          <m:accPr>
                            <m:chr m:val="̂"/>
                            <m:ctrlPr>
                              <a:rPr lang="en-US" altLang="en-US" i="1" dirty="0">
                                <a:latin typeface="Cambria Math" panose="02040503050406030204" pitchFamily="18" charset="0"/>
                              </a:rPr>
                            </m:ctrlPr>
                          </m:accPr>
                          <m:e>
                            <m:r>
                              <a:rPr lang="en-US" altLang="en-US" i="1">
                                <a:latin typeface="Cambria Math" panose="02040503050406030204" pitchFamily="18" charset="0"/>
                              </a:rPr>
                              <m:t>𝑆</m:t>
                            </m:r>
                          </m:e>
                        </m:acc>
                      </m:e>
                      <m:sup>
                        <m:d>
                          <m:dPr>
                            <m:ctrlPr>
                              <a:rPr lang="en-US" altLang="en-US" i="1">
                                <a:latin typeface="Cambria Math" panose="02040503050406030204" pitchFamily="18" charset="0"/>
                              </a:rPr>
                            </m:ctrlPr>
                          </m:dPr>
                          <m:e>
                            <m:r>
                              <a:rPr lang="en-US" altLang="en-US" b="0" i="1" smtClean="0">
                                <a:latin typeface="Cambria Math" panose="02040503050406030204" pitchFamily="18" charset="0"/>
                              </a:rPr>
                              <m:t>𝑚</m:t>
                            </m:r>
                          </m:e>
                        </m:d>
                      </m:sup>
                    </m:sSup>
                    <m:r>
                      <a:rPr lang="en-US" altLang="en-US" b="0" i="1" smtClean="0">
                        <a:latin typeface="Cambria Math" panose="02040503050406030204" pitchFamily="18" charset="0"/>
                      </a:rPr>
                      <m:t>=</m:t>
                    </m:r>
                    <m:r>
                      <a:rPr lang="en-US" altLang="en-US" b="0" i="1" smtClean="0">
                        <a:latin typeface="Cambria Math" panose="02040503050406030204" pitchFamily="18" charset="0"/>
                      </a:rPr>
                      <m:t>𝑚</m:t>
                    </m:r>
                  </m:oMath>
                </a14:m>
                <a:endParaRPr lang="en-AU" altLang="en-US" dirty="0"/>
              </a:p>
              <a:p>
                <a:pPr>
                  <a:lnSpc>
                    <a:spcPct val="120000"/>
                  </a:lnSpc>
                </a:pPr>
                <a:endParaRPr lang="en-AU" altLang="en-US" dirty="0"/>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838200" y="1251284"/>
                <a:ext cx="10515600" cy="4948280"/>
              </a:xfrm>
              <a:blipFill>
                <a:blip r:embed="rId2"/>
                <a:stretch>
                  <a:fillRect l="-1086" t="-25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24119EF-20D7-1D25-173F-B055BC79CC67}"/>
              </a:ext>
            </a:extLst>
          </p:cNvPr>
          <p:cNvSpPr>
            <a:spLocks noGrp="1"/>
          </p:cNvSpPr>
          <p:nvPr>
            <p:ph type="sldNum" sz="quarter" idx="12"/>
          </p:nvPr>
        </p:nvSpPr>
        <p:spPr/>
        <p:txBody>
          <a:bodyPr/>
          <a:lstStyle/>
          <a:p>
            <a:fld id="{F8D8F54C-053C-4394-9990-70DE256B1A6D}" type="slidenum">
              <a:rPr lang="nl-NL" smtClean="0"/>
              <a:t>25</a:t>
            </a:fld>
            <a:endParaRPr lang="nl-NL"/>
          </a:p>
        </p:txBody>
      </p:sp>
    </p:spTree>
    <p:extLst>
      <p:ext uri="{BB962C8B-B14F-4D97-AF65-F5344CB8AC3E}">
        <p14:creationId xmlns:p14="http://schemas.microsoft.com/office/powerpoint/2010/main" val="1381177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 Decomposition – Remainder Component </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a:bodyPr>
              <a:lstStyle/>
              <a:p>
                <a:pPr>
                  <a:lnSpc>
                    <a:spcPct val="120000"/>
                  </a:lnSpc>
                </a:pPr>
                <a:r>
                  <a:rPr lang="en-US" altLang="en-US" dirty="0"/>
                  <a:t>For additive decomposition </a:t>
                </a:r>
                <a14:m>
                  <m:oMath xmlns:m="http://schemas.openxmlformats.org/officeDocument/2006/math">
                    <m:sSub>
                      <m:sSubPr>
                        <m:ctrlPr>
                          <a:rPr lang="en-US" altLang="en-US" b="0" i="1" dirty="0" smtClean="0">
                            <a:latin typeface="Cambria Math" panose="02040503050406030204" pitchFamily="18" charset="0"/>
                          </a:rPr>
                        </m:ctrlPr>
                      </m:sSubPr>
                      <m:e>
                        <m:acc>
                          <m:accPr>
                            <m:chr m:val="̂"/>
                            <m:ctrlPr>
                              <a:rPr lang="en-US" altLang="en-US" i="1" smtClean="0">
                                <a:latin typeface="Cambria Math" panose="02040503050406030204" pitchFamily="18" charset="0"/>
                              </a:rPr>
                            </m:ctrlPr>
                          </m:accPr>
                          <m:e>
                            <m:r>
                              <a:rPr lang="en-US" altLang="en-US" b="0" i="1" smtClean="0">
                                <a:latin typeface="Cambria Math" panose="02040503050406030204" pitchFamily="18" charset="0"/>
                              </a:rPr>
                              <m:t>𝑅</m:t>
                            </m:r>
                          </m:e>
                        </m:acc>
                      </m:e>
                      <m:sub>
                        <m:r>
                          <a:rPr lang="en-US" altLang="en-US" b="0" i="1" dirty="0" smtClean="0">
                            <a:latin typeface="Cambria Math" panose="02040503050406030204" pitchFamily="18" charset="0"/>
                          </a:rPr>
                          <m:t>𝑡</m:t>
                        </m:r>
                      </m:sub>
                    </m:sSub>
                    <m:r>
                      <a:rPr lang="en-US" altLang="en-US" b="0" i="1" dirty="0" smtClean="0">
                        <a:latin typeface="Cambria Math" panose="02040503050406030204" pitchFamily="18" charset="0"/>
                      </a:rPr>
                      <m:t>=</m:t>
                    </m:r>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𝑦</m:t>
                        </m:r>
                      </m:e>
                      <m:sub>
                        <m:r>
                          <a:rPr lang="en-US" altLang="en-US" b="0" i="1" dirty="0" smtClean="0">
                            <a:latin typeface="Cambria Math" panose="02040503050406030204" pitchFamily="18" charset="0"/>
                          </a:rPr>
                          <m:t>𝑡</m:t>
                        </m:r>
                      </m:sub>
                    </m:sSub>
                    <m:r>
                      <a:rPr lang="en-US" altLang="en-US" b="0" i="1" dirty="0" smtClean="0">
                        <a:latin typeface="Cambria Math" panose="02040503050406030204" pitchFamily="18" charset="0"/>
                      </a:rPr>
                      <m:t>−</m:t>
                    </m:r>
                    <m:sSub>
                      <m:sSubPr>
                        <m:ctrlPr>
                          <a:rPr lang="en-US" altLang="en-US" b="0" i="1" dirty="0" smtClean="0">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𝑇</m:t>
                            </m:r>
                          </m:e>
                        </m:acc>
                      </m:e>
                      <m:sub>
                        <m:r>
                          <a:rPr lang="en-US" altLang="en-US" b="0" i="1" dirty="0" smtClean="0">
                            <a:latin typeface="Cambria Math" panose="02040503050406030204" pitchFamily="18" charset="0"/>
                          </a:rPr>
                          <m:t>𝑡</m:t>
                        </m:r>
                      </m:sub>
                    </m:sSub>
                    <m:r>
                      <a:rPr lang="en-US" altLang="en-US" b="0" i="1" dirty="0" smtClean="0">
                        <a:latin typeface="Cambria Math" panose="02040503050406030204" pitchFamily="18" charset="0"/>
                      </a:rPr>
                      <m:t>−</m:t>
                    </m:r>
                    <m:sSub>
                      <m:sSubPr>
                        <m:ctrlPr>
                          <a:rPr lang="en-US" altLang="en-US" b="0" i="1" dirty="0" smtClean="0">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𝑆</m:t>
                            </m:r>
                          </m:e>
                        </m:acc>
                      </m:e>
                      <m:sub>
                        <m:r>
                          <a:rPr lang="en-US" altLang="en-US" b="0" i="1" dirty="0" smtClean="0">
                            <a:latin typeface="Cambria Math" panose="02040503050406030204" pitchFamily="18" charset="0"/>
                          </a:rPr>
                          <m:t>𝑡</m:t>
                        </m:r>
                      </m:sub>
                    </m:sSub>
                  </m:oMath>
                </a14:m>
                <a:r>
                  <a:rPr lang="en-AU" altLang="en-US" dirty="0"/>
                  <a:t> </a:t>
                </a:r>
              </a:p>
              <a:p>
                <a:pPr>
                  <a:lnSpc>
                    <a:spcPct val="120000"/>
                  </a:lnSpc>
                </a:pPr>
                <a:r>
                  <a:rPr lang="en-AU" altLang="en-US" dirty="0"/>
                  <a:t>For multiplicative decomposition </a:t>
                </a:r>
                <a14:m>
                  <m:oMath xmlns:m="http://schemas.openxmlformats.org/officeDocument/2006/math">
                    <m:sSub>
                      <m:sSubPr>
                        <m:ctrlPr>
                          <a:rPr lang="en-US" altLang="en-US" b="0" i="1" dirty="0" smtClean="0">
                            <a:latin typeface="Cambria Math" panose="02040503050406030204" pitchFamily="18" charset="0"/>
                          </a:rPr>
                        </m:ctrlPr>
                      </m:sSubPr>
                      <m:e>
                        <m:acc>
                          <m:accPr>
                            <m:chr m:val="̂"/>
                            <m:ctrlPr>
                              <a:rPr lang="en-US" altLang="en-US" i="1" smtClean="0">
                                <a:latin typeface="Cambria Math" panose="02040503050406030204" pitchFamily="18" charset="0"/>
                              </a:rPr>
                            </m:ctrlPr>
                          </m:accPr>
                          <m:e>
                            <m:r>
                              <a:rPr lang="en-US" altLang="en-US" b="0" i="1" smtClean="0">
                                <a:latin typeface="Cambria Math" panose="02040503050406030204" pitchFamily="18" charset="0"/>
                              </a:rPr>
                              <m:t>𝑅</m:t>
                            </m:r>
                          </m:e>
                        </m:acc>
                      </m:e>
                      <m:sub>
                        <m:r>
                          <a:rPr lang="en-US" altLang="en-US" b="0" i="1" dirty="0" smtClean="0">
                            <a:latin typeface="Cambria Math" panose="02040503050406030204" pitchFamily="18" charset="0"/>
                          </a:rPr>
                          <m:t>𝑡</m:t>
                        </m:r>
                      </m:sub>
                    </m:sSub>
                    <m:r>
                      <a:rPr lang="en-US" altLang="en-US" b="0" i="1" dirty="0" smtClean="0">
                        <a:latin typeface="Cambria Math" panose="02040503050406030204" pitchFamily="18" charset="0"/>
                      </a:rPr>
                      <m:t>=</m:t>
                    </m:r>
                    <m:f>
                      <m:fPr>
                        <m:ctrlPr>
                          <a:rPr lang="en-US" altLang="en-US" b="0" i="1" dirty="0" smtClean="0">
                            <a:latin typeface="Cambria Math" panose="02040503050406030204" pitchFamily="18" charset="0"/>
                          </a:rPr>
                        </m:ctrlPr>
                      </m:fPr>
                      <m:num>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𝑦</m:t>
                            </m:r>
                          </m:e>
                          <m:sub>
                            <m:r>
                              <a:rPr lang="en-US" altLang="en-US" b="0" i="1" dirty="0" smtClean="0">
                                <a:latin typeface="Cambria Math" panose="02040503050406030204" pitchFamily="18" charset="0"/>
                              </a:rPr>
                              <m:t>𝑡</m:t>
                            </m:r>
                          </m:sub>
                        </m:sSub>
                      </m:num>
                      <m:den>
                        <m:sSub>
                          <m:sSubPr>
                            <m:ctrlPr>
                              <a:rPr lang="en-US" altLang="en-US" b="0" i="1" dirty="0" smtClean="0">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𝑇</m:t>
                                </m:r>
                              </m:e>
                            </m:acc>
                          </m:e>
                          <m:sub>
                            <m:r>
                              <a:rPr lang="en-US" altLang="en-US" b="0" i="1" dirty="0" smtClean="0">
                                <a:latin typeface="Cambria Math" panose="02040503050406030204" pitchFamily="18" charset="0"/>
                              </a:rPr>
                              <m:t>𝑡</m:t>
                            </m:r>
                          </m:sub>
                        </m:sSub>
                        <m:sSub>
                          <m:sSubPr>
                            <m:ctrlPr>
                              <a:rPr lang="en-US" altLang="en-US" b="0" i="1" dirty="0" smtClean="0">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𝑆</m:t>
                                </m:r>
                              </m:e>
                            </m:acc>
                          </m:e>
                          <m:sub>
                            <m:r>
                              <a:rPr lang="en-US" altLang="en-US" b="0" i="1" dirty="0" smtClean="0">
                                <a:latin typeface="Cambria Math" panose="02040503050406030204" pitchFamily="18" charset="0"/>
                              </a:rPr>
                              <m:t>𝑡</m:t>
                            </m:r>
                          </m:sub>
                        </m:sSub>
                      </m:den>
                    </m:f>
                  </m:oMath>
                </a14:m>
                <a:endParaRPr lang="en-AU" altLang="en-US" dirty="0"/>
              </a:p>
              <a:p>
                <a:pPr>
                  <a:lnSpc>
                    <a:spcPct val="120000"/>
                  </a:lnSpc>
                </a:pPr>
                <a:endParaRPr lang="en-AU" altLang="en-US" dirty="0"/>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838200" y="1251284"/>
                <a:ext cx="10515600" cy="4948280"/>
              </a:xfrm>
              <a:blipFill>
                <a:blip r:embed="rId2"/>
                <a:stretch>
                  <a:fillRect l="-108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57DBDCC-8145-BB54-7F03-A632A35ACBE5}"/>
              </a:ext>
            </a:extLst>
          </p:cNvPr>
          <p:cNvSpPr>
            <a:spLocks noGrp="1"/>
          </p:cNvSpPr>
          <p:nvPr>
            <p:ph type="sldNum" sz="quarter" idx="12"/>
          </p:nvPr>
        </p:nvSpPr>
        <p:spPr/>
        <p:txBody>
          <a:bodyPr/>
          <a:lstStyle/>
          <a:p>
            <a:fld id="{F8D8F54C-053C-4394-9990-70DE256B1A6D}" type="slidenum">
              <a:rPr lang="nl-NL" smtClean="0"/>
              <a:t>26</a:t>
            </a:fld>
            <a:endParaRPr lang="nl-NL"/>
          </a:p>
        </p:txBody>
      </p:sp>
    </p:spTree>
    <p:extLst>
      <p:ext uri="{BB962C8B-B14F-4D97-AF65-F5344CB8AC3E}">
        <p14:creationId xmlns:p14="http://schemas.microsoft.com/office/powerpoint/2010/main" val="403334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ADA9AE1-E48B-DAAF-5775-41DA4B619F78}"/>
              </a:ext>
            </a:extLst>
          </p:cNvPr>
          <p:cNvSpPr txBox="1"/>
          <p:nvPr/>
        </p:nvSpPr>
        <p:spPr>
          <a:xfrm>
            <a:off x="890587" y="519944"/>
            <a:ext cx="10182225" cy="2585323"/>
          </a:xfrm>
          <a:prstGeom prst="rect">
            <a:avLst/>
          </a:prstGeom>
          <a:noFill/>
        </p:spPr>
        <p:txBody>
          <a:bodyPr wrap="square" rtlCol="0">
            <a:spAutoFit/>
          </a:bodyPr>
          <a:lstStyle/>
          <a:p>
            <a:r>
              <a:rPr lang="en-GB" b="0" dirty="0">
                <a:solidFill>
                  <a:srgbClr val="AF00DB"/>
                </a:solidFill>
                <a:effectLst/>
                <a:latin typeface="Courier New" panose="02070309020205020404" pitchFamily="49" charset="0"/>
              </a:rPr>
              <a:t>from</a:t>
            </a:r>
            <a:r>
              <a:rPr lang="en-GB" b="0" dirty="0">
                <a:solidFill>
                  <a:srgbClr val="000000"/>
                </a:solidFill>
                <a:effectLst/>
                <a:latin typeface="Courier New" panose="02070309020205020404" pitchFamily="49" charset="0"/>
              </a:rPr>
              <a:t> pandas </a:t>
            </a:r>
            <a:r>
              <a:rPr lang="en-GB" b="0" dirty="0">
                <a:solidFill>
                  <a:srgbClr val="AF00DB"/>
                </a:solidFill>
                <a:effectLst/>
                <a:latin typeface="Courier New" panose="02070309020205020404" pitchFamily="49" charset="0"/>
              </a:rPr>
              <a:t>import</a:t>
            </a:r>
            <a:r>
              <a:rPr lang="en-GB" b="0" dirty="0">
                <a:solidFill>
                  <a:srgbClr val="000000"/>
                </a:solidFill>
                <a:effectLst/>
                <a:latin typeface="Courier New" panose="02070309020205020404" pitchFamily="49" charset="0"/>
              </a:rPr>
              <a:t> Series</a:t>
            </a:r>
          </a:p>
          <a:p>
            <a:r>
              <a:rPr lang="en-GB" b="0" dirty="0">
                <a:solidFill>
                  <a:srgbClr val="AF00DB"/>
                </a:solidFill>
                <a:effectLst/>
                <a:latin typeface="Courier New" panose="02070309020205020404" pitchFamily="49" charset="0"/>
              </a:rPr>
              <a:t>from</a:t>
            </a:r>
            <a:r>
              <a:rPr lang="en-GB" b="0" dirty="0">
                <a:solidFill>
                  <a:srgbClr val="000000"/>
                </a:solidFill>
                <a:effectLst/>
                <a:latin typeface="Courier New" panose="02070309020205020404" pitchFamily="49" charset="0"/>
              </a:rPr>
              <a:t> matplotlib </a:t>
            </a:r>
            <a:r>
              <a:rPr lang="en-GB" b="0" dirty="0">
                <a:solidFill>
                  <a:srgbClr val="AF00DB"/>
                </a:solidFill>
                <a:effectLst/>
                <a:latin typeface="Courier New" panose="02070309020205020404" pitchFamily="49" charset="0"/>
              </a:rPr>
              <a:t>import</a:t>
            </a:r>
            <a:r>
              <a:rPr lang="en-GB" b="0" dirty="0">
                <a:solidFill>
                  <a:srgbClr val="000000"/>
                </a:solidFill>
                <a:effectLst/>
                <a:latin typeface="Courier New" panose="02070309020205020404" pitchFamily="49" charset="0"/>
              </a:rPr>
              <a:t> </a:t>
            </a:r>
            <a:r>
              <a:rPr lang="en-GB" b="0" dirty="0" err="1">
                <a:solidFill>
                  <a:srgbClr val="000000"/>
                </a:solidFill>
                <a:effectLst/>
                <a:latin typeface="Courier New" panose="02070309020205020404" pitchFamily="49" charset="0"/>
              </a:rPr>
              <a:t>pyplot</a:t>
            </a:r>
            <a:r>
              <a:rPr lang="en-GB" b="0" dirty="0">
                <a:solidFill>
                  <a:srgbClr val="000000"/>
                </a:solidFill>
                <a:effectLst/>
                <a:latin typeface="Courier New" panose="02070309020205020404" pitchFamily="49" charset="0"/>
              </a:rPr>
              <a:t> </a:t>
            </a:r>
            <a:r>
              <a:rPr lang="en-GB" b="0" dirty="0">
                <a:solidFill>
                  <a:srgbClr val="AF00DB"/>
                </a:solidFill>
                <a:effectLst/>
                <a:latin typeface="Courier New" panose="02070309020205020404" pitchFamily="49" charset="0"/>
              </a:rPr>
              <a:t>as</a:t>
            </a:r>
            <a:r>
              <a:rPr lang="en-GB" b="0" dirty="0">
                <a:solidFill>
                  <a:srgbClr val="000000"/>
                </a:solidFill>
                <a:effectLst/>
                <a:latin typeface="Courier New" panose="02070309020205020404" pitchFamily="49" charset="0"/>
              </a:rPr>
              <a:t> </a:t>
            </a:r>
            <a:r>
              <a:rPr lang="en-GB" b="0" dirty="0" err="1">
                <a:solidFill>
                  <a:srgbClr val="000000"/>
                </a:solidFill>
                <a:effectLst/>
                <a:latin typeface="Courier New" panose="02070309020205020404" pitchFamily="49" charset="0"/>
              </a:rPr>
              <a:t>plt</a:t>
            </a:r>
            <a:endParaRPr lang="en-GB" b="0" dirty="0">
              <a:solidFill>
                <a:srgbClr val="000000"/>
              </a:solidFill>
              <a:effectLst/>
              <a:latin typeface="Courier New" panose="02070309020205020404" pitchFamily="49" charset="0"/>
            </a:endParaRPr>
          </a:p>
          <a:p>
            <a:r>
              <a:rPr lang="en-GB" b="0" dirty="0">
                <a:solidFill>
                  <a:srgbClr val="AF00DB"/>
                </a:solidFill>
                <a:effectLst/>
                <a:latin typeface="Courier New" panose="02070309020205020404" pitchFamily="49" charset="0"/>
              </a:rPr>
              <a:t>from</a:t>
            </a:r>
            <a:r>
              <a:rPr lang="en-GB" b="0" dirty="0">
                <a:solidFill>
                  <a:srgbClr val="000000"/>
                </a:solidFill>
                <a:effectLst/>
                <a:latin typeface="Courier New" panose="02070309020205020404" pitchFamily="49" charset="0"/>
              </a:rPr>
              <a:t> </a:t>
            </a:r>
            <a:r>
              <a:rPr lang="en-GB" b="0" dirty="0" err="1">
                <a:solidFill>
                  <a:srgbClr val="000000"/>
                </a:solidFill>
                <a:effectLst/>
                <a:latin typeface="Courier New" panose="02070309020205020404" pitchFamily="49" charset="0"/>
              </a:rPr>
              <a:t>statsmodels.tsa.seasonal</a:t>
            </a:r>
            <a:r>
              <a:rPr lang="en-GB" b="0" dirty="0">
                <a:solidFill>
                  <a:srgbClr val="000000"/>
                </a:solidFill>
                <a:effectLst/>
                <a:latin typeface="Courier New" panose="02070309020205020404" pitchFamily="49" charset="0"/>
              </a:rPr>
              <a:t> </a:t>
            </a:r>
            <a:r>
              <a:rPr lang="en-GB" b="0" dirty="0">
                <a:solidFill>
                  <a:srgbClr val="AF00DB"/>
                </a:solidFill>
                <a:effectLst/>
                <a:latin typeface="Courier New" panose="02070309020205020404" pitchFamily="49" charset="0"/>
              </a:rPr>
              <a:t>import</a:t>
            </a:r>
            <a:r>
              <a:rPr lang="en-GB" b="0" dirty="0">
                <a:solidFill>
                  <a:srgbClr val="000000"/>
                </a:solidFill>
                <a:effectLst/>
                <a:latin typeface="Courier New" panose="02070309020205020404" pitchFamily="49" charset="0"/>
              </a:rPr>
              <a:t> </a:t>
            </a:r>
            <a:r>
              <a:rPr lang="en-GB" b="0" dirty="0" err="1">
                <a:solidFill>
                  <a:srgbClr val="000000"/>
                </a:solidFill>
                <a:effectLst/>
                <a:latin typeface="Courier New" panose="02070309020205020404" pitchFamily="49" charset="0"/>
              </a:rPr>
              <a:t>seasonal_decompose</a:t>
            </a:r>
            <a:endParaRPr lang="en-GB" b="0" dirty="0">
              <a:solidFill>
                <a:srgbClr val="000000"/>
              </a:solidFill>
              <a:effectLst/>
              <a:latin typeface="Courier New" panose="02070309020205020404" pitchFamily="49" charset="0"/>
            </a:endParaRPr>
          </a:p>
          <a:p>
            <a:r>
              <a:rPr lang="en-GB" b="0" dirty="0">
                <a:solidFill>
                  <a:srgbClr val="0000FF"/>
                </a:solidFill>
                <a:effectLst/>
                <a:latin typeface="Courier New" panose="02070309020205020404" pitchFamily="49" charset="0"/>
              </a:rPr>
              <a:t>%matplotlib </a:t>
            </a:r>
            <a:r>
              <a:rPr lang="en-GB" b="0" dirty="0">
                <a:solidFill>
                  <a:srgbClr val="000000"/>
                </a:solidFill>
                <a:effectLst/>
                <a:latin typeface="Courier New" panose="02070309020205020404" pitchFamily="49" charset="0"/>
              </a:rPr>
              <a:t>inline</a:t>
            </a:r>
          </a:p>
          <a:p>
            <a:r>
              <a:rPr lang="en-GB" b="0" dirty="0">
                <a:solidFill>
                  <a:srgbClr val="000000"/>
                </a:solidFill>
                <a:effectLst/>
                <a:latin typeface="Courier New" panose="02070309020205020404" pitchFamily="49" charset="0"/>
              </a:rPr>
              <a:t>series = </a:t>
            </a:r>
            <a:r>
              <a:rPr lang="en-GB" b="0" dirty="0">
                <a:solidFill>
                  <a:srgbClr val="257693"/>
                </a:solidFill>
                <a:effectLst/>
                <a:latin typeface="Courier New" panose="02070309020205020404" pitchFamily="49" charset="0"/>
              </a:rPr>
              <a:t>list</a:t>
            </a:r>
            <a:r>
              <a:rPr lang="en-GB" b="0" dirty="0">
                <a:solidFill>
                  <a:srgbClr val="000000"/>
                </a:solidFill>
                <a:effectLst/>
                <a:latin typeface="Courier New" panose="02070309020205020404" pitchFamily="49" charset="0"/>
              </a:rPr>
              <a:t>(</a:t>
            </a:r>
            <a:r>
              <a:rPr lang="en-GB" b="0" dirty="0" err="1">
                <a:solidFill>
                  <a:srgbClr val="000000"/>
                </a:solidFill>
                <a:effectLst/>
                <a:latin typeface="Courier New" panose="02070309020205020404" pitchFamily="49" charset="0"/>
              </a:rPr>
              <a:t>df_oil.dcoilwtico.dropna</a:t>
            </a:r>
            <a:r>
              <a:rPr lang="en-GB" b="0" dirty="0">
                <a:solidFill>
                  <a:srgbClr val="000000"/>
                </a:solidFill>
                <a:effectLst/>
                <a:latin typeface="Courier New" panose="02070309020205020404" pitchFamily="49" charset="0"/>
              </a:rPr>
              <a:t>())</a:t>
            </a:r>
          </a:p>
          <a:p>
            <a:r>
              <a:rPr lang="en-GB" b="0" dirty="0">
                <a:solidFill>
                  <a:srgbClr val="000000"/>
                </a:solidFill>
                <a:effectLst/>
                <a:latin typeface="Courier New" panose="02070309020205020404" pitchFamily="49" charset="0"/>
              </a:rPr>
              <a:t>result = </a:t>
            </a:r>
            <a:r>
              <a:rPr lang="en-GB" b="0" dirty="0" err="1">
                <a:solidFill>
                  <a:srgbClr val="000000"/>
                </a:solidFill>
                <a:effectLst/>
                <a:latin typeface="Courier New" panose="02070309020205020404" pitchFamily="49" charset="0"/>
              </a:rPr>
              <a:t>seasonal_decompose</a:t>
            </a:r>
            <a:r>
              <a:rPr lang="en-GB" b="0" dirty="0">
                <a:solidFill>
                  <a:srgbClr val="000000"/>
                </a:solidFill>
                <a:effectLst/>
                <a:latin typeface="Courier New" panose="02070309020205020404" pitchFamily="49" charset="0"/>
              </a:rPr>
              <a:t>(series, model=</a:t>
            </a:r>
            <a:r>
              <a:rPr lang="en-GB" b="0" dirty="0">
                <a:solidFill>
                  <a:srgbClr val="A31515"/>
                </a:solidFill>
                <a:effectLst/>
                <a:latin typeface="Courier New" panose="02070309020205020404" pitchFamily="49" charset="0"/>
              </a:rPr>
              <a:t>'multiplicative'</a:t>
            </a:r>
            <a:r>
              <a:rPr lang="en-GB" b="0" dirty="0">
                <a:solidFill>
                  <a:srgbClr val="000000"/>
                </a:solidFill>
                <a:effectLst/>
                <a:latin typeface="Courier New" panose="02070309020205020404" pitchFamily="49" charset="0"/>
              </a:rPr>
              <a:t>, period=</a:t>
            </a:r>
            <a:r>
              <a:rPr lang="en-GB" b="0" dirty="0">
                <a:solidFill>
                  <a:srgbClr val="098156"/>
                </a:solidFill>
                <a:effectLst/>
                <a:latin typeface="Courier New" panose="02070309020205020404" pitchFamily="49" charset="0"/>
              </a:rPr>
              <a:t>100</a:t>
            </a:r>
            <a:r>
              <a:rPr lang="en-GB" b="0" dirty="0">
                <a:solidFill>
                  <a:srgbClr val="000000"/>
                </a:solidFill>
                <a:effectLst/>
                <a:latin typeface="Courier New" panose="02070309020205020404" pitchFamily="49" charset="0"/>
              </a:rPr>
              <a:t>)</a:t>
            </a:r>
          </a:p>
          <a:p>
            <a:r>
              <a:rPr lang="en-GB" b="0" dirty="0" err="1">
                <a:solidFill>
                  <a:srgbClr val="000000"/>
                </a:solidFill>
                <a:effectLst/>
                <a:latin typeface="Courier New" panose="02070309020205020404" pitchFamily="49" charset="0"/>
              </a:rPr>
              <a:t>result.plot</a:t>
            </a:r>
            <a:r>
              <a:rPr lang="en-GB" b="0" dirty="0">
                <a:solidFill>
                  <a:srgbClr val="000000"/>
                </a:solidFill>
                <a:effectLst/>
                <a:latin typeface="Courier New" panose="02070309020205020404" pitchFamily="49" charset="0"/>
              </a:rPr>
              <a:t>()</a:t>
            </a:r>
          </a:p>
          <a:p>
            <a:r>
              <a:rPr lang="en-GB" b="0" dirty="0" err="1">
                <a:solidFill>
                  <a:srgbClr val="000000"/>
                </a:solidFill>
                <a:effectLst/>
                <a:latin typeface="Courier New" panose="02070309020205020404" pitchFamily="49" charset="0"/>
              </a:rPr>
              <a:t>plt.savefig</a:t>
            </a:r>
            <a:r>
              <a:rPr lang="en-GB" b="0" dirty="0">
                <a:solidFill>
                  <a:srgbClr val="000000"/>
                </a:solidFill>
                <a:effectLst/>
                <a:latin typeface="Courier New" panose="02070309020205020404" pitchFamily="49" charset="0"/>
              </a:rPr>
              <a:t>(</a:t>
            </a:r>
            <a:r>
              <a:rPr lang="en-GB" b="0" dirty="0">
                <a:solidFill>
                  <a:srgbClr val="A31515"/>
                </a:solidFill>
                <a:effectLst/>
                <a:latin typeface="Courier New" panose="02070309020205020404" pitchFamily="49" charset="0"/>
              </a:rPr>
              <a:t>"</a:t>
            </a:r>
            <a:r>
              <a:rPr lang="en-GB" b="0" dirty="0" err="1">
                <a:solidFill>
                  <a:srgbClr val="A31515"/>
                </a:solidFill>
                <a:effectLst/>
                <a:latin typeface="Courier New" panose="02070309020205020404" pitchFamily="49" charset="0"/>
              </a:rPr>
              <a:t>oil_price.pdf</a:t>
            </a:r>
            <a:r>
              <a:rPr lang="en-GB" b="0" dirty="0">
                <a:solidFill>
                  <a:srgbClr val="A31515"/>
                </a:solidFill>
                <a:effectLst/>
                <a:latin typeface="Courier New" panose="02070309020205020404" pitchFamily="49" charset="0"/>
              </a:rPr>
              <a:t>"</a:t>
            </a:r>
            <a:r>
              <a:rPr lang="en-GB" b="0" dirty="0">
                <a:solidFill>
                  <a:srgbClr val="000000"/>
                </a:solidFill>
                <a:effectLst/>
                <a:latin typeface="Courier New" panose="02070309020205020404" pitchFamily="49" charset="0"/>
              </a:rPr>
              <a:t>, format=</a:t>
            </a:r>
            <a:r>
              <a:rPr lang="en-GB" b="0" dirty="0">
                <a:solidFill>
                  <a:srgbClr val="A31515"/>
                </a:solidFill>
                <a:effectLst/>
                <a:latin typeface="Courier New" panose="02070309020205020404" pitchFamily="49" charset="0"/>
              </a:rPr>
              <a:t>"pdf"</a:t>
            </a:r>
            <a:r>
              <a:rPr lang="en-GB" b="0" dirty="0">
                <a:solidFill>
                  <a:srgbClr val="000000"/>
                </a:solidFill>
                <a:effectLst/>
                <a:latin typeface="Courier New" panose="02070309020205020404" pitchFamily="49" charset="0"/>
              </a:rPr>
              <a:t>, </a:t>
            </a:r>
            <a:r>
              <a:rPr lang="en-GB" b="0" dirty="0" err="1">
                <a:solidFill>
                  <a:srgbClr val="000000"/>
                </a:solidFill>
                <a:effectLst/>
                <a:latin typeface="Courier New" panose="02070309020205020404" pitchFamily="49" charset="0"/>
              </a:rPr>
              <a:t>bbox_inches</a:t>
            </a:r>
            <a:r>
              <a:rPr lang="en-GB" b="0" dirty="0">
                <a:solidFill>
                  <a:srgbClr val="000000"/>
                </a:solidFill>
                <a:effectLst/>
                <a:latin typeface="Courier New" panose="02070309020205020404" pitchFamily="49" charset="0"/>
              </a:rPr>
              <a:t>=</a:t>
            </a:r>
            <a:r>
              <a:rPr lang="en-GB" b="0" dirty="0">
                <a:solidFill>
                  <a:srgbClr val="A31515"/>
                </a:solidFill>
                <a:effectLst/>
                <a:latin typeface="Courier New" panose="02070309020205020404" pitchFamily="49" charset="0"/>
              </a:rPr>
              <a:t>"tight"</a:t>
            </a:r>
            <a:r>
              <a:rPr lang="en-GB" b="0" dirty="0">
                <a:solidFill>
                  <a:srgbClr val="000000"/>
                </a:solidFill>
                <a:effectLst/>
                <a:latin typeface="Courier New" panose="02070309020205020404" pitchFamily="49" charset="0"/>
              </a:rPr>
              <a:t>)</a:t>
            </a:r>
          </a:p>
          <a:p>
            <a:r>
              <a:rPr lang="en-GB" b="0" dirty="0" err="1">
                <a:solidFill>
                  <a:srgbClr val="000000"/>
                </a:solidFill>
                <a:effectLst/>
                <a:latin typeface="Courier New" panose="02070309020205020404" pitchFamily="49" charset="0"/>
              </a:rPr>
              <a:t>plt.show</a:t>
            </a:r>
            <a:r>
              <a:rPr lang="en-GB" b="0" dirty="0">
                <a:solidFill>
                  <a:srgbClr val="000000"/>
                </a:solidFill>
                <a:effectLst/>
                <a:latin typeface="Courier New" panose="02070309020205020404" pitchFamily="49" charset="0"/>
              </a:rPr>
              <a:t>()</a:t>
            </a:r>
          </a:p>
        </p:txBody>
      </p:sp>
      <p:pic>
        <p:nvPicPr>
          <p:cNvPr id="5" name="Picture 4">
            <a:extLst>
              <a:ext uri="{FF2B5EF4-FFF2-40B4-BE49-F238E27FC236}">
                <a16:creationId xmlns:a16="http://schemas.microsoft.com/office/drawing/2014/main" id="{6025B701-3E29-6533-CD5E-AA8F09C87A94}"/>
              </a:ext>
            </a:extLst>
          </p:cNvPr>
          <p:cNvPicPr>
            <a:picLocks noChangeAspect="1"/>
          </p:cNvPicPr>
          <p:nvPr/>
        </p:nvPicPr>
        <p:blipFill rotWithShape="1">
          <a:blip r:embed="rId2">
            <a:extLst>
              <a:ext uri="{28A0092B-C50C-407E-A947-70E740481C1C}">
                <a14:useLocalDpi xmlns:a14="http://schemas.microsoft.com/office/drawing/2010/main" val="0"/>
              </a:ext>
            </a:extLst>
          </a:blip>
          <a:srcRect t="49434"/>
          <a:stretch/>
        </p:blipFill>
        <p:spPr>
          <a:xfrm>
            <a:off x="6248400" y="3755244"/>
            <a:ext cx="5781675" cy="2204143"/>
          </a:xfrm>
          <a:prstGeom prst="rect">
            <a:avLst/>
          </a:prstGeom>
        </p:spPr>
      </p:pic>
      <p:pic>
        <p:nvPicPr>
          <p:cNvPr id="6" name="Picture 5">
            <a:extLst>
              <a:ext uri="{FF2B5EF4-FFF2-40B4-BE49-F238E27FC236}">
                <a16:creationId xmlns:a16="http://schemas.microsoft.com/office/drawing/2014/main" id="{51F732D2-6D12-E8F4-68A2-FA75A22D56E3}"/>
              </a:ext>
            </a:extLst>
          </p:cNvPr>
          <p:cNvPicPr>
            <a:picLocks noChangeAspect="1"/>
          </p:cNvPicPr>
          <p:nvPr/>
        </p:nvPicPr>
        <p:blipFill rotWithShape="1">
          <a:blip r:embed="rId2">
            <a:extLst>
              <a:ext uri="{28A0092B-C50C-407E-A947-70E740481C1C}">
                <a14:useLocalDpi xmlns:a14="http://schemas.microsoft.com/office/drawing/2010/main" val="0"/>
              </a:ext>
            </a:extLst>
          </a:blip>
          <a:srcRect b="49433"/>
          <a:stretch/>
        </p:blipFill>
        <p:spPr>
          <a:xfrm>
            <a:off x="161925" y="3755245"/>
            <a:ext cx="5781675" cy="2204143"/>
          </a:xfrm>
          <a:prstGeom prst="rect">
            <a:avLst/>
          </a:prstGeom>
        </p:spPr>
      </p:pic>
      <p:sp>
        <p:nvSpPr>
          <p:cNvPr id="7" name="Oval Callout 6">
            <a:extLst>
              <a:ext uri="{FF2B5EF4-FFF2-40B4-BE49-F238E27FC236}">
                <a16:creationId xmlns:a16="http://schemas.microsoft.com/office/drawing/2014/main" id="{94D4E7EE-61B8-7320-8206-1CD37A29227A}"/>
              </a:ext>
            </a:extLst>
          </p:cNvPr>
          <p:cNvSpPr/>
          <p:nvPr/>
        </p:nvSpPr>
        <p:spPr>
          <a:xfrm>
            <a:off x="9015413" y="402562"/>
            <a:ext cx="2286000" cy="954751"/>
          </a:xfrm>
          <a:prstGeom prst="wedgeEllipseCallout">
            <a:avLst>
              <a:gd name="adj1" fmla="val -74696"/>
              <a:gd name="adj2" fmla="val 111855"/>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You can use </a:t>
            </a:r>
            <a:r>
              <a:rPr lang="en-GB" b="0" dirty="0">
                <a:solidFill>
                  <a:srgbClr val="A31515"/>
                </a:solidFill>
                <a:effectLst/>
                <a:latin typeface="Courier New" panose="02070309020205020404" pitchFamily="49" charset="0"/>
              </a:rPr>
              <a:t>'additive'</a:t>
            </a:r>
            <a:endParaRPr lang="en-US" dirty="0">
              <a:solidFill>
                <a:schemeClr val="tx1"/>
              </a:solidFill>
            </a:endParaRPr>
          </a:p>
        </p:txBody>
      </p:sp>
      <p:sp>
        <p:nvSpPr>
          <p:cNvPr id="2" name="Slide Number Placeholder 1">
            <a:extLst>
              <a:ext uri="{FF2B5EF4-FFF2-40B4-BE49-F238E27FC236}">
                <a16:creationId xmlns:a16="http://schemas.microsoft.com/office/drawing/2014/main" id="{562BD027-904B-1DFA-ECA4-53507E61A626}"/>
              </a:ext>
            </a:extLst>
          </p:cNvPr>
          <p:cNvSpPr>
            <a:spLocks noGrp="1"/>
          </p:cNvSpPr>
          <p:nvPr>
            <p:ph type="sldNum" sz="quarter" idx="12"/>
          </p:nvPr>
        </p:nvSpPr>
        <p:spPr/>
        <p:txBody>
          <a:bodyPr/>
          <a:lstStyle/>
          <a:p>
            <a:fld id="{F8D8F54C-053C-4394-9990-70DE256B1A6D}" type="slidenum">
              <a:rPr lang="nl-NL" smtClean="0"/>
              <a:t>27</a:t>
            </a:fld>
            <a:endParaRPr lang="nl-NL"/>
          </a:p>
        </p:txBody>
      </p:sp>
    </p:spTree>
    <p:extLst>
      <p:ext uri="{BB962C8B-B14F-4D97-AF65-F5344CB8AC3E}">
        <p14:creationId xmlns:p14="http://schemas.microsoft.com/office/powerpoint/2010/main" val="27122508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58E363-DEF3-4AC8-A6C7-1973B994C704}"/>
              </a:ext>
            </a:extLst>
          </p:cNvPr>
          <p:cNvSpPr txBox="1">
            <a:spLocks/>
          </p:cNvSpPr>
          <p:nvPr/>
        </p:nvSpPr>
        <p:spPr>
          <a:xfrm>
            <a:off x="1202028" y="2620260"/>
            <a:ext cx="8277726" cy="609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nl-NL" b="1" dirty="0">
                <a:latin typeface="Times New Roman" panose="02020603050405020304" pitchFamily="18" charset="0"/>
                <a:cs typeface="Times New Roman" panose="02020603050405020304" pitchFamily="18" charset="0"/>
              </a:rPr>
              <a:t>Time Series Components – Trend</a:t>
            </a:r>
            <a:endParaRPr lang="nl-NL" dirty="0"/>
          </a:p>
        </p:txBody>
      </p:sp>
      <p:cxnSp>
        <p:nvCxnSpPr>
          <p:cNvPr id="3" name="Straight Connector 2">
            <a:extLst>
              <a:ext uri="{FF2B5EF4-FFF2-40B4-BE49-F238E27FC236}">
                <a16:creationId xmlns:a16="http://schemas.microsoft.com/office/drawing/2014/main" id="{3879DA28-57D8-46DC-9BF7-32D7F0AE8996}"/>
              </a:ext>
            </a:extLst>
          </p:cNvPr>
          <p:cNvCxnSpPr>
            <a:cxnSpLocks/>
          </p:cNvCxnSpPr>
          <p:nvPr/>
        </p:nvCxnSpPr>
        <p:spPr>
          <a:xfrm>
            <a:off x="1029405" y="3429000"/>
            <a:ext cx="9730554" cy="0"/>
          </a:xfrm>
          <a:prstGeom prst="line">
            <a:avLst/>
          </a:prstGeom>
          <a:ln w="95250">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p:spPr>
        <p:style>
          <a:lnRef idx="1">
            <a:schemeClr val="accent2"/>
          </a:lnRef>
          <a:fillRef idx="0">
            <a:schemeClr val="accent2"/>
          </a:fillRef>
          <a:effectRef idx="0">
            <a:schemeClr val="accent2"/>
          </a:effectRef>
          <a:fontRef idx="minor">
            <a:schemeClr val="tx1"/>
          </a:fontRef>
        </p:style>
      </p:cxnSp>
      <p:sp>
        <p:nvSpPr>
          <p:cNvPr id="4" name="Slide Number Placeholder 3">
            <a:extLst>
              <a:ext uri="{FF2B5EF4-FFF2-40B4-BE49-F238E27FC236}">
                <a16:creationId xmlns:a16="http://schemas.microsoft.com/office/drawing/2014/main" id="{737C79D6-C4D3-62E1-5BAA-E93B3AC03299}"/>
              </a:ext>
            </a:extLst>
          </p:cNvPr>
          <p:cNvSpPr>
            <a:spLocks noGrp="1"/>
          </p:cNvSpPr>
          <p:nvPr>
            <p:ph type="sldNum" sz="quarter" idx="12"/>
          </p:nvPr>
        </p:nvSpPr>
        <p:spPr/>
        <p:txBody>
          <a:bodyPr/>
          <a:lstStyle/>
          <a:p>
            <a:fld id="{F8D8F54C-053C-4394-9990-70DE256B1A6D}" type="slidenum">
              <a:rPr lang="nl-NL" smtClean="0"/>
              <a:t>28</a:t>
            </a:fld>
            <a:endParaRPr lang="nl-NL"/>
          </a:p>
        </p:txBody>
      </p:sp>
    </p:spTree>
    <p:extLst>
      <p:ext uri="{BB962C8B-B14F-4D97-AF65-F5344CB8AC3E}">
        <p14:creationId xmlns:p14="http://schemas.microsoft.com/office/powerpoint/2010/main" val="2009740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902200"/>
          </a:xfrm>
        </p:spPr>
        <p:txBody>
          <a:bodyPr>
            <a:noAutofit/>
          </a:bodyPr>
          <a:lstStyle/>
          <a:p>
            <a:r>
              <a:rPr lang="en-US" altLang="nl-NL" sz="3200" b="1" dirty="0">
                <a:latin typeface="Times New Roman" panose="02020603050405020304" pitchFamily="18" charset="0"/>
                <a:cs typeface="Times New Roman" panose="02020603050405020304" pitchFamily="18" charset="0"/>
              </a:rPr>
              <a:t>Measuring the Trend</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lnSpc>
                <a:spcPct val="110000"/>
              </a:lnSpc>
            </a:pPr>
            <a:r>
              <a:rPr lang="en-US" altLang="nl-NL" dirty="0">
                <a:cs typeface="Times New Roman" panose="02020603050405020304" pitchFamily="18" charset="0"/>
              </a:rPr>
              <a:t>An essential aim in time series analysis is using the past information to establish plan for the next period.</a:t>
            </a:r>
          </a:p>
          <a:p>
            <a:pPr lvl="1">
              <a:lnSpc>
                <a:spcPct val="110000"/>
              </a:lnSpc>
            </a:pPr>
            <a:r>
              <a:rPr lang="en-US" altLang="nl-NL" dirty="0">
                <a:cs typeface="Times New Roman" panose="02020603050405020304" pitchFamily="18" charset="0"/>
              </a:rPr>
              <a:t>Measuring the trend depicts the general direction of the trend line over time</a:t>
            </a:r>
          </a:p>
          <a:p>
            <a:pPr>
              <a:lnSpc>
                <a:spcPct val="110000"/>
              </a:lnSpc>
            </a:pPr>
            <a:r>
              <a:rPr lang="en-US" altLang="nl-NL" dirty="0">
                <a:cs typeface="Times New Roman" panose="02020603050405020304" pitchFamily="18" charset="0"/>
              </a:rPr>
              <a:t>The trend can be affected by:</a:t>
            </a:r>
          </a:p>
          <a:p>
            <a:pPr lvl="1">
              <a:lnSpc>
                <a:spcPct val="110000"/>
              </a:lnSpc>
            </a:pPr>
            <a:r>
              <a:rPr lang="en-US" altLang="nl-NL" dirty="0">
                <a:cs typeface="Times New Roman" panose="02020603050405020304" pitchFamily="18" charset="0"/>
              </a:rPr>
              <a:t>Population changes </a:t>
            </a:r>
          </a:p>
          <a:p>
            <a:pPr lvl="1">
              <a:lnSpc>
                <a:spcPct val="110000"/>
              </a:lnSpc>
            </a:pPr>
            <a:r>
              <a:rPr lang="en-US" altLang="nl-NL" dirty="0">
                <a:cs typeface="Times New Roman" panose="02020603050405020304" pitchFamily="18" charset="0"/>
              </a:rPr>
              <a:t>Productivity improvement</a:t>
            </a:r>
          </a:p>
          <a:p>
            <a:pPr lvl="1">
              <a:lnSpc>
                <a:spcPct val="110000"/>
              </a:lnSpc>
            </a:pPr>
            <a:r>
              <a:rPr lang="en-US" altLang="nl-NL" dirty="0">
                <a:cs typeface="Times New Roman" panose="02020603050405020304" pitchFamily="18" charset="0"/>
              </a:rPr>
              <a:t>Technological advancements</a:t>
            </a:r>
          </a:p>
          <a:p>
            <a:pPr lvl="1">
              <a:lnSpc>
                <a:spcPct val="110000"/>
              </a:lnSpc>
            </a:pPr>
            <a:r>
              <a:rPr lang="en-US" altLang="nl-NL" dirty="0">
                <a:cs typeface="Times New Roman" panose="02020603050405020304" pitchFamily="18" charset="0"/>
              </a:rPr>
              <a:t>Global crisis</a:t>
            </a:r>
          </a:p>
          <a:p>
            <a:pPr lvl="1">
              <a:lnSpc>
                <a:spcPct val="110000"/>
              </a:lnSpc>
            </a:pPr>
            <a:r>
              <a:rPr lang="en-US" altLang="nl-NL" dirty="0">
                <a:cs typeface="Times New Roman" panose="02020603050405020304" pitchFamily="18" charset="0"/>
              </a:rPr>
              <a:t>Market changes</a:t>
            </a:r>
          </a:p>
          <a:p>
            <a:pPr lvl="1">
              <a:lnSpc>
                <a:spcPct val="110000"/>
              </a:lnSpc>
            </a:pPr>
            <a:r>
              <a:rPr lang="en-US" altLang="nl-NL" dirty="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8F863971-9B8C-324E-FD84-6F83A4714BC3}"/>
              </a:ext>
            </a:extLst>
          </p:cNvPr>
          <p:cNvSpPr>
            <a:spLocks noGrp="1"/>
          </p:cNvSpPr>
          <p:nvPr>
            <p:ph type="sldNum" sz="quarter" idx="12"/>
          </p:nvPr>
        </p:nvSpPr>
        <p:spPr/>
        <p:txBody>
          <a:bodyPr/>
          <a:lstStyle/>
          <a:p>
            <a:fld id="{F8D8F54C-053C-4394-9990-70DE256B1A6D}" type="slidenum">
              <a:rPr lang="nl-NL" smtClean="0"/>
              <a:t>29</a:t>
            </a:fld>
            <a:endParaRPr lang="nl-NL"/>
          </a:p>
        </p:txBody>
      </p:sp>
    </p:spTree>
    <p:extLst>
      <p:ext uri="{BB962C8B-B14F-4D97-AF65-F5344CB8AC3E}">
        <p14:creationId xmlns:p14="http://schemas.microsoft.com/office/powerpoint/2010/main" val="5070350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902200"/>
          </a:xfrm>
        </p:spPr>
        <p:txBody>
          <a:bodyPr>
            <a:noAutofit/>
          </a:bodyPr>
          <a:lstStyle/>
          <a:p>
            <a:r>
              <a:rPr lang="en-US" altLang="nl-NL" sz="3200" b="1" dirty="0">
                <a:latin typeface="Times New Roman" panose="02020603050405020304" pitchFamily="18" charset="0"/>
                <a:cs typeface="Times New Roman" panose="02020603050405020304" pitchFamily="18" charset="0"/>
              </a:rPr>
              <a:t>Why Examine the Trend?</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lnSpc>
                <a:spcPct val="110000"/>
              </a:lnSpc>
            </a:pPr>
            <a:r>
              <a:rPr lang="en-US" altLang="nl-NL" dirty="0">
                <a:cs typeface="Times New Roman" panose="02020603050405020304" pitchFamily="18" charset="0"/>
              </a:rPr>
              <a:t>If the current trend is expected to continue, it can be used for future planning:</a:t>
            </a:r>
          </a:p>
          <a:p>
            <a:pPr lvl="1">
              <a:lnSpc>
                <a:spcPct val="110000"/>
              </a:lnSpc>
            </a:pPr>
            <a:r>
              <a:rPr lang="en-US" altLang="nl-NL" dirty="0">
                <a:cs typeface="Times New Roman" panose="02020603050405020304" pitchFamily="18" charset="0"/>
              </a:rPr>
              <a:t>Capacity planning for increased population </a:t>
            </a:r>
          </a:p>
          <a:p>
            <a:pPr lvl="1">
              <a:lnSpc>
                <a:spcPct val="110000"/>
              </a:lnSpc>
            </a:pPr>
            <a:r>
              <a:rPr lang="en-US" altLang="nl-NL" dirty="0">
                <a:cs typeface="Times New Roman" panose="02020603050405020304" pitchFamily="18" charset="0"/>
              </a:rPr>
              <a:t>Utility loads</a:t>
            </a:r>
          </a:p>
          <a:p>
            <a:pPr lvl="1">
              <a:lnSpc>
                <a:spcPct val="110000"/>
              </a:lnSpc>
            </a:pPr>
            <a:r>
              <a:rPr lang="en-US" altLang="nl-NL" dirty="0">
                <a:cs typeface="Times New Roman" panose="02020603050405020304" pitchFamily="18" charset="0"/>
              </a:rPr>
              <a:t>Market progress </a:t>
            </a:r>
          </a:p>
          <a:p>
            <a:pPr lvl="1">
              <a:lnSpc>
                <a:spcPct val="110000"/>
              </a:lnSpc>
            </a:pPr>
            <a:r>
              <a:rPr lang="en-US" altLang="nl-NL" dirty="0">
                <a:cs typeface="Times New Roman" panose="02020603050405020304" pitchFamily="18" charset="0"/>
              </a:rPr>
              <a:t>Required resource for new students</a:t>
            </a:r>
          </a:p>
          <a:p>
            <a:pPr lvl="1">
              <a:lnSpc>
                <a:spcPct val="110000"/>
              </a:lnSpc>
            </a:pPr>
            <a:r>
              <a:rPr lang="en-US" altLang="nl-NL" dirty="0">
                <a:cs typeface="Times New Roman" panose="02020603050405020304" pitchFamily="18" charset="0"/>
              </a:rPr>
              <a:t>Expected workload </a:t>
            </a:r>
          </a:p>
          <a:p>
            <a:pPr lvl="2">
              <a:lnSpc>
                <a:spcPct val="110000"/>
              </a:lnSpc>
            </a:pPr>
            <a:r>
              <a:rPr lang="en-US" altLang="nl-NL" sz="2200" dirty="0">
                <a:cs typeface="Times New Roman" panose="02020603050405020304" pitchFamily="18" charset="0"/>
              </a:rPr>
              <a:t>Emergency calls </a:t>
            </a:r>
          </a:p>
          <a:p>
            <a:pPr lvl="2">
              <a:lnSpc>
                <a:spcPct val="110000"/>
              </a:lnSpc>
            </a:pPr>
            <a:r>
              <a:rPr lang="en-US" altLang="nl-NL" sz="2200" dirty="0">
                <a:cs typeface="Times New Roman" panose="02020603050405020304" pitchFamily="18" charset="0"/>
              </a:rPr>
              <a:t>Taxi demand</a:t>
            </a:r>
          </a:p>
          <a:p>
            <a:pPr lvl="2">
              <a:lnSpc>
                <a:spcPct val="110000"/>
              </a:lnSpc>
            </a:pPr>
            <a:r>
              <a:rPr lang="en-US" altLang="nl-NL" sz="2200" dirty="0">
                <a:cs typeface="Times New Roman" panose="02020603050405020304" pitchFamily="18" charset="0"/>
              </a:rPr>
              <a:t>Occupied beds in a hospital</a:t>
            </a:r>
          </a:p>
        </p:txBody>
      </p:sp>
      <p:sp>
        <p:nvSpPr>
          <p:cNvPr id="4" name="Slide Number Placeholder 3">
            <a:extLst>
              <a:ext uri="{FF2B5EF4-FFF2-40B4-BE49-F238E27FC236}">
                <a16:creationId xmlns:a16="http://schemas.microsoft.com/office/drawing/2014/main" id="{BBB2464D-6712-AB96-00AB-AE647613544F}"/>
              </a:ext>
            </a:extLst>
          </p:cNvPr>
          <p:cNvSpPr>
            <a:spLocks noGrp="1"/>
          </p:cNvSpPr>
          <p:nvPr>
            <p:ph type="sldNum" sz="quarter" idx="12"/>
          </p:nvPr>
        </p:nvSpPr>
        <p:spPr/>
        <p:txBody>
          <a:bodyPr/>
          <a:lstStyle/>
          <a:p>
            <a:fld id="{F8D8F54C-053C-4394-9990-70DE256B1A6D}" type="slidenum">
              <a:rPr lang="nl-NL" smtClean="0"/>
              <a:t>30</a:t>
            </a:fld>
            <a:endParaRPr lang="nl-NL"/>
          </a:p>
        </p:txBody>
      </p:sp>
    </p:spTree>
    <p:extLst>
      <p:ext uri="{BB962C8B-B14F-4D97-AF65-F5344CB8AC3E}">
        <p14:creationId xmlns:p14="http://schemas.microsoft.com/office/powerpoint/2010/main" val="35799686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902200"/>
          </a:xfrm>
        </p:spPr>
        <p:txBody>
          <a:bodyPr>
            <a:noAutofit/>
          </a:bodyPr>
          <a:lstStyle/>
          <a:p>
            <a:r>
              <a:rPr lang="en-US" altLang="nl-NL" sz="3200" b="1" dirty="0">
                <a:latin typeface="Times New Roman" panose="02020603050405020304" pitchFamily="18" charset="0"/>
                <a:cs typeface="Times New Roman" panose="02020603050405020304" pitchFamily="18" charset="0"/>
              </a:rPr>
              <a:t>Depicting the Trend</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lnSpc>
                <a:spcPct val="110000"/>
              </a:lnSpc>
            </a:pPr>
            <a:r>
              <a:rPr lang="en-US" altLang="nl-NL" dirty="0">
                <a:cs typeface="Times New Roman" panose="02020603050405020304" pitchFamily="18" charset="0"/>
              </a:rPr>
              <a:t>Common methods include:</a:t>
            </a:r>
          </a:p>
          <a:p>
            <a:pPr lvl="1">
              <a:lnSpc>
                <a:spcPct val="110000"/>
              </a:lnSpc>
            </a:pPr>
            <a:r>
              <a:rPr lang="en-US" altLang="nl-NL" dirty="0">
                <a:cs typeface="Times New Roman" panose="02020603050405020304" pitchFamily="18" charset="0"/>
              </a:rPr>
              <a:t>Semi-average</a:t>
            </a:r>
          </a:p>
          <a:p>
            <a:pPr lvl="1">
              <a:lnSpc>
                <a:spcPct val="110000"/>
              </a:lnSpc>
            </a:pPr>
            <a:r>
              <a:rPr lang="en-US" altLang="nl-NL" dirty="0">
                <a:cs typeface="Times New Roman" panose="02020603050405020304" pitchFamily="18" charset="0"/>
              </a:rPr>
              <a:t>Moving average</a:t>
            </a:r>
          </a:p>
          <a:p>
            <a:pPr lvl="1">
              <a:lnSpc>
                <a:spcPct val="110000"/>
              </a:lnSpc>
            </a:pPr>
            <a:r>
              <a:rPr lang="en-US" altLang="nl-NL" dirty="0">
                <a:cs typeface="Times New Roman" panose="02020603050405020304" pitchFamily="18" charset="0"/>
              </a:rPr>
              <a:t>Least-square </a:t>
            </a:r>
          </a:p>
          <a:p>
            <a:pPr lvl="1">
              <a:lnSpc>
                <a:spcPct val="110000"/>
              </a:lnSpc>
            </a:pPr>
            <a:r>
              <a:rPr lang="en-US" altLang="nl-NL" dirty="0">
                <a:cs typeface="Times New Roman" panose="02020603050405020304" pitchFamily="18" charset="0"/>
              </a:rPr>
              <a:t>Exponential smoothing</a:t>
            </a:r>
          </a:p>
        </p:txBody>
      </p:sp>
      <p:sp>
        <p:nvSpPr>
          <p:cNvPr id="4" name="Slide Number Placeholder 3">
            <a:extLst>
              <a:ext uri="{FF2B5EF4-FFF2-40B4-BE49-F238E27FC236}">
                <a16:creationId xmlns:a16="http://schemas.microsoft.com/office/drawing/2014/main" id="{8D07884E-BA34-9FE0-265C-573053F5F3D0}"/>
              </a:ext>
            </a:extLst>
          </p:cNvPr>
          <p:cNvSpPr>
            <a:spLocks noGrp="1"/>
          </p:cNvSpPr>
          <p:nvPr>
            <p:ph type="sldNum" sz="quarter" idx="12"/>
          </p:nvPr>
        </p:nvSpPr>
        <p:spPr/>
        <p:txBody>
          <a:bodyPr/>
          <a:lstStyle/>
          <a:p>
            <a:fld id="{F8D8F54C-053C-4394-9990-70DE256B1A6D}" type="slidenum">
              <a:rPr lang="nl-NL" smtClean="0"/>
              <a:t>31</a:t>
            </a:fld>
            <a:endParaRPr lang="nl-NL"/>
          </a:p>
        </p:txBody>
      </p:sp>
    </p:spTree>
    <p:extLst>
      <p:ext uri="{BB962C8B-B14F-4D97-AF65-F5344CB8AC3E}">
        <p14:creationId xmlns:p14="http://schemas.microsoft.com/office/powerpoint/2010/main" val="30082950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902200"/>
          </a:xfrm>
        </p:spPr>
        <p:txBody>
          <a:bodyPr>
            <a:noAutofit/>
          </a:bodyPr>
          <a:lstStyle/>
          <a:p>
            <a:r>
              <a:rPr lang="en-US" altLang="nl-NL" sz="3200" b="1" dirty="0">
                <a:latin typeface="Times New Roman" panose="02020603050405020304" pitchFamily="18" charset="0"/>
                <a:cs typeface="Times New Roman" panose="02020603050405020304" pitchFamily="18" charset="0"/>
              </a:rPr>
              <a:t>Depicting the Trend – Semi-Average</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defRPr/>
            </a:pPr>
            <a:r>
              <a:rPr lang="en-AU" dirty="0"/>
              <a:t>Attempts to fit a straight line to describe the trend:</a:t>
            </a:r>
          </a:p>
          <a:p>
            <a:pPr>
              <a:buFont typeface="Arial" charset="0"/>
              <a:buChar char="•"/>
              <a:defRPr/>
            </a:pPr>
            <a:endParaRPr lang="en-AU" sz="800" dirty="0"/>
          </a:p>
          <a:p>
            <a:pPr lvl="1">
              <a:lnSpc>
                <a:spcPct val="100000"/>
              </a:lnSpc>
              <a:defRPr/>
            </a:pPr>
            <a:r>
              <a:rPr lang="en-AU" dirty="0"/>
              <a:t>Divide the data into 2 equal time ranges</a:t>
            </a:r>
          </a:p>
          <a:p>
            <a:pPr lvl="1">
              <a:lnSpc>
                <a:spcPct val="100000"/>
              </a:lnSpc>
              <a:defRPr/>
            </a:pPr>
            <a:r>
              <a:rPr lang="en-AU" dirty="0"/>
              <a:t>Calculate the average of the observations in each of the 2-time ranges </a:t>
            </a:r>
          </a:p>
          <a:p>
            <a:pPr lvl="1">
              <a:lnSpc>
                <a:spcPct val="100000"/>
              </a:lnSpc>
              <a:defRPr/>
            </a:pPr>
            <a:r>
              <a:rPr lang="en-AU" dirty="0"/>
              <a:t>Draw a straight line between the 2 points</a:t>
            </a:r>
          </a:p>
          <a:p>
            <a:pPr lvl="1">
              <a:lnSpc>
                <a:spcPct val="100000"/>
              </a:lnSpc>
              <a:defRPr/>
            </a:pPr>
            <a:r>
              <a:rPr lang="en-AU" dirty="0"/>
              <a:t>Extend the line slightly past the end of the original observation to make predictions for future years</a:t>
            </a:r>
          </a:p>
        </p:txBody>
      </p:sp>
      <p:sp>
        <p:nvSpPr>
          <p:cNvPr id="4" name="Slide Number Placeholder 3">
            <a:extLst>
              <a:ext uri="{FF2B5EF4-FFF2-40B4-BE49-F238E27FC236}">
                <a16:creationId xmlns:a16="http://schemas.microsoft.com/office/drawing/2014/main" id="{523D72EC-4542-3AF4-B906-3F09F80946D3}"/>
              </a:ext>
            </a:extLst>
          </p:cNvPr>
          <p:cNvSpPr>
            <a:spLocks noGrp="1"/>
          </p:cNvSpPr>
          <p:nvPr>
            <p:ph type="sldNum" sz="quarter" idx="12"/>
          </p:nvPr>
        </p:nvSpPr>
        <p:spPr/>
        <p:txBody>
          <a:bodyPr/>
          <a:lstStyle/>
          <a:p>
            <a:fld id="{F8D8F54C-053C-4394-9990-70DE256B1A6D}" type="slidenum">
              <a:rPr lang="nl-NL" smtClean="0"/>
              <a:t>32</a:t>
            </a:fld>
            <a:endParaRPr lang="nl-NL"/>
          </a:p>
        </p:txBody>
      </p:sp>
    </p:spTree>
    <p:extLst>
      <p:ext uri="{BB962C8B-B14F-4D97-AF65-F5344CB8AC3E}">
        <p14:creationId xmlns:p14="http://schemas.microsoft.com/office/powerpoint/2010/main" val="26725793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902200"/>
          </a:xfrm>
        </p:spPr>
        <p:txBody>
          <a:bodyPr>
            <a:noAutofit/>
          </a:bodyPr>
          <a:lstStyle/>
          <a:p>
            <a:r>
              <a:rPr lang="en-US" altLang="nl-NL" sz="3200" b="1" dirty="0">
                <a:latin typeface="Times New Roman" panose="02020603050405020304" pitchFamily="18" charset="0"/>
                <a:cs typeface="Times New Roman" panose="02020603050405020304" pitchFamily="18" charset="0"/>
              </a:rPr>
              <a:t>Depicting the Trend </a:t>
            </a:r>
            <a:r>
              <a:rPr lang="en-US" altLang="nl-NL" sz="3200" b="1">
                <a:latin typeface="Times New Roman" panose="02020603050405020304" pitchFamily="18" charset="0"/>
                <a:cs typeface="Times New Roman" panose="02020603050405020304" pitchFamily="18" charset="0"/>
              </a:rPr>
              <a:t>– Moving-Average</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lnSpc>
                <a:spcPct val="100000"/>
              </a:lnSpc>
            </a:pPr>
            <a:r>
              <a:rPr lang="en-AU" altLang="en-US" dirty="0"/>
              <a:t>Based on the premise that if values in a time series are averaged over a sufficient period, the effect of short-term variations will be reduced</a:t>
            </a:r>
          </a:p>
          <a:p>
            <a:pPr>
              <a:lnSpc>
                <a:spcPct val="100000"/>
              </a:lnSpc>
            </a:pPr>
            <a:endParaRPr lang="en-AU" altLang="en-US" sz="800" dirty="0"/>
          </a:p>
          <a:p>
            <a:pPr>
              <a:lnSpc>
                <a:spcPct val="100000"/>
              </a:lnSpc>
            </a:pPr>
            <a:endParaRPr lang="en-AU" altLang="en-US" sz="800" dirty="0"/>
          </a:p>
          <a:p>
            <a:pPr>
              <a:lnSpc>
                <a:spcPct val="100000"/>
              </a:lnSpc>
            </a:pPr>
            <a:r>
              <a:rPr lang="en-AU" altLang="en-US" dirty="0"/>
              <a:t>The degree of smoothing can be controlled by selecting the number of cases to be included in an average.</a:t>
            </a:r>
          </a:p>
        </p:txBody>
      </p:sp>
      <p:sp>
        <p:nvSpPr>
          <p:cNvPr id="4" name="Slide Number Placeholder 3">
            <a:extLst>
              <a:ext uri="{FF2B5EF4-FFF2-40B4-BE49-F238E27FC236}">
                <a16:creationId xmlns:a16="http://schemas.microsoft.com/office/drawing/2014/main" id="{021C1CDA-100D-6949-BA43-0CAFDB9F2ADB}"/>
              </a:ext>
            </a:extLst>
          </p:cNvPr>
          <p:cNvSpPr>
            <a:spLocks noGrp="1"/>
          </p:cNvSpPr>
          <p:nvPr>
            <p:ph type="sldNum" sz="quarter" idx="12"/>
          </p:nvPr>
        </p:nvSpPr>
        <p:spPr/>
        <p:txBody>
          <a:bodyPr/>
          <a:lstStyle/>
          <a:p>
            <a:fld id="{F8D8F54C-053C-4394-9990-70DE256B1A6D}" type="slidenum">
              <a:rPr lang="nl-NL" smtClean="0"/>
              <a:t>33</a:t>
            </a:fld>
            <a:endParaRPr lang="nl-NL"/>
          </a:p>
        </p:txBody>
      </p:sp>
    </p:spTree>
    <p:extLst>
      <p:ext uri="{BB962C8B-B14F-4D97-AF65-F5344CB8AC3E}">
        <p14:creationId xmlns:p14="http://schemas.microsoft.com/office/powerpoint/2010/main" val="42128738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643467" y="321734"/>
            <a:ext cx="10905066" cy="1135737"/>
          </a:xfrm>
        </p:spPr>
        <p:txBody>
          <a:bodyPr>
            <a:normAutofit/>
          </a:bodyPr>
          <a:lstStyle/>
          <a:p>
            <a:r>
              <a:rPr lang="en-US" altLang="nl-NL" sz="3600" b="1" dirty="0">
                <a:latin typeface="Times New Roman" panose="02020603050405020304" pitchFamily="18" charset="0"/>
                <a:cs typeface="Times New Roman" panose="02020603050405020304" pitchFamily="18" charset="0"/>
              </a:rPr>
              <a:t>Depicting the Trend – Least-Square Linear Regression</a:t>
            </a:r>
            <a:endParaRPr lang="nl-NL"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643469" y="1670241"/>
            <a:ext cx="6482518" cy="4506722"/>
          </a:xfrm>
        </p:spPr>
        <p:txBody>
          <a:bodyPr>
            <a:noAutofit/>
          </a:bodyPr>
          <a:lstStyle/>
          <a:p>
            <a:pPr>
              <a:lnSpc>
                <a:spcPct val="100000"/>
              </a:lnSpc>
            </a:pPr>
            <a:r>
              <a:rPr lang="en-AU" altLang="en-US" dirty="0"/>
              <a:t>A more sophisticated way for fitting a straight line to a time series is using the method of least squares regression.</a:t>
            </a:r>
          </a:p>
          <a:p>
            <a:pPr marL="0" indent="0">
              <a:lnSpc>
                <a:spcPct val="100000"/>
              </a:lnSpc>
              <a:buNone/>
            </a:pPr>
            <a:endParaRPr lang="en-AU" altLang="en-US" dirty="0"/>
          </a:p>
          <a:p>
            <a:pPr marL="0" indent="0">
              <a:buNone/>
            </a:pPr>
            <a:r>
              <a:rPr lang="en-AU" altLang="en-US" dirty="0"/>
              <a:t>Sound familiar? </a:t>
            </a:r>
          </a:p>
          <a:p>
            <a:pPr>
              <a:spcBef>
                <a:spcPct val="0"/>
              </a:spcBef>
              <a:buNone/>
            </a:pPr>
            <a:endParaRPr lang="en-AU" altLang="en-US" dirty="0"/>
          </a:p>
          <a:p>
            <a:pPr lvl="1">
              <a:spcBef>
                <a:spcPct val="0"/>
              </a:spcBef>
            </a:pPr>
            <a:r>
              <a:rPr lang="en-AU" altLang="en-US" dirty="0"/>
              <a:t>Observations are the </a:t>
            </a:r>
            <a:r>
              <a:rPr lang="en-AU" altLang="en-US" dirty="0">
                <a:solidFill>
                  <a:srgbClr val="FF0000"/>
                </a:solidFill>
              </a:rPr>
              <a:t>dependant</a:t>
            </a:r>
            <a:r>
              <a:rPr lang="en-AU" altLang="en-US" dirty="0"/>
              <a:t> variables (</a:t>
            </a:r>
            <a:r>
              <a:rPr lang="en-AU" altLang="en-US" i="1" dirty="0">
                <a:solidFill>
                  <a:srgbClr val="FF0000"/>
                </a:solidFill>
              </a:rPr>
              <a:t>y</a:t>
            </a:r>
            <a:r>
              <a:rPr lang="en-AU" altLang="en-US" i="1" dirty="0"/>
              <a:t>)</a:t>
            </a:r>
            <a:r>
              <a:rPr lang="en-AU" altLang="en-US" dirty="0"/>
              <a:t> </a:t>
            </a:r>
          </a:p>
          <a:p>
            <a:pPr lvl="1">
              <a:spcBef>
                <a:spcPct val="0"/>
              </a:spcBef>
            </a:pPr>
            <a:r>
              <a:rPr lang="en-AU" altLang="en-US" dirty="0"/>
              <a:t>Time is the </a:t>
            </a:r>
            <a:r>
              <a:rPr lang="en-AU" altLang="en-US" dirty="0">
                <a:solidFill>
                  <a:srgbClr val="00B050"/>
                </a:solidFill>
              </a:rPr>
              <a:t>independent</a:t>
            </a:r>
            <a:r>
              <a:rPr lang="en-AU" altLang="en-US" dirty="0"/>
              <a:t> variable</a:t>
            </a:r>
            <a:r>
              <a:rPr lang="en-AU" altLang="en-US" i="1" dirty="0"/>
              <a:t> (</a:t>
            </a:r>
            <a:r>
              <a:rPr lang="en-AU" altLang="en-US" i="1" dirty="0">
                <a:solidFill>
                  <a:srgbClr val="00B050"/>
                </a:solidFill>
              </a:rPr>
              <a:t>x</a:t>
            </a:r>
            <a:r>
              <a:rPr lang="en-AU" altLang="en-US" i="1" dirty="0"/>
              <a:t>)</a:t>
            </a:r>
            <a:r>
              <a:rPr lang="en-AU" altLang="en-US" dirty="0"/>
              <a:t>.</a:t>
            </a:r>
          </a:p>
          <a:p>
            <a:pPr marL="0" indent="0">
              <a:buNone/>
            </a:pPr>
            <a:endParaRPr lang="en-AU" altLang="en-US" dirty="0"/>
          </a:p>
        </p:txBody>
      </p:sp>
      <p:grpSp>
        <p:nvGrpSpPr>
          <p:cNvPr id="14" name="Group 13">
            <a:extLst>
              <a:ext uri="{FF2B5EF4-FFF2-40B4-BE49-F238E27FC236}">
                <a16:creationId xmlns:a16="http://schemas.microsoft.com/office/drawing/2014/main" id="{B6A27DC2-631D-2CBC-9509-292B0B8B6955}"/>
              </a:ext>
            </a:extLst>
          </p:cNvPr>
          <p:cNvGrpSpPr/>
          <p:nvPr/>
        </p:nvGrpSpPr>
        <p:grpSpPr>
          <a:xfrm>
            <a:off x="7192610" y="1846191"/>
            <a:ext cx="4697361" cy="4516917"/>
            <a:chOff x="7219305" y="1504252"/>
            <a:chExt cx="4697361" cy="4516917"/>
          </a:xfrm>
        </p:grpSpPr>
        <p:pic>
          <p:nvPicPr>
            <p:cNvPr id="6" name="Picture 5">
              <a:extLst>
                <a:ext uri="{FF2B5EF4-FFF2-40B4-BE49-F238E27FC236}">
                  <a16:creationId xmlns:a16="http://schemas.microsoft.com/office/drawing/2014/main" id="{83B803F6-D54A-BDAB-F424-89810C0B72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9305" y="1504252"/>
              <a:ext cx="4645346" cy="4380883"/>
            </a:xfrm>
            <a:prstGeom prst="rect">
              <a:avLst/>
            </a:prstGeom>
          </p:spPr>
        </p:pic>
        <p:sp>
          <p:nvSpPr>
            <p:cNvPr id="7" name="Rectangle 6">
              <a:extLst>
                <a:ext uri="{FF2B5EF4-FFF2-40B4-BE49-F238E27FC236}">
                  <a16:creationId xmlns:a16="http://schemas.microsoft.com/office/drawing/2014/main" id="{B1F1AC75-4D31-8EAE-0817-D2F41C42DDDD}"/>
                </a:ext>
              </a:extLst>
            </p:cNvPr>
            <p:cNvSpPr/>
            <p:nvPr/>
          </p:nvSpPr>
          <p:spPr>
            <a:xfrm>
              <a:off x="7219305" y="1504252"/>
              <a:ext cx="663931" cy="38297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2400" dirty="0">
                  <a:solidFill>
                    <a:schemeClr val="tx1"/>
                  </a:solidFill>
                </a:rPr>
                <a:t>Observations</a:t>
              </a:r>
            </a:p>
          </p:txBody>
        </p:sp>
        <p:sp>
          <p:nvSpPr>
            <p:cNvPr id="8" name="Rectangle 7">
              <a:extLst>
                <a:ext uri="{FF2B5EF4-FFF2-40B4-BE49-F238E27FC236}">
                  <a16:creationId xmlns:a16="http://schemas.microsoft.com/office/drawing/2014/main" id="{7371C646-25F8-E776-E31B-D4D702ECDF0C}"/>
                </a:ext>
              </a:extLst>
            </p:cNvPr>
            <p:cNvSpPr/>
            <p:nvPr/>
          </p:nvSpPr>
          <p:spPr>
            <a:xfrm rot="5400000">
              <a:off x="9471004" y="3575507"/>
              <a:ext cx="663931" cy="42273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2400" dirty="0">
                  <a:solidFill>
                    <a:schemeClr val="tx1"/>
                  </a:solidFill>
                </a:rPr>
                <a:t>Time</a:t>
              </a:r>
            </a:p>
          </p:txBody>
        </p:sp>
        <p:sp>
          <p:nvSpPr>
            <p:cNvPr id="10" name="Rectangle 9">
              <a:extLst>
                <a:ext uri="{FF2B5EF4-FFF2-40B4-BE49-F238E27FC236}">
                  <a16:creationId xmlns:a16="http://schemas.microsoft.com/office/drawing/2014/main" id="{0C3CE92A-A13F-D600-9D55-C49FFF9B546C}"/>
                </a:ext>
              </a:extLst>
            </p:cNvPr>
            <p:cNvSpPr/>
            <p:nvPr/>
          </p:nvSpPr>
          <p:spPr>
            <a:xfrm rot="5400000">
              <a:off x="10449414" y="4127358"/>
              <a:ext cx="566210" cy="15144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endParaRPr lang="en-US" sz="2400" dirty="0">
                <a:solidFill>
                  <a:schemeClr val="tx1"/>
                </a:solidFill>
              </a:endParaRPr>
            </a:p>
          </p:txBody>
        </p:sp>
      </p:grpSp>
      <p:sp>
        <p:nvSpPr>
          <p:cNvPr id="4" name="Slide Number Placeholder 3">
            <a:extLst>
              <a:ext uri="{FF2B5EF4-FFF2-40B4-BE49-F238E27FC236}">
                <a16:creationId xmlns:a16="http://schemas.microsoft.com/office/drawing/2014/main" id="{B98FCC9F-A561-31A5-B2C7-9B8ABCEA1481}"/>
              </a:ext>
            </a:extLst>
          </p:cNvPr>
          <p:cNvSpPr>
            <a:spLocks noGrp="1"/>
          </p:cNvSpPr>
          <p:nvPr>
            <p:ph type="sldNum" sz="quarter" idx="12"/>
          </p:nvPr>
        </p:nvSpPr>
        <p:spPr/>
        <p:txBody>
          <a:bodyPr/>
          <a:lstStyle/>
          <a:p>
            <a:fld id="{F8D8F54C-053C-4394-9990-70DE256B1A6D}" type="slidenum">
              <a:rPr lang="nl-NL" smtClean="0"/>
              <a:t>34</a:t>
            </a:fld>
            <a:endParaRPr lang="nl-NL"/>
          </a:p>
        </p:txBody>
      </p:sp>
    </p:spTree>
    <p:extLst>
      <p:ext uri="{BB962C8B-B14F-4D97-AF65-F5344CB8AC3E}">
        <p14:creationId xmlns:p14="http://schemas.microsoft.com/office/powerpoint/2010/main" val="38841411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6424"/>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Depicting the Trend – Least-Square Linear Regression</a:t>
            </a:r>
            <a:endParaRPr lang="nl-NL" sz="3200" b="1" dirty="0">
              <a:latin typeface="Times New Roman" panose="02020603050405020304" pitchFamily="18" charset="0"/>
              <a:cs typeface="Times New Roman" panose="02020603050405020304" pitchFamily="18" charset="0"/>
            </a:endParaRPr>
          </a:p>
        </p:txBody>
      </p:sp>
      <p:pic>
        <p:nvPicPr>
          <p:cNvPr id="11" name="Picture 10" descr="A close up of a map&#10;&#10;Description automatically generated">
            <a:extLst>
              <a:ext uri="{FF2B5EF4-FFF2-40B4-BE49-F238E27FC236}">
                <a16:creationId xmlns:a16="http://schemas.microsoft.com/office/drawing/2014/main" id="{F6DAFF6F-977D-4AD7-96AB-F3FB27B88697}"/>
              </a:ext>
            </a:extLst>
          </p:cNvPr>
          <p:cNvPicPr>
            <a:picLocks noChangeAspect="1"/>
          </p:cNvPicPr>
          <p:nvPr/>
        </p:nvPicPr>
        <p:blipFill rotWithShape="1">
          <a:blip r:embed="rId2">
            <a:extLst>
              <a:ext uri="{28A0092B-C50C-407E-A947-70E740481C1C}">
                <a14:useLocalDpi xmlns:a14="http://schemas.microsoft.com/office/drawing/2010/main" val="0"/>
              </a:ext>
            </a:extLst>
          </a:blip>
          <a:srcRect t="7407" r="6242" b="3470"/>
          <a:stretch/>
        </p:blipFill>
        <p:spPr>
          <a:xfrm>
            <a:off x="481391" y="1392245"/>
            <a:ext cx="4986666" cy="2925348"/>
          </a:xfrm>
          <a:prstGeom prst="rect">
            <a:avLst/>
          </a:prstGeom>
        </p:spPr>
      </p:pic>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3ADF1297-F367-46D3-B4E3-2D85E1471732}"/>
                  </a:ext>
                </a:extLst>
              </p:cNvPr>
              <p:cNvSpPr>
                <a:spLocks noGrp="1"/>
              </p:cNvSpPr>
              <p:nvPr>
                <p:ph idx="1"/>
              </p:nvPr>
            </p:nvSpPr>
            <p:spPr>
              <a:xfrm>
                <a:off x="7031731" y="1543296"/>
                <a:ext cx="4678878" cy="4948280"/>
              </a:xfrm>
            </p:spPr>
            <p:txBody>
              <a:bodyPr>
                <a:normAutofit lnSpcReduction="10000"/>
              </a:bodyPr>
              <a:lstStyle/>
              <a:p>
                <a:pPr marL="0" indent="0">
                  <a:buNone/>
                </a:pPr>
                <a:r>
                  <a:rPr lang="en-US" altLang="nl-NL" dirty="0">
                    <a:cs typeface="Times New Roman" panose="02020603050405020304" pitchFamily="18" charset="0"/>
                  </a:rPr>
                  <a:t>Given a set of points </a:t>
                </a:r>
                <a14:m>
                  <m:oMath xmlns:m="http://schemas.openxmlformats.org/officeDocument/2006/math">
                    <m:r>
                      <a:rPr lang="en-US" altLang="nl-NL" b="0" i="1" smtClean="0">
                        <a:latin typeface="Cambria Math" panose="02040503050406030204" pitchFamily="18" charset="0"/>
                        <a:cs typeface="Times New Roman" panose="02020603050405020304" pitchFamily="18" charset="0"/>
                      </a:rPr>
                      <m:t>(</m:t>
                    </m:r>
                    <m:sSub>
                      <m:sSubPr>
                        <m:ctrlPr>
                          <a:rPr lang="en-US" altLang="nl-NL" b="0" i="1" smtClean="0">
                            <a:latin typeface="Cambria Math" panose="02040503050406030204" pitchFamily="18" charset="0"/>
                            <a:cs typeface="Times New Roman" panose="02020603050405020304" pitchFamily="18" charset="0"/>
                          </a:rPr>
                        </m:ctrlPr>
                      </m:sSubPr>
                      <m:e>
                        <m:r>
                          <a:rPr lang="en-US" altLang="nl-NL" b="0" i="1" smtClean="0">
                            <a:latin typeface="Cambria Math" panose="02040503050406030204" pitchFamily="18" charset="0"/>
                            <a:cs typeface="Times New Roman" panose="02020603050405020304" pitchFamily="18" charset="0"/>
                          </a:rPr>
                          <m:t>𝑥</m:t>
                        </m:r>
                      </m:e>
                      <m:sub>
                        <m:r>
                          <a:rPr lang="en-US" altLang="nl-NL" b="0" i="1" smtClean="0">
                            <a:latin typeface="Cambria Math" panose="02040503050406030204" pitchFamily="18" charset="0"/>
                            <a:cs typeface="Times New Roman" panose="02020603050405020304" pitchFamily="18" charset="0"/>
                          </a:rPr>
                          <m:t>𝑖</m:t>
                        </m:r>
                      </m:sub>
                    </m:sSub>
                    <m:r>
                      <a:rPr lang="en-US" altLang="nl-NL" b="0" i="1" smtClean="0">
                        <a:latin typeface="Cambria Math" panose="02040503050406030204" pitchFamily="18" charset="0"/>
                        <a:cs typeface="Times New Roman" panose="02020603050405020304" pitchFamily="18" charset="0"/>
                      </a:rPr>
                      <m:t>, </m:t>
                    </m:r>
                    <m:sSub>
                      <m:sSubPr>
                        <m:ctrlPr>
                          <a:rPr lang="en-US" altLang="nl-NL" b="0" i="1" smtClean="0">
                            <a:latin typeface="Cambria Math" panose="02040503050406030204" pitchFamily="18" charset="0"/>
                            <a:cs typeface="Times New Roman" panose="02020603050405020304" pitchFamily="18" charset="0"/>
                          </a:rPr>
                        </m:ctrlPr>
                      </m:sSubPr>
                      <m:e>
                        <m:r>
                          <a:rPr lang="en-US" altLang="nl-NL" b="0" i="1" smtClean="0">
                            <a:latin typeface="Cambria Math" panose="02040503050406030204" pitchFamily="18" charset="0"/>
                            <a:cs typeface="Times New Roman" panose="02020603050405020304" pitchFamily="18" charset="0"/>
                          </a:rPr>
                          <m:t>𝑦</m:t>
                        </m:r>
                      </m:e>
                      <m:sub>
                        <m:r>
                          <a:rPr lang="en-US" altLang="nl-NL" b="0" i="1" smtClean="0">
                            <a:latin typeface="Cambria Math" panose="02040503050406030204" pitchFamily="18" charset="0"/>
                            <a:cs typeface="Times New Roman" panose="02020603050405020304" pitchFamily="18" charset="0"/>
                          </a:rPr>
                          <m:t>𝑖</m:t>
                        </m:r>
                      </m:sub>
                    </m:sSub>
                    <m:r>
                      <a:rPr lang="en-US" altLang="nl-NL" b="0" i="1" smtClean="0">
                        <a:latin typeface="Cambria Math" panose="02040503050406030204" pitchFamily="18" charset="0"/>
                        <a:cs typeface="Times New Roman" panose="02020603050405020304" pitchFamily="18" charset="0"/>
                      </a:rPr>
                      <m:t>)</m:t>
                    </m:r>
                  </m:oMath>
                </a14:m>
                <a:r>
                  <a:rPr lang="en-US" altLang="nl-NL" dirty="0">
                    <a:cs typeface="Times New Roman" panose="02020603050405020304" pitchFamily="18" charset="0"/>
                  </a:rPr>
                  <a:t> such as the points in the scatterplot, find the best fitting line </a:t>
                </a:r>
              </a:p>
              <a:p>
                <a:pPr marL="0" indent="0">
                  <a:buNone/>
                </a:pPr>
                <a:r>
                  <a:rPr lang="en-US" altLang="nl-NL" b="0" dirty="0">
                    <a:cs typeface="Times New Roman" panose="02020603050405020304" pitchFamily="18" charset="0"/>
                  </a:rPr>
                  <a:t>	</a:t>
                </a:r>
                <a14:m>
                  <m:oMath xmlns:m="http://schemas.openxmlformats.org/officeDocument/2006/math">
                    <m:r>
                      <a:rPr lang="en-US" altLang="nl-NL" b="0" i="1" smtClean="0">
                        <a:latin typeface="Cambria Math" panose="02040503050406030204" pitchFamily="18" charset="0"/>
                        <a:cs typeface="Times New Roman" panose="02020603050405020304" pitchFamily="18" charset="0"/>
                      </a:rPr>
                      <m:t>𝑓</m:t>
                    </m:r>
                    <m:d>
                      <m:dPr>
                        <m:ctrlPr>
                          <a:rPr lang="en-US" altLang="nl-NL" b="0" i="1" smtClean="0">
                            <a:latin typeface="Cambria Math" panose="02040503050406030204" pitchFamily="18" charset="0"/>
                            <a:cs typeface="Times New Roman" panose="02020603050405020304" pitchFamily="18" charset="0"/>
                          </a:rPr>
                        </m:ctrlPr>
                      </m:dPr>
                      <m:e>
                        <m:sSub>
                          <m:sSubPr>
                            <m:ctrlPr>
                              <a:rPr lang="en-US" altLang="nl-NL" b="0" i="1" smtClean="0">
                                <a:latin typeface="Cambria Math" panose="02040503050406030204" pitchFamily="18" charset="0"/>
                                <a:cs typeface="Times New Roman" panose="02020603050405020304" pitchFamily="18" charset="0"/>
                              </a:rPr>
                            </m:ctrlPr>
                          </m:sSubPr>
                          <m:e>
                            <m:r>
                              <a:rPr lang="en-US" altLang="nl-NL" b="0" i="1" smtClean="0">
                                <a:latin typeface="Cambria Math" panose="02040503050406030204" pitchFamily="18" charset="0"/>
                                <a:cs typeface="Times New Roman" panose="02020603050405020304" pitchFamily="18" charset="0"/>
                              </a:rPr>
                              <m:t>𝑥</m:t>
                            </m:r>
                          </m:e>
                          <m:sub>
                            <m:r>
                              <a:rPr lang="en-US" altLang="nl-NL" b="0" i="1" smtClean="0">
                                <a:latin typeface="Cambria Math" panose="02040503050406030204" pitchFamily="18" charset="0"/>
                                <a:cs typeface="Times New Roman" panose="02020603050405020304" pitchFamily="18" charset="0"/>
                              </a:rPr>
                              <m:t>𝑖</m:t>
                            </m:r>
                          </m:sub>
                        </m:sSub>
                      </m:e>
                    </m:d>
                    <m:r>
                      <a:rPr lang="en-US" altLang="nl-NL" b="0" i="1" smtClean="0">
                        <a:latin typeface="Cambria Math" panose="02040503050406030204" pitchFamily="18" charset="0"/>
                        <a:cs typeface="Times New Roman" panose="02020603050405020304" pitchFamily="18" charset="0"/>
                      </a:rPr>
                      <m:t>=</m:t>
                    </m:r>
                    <m:r>
                      <a:rPr lang="en-US" altLang="nl-NL" b="0" i="1" smtClean="0">
                        <a:latin typeface="Cambria Math" panose="02040503050406030204" pitchFamily="18" charset="0"/>
                        <a:cs typeface="Times New Roman" panose="02020603050405020304" pitchFamily="18" charset="0"/>
                      </a:rPr>
                      <m:t>𝑎</m:t>
                    </m:r>
                    <m:r>
                      <a:rPr lang="en-US" altLang="nl-NL" b="0" i="1" smtClean="0">
                        <a:latin typeface="Cambria Math" panose="02040503050406030204" pitchFamily="18" charset="0"/>
                        <a:cs typeface="Times New Roman" panose="02020603050405020304" pitchFamily="18" charset="0"/>
                      </a:rPr>
                      <m:t>+</m:t>
                    </m:r>
                    <m:r>
                      <a:rPr lang="en-US" altLang="nl-NL" b="0" i="1" smtClean="0">
                        <a:latin typeface="Cambria Math" panose="02040503050406030204" pitchFamily="18" charset="0"/>
                        <a:cs typeface="Times New Roman" panose="02020603050405020304" pitchFamily="18" charset="0"/>
                      </a:rPr>
                      <m:t>𝑏</m:t>
                    </m:r>
                    <m:sSub>
                      <m:sSubPr>
                        <m:ctrlPr>
                          <a:rPr lang="en-US" altLang="nl-NL" b="0" i="1" smtClean="0">
                            <a:latin typeface="Cambria Math" panose="02040503050406030204" pitchFamily="18" charset="0"/>
                            <a:cs typeface="Times New Roman" panose="02020603050405020304" pitchFamily="18" charset="0"/>
                          </a:rPr>
                        </m:ctrlPr>
                      </m:sSubPr>
                      <m:e>
                        <m:r>
                          <a:rPr lang="en-US" altLang="nl-NL" b="0" i="1" smtClean="0">
                            <a:latin typeface="Cambria Math" panose="02040503050406030204" pitchFamily="18" charset="0"/>
                            <a:cs typeface="Times New Roman" panose="02020603050405020304" pitchFamily="18" charset="0"/>
                          </a:rPr>
                          <m:t>𝑥</m:t>
                        </m:r>
                      </m:e>
                      <m:sub>
                        <m:r>
                          <a:rPr lang="en-US" altLang="nl-NL" b="0" i="1" smtClean="0">
                            <a:latin typeface="Cambria Math" panose="02040503050406030204" pitchFamily="18" charset="0"/>
                            <a:cs typeface="Times New Roman" panose="02020603050405020304" pitchFamily="18" charset="0"/>
                          </a:rPr>
                          <m:t>𝑖</m:t>
                        </m:r>
                      </m:sub>
                    </m:sSub>
                  </m:oMath>
                </a14:m>
                <a:r>
                  <a:rPr lang="en-US" altLang="nl-NL" dirty="0">
                    <a:cs typeface="Times New Roman" panose="02020603050405020304" pitchFamily="18" charset="0"/>
                  </a:rPr>
                  <a:t> </a:t>
                </a:r>
              </a:p>
              <a:p>
                <a:pPr marL="0" indent="0">
                  <a:buNone/>
                </a:pPr>
                <a:r>
                  <a:rPr lang="en-US" altLang="nl-NL" dirty="0">
                    <a:cs typeface="Times New Roman" panose="02020603050405020304" pitchFamily="18" charset="0"/>
                  </a:rPr>
                  <a:t>such that: </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altLang="nl-NL" i="1" smtClean="0">
                              <a:latin typeface="Cambria Math" panose="02040503050406030204" pitchFamily="18" charset="0"/>
                              <a:cs typeface="Times New Roman" panose="02020603050405020304" pitchFamily="18" charset="0"/>
                            </a:rPr>
                          </m:ctrlPr>
                        </m:mPr>
                        <m:mr>
                          <m:e>
                            <m:r>
                              <a:rPr lang="en-US" altLang="nl-NL" i="1">
                                <a:latin typeface="Cambria Math" panose="02040503050406030204" pitchFamily="18" charset="0"/>
                                <a:cs typeface="Times New Roman" panose="02020603050405020304" pitchFamily="18" charset="0"/>
                              </a:rPr>
                              <m:t>𝑆𝑆𝐸</m:t>
                            </m:r>
                            <m:r>
                              <a:rPr lang="en-US" altLang="nl-NL" i="1">
                                <a:latin typeface="Cambria Math" panose="02040503050406030204" pitchFamily="18" charset="0"/>
                                <a:cs typeface="Times New Roman" panose="02020603050405020304" pitchFamily="18" charset="0"/>
                              </a:rPr>
                              <m:t>=</m:t>
                            </m:r>
                            <m:nary>
                              <m:naryPr>
                                <m:chr m:val="∑"/>
                                <m:supHide m:val="on"/>
                                <m:ctrlPr>
                                  <a:rPr lang="en-US" altLang="nl-NL" i="1">
                                    <a:latin typeface="Cambria Math" panose="02040503050406030204" pitchFamily="18" charset="0"/>
                                    <a:cs typeface="Times New Roman" panose="02020603050405020304" pitchFamily="18" charset="0"/>
                                  </a:rPr>
                                </m:ctrlPr>
                              </m:naryPr>
                              <m:sub>
                                <m:r>
                                  <m:rPr>
                                    <m:brk m:alnAt="7"/>
                                  </m:rPr>
                                  <a:rPr lang="en-US" altLang="nl-NL" i="1">
                                    <a:latin typeface="Cambria Math" panose="02040503050406030204" pitchFamily="18" charset="0"/>
                                    <a:cs typeface="Times New Roman" panose="02020603050405020304" pitchFamily="18" charset="0"/>
                                  </a:rPr>
                                  <m:t>𝑖</m:t>
                                </m:r>
                              </m:sub>
                              <m:sup/>
                              <m:e>
                                <m:sSup>
                                  <m:sSupPr>
                                    <m:ctrlPr>
                                      <a:rPr lang="en-US" altLang="nl-NL" i="1">
                                        <a:latin typeface="Cambria Math" panose="02040503050406030204" pitchFamily="18" charset="0"/>
                                        <a:cs typeface="Times New Roman" panose="02020603050405020304" pitchFamily="18" charset="0"/>
                                      </a:rPr>
                                    </m:ctrlPr>
                                  </m:sSupPr>
                                  <m:e>
                                    <m:d>
                                      <m:dPr>
                                        <m:ctrlPr>
                                          <a:rPr lang="en-US" altLang="nl-NL" i="1">
                                            <a:latin typeface="Cambria Math" panose="02040503050406030204" pitchFamily="18" charset="0"/>
                                            <a:cs typeface="Times New Roman" panose="02020603050405020304" pitchFamily="18" charset="0"/>
                                          </a:rPr>
                                        </m:ctrlPr>
                                      </m:dPr>
                                      <m:e>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𝑦</m:t>
                                            </m:r>
                                          </m:e>
                                          <m:sub>
                                            <m:r>
                                              <a:rPr lang="en-US" altLang="nl-NL" i="1">
                                                <a:latin typeface="Cambria Math" panose="02040503050406030204" pitchFamily="18" charset="0"/>
                                                <a:cs typeface="Times New Roman" panose="02020603050405020304" pitchFamily="18" charset="0"/>
                                              </a:rPr>
                                              <m:t>𝑖</m:t>
                                            </m:r>
                                          </m:sub>
                                        </m:sSub>
                                        <m:r>
                                          <a:rPr lang="en-US" altLang="nl-NL" i="1">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𝑓</m:t>
                                        </m:r>
                                        <m:d>
                                          <m:dPr>
                                            <m:ctrlPr>
                                              <a:rPr lang="en-US" altLang="nl-NL" i="1">
                                                <a:latin typeface="Cambria Math" panose="02040503050406030204" pitchFamily="18" charset="0"/>
                                                <a:cs typeface="Times New Roman" panose="02020603050405020304" pitchFamily="18" charset="0"/>
                                              </a:rPr>
                                            </m:ctrlPr>
                                          </m:dPr>
                                          <m:e>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𝑥</m:t>
                                                </m:r>
                                              </m:e>
                                              <m:sub>
                                                <m:r>
                                                  <a:rPr lang="en-US" altLang="nl-NL" i="1">
                                                    <a:latin typeface="Cambria Math" panose="02040503050406030204" pitchFamily="18" charset="0"/>
                                                    <a:cs typeface="Times New Roman" panose="02020603050405020304" pitchFamily="18" charset="0"/>
                                                  </a:rPr>
                                                  <m:t>𝑖</m:t>
                                                </m:r>
                                              </m:sub>
                                            </m:sSub>
                                          </m:e>
                                        </m:d>
                                      </m:e>
                                    </m:d>
                                  </m:e>
                                  <m:sup>
                                    <m:r>
                                      <a:rPr lang="en-US" altLang="nl-NL" i="1">
                                        <a:latin typeface="Cambria Math" panose="02040503050406030204" pitchFamily="18" charset="0"/>
                                        <a:cs typeface="Times New Roman" panose="02020603050405020304" pitchFamily="18" charset="0"/>
                                      </a:rPr>
                                      <m:t>2</m:t>
                                    </m:r>
                                  </m:sup>
                                </m:sSup>
                              </m:e>
                            </m:nary>
                          </m:e>
                        </m:mr>
                        <m:mr>
                          <m:e>
                            <m:r>
                              <a:rPr lang="en-US" altLang="nl-NL" b="0" i="1" smtClean="0">
                                <a:latin typeface="Cambria Math" panose="02040503050406030204" pitchFamily="18" charset="0"/>
                                <a:cs typeface="Times New Roman" panose="02020603050405020304" pitchFamily="18" charset="0"/>
                              </a:rPr>
                              <m:t>=</m:t>
                            </m:r>
                            <m:nary>
                              <m:naryPr>
                                <m:chr m:val="∑"/>
                                <m:supHide m:val="on"/>
                                <m:ctrlPr>
                                  <a:rPr lang="en-US" altLang="nl-NL" i="1">
                                    <a:latin typeface="Cambria Math" panose="02040503050406030204" pitchFamily="18" charset="0"/>
                                    <a:cs typeface="Times New Roman" panose="02020603050405020304" pitchFamily="18" charset="0"/>
                                  </a:rPr>
                                </m:ctrlPr>
                              </m:naryPr>
                              <m:sub>
                                <m:r>
                                  <m:rPr>
                                    <m:brk m:alnAt="7"/>
                                  </m:rPr>
                                  <a:rPr lang="en-US" altLang="nl-NL" i="1">
                                    <a:latin typeface="Cambria Math" panose="02040503050406030204" pitchFamily="18" charset="0"/>
                                    <a:cs typeface="Times New Roman" panose="02020603050405020304" pitchFamily="18" charset="0"/>
                                  </a:rPr>
                                  <m:t>𝑖</m:t>
                                </m:r>
                              </m:sub>
                              <m:sup/>
                              <m:e>
                                <m:sSup>
                                  <m:sSupPr>
                                    <m:ctrlPr>
                                      <a:rPr lang="en-US" altLang="nl-NL" i="1">
                                        <a:latin typeface="Cambria Math" panose="02040503050406030204" pitchFamily="18" charset="0"/>
                                        <a:cs typeface="Times New Roman" panose="02020603050405020304" pitchFamily="18" charset="0"/>
                                      </a:rPr>
                                    </m:ctrlPr>
                                  </m:sSupPr>
                                  <m:e>
                                    <m:d>
                                      <m:dPr>
                                        <m:ctrlPr>
                                          <a:rPr lang="en-US" altLang="nl-NL" i="1">
                                            <a:latin typeface="Cambria Math" panose="02040503050406030204" pitchFamily="18" charset="0"/>
                                            <a:cs typeface="Times New Roman" panose="02020603050405020304" pitchFamily="18" charset="0"/>
                                          </a:rPr>
                                        </m:ctrlPr>
                                      </m:dPr>
                                      <m:e>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𝑦</m:t>
                                            </m:r>
                                          </m:e>
                                          <m:sub>
                                            <m:r>
                                              <a:rPr lang="en-US" altLang="nl-NL" i="1">
                                                <a:latin typeface="Cambria Math" panose="02040503050406030204" pitchFamily="18" charset="0"/>
                                                <a:cs typeface="Times New Roman" panose="02020603050405020304" pitchFamily="18" charset="0"/>
                                              </a:rPr>
                                              <m:t>𝑖</m:t>
                                            </m:r>
                                          </m:sub>
                                        </m:sSub>
                                        <m:r>
                                          <a:rPr lang="en-US" altLang="nl-NL" i="1">
                                            <a:latin typeface="Cambria Math" panose="02040503050406030204" pitchFamily="18" charset="0"/>
                                            <a:cs typeface="Times New Roman" panose="02020603050405020304" pitchFamily="18" charset="0"/>
                                          </a:rPr>
                                          <m:t>−</m:t>
                                        </m:r>
                                        <m:r>
                                          <a:rPr lang="en-US" altLang="nl-NL" b="0" i="1" smtClean="0">
                                            <a:latin typeface="Cambria Math" panose="02040503050406030204" pitchFamily="18" charset="0"/>
                                            <a:cs typeface="Times New Roman" panose="02020603050405020304" pitchFamily="18" charset="0"/>
                                          </a:rPr>
                                          <m:t>𝑎</m:t>
                                        </m:r>
                                        <m:r>
                                          <a:rPr lang="en-US" altLang="nl-NL" b="0" i="1" smtClean="0">
                                            <a:latin typeface="Cambria Math" panose="02040503050406030204" pitchFamily="18" charset="0"/>
                                            <a:cs typeface="Times New Roman" panose="02020603050405020304" pitchFamily="18" charset="0"/>
                                          </a:rPr>
                                          <m:t>−</m:t>
                                        </m:r>
                                        <m:r>
                                          <a:rPr lang="en-US" altLang="nl-NL" b="0" i="1" smtClean="0">
                                            <a:latin typeface="Cambria Math" panose="02040503050406030204" pitchFamily="18" charset="0"/>
                                            <a:cs typeface="Times New Roman" panose="02020603050405020304" pitchFamily="18" charset="0"/>
                                          </a:rPr>
                                          <m:t>𝑏</m:t>
                                        </m:r>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𝑥</m:t>
                                            </m:r>
                                          </m:e>
                                          <m:sub>
                                            <m:r>
                                              <a:rPr lang="en-US" altLang="nl-NL" i="1">
                                                <a:latin typeface="Cambria Math" panose="02040503050406030204" pitchFamily="18" charset="0"/>
                                                <a:cs typeface="Times New Roman" panose="02020603050405020304" pitchFamily="18" charset="0"/>
                                              </a:rPr>
                                              <m:t>𝑖</m:t>
                                            </m:r>
                                          </m:sub>
                                        </m:sSub>
                                      </m:e>
                                    </m:d>
                                  </m:e>
                                  <m:sup>
                                    <m:r>
                                      <a:rPr lang="en-US" altLang="nl-NL" i="1">
                                        <a:latin typeface="Cambria Math" panose="02040503050406030204" pitchFamily="18" charset="0"/>
                                        <a:cs typeface="Times New Roman" panose="02020603050405020304" pitchFamily="18" charset="0"/>
                                      </a:rPr>
                                      <m:t>2</m:t>
                                    </m:r>
                                  </m:sup>
                                </m:sSup>
                              </m:e>
                            </m:nary>
                          </m:e>
                        </m:mr>
                      </m:m>
                    </m:oMath>
                  </m:oMathPara>
                </a14:m>
                <a:endParaRPr lang="en-US" altLang="nl-NL" dirty="0">
                  <a:cs typeface="Times New Roman" panose="02020603050405020304" pitchFamily="18" charset="0"/>
                </a:endParaRPr>
              </a:p>
              <a:p>
                <a:pPr marL="0" indent="0">
                  <a:buNone/>
                </a:pPr>
                <a:r>
                  <a:rPr lang="en-US" altLang="nl-NL" dirty="0">
                    <a:cs typeface="Times New Roman" panose="02020603050405020304" pitchFamily="18" charset="0"/>
                  </a:rPr>
                  <a:t>is minimized</a:t>
                </a:r>
              </a:p>
            </p:txBody>
          </p:sp>
        </mc:Choice>
        <mc:Fallback xmlns="">
          <p:sp>
            <p:nvSpPr>
              <p:cNvPr id="12" name="Content Placeholder 2">
                <a:extLst>
                  <a:ext uri="{FF2B5EF4-FFF2-40B4-BE49-F238E27FC236}">
                    <a16:creationId xmlns:a16="http://schemas.microsoft.com/office/drawing/2014/main" id="{3ADF1297-F367-46D3-B4E3-2D85E1471732}"/>
                  </a:ext>
                </a:extLst>
              </p:cNvPr>
              <p:cNvSpPr>
                <a:spLocks noGrp="1" noRot="1" noChangeAspect="1" noMove="1" noResize="1" noEditPoints="1" noAdjustHandles="1" noChangeArrowheads="1" noChangeShapeType="1" noTextEdit="1"/>
              </p:cNvSpPr>
              <p:nvPr>
                <p:ph idx="1"/>
              </p:nvPr>
            </p:nvSpPr>
            <p:spPr>
              <a:xfrm>
                <a:off x="7031731" y="1543296"/>
                <a:ext cx="4678878" cy="4948280"/>
              </a:xfrm>
              <a:blipFill>
                <a:blip r:embed="rId3"/>
                <a:stretch>
                  <a:fillRect l="-4595" t="-2813" r="-4324" b="-30435"/>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C199DE4-F2A6-1F4A-AF53-0DEB099FB126}"/>
              </a:ext>
            </a:extLst>
          </p:cNvPr>
          <p:cNvSpPr>
            <a:spLocks noGrp="1"/>
          </p:cNvSpPr>
          <p:nvPr>
            <p:ph type="sldNum" sz="quarter" idx="12"/>
          </p:nvPr>
        </p:nvSpPr>
        <p:spPr/>
        <p:txBody>
          <a:bodyPr/>
          <a:lstStyle/>
          <a:p>
            <a:fld id="{F8D8F54C-053C-4394-9990-70DE256B1A6D}" type="slidenum">
              <a:rPr lang="nl-NL" smtClean="0"/>
              <a:t>35</a:t>
            </a:fld>
            <a:endParaRPr lang="nl-NL"/>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36D6F25B-1801-703D-988D-3EC5F2AAB1B7}"/>
                  </a:ext>
                </a:extLst>
              </p:cNvPr>
              <p:cNvSpPr txBox="1">
                <a:spLocks/>
              </p:cNvSpPr>
              <p:nvPr/>
            </p:nvSpPr>
            <p:spPr>
              <a:xfrm>
                <a:off x="373124" y="4639432"/>
                <a:ext cx="5455556" cy="18678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lang="en-US" altLang="nl-NL" sz="2400" i="1" dirty="0" smtClean="0">
                        <a:solidFill>
                          <a:srgbClr val="C00000"/>
                        </a:solidFill>
                        <a:latin typeface="Cambria Math" panose="02040503050406030204" pitchFamily="18" charset="0"/>
                        <a:cs typeface="Times New Roman" panose="02020603050405020304" pitchFamily="18" charset="0"/>
                      </a:rPr>
                      <m:t>𝑎</m:t>
                    </m:r>
                    <m:r>
                      <a:rPr lang="en-US" altLang="nl-NL" sz="2400" i="1" dirty="0" smtClean="0">
                        <a:solidFill>
                          <a:srgbClr val="C00000"/>
                        </a:solidFill>
                        <a:latin typeface="Cambria Math" panose="02040503050406030204" pitchFamily="18" charset="0"/>
                        <a:cs typeface="Times New Roman" panose="02020603050405020304" pitchFamily="18" charset="0"/>
                      </a:rPr>
                      <m:t>, </m:t>
                    </m:r>
                    <m:r>
                      <a:rPr lang="en-US" altLang="nl-NL" sz="2400" i="1" dirty="0" smtClean="0">
                        <a:solidFill>
                          <a:srgbClr val="C00000"/>
                        </a:solidFill>
                        <a:latin typeface="Cambria Math" panose="02040503050406030204" pitchFamily="18" charset="0"/>
                        <a:cs typeface="Times New Roman" panose="02020603050405020304" pitchFamily="18" charset="0"/>
                      </a:rPr>
                      <m:t>𝑏</m:t>
                    </m:r>
                  </m:oMath>
                </a14:m>
                <a:r>
                  <a:rPr lang="en-US" altLang="nl-NL" sz="2400" dirty="0">
                    <a:cs typeface="Times New Roman" panose="02020603050405020304" pitchFamily="18" charset="0"/>
                  </a:rPr>
                  <a:t> are the coefficients of the regression model</a:t>
                </a:r>
              </a:p>
              <a:p>
                <a:pPr lvl="1"/>
                <a:r>
                  <a:rPr lang="en-US" altLang="nl-NL" sz="2200" dirty="0">
                    <a:cs typeface="Times New Roman" panose="02020603050405020304" pitchFamily="18" charset="0"/>
                  </a:rPr>
                  <a:t>Usually,</a:t>
                </a:r>
                <a:r>
                  <a:rPr lang="en-US" altLang="nl-NL" sz="2200" dirty="0">
                    <a:solidFill>
                      <a:srgbClr val="C00000"/>
                    </a:solidFill>
                    <a:cs typeface="Times New Roman" panose="02020603050405020304" pitchFamily="18" charset="0"/>
                  </a:rPr>
                  <a:t> </a:t>
                </a:r>
                <a14:m>
                  <m:oMath xmlns:m="http://schemas.openxmlformats.org/officeDocument/2006/math">
                    <m:r>
                      <a:rPr lang="en-US" altLang="nl-NL" sz="2200" i="1" dirty="0" smtClean="0">
                        <a:solidFill>
                          <a:srgbClr val="C00000"/>
                        </a:solidFill>
                        <a:latin typeface="Cambria Math" panose="02040503050406030204" pitchFamily="18" charset="0"/>
                        <a:cs typeface="Times New Roman" panose="02020603050405020304" pitchFamily="18" charset="0"/>
                      </a:rPr>
                      <m:t>𝑎</m:t>
                    </m:r>
                  </m:oMath>
                </a14:m>
                <a:r>
                  <a:rPr lang="en-US" altLang="nl-NL" sz="2200" dirty="0">
                    <a:cs typeface="Times New Roman" panose="02020603050405020304" pitchFamily="18" charset="0"/>
                  </a:rPr>
                  <a:t> is called the intercept and </a:t>
                </a:r>
                <a14:m>
                  <m:oMath xmlns:m="http://schemas.openxmlformats.org/officeDocument/2006/math">
                    <m:r>
                      <a:rPr lang="en-US" altLang="nl-NL" sz="2200" i="1" dirty="0" smtClean="0">
                        <a:solidFill>
                          <a:srgbClr val="C00000"/>
                        </a:solidFill>
                        <a:latin typeface="Cambria Math" panose="02040503050406030204" pitchFamily="18" charset="0"/>
                        <a:cs typeface="Times New Roman" panose="02020603050405020304" pitchFamily="18" charset="0"/>
                      </a:rPr>
                      <m:t>𝑏</m:t>
                    </m:r>
                  </m:oMath>
                </a14:m>
                <a:r>
                  <a:rPr lang="en-US" altLang="nl-NL" sz="2200" dirty="0">
                    <a:cs typeface="Times New Roman" panose="02020603050405020304" pitchFamily="18" charset="0"/>
                  </a:rPr>
                  <a:t> is called the coefficient</a:t>
                </a:r>
              </a:p>
            </p:txBody>
          </p:sp>
        </mc:Choice>
        <mc:Fallback xmlns="">
          <p:sp>
            <p:nvSpPr>
              <p:cNvPr id="4" name="Content Placeholder 2">
                <a:extLst>
                  <a:ext uri="{FF2B5EF4-FFF2-40B4-BE49-F238E27FC236}">
                    <a16:creationId xmlns:a16="http://schemas.microsoft.com/office/drawing/2014/main" id="{36D6F25B-1801-703D-988D-3EC5F2AAB1B7}"/>
                  </a:ext>
                </a:extLst>
              </p:cNvPr>
              <p:cNvSpPr txBox="1">
                <a:spLocks noRot="1" noChangeAspect="1" noMove="1" noResize="1" noEditPoints="1" noAdjustHandles="1" noChangeArrowheads="1" noChangeShapeType="1" noTextEdit="1"/>
              </p:cNvSpPr>
              <p:nvPr/>
            </p:nvSpPr>
            <p:spPr>
              <a:xfrm>
                <a:off x="373124" y="4639432"/>
                <a:ext cx="5455556" cy="1867802"/>
              </a:xfrm>
              <a:prstGeom prst="rect">
                <a:avLst/>
              </a:prstGeom>
              <a:blipFill>
                <a:blip r:embed="rId4"/>
                <a:stretch>
                  <a:fillRect l="-1395" t="-4054" r="-1860"/>
                </a:stretch>
              </a:blipFill>
            </p:spPr>
            <p:txBody>
              <a:bodyPr/>
              <a:lstStyle/>
              <a:p>
                <a:r>
                  <a:rPr lang="en-US">
                    <a:noFill/>
                  </a:rPr>
                  <a:t> </a:t>
                </a:r>
              </a:p>
            </p:txBody>
          </p:sp>
        </mc:Fallback>
      </mc:AlternateContent>
    </p:spTree>
    <p:extLst>
      <p:ext uri="{BB962C8B-B14F-4D97-AF65-F5344CB8AC3E}">
        <p14:creationId xmlns:p14="http://schemas.microsoft.com/office/powerpoint/2010/main" val="28863335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Depicting the Trend – Least-Square Linear Regression</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lnSpc>
                    <a:spcPct val="110000"/>
                  </a:lnSpc>
                </a:pPr>
                <a:r>
                  <a:rPr lang="en-US" altLang="nl-NL" dirty="0">
                    <a:cs typeface="Times New Roman" panose="02020603050405020304" pitchFamily="18" charset="0"/>
                  </a:rPr>
                  <a:t>The above optimization problem can be solved by:</a:t>
                </a:r>
              </a:p>
              <a:p>
                <a:pPr marL="914400" lvl="1" indent="-457200">
                  <a:lnSpc>
                    <a:spcPct val="110000"/>
                  </a:lnSpc>
                  <a:buFont typeface="+mj-lt"/>
                  <a:buAutoNum type="arabicPeriod"/>
                </a:pPr>
                <a:r>
                  <a:rPr lang="en-US" altLang="nl-NL" dirty="0">
                    <a:cs typeface="Times New Roman" panose="02020603050405020304" pitchFamily="18" charset="0"/>
                  </a:rPr>
                  <a:t> Taking the partial derivatives of </a:t>
                </a:r>
                <a14:m>
                  <m:oMath xmlns:m="http://schemas.openxmlformats.org/officeDocument/2006/math">
                    <m:r>
                      <a:rPr lang="en-US" altLang="nl-NL" i="1" dirty="0" smtClean="0">
                        <a:latin typeface="Cambria Math" panose="02040503050406030204" pitchFamily="18" charset="0"/>
                        <a:cs typeface="Times New Roman" panose="02020603050405020304" pitchFamily="18" charset="0"/>
                      </a:rPr>
                      <m:t>𝑆𝑆𝐸</m:t>
                    </m:r>
                  </m:oMath>
                </a14:m>
                <a:r>
                  <a:rPr lang="en-US" altLang="nl-NL" dirty="0">
                    <a:cs typeface="Times New Roman" panose="02020603050405020304" pitchFamily="18" charset="0"/>
                  </a:rPr>
                  <a:t> with respect to </a:t>
                </a:r>
                <a14:m>
                  <m:oMath xmlns:m="http://schemas.openxmlformats.org/officeDocument/2006/math">
                    <m:r>
                      <a:rPr lang="en-US" altLang="nl-NL" b="0" i="1" smtClean="0">
                        <a:latin typeface="Cambria Math" panose="02040503050406030204" pitchFamily="18" charset="0"/>
                        <a:cs typeface="Times New Roman" panose="02020603050405020304" pitchFamily="18" charset="0"/>
                      </a:rPr>
                      <m:t>𝑎</m:t>
                    </m:r>
                  </m:oMath>
                </a14:m>
                <a:r>
                  <a:rPr lang="en-US" altLang="nl-NL" dirty="0">
                    <a:cs typeface="Times New Roman" panose="02020603050405020304" pitchFamily="18" charset="0"/>
                  </a:rPr>
                  <a:t> and </a:t>
                </a:r>
                <a14:m>
                  <m:oMath xmlns:m="http://schemas.openxmlformats.org/officeDocument/2006/math">
                    <m:r>
                      <a:rPr lang="en-US" altLang="nl-NL" i="1" smtClean="0">
                        <a:latin typeface="Cambria Math" panose="02040503050406030204" pitchFamily="18" charset="0"/>
                        <a:cs typeface="Times New Roman" panose="02020603050405020304" pitchFamily="18" charset="0"/>
                      </a:rPr>
                      <m:t>𝑏</m:t>
                    </m:r>
                  </m:oMath>
                </a14:m>
                <a:endParaRPr lang="en-US" altLang="nl-NL" dirty="0">
                  <a:cs typeface="Times New Roman" panose="02020603050405020304" pitchFamily="18" charset="0"/>
                </a:endParaRPr>
              </a:p>
              <a:p>
                <a:pPr marL="914400" lvl="1" indent="-457200">
                  <a:lnSpc>
                    <a:spcPct val="110000"/>
                  </a:lnSpc>
                  <a:buFont typeface="+mj-lt"/>
                  <a:buAutoNum type="arabicPeriod"/>
                </a:pPr>
                <a:r>
                  <a:rPr lang="en-US" altLang="nl-NL" dirty="0">
                    <a:cs typeface="Times New Roman" panose="02020603050405020304" pitchFamily="18" charset="0"/>
                  </a:rPr>
                  <a:t>Setting </a:t>
                </a:r>
                <a14:m>
                  <m:oMath xmlns:m="http://schemas.openxmlformats.org/officeDocument/2006/math">
                    <m:f>
                      <m:fPr>
                        <m:ctrlPr>
                          <a:rPr lang="en-US" altLang="nl-NL" i="1" smtClean="0">
                            <a:latin typeface="Cambria Math" panose="02040503050406030204" pitchFamily="18" charset="0"/>
                            <a:cs typeface="Times New Roman" panose="02020603050405020304" pitchFamily="18" charset="0"/>
                          </a:rPr>
                        </m:ctrlPr>
                      </m:fPr>
                      <m:num>
                        <m:r>
                          <a:rPr lang="en-US" altLang="nl-NL"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nl-NL" b="0" i="1" smtClean="0">
                            <a:latin typeface="Cambria Math" panose="02040503050406030204" pitchFamily="18" charset="0"/>
                            <a:ea typeface="Cambria Math" panose="02040503050406030204" pitchFamily="18" charset="0"/>
                            <a:cs typeface="Times New Roman" panose="02020603050405020304" pitchFamily="18" charset="0"/>
                          </a:rPr>
                          <m:t>𝑆𝑆𝐸</m:t>
                        </m:r>
                      </m:num>
                      <m:den>
                        <m:r>
                          <a:rPr lang="en-US" altLang="nl-NL" i="1">
                            <a:latin typeface="Cambria Math" panose="02040503050406030204" pitchFamily="18" charset="0"/>
                            <a:ea typeface="Cambria Math" panose="02040503050406030204" pitchFamily="18" charset="0"/>
                            <a:cs typeface="Times New Roman" panose="02020603050405020304" pitchFamily="18" charset="0"/>
                          </a:rPr>
                          <m:t>𝜕</m:t>
                        </m:r>
                        <m:r>
                          <a:rPr lang="en-US" altLang="nl-NL" b="0" i="1" smtClean="0">
                            <a:latin typeface="Cambria Math" panose="02040503050406030204" pitchFamily="18" charset="0"/>
                            <a:ea typeface="Cambria Math" panose="02040503050406030204" pitchFamily="18" charset="0"/>
                            <a:cs typeface="Times New Roman" panose="02020603050405020304" pitchFamily="18" charset="0"/>
                          </a:rPr>
                          <m:t>𝑎</m:t>
                        </m:r>
                      </m:den>
                    </m:f>
                  </m:oMath>
                </a14:m>
                <a:r>
                  <a:rPr lang="en-US" altLang="nl-NL" dirty="0">
                    <a:cs typeface="Times New Roman" panose="02020603050405020304" pitchFamily="18" charset="0"/>
                  </a:rPr>
                  <a:t> and </a:t>
                </a:r>
                <a14:m>
                  <m:oMath xmlns:m="http://schemas.openxmlformats.org/officeDocument/2006/math">
                    <m:f>
                      <m:fPr>
                        <m:ctrlPr>
                          <a:rPr lang="en-US" altLang="nl-NL" i="1">
                            <a:latin typeface="Cambria Math" panose="02040503050406030204" pitchFamily="18" charset="0"/>
                            <a:cs typeface="Times New Roman" panose="02020603050405020304" pitchFamily="18" charset="0"/>
                          </a:rPr>
                        </m:ctrlPr>
                      </m:fPr>
                      <m:num>
                        <m:r>
                          <a:rPr lang="en-US" altLang="nl-NL" i="1">
                            <a:latin typeface="Cambria Math" panose="02040503050406030204" pitchFamily="18" charset="0"/>
                            <a:ea typeface="Cambria Math" panose="02040503050406030204" pitchFamily="18" charset="0"/>
                            <a:cs typeface="Times New Roman" panose="02020603050405020304" pitchFamily="18" charset="0"/>
                          </a:rPr>
                          <m:t>𝜕</m:t>
                        </m:r>
                        <m:r>
                          <a:rPr lang="en-US" altLang="nl-NL" i="1">
                            <a:latin typeface="Cambria Math" panose="02040503050406030204" pitchFamily="18" charset="0"/>
                            <a:ea typeface="Cambria Math" panose="02040503050406030204" pitchFamily="18" charset="0"/>
                            <a:cs typeface="Times New Roman" panose="02020603050405020304" pitchFamily="18" charset="0"/>
                          </a:rPr>
                          <m:t>𝑆𝑆𝐸</m:t>
                        </m:r>
                      </m:num>
                      <m:den>
                        <m:r>
                          <a:rPr lang="en-US" altLang="nl-NL" i="1">
                            <a:latin typeface="Cambria Math" panose="02040503050406030204" pitchFamily="18" charset="0"/>
                            <a:ea typeface="Cambria Math" panose="02040503050406030204" pitchFamily="18" charset="0"/>
                            <a:cs typeface="Times New Roman" panose="02020603050405020304" pitchFamily="18" charset="0"/>
                          </a:rPr>
                          <m:t>𝜕</m:t>
                        </m:r>
                        <m:r>
                          <a:rPr lang="en-US" altLang="nl-NL" i="1" smtClean="0">
                            <a:latin typeface="Cambria Math" panose="02040503050406030204" pitchFamily="18" charset="0"/>
                            <a:ea typeface="Cambria Math" panose="02040503050406030204" pitchFamily="18" charset="0"/>
                            <a:cs typeface="Times New Roman" panose="02020603050405020304" pitchFamily="18" charset="0"/>
                          </a:rPr>
                          <m:t>𝑏</m:t>
                        </m:r>
                      </m:den>
                    </m:f>
                  </m:oMath>
                </a14:m>
                <a:r>
                  <a:rPr lang="en-US" altLang="nl-NL" dirty="0">
                    <a:cs typeface="Times New Roman" panose="02020603050405020304" pitchFamily="18" charset="0"/>
                  </a:rPr>
                  <a:t> to 0</a:t>
                </a:r>
              </a:p>
              <a:p>
                <a:pPr marL="914400" lvl="1" indent="-457200">
                  <a:lnSpc>
                    <a:spcPct val="110000"/>
                  </a:lnSpc>
                  <a:buFont typeface="+mj-lt"/>
                  <a:buAutoNum type="arabicPeriod"/>
                </a:pPr>
                <a:r>
                  <a:rPr lang="en-US" altLang="nl-NL" dirty="0">
                    <a:cs typeface="Times New Roman" panose="02020603050405020304" pitchFamily="18" charset="0"/>
                  </a:rPr>
                  <a:t>Solving the system of linear equations</a:t>
                </a:r>
              </a:p>
              <a:p>
                <a:pPr marL="457200" lvl="1" indent="457200">
                  <a:lnSpc>
                    <a:spcPct val="110000"/>
                  </a:lnSpc>
                  <a:buNone/>
                </a:pPr>
                <a:r>
                  <a:rPr lang="en-US" altLang="nl-NL" dirty="0">
                    <a:cs typeface="Times New Roman" panose="02020603050405020304" pitchFamily="18" charset="0"/>
                  </a:rPr>
                  <a:t>Since: </a:t>
                </a:r>
                <a14:m>
                  <m:oMath xmlns:m="http://schemas.openxmlformats.org/officeDocument/2006/math">
                    <m:r>
                      <a:rPr lang="en-US" altLang="nl-NL" i="1">
                        <a:latin typeface="Cambria Math" panose="02040503050406030204" pitchFamily="18" charset="0"/>
                        <a:cs typeface="Times New Roman" panose="02020603050405020304" pitchFamily="18" charset="0"/>
                      </a:rPr>
                      <m:t>𝑆𝑆𝐸</m:t>
                    </m:r>
                    <m:r>
                      <a:rPr lang="en-US" altLang="nl-NL" i="1">
                        <a:latin typeface="Cambria Math" panose="02040503050406030204" pitchFamily="18" charset="0"/>
                        <a:cs typeface="Times New Roman" panose="02020603050405020304" pitchFamily="18" charset="0"/>
                      </a:rPr>
                      <m:t>=</m:t>
                    </m:r>
                    <m:nary>
                      <m:naryPr>
                        <m:chr m:val="∑"/>
                        <m:supHide m:val="on"/>
                        <m:ctrlPr>
                          <a:rPr lang="en-US" altLang="nl-NL" i="1">
                            <a:latin typeface="Cambria Math" panose="02040503050406030204" pitchFamily="18" charset="0"/>
                            <a:cs typeface="Times New Roman" panose="02020603050405020304" pitchFamily="18" charset="0"/>
                          </a:rPr>
                        </m:ctrlPr>
                      </m:naryPr>
                      <m:sub>
                        <m:r>
                          <m:rPr>
                            <m:brk m:alnAt="7"/>
                          </m:rPr>
                          <a:rPr lang="en-US" altLang="nl-NL" i="1">
                            <a:latin typeface="Cambria Math" panose="02040503050406030204" pitchFamily="18" charset="0"/>
                            <a:cs typeface="Times New Roman" panose="02020603050405020304" pitchFamily="18" charset="0"/>
                          </a:rPr>
                          <m:t>𝑖</m:t>
                        </m:r>
                      </m:sub>
                      <m:sup/>
                      <m:e>
                        <m:sSup>
                          <m:sSupPr>
                            <m:ctrlPr>
                              <a:rPr lang="en-US" altLang="nl-NL" i="1">
                                <a:latin typeface="Cambria Math" panose="02040503050406030204" pitchFamily="18" charset="0"/>
                                <a:cs typeface="Times New Roman" panose="02020603050405020304" pitchFamily="18" charset="0"/>
                              </a:rPr>
                            </m:ctrlPr>
                          </m:sSupPr>
                          <m:e>
                            <m:d>
                              <m:dPr>
                                <m:ctrlPr>
                                  <a:rPr lang="en-US" altLang="nl-NL" i="1">
                                    <a:latin typeface="Cambria Math" panose="02040503050406030204" pitchFamily="18" charset="0"/>
                                    <a:cs typeface="Times New Roman" panose="02020603050405020304" pitchFamily="18" charset="0"/>
                                  </a:rPr>
                                </m:ctrlPr>
                              </m:dPr>
                              <m:e>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𝑦</m:t>
                                    </m:r>
                                  </m:e>
                                  <m:sub>
                                    <m:r>
                                      <a:rPr lang="en-US" altLang="nl-NL" i="1">
                                        <a:latin typeface="Cambria Math" panose="02040503050406030204" pitchFamily="18" charset="0"/>
                                        <a:cs typeface="Times New Roman" panose="02020603050405020304" pitchFamily="18" charset="0"/>
                                      </a:rPr>
                                      <m:t>𝑖</m:t>
                                    </m:r>
                                  </m:sub>
                                </m:sSub>
                                <m:r>
                                  <a:rPr lang="en-US" altLang="nl-NL" i="1">
                                    <a:latin typeface="Cambria Math" panose="02040503050406030204" pitchFamily="18" charset="0"/>
                                    <a:cs typeface="Times New Roman" panose="02020603050405020304" pitchFamily="18" charset="0"/>
                                  </a:rPr>
                                  <m:t>−</m:t>
                                </m:r>
                                <m:r>
                                  <a:rPr lang="en-US" altLang="nl-NL" b="0" i="1" smtClean="0">
                                    <a:latin typeface="Cambria Math" panose="02040503050406030204" pitchFamily="18" charset="0"/>
                                    <a:cs typeface="Times New Roman" panose="02020603050405020304" pitchFamily="18" charset="0"/>
                                  </a:rPr>
                                  <m:t>𝑎</m:t>
                                </m:r>
                                <m:r>
                                  <a:rPr lang="en-US" altLang="nl-NL" i="1">
                                    <a:latin typeface="Cambria Math" panose="02040503050406030204" pitchFamily="18" charset="0"/>
                                    <a:cs typeface="Times New Roman" panose="02020603050405020304" pitchFamily="18" charset="0"/>
                                  </a:rPr>
                                  <m:t>−</m:t>
                                </m:r>
                                <m:r>
                                  <a:rPr lang="en-US" altLang="nl-NL" b="0" i="1" smtClean="0">
                                    <a:latin typeface="Cambria Math" panose="02040503050406030204" pitchFamily="18" charset="0"/>
                                    <a:cs typeface="Times New Roman" panose="02020603050405020304" pitchFamily="18" charset="0"/>
                                  </a:rPr>
                                  <m:t>𝑏</m:t>
                                </m:r>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𝑥</m:t>
                                    </m:r>
                                  </m:e>
                                  <m:sub>
                                    <m:r>
                                      <a:rPr lang="en-US" altLang="nl-NL" i="1">
                                        <a:latin typeface="Cambria Math" panose="02040503050406030204" pitchFamily="18" charset="0"/>
                                        <a:cs typeface="Times New Roman" panose="02020603050405020304" pitchFamily="18" charset="0"/>
                                      </a:rPr>
                                      <m:t>𝑖</m:t>
                                    </m:r>
                                  </m:sub>
                                </m:sSub>
                              </m:e>
                            </m:d>
                          </m:e>
                          <m:sup>
                            <m:r>
                              <a:rPr lang="en-US" altLang="nl-NL" i="1">
                                <a:latin typeface="Cambria Math" panose="02040503050406030204" pitchFamily="18" charset="0"/>
                                <a:cs typeface="Times New Roman" panose="02020603050405020304" pitchFamily="18" charset="0"/>
                              </a:rPr>
                              <m:t>2</m:t>
                            </m:r>
                          </m:sup>
                        </m:sSup>
                      </m:e>
                    </m:nary>
                  </m:oMath>
                </a14:m>
                <a:endParaRPr lang="en-US" altLang="nl-NL" dirty="0">
                  <a:cs typeface="Times New Roman" panose="02020603050405020304" pitchFamily="18" charset="0"/>
                </a:endParaRPr>
              </a:p>
              <a:p>
                <a:pPr marL="457200" lvl="1" indent="457200">
                  <a:lnSpc>
                    <a:spcPct val="110000"/>
                  </a:lnSpc>
                  <a:buNone/>
                </a:pPr>
                <a:r>
                  <a:rPr lang="en-US" altLang="nl-NL" dirty="0">
                    <a:cs typeface="Times New Roman" panose="02020603050405020304" pitchFamily="18" charset="0"/>
                  </a:rPr>
                  <a:t>Then </a:t>
                </a:r>
                <a14:m>
                  <m:oMath xmlns:m="http://schemas.openxmlformats.org/officeDocument/2006/math">
                    <m:f>
                      <m:fPr>
                        <m:ctrlPr>
                          <a:rPr lang="en-US" altLang="nl-NL" i="1">
                            <a:latin typeface="Cambria Math" panose="02040503050406030204" pitchFamily="18" charset="0"/>
                            <a:cs typeface="Times New Roman" panose="02020603050405020304" pitchFamily="18" charset="0"/>
                          </a:rPr>
                        </m:ctrlPr>
                      </m:fPr>
                      <m:num>
                        <m:r>
                          <a:rPr lang="en-US" altLang="nl-NL" i="1">
                            <a:latin typeface="Cambria Math" panose="02040503050406030204" pitchFamily="18" charset="0"/>
                            <a:ea typeface="Cambria Math" panose="02040503050406030204" pitchFamily="18" charset="0"/>
                            <a:cs typeface="Times New Roman" panose="02020603050405020304" pitchFamily="18" charset="0"/>
                          </a:rPr>
                          <m:t>𝜕</m:t>
                        </m:r>
                        <m:r>
                          <a:rPr lang="en-US" altLang="nl-NL" i="1">
                            <a:latin typeface="Cambria Math" panose="02040503050406030204" pitchFamily="18" charset="0"/>
                            <a:ea typeface="Cambria Math" panose="02040503050406030204" pitchFamily="18" charset="0"/>
                            <a:cs typeface="Times New Roman" panose="02020603050405020304" pitchFamily="18" charset="0"/>
                          </a:rPr>
                          <m:t>𝑆𝑆𝐸</m:t>
                        </m:r>
                      </m:num>
                      <m:den>
                        <m:r>
                          <a:rPr lang="en-US" altLang="nl-NL" i="1">
                            <a:latin typeface="Cambria Math" panose="02040503050406030204" pitchFamily="18" charset="0"/>
                            <a:ea typeface="Cambria Math" panose="02040503050406030204" pitchFamily="18" charset="0"/>
                            <a:cs typeface="Times New Roman" panose="02020603050405020304" pitchFamily="18" charset="0"/>
                          </a:rPr>
                          <m:t>𝜕</m:t>
                        </m:r>
                        <m:r>
                          <a:rPr lang="en-US" altLang="nl-NL" i="1" smtClean="0">
                            <a:latin typeface="Cambria Math" panose="02040503050406030204" pitchFamily="18" charset="0"/>
                            <a:ea typeface="Cambria Math" panose="02040503050406030204" pitchFamily="18" charset="0"/>
                            <a:cs typeface="Times New Roman" panose="02020603050405020304" pitchFamily="18" charset="0"/>
                          </a:rPr>
                          <m:t>𝑎</m:t>
                        </m:r>
                      </m:den>
                    </m:f>
                    <m:r>
                      <a:rPr lang="en-US" altLang="nl-NL" b="0" i="1" smtClean="0">
                        <a:latin typeface="Cambria Math" panose="02040503050406030204" pitchFamily="18" charset="0"/>
                        <a:cs typeface="Times New Roman" panose="02020603050405020304" pitchFamily="18" charset="0"/>
                      </a:rPr>
                      <m:t>=−2</m:t>
                    </m:r>
                    <m:nary>
                      <m:naryPr>
                        <m:chr m:val="∑"/>
                        <m:supHide m:val="on"/>
                        <m:ctrlPr>
                          <a:rPr lang="en-US" altLang="nl-NL" i="1">
                            <a:latin typeface="Cambria Math" panose="02040503050406030204" pitchFamily="18" charset="0"/>
                            <a:cs typeface="Times New Roman" panose="02020603050405020304" pitchFamily="18" charset="0"/>
                          </a:rPr>
                        </m:ctrlPr>
                      </m:naryPr>
                      <m:sub>
                        <m:r>
                          <m:rPr>
                            <m:brk m:alnAt="7"/>
                          </m:rPr>
                          <a:rPr lang="en-US" altLang="nl-NL" i="1">
                            <a:latin typeface="Cambria Math" panose="02040503050406030204" pitchFamily="18" charset="0"/>
                            <a:cs typeface="Times New Roman" panose="02020603050405020304" pitchFamily="18" charset="0"/>
                          </a:rPr>
                          <m:t>𝑖</m:t>
                        </m:r>
                      </m:sub>
                      <m:sup/>
                      <m:e>
                        <m:d>
                          <m:dPr>
                            <m:ctrlPr>
                              <a:rPr lang="en-US" altLang="nl-NL" i="1">
                                <a:latin typeface="Cambria Math" panose="02040503050406030204" pitchFamily="18" charset="0"/>
                                <a:cs typeface="Times New Roman" panose="02020603050405020304" pitchFamily="18" charset="0"/>
                              </a:rPr>
                            </m:ctrlPr>
                          </m:dPr>
                          <m:e>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𝑦</m:t>
                                </m:r>
                              </m:e>
                              <m:sub>
                                <m:r>
                                  <a:rPr lang="en-US" altLang="nl-NL" i="1">
                                    <a:latin typeface="Cambria Math" panose="02040503050406030204" pitchFamily="18" charset="0"/>
                                    <a:cs typeface="Times New Roman" panose="02020603050405020304" pitchFamily="18" charset="0"/>
                                  </a:rPr>
                                  <m:t>𝑖</m:t>
                                </m:r>
                              </m:sub>
                            </m:sSub>
                            <m:r>
                              <a:rPr lang="en-US" altLang="nl-NL" i="1">
                                <a:latin typeface="Cambria Math" panose="02040503050406030204" pitchFamily="18" charset="0"/>
                                <a:cs typeface="Times New Roman" panose="02020603050405020304" pitchFamily="18" charset="0"/>
                              </a:rPr>
                              <m:t>−</m:t>
                            </m:r>
                            <m:r>
                              <a:rPr lang="en-US" altLang="nl-NL" b="0" i="1" smtClean="0">
                                <a:latin typeface="Cambria Math" panose="02040503050406030204" pitchFamily="18" charset="0"/>
                                <a:cs typeface="Times New Roman" panose="02020603050405020304" pitchFamily="18" charset="0"/>
                              </a:rPr>
                              <m:t>𝑎</m:t>
                            </m:r>
                            <m:r>
                              <a:rPr lang="en-US" altLang="nl-NL" i="1">
                                <a:latin typeface="Cambria Math" panose="02040503050406030204" pitchFamily="18" charset="0"/>
                                <a:cs typeface="Times New Roman" panose="02020603050405020304" pitchFamily="18" charset="0"/>
                              </a:rPr>
                              <m:t>−</m:t>
                            </m:r>
                            <m:r>
                              <a:rPr lang="en-US" altLang="nl-NL" b="0" i="1" smtClean="0">
                                <a:latin typeface="Cambria Math" panose="02040503050406030204" pitchFamily="18" charset="0"/>
                                <a:cs typeface="Times New Roman" panose="02020603050405020304" pitchFamily="18" charset="0"/>
                              </a:rPr>
                              <m:t>𝑏</m:t>
                            </m:r>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𝑥</m:t>
                                </m:r>
                              </m:e>
                              <m:sub>
                                <m:r>
                                  <a:rPr lang="en-US" altLang="nl-NL" i="1">
                                    <a:latin typeface="Cambria Math" panose="02040503050406030204" pitchFamily="18" charset="0"/>
                                    <a:cs typeface="Times New Roman" panose="02020603050405020304" pitchFamily="18" charset="0"/>
                                  </a:rPr>
                                  <m:t>𝑖</m:t>
                                </m:r>
                              </m:sub>
                            </m:sSub>
                          </m:e>
                        </m:d>
                      </m:e>
                    </m:nary>
                    <m:r>
                      <a:rPr lang="en-US" altLang="nl-NL" b="0" i="1" smtClean="0">
                        <a:latin typeface="Cambria Math" panose="02040503050406030204" pitchFamily="18" charset="0"/>
                        <a:cs typeface="Times New Roman" panose="02020603050405020304" pitchFamily="18" charset="0"/>
                      </a:rPr>
                      <m:t>=0</m:t>
                    </m:r>
                  </m:oMath>
                </a14:m>
                <a:endParaRPr lang="en-US" altLang="nl-NL" dirty="0">
                  <a:cs typeface="Times New Roman" panose="02020603050405020304" pitchFamily="18" charset="0"/>
                </a:endParaRPr>
              </a:p>
              <a:p>
                <a:pPr marL="457200" lvl="1" indent="457200">
                  <a:lnSpc>
                    <a:spcPct val="110000"/>
                  </a:lnSpc>
                  <a:buNone/>
                </a:pPr>
                <a:r>
                  <a:rPr lang="en-US" altLang="nl-NL" dirty="0">
                    <a:cs typeface="Times New Roman" panose="02020603050405020304" pitchFamily="18" charset="0"/>
                  </a:rPr>
                  <a:t>And  </a:t>
                </a:r>
                <a14:m>
                  <m:oMath xmlns:m="http://schemas.openxmlformats.org/officeDocument/2006/math">
                    <m:f>
                      <m:fPr>
                        <m:ctrlPr>
                          <a:rPr lang="en-US" altLang="nl-NL" i="1">
                            <a:latin typeface="Cambria Math" panose="02040503050406030204" pitchFamily="18" charset="0"/>
                            <a:cs typeface="Times New Roman" panose="02020603050405020304" pitchFamily="18" charset="0"/>
                          </a:rPr>
                        </m:ctrlPr>
                      </m:fPr>
                      <m:num>
                        <m:r>
                          <a:rPr lang="en-US" altLang="nl-NL" i="1">
                            <a:latin typeface="Cambria Math" panose="02040503050406030204" pitchFamily="18" charset="0"/>
                            <a:ea typeface="Cambria Math" panose="02040503050406030204" pitchFamily="18" charset="0"/>
                            <a:cs typeface="Times New Roman" panose="02020603050405020304" pitchFamily="18" charset="0"/>
                          </a:rPr>
                          <m:t>𝜕</m:t>
                        </m:r>
                        <m:r>
                          <a:rPr lang="en-US" altLang="nl-NL" i="1">
                            <a:latin typeface="Cambria Math" panose="02040503050406030204" pitchFamily="18" charset="0"/>
                            <a:ea typeface="Cambria Math" panose="02040503050406030204" pitchFamily="18" charset="0"/>
                            <a:cs typeface="Times New Roman" panose="02020603050405020304" pitchFamily="18" charset="0"/>
                          </a:rPr>
                          <m:t>𝑆𝑆𝐸</m:t>
                        </m:r>
                      </m:num>
                      <m:den>
                        <m:r>
                          <a:rPr lang="en-US" altLang="nl-NL" i="1">
                            <a:latin typeface="Cambria Math" panose="02040503050406030204" pitchFamily="18" charset="0"/>
                            <a:ea typeface="Cambria Math" panose="02040503050406030204" pitchFamily="18" charset="0"/>
                            <a:cs typeface="Times New Roman" panose="02020603050405020304" pitchFamily="18" charset="0"/>
                          </a:rPr>
                          <m:t>𝜕</m:t>
                        </m:r>
                        <m:r>
                          <a:rPr lang="en-US" altLang="nl-NL" b="0" i="1" smtClean="0">
                            <a:latin typeface="Cambria Math" panose="02040503050406030204" pitchFamily="18" charset="0"/>
                            <a:ea typeface="Cambria Math" panose="02040503050406030204" pitchFamily="18" charset="0"/>
                            <a:cs typeface="Times New Roman" panose="02020603050405020304" pitchFamily="18" charset="0"/>
                          </a:rPr>
                          <m:t>𝑏</m:t>
                        </m:r>
                      </m:den>
                    </m:f>
                    <m:r>
                      <a:rPr lang="en-US" altLang="nl-NL" b="0" i="1" smtClean="0">
                        <a:latin typeface="Cambria Math" panose="02040503050406030204" pitchFamily="18" charset="0"/>
                        <a:cs typeface="Times New Roman" panose="02020603050405020304" pitchFamily="18" charset="0"/>
                      </a:rPr>
                      <m:t>=</m:t>
                    </m:r>
                    <m:r>
                      <a:rPr lang="en-US" altLang="nl-NL" i="1">
                        <a:latin typeface="Cambria Math" panose="02040503050406030204" pitchFamily="18" charset="0"/>
                        <a:cs typeface="Times New Roman" panose="02020603050405020304" pitchFamily="18" charset="0"/>
                      </a:rPr>
                      <m:t>−2</m:t>
                    </m:r>
                    <m:nary>
                      <m:naryPr>
                        <m:chr m:val="∑"/>
                        <m:supHide m:val="on"/>
                        <m:ctrlPr>
                          <a:rPr lang="en-US" altLang="nl-NL" i="1">
                            <a:latin typeface="Cambria Math" panose="02040503050406030204" pitchFamily="18" charset="0"/>
                            <a:cs typeface="Times New Roman" panose="02020603050405020304" pitchFamily="18" charset="0"/>
                          </a:rPr>
                        </m:ctrlPr>
                      </m:naryPr>
                      <m:sub>
                        <m:r>
                          <m:rPr>
                            <m:brk m:alnAt="7"/>
                          </m:rPr>
                          <a:rPr lang="en-US" altLang="nl-NL" i="1">
                            <a:latin typeface="Cambria Math" panose="02040503050406030204" pitchFamily="18" charset="0"/>
                            <a:cs typeface="Times New Roman" panose="02020603050405020304" pitchFamily="18" charset="0"/>
                          </a:rPr>
                          <m:t>𝑖</m:t>
                        </m:r>
                      </m:sub>
                      <m:sup/>
                      <m:e>
                        <m:sSub>
                          <m:sSubPr>
                            <m:ctrlPr>
                              <a:rPr lang="en-US" altLang="nl-NL" b="0" i="1" smtClean="0">
                                <a:latin typeface="Cambria Math" panose="02040503050406030204" pitchFamily="18" charset="0"/>
                                <a:cs typeface="Times New Roman" panose="02020603050405020304" pitchFamily="18" charset="0"/>
                              </a:rPr>
                            </m:ctrlPr>
                          </m:sSubPr>
                          <m:e>
                            <m:r>
                              <a:rPr lang="en-US" altLang="nl-NL" b="0" i="1" smtClean="0">
                                <a:latin typeface="Cambria Math" panose="02040503050406030204" pitchFamily="18" charset="0"/>
                                <a:cs typeface="Times New Roman" panose="02020603050405020304" pitchFamily="18" charset="0"/>
                              </a:rPr>
                              <m:t>𝑥</m:t>
                            </m:r>
                          </m:e>
                          <m:sub>
                            <m:r>
                              <a:rPr lang="en-US" altLang="nl-NL" b="0" i="1" smtClean="0">
                                <a:latin typeface="Cambria Math" panose="02040503050406030204" pitchFamily="18" charset="0"/>
                                <a:cs typeface="Times New Roman" panose="02020603050405020304" pitchFamily="18" charset="0"/>
                              </a:rPr>
                              <m:t>𝑖</m:t>
                            </m:r>
                          </m:sub>
                        </m:sSub>
                        <m:d>
                          <m:dPr>
                            <m:ctrlPr>
                              <a:rPr lang="en-US" altLang="nl-NL" i="1">
                                <a:latin typeface="Cambria Math" panose="02040503050406030204" pitchFamily="18" charset="0"/>
                                <a:cs typeface="Times New Roman" panose="02020603050405020304" pitchFamily="18" charset="0"/>
                              </a:rPr>
                            </m:ctrlPr>
                          </m:dPr>
                          <m:e>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𝑦</m:t>
                                </m:r>
                              </m:e>
                              <m:sub>
                                <m:r>
                                  <a:rPr lang="en-US" altLang="nl-NL" i="1">
                                    <a:latin typeface="Cambria Math" panose="02040503050406030204" pitchFamily="18" charset="0"/>
                                    <a:cs typeface="Times New Roman" panose="02020603050405020304" pitchFamily="18" charset="0"/>
                                  </a:rPr>
                                  <m:t>𝑖</m:t>
                                </m:r>
                              </m:sub>
                            </m:sSub>
                            <m:r>
                              <a:rPr lang="en-US" altLang="nl-NL" i="1">
                                <a:latin typeface="Cambria Math" panose="02040503050406030204" pitchFamily="18" charset="0"/>
                                <a:cs typeface="Times New Roman" panose="02020603050405020304" pitchFamily="18" charset="0"/>
                              </a:rPr>
                              <m:t>−</m:t>
                            </m:r>
                            <m:r>
                              <a:rPr lang="en-US" altLang="nl-NL" b="0" i="1" smtClean="0">
                                <a:latin typeface="Cambria Math" panose="02040503050406030204" pitchFamily="18" charset="0"/>
                                <a:cs typeface="Times New Roman" panose="02020603050405020304" pitchFamily="18" charset="0"/>
                              </a:rPr>
                              <m:t>𝑎</m:t>
                            </m:r>
                            <m:r>
                              <a:rPr lang="en-US" altLang="nl-NL" i="1">
                                <a:latin typeface="Cambria Math" panose="02040503050406030204" pitchFamily="18" charset="0"/>
                                <a:cs typeface="Times New Roman" panose="02020603050405020304" pitchFamily="18" charset="0"/>
                              </a:rPr>
                              <m:t>−</m:t>
                            </m:r>
                            <m:r>
                              <a:rPr lang="en-US" altLang="nl-NL" b="0" i="1" smtClean="0">
                                <a:latin typeface="Cambria Math" panose="02040503050406030204" pitchFamily="18" charset="0"/>
                                <a:cs typeface="Times New Roman" panose="02020603050405020304" pitchFamily="18" charset="0"/>
                              </a:rPr>
                              <m:t>𝑏</m:t>
                            </m:r>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𝑥</m:t>
                                </m:r>
                              </m:e>
                              <m:sub>
                                <m:r>
                                  <a:rPr lang="en-US" altLang="nl-NL" i="1">
                                    <a:latin typeface="Cambria Math" panose="02040503050406030204" pitchFamily="18" charset="0"/>
                                    <a:cs typeface="Times New Roman" panose="02020603050405020304" pitchFamily="18" charset="0"/>
                                  </a:rPr>
                                  <m:t>𝑖</m:t>
                                </m:r>
                              </m:sub>
                            </m:sSub>
                          </m:e>
                        </m:d>
                      </m:e>
                    </m:nary>
                    <m:r>
                      <a:rPr lang="en-US" altLang="nl-NL" i="1">
                        <a:latin typeface="Cambria Math" panose="02040503050406030204" pitchFamily="18" charset="0"/>
                        <a:cs typeface="Times New Roman" panose="02020603050405020304" pitchFamily="18" charset="0"/>
                      </a:rPr>
                      <m:t>=0</m:t>
                    </m:r>
                  </m:oMath>
                </a14:m>
                <a:endParaRPr lang="en-US" altLang="nl-NL" dirty="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838200" y="1544595"/>
                <a:ext cx="10515600" cy="4948280"/>
              </a:xfrm>
              <a:blipFill>
                <a:blip r:embed="rId2"/>
                <a:stretch>
                  <a:fillRect l="-1086" t="-76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01B21BF-3C7D-A8D1-B3B9-782A8204BAB5}"/>
              </a:ext>
            </a:extLst>
          </p:cNvPr>
          <p:cNvSpPr>
            <a:spLocks noGrp="1"/>
          </p:cNvSpPr>
          <p:nvPr>
            <p:ph type="sldNum" sz="quarter" idx="12"/>
          </p:nvPr>
        </p:nvSpPr>
        <p:spPr/>
        <p:txBody>
          <a:bodyPr/>
          <a:lstStyle/>
          <a:p>
            <a:fld id="{F8D8F54C-053C-4394-9990-70DE256B1A6D}" type="slidenum">
              <a:rPr lang="nl-NL" smtClean="0"/>
              <a:t>36</a:t>
            </a:fld>
            <a:endParaRPr lang="nl-NL"/>
          </a:p>
        </p:txBody>
      </p:sp>
    </p:spTree>
    <p:extLst>
      <p:ext uri="{BB962C8B-B14F-4D97-AF65-F5344CB8AC3E}">
        <p14:creationId xmlns:p14="http://schemas.microsoft.com/office/powerpoint/2010/main" val="39654291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Depicting the Trend – Least-Square Linear Regression</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lnSpc>
                    <a:spcPct val="110000"/>
                  </a:lnSpc>
                </a:pPr>
                <a:r>
                  <a:rPr lang="en-US" altLang="nl-NL" dirty="0">
                    <a:cs typeface="Times New Roman" panose="02020603050405020304" pitchFamily="18" charset="0"/>
                  </a:rPr>
                  <a:t>The equations can be summarized by the normal equation:</a:t>
                </a:r>
              </a:p>
              <a:p>
                <a:pPr marL="457200" lvl="1" indent="457200">
                  <a:lnSpc>
                    <a:spcPct val="110000"/>
                  </a:lnSpc>
                  <a:buNone/>
                </a:pPr>
                <a14:m>
                  <m:oMathPara xmlns:m="http://schemas.openxmlformats.org/officeDocument/2006/math">
                    <m:oMathParaPr>
                      <m:jc m:val="centerGroup"/>
                    </m:oMathParaPr>
                    <m:oMath xmlns:m="http://schemas.openxmlformats.org/officeDocument/2006/math">
                      <m:d>
                        <m:dPr>
                          <m:ctrlPr>
                            <a:rPr lang="en-US" altLang="nl-NL" i="1" smtClean="0">
                              <a:latin typeface="Cambria Math" panose="02040503050406030204" pitchFamily="18" charset="0"/>
                              <a:cs typeface="Times New Roman" panose="02020603050405020304" pitchFamily="18" charset="0"/>
                            </a:rPr>
                          </m:ctrlPr>
                        </m:dPr>
                        <m:e>
                          <m:m>
                            <m:mPr>
                              <m:mcs>
                                <m:mc>
                                  <m:mcPr>
                                    <m:count m:val="2"/>
                                    <m:mcJc m:val="center"/>
                                  </m:mcPr>
                                </m:mc>
                              </m:mcs>
                              <m:ctrlPr>
                                <a:rPr lang="en-US" altLang="nl-NL" i="1" smtClean="0">
                                  <a:latin typeface="Cambria Math" panose="02040503050406030204" pitchFamily="18" charset="0"/>
                                  <a:cs typeface="Times New Roman" panose="02020603050405020304" pitchFamily="18" charset="0"/>
                                </a:rPr>
                              </m:ctrlPr>
                            </m:mPr>
                            <m:mr>
                              <m:e>
                                <m:r>
                                  <m:rPr>
                                    <m:brk m:alnAt="7"/>
                                  </m:rPr>
                                  <a:rPr lang="en-US" altLang="nl-NL" b="0" i="1" smtClean="0">
                                    <a:latin typeface="Cambria Math" panose="02040503050406030204" pitchFamily="18" charset="0"/>
                                    <a:cs typeface="Times New Roman" panose="02020603050405020304" pitchFamily="18" charset="0"/>
                                  </a:rPr>
                                  <m:t>𝑁</m:t>
                                </m:r>
                              </m:e>
                              <m:e>
                                <m:nary>
                                  <m:naryPr>
                                    <m:chr m:val="∑"/>
                                    <m:supHide m:val="on"/>
                                    <m:ctrlPr>
                                      <a:rPr lang="en-US" altLang="nl-NL" i="1">
                                        <a:latin typeface="Cambria Math" panose="02040503050406030204" pitchFamily="18" charset="0"/>
                                        <a:cs typeface="Times New Roman" panose="02020603050405020304" pitchFamily="18" charset="0"/>
                                      </a:rPr>
                                    </m:ctrlPr>
                                  </m:naryPr>
                                  <m:sub>
                                    <m:r>
                                      <m:rPr>
                                        <m:brk m:alnAt="7"/>
                                      </m:rPr>
                                      <a:rPr lang="en-US" altLang="nl-NL" i="1">
                                        <a:latin typeface="Cambria Math" panose="02040503050406030204" pitchFamily="18" charset="0"/>
                                        <a:cs typeface="Times New Roman" panose="02020603050405020304" pitchFamily="18" charset="0"/>
                                      </a:rPr>
                                      <m:t>𝑖</m:t>
                                    </m:r>
                                  </m:sub>
                                  <m:sup/>
                                  <m:e>
                                    <m:sSub>
                                      <m:sSubPr>
                                        <m:ctrlPr>
                                          <a:rPr lang="en-US" altLang="nl-NL" b="0" i="1" smtClean="0">
                                            <a:latin typeface="Cambria Math" panose="02040503050406030204" pitchFamily="18" charset="0"/>
                                            <a:cs typeface="Times New Roman" panose="02020603050405020304" pitchFamily="18" charset="0"/>
                                          </a:rPr>
                                        </m:ctrlPr>
                                      </m:sSubPr>
                                      <m:e>
                                        <m:r>
                                          <a:rPr lang="en-US" altLang="nl-NL" b="0" i="1" smtClean="0">
                                            <a:latin typeface="Cambria Math" panose="02040503050406030204" pitchFamily="18" charset="0"/>
                                            <a:cs typeface="Times New Roman" panose="02020603050405020304" pitchFamily="18" charset="0"/>
                                          </a:rPr>
                                          <m:t>𝑥</m:t>
                                        </m:r>
                                      </m:e>
                                      <m:sub>
                                        <m:r>
                                          <a:rPr lang="en-US" altLang="nl-NL" b="0" i="1" smtClean="0">
                                            <a:latin typeface="Cambria Math" panose="02040503050406030204" pitchFamily="18" charset="0"/>
                                            <a:cs typeface="Times New Roman" panose="02020603050405020304" pitchFamily="18" charset="0"/>
                                          </a:rPr>
                                          <m:t>𝑖</m:t>
                                        </m:r>
                                      </m:sub>
                                    </m:sSub>
                                  </m:e>
                                </m:nary>
                              </m:e>
                            </m:mr>
                            <m:mr>
                              <m:e>
                                <m:nary>
                                  <m:naryPr>
                                    <m:chr m:val="∑"/>
                                    <m:supHide m:val="on"/>
                                    <m:ctrlPr>
                                      <a:rPr lang="en-US" altLang="nl-NL" i="1">
                                        <a:latin typeface="Cambria Math" panose="02040503050406030204" pitchFamily="18" charset="0"/>
                                        <a:cs typeface="Times New Roman" panose="02020603050405020304" pitchFamily="18" charset="0"/>
                                      </a:rPr>
                                    </m:ctrlPr>
                                  </m:naryPr>
                                  <m:sub>
                                    <m:r>
                                      <m:rPr>
                                        <m:brk m:alnAt="7"/>
                                      </m:rPr>
                                      <a:rPr lang="en-US" altLang="nl-NL" i="1">
                                        <a:latin typeface="Cambria Math" panose="02040503050406030204" pitchFamily="18" charset="0"/>
                                        <a:cs typeface="Times New Roman" panose="02020603050405020304" pitchFamily="18" charset="0"/>
                                      </a:rPr>
                                      <m:t>𝑖</m:t>
                                    </m:r>
                                  </m:sub>
                                  <m:sup/>
                                  <m:e>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𝑥</m:t>
                                        </m:r>
                                      </m:e>
                                      <m:sub>
                                        <m:r>
                                          <a:rPr lang="en-US" altLang="nl-NL" i="1">
                                            <a:latin typeface="Cambria Math" panose="02040503050406030204" pitchFamily="18" charset="0"/>
                                            <a:cs typeface="Times New Roman" panose="02020603050405020304" pitchFamily="18" charset="0"/>
                                          </a:rPr>
                                          <m:t>𝑖</m:t>
                                        </m:r>
                                      </m:sub>
                                    </m:sSub>
                                  </m:e>
                                </m:nary>
                              </m:e>
                              <m:e>
                                <m:nary>
                                  <m:naryPr>
                                    <m:chr m:val="∑"/>
                                    <m:supHide m:val="on"/>
                                    <m:ctrlPr>
                                      <a:rPr lang="en-US" altLang="nl-NL" i="1">
                                        <a:latin typeface="Cambria Math" panose="02040503050406030204" pitchFamily="18" charset="0"/>
                                        <a:cs typeface="Times New Roman" panose="02020603050405020304" pitchFamily="18" charset="0"/>
                                      </a:rPr>
                                    </m:ctrlPr>
                                  </m:naryPr>
                                  <m:sub>
                                    <m:r>
                                      <m:rPr>
                                        <m:brk m:alnAt="7"/>
                                      </m:rPr>
                                      <a:rPr lang="en-US" altLang="nl-NL" i="1">
                                        <a:latin typeface="Cambria Math" panose="02040503050406030204" pitchFamily="18" charset="0"/>
                                        <a:cs typeface="Times New Roman" panose="02020603050405020304" pitchFamily="18" charset="0"/>
                                      </a:rPr>
                                      <m:t>𝑖</m:t>
                                    </m:r>
                                  </m:sub>
                                  <m:sup/>
                                  <m:e>
                                    <m:sSubSup>
                                      <m:sSubSupPr>
                                        <m:ctrlPr>
                                          <a:rPr lang="en-US" altLang="nl-NL" b="0" i="1" smtClean="0">
                                            <a:latin typeface="Cambria Math" panose="02040503050406030204" pitchFamily="18" charset="0"/>
                                            <a:cs typeface="Times New Roman" panose="02020603050405020304" pitchFamily="18" charset="0"/>
                                          </a:rPr>
                                        </m:ctrlPr>
                                      </m:sSubSupPr>
                                      <m:e>
                                        <m:r>
                                          <a:rPr lang="en-US" altLang="nl-NL" i="1">
                                            <a:latin typeface="Cambria Math" panose="02040503050406030204" pitchFamily="18" charset="0"/>
                                            <a:cs typeface="Times New Roman" panose="02020603050405020304" pitchFamily="18" charset="0"/>
                                          </a:rPr>
                                          <m:t>𝑥</m:t>
                                        </m:r>
                                      </m:e>
                                      <m:sub>
                                        <m:r>
                                          <a:rPr lang="en-US" altLang="nl-NL" i="1">
                                            <a:latin typeface="Cambria Math" panose="02040503050406030204" pitchFamily="18" charset="0"/>
                                            <a:cs typeface="Times New Roman" panose="02020603050405020304" pitchFamily="18" charset="0"/>
                                          </a:rPr>
                                          <m:t>𝑖</m:t>
                                        </m:r>
                                      </m:sub>
                                      <m:sup>
                                        <m:r>
                                          <a:rPr lang="en-US" altLang="nl-NL" b="0" i="1" smtClean="0">
                                            <a:latin typeface="Cambria Math" panose="02040503050406030204" pitchFamily="18" charset="0"/>
                                            <a:cs typeface="Times New Roman" panose="02020603050405020304" pitchFamily="18" charset="0"/>
                                          </a:rPr>
                                          <m:t>2</m:t>
                                        </m:r>
                                      </m:sup>
                                    </m:sSubSup>
                                  </m:e>
                                </m:nary>
                              </m:e>
                            </m:mr>
                          </m:m>
                        </m:e>
                      </m:d>
                      <m:d>
                        <m:dPr>
                          <m:ctrlPr>
                            <a:rPr lang="en-US" altLang="nl-NL" i="1" smtClean="0">
                              <a:latin typeface="Cambria Math" panose="02040503050406030204" pitchFamily="18" charset="0"/>
                              <a:cs typeface="Times New Roman" panose="02020603050405020304" pitchFamily="18" charset="0"/>
                            </a:rPr>
                          </m:ctrlPr>
                        </m:dPr>
                        <m:e>
                          <m:m>
                            <m:mPr>
                              <m:mcs>
                                <m:mc>
                                  <m:mcPr>
                                    <m:count m:val="1"/>
                                    <m:mcJc m:val="center"/>
                                  </m:mcPr>
                                </m:mc>
                              </m:mcs>
                              <m:ctrlPr>
                                <a:rPr lang="en-US" altLang="nl-NL" i="1" smtClean="0">
                                  <a:latin typeface="Cambria Math" panose="02040503050406030204" pitchFamily="18" charset="0"/>
                                  <a:cs typeface="Times New Roman" panose="02020603050405020304" pitchFamily="18" charset="0"/>
                                </a:rPr>
                              </m:ctrlPr>
                            </m:mPr>
                            <m:mr>
                              <m:e>
                                <m:r>
                                  <a:rPr lang="en-US" altLang="nl-NL" b="0" i="1" smtClean="0">
                                    <a:latin typeface="Cambria Math" panose="02040503050406030204" pitchFamily="18" charset="0"/>
                                    <a:cs typeface="Times New Roman" panose="02020603050405020304" pitchFamily="18" charset="0"/>
                                  </a:rPr>
                                  <m:t>𝑎</m:t>
                                </m:r>
                              </m:e>
                            </m:mr>
                            <m:mr>
                              <m:e>
                                <m:r>
                                  <a:rPr lang="en-US" altLang="nl-NL" b="0" i="1" smtClean="0">
                                    <a:latin typeface="Cambria Math" panose="02040503050406030204" pitchFamily="18" charset="0"/>
                                    <a:cs typeface="Times New Roman" panose="02020603050405020304" pitchFamily="18" charset="0"/>
                                  </a:rPr>
                                  <m:t>𝑏</m:t>
                                </m:r>
                              </m:e>
                            </m:mr>
                          </m:m>
                        </m:e>
                      </m:d>
                      <m:r>
                        <a:rPr lang="en-US" altLang="nl-NL" i="1">
                          <a:latin typeface="Cambria Math" panose="02040503050406030204" pitchFamily="18" charset="0"/>
                          <a:cs typeface="Times New Roman" panose="02020603050405020304" pitchFamily="18" charset="0"/>
                        </a:rPr>
                        <m:t>=</m:t>
                      </m:r>
                      <m:d>
                        <m:dPr>
                          <m:ctrlPr>
                            <a:rPr lang="en-US" altLang="nl-NL" i="1">
                              <a:latin typeface="Cambria Math" panose="02040503050406030204" pitchFamily="18" charset="0"/>
                              <a:cs typeface="Times New Roman" panose="02020603050405020304" pitchFamily="18" charset="0"/>
                            </a:rPr>
                          </m:ctrlPr>
                        </m:dPr>
                        <m:e>
                          <m:m>
                            <m:mPr>
                              <m:mcs>
                                <m:mc>
                                  <m:mcPr>
                                    <m:count m:val="1"/>
                                    <m:mcJc m:val="center"/>
                                  </m:mcPr>
                                </m:mc>
                              </m:mcs>
                              <m:ctrlPr>
                                <a:rPr lang="en-US" altLang="nl-NL" i="1">
                                  <a:latin typeface="Cambria Math" panose="02040503050406030204" pitchFamily="18" charset="0"/>
                                  <a:cs typeface="Times New Roman" panose="02020603050405020304" pitchFamily="18" charset="0"/>
                                </a:rPr>
                              </m:ctrlPr>
                            </m:mPr>
                            <m:mr>
                              <m:e>
                                <m:nary>
                                  <m:naryPr>
                                    <m:chr m:val="∑"/>
                                    <m:supHide m:val="on"/>
                                    <m:ctrlPr>
                                      <a:rPr lang="en-US" altLang="nl-NL" i="1">
                                        <a:latin typeface="Cambria Math" panose="02040503050406030204" pitchFamily="18" charset="0"/>
                                        <a:cs typeface="Times New Roman" panose="02020603050405020304" pitchFamily="18" charset="0"/>
                                      </a:rPr>
                                    </m:ctrlPr>
                                  </m:naryPr>
                                  <m:sub>
                                    <m:r>
                                      <m:rPr>
                                        <m:brk m:alnAt="7"/>
                                      </m:rPr>
                                      <a:rPr lang="en-US" altLang="nl-NL" i="1">
                                        <a:latin typeface="Cambria Math" panose="02040503050406030204" pitchFamily="18" charset="0"/>
                                        <a:cs typeface="Times New Roman" panose="02020603050405020304" pitchFamily="18" charset="0"/>
                                      </a:rPr>
                                      <m:t>𝑖</m:t>
                                    </m:r>
                                  </m:sub>
                                  <m:sup/>
                                  <m:e>
                                    <m:sSub>
                                      <m:sSubPr>
                                        <m:ctrlPr>
                                          <a:rPr lang="en-US" altLang="nl-NL" i="1">
                                            <a:latin typeface="Cambria Math" panose="02040503050406030204" pitchFamily="18" charset="0"/>
                                            <a:cs typeface="Times New Roman" panose="02020603050405020304" pitchFamily="18" charset="0"/>
                                          </a:rPr>
                                        </m:ctrlPr>
                                      </m:sSubPr>
                                      <m:e>
                                        <m:r>
                                          <a:rPr lang="en-US" altLang="nl-NL" b="0" i="1" smtClean="0">
                                            <a:latin typeface="Cambria Math" panose="02040503050406030204" pitchFamily="18" charset="0"/>
                                            <a:cs typeface="Times New Roman" panose="02020603050405020304" pitchFamily="18" charset="0"/>
                                          </a:rPr>
                                          <m:t>𝑦</m:t>
                                        </m:r>
                                      </m:e>
                                      <m:sub>
                                        <m:r>
                                          <a:rPr lang="en-US" altLang="nl-NL" i="1">
                                            <a:latin typeface="Cambria Math" panose="02040503050406030204" pitchFamily="18" charset="0"/>
                                            <a:cs typeface="Times New Roman" panose="02020603050405020304" pitchFamily="18" charset="0"/>
                                          </a:rPr>
                                          <m:t>𝑖</m:t>
                                        </m:r>
                                      </m:sub>
                                    </m:sSub>
                                  </m:e>
                                </m:nary>
                              </m:e>
                            </m:mr>
                            <m:mr>
                              <m:e>
                                <m:nary>
                                  <m:naryPr>
                                    <m:chr m:val="∑"/>
                                    <m:supHide m:val="on"/>
                                    <m:ctrlPr>
                                      <a:rPr lang="en-US" altLang="nl-NL" i="1">
                                        <a:latin typeface="Cambria Math" panose="02040503050406030204" pitchFamily="18" charset="0"/>
                                        <a:cs typeface="Times New Roman" panose="02020603050405020304" pitchFamily="18" charset="0"/>
                                      </a:rPr>
                                    </m:ctrlPr>
                                  </m:naryPr>
                                  <m:sub>
                                    <m:r>
                                      <m:rPr>
                                        <m:brk m:alnAt="7"/>
                                      </m:rPr>
                                      <a:rPr lang="en-US" altLang="nl-NL" i="1">
                                        <a:latin typeface="Cambria Math" panose="02040503050406030204" pitchFamily="18" charset="0"/>
                                        <a:cs typeface="Times New Roman" panose="02020603050405020304" pitchFamily="18" charset="0"/>
                                      </a:rPr>
                                      <m:t>𝑖</m:t>
                                    </m:r>
                                  </m:sub>
                                  <m:sup/>
                                  <m:e>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𝑥</m:t>
                                        </m:r>
                                      </m:e>
                                      <m:sub>
                                        <m:r>
                                          <a:rPr lang="en-US" altLang="nl-NL" i="1">
                                            <a:latin typeface="Cambria Math" panose="02040503050406030204" pitchFamily="18" charset="0"/>
                                            <a:cs typeface="Times New Roman" panose="02020603050405020304" pitchFamily="18" charset="0"/>
                                          </a:rPr>
                                          <m:t>𝑖</m:t>
                                        </m:r>
                                      </m:sub>
                                    </m:sSub>
                                    <m:sSub>
                                      <m:sSubPr>
                                        <m:ctrlPr>
                                          <a:rPr lang="en-US" altLang="nl-NL" b="0" i="1" smtClean="0">
                                            <a:latin typeface="Cambria Math" panose="02040503050406030204" pitchFamily="18" charset="0"/>
                                            <a:cs typeface="Times New Roman" panose="02020603050405020304" pitchFamily="18" charset="0"/>
                                          </a:rPr>
                                        </m:ctrlPr>
                                      </m:sSubPr>
                                      <m:e>
                                        <m:r>
                                          <a:rPr lang="en-US" altLang="nl-NL" b="0" i="1" smtClean="0">
                                            <a:latin typeface="Cambria Math" panose="02040503050406030204" pitchFamily="18" charset="0"/>
                                            <a:cs typeface="Times New Roman" panose="02020603050405020304" pitchFamily="18" charset="0"/>
                                          </a:rPr>
                                          <m:t>𝑦</m:t>
                                        </m:r>
                                      </m:e>
                                      <m:sub>
                                        <m:r>
                                          <a:rPr lang="en-US" altLang="nl-NL" b="0" i="1" smtClean="0">
                                            <a:latin typeface="Cambria Math" panose="02040503050406030204" pitchFamily="18" charset="0"/>
                                            <a:cs typeface="Times New Roman" panose="02020603050405020304" pitchFamily="18" charset="0"/>
                                          </a:rPr>
                                          <m:t>𝑖</m:t>
                                        </m:r>
                                      </m:sub>
                                    </m:sSub>
                                  </m:e>
                                </m:nary>
                              </m:e>
                            </m:mr>
                          </m:m>
                        </m:e>
                      </m:d>
                    </m:oMath>
                  </m:oMathPara>
                </a14:m>
                <a:endParaRPr lang="en-US" altLang="nl-NL" dirty="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838200" y="1544595"/>
                <a:ext cx="10515600" cy="4948280"/>
              </a:xfrm>
              <a:blipFill>
                <a:blip r:embed="rId3"/>
                <a:stretch>
                  <a:fillRect l="-1086" t="-1304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881A55F-751A-A154-5F92-06854FC53817}"/>
              </a:ext>
            </a:extLst>
          </p:cNvPr>
          <p:cNvSpPr>
            <a:spLocks noGrp="1"/>
          </p:cNvSpPr>
          <p:nvPr>
            <p:ph type="sldNum" sz="quarter" idx="12"/>
          </p:nvPr>
        </p:nvSpPr>
        <p:spPr/>
        <p:txBody>
          <a:bodyPr/>
          <a:lstStyle/>
          <a:p>
            <a:fld id="{F8D8F54C-053C-4394-9990-70DE256B1A6D}" type="slidenum">
              <a:rPr lang="nl-NL" smtClean="0"/>
              <a:t>37</a:t>
            </a:fld>
            <a:endParaRPr lang="nl-NL"/>
          </a:p>
        </p:txBody>
      </p:sp>
    </p:spTree>
    <p:extLst>
      <p:ext uri="{BB962C8B-B14F-4D97-AF65-F5344CB8AC3E}">
        <p14:creationId xmlns:p14="http://schemas.microsoft.com/office/powerpoint/2010/main" val="3907352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902200"/>
          </a:xfrm>
        </p:spPr>
        <p:txBody>
          <a:bodyPr>
            <a:noAutofit/>
          </a:bodyPr>
          <a:lstStyle/>
          <a:p>
            <a:r>
              <a:rPr lang="en-US" altLang="nl-NL" sz="3200" b="1" dirty="0">
                <a:latin typeface="Times New Roman" panose="02020603050405020304" pitchFamily="18" charset="0"/>
                <a:cs typeface="Times New Roman" panose="02020603050405020304" pitchFamily="18" charset="0"/>
              </a:rPr>
              <a:t>Depicting the Trend – Least-Square Linear Regression</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r>
                  <a:rPr lang="en-AU" altLang="en-US" dirty="0"/>
                  <a:t>Practically:</a:t>
                </a:r>
              </a:p>
              <a:p>
                <a:pPr lvl="1"/>
                <a:r>
                  <a:rPr lang="en-AU" altLang="en-US" dirty="0"/>
                  <a:t>Determine the number of samples (</a:t>
                </a:r>
                <a14:m>
                  <m:oMath xmlns:m="http://schemas.openxmlformats.org/officeDocument/2006/math">
                    <m:r>
                      <a:rPr lang="en-AU" altLang="en-US" i="1" dirty="0" smtClean="0">
                        <a:latin typeface="Cambria Math" panose="02040503050406030204" pitchFamily="18" charset="0"/>
                      </a:rPr>
                      <m:t>𝑛</m:t>
                    </m:r>
                  </m:oMath>
                </a14:m>
                <a:r>
                  <a:rPr lang="en-AU" altLang="en-US" dirty="0"/>
                  <a:t>)</a:t>
                </a:r>
              </a:p>
              <a:p>
                <a:pPr lvl="1"/>
                <a:r>
                  <a:rPr lang="en-AU" altLang="en-US" dirty="0"/>
                  <a:t>Allocate midpoint in time and replace the time points by their corresponding </a:t>
                </a:r>
                <a14:m>
                  <m:oMath xmlns:m="http://schemas.openxmlformats.org/officeDocument/2006/math">
                    <m:r>
                      <a:rPr lang="en-AU" altLang="en-US" i="1" dirty="0" smtClean="0">
                        <a:latin typeface="Cambria Math" panose="02040503050406030204" pitchFamily="18" charset="0"/>
                      </a:rPr>
                      <m:t>𝑥</m:t>
                    </m:r>
                  </m:oMath>
                </a14:m>
                <a:r>
                  <a:rPr lang="en-AU" altLang="en-US" dirty="0"/>
                  <a:t> values by increasing and decreasing one unit from the midpoint accordingly. </a:t>
                </a:r>
              </a:p>
              <a:p>
                <a:pPr lvl="1"/>
                <a:r>
                  <a:rPr lang="en-AU" altLang="en-US" dirty="0"/>
                  <a:t>The dependent variable is “</a:t>
                </a:r>
                <a14:m>
                  <m:oMath xmlns:m="http://schemas.openxmlformats.org/officeDocument/2006/math">
                    <m:r>
                      <a:rPr lang="en-AU" altLang="en-US" i="1" dirty="0" smtClean="0">
                        <a:latin typeface="Cambria Math" panose="02040503050406030204" pitchFamily="18" charset="0"/>
                      </a:rPr>
                      <m:t>𝑦</m:t>
                    </m:r>
                  </m:oMath>
                </a14:m>
                <a:r>
                  <a:rPr lang="en-AU" altLang="en-US" dirty="0"/>
                  <a:t>”</a:t>
                </a:r>
              </a:p>
              <a:p>
                <a:pPr lvl="1"/>
                <a:r>
                  <a:rPr lang="en-AU" altLang="en-US" dirty="0"/>
                  <a:t>Compute </a:t>
                </a:r>
                <a14:m>
                  <m:oMath xmlns:m="http://schemas.openxmlformats.org/officeDocument/2006/math">
                    <m:r>
                      <m:rPr>
                        <m:sty m:val="p"/>
                      </m:rPr>
                      <a:rPr lang="en-US" altLang="en-US" b="0" i="0" dirty="0" smtClean="0">
                        <a:latin typeface="Cambria Math" panose="02040503050406030204" pitchFamily="18" charset="0"/>
                      </a:rPr>
                      <m:t>Σ</m:t>
                    </m:r>
                    <m:sSubSup>
                      <m:sSubSupPr>
                        <m:ctrlPr>
                          <a:rPr lang="en-US" altLang="en-US" b="0" i="1" dirty="0" smtClean="0">
                            <a:latin typeface="Cambria Math" panose="02040503050406030204" pitchFamily="18" charset="0"/>
                          </a:rPr>
                        </m:ctrlPr>
                      </m:sSubSupPr>
                      <m:e>
                        <m:r>
                          <a:rPr lang="en-AU" altLang="en-US" i="1" dirty="0" smtClean="0">
                            <a:latin typeface="Cambria Math" panose="02040503050406030204" pitchFamily="18" charset="0"/>
                          </a:rPr>
                          <m:t>𝑥</m:t>
                        </m:r>
                      </m:e>
                      <m:sub>
                        <m:r>
                          <a:rPr lang="en-US" altLang="en-US" b="0" i="1" dirty="0" smtClean="0">
                            <a:latin typeface="Cambria Math" panose="02040503050406030204" pitchFamily="18" charset="0"/>
                          </a:rPr>
                          <m:t>𝑖</m:t>
                        </m:r>
                      </m:sub>
                      <m:sup>
                        <m:r>
                          <a:rPr lang="en-AU" altLang="en-US" i="1" dirty="0" smtClean="0">
                            <a:latin typeface="Cambria Math" panose="02040503050406030204" pitchFamily="18" charset="0"/>
                          </a:rPr>
                          <m:t>2</m:t>
                        </m:r>
                      </m:sup>
                    </m:sSubSup>
                  </m:oMath>
                </a14:m>
                <a:r>
                  <a:rPr lang="en-AU" altLang="en-US" dirty="0"/>
                  <a:t> and </a:t>
                </a:r>
                <a14:m>
                  <m:oMath xmlns:m="http://schemas.openxmlformats.org/officeDocument/2006/math">
                    <m:r>
                      <m:rPr>
                        <m:sty m:val="p"/>
                      </m:rPr>
                      <a:rPr lang="en-US" altLang="en-US" b="0" i="0" dirty="0" smtClean="0">
                        <a:latin typeface="Cambria Math" panose="02040503050406030204" pitchFamily="18" charset="0"/>
                      </a:rPr>
                      <m:t>Σ</m:t>
                    </m:r>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𝑥</m:t>
                        </m:r>
                      </m:e>
                      <m:sub>
                        <m:r>
                          <a:rPr lang="en-US" altLang="en-US" b="0" i="1" dirty="0" smtClean="0">
                            <a:latin typeface="Cambria Math" panose="02040503050406030204" pitchFamily="18" charset="0"/>
                          </a:rPr>
                          <m:t>𝑖</m:t>
                        </m:r>
                      </m:sub>
                    </m:sSub>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𝑦</m:t>
                        </m:r>
                      </m:e>
                      <m:sub>
                        <m:r>
                          <a:rPr lang="en-US" altLang="en-US" b="0" i="1" dirty="0" smtClean="0">
                            <a:latin typeface="Cambria Math" panose="02040503050406030204" pitchFamily="18" charset="0"/>
                          </a:rPr>
                          <m:t>𝑖</m:t>
                        </m:r>
                      </m:sub>
                    </m:sSub>
                  </m:oMath>
                </a14:m>
                <a:r>
                  <a:rPr lang="en-AU" altLang="en-US" dirty="0"/>
                  <a:t> </a:t>
                </a:r>
              </a:p>
              <a:p>
                <a:pPr lvl="2"/>
                <a14:m>
                  <m:oMath xmlns:m="http://schemas.openxmlformats.org/officeDocument/2006/math">
                    <m:r>
                      <m:rPr>
                        <m:sty m:val="p"/>
                      </m:rPr>
                      <a:rPr lang="en-US" altLang="en-US" dirty="0">
                        <a:latin typeface="Cambria Math" panose="02040503050406030204" pitchFamily="18" charset="0"/>
                      </a:rPr>
                      <m:t>Σ</m:t>
                    </m:r>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𝑥</m:t>
                        </m:r>
                      </m:e>
                      <m:sub>
                        <m:r>
                          <a:rPr lang="en-US" altLang="en-US" b="0" i="1" dirty="0" smtClean="0">
                            <a:latin typeface="Cambria Math" panose="02040503050406030204" pitchFamily="18" charset="0"/>
                          </a:rPr>
                          <m:t>𝑖</m:t>
                        </m:r>
                      </m:sub>
                    </m:sSub>
                  </m:oMath>
                </a14:m>
                <a:r>
                  <a:rPr lang="en-AU" altLang="en-US" dirty="0"/>
                  <a:t> should be 0.</a:t>
                </a:r>
              </a:p>
              <a:p>
                <a:pPr lvl="1"/>
                <a:r>
                  <a:rPr lang="en-AU" altLang="en-US" dirty="0"/>
                  <a:t>Find </a:t>
                </a:r>
                <a14:m>
                  <m:oMath xmlns:m="http://schemas.openxmlformats.org/officeDocument/2006/math">
                    <m:r>
                      <a:rPr lang="en-US" altLang="en-US" b="0" i="1" dirty="0" smtClean="0">
                        <a:latin typeface="Cambria Math" panose="02040503050406030204" pitchFamily="18" charset="0"/>
                      </a:rPr>
                      <m:t>𝑦</m:t>
                    </m:r>
                    <m:r>
                      <a:rPr lang="en-US" altLang="en-US" b="0" i="1" dirty="0" smtClean="0">
                        <a:latin typeface="Cambria Math" panose="02040503050406030204" pitchFamily="18" charset="0"/>
                      </a:rPr>
                      <m:t>=</m:t>
                    </m:r>
                    <m:r>
                      <a:rPr lang="en-US" altLang="en-US" b="0" i="1" dirty="0" smtClean="0">
                        <a:latin typeface="Cambria Math" panose="02040503050406030204" pitchFamily="18" charset="0"/>
                      </a:rPr>
                      <m:t>𝑎</m:t>
                    </m:r>
                    <m:r>
                      <a:rPr lang="en-US" altLang="en-US" b="0" i="1" dirty="0" smtClean="0">
                        <a:latin typeface="Cambria Math" panose="02040503050406030204" pitchFamily="18" charset="0"/>
                      </a:rPr>
                      <m:t>+</m:t>
                    </m:r>
                    <m:r>
                      <a:rPr lang="en-US" altLang="en-US" b="0" i="1" dirty="0" smtClean="0">
                        <a:latin typeface="Cambria Math" panose="02040503050406030204" pitchFamily="18" charset="0"/>
                      </a:rPr>
                      <m:t>𝑏𝑥</m:t>
                    </m:r>
                  </m:oMath>
                </a14:m>
                <a:r>
                  <a:rPr lang="en-AU" altLang="en-US" dirty="0"/>
                  <a:t> where </a:t>
                </a:r>
                <a14:m>
                  <m:oMath xmlns:m="http://schemas.openxmlformats.org/officeDocument/2006/math">
                    <m:r>
                      <a:rPr lang="en-US" altLang="en-US" b="0" i="1" dirty="0" smtClean="0">
                        <a:latin typeface="Cambria Math" panose="02040503050406030204" pitchFamily="18" charset="0"/>
                      </a:rPr>
                      <m:t>𝑏</m:t>
                    </m:r>
                    <m:r>
                      <a:rPr lang="en-US" altLang="en-US" b="0" i="1" dirty="0" smtClean="0">
                        <a:latin typeface="Cambria Math" panose="02040503050406030204" pitchFamily="18" charset="0"/>
                      </a:rPr>
                      <m:t>= </m:t>
                    </m:r>
                    <m:f>
                      <m:fPr>
                        <m:ctrlPr>
                          <a:rPr lang="en-US" altLang="en-US" b="0" i="1" dirty="0" smtClean="0">
                            <a:latin typeface="Cambria Math" panose="02040503050406030204" pitchFamily="18" charset="0"/>
                          </a:rPr>
                        </m:ctrlPr>
                      </m:fPr>
                      <m:num>
                        <m:nary>
                          <m:naryPr>
                            <m:chr m:val="∑"/>
                            <m:subHide m:val="on"/>
                            <m:supHide m:val="on"/>
                            <m:ctrlPr>
                              <a:rPr lang="en-US" altLang="en-US" b="0" i="1" dirty="0" smtClean="0">
                                <a:latin typeface="Cambria Math" panose="02040503050406030204" pitchFamily="18" charset="0"/>
                              </a:rPr>
                            </m:ctrlPr>
                          </m:naryPr>
                          <m:sub/>
                          <m:sup/>
                          <m:e>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𝑥</m:t>
                                </m:r>
                              </m:e>
                              <m:sub>
                                <m:r>
                                  <a:rPr lang="en-US" altLang="en-US" b="0" i="1" dirty="0" smtClean="0">
                                    <a:latin typeface="Cambria Math" panose="02040503050406030204" pitchFamily="18" charset="0"/>
                                  </a:rPr>
                                  <m:t>𝑖</m:t>
                                </m:r>
                              </m:sub>
                            </m:sSub>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𝑦</m:t>
                                </m:r>
                              </m:e>
                              <m:sub>
                                <m:r>
                                  <a:rPr lang="en-US" altLang="en-US" b="0" i="1" dirty="0" smtClean="0">
                                    <a:latin typeface="Cambria Math" panose="02040503050406030204" pitchFamily="18" charset="0"/>
                                  </a:rPr>
                                  <m:t>𝑖</m:t>
                                </m:r>
                              </m:sub>
                            </m:sSub>
                          </m:e>
                        </m:nary>
                      </m:num>
                      <m:den>
                        <m:r>
                          <m:rPr>
                            <m:sty m:val="p"/>
                          </m:rPr>
                          <a:rPr lang="en-US" altLang="en-US" b="0" i="0" dirty="0" smtClean="0">
                            <a:latin typeface="Cambria Math" panose="02040503050406030204" pitchFamily="18" charset="0"/>
                          </a:rPr>
                          <m:t>Σ</m:t>
                        </m:r>
                        <m:sSubSup>
                          <m:sSubSupPr>
                            <m:ctrlPr>
                              <a:rPr lang="en-US" altLang="en-US" b="0" i="1" dirty="0" smtClean="0">
                                <a:latin typeface="Cambria Math" panose="02040503050406030204" pitchFamily="18" charset="0"/>
                              </a:rPr>
                            </m:ctrlPr>
                          </m:sSubSupPr>
                          <m:e>
                            <m:r>
                              <a:rPr lang="en-US" altLang="en-US" b="0" i="1" dirty="0" smtClean="0">
                                <a:latin typeface="Cambria Math" panose="02040503050406030204" pitchFamily="18" charset="0"/>
                              </a:rPr>
                              <m:t>𝑥</m:t>
                            </m:r>
                          </m:e>
                          <m:sub>
                            <m:r>
                              <a:rPr lang="en-US" altLang="en-US" b="0" i="1" dirty="0" smtClean="0">
                                <a:latin typeface="Cambria Math" panose="02040503050406030204" pitchFamily="18" charset="0"/>
                              </a:rPr>
                              <m:t>𝑖</m:t>
                            </m:r>
                          </m:sub>
                          <m:sup>
                            <m:r>
                              <a:rPr lang="en-US" altLang="en-US" b="0" i="1" dirty="0" smtClean="0">
                                <a:latin typeface="Cambria Math" panose="02040503050406030204" pitchFamily="18" charset="0"/>
                              </a:rPr>
                              <m:t>2</m:t>
                            </m:r>
                          </m:sup>
                        </m:sSubSup>
                      </m:den>
                    </m:f>
                    <m:r>
                      <a:rPr lang="en-US" altLang="en-US" i="1" dirty="0">
                        <a:latin typeface="Cambria Math" panose="02040503050406030204" pitchFamily="18" charset="0"/>
                      </a:rPr>
                      <m:t> </m:t>
                    </m:r>
                  </m:oMath>
                </a14:m>
                <a:r>
                  <a:rPr lang="en-AU" altLang="en-US" dirty="0"/>
                  <a:t> and </a:t>
                </a:r>
                <a14:m>
                  <m:oMath xmlns:m="http://schemas.openxmlformats.org/officeDocument/2006/math">
                    <m:r>
                      <a:rPr lang="en-US" altLang="en-US" b="0" i="1" dirty="0" smtClean="0">
                        <a:latin typeface="Cambria Math" panose="02040503050406030204" pitchFamily="18" charset="0"/>
                      </a:rPr>
                      <m:t>𝑎</m:t>
                    </m:r>
                    <m:r>
                      <a:rPr lang="en-US" altLang="en-US" i="1" dirty="0">
                        <a:latin typeface="Cambria Math" panose="02040503050406030204" pitchFamily="18" charset="0"/>
                      </a:rPr>
                      <m:t>= </m:t>
                    </m:r>
                    <m:f>
                      <m:fPr>
                        <m:ctrlPr>
                          <a:rPr lang="en-US" altLang="en-US" i="1" dirty="0">
                            <a:latin typeface="Cambria Math" panose="02040503050406030204" pitchFamily="18" charset="0"/>
                          </a:rPr>
                        </m:ctrlPr>
                      </m:fPr>
                      <m:num>
                        <m:nary>
                          <m:naryPr>
                            <m:chr m:val="∑"/>
                            <m:subHide m:val="on"/>
                            <m:supHide m:val="on"/>
                            <m:ctrlPr>
                              <a:rPr lang="en-US" altLang="en-US" i="1" dirty="0">
                                <a:latin typeface="Cambria Math" panose="02040503050406030204" pitchFamily="18" charset="0"/>
                              </a:rPr>
                            </m:ctrlPr>
                          </m:naryPr>
                          <m:sub/>
                          <m:sup/>
                          <m:e>
                            <m:sSub>
                              <m:sSubPr>
                                <m:ctrlPr>
                                  <a:rPr lang="en-US" altLang="en-US" b="0" i="1" dirty="0" smtClean="0">
                                    <a:latin typeface="Cambria Math" panose="02040503050406030204" pitchFamily="18" charset="0"/>
                                  </a:rPr>
                                </m:ctrlPr>
                              </m:sSubPr>
                              <m:e>
                                <m:r>
                                  <a:rPr lang="en-US" altLang="en-US" i="1" dirty="0">
                                    <a:latin typeface="Cambria Math" panose="02040503050406030204" pitchFamily="18" charset="0"/>
                                  </a:rPr>
                                  <m:t>𝑦</m:t>
                                </m:r>
                              </m:e>
                              <m:sub>
                                <m:r>
                                  <a:rPr lang="en-US" altLang="en-US" b="0" i="1" dirty="0" smtClean="0">
                                    <a:latin typeface="Cambria Math" panose="02040503050406030204" pitchFamily="18" charset="0"/>
                                  </a:rPr>
                                  <m:t>𝑖</m:t>
                                </m:r>
                              </m:sub>
                            </m:sSub>
                          </m:e>
                        </m:nary>
                      </m:num>
                      <m:den>
                        <m:r>
                          <a:rPr lang="en-US" altLang="en-US" b="0" i="1" dirty="0" smtClean="0">
                            <a:latin typeface="Cambria Math" panose="02040503050406030204" pitchFamily="18" charset="0"/>
                          </a:rPr>
                          <m:t>𝑛</m:t>
                        </m:r>
                      </m:den>
                    </m:f>
                  </m:oMath>
                </a14:m>
                <a:r>
                  <a:rPr lang="en-AU" altLang="en-US" dirty="0"/>
                  <a:t>      (refer to the previous slide and keep in mind that </a:t>
                </a:r>
                <a14:m>
                  <m:oMath xmlns:m="http://schemas.openxmlformats.org/officeDocument/2006/math">
                    <m:r>
                      <m:rPr>
                        <m:sty m:val="p"/>
                      </m:rPr>
                      <a:rPr lang="en-US" altLang="en-US" dirty="0">
                        <a:latin typeface="Cambria Math" panose="02040503050406030204" pitchFamily="18" charset="0"/>
                      </a:rPr>
                      <m:t>Σ</m:t>
                    </m:r>
                    <m:sSub>
                      <m:sSubPr>
                        <m:ctrlPr>
                          <a:rPr lang="en-US" altLang="en-US" i="1" dirty="0">
                            <a:latin typeface="Cambria Math" panose="02040503050406030204" pitchFamily="18" charset="0"/>
                          </a:rPr>
                        </m:ctrlPr>
                      </m:sSubPr>
                      <m:e>
                        <m:r>
                          <a:rPr lang="en-US" altLang="en-US" i="1" dirty="0">
                            <a:latin typeface="Cambria Math" panose="02040503050406030204" pitchFamily="18" charset="0"/>
                          </a:rPr>
                          <m:t>𝑥</m:t>
                        </m:r>
                      </m:e>
                      <m:sub>
                        <m:r>
                          <a:rPr lang="en-US" altLang="en-US" i="1" dirty="0">
                            <a:latin typeface="Cambria Math" panose="02040503050406030204" pitchFamily="18" charset="0"/>
                          </a:rPr>
                          <m:t>𝑖</m:t>
                        </m:r>
                      </m:sub>
                    </m:sSub>
                  </m:oMath>
                </a14:m>
                <a:r>
                  <a:rPr lang="en-AU" altLang="en-US" dirty="0"/>
                  <a:t> = 0)</a:t>
                </a:r>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838200" y="1544595"/>
                <a:ext cx="10515600" cy="4948280"/>
              </a:xfrm>
              <a:blipFill>
                <a:blip r:embed="rId2"/>
                <a:stretch>
                  <a:fillRect l="-1086" t="-2046" r="-120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8291E5D-DEF6-1E44-4E41-B8937F372500}"/>
              </a:ext>
            </a:extLst>
          </p:cNvPr>
          <p:cNvSpPr>
            <a:spLocks noGrp="1"/>
          </p:cNvSpPr>
          <p:nvPr>
            <p:ph type="sldNum" sz="quarter" idx="12"/>
          </p:nvPr>
        </p:nvSpPr>
        <p:spPr/>
        <p:txBody>
          <a:bodyPr/>
          <a:lstStyle/>
          <a:p>
            <a:fld id="{F8D8F54C-053C-4394-9990-70DE256B1A6D}" type="slidenum">
              <a:rPr lang="nl-NL" smtClean="0"/>
              <a:t>38</a:t>
            </a:fld>
            <a:endParaRPr lang="nl-NL"/>
          </a:p>
        </p:txBody>
      </p:sp>
    </p:spTree>
    <p:extLst>
      <p:ext uri="{BB962C8B-B14F-4D97-AF65-F5344CB8AC3E}">
        <p14:creationId xmlns:p14="http://schemas.microsoft.com/office/powerpoint/2010/main" val="10456472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Example</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4"/>
            <a:ext cx="10515600" cy="711717"/>
          </a:xfrm>
        </p:spPr>
        <p:txBody>
          <a:bodyPr>
            <a:normAutofit/>
          </a:bodyPr>
          <a:lstStyle/>
          <a:p>
            <a:pPr>
              <a:lnSpc>
                <a:spcPct val="110000"/>
              </a:lnSpc>
            </a:pPr>
            <a:r>
              <a:rPr lang="en-US" altLang="nl-NL" dirty="0">
                <a:cs typeface="Times New Roman" panose="02020603050405020304" pitchFamily="18" charset="0"/>
              </a:rPr>
              <a:t>Consider the following dataset</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F397585-C5B5-459A-B3DC-274955FA6DB3}"/>
                  </a:ext>
                </a:extLst>
              </p:cNvPr>
              <p:cNvSpPr txBox="1">
                <a:spLocks/>
              </p:cNvSpPr>
              <p:nvPr/>
            </p:nvSpPr>
            <p:spPr>
              <a:xfrm>
                <a:off x="943958" y="3627911"/>
                <a:ext cx="10515600" cy="2349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457200">
                  <a:lnSpc>
                    <a:spcPct val="110000"/>
                  </a:lnSpc>
                  <a:buNone/>
                </a:pPr>
                <a14:m>
                  <m:oMathPara xmlns:m="http://schemas.openxmlformats.org/officeDocument/2006/math">
                    <m:oMathParaPr>
                      <m:jc m:val="centerGroup"/>
                    </m:oMathParaPr>
                    <m:oMath xmlns:m="http://schemas.openxmlformats.org/officeDocument/2006/math">
                      <m:r>
                        <a:rPr lang="en-US" altLang="nl-NL" i="1" smtClean="0">
                          <a:latin typeface="Cambria Math" panose="02040503050406030204" pitchFamily="18" charset="0"/>
                          <a:cs typeface="Times New Roman" panose="02020603050405020304" pitchFamily="18" charset="0"/>
                        </a:rPr>
                        <m:t>𝑛</m:t>
                      </m:r>
                      <m:r>
                        <a:rPr lang="en-US" altLang="nl-NL" b="0" i="1" smtClean="0">
                          <a:latin typeface="Cambria Math" panose="02040503050406030204" pitchFamily="18" charset="0"/>
                          <a:cs typeface="Times New Roman" panose="02020603050405020304" pitchFamily="18" charset="0"/>
                        </a:rPr>
                        <m:t>=9           </m:t>
                      </m:r>
                      <m:nary>
                        <m:naryPr>
                          <m:chr m:val="∑"/>
                          <m:supHide m:val="on"/>
                          <m:ctrlPr>
                            <a:rPr lang="en-US" altLang="nl-NL" i="1">
                              <a:latin typeface="Cambria Math" panose="02040503050406030204" pitchFamily="18" charset="0"/>
                              <a:cs typeface="Times New Roman" panose="02020603050405020304" pitchFamily="18" charset="0"/>
                            </a:rPr>
                          </m:ctrlPr>
                        </m:naryPr>
                        <m:sub>
                          <m:r>
                            <m:rPr>
                              <m:brk m:alnAt="7"/>
                            </m:rPr>
                            <a:rPr lang="en-US" altLang="nl-NL" i="1">
                              <a:latin typeface="Cambria Math" panose="02040503050406030204" pitchFamily="18" charset="0"/>
                              <a:cs typeface="Times New Roman" panose="02020603050405020304" pitchFamily="18" charset="0"/>
                            </a:rPr>
                            <m:t>𝑖</m:t>
                          </m:r>
                        </m:sub>
                        <m:sup/>
                        <m:e>
                          <m:sSub>
                            <m:sSubPr>
                              <m:ctrlPr>
                                <a:rPr lang="en-US" altLang="nl-NL" b="0" i="1" smtClean="0">
                                  <a:latin typeface="Cambria Math" panose="02040503050406030204" pitchFamily="18" charset="0"/>
                                  <a:cs typeface="Times New Roman" panose="02020603050405020304" pitchFamily="18" charset="0"/>
                                </a:rPr>
                              </m:ctrlPr>
                            </m:sSubPr>
                            <m:e>
                              <m:r>
                                <a:rPr lang="en-US" altLang="nl-NL" b="0" i="1" smtClean="0">
                                  <a:latin typeface="Cambria Math" panose="02040503050406030204" pitchFamily="18" charset="0"/>
                                  <a:cs typeface="Times New Roman" panose="02020603050405020304" pitchFamily="18" charset="0"/>
                                </a:rPr>
                                <m:t>𝑥</m:t>
                              </m:r>
                            </m:e>
                            <m:sub>
                              <m:r>
                                <a:rPr lang="en-US" altLang="nl-NL" b="0" i="1" smtClean="0">
                                  <a:latin typeface="Cambria Math" panose="02040503050406030204" pitchFamily="18" charset="0"/>
                                  <a:cs typeface="Times New Roman" panose="02020603050405020304" pitchFamily="18" charset="0"/>
                                </a:rPr>
                                <m:t>𝑖</m:t>
                              </m:r>
                            </m:sub>
                          </m:sSub>
                        </m:e>
                      </m:nary>
                      <m:r>
                        <a:rPr lang="en-US" altLang="nl-NL" b="0" i="1" smtClean="0">
                          <a:latin typeface="Cambria Math" panose="02040503050406030204" pitchFamily="18" charset="0"/>
                          <a:cs typeface="Times New Roman" panose="02020603050405020304" pitchFamily="18" charset="0"/>
                        </a:rPr>
                        <m:t>=0                </m:t>
                      </m:r>
                      <m:nary>
                        <m:naryPr>
                          <m:chr m:val="∑"/>
                          <m:supHide m:val="on"/>
                          <m:ctrlPr>
                            <a:rPr lang="en-US" altLang="nl-NL" i="1">
                              <a:latin typeface="Cambria Math" panose="02040503050406030204" pitchFamily="18" charset="0"/>
                              <a:cs typeface="Times New Roman" panose="02020603050405020304" pitchFamily="18" charset="0"/>
                            </a:rPr>
                          </m:ctrlPr>
                        </m:naryPr>
                        <m:sub>
                          <m:r>
                            <m:rPr>
                              <m:brk m:alnAt="7"/>
                            </m:rPr>
                            <a:rPr lang="en-US" altLang="nl-NL" i="1">
                              <a:latin typeface="Cambria Math" panose="02040503050406030204" pitchFamily="18" charset="0"/>
                              <a:cs typeface="Times New Roman" panose="02020603050405020304" pitchFamily="18" charset="0"/>
                            </a:rPr>
                            <m:t>𝑖</m:t>
                          </m:r>
                        </m:sub>
                        <m:sup/>
                        <m:e>
                          <m:sSubSup>
                            <m:sSubSupPr>
                              <m:ctrlPr>
                                <a:rPr lang="en-US" altLang="nl-NL" b="0" i="1" smtClean="0">
                                  <a:latin typeface="Cambria Math" panose="02040503050406030204" pitchFamily="18" charset="0"/>
                                  <a:cs typeface="Times New Roman" panose="02020603050405020304" pitchFamily="18" charset="0"/>
                                </a:rPr>
                              </m:ctrlPr>
                            </m:sSubSupPr>
                            <m:e>
                              <m:r>
                                <a:rPr lang="en-US" altLang="nl-NL" i="1">
                                  <a:latin typeface="Cambria Math" panose="02040503050406030204" pitchFamily="18" charset="0"/>
                                  <a:cs typeface="Times New Roman" panose="02020603050405020304" pitchFamily="18" charset="0"/>
                                </a:rPr>
                                <m:t>𝑥</m:t>
                              </m:r>
                            </m:e>
                            <m:sub>
                              <m:r>
                                <a:rPr lang="en-US" altLang="nl-NL" i="1">
                                  <a:latin typeface="Cambria Math" panose="02040503050406030204" pitchFamily="18" charset="0"/>
                                  <a:cs typeface="Times New Roman" panose="02020603050405020304" pitchFamily="18" charset="0"/>
                                </a:rPr>
                                <m:t>𝑖</m:t>
                              </m:r>
                            </m:sub>
                            <m:sup>
                              <m:r>
                                <a:rPr lang="en-US" altLang="nl-NL" b="0" i="1" smtClean="0">
                                  <a:latin typeface="Cambria Math" panose="02040503050406030204" pitchFamily="18" charset="0"/>
                                  <a:cs typeface="Times New Roman" panose="02020603050405020304" pitchFamily="18" charset="0"/>
                                </a:rPr>
                                <m:t>2</m:t>
                              </m:r>
                            </m:sup>
                          </m:sSubSup>
                        </m:e>
                      </m:nary>
                      <m:r>
                        <a:rPr lang="en-US" altLang="nl-NL" i="1">
                          <a:latin typeface="Cambria Math" panose="02040503050406030204" pitchFamily="18" charset="0"/>
                          <a:cs typeface="Times New Roman" panose="02020603050405020304" pitchFamily="18" charset="0"/>
                        </a:rPr>
                        <m:t>=</m:t>
                      </m:r>
                      <m:r>
                        <a:rPr lang="en-US" altLang="nl-NL" b="0" i="1" smtClean="0">
                          <a:latin typeface="Cambria Math" panose="02040503050406030204" pitchFamily="18" charset="0"/>
                          <a:cs typeface="Times New Roman" panose="02020603050405020304" pitchFamily="18" charset="0"/>
                        </a:rPr>
                        <m:t>60</m:t>
                      </m:r>
                      <m:r>
                        <a:rPr lang="en-US" altLang="nl-NL" i="1">
                          <a:latin typeface="Cambria Math" panose="02040503050406030204" pitchFamily="18" charset="0"/>
                          <a:cs typeface="Times New Roman" panose="02020603050405020304" pitchFamily="18" charset="0"/>
                        </a:rPr>
                        <m:t> </m:t>
                      </m:r>
                    </m:oMath>
                  </m:oMathPara>
                </a14:m>
                <a:endParaRPr lang="en-US" altLang="nl-NL" dirty="0">
                  <a:cs typeface="Times New Roman" panose="02020603050405020304" pitchFamily="18" charset="0"/>
                </a:endParaRPr>
              </a:p>
              <a:p>
                <a:pPr marL="457200" lvl="1" indent="457200">
                  <a:lnSpc>
                    <a:spcPct val="110000"/>
                  </a:lnSpc>
                  <a:buNone/>
                </a:pPr>
                <a14:m>
                  <m:oMathPara xmlns:m="http://schemas.openxmlformats.org/officeDocument/2006/math">
                    <m:oMathParaPr>
                      <m:jc m:val="centerGroup"/>
                    </m:oMathParaPr>
                    <m:oMath xmlns:m="http://schemas.openxmlformats.org/officeDocument/2006/math">
                      <m:nary>
                        <m:naryPr>
                          <m:chr m:val="∑"/>
                          <m:supHide m:val="on"/>
                          <m:ctrlPr>
                            <a:rPr lang="en-US" altLang="nl-NL" i="1">
                              <a:latin typeface="Cambria Math" panose="02040503050406030204" pitchFamily="18" charset="0"/>
                              <a:cs typeface="Times New Roman" panose="02020603050405020304" pitchFamily="18" charset="0"/>
                            </a:rPr>
                          </m:ctrlPr>
                        </m:naryPr>
                        <m:sub>
                          <m:r>
                            <m:rPr>
                              <m:brk m:alnAt="7"/>
                            </m:rPr>
                            <a:rPr lang="en-US" altLang="nl-NL" i="1">
                              <a:latin typeface="Cambria Math" panose="02040503050406030204" pitchFamily="18" charset="0"/>
                              <a:cs typeface="Times New Roman" panose="02020603050405020304" pitchFamily="18" charset="0"/>
                            </a:rPr>
                            <m:t>𝑖</m:t>
                          </m:r>
                        </m:sub>
                        <m:sup/>
                        <m:e>
                          <m:sSub>
                            <m:sSubPr>
                              <m:ctrlPr>
                                <a:rPr lang="en-US" altLang="nl-NL" i="1">
                                  <a:latin typeface="Cambria Math" panose="02040503050406030204" pitchFamily="18" charset="0"/>
                                  <a:cs typeface="Times New Roman" panose="02020603050405020304" pitchFamily="18" charset="0"/>
                                </a:rPr>
                              </m:ctrlPr>
                            </m:sSubPr>
                            <m:e>
                              <m:r>
                                <a:rPr lang="en-US" altLang="nl-NL" b="0" i="1" smtClean="0">
                                  <a:latin typeface="Cambria Math" panose="02040503050406030204" pitchFamily="18" charset="0"/>
                                  <a:cs typeface="Times New Roman" panose="02020603050405020304" pitchFamily="18" charset="0"/>
                                </a:rPr>
                                <m:t>𝑦</m:t>
                              </m:r>
                            </m:e>
                            <m:sub>
                              <m:r>
                                <a:rPr lang="en-US" altLang="nl-NL" i="1">
                                  <a:latin typeface="Cambria Math" panose="02040503050406030204" pitchFamily="18" charset="0"/>
                                  <a:cs typeface="Times New Roman" panose="02020603050405020304" pitchFamily="18" charset="0"/>
                                </a:rPr>
                                <m:t>𝑖</m:t>
                              </m:r>
                            </m:sub>
                          </m:sSub>
                        </m:e>
                      </m:nary>
                      <m:r>
                        <a:rPr lang="en-US" altLang="nl-NL" i="1">
                          <a:latin typeface="Cambria Math" panose="02040503050406030204" pitchFamily="18" charset="0"/>
                          <a:cs typeface="Times New Roman" panose="02020603050405020304" pitchFamily="18" charset="0"/>
                        </a:rPr>
                        <m:t>=</m:t>
                      </m:r>
                      <m:r>
                        <a:rPr lang="en-US" altLang="nl-NL" b="0" i="1" smtClean="0">
                          <a:latin typeface="Cambria Math" panose="02040503050406030204" pitchFamily="18" charset="0"/>
                          <a:cs typeface="Times New Roman" panose="02020603050405020304" pitchFamily="18" charset="0"/>
                        </a:rPr>
                        <m:t>165</m:t>
                      </m:r>
                      <m:r>
                        <a:rPr lang="en-US" altLang="nl-NL" i="1">
                          <a:latin typeface="Cambria Math" panose="02040503050406030204" pitchFamily="18" charset="0"/>
                          <a:cs typeface="Times New Roman" panose="02020603050405020304" pitchFamily="18" charset="0"/>
                        </a:rPr>
                        <m:t>              </m:t>
                      </m:r>
                      <m:nary>
                        <m:naryPr>
                          <m:chr m:val="∑"/>
                          <m:supHide m:val="on"/>
                          <m:ctrlPr>
                            <a:rPr lang="en-US" altLang="nl-NL" i="1">
                              <a:latin typeface="Cambria Math" panose="02040503050406030204" pitchFamily="18" charset="0"/>
                              <a:cs typeface="Times New Roman" panose="02020603050405020304" pitchFamily="18" charset="0"/>
                            </a:rPr>
                          </m:ctrlPr>
                        </m:naryPr>
                        <m:sub>
                          <m:r>
                            <m:rPr>
                              <m:brk m:alnAt="7"/>
                            </m:rPr>
                            <a:rPr lang="en-US" altLang="nl-NL" i="1">
                              <a:latin typeface="Cambria Math" panose="02040503050406030204" pitchFamily="18" charset="0"/>
                              <a:cs typeface="Times New Roman" panose="02020603050405020304" pitchFamily="18" charset="0"/>
                            </a:rPr>
                            <m:t>𝑖</m:t>
                          </m:r>
                        </m:sub>
                        <m:sup/>
                        <m:e>
                          <m:sSub>
                            <m:sSubPr>
                              <m:ctrlPr>
                                <a:rPr lang="en-US" altLang="nl-NL" b="0" i="1" smtClean="0">
                                  <a:latin typeface="Cambria Math" panose="02040503050406030204" pitchFamily="18" charset="0"/>
                                  <a:cs typeface="Times New Roman" panose="02020603050405020304" pitchFamily="18" charset="0"/>
                                </a:rPr>
                              </m:ctrlPr>
                            </m:sSubPr>
                            <m:e>
                              <m:r>
                                <a:rPr lang="en-US" altLang="nl-NL" b="0" i="1" smtClean="0">
                                  <a:latin typeface="Cambria Math" panose="02040503050406030204" pitchFamily="18" charset="0"/>
                                  <a:cs typeface="Times New Roman" panose="02020603050405020304" pitchFamily="18" charset="0"/>
                                </a:rPr>
                                <m:t>𝑥</m:t>
                              </m:r>
                            </m:e>
                            <m:sub>
                              <m:r>
                                <a:rPr lang="en-US" altLang="nl-NL" b="0" i="1" smtClean="0">
                                  <a:latin typeface="Cambria Math" panose="02040503050406030204" pitchFamily="18" charset="0"/>
                                  <a:cs typeface="Times New Roman" panose="02020603050405020304" pitchFamily="18" charset="0"/>
                                </a:rPr>
                                <m:t>𝑖</m:t>
                              </m:r>
                            </m:sub>
                          </m:sSub>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𝑦</m:t>
                              </m:r>
                            </m:e>
                            <m:sub>
                              <m:r>
                                <a:rPr lang="en-US" altLang="nl-NL" i="1">
                                  <a:latin typeface="Cambria Math" panose="02040503050406030204" pitchFamily="18" charset="0"/>
                                  <a:cs typeface="Times New Roman" panose="02020603050405020304" pitchFamily="18" charset="0"/>
                                </a:rPr>
                                <m:t>𝑖</m:t>
                              </m:r>
                            </m:sub>
                          </m:sSub>
                        </m:e>
                      </m:nary>
                      <m:r>
                        <a:rPr lang="en-US" altLang="nl-NL" i="1">
                          <a:latin typeface="Cambria Math" panose="02040503050406030204" pitchFamily="18" charset="0"/>
                          <a:cs typeface="Times New Roman" panose="02020603050405020304" pitchFamily="18" charset="0"/>
                        </a:rPr>
                        <m:t>=</m:t>
                      </m:r>
                      <m:r>
                        <a:rPr lang="en-US" altLang="nl-NL" b="0" i="1" smtClean="0">
                          <a:latin typeface="Cambria Math" panose="02040503050406030204" pitchFamily="18" charset="0"/>
                          <a:cs typeface="Times New Roman" panose="02020603050405020304" pitchFamily="18" charset="0"/>
                        </a:rPr>
                        <m:t>62</m:t>
                      </m:r>
                    </m:oMath>
                  </m:oMathPara>
                </a14:m>
                <a:endParaRPr lang="en-US" altLang="nl-NL" dirty="0">
                  <a:cs typeface="Times New Roman" panose="02020603050405020304" pitchFamily="18" charset="0"/>
                </a:endParaRPr>
              </a:p>
            </p:txBody>
          </p:sp>
        </mc:Choice>
        <mc:Fallback xmlns="">
          <p:sp>
            <p:nvSpPr>
              <p:cNvPr id="4" name="Content Placeholder 2">
                <a:extLst>
                  <a:ext uri="{FF2B5EF4-FFF2-40B4-BE49-F238E27FC236}">
                    <a16:creationId xmlns:a16="http://schemas.microsoft.com/office/drawing/2014/main" id="{4F397585-C5B5-459A-B3DC-274955FA6DB3}"/>
                  </a:ext>
                </a:extLst>
              </p:cNvPr>
              <p:cNvSpPr txBox="1">
                <a:spLocks noRot="1" noChangeAspect="1" noMove="1" noResize="1" noEditPoints="1" noAdjustHandles="1" noChangeArrowheads="1" noChangeShapeType="1" noTextEdit="1"/>
              </p:cNvSpPr>
              <p:nvPr/>
            </p:nvSpPr>
            <p:spPr>
              <a:xfrm>
                <a:off x="943958" y="3627911"/>
                <a:ext cx="10515600" cy="2349725"/>
              </a:xfrm>
              <a:prstGeom prst="rect">
                <a:avLst/>
              </a:prstGeom>
              <a:blipFill>
                <a:blip r:embed="rId3"/>
                <a:stretch>
                  <a:fillRect t="-51075" b="-639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5503B4D0-C427-4F02-931C-46DF2C610B39}"/>
                  </a:ext>
                </a:extLst>
              </p:cNvPr>
              <p:cNvGraphicFramePr>
                <a:graphicFrameLocks noGrp="1"/>
              </p:cNvGraphicFramePr>
              <p:nvPr>
                <p:extLst>
                  <p:ext uri="{D42A27DB-BD31-4B8C-83A1-F6EECF244321}">
                    <p14:modId xmlns:p14="http://schemas.microsoft.com/office/powerpoint/2010/main" val="805992825"/>
                  </p:ext>
                </p:extLst>
              </p:nvPr>
            </p:nvGraphicFramePr>
            <p:xfrm>
              <a:off x="838200" y="2256311"/>
              <a:ext cx="10515600" cy="137160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3064548547"/>
                        </a:ext>
                      </a:extLst>
                    </a:gridCol>
                    <a:gridCol w="1051560">
                      <a:extLst>
                        <a:ext uri="{9D8B030D-6E8A-4147-A177-3AD203B41FA5}">
                          <a16:colId xmlns:a16="http://schemas.microsoft.com/office/drawing/2014/main" val="2772253802"/>
                        </a:ext>
                      </a:extLst>
                    </a:gridCol>
                    <a:gridCol w="1051560">
                      <a:extLst>
                        <a:ext uri="{9D8B030D-6E8A-4147-A177-3AD203B41FA5}">
                          <a16:colId xmlns:a16="http://schemas.microsoft.com/office/drawing/2014/main" val="2082591140"/>
                        </a:ext>
                      </a:extLst>
                    </a:gridCol>
                    <a:gridCol w="1051560">
                      <a:extLst>
                        <a:ext uri="{9D8B030D-6E8A-4147-A177-3AD203B41FA5}">
                          <a16:colId xmlns:a16="http://schemas.microsoft.com/office/drawing/2014/main" val="2309989111"/>
                        </a:ext>
                      </a:extLst>
                    </a:gridCol>
                    <a:gridCol w="1051560">
                      <a:extLst>
                        <a:ext uri="{9D8B030D-6E8A-4147-A177-3AD203B41FA5}">
                          <a16:colId xmlns:a16="http://schemas.microsoft.com/office/drawing/2014/main" val="1138428252"/>
                        </a:ext>
                      </a:extLst>
                    </a:gridCol>
                    <a:gridCol w="1051560">
                      <a:extLst>
                        <a:ext uri="{9D8B030D-6E8A-4147-A177-3AD203B41FA5}">
                          <a16:colId xmlns:a16="http://schemas.microsoft.com/office/drawing/2014/main" val="845948308"/>
                        </a:ext>
                      </a:extLst>
                    </a:gridCol>
                    <a:gridCol w="1051560">
                      <a:extLst>
                        <a:ext uri="{9D8B030D-6E8A-4147-A177-3AD203B41FA5}">
                          <a16:colId xmlns:a16="http://schemas.microsoft.com/office/drawing/2014/main" val="953404444"/>
                        </a:ext>
                      </a:extLst>
                    </a:gridCol>
                    <a:gridCol w="1051560">
                      <a:extLst>
                        <a:ext uri="{9D8B030D-6E8A-4147-A177-3AD203B41FA5}">
                          <a16:colId xmlns:a16="http://schemas.microsoft.com/office/drawing/2014/main" val="1874110746"/>
                        </a:ext>
                      </a:extLst>
                    </a:gridCol>
                    <a:gridCol w="1051560">
                      <a:extLst>
                        <a:ext uri="{9D8B030D-6E8A-4147-A177-3AD203B41FA5}">
                          <a16:colId xmlns:a16="http://schemas.microsoft.com/office/drawing/2014/main" val="1461401472"/>
                        </a:ext>
                      </a:extLst>
                    </a:gridCol>
                    <a:gridCol w="1051560">
                      <a:extLst>
                        <a:ext uri="{9D8B030D-6E8A-4147-A177-3AD203B41FA5}">
                          <a16:colId xmlns:a16="http://schemas.microsoft.com/office/drawing/2014/main" val="1093644297"/>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𝒀𝒆𝒂𝒓</m:t>
                                </m:r>
                              </m:oMath>
                            </m:oMathPara>
                          </a14:m>
                          <a:endParaRPr lang="nl-NL" sz="2400" dirty="0"/>
                        </a:p>
                      </a:txBody>
                      <a:tcPr>
                        <a:solidFill>
                          <a:schemeClr val="accent1"/>
                        </a:solidFill>
                      </a:tcPr>
                    </a:tc>
                    <a:tc>
                      <a:txBody>
                        <a:bodyPr/>
                        <a:lstStyle/>
                        <a:p>
                          <a:pPr algn="ctr"/>
                          <a:r>
                            <a:rPr lang="en-US" sz="2400" b="0" dirty="0">
                              <a:solidFill>
                                <a:schemeClr val="tx1"/>
                              </a:solidFill>
                            </a:rPr>
                            <a:t>2003</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2004</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2005</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2006</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2007</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2008</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2009</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2010</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2011</a:t>
                          </a:r>
                          <a:endParaRPr lang="nl-NL" sz="2400" b="0"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val="1410947412"/>
                      </a:ext>
                    </a:extLst>
                  </a:tr>
                  <a:tr h="370840">
                    <a:tc>
                      <a:txBody>
                        <a:bodyPr/>
                        <a:lstStyle/>
                        <a:p>
                          <a:pPr/>
                          <a14:m>
                            <m:oMathPara xmlns:m="http://schemas.openxmlformats.org/officeDocument/2006/math">
                              <m:oMathParaPr>
                                <m:jc m:val="centerGroup"/>
                              </m:oMathParaPr>
                              <m:oMath xmlns:m="http://schemas.openxmlformats.org/officeDocument/2006/math">
                                <m:r>
                                  <a:rPr lang="en-US" sz="2400" b="1" i="1" smtClean="0">
                                    <a:solidFill>
                                      <a:schemeClr val="bg1"/>
                                    </a:solidFill>
                                    <a:latin typeface="Cambria Math" panose="02040503050406030204" pitchFamily="18" charset="0"/>
                                  </a:rPr>
                                  <m:t>𝒙</m:t>
                                </m:r>
                              </m:oMath>
                            </m:oMathPara>
                          </a14:m>
                          <a:endParaRPr lang="nl-NL" sz="2400" dirty="0">
                            <a:solidFill>
                              <a:schemeClr val="bg1"/>
                            </a:solidFill>
                          </a:endParaRPr>
                        </a:p>
                      </a:txBody>
                      <a:tcPr>
                        <a:solidFill>
                          <a:schemeClr val="accent1"/>
                        </a:solidFill>
                      </a:tcPr>
                    </a:tc>
                    <a:tc>
                      <a:txBody>
                        <a:bodyPr/>
                        <a:lstStyle/>
                        <a:p>
                          <a:pPr algn="ctr"/>
                          <a:r>
                            <a:rPr lang="nl-NL" sz="2400" b="0" dirty="0">
                              <a:solidFill>
                                <a:schemeClr val="tx1"/>
                              </a:solidFill>
                            </a:rPr>
                            <a:t>-4</a:t>
                          </a:r>
                        </a:p>
                      </a:txBody>
                      <a:tcPr>
                        <a:solidFill>
                          <a:schemeClr val="accent1">
                            <a:lumMod val="40000"/>
                            <a:lumOff val="60000"/>
                          </a:schemeClr>
                        </a:solidFill>
                      </a:tcPr>
                    </a:tc>
                    <a:tc>
                      <a:txBody>
                        <a:bodyPr/>
                        <a:lstStyle/>
                        <a:p>
                          <a:pPr algn="ctr"/>
                          <a:r>
                            <a:rPr lang="nl-NL" sz="2400" b="0" dirty="0">
                              <a:solidFill>
                                <a:schemeClr val="tx1"/>
                              </a:solidFill>
                            </a:rPr>
                            <a:t>-3</a:t>
                          </a:r>
                        </a:p>
                      </a:txBody>
                      <a:tcPr>
                        <a:solidFill>
                          <a:schemeClr val="accent1">
                            <a:lumMod val="40000"/>
                            <a:lumOff val="60000"/>
                          </a:schemeClr>
                        </a:solidFill>
                      </a:tcPr>
                    </a:tc>
                    <a:tc>
                      <a:txBody>
                        <a:bodyPr/>
                        <a:lstStyle/>
                        <a:p>
                          <a:pPr algn="ctr"/>
                          <a:r>
                            <a:rPr lang="nl-NL" sz="2400" b="0" dirty="0">
                              <a:solidFill>
                                <a:schemeClr val="tx1"/>
                              </a:solidFill>
                            </a:rPr>
                            <a:t>-2</a:t>
                          </a:r>
                        </a:p>
                      </a:txBody>
                      <a:tcPr>
                        <a:solidFill>
                          <a:schemeClr val="accent1">
                            <a:lumMod val="40000"/>
                            <a:lumOff val="60000"/>
                          </a:schemeClr>
                        </a:solidFill>
                      </a:tcPr>
                    </a:tc>
                    <a:tc>
                      <a:txBody>
                        <a:bodyPr/>
                        <a:lstStyle/>
                        <a:p>
                          <a:pPr algn="ctr"/>
                          <a:r>
                            <a:rPr lang="nl-NL" sz="2400" b="0" dirty="0">
                              <a:solidFill>
                                <a:schemeClr val="tx1"/>
                              </a:solidFill>
                            </a:rPr>
                            <a:t>-1</a:t>
                          </a:r>
                        </a:p>
                      </a:txBody>
                      <a:tcPr>
                        <a:solidFill>
                          <a:schemeClr val="accent1">
                            <a:lumMod val="40000"/>
                            <a:lumOff val="60000"/>
                          </a:schemeClr>
                        </a:solidFill>
                      </a:tcPr>
                    </a:tc>
                    <a:tc>
                      <a:txBody>
                        <a:bodyPr/>
                        <a:lstStyle/>
                        <a:p>
                          <a:pPr algn="ctr"/>
                          <a:r>
                            <a:rPr lang="nl-NL" sz="2400" b="0" dirty="0">
                              <a:solidFill>
                                <a:schemeClr val="tx1"/>
                              </a:solidFill>
                            </a:rPr>
                            <a:t>0</a:t>
                          </a:r>
                        </a:p>
                      </a:txBody>
                      <a:tcPr>
                        <a:solidFill>
                          <a:schemeClr val="accent1">
                            <a:lumMod val="40000"/>
                            <a:lumOff val="60000"/>
                          </a:schemeClr>
                        </a:solidFill>
                      </a:tcPr>
                    </a:tc>
                    <a:tc>
                      <a:txBody>
                        <a:bodyPr/>
                        <a:lstStyle/>
                        <a:p>
                          <a:pPr algn="ctr"/>
                          <a:r>
                            <a:rPr lang="nl-NL" sz="2400" b="0" dirty="0">
                              <a:solidFill>
                                <a:schemeClr val="tx1"/>
                              </a:solidFill>
                            </a:rPr>
                            <a:t>1</a:t>
                          </a:r>
                        </a:p>
                      </a:txBody>
                      <a:tcPr>
                        <a:solidFill>
                          <a:schemeClr val="accent1">
                            <a:lumMod val="40000"/>
                            <a:lumOff val="60000"/>
                          </a:schemeClr>
                        </a:solidFill>
                      </a:tcPr>
                    </a:tc>
                    <a:tc>
                      <a:txBody>
                        <a:bodyPr/>
                        <a:lstStyle/>
                        <a:p>
                          <a:pPr algn="ctr"/>
                          <a:r>
                            <a:rPr lang="nl-NL" sz="2400" b="0" dirty="0">
                              <a:solidFill>
                                <a:schemeClr val="tx1"/>
                              </a:solidFill>
                            </a:rPr>
                            <a:t>2</a:t>
                          </a:r>
                        </a:p>
                      </a:txBody>
                      <a:tcPr>
                        <a:solidFill>
                          <a:schemeClr val="accent1">
                            <a:lumMod val="40000"/>
                            <a:lumOff val="60000"/>
                          </a:schemeClr>
                        </a:solidFill>
                      </a:tcPr>
                    </a:tc>
                    <a:tc>
                      <a:txBody>
                        <a:bodyPr/>
                        <a:lstStyle/>
                        <a:p>
                          <a:pPr algn="ctr"/>
                          <a:r>
                            <a:rPr lang="nl-NL" sz="2400" b="0" dirty="0">
                              <a:solidFill>
                                <a:schemeClr val="tx1"/>
                              </a:solidFill>
                            </a:rPr>
                            <a:t>3</a:t>
                          </a:r>
                        </a:p>
                      </a:txBody>
                      <a:tcPr>
                        <a:solidFill>
                          <a:schemeClr val="accent1">
                            <a:lumMod val="40000"/>
                            <a:lumOff val="60000"/>
                          </a:schemeClr>
                        </a:solidFill>
                      </a:tcPr>
                    </a:tc>
                    <a:tc>
                      <a:txBody>
                        <a:bodyPr/>
                        <a:lstStyle/>
                        <a:p>
                          <a:pPr algn="ctr"/>
                          <a:r>
                            <a:rPr lang="nl-NL" sz="2400" b="0" dirty="0">
                              <a:solidFill>
                                <a:schemeClr val="tx1"/>
                              </a:solidFill>
                            </a:rPr>
                            <a:t>4</a:t>
                          </a:r>
                        </a:p>
                      </a:txBody>
                      <a:tcPr>
                        <a:solidFill>
                          <a:schemeClr val="accent1">
                            <a:lumMod val="40000"/>
                            <a:lumOff val="60000"/>
                          </a:schemeClr>
                        </a:solidFill>
                      </a:tcPr>
                    </a:tc>
                    <a:extLst>
                      <a:ext uri="{0D108BD9-81ED-4DB2-BD59-A6C34878D82A}">
                        <a16:rowId xmlns:a16="http://schemas.microsoft.com/office/drawing/2014/main" val="3036664352"/>
                      </a:ext>
                    </a:extLst>
                  </a:tr>
                  <a:tr h="370840">
                    <a:tc>
                      <a:txBody>
                        <a:bodyPr/>
                        <a:lstStyle/>
                        <a:p>
                          <a:pPr/>
                          <a14:m>
                            <m:oMathPara xmlns:m="http://schemas.openxmlformats.org/officeDocument/2006/math">
                              <m:oMathParaPr>
                                <m:jc m:val="centerGroup"/>
                              </m:oMathParaPr>
                              <m:oMath xmlns:m="http://schemas.openxmlformats.org/officeDocument/2006/math">
                                <m:r>
                                  <a:rPr lang="en-US" sz="2400" b="1" i="1" smtClean="0">
                                    <a:solidFill>
                                      <a:schemeClr val="bg1"/>
                                    </a:solidFill>
                                    <a:latin typeface="Cambria Math" panose="02040503050406030204" pitchFamily="18" charset="0"/>
                                  </a:rPr>
                                  <m:t>𝒚</m:t>
                                </m:r>
                              </m:oMath>
                            </m:oMathPara>
                          </a14:m>
                          <a:endParaRPr lang="nl-NL" sz="2400" dirty="0"/>
                        </a:p>
                      </a:txBody>
                      <a:tcPr>
                        <a:solidFill>
                          <a:schemeClr val="accent1"/>
                        </a:solidFill>
                      </a:tcPr>
                    </a:tc>
                    <a:tc>
                      <a:txBody>
                        <a:bodyPr/>
                        <a:lstStyle/>
                        <a:p>
                          <a:pPr algn="ctr"/>
                          <a:r>
                            <a:rPr lang="en-US" sz="2400" b="0" dirty="0">
                              <a:solidFill>
                                <a:schemeClr val="tx1"/>
                              </a:solidFill>
                            </a:rPr>
                            <a:t>13</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15</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17</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18</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19</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21</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22</a:t>
                          </a:r>
                          <a:endParaRPr lang="nl-NL" sz="2400" b="0"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val="2787752170"/>
                      </a:ext>
                    </a:extLst>
                  </a:tr>
                </a:tbl>
              </a:graphicData>
            </a:graphic>
          </p:graphicFrame>
        </mc:Choice>
        <mc:Fallback xmlns="">
          <p:graphicFrame>
            <p:nvGraphicFramePr>
              <p:cNvPr id="5" name="Table 5">
                <a:extLst>
                  <a:ext uri="{FF2B5EF4-FFF2-40B4-BE49-F238E27FC236}">
                    <a16:creationId xmlns:a16="http://schemas.microsoft.com/office/drawing/2014/main" id="{5503B4D0-C427-4F02-931C-46DF2C610B39}"/>
                  </a:ext>
                </a:extLst>
              </p:cNvPr>
              <p:cNvGraphicFramePr>
                <a:graphicFrameLocks noGrp="1"/>
              </p:cNvGraphicFramePr>
              <p:nvPr>
                <p:extLst>
                  <p:ext uri="{D42A27DB-BD31-4B8C-83A1-F6EECF244321}">
                    <p14:modId xmlns:p14="http://schemas.microsoft.com/office/powerpoint/2010/main" val="805992825"/>
                  </p:ext>
                </p:extLst>
              </p:nvPr>
            </p:nvGraphicFramePr>
            <p:xfrm>
              <a:off x="838200" y="2256311"/>
              <a:ext cx="10515600" cy="137160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3064548547"/>
                        </a:ext>
                      </a:extLst>
                    </a:gridCol>
                    <a:gridCol w="1051560">
                      <a:extLst>
                        <a:ext uri="{9D8B030D-6E8A-4147-A177-3AD203B41FA5}">
                          <a16:colId xmlns:a16="http://schemas.microsoft.com/office/drawing/2014/main" val="2772253802"/>
                        </a:ext>
                      </a:extLst>
                    </a:gridCol>
                    <a:gridCol w="1051560">
                      <a:extLst>
                        <a:ext uri="{9D8B030D-6E8A-4147-A177-3AD203B41FA5}">
                          <a16:colId xmlns:a16="http://schemas.microsoft.com/office/drawing/2014/main" val="2082591140"/>
                        </a:ext>
                      </a:extLst>
                    </a:gridCol>
                    <a:gridCol w="1051560">
                      <a:extLst>
                        <a:ext uri="{9D8B030D-6E8A-4147-A177-3AD203B41FA5}">
                          <a16:colId xmlns:a16="http://schemas.microsoft.com/office/drawing/2014/main" val="2309989111"/>
                        </a:ext>
                      </a:extLst>
                    </a:gridCol>
                    <a:gridCol w="1051560">
                      <a:extLst>
                        <a:ext uri="{9D8B030D-6E8A-4147-A177-3AD203B41FA5}">
                          <a16:colId xmlns:a16="http://schemas.microsoft.com/office/drawing/2014/main" val="1138428252"/>
                        </a:ext>
                      </a:extLst>
                    </a:gridCol>
                    <a:gridCol w="1051560">
                      <a:extLst>
                        <a:ext uri="{9D8B030D-6E8A-4147-A177-3AD203B41FA5}">
                          <a16:colId xmlns:a16="http://schemas.microsoft.com/office/drawing/2014/main" val="845948308"/>
                        </a:ext>
                      </a:extLst>
                    </a:gridCol>
                    <a:gridCol w="1051560">
                      <a:extLst>
                        <a:ext uri="{9D8B030D-6E8A-4147-A177-3AD203B41FA5}">
                          <a16:colId xmlns:a16="http://schemas.microsoft.com/office/drawing/2014/main" val="953404444"/>
                        </a:ext>
                      </a:extLst>
                    </a:gridCol>
                    <a:gridCol w="1051560">
                      <a:extLst>
                        <a:ext uri="{9D8B030D-6E8A-4147-A177-3AD203B41FA5}">
                          <a16:colId xmlns:a16="http://schemas.microsoft.com/office/drawing/2014/main" val="1874110746"/>
                        </a:ext>
                      </a:extLst>
                    </a:gridCol>
                    <a:gridCol w="1051560">
                      <a:extLst>
                        <a:ext uri="{9D8B030D-6E8A-4147-A177-3AD203B41FA5}">
                          <a16:colId xmlns:a16="http://schemas.microsoft.com/office/drawing/2014/main" val="1461401472"/>
                        </a:ext>
                      </a:extLst>
                    </a:gridCol>
                    <a:gridCol w="1051560">
                      <a:extLst>
                        <a:ext uri="{9D8B030D-6E8A-4147-A177-3AD203B41FA5}">
                          <a16:colId xmlns:a16="http://schemas.microsoft.com/office/drawing/2014/main" val="1093644297"/>
                        </a:ext>
                      </a:extLst>
                    </a:gridCol>
                  </a:tblGrid>
                  <a:tr h="457200">
                    <a:tc>
                      <a:txBody>
                        <a:bodyPr/>
                        <a:lstStyle/>
                        <a:p>
                          <a:endParaRPr lang="en-NL"/>
                        </a:p>
                      </a:txBody>
                      <a:tcPr>
                        <a:blipFill>
                          <a:blip r:embed="rId4"/>
                          <a:stretch>
                            <a:fillRect l="-1205" t="-11111" r="-901205" b="-233333"/>
                          </a:stretch>
                        </a:blipFill>
                      </a:tcPr>
                    </a:tc>
                    <a:tc>
                      <a:txBody>
                        <a:bodyPr/>
                        <a:lstStyle/>
                        <a:p>
                          <a:pPr algn="ctr"/>
                          <a:r>
                            <a:rPr lang="en-US" sz="2400" b="0" dirty="0">
                              <a:solidFill>
                                <a:schemeClr val="tx1"/>
                              </a:solidFill>
                            </a:rPr>
                            <a:t>2003</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2004</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2005</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2006</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2007</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2008</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2009</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2010</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2011</a:t>
                          </a:r>
                          <a:endParaRPr lang="nl-NL" sz="2400" b="0"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val="1410947412"/>
                      </a:ext>
                    </a:extLst>
                  </a:tr>
                  <a:tr h="457200">
                    <a:tc>
                      <a:txBody>
                        <a:bodyPr/>
                        <a:lstStyle/>
                        <a:p>
                          <a:endParaRPr lang="en-NL"/>
                        </a:p>
                      </a:txBody>
                      <a:tcPr>
                        <a:blipFill>
                          <a:blip r:embed="rId4"/>
                          <a:stretch>
                            <a:fillRect l="-1205" t="-108108" r="-901205" b="-127027"/>
                          </a:stretch>
                        </a:blipFill>
                      </a:tcPr>
                    </a:tc>
                    <a:tc>
                      <a:txBody>
                        <a:bodyPr/>
                        <a:lstStyle/>
                        <a:p>
                          <a:pPr algn="ctr"/>
                          <a:r>
                            <a:rPr lang="nl-NL" sz="2400" b="0" dirty="0">
                              <a:solidFill>
                                <a:schemeClr val="tx1"/>
                              </a:solidFill>
                            </a:rPr>
                            <a:t>-4</a:t>
                          </a:r>
                        </a:p>
                      </a:txBody>
                      <a:tcPr>
                        <a:solidFill>
                          <a:schemeClr val="accent1">
                            <a:lumMod val="40000"/>
                            <a:lumOff val="60000"/>
                          </a:schemeClr>
                        </a:solidFill>
                      </a:tcPr>
                    </a:tc>
                    <a:tc>
                      <a:txBody>
                        <a:bodyPr/>
                        <a:lstStyle/>
                        <a:p>
                          <a:pPr algn="ctr"/>
                          <a:r>
                            <a:rPr lang="nl-NL" sz="2400" b="0" dirty="0">
                              <a:solidFill>
                                <a:schemeClr val="tx1"/>
                              </a:solidFill>
                            </a:rPr>
                            <a:t>-3</a:t>
                          </a:r>
                        </a:p>
                      </a:txBody>
                      <a:tcPr>
                        <a:solidFill>
                          <a:schemeClr val="accent1">
                            <a:lumMod val="40000"/>
                            <a:lumOff val="60000"/>
                          </a:schemeClr>
                        </a:solidFill>
                      </a:tcPr>
                    </a:tc>
                    <a:tc>
                      <a:txBody>
                        <a:bodyPr/>
                        <a:lstStyle/>
                        <a:p>
                          <a:pPr algn="ctr"/>
                          <a:r>
                            <a:rPr lang="nl-NL" sz="2400" b="0" dirty="0">
                              <a:solidFill>
                                <a:schemeClr val="tx1"/>
                              </a:solidFill>
                            </a:rPr>
                            <a:t>-2</a:t>
                          </a:r>
                        </a:p>
                      </a:txBody>
                      <a:tcPr>
                        <a:solidFill>
                          <a:schemeClr val="accent1">
                            <a:lumMod val="40000"/>
                            <a:lumOff val="60000"/>
                          </a:schemeClr>
                        </a:solidFill>
                      </a:tcPr>
                    </a:tc>
                    <a:tc>
                      <a:txBody>
                        <a:bodyPr/>
                        <a:lstStyle/>
                        <a:p>
                          <a:pPr algn="ctr"/>
                          <a:r>
                            <a:rPr lang="nl-NL" sz="2400" b="0" dirty="0">
                              <a:solidFill>
                                <a:schemeClr val="tx1"/>
                              </a:solidFill>
                            </a:rPr>
                            <a:t>-1</a:t>
                          </a:r>
                        </a:p>
                      </a:txBody>
                      <a:tcPr>
                        <a:solidFill>
                          <a:schemeClr val="accent1">
                            <a:lumMod val="40000"/>
                            <a:lumOff val="60000"/>
                          </a:schemeClr>
                        </a:solidFill>
                      </a:tcPr>
                    </a:tc>
                    <a:tc>
                      <a:txBody>
                        <a:bodyPr/>
                        <a:lstStyle/>
                        <a:p>
                          <a:pPr algn="ctr"/>
                          <a:r>
                            <a:rPr lang="nl-NL" sz="2400" b="0" dirty="0">
                              <a:solidFill>
                                <a:schemeClr val="tx1"/>
                              </a:solidFill>
                            </a:rPr>
                            <a:t>0</a:t>
                          </a:r>
                        </a:p>
                      </a:txBody>
                      <a:tcPr>
                        <a:solidFill>
                          <a:schemeClr val="accent1">
                            <a:lumMod val="40000"/>
                            <a:lumOff val="60000"/>
                          </a:schemeClr>
                        </a:solidFill>
                      </a:tcPr>
                    </a:tc>
                    <a:tc>
                      <a:txBody>
                        <a:bodyPr/>
                        <a:lstStyle/>
                        <a:p>
                          <a:pPr algn="ctr"/>
                          <a:r>
                            <a:rPr lang="nl-NL" sz="2400" b="0" dirty="0">
                              <a:solidFill>
                                <a:schemeClr val="tx1"/>
                              </a:solidFill>
                            </a:rPr>
                            <a:t>1</a:t>
                          </a:r>
                        </a:p>
                      </a:txBody>
                      <a:tcPr>
                        <a:solidFill>
                          <a:schemeClr val="accent1">
                            <a:lumMod val="40000"/>
                            <a:lumOff val="60000"/>
                          </a:schemeClr>
                        </a:solidFill>
                      </a:tcPr>
                    </a:tc>
                    <a:tc>
                      <a:txBody>
                        <a:bodyPr/>
                        <a:lstStyle/>
                        <a:p>
                          <a:pPr algn="ctr"/>
                          <a:r>
                            <a:rPr lang="nl-NL" sz="2400" b="0" dirty="0">
                              <a:solidFill>
                                <a:schemeClr val="tx1"/>
                              </a:solidFill>
                            </a:rPr>
                            <a:t>2</a:t>
                          </a:r>
                        </a:p>
                      </a:txBody>
                      <a:tcPr>
                        <a:solidFill>
                          <a:schemeClr val="accent1">
                            <a:lumMod val="40000"/>
                            <a:lumOff val="60000"/>
                          </a:schemeClr>
                        </a:solidFill>
                      </a:tcPr>
                    </a:tc>
                    <a:tc>
                      <a:txBody>
                        <a:bodyPr/>
                        <a:lstStyle/>
                        <a:p>
                          <a:pPr algn="ctr"/>
                          <a:r>
                            <a:rPr lang="nl-NL" sz="2400" b="0" dirty="0">
                              <a:solidFill>
                                <a:schemeClr val="tx1"/>
                              </a:solidFill>
                            </a:rPr>
                            <a:t>3</a:t>
                          </a:r>
                        </a:p>
                      </a:txBody>
                      <a:tcPr>
                        <a:solidFill>
                          <a:schemeClr val="accent1">
                            <a:lumMod val="40000"/>
                            <a:lumOff val="60000"/>
                          </a:schemeClr>
                        </a:solidFill>
                      </a:tcPr>
                    </a:tc>
                    <a:tc>
                      <a:txBody>
                        <a:bodyPr/>
                        <a:lstStyle/>
                        <a:p>
                          <a:pPr algn="ctr"/>
                          <a:r>
                            <a:rPr lang="nl-NL" sz="2400" b="0" dirty="0">
                              <a:solidFill>
                                <a:schemeClr val="tx1"/>
                              </a:solidFill>
                            </a:rPr>
                            <a:t>4</a:t>
                          </a:r>
                        </a:p>
                      </a:txBody>
                      <a:tcPr>
                        <a:solidFill>
                          <a:schemeClr val="accent1">
                            <a:lumMod val="40000"/>
                            <a:lumOff val="60000"/>
                          </a:schemeClr>
                        </a:solidFill>
                      </a:tcPr>
                    </a:tc>
                    <a:extLst>
                      <a:ext uri="{0D108BD9-81ED-4DB2-BD59-A6C34878D82A}">
                        <a16:rowId xmlns:a16="http://schemas.microsoft.com/office/drawing/2014/main" val="3036664352"/>
                      </a:ext>
                    </a:extLst>
                  </a:tr>
                  <a:tr h="457200">
                    <a:tc>
                      <a:txBody>
                        <a:bodyPr/>
                        <a:lstStyle/>
                        <a:p>
                          <a:endParaRPr lang="en-NL"/>
                        </a:p>
                      </a:txBody>
                      <a:tcPr>
                        <a:blipFill>
                          <a:blip r:embed="rId4"/>
                          <a:stretch>
                            <a:fillRect l="-1205" t="-213889" r="-901205" b="-30556"/>
                          </a:stretch>
                        </a:blipFill>
                      </a:tcPr>
                    </a:tc>
                    <a:tc>
                      <a:txBody>
                        <a:bodyPr/>
                        <a:lstStyle/>
                        <a:p>
                          <a:pPr algn="ctr"/>
                          <a:r>
                            <a:rPr lang="en-US" sz="2400" b="0" dirty="0">
                              <a:solidFill>
                                <a:schemeClr val="tx1"/>
                              </a:solidFill>
                            </a:rPr>
                            <a:t>13</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15</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17</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18</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19</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21</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22</a:t>
                          </a:r>
                          <a:endParaRPr lang="nl-NL" sz="2400" b="0"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val="2787752170"/>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24E411C-F12E-3941-82F6-27AE6F06354E}"/>
                  </a:ext>
                </a:extLst>
              </p:cNvPr>
              <p:cNvSpPr txBox="1"/>
              <p:nvPr/>
            </p:nvSpPr>
            <p:spPr>
              <a:xfrm>
                <a:off x="3956013" y="6061795"/>
                <a:ext cx="3544717" cy="431080"/>
              </a:xfrm>
              <a:prstGeom prst="rect">
                <a:avLst/>
              </a:prstGeom>
              <a:noFill/>
            </p:spPr>
            <p:txBody>
              <a:bodyPr wrap="square" rtlCol="0">
                <a:spAutoFit/>
              </a:bodyPr>
              <a:lstStyle/>
              <a:p>
                <a:r>
                  <a:rPr lang="en-US" sz="2200" dirty="0"/>
                  <a:t>By definition,  </a:t>
                </a:r>
                <a14:m>
                  <m:oMath xmlns:m="http://schemas.openxmlformats.org/officeDocument/2006/math">
                    <m:nary>
                      <m:naryPr>
                        <m:chr m:val="∑"/>
                        <m:supHide m:val="on"/>
                        <m:ctrlPr>
                          <a:rPr lang="en-US" altLang="nl-NL" sz="2200" i="1">
                            <a:latin typeface="Cambria Math" panose="02040503050406030204" pitchFamily="18" charset="0"/>
                            <a:cs typeface="Times New Roman" panose="02020603050405020304" pitchFamily="18" charset="0"/>
                          </a:rPr>
                        </m:ctrlPr>
                      </m:naryPr>
                      <m:sub>
                        <m:r>
                          <m:rPr>
                            <m:brk m:alnAt="7"/>
                          </m:rPr>
                          <a:rPr lang="en-US" altLang="nl-NL" sz="2200" i="1">
                            <a:latin typeface="Cambria Math" panose="02040503050406030204" pitchFamily="18" charset="0"/>
                            <a:cs typeface="Times New Roman" panose="02020603050405020304" pitchFamily="18" charset="0"/>
                          </a:rPr>
                          <m:t>𝑖</m:t>
                        </m:r>
                      </m:sub>
                      <m:sup/>
                      <m:e>
                        <m:sSub>
                          <m:sSubPr>
                            <m:ctrlPr>
                              <a:rPr lang="en-US" altLang="nl-NL" sz="2200" i="1">
                                <a:latin typeface="Cambria Math" panose="02040503050406030204" pitchFamily="18" charset="0"/>
                                <a:cs typeface="Times New Roman" panose="02020603050405020304" pitchFamily="18" charset="0"/>
                              </a:rPr>
                            </m:ctrlPr>
                          </m:sSubPr>
                          <m:e>
                            <m:r>
                              <a:rPr lang="en-US" altLang="nl-NL" sz="2200" i="1">
                                <a:latin typeface="Cambria Math" panose="02040503050406030204" pitchFamily="18" charset="0"/>
                                <a:cs typeface="Times New Roman" panose="02020603050405020304" pitchFamily="18" charset="0"/>
                              </a:rPr>
                              <m:t>𝑥</m:t>
                            </m:r>
                          </m:e>
                          <m:sub>
                            <m:r>
                              <a:rPr lang="en-US" altLang="nl-NL" sz="2200" i="1">
                                <a:latin typeface="Cambria Math" panose="02040503050406030204" pitchFamily="18" charset="0"/>
                                <a:cs typeface="Times New Roman" panose="02020603050405020304" pitchFamily="18" charset="0"/>
                              </a:rPr>
                              <m:t>𝑖</m:t>
                            </m:r>
                          </m:sub>
                        </m:sSub>
                      </m:e>
                    </m:nary>
                    <m:r>
                      <a:rPr lang="en-US" altLang="nl-NL" sz="2200" b="0" i="1" smtClean="0">
                        <a:latin typeface="Cambria Math" panose="02040503050406030204" pitchFamily="18" charset="0"/>
                        <a:cs typeface="Times New Roman" panose="02020603050405020304" pitchFamily="18" charset="0"/>
                      </a:rPr>
                      <m:t>=</m:t>
                    </m:r>
                    <m:r>
                      <a:rPr lang="en-US" altLang="nl-NL" sz="2200" i="1">
                        <a:latin typeface="Cambria Math" panose="02040503050406030204" pitchFamily="18" charset="0"/>
                        <a:cs typeface="Times New Roman" panose="02020603050405020304" pitchFamily="18" charset="0"/>
                      </a:rPr>
                      <m:t>0</m:t>
                    </m:r>
                  </m:oMath>
                </a14:m>
                <a:endParaRPr lang="en-US" sz="2200" dirty="0"/>
              </a:p>
            </p:txBody>
          </p:sp>
        </mc:Choice>
        <mc:Fallback xmlns="">
          <p:sp>
            <p:nvSpPr>
              <p:cNvPr id="6" name="TextBox 5">
                <a:extLst>
                  <a:ext uri="{FF2B5EF4-FFF2-40B4-BE49-F238E27FC236}">
                    <a16:creationId xmlns:a16="http://schemas.microsoft.com/office/drawing/2014/main" id="{224E411C-F12E-3941-82F6-27AE6F06354E}"/>
                  </a:ext>
                </a:extLst>
              </p:cNvPr>
              <p:cNvSpPr txBox="1">
                <a:spLocks noRot="1" noChangeAspect="1" noMove="1" noResize="1" noEditPoints="1" noAdjustHandles="1" noChangeArrowheads="1" noChangeShapeType="1" noTextEdit="1"/>
              </p:cNvSpPr>
              <p:nvPr/>
            </p:nvSpPr>
            <p:spPr>
              <a:xfrm>
                <a:off x="3956013" y="6061795"/>
                <a:ext cx="3544717" cy="431080"/>
              </a:xfrm>
              <a:prstGeom prst="rect">
                <a:avLst/>
              </a:prstGeom>
              <a:blipFill>
                <a:blip r:embed="rId5"/>
                <a:stretch>
                  <a:fillRect l="-2143" t="-120000" b="-182857"/>
                </a:stretch>
              </a:blipFill>
            </p:spPr>
            <p:txBody>
              <a:bodyPr/>
              <a:lstStyle/>
              <a:p>
                <a:r>
                  <a:rPr lang="en-US">
                    <a:noFill/>
                  </a:rPr>
                  <a:t> </a:t>
                </a:r>
              </a:p>
            </p:txBody>
          </p:sp>
        </mc:Fallback>
      </mc:AlternateContent>
      <p:sp>
        <p:nvSpPr>
          <p:cNvPr id="7" name="Slide Number Placeholder 6">
            <a:extLst>
              <a:ext uri="{FF2B5EF4-FFF2-40B4-BE49-F238E27FC236}">
                <a16:creationId xmlns:a16="http://schemas.microsoft.com/office/drawing/2014/main" id="{3FE2D32D-D3F9-720A-17F2-BD460B00D4F0}"/>
              </a:ext>
            </a:extLst>
          </p:cNvPr>
          <p:cNvSpPr>
            <a:spLocks noGrp="1"/>
          </p:cNvSpPr>
          <p:nvPr>
            <p:ph type="sldNum" sz="quarter" idx="12"/>
          </p:nvPr>
        </p:nvSpPr>
        <p:spPr/>
        <p:txBody>
          <a:bodyPr/>
          <a:lstStyle/>
          <a:p>
            <a:fld id="{F8D8F54C-053C-4394-9990-70DE256B1A6D}" type="slidenum">
              <a:rPr lang="nl-NL" smtClean="0"/>
              <a:t>39</a:t>
            </a:fld>
            <a:endParaRPr lang="nl-NL"/>
          </a:p>
        </p:txBody>
      </p:sp>
    </p:spTree>
    <p:extLst>
      <p:ext uri="{BB962C8B-B14F-4D97-AF65-F5344CB8AC3E}">
        <p14:creationId xmlns:p14="http://schemas.microsoft.com/office/powerpoint/2010/main" val="42124146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918243"/>
          </a:xfrm>
        </p:spPr>
        <p:txBody>
          <a:bodyPr>
            <a:noAutofit/>
          </a:bodyPr>
          <a:lstStyle/>
          <a:p>
            <a:r>
              <a:rPr lang="en-US" altLang="nl-NL" sz="3200" b="1" dirty="0">
                <a:latin typeface="Times New Roman" panose="02020603050405020304" pitchFamily="18" charset="0"/>
                <a:cs typeface="Times New Roman" panose="02020603050405020304" pitchFamily="18" charset="0"/>
              </a:rPr>
              <a:t>Example</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4"/>
            <a:ext cx="10515600" cy="711717"/>
          </a:xfrm>
        </p:spPr>
        <p:txBody>
          <a:bodyPr>
            <a:normAutofit/>
          </a:bodyPr>
          <a:lstStyle/>
          <a:p>
            <a:pPr>
              <a:lnSpc>
                <a:spcPct val="110000"/>
              </a:lnSpc>
            </a:pPr>
            <a:r>
              <a:rPr lang="en-US" altLang="nl-NL" dirty="0">
                <a:cs typeface="Times New Roman" panose="02020603050405020304" pitchFamily="18" charset="0"/>
              </a:rPr>
              <a:t>Consider the following dataset</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F397585-C5B5-459A-B3DC-274955FA6DB3}"/>
                  </a:ext>
                </a:extLst>
              </p:cNvPr>
              <p:cNvSpPr txBox="1">
                <a:spLocks/>
              </p:cNvSpPr>
              <p:nvPr/>
            </p:nvSpPr>
            <p:spPr>
              <a:xfrm>
                <a:off x="943958" y="3627911"/>
                <a:ext cx="10515600" cy="2349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457200">
                  <a:lnSpc>
                    <a:spcPct val="110000"/>
                  </a:lnSpc>
                  <a:buNone/>
                </a:pPr>
                <a14:m>
                  <m:oMathPara xmlns:m="http://schemas.openxmlformats.org/officeDocument/2006/math">
                    <m:oMathParaPr>
                      <m:jc m:val="centerGroup"/>
                    </m:oMathParaPr>
                    <m:oMath xmlns:m="http://schemas.openxmlformats.org/officeDocument/2006/math">
                      <m:r>
                        <a:rPr lang="en-US" altLang="nl-NL" b="0" i="1" smtClean="0">
                          <a:latin typeface="Cambria Math" panose="02040503050406030204" pitchFamily="18" charset="0"/>
                          <a:cs typeface="Times New Roman" panose="02020603050405020304" pitchFamily="18" charset="0"/>
                        </a:rPr>
                        <m:t>𝑎</m:t>
                      </m:r>
                      <m:r>
                        <a:rPr lang="en-US" altLang="nl-NL" b="0" i="1" smtClean="0">
                          <a:latin typeface="Cambria Math" panose="02040503050406030204" pitchFamily="18" charset="0"/>
                          <a:cs typeface="Times New Roman" panose="02020603050405020304" pitchFamily="18" charset="0"/>
                        </a:rPr>
                        <m:t>=</m:t>
                      </m:r>
                      <m:f>
                        <m:fPr>
                          <m:ctrlPr>
                            <a:rPr lang="en-US" altLang="nl-NL" b="0" i="1" smtClean="0">
                              <a:latin typeface="Cambria Math" panose="02040503050406030204" pitchFamily="18" charset="0"/>
                              <a:cs typeface="Times New Roman" panose="02020603050405020304" pitchFamily="18" charset="0"/>
                            </a:rPr>
                          </m:ctrlPr>
                        </m:fPr>
                        <m:num>
                          <m:nary>
                            <m:naryPr>
                              <m:chr m:val="∑"/>
                              <m:subHide m:val="on"/>
                              <m:supHide m:val="on"/>
                              <m:ctrlPr>
                                <a:rPr lang="en-US" altLang="nl-NL" i="1">
                                  <a:latin typeface="Cambria Math" panose="02040503050406030204" pitchFamily="18" charset="0"/>
                                  <a:cs typeface="Times New Roman" panose="02020603050405020304" pitchFamily="18" charset="0"/>
                                </a:rPr>
                              </m:ctrlPr>
                            </m:naryPr>
                            <m:sub/>
                            <m:sup/>
                            <m:e>
                              <m:sSub>
                                <m:sSubPr>
                                  <m:ctrlPr>
                                    <a:rPr lang="en-US" altLang="nl-NL" i="1">
                                      <a:latin typeface="Cambria Math" panose="02040503050406030204" pitchFamily="18" charset="0"/>
                                      <a:cs typeface="Times New Roman" panose="02020603050405020304" pitchFamily="18" charset="0"/>
                                    </a:rPr>
                                  </m:ctrlPr>
                                </m:sSubPr>
                                <m:e>
                                  <m:r>
                                    <a:rPr lang="en-US" altLang="nl-NL" i="1">
                                      <a:latin typeface="Cambria Math" panose="02040503050406030204" pitchFamily="18" charset="0"/>
                                      <a:cs typeface="Times New Roman" panose="02020603050405020304" pitchFamily="18" charset="0"/>
                                    </a:rPr>
                                    <m:t>𝑦</m:t>
                                  </m:r>
                                </m:e>
                                <m:sub>
                                  <m:r>
                                    <a:rPr lang="en-US" altLang="nl-NL" i="1">
                                      <a:latin typeface="Cambria Math" panose="02040503050406030204" pitchFamily="18" charset="0"/>
                                      <a:cs typeface="Times New Roman" panose="02020603050405020304" pitchFamily="18" charset="0"/>
                                    </a:rPr>
                                    <m:t>𝑖</m:t>
                                  </m:r>
                                </m:sub>
                              </m:sSub>
                            </m:e>
                          </m:nary>
                        </m:num>
                        <m:den>
                          <m:r>
                            <a:rPr lang="en-US" altLang="nl-NL" b="0" i="1" smtClean="0">
                              <a:latin typeface="Cambria Math" panose="02040503050406030204" pitchFamily="18" charset="0"/>
                              <a:cs typeface="Times New Roman" panose="02020603050405020304" pitchFamily="18" charset="0"/>
                            </a:rPr>
                            <m:t>𝑛</m:t>
                          </m:r>
                        </m:den>
                      </m:f>
                      <m:r>
                        <a:rPr lang="en-US" altLang="nl-NL" b="0" i="1" smtClean="0">
                          <a:latin typeface="Cambria Math" panose="02040503050406030204" pitchFamily="18" charset="0"/>
                          <a:cs typeface="Times New Roman" panose="02020603050405020304" pitchFamily="18" charset="0"/>
                        </a:rPr>
                        <m:t>=</m:t>
                      </m:r>
                      <m:f>
                        <m:fPr>
                          <m:ctrlPr>
                            <a:rPr lang="en-US" altLang="nl-NL" b="0" i="1" smtClean="0">
                              <a:latin typeface="Cambria Math" panose="02040503050406030204" pitchFamily="18" charset="0"/>
                              <a:cs typeface="Times New Roman" panose="02020603050405020304" pitchFamily="18" charset="0"/>
                            </a:rPr>
                          </m:ctrlPr>
                        </m:fPr>
                        <m:num>
                          <m:r>
                            <a:rPr lang="en-US" altLang="nl-NL" b="0" i="1" smtClean="0">
                              <a:latin typeface="Cambria Math" panose="02040503050406030204" pitchFamily="18" charset="0"/>
                              <a:cs typeface="Times New Roman" panose="02020603050405020304" pitchFamily="18" charset="0"/>
                            </a:rPr>
                            <m:t>165</m:t>
                          </m:r>
                        </m:num>
                        <m:den>
                          <m:r>
                            <a:rPr lang="en-US" altLang="nl-NL" b="0" i="1" smtClean="0">
                              <a:latin typeface="Cambria Math" panose="02040503050406030204" pitchFamily="18" charset="0"/>
                              <a:cs typeface="Times New Roman" panose="02020603050405020304" pitchFamily="18" charset="0"/>
                            </a:rPr>
                            <m:t>9</m:t>
                          </m:r>
                        </m:den>
                      </m:f>
                      <m:r>
                        <a:rPr lang="en-US" altLang="nl-NL" b="0" i="1" smtClean="0">
                          <a:latin typeface="Cambria Math" panose="02040503050406030204" pitchFamily="18" charset="0"/>
                          <a:cs typeface="Times New Roman" panose="02020603050405020304" pitchFamily="18" charset="0"/>
                        </a:rPr>
                        <m:t>=18.3</m:t>
                      </m:r>
                    </m:oMath>
                  </m:oMathPara>
                </a14:m>
                <a:endParaRPr lang="en-US" altLang="nl-NL" dirty="0">
                  <a:cs typeface="Times New Roman" panose="02020603050405020304" pitchFamily="18" charset="0"/>
                </a:endParaRPr>
              </a:p>
              <a:p>
                <a:pPr marL="457200" lvl="1" indent="457200">
                  <a:lnSpc>
                    <a:spcPct val="110000"/>
                  </a:lnSpc>
                  <a:buNone/>
                </a:pPr>
                <a14:m>
                  <m:oMathPara xmlns:m="http://schemas.openxmlformats.org/officeDocument/2006/math">
                    <m:oMathParaPr>
                      <m:jc m:val="centerGroup"/>
                    </m:oMathParaPr>
                    <m:oMath xmlns:m="http://schemas.openxmlformats.org/officeDocument/2006/math">
                      <m:r>
                        <a:rPr lang="en-US" altLang="nl-NL" b="0" i="1" smtClean="0">
                          <a:latin typeface="Cambria Math" panose="02040503050406030204" pitchFamily="18" charset="0"/>
                          <a:cs typeface="Times New Roman" panose="02020603050405020304" pitchFamily="18" charset="0"/>
                        </a:rPr>
                        <m:t>𝑏</m:t>
                      </m:r>
                      <m:r>
                        <a:rPr lang="en-US" altLang="nl-NL" i="1">
                          <a:latin typeface="Cambria Math" panose="02040503050406030204" pitchFamily="18" charset="0"/>
                          <a:cs typeface="Times New Roman" panose="02020603050405020304" pitchFamily="18" charset="0"/>
                        </a:rPr>
                        <m:t>=</m:t>
                      </m:r>
                      <m:f>
                        <m:fPr>
                          <m:ctrlPr>
                            <a:rPr lang="en-US" altLang="nl-NL" i="1">
                              <a:latin typeface="Cambria Math" panose="02040503050406030204" pitchFamily="18" charset="0"/>
                              <a:cs typeface="Times New Roman" panose="02020603050405020304" pitchFamily="18" charset="0"/>
                            </a:rPr>
                          </m:ctrlPr>
                        </m:fPr>
                        <m:num>
                          <m:nary>
                            <m:naryPr>
                              <m:chr m:val="∑"/>
                              <m:subHide m:val="on"/>
                              <m:supHide m:val="on"/>
                              <m:ctrlPr>
                                <a:rPr lang="en-US" altLang="nl-NL" i="1">
                                  <a:latin typeface="Cambria Math" panose="02040503050406030204" pitchFamily="18" charset="0"/>
                                  <a:cs typeface="Times New Roman" panose="02020603050405020304" pitchFamily="18" charset="0"/>
                                </a:rPr>
                              </m:ctrlPr>
                            </m:naryPr>
                            <m:sub/>
                            <m:sup/>
                            <m:e>
                              <m:sSub>
                                <m:sSubPr>
                                  <m:ctrlPr>
                                    <a:rPr lang="en-US" altLang="nl-NL" i="1">
                                      <a:latin typeface="Cambria Math" panose="02040503050406030204" pitchFamily="18" charset="0"/>
                                      <a:cs typeface="Times New Roman" panose="02020603050405020304" pitchFamily="18" charset="0"/>
                                    </a:rPr>
                                  </m:ctrlPr>
                                </m:sSubPr>
                                <m:e>
                                  <m:sSub>
                                    <m:sSubPr>
                                      <m:ctrlPr>
                                        <a:rPr lang="en-US" altLang="nl-NL" b="0" i="1" smtClean="0">
                                          <a:latin typeface="Cambria Math" panose="02040503050406030204" pitchFamily="18" charset="0"/>
                                          <a:cs typeface="Times New Roman" panose="02020603050405020304" pitchFamily="18" charset="0"/>
                                        </a:rPr>
                                      </m:ctrlPr>
                                    </m:sSubPr>
                                    <m:e>
                                      <m:r>
                                        <a:rPr lang="en-US" altLang="nl-NL" b="0" i="1" smtClean="0">
                                          <a:latin typeface="Cambria Math" panose="02040503050406030204" pitchFamily="18" charset="0"/>
                                          <a:cs typeface="Times New Roman" panose="02020603050405020304" pitchFamily="18" charset="0"/>
                                        </a:rPr>
                                        <m:t>𝑥</m:t>
                                      </m:r>
                                    </m:e>
                                    <m:sub>
                                      <m:r>
                                        <a:rPr lang="en-US" altLang="nl-NL" b="0" i="1" smtClean="0">
                                          <a:latin typeface="Cambria Math" panose="02040503050406030204" pitchFamily="18" charset="0"/>
                                          <a:cs typeface="Times New Roman" panose="02020603050405020304" pitchFamily="18" charset="0"/>
                                        </a:rPr>
                                        <m:t>𝑖</m:t>
                                      </m:r>
                                    </m:sub>
                                  </m:sSub>
                                  <m:r>
                                    <a:rPr lang="en-US" altLang="nl-NL" i="1">
                                      <a:latin typeface="Cambria Math" panose="02040503050406030204" pitchFamily="18" charset="0"/>
                                      <a:cs typeface="Times New Roman" panose="02020603050405020304" pitchFamily="18" charset="0"/>
                                    </a:rPr>
                                    <m:t>𝑦</m:t>
                                  </m:r>
                                </m:e>
                                <m:sub>
                                  <m:r>
                                    <a:rPr lang="en-US" altLang="nl-NL" i="1">
                                      <a:latin typeface="Cambria Math" panose="02040503050406030204" pitchFamily="18" charset="0"/>
                                      <a:cs typeface="Times New Roman" panose="02020603050405020304" pitchFamily="18" charset="0"/>
                                    </a:rPr>
                                    <m:t>𝑖</m:t>
                                  </m:r>
                                </m:sub>
                              </m:sSub>
                            </m:e>
                          </m:nary>
                        </m:num>
                        <m:den>
                          <m:r>
                            <m:rPr>
                              <m:sty m:val="p"/>
                            </m:rPr>
                            <a:rPr lang="en-US" altLang="nl-NL" b="0" i="0" smtClean="0">
                              <a:latin typeface="Cambria Math" panose="02040503050406030204" pitchFamily="18" charset="0"/>
                              <a:cs typeface="Times New Roman" panose="02020603050405020304" pitchFamily="18" charset="0"/>
                            </a:rPr>
                            <m:t>Σ</m:t>
                          </m:r>
                          <m:sSubSup>
                            <m:sSubSupPr>
                              <m:ctrlPr>
                                <a:rPr lang="en-US" altLang="nl-NL" b="0" i="1" smtClean="0">
                                  <a:latin typeface="Cambria Math" panose="02040503050406030204" pitchFamily="18" charset="0"/>
                                  <a:cs typeface="Times New Roman" panose="02020603050405020304" pitchFamily="18" charset="0"/>
                                </a:rPr>
                              </m:ctrlPr>
                            </m:sSubSupPr>
                            <m:e>
                              <m:r>
                                <a:rPr lang="en-US" altLang="nl-NL" b="0" i="1" smtClean="0">
                                  <a:latin typeface="Cambria Math" panose="02040503050406030204" pitchFamily="18" charset="0"/>
                                  <a:cs typeface="Times New Roman" panose="02020603050405020304" pitchFamily="18" charset="0"/>
                                </a:rPr>
                                <m:t>𝑥</m:t>
                              </m:r>
                            </m:e>
                            <m:sub>
                              <m:r>
                                <a:rPr lang="en-US" altLang="nl-NL" b="0" i="1" smtClean="0">
                                  <a:latin typeface="Cambria Math" panose="02040503050406030204" pitchFamily="18" charset="0"/>
                                  <a:cs typeface="Times New Roman" panose="02020603050405020304" pitchFamily="18" charset="0"/>
                                </a:rPr>
                                <m:t>𝑖</m:t>
                              </m:r>
                            </m:sub>
                            <m:sup>
                              <m:r>
                                <a:rPr lang="en-US" altLang="nl-NL" b="0" i="1" smtClean="0">
                                  <a:latin typeface="Cambria Math" panose="02040503050406030204" pitchFamily="18" charset="0"/>
                                  <a:cs typeface="Times New Roman" panose="02020603050405020304" pitchFamily="18" charset="0"/>
                                </a:rPr>
                                <m:t>2</m:t>
                              </m:r>
                            </m:sup>
                          </m:sSubSup>
                        </m:den>
                      </m:f>
                      <m:r>
                        <a:rPr lang="en-US" altLang="nl-NL" i="1">
                          <a:latin typeface="Cambria Math" panose="02040503050406030204" pitchFamily="18" charset="0"/>
                          <a:cs typeface="Times New Roman" panose="02020603050405020304" pitchFamily="18" charset="0"/>
                        </a:rPr>
                        <m:t>=</m:t>
                      </m:r>
                      <m:f>
                        <m:fPr>
                          <m:ctrlPr>
                            <a:rPr lang="en-US" altLang="nl-NL" i="1">
                              <a:latin typeface="Cambria Math" panose="02040503050406030204" pitchFamily="18" charset="0"/>
                              <a:cs typeface="Times New Roman" panose="02020603050405020304" pitchFamily="18" charset="0"/>
                            </a:rPr>
                          </m:ctrlPr>
                        </m:fPr>
                        <m:num>
                          <m:r>
                            <a:rPr lang="en-US" altLang="nl-NL" b="0" i="1" smtClean="0">
                              <a:latin typeface="Cambria Math" panose="02040503050406030204" pitchFamily="18" charset="0"/>
                              <a:cs typeface="Times New Roman" panose="02020603050405020304" pitchFamily="18" charset="0"/>
                            </a:rPr>
                            <m:t>62</m:t>
                          </m:r>
                        </m:num>
                        <m:den>
                          <m:r>
                            <a:rPr lang="en-US" altLang="nl-NL" b="0" i="1" smtClean="0">
                              <a:latin typeface="Cambria Math" panose="02040503050406030204" pitchFamily="18" charset="0"/>
                              <a:cs typeface="Times New Roman" panose="02020603050405020304" pitchFamily="18" charset="0"/>
                            </a:rPr>
                            <m:t>60</m:t>
                          </m:r>
                        </m:den>
                      </m:f>
                      <m:r>
                        <a:rPr lang="en-US" altLang="nl-NL" i="1">
                          <a:latin typeface="Cambria Math" panose="02040503050406030204" pitchFamily="18" charset="0"/>
                          <a:cs typeface="Times New Roman" panose="02020603050405020304" pitchFamily="18" charset="0"/>
                        </a:rPr>
                        <m:t>=1.</m:t>
                      </m:r>
                      <m:r>
                        <a:rPr lang="en-US" altLang="nl-NL" b="0" i="1" smtClean="0">
                          <a:latin typeface="Cambria Math" panose="02040503050406030204" pitchFamily="18" charset="0"/>
                          <a:cs typeface="Times New Roman" panose="02020603050405020304" pitchFamily="18" charset="0"/>
                        </a:rPr>
                        <m:t>0</m:t>
                      </m:r>
                      <m:r>
                        <a:rPr lang="en-US" altLang="nl-NL" i="1">
                          <a:latin typeface="Cambria Math" panose="02040503050406030204" pitchFamily="18" charset="0"/>
                          <a:cs typeface="Times New Roman" panose="02020603050405020304" pitchFamily="18" charset="0"/>
                        </a:rPr>
                        <m:t>3</m:t>
                      </m:r>
                    </m:oMath>
                  </m:oMathPara>
                </a14:m>
                <a:endParaRPr lang="en-US" altLang="nl-NL" dirty="0">
                  <a:cs typeface="Times New Roman" panose="02020603050405020304" pitchFamily="18" charset="0"/>
                </a:endParaRPr>
              </a:p>
              <a:p>
                <a:pPr marL="457200" lvl="1" indent="457200">
                  <a:lnSpc>
                    <a:spcPct val="110000"/>
                  </a:lnSpc>
                  <a:buNone/>
                </a:pPr>
                <a:endParaRPr lang="en-US" altLang="nl-NL" dirty="0">
                  <a:cs typeface="Times New Roman" panose="02020603050405020304" pitchFamily="18" charset="0"/>
                </a:endParaRPr>
              </a:p>
            </p:txBody>
          </p:sp>
        </mc:Choice>
        <mc:Fallback xmlns="">
          <p:sp>
            <p:nvSpPr>
              <p:cNvPr id="4" name="Content Placeholder 2">
                <a:extLst>
                  <a:ext uri="{FF2B5EF4-FFF2-40B4-BE49-F238E27FC236}">
                    <a16:creationId xmlns:a16="http://schemas.microsoft.com/office/drawing/2014/main" id="{4F397585-C5B5-459A-B3DC-274955FA6DB3}"/>
                  </a:ext>
                </a:extLst>
              </p:cNvPr>
              <p:cNvSpPr txBox="1">
                <a:spLocks noRot="1" noChangeAspect="1" noMove="1" noResize="1" noEditPoints="1" noAdjustHandles="1" noChangeArrowheads="1" noChangeShapeType="1" noTextEdit="1"/>
              </p:cNvSpPr>
              <p:nvPr/>
            </p:nvSpPr>
            <p:spPr>
              <a:xfrm>
                <a:off x="943958" y="3627911"/>
                <a:ext cx="10515600" cy="2349725"/>
              </a:xfrm>
              <a:prstGeom prst="rect">
                <a:avLst/>
              </a:prstGeom>
              <a:blipFill>
                <a:blip r:embed="rId3"/>
                <a:stretch>
                  <a:fillRect t="-231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5503B4D0-C427-4F02-931C-46DF2C610B39}"/>
                  </a:ext>
                </a:extLst>
              </p:cNvPr>
              <p:cNvGraphicFramePr>
                <a:graphicFrameLocks noGrp="1"/>
              </p:cNvGraphicFramePr>
              <p:nvPr/>
            </p:nvGraphicFramePr>
            <p:xfrm>
              <a:off x="838200" y="2256311"/>
              <a:ext cx="10515600" cy="137160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3064548547"/>
                        </a:ext>
                      </a:extLst>
                    </a:gridCol>
                    <a:gridCol w="1051560">
                      <a:extLst>
                        <a:ext uri="{9D8B030D-6E8A-4147-A177-3AD203B41FA5}">
                          <a16:colId xmlns:a16="http://schemas.microsoft.com/office/drawing/2014/main" val="2772253802"/>
                        </a:ext>
                      </a:extLst>
                    </a:gridCol>
                    <a:gridCol w="1051560">
                      <a:extLst>
                        <a:ext uri="{9D8B030D-6E8A-4147-A177-3AD203B41FA5}">
                          <a16:colId xmlns:a16="http://schemas.microsoft.com/office/drawing/2014/main" val="2082591140"/>
                        </a:ext>
                      </a:extLst>
                    </a:gridCol>
                    <a:gridCol w="1051560">
                      <a:extLst>
                        <a:ext uri="{9D8B030D-6E8A-4147-A177-3AD203B41FA5}">
                          <a16:colId xmlns:a16="http://schemas.microsoft.com/office/drawing/2014/main" val="2309989111"/>
                        </a:ext>
                      </a:extLst>
                    </a:gridCol>
                    <a:gridCol w="1051560">
                      <a:extLst>
                        <a:ext uri="{9D8B030D-6E8A-4147-A177-3AD203B41FA5}">
                          <a16:colId xmlns:a16="http://schemas.microsoft.com/office/drawing/2014/main" val="1138428252"/>
                        </a:ext>
                      </a:extLst>
                    </a:gridCol>
                    <a:gridCol w="1051560">
                      <a:extLst>
                        <a:ext uri="{9D8B030D-6E8A-4147-A177-3AD203B41FA5}">
                          <a16:colId xmlns:a16="http://schemas.microsoft.com/office/drawing/2014/main" val="845948308"/>
                        </a:ext>
                      </a:extLst>
                    </a:gridCol>
                    <a:gridCol w="1051560">
                      <a:extLst>
                        <a:ext uri="{9D8B030D-6E8A-4147-A177-3AD203B41FA5}">
                          <a16:colId xmlns:a16="http://schemas.microsoft.com/office/drawing/2014/main" val="953404444"/>
                        </a:ext>
                      </a:extLst>
                    </a:gridCol>
                    <a:gridCol w="1051560">
                      <a:extLst>
                        <a:ext uri="{9D8B030D-6E8A-4147-A177-3AD203B41FA5}">
                          <a16:colId xmlns:a16="http://schemas.microsoft.com/office/drawing/2014/main" val="1874110746"/>
                        </a:ext>
                      </a:extLst>
                    </a:gridCol>
                    <a:gridCol w="1051560">
                      <a:extLst>
                        <a:ext uri="{9D8B030D-6E8A-4147-A177-3AD203B41FA5}">
                          <a16:colId xmlns:a16="http://schemas.microsoft.com/office/drawing/2014/main" val="1461401472"/>
                        </a:ext>
                      </a:extLst>
                    </a:gridCol>
                    <a:gridCol w="1051560">
                      <a:extLst>
                        <a:ext uri="{9D8B030D-6E8A-4147-A177-3AD203B41FA5}">
                          <a16:colId xmlns:a16="http://schemas.microsoft.com/office/drawing/2014/main" val="1093644297"/>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𝒀𝒆𝒂𝒓</m:t>
                                </m:r>
                              </m:oMath>
                            </m:oMathPara>
                          </a14:m>
                          <a:endParaRPr lang="nl-NL" sz="2400" dirty="0"/>
                        </a:p>
                      </a:txBody>
                      <a:tcPr>
                        <a:solidFill>
                          <a:schemeClr val="accent1"/>
                        </a:solidFill>
                      </a:tcPr>
                    </a:tc>
                    <a:tc>
                      <a:txBody>
                        <a:bodyPr/>
                        <a:lstStyle/>
                        <a:p>
                          <a:pPr algn="ctr"/>
                          <a:r>
                            <a:rPr lang="en-US" sz="2400" b="0" dirty="0">
                              <a:solidFill>
                                <a:schemeClr val="tx1"/>
                              </a:solidFill>
                            </a:rPr>
                            <a:t>2003</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2004</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2005</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2006</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2007</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2008</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2009</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2010</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2011</a:t>
                          </a:r>
                          <a:endParaRPr lang="nl-NL" sz="2400" b="0"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val="1410947412"/>
                      </a:ext>
                    </a:extLst>
                  </a:tr>
                  <a:tr h="370840">
                    <a:tc>
                      <a:txBody>
                        <a:bodyPr/>
                        <a:lstStyle/>
                        <a:p>
                          <a:pPr/>
                          <a14:m>
                            <m:oMathPara xmlns:m="http://schemas.openxmlformats.org/officeDocument/2006/math">
                              <m:oMathParaPr>
                                <m:jc m:val="centerGroup"/>
                              </m:oMathParaPr>
                              <m:oMath xmlns:m="http://schemas.openxmlformats.org/officeDocument/2006/math">
                                <m:r>
                                  <a:rPr lang="en-US" sz="2400" b="1" i="1" smtClean="0">
                                    <a:solidFill>
                                      <a:schemeClr val="bg1"/>
                                    </a:solidFill>
                                    <a:latin typeface="Cambria Math" panose="02040503050406030204" pitchFamily="18" charset="0"/>
                                  </a:rPr>
                                  <m:t>𝒙</m:t>
                                </m:r>
                              </m:oMath>
                            </m:oMathPara>
                          </a14:m>
                          <a:endParaRPr lang="nl-NL" sz="2400" dirty="0">
                            <a:solidFill>
                              <a:schemeClr val="bg1"/>
                            </a:solidFill>
                          </a:endParaRPr>
                        </a:p>
                      </a:txBody>
                      <a:tcPr>
                        <a:solidFill>
                          <a:schemeClr val="accent1"/>
                        </a:solidFill>
                      </a:tcPr>
                    </a:tc>
                    <a:tc>
                      <a:txBody>
                        <a:bodyPr/>
                        <a:lstStyle/>
                        <a:p>
                          <a:pPr algn="ctr"/>
                          <a:r>
                            <a:rPr lang="nl-NL" sz="2400" b="0" dirty="0">
                              <a:solidFill>
                                <a:schemeClr val="tx1"/>
                              </a:solidFill>
                            </a:rPr>
                            <a:t>-4</a:t>
                          </a:r>
                        </a:p>
                      </a:txBody>
                      <a:tcPr>
                        <a:solidFill>
                          <a:schemeClr val="accent1">
                            <a:lumMod val="40000"/>
                            <a:lumOff val="60000"/>
                          </a:schemeClr>
                        </a:solidFill>
                      </a:tcPr>
                    </a:tc>
                    <a:tc>
                      <a:txBody>
                        <a:bodyPr/>
                        <a:lstStyle/>
                        <a:p>
                          <a:pPr algn="ctr"/>
                          <a:r>
                            <a:rPr lang="nl-NL" sz="2400" b="0" dirty="0">
                              <a:solidFill>
                                <a:schemeClr val="tx1"/>
                              </a:solidFill>
                            </a:rPr>
                            <a:t>-3</a:t>
                          </a:r>
                        </a:p>
                      </a:txBody>
                      <a:tcPr>
                        <a:solidFill>
                          <a:schemeClr val="accent1">
                            <a:lumMod val="40000"/>
                            <a:lumOff val="60000"/>
                          </a:schemeClr>
                        </a:solidFill>
                      </a:tcPr>
                    </a:tc>
                    <a:tc>
                      <a:txBody>
                        <a:bodyPr/>
                        <a:lstStyle/>
                        <a:p>
                          <a:pPr algn="ctr"/>
                          <a:r>
                            <a:rPr lang="nl-NL" sz="2400" b="0" dirty="0">
                              <a:solidFill>
                                <a:schemeClr val="tx1"/>
                              </a:solidFill>
                            </a:rPr>
                            <a:t>-2</a:t>
                          </a:r>
                        </a:p>
                      </a:txBody>
                      <a:tcPr>
                        <a:solidFill>
                          <a:schemeClr val="accent1">
                            <a:lumMod val="40000"/>
                            <a:lumOff val="60000"/>
                          </a:schemeClr>
                        </a:solidFill>
                      </a:tcPr>
                    </a:tc>
                    <a:tc>
                      <a:txBody>
                        <a:bodyPr/>
                        <a:lstStyle/>
                        <a:p>
                          <a:pPr algn="ctr"/>
                          <a:r>
                            <a:rPr lang="nl-NL" sz="2400" b="0" dirty="0">
                              <a:solidFill>
                                <a:schemeClr val="tx1"/>
                              </a:solidFill>
                            </a:rPr>
                            <a:t>-1</a:t>
                          </a:r>
                        </a:p>
                      </a:txBody>
                      <a:tcPr>
                        <a:solidFill>
                          <a:schemeClr val="accent1">
                            <a:lumMod val="40000"/>
                            <a:lumOff val="60000"/>
                          </a:schemeClr>
                        </a:solidFill>
                      </a:tcPr>
                    </a:tc>
                    <a:tc>
                      <a:txBody>
                        <a:bodyPr/>
                        <a:lstStyle/>
                        <a:p>
                          <a:pPr algn="ctr"/>
                          <a:r>
                            <a:rPr lang="nl-NL" sz="2400" b="0" dirty="0">
                              <a:solidFill>
                                <a:schemeClr val="tx1"/>
                              </a:solidFill>
                            </a:rPr>
                            <a:t>0</a:t>
                          </a:r>
                        </a:p>
                      </a:txBody>
                      <a:tcPr>
                        <a:solidFill>
                          <a:schemeClr val="accent1">
                            <a:lumMod val="40000"/>
                            <a:lumOff val="60000"/>
                          </a:schemeClr>
                        </a:solidFill>
                      </a:tcPr>
                    </a:tc>
                    <a:tc>
                      <a:txBody>
                        <a:bodyPr/>
                        <a:lstStyle/>
                        <a:p>
                          <a:pPr algn="ctr"/>
                          <a:r>
                            <a:rPr lang="nl-NL" sz="2400" b="0" dirty="0">
                              <a:solidFill>
                                <a:schemeClr val="tx1"/>
                              </a:solidFill>
                            </a:rPr>
                            <a:t>1</a:t>
                          </a:r>
                        </a:p>
                      </a:txBody>
                      <a:tcPr>
                        <a:solidFill>
                          <a:schemeClr val="accent1">
                            <a:lumMod val="40000"/>
                            <a:lumOff val="60000"/>
                          </a:schemeClr>
                        </a:solidFill>
                      </a:tcPr>
                    </a:tc>
                    <a:tc>
                      <a:txBody>
                        <a:bodyPr/>
                        <a:lstStyle/>
                        <a:p>
                          <a:pPr algn="ctr"/>
                          <a:r>
                            <a:rPr lang="nl-NL" sz="2400" b="0" dirty="0">
                              <a:solidFill>
                                <a:schemeClr val="tx1"/>
                              </a:solidFill>
                            </a:rPr>
                            <a:t>2</a:t>
                          </a:r>
                        </a:p>
                      </a:txBody>
                      <a:tcPr>
                        <a:solidFill>
                          <a:schemeClr val="accent1">
                            <a:lumMod val="40000"/>
                            <a:lumOff val="60000"/>
                          </a:schemeClr>
                        </a:solidFill>
                      </a:tcPr>
                    </a:tc>
                    <a:tc>
                      <a:txBody>
                        <a:bodyPr/>
                        <a:lstStyle/>
                        <a:p>
                          <a:pPr algn="ctr"/>
                          <a:r>
                            <a:rPr lang="nl-NL" sz="2400" b="0" dirty="0">
                              <a:solidFill>
                                <a:schemeClr val="tx1"/>
                              </a:solidFill>
                            </a:rPr>
                            <a:t>3</a:t>
                          </a:r>
                        </a:p>
                      </a:txBody>
                      <a:tcPr>
                        <a:solidFill>
                          <a:schemeClr val="accent1">
                            <a:lumMod val="40000"/>
                            <a:lumOff val="60000"/>
                          </a:schemeClr>
                        </a:solidFill>
                      </a:tcPr>
                    </a:tc>
                    <a:tc>
                      <a:txBody>
                        <a:bodyPr/>
                        <a:lstStyle/>
                        <a:p>
                          <a:pPr algn="ctr"/>
                          <a:r>
                            <a:rPr lang="nl-NL" sz="2400" b="0" dirty="0">
                              <a:solidFill>
                                <a:schemeClr val="tx1"/>
                              </a:solidFill>
                            </a:rPr>
                            <a:t>4</a:t>
                          </a:r>
                        </a:p>
                      </a:txBody>
                      <a:tcPr>
                        <a:solidFill>
                          <a:schemeClr val="accent1">
                            <a:lumMod val="40000"/>
                            <a:lumOff val="60000"/>
                          </a:schemeClr>
                        </a:solidFill>
                      </a:tcPr>
                    </a:tc>
                    <a:extLst>
                      <a:ext uri="{0D108BD9-81ED-4DB2-BD59-A6C34878D82A}">
                        <a16:rowId xmlns:a16="http://schemas.microsoft.com/office/drawing/2014/main" val="3036664352"/>
                      </a:ext>
                    </a:extLst>
                  </a:tr>
                  <a:tr h="370840">
                    <a:tc>
                      <a:txBody>
                        <a:bodyPr/>
                        <a:lstStyle/>
                        <a:p>
                          <a:pPr/>
                          <a14:m>
                            <m:oMathPara xmlns:m="http://schemas.openxmlformats.org/officeDocument/2006/math">
                              <m:oMathParaPr>
                                <m:jc m:val="centerGroup"/>
                              </m:oMathParaPr>
                              <m:oMath xmlns:m="http://schemas.openxmlformats.org/officeDocument/2006/math">
                                <m:r>
                                  <a:rPr lang="en-US" sz="2400" b="1" i="1" smtClean="0">
                                    <a:solidFill>
                                      <a:schemeClr val="bg1"/>
                                    </a:solidFill>
                                    <a:latin typeface="Cambria Math" panose="02040503050406030204" pitchFamily="18" charset="0"/>
                                  </a:rPr>
                                  <m:t>𝒚</m:t>
                                </m:r>
                              </m:oMath>
                            </m:oMathPara>
                          </a14:m>
                          <a:endParaRPr lang="nl-NL" sz="2400" dirty="0"/>
                        </a:p>
                      </a:txBody>
                      <a:tcPr>
                        <a:solidFill>
                          <a:schemeClr val="accent1"/>
                        </a:solidFill>
                      </a:tcPr>
                    </a:tc>
                    <a:tc>
                      <a:txBody>
                        <a:bodyPr/>
                        <a:lstStyle/>
                        <a:p>
                          <a:pPr algn="ctr"/>
                          <a:r>
                            <a:rPr lang="en-US" sz="2400" b="0" dirty="0">
                              <a:solidFill>
                                <a:schemeClr val="tx1"/>
                              </a:solidFill>
                            </a:rPr>
                            <a:t>13</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15</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17</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18</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19</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21</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22</a:t>
                          </a:r>
                          <a:endParaRPr lang="nl-NL" sz="2400" b="0"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val="2787752170"/>
                      </a:ext>
                    </a:extLst>
                  </a:tr>
                </a:tbl>
              </a:graphicData>
            </a:graphic>
          </p:graphicFrame>
        </mc:Choice>
        <mc:Fallback xmlns="">
          <p:graphicFrame>
            <p:nvGraphicFramePr>
              <p:cNvPr id="5" name="Table 5">
                <a:extLst>
                  <a:ext uri="{FF2B5EF4-FFF2-40B4-BE49-F238E27FC236}">
                    <a16:creationId xmlns:a16="http://schemas.microsoft.com/office/drawing/2014/main" id="{5503B4D0-C427-4F02-931C-46DF2C610B39}"/>
                  </a:ext>
                </a:extLst>
              </p:cNvPr>
              <p:cNvGraphicFramePr>
                <a:graphicFrameLocks noGrp="1"/>
              </p:cNvGraphicFramePr>
              <p:nvPr/>
            </p:nvGraphicFramePr>
            <p:xfrm>
              <a:off x="838200" y="2256311"/>
              <a:ext cx="10515600" cy="137160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3064548547"/>
                        </a:ext>
                      </a:extLst>
                    </a:gridCol>
                    <a:gridCol w="1051560">
                      <a:extLst>
                        <a:ext uri="{9D8B030D-6E8A-4147-A177-3AD203B41FA5}">
                          <a16:colId xmlns:a16="http://schemas.microsoft.com/office/drawing/2014/main" val="2772253802"/>
                        </a:ext>
                      </a:extLst>
                    </a:gridCol>
                    <a:gridCol w="1051560">
                      <a:extLst>
                        <a:ext uri="{9D8B030D-6E8A-4147-A177-3AD203B41FA5}">
                          <a16:colId xmlns:a16="http://schemas.microsoft.com/office/drawing/2014/main" val="2082591140"/>
                        </a:ext>
                      </a:extLst>
                    </a:gridCol>
                    <a:gridCol w="1051560">
                      <a:extLst>
                        <a:ext uri="{9D8B030D-6E8A-4147-A177-3AD203B41FA5}">
                          <a16:colId xmlns:a16="http://schemas.microsoft.com/office/drawing/2014/main" val="2309989111"/>
                        </a:ext>
                      </a:extLst>
                    </a:gridCol>
                    <a:gridCol w="1051560">
                      <a:extLst>
                        <a:ext uri="{9D8B030D-6E8A-4147-A177-3AD203B41FA5}">
                          <a16:colId xmlns:a16="http://schemas.microsoft.com/office/drawing/2014/main" val="1138428252"/>
                        </a:ext>
                      </a:extLst>
                    </a:gridCol>
                    <a:gridCol w="1051560">
                      <a:extLst>
                        <a:ext uri="{9D8B030D-6E8A-4147-A177-3AD203B41FA5}">
                          <a16:colId xmlns:a16="http://schemas.microsoft.com/office/drawing/2014/main" val="845948308"/>
                        </a:ext>
                      </a:extLst>
                    </a:gridCol>
                    <a:gridCol w="1051560">
                      <a:extLst>
                        <a:ext uri="{9D8B030D-6E8A-4147-A177-3AD203B41FA5}">
                          <a16:colId xmlns:a16="http://schemas.microsoft.com/office/drawing/2014/main" val="953404444"/>
                        </a:ext>
                      </a:extLst>
                    </a:gridCol>
                    <a:gridCol w="1051560">
                      <a:extLst>
                        <a:ext uri="{9D8B030D-6E8A-4147-A177-3AD203B41FA5}">
                          <a16:colId xmlns:a16="http://schemas.microsoft.com/office/drawing/2014/main" val="1874110746"/>
                        </a:ext>
                      </a:extLst>
                    </a:gridCol>
                    <a:gridCol w="1051560">
                      <a:extLst>
                        <a:ext uri="{9D8B030D-6E8A-4147-A177-3AD203B41FA5}">
                          <a16:colId xmlns:a16="http://schemas.microsoft.com/office/drawing/2014/main" val="1461401472"/>
                        </a:ext>
                      </a:extLst>
                    </a:gridCol>
                    <a:gridCol w="1051560">
                      <a:extLst>
                        <a:ext uri="{9D8B030D-6E8A-4147-A177-3AD203B41FA5}">
                          <a16:colId xmlns:a16="http://schemas.microsoft.com/office/drawing/2014/main" val="1093644297"/>
                        </a:ext>
                      </a:extLst>
                    </a:gridCol>
                  </a:tblGrid>
                  <a:tr h="457200">
                    <a:tc>
                      <a:txBody>
                        <a:bodyPr/>
                        <a:lstStyle/>
                        <a:p>
                          <a:endParaRPr lang="en-NL"/>
                        </a:p>
                      </a:txBody>
                      <a:tcPr>
                        <a:blipFill>
                          <a:blip r:embed="rId4"/>
                          <a:stretch>
                            <a:fillRect l="-1205" t="-11111" r="-901205" b="-233333"/>
                          </a:stretch>
                        </a:blipFill>
                      </a:tcPr>
                    </a:tc>
                    <a:tc>
                      <a:txBody>
                        <a:bodyPr/>
                        <a:lstStyle/>
                        <a:p>
                          <a:pPr algn="ctr"/>
                          <a:r>
                            <a:rPr lang="en-US" sz="2400" b="0" dirty="0">
                              <a:solidFill>
                                <a:schemeClr val="tx1"/>
                              </a:solidFill>
                            </a:rPr>
                            <a:t>2003</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2004</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2005</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2006</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2007</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2008</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2009</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2010</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2011</a:t>
                          </a:r>
                          <a:endParaRPr lang="nl-NL" sz="2400" b="0"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val="1410947412"/>
                      </a:ext>
                    </a:extLst>
                  </a:tr>
                  <a:tr h="457200">
                    <a:tc>
                      <a:txBody>
                        <a:bodyPr/>
                        <a:lstStyle/>
                        <a:p>
                          <a:endParaRPr lang="en-NL"/>
                        </a:p>
                      </a:txBody>
                      <a:tcPr>
                        <a:blipFill>
                          <a:blip r:embed="rId4"/>
                          <a:stretch>
                            <a:fillRect l="-1205" t="-108108" r="-901205" b="-127027"/>
                          </a:stretch>
                        </a:blipFill>
                      </a:tcPr>
                    </a:tc>
                    <a:tc>
                      <a:txBody>
                        <a:bodyPr/>
                        <a:lstStyle/>
                        <a:p>
                          <a:pPr algn="ctr"/>
                          <a:r>
                            <a:rPr lang="nl-NL" sz="2400" b="0" dirty="0">
                              <a:solidFill>
                                <a:schemeClr val="tx1"/>
                              </a:solidFill>
                            </a:rPr>
                            <a:t>-4</a:t>
                          </a:r>
                        </a:p>
                      </a:txBody>
                      <a:tcPr>
                        <a:solidFill>
                          <a:schemeClr val="accent1">
                            <a:lumMod val="40000"/>
                            <a:lumOff val="60000"/>
                          </a:schemeClr>
                        </a:solidFill>
                      </a:tcPr>
                    </a:tc>
                    <a:tc>
                      <a:txBody>
                        <a:bodyPr/>
                        <a:lstStyle/>
                        <a:p>
                          <a:pPr algn="ctr"/>
                          <a:r>
                            <a:rPr lang="nl-NL" sz="2400" b="0" dirty="0">
                              <a:solidFill>
                                <a:schemeClr val="tx1"/>
                              </a:solidFill>
                            </a:rPr>
                            <a:t>-3</a:t>
                          </a:r>
                        </a:p>
                      </a:txBody>
                      <a:tcPr>
                        <a:solidFill>
                          <a:schemeClr val="accent1">
                            <a:lumMod val="40000"/>
                            <a:lumOff val="60000"/>
                          </a:schemeClr>
                        </a:solidFill>
                      </a:tcPr>
                    </a:tc>
                    <a:tc>
                      <a:txBody>
                        <a:bodyPr/>
                        <a:lstStyle/>
                        <a:p>
                          <a:pPr algn="ctr"/>
                          <a:r>
                            <a:rPr lang="nl-NL" sz="2400" b="0" dirty="0">
                              <a:solidFill>
                                <a:schemeClr val="tx1"/>
                              </a:solidFill>
                            </a:rPr>
                            <a:t>-2</a:t>
                          </a:r>
                        </a:p>
                      </a:txBody>
                      <a:tcPr>
                        <a:solidFill>
                          <a:schemeClr val="accent1">
                            <a:lumMod val="40000"/>
                            <a:lumOff val="60000"/>
                          </a:schemeClr>
                        </a:solidFill>
                      </a:tcPr>
                    </a:tc>
                    <a:tc>
                      <a:txBody>
                        <a:bodyPr/>
                        <a:lstStyle/>
                        <a:p>
                          <a:pPr algn="ctr"/>
                          <a:r>
                            <a:rPr lang="nl-NL" sz="2400" b="0" dirty="0">
                              <a:solidFill>
                                <a:schemeClr val="tx1"/>
                              </a:solidFill>
                            </a:rPr>
                            <a:t>-1</a:t>
                          </a:r>
                        </a:p>
                      </a:txBody>
                      <a:tcPr>
                        <a:solidFill>
                          <a:schemeClr val="accent1">
                            <a:lumMod val="40000"/>
                            <a:lumOff val="60000"/>
                          </a:schemeClr>
                        </a:solidFill>
                      </a:tcPr>
                    </a:tc>
                    <a:tc>
                      <a:txBody>
                        <a:bodyPr/>
                        <a:lstStyle/>
                        <a:p>
                          <a:pPr algn="ctr"/>
                          <a:r>
                            <a:rPr lang="nl-NL" sz="2400" b="0" dirty="0">
                              <a:solidFill>
                                <a:schemeClr val="tx1"/>
                              </a:solidFill>
                            </a:rPr>
                            <a:t>0</a:t>
                          </a:r>
                        </a:p>
                      </a:txBody>
                      <a:tcPr>
                        <a:solidFill>
                          <a:schemeClr val="accent1">
                            <a:lumMod val="40000"/>
                            <a:lumOff val="60000"/>
                          </a:schemeClr>
                        </a:solidFill>
                      </a:tcPr>
                    </a:tc>
                    <a:tc>
                      <a:txBody>
                        <a:bodyPr/>
                        <a:lstStyle/>
                        <a:p>
                          <a:pPr algn="ctr"/>
                          <a:r>
                            <a:rPr lang="nl-NL" sz="2400" b="0" dirty="0">
                              <a:solidFill>
                                <a:schemeClr val="tx1"/>
                              </a:solidFill>
                            </a:rPr>
                            <a:t>1</a:t>
                          </a:r>
                        </a:p>
                      </a:txBody>
                      <a:tcPr>
                        <a:solidFill>
                          <a:schemeClr val="accent1">
                            <a:lumMod val="40000"/>
                            <a:lumOff val="60000"/>
                          </a:schemeClr>
                        </a:solidFill>
                      </a:tcPr>
                    </a:tc>
                    <a:tc>
                      <a:txBody>
                        <a:bodyPr/>
                        <a:lstStyle/>
                        <a:p>
                          <a:pPr algn="ctr"/>
                          <a:r>
                            <a:rPr lang="nl-NL" sz="2400" b="0" dirty="0">
                              <a:solidFill>
                                <a:schemeClr val="tx1"/>
                              </a:solidFill>
                            </a:rPr>
                            <a:t>2</a:t>
                          </a:r>
                        </a:p>
                      </a:txBody>
                      <a:tcPr>
                        <a:solidFill>
                          <a:schemeClr val="accent1">
                            <a:lumMod val="40000"/>
                            <a:lumOff val="60000"/>
                          </a:schemeClr>
                        </a:solidFill>
                      </a:tcPr>
                    </a:tc>
                    <a:tc>
                      <a:txBody>
                        <a:bodyPr/>
                        <a:lstStyle/>
                        <a:p>
                          <a:pPr algn="ctr"/>
                          <a:r>
                            <a:rPr lang="nl-NL" sz="2400" b="0" dirty="0">
                              <a:solidFill>
                                <a:schemeClr val="tx1"/>
                              </a:solidFill>
                            </a:rPr>
                            <a:t>3</a:t>
                          </a:r>
                        </a:p>
                      </a:txBody>
                      <a:tcPr>
                        <a:solidFill>
                          <a:schemeClr val="accent1">
                            <a:lumMod val="40000"/>
                            <a:lumOff val="60000"/>
                          </a:schemeClr>
                        </a:solidFill>
                      </a:tcPr>
                    </a:tc>
                    <a:tc>
                      <a:txBody>
                        <a:bodyPr/>
                        <a:lstStyle/>
                        <a:p>
                          <a:pPr algn="ctr"/>
                          <a:r>
                            <a:rPr lang="nl-NL" sz="2400" b="0" dirty="0">
                              <a:solidFill>
                                <a:schemeClr val="tx1"/>
                              </a:solidFill>
                            </a:rPr>
                            <a:t>4</a:t>
                          </a:r>
                        </a:p>
                      </a:txBody>
                      <a:tcPr>
                        <a:solidFill>
                          <a:schemeClr val="accent1">
                            <a:lumMod val="40000"/>
                            <a:lumOff val="60000"/>
                          </a:schemeClr>
                        </a:solidFill>
                      </a:tcPr>
                    </a:tc>
                    <a:extLst>
                      <a:ext uri="{0D108BD9-81ED-4DB2-BD59-A6C34878D82A}">
                        <a16:rowId xmlns:a16="http://schemas.microsoft.com/office/drawing/2014/main" val="3036664352"/>
                      </a:ext>
                    </a:extLst>
                  </a:tr>
                  <a:tr h="457200">
                    <a:tc>
                      <a:txBody>
                        <a:bodyPr/>
                        <a:lstStyle/>
                        <a:p>
                          <a:endParaRPr lang="en-NL"/>
                        </a:p>
                      </a:txBody>
                      <a:tcPr>
                        <a:blipFill>
                          <a:blip r:embed="rId4"/>
                          <a:stretch>
                            <a:fillRect l="-1205" t="-213889" r="-901205" b="-30556"/>
                          </a:stretch>
                        </a:blipFill>
                      </a:tcPr>
                    </a:tc>
                    <a:tc>
                      <a:txBody>
                        <a:bodyPr/>
                        <a:lstStyle/>
                        <a:p>
                          <a:pPr algn="ctr"/>
                          <a:r>
                            <a:rPr lang="en-US" sz="2400" b="0" dirty="0">
                              <a:solidFill>
                                <a:schemeClr val="tx1"/>
                              </a:solidFill>
                            </a:rPr>
                            <a:t>13</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15</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17</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18</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19</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20</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21</a:t>
                          </a:r>
                          <a:endParaRPr lang="nl-NL" sz="2400" b="0" dirty="0">
                            <a:solidFill>
                              <a:schemeClr val="tx1"/>
                            </a:solidFill>
                          </a:endParaRPr>
                        </a:p>
                      </a:txBody>
                      <a:tcPr>
                        <a:solidFill>
                          <a:schemeClr val="accent1">
                            <a:lumMod val="40000"/>
                            <a:lumOff val="60000"/>
                          </a:schemeClr>
                        </a:solidFill>
                      </a:tcPr>
                    </a:tc>
                    <a:tc>
                      <a:txBody>
                        <a:bodyPr/>
                        <a:lstStyle/>
                        <a:p>
                          <a:pPr algn="ctr"/>
                          <a:r>
                            <a:rPr lang="en-US" sz="2400" b="0" dirty="0">
                              <a:solidFill>
                                <a:schemeClr val="tx1"/>
                              </a:solidFill>
                            </a:rPr>
                            <a:t>22</a:t>
                          </a:r>
                          <a:endParaRPr lang="nl-NL" sz="2400" b="0"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val="2787752170"/>
                      </a:ext>
                    </a:extLst>
                  </a:tr>
                </a:tbl>
              </a:graphicData>
            </a:graphic>
          </p:graphicFrame>
        </mc:Fallback>
      </mc:AlternateContent>
      <p:sp>
        <p:nvSpPr>
          <p:cNvPr id="6" name="TextBox 5">
            <a:extLst>
              <a:ext uri="{FF2B5EF4-FFF2-40B4-BE49-F238E27FC236}">
                <a16:creationId xmlns:a16="http://schemas.microsoft.com/office/drawing/2014/main" id="{224E411C-F12E-3941-82F6-27AE6F06354E}"/>
              </a:ext>
            </a:extLst>
          </p:cNvPr>
          <p:cNvSpPr txBox="1"/>
          <p:nvPr/>
        </p:nvSpPr>
        <p:spPr>
          <a:xfrm>
            <a:off x="2644048" y="5860973"/>
            <a:ext cx="6632154" cy="461665"/>
          </a:xfrm>
          <a:prstGeom prst="rect">
            <a:avLst/>
          </a:prstGeom>
          <a:noFill/>
        </p:spPr>
        <p:txBody>
          <a:bodyPr wrap="square" rtlCol="0">
            <a:spAutoFit/>
          </a:bodyPr>
          <a:lstStyle/>
          <a:p>
            <a:r>
              <a:rPr lang="en-US" sz="2400" dirty="0">
                <a:solidFill>
                  <a:srgbClr val="FF0000"/>
                </a:solidFill>
              </a:rPr>
              <a:t>Exercise:</a:t>
            </a:r>
            <a:r>
              <a:rPr lang="en-US" sz="2400" dirty="0"/>
              <a:t> Predict the sales for year 2014. </a:t>
            </a:r>
          </a:p>
        </p:txBody>
      </p:sp>
      <p:sp>
        <p:nvSpPr>
          <p:cNvPr id="7" name="Slide Number Placeholder 6">
            <a:extLst>
              <a:ext uri="{FF2B5EF4-FFF2-40B4-BE49-F238E27FC236}">
                <a16:creationId xmlns:a16="http://schemas.microsoft.com/office/drawing/2014/main" id="{3451A42B-8518-3CF9-4939-D2B960CE4A54}"/>
              </a:ext>
            </a:extLst>
          </p:cNvPr>
          <p:cNvSpPr>
            <a:spLocks noGrp="1"/>
          </p:cNvSpPr>
          <p:nvPr>
            <p:ph type="sldNum" sz="quarter" idx="12"/>
          </p:nvPr>
        </p:nvSpPr>
        <p:spPr/>
        <p:txBody>
          <a:bodyPr/>
          <a:lstStyle/>
          <a:p>
            <a:fld id="{F8D8F54C-053C-4394-9990-70DE256B1A6D}" type="slidenum">
              <a:rPr lang="nl-NL" smtClean="0"/>
              <a:t>40</a:t>
            </a:fld>
            <a:endParaRPr lang="nl-NL"/>
          </a:p>
        </p:txBody>
      </p:sp>
    </p:spTree>
    <p:extLst>
      <p:ext uri="{BB962C8B-B14F-4D97-AF65-F5344CB8AC3E}">
        <p14:creationId xmlns:p14="http://schemas.microsoft.com/office/powerpoint/2010/main" val="32336645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902200"/>
          </a:xfrm>
        </p:spPr>
        <p:txBody>
          <a:bodyPr>
            <a:noAutofit/>
          </a:bodyPr>
          <a:lstStyle/>
          <a:p>
            <a:r>
              <a:rPr lang="en-US" altLang="nl-NL" sz="3200" b="1" dirty="0">
                <a:latin typeface="Times New Roman" panose="02020603050405020304" pitchFamily="18" charset="0"/>
                <a:cs typeface="Times New Roman" panose="02020603050405020304" pitchFamily="18" charset="0"/>
              </a:rPr>
              <a:t>Depicting the Trend – Exponential Smoothing</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r>
                  <a:rPr lang="en-AU" altLang="en-US" dirty="0"/>
                  <a:t>History is used to flatten out short term fluctuations</a:t>
                </a:r>
              </a:p>
              <a:p>
                <a:pPr marL="0" indent="0">
                  <a:buNone/>
                </a:pPr>
                <a14:m>
                  <m:oMathPara xmlns:m="http://schemas.openxmlformats.org/officeDocument/2006/math">
                    <m:oMathParaPr>
                      <m:jc m:val="centerGroup"/>
                    </m:oMathParaPr>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𝑆</m:t>
                          </m:r>
                        </m:e>
                        <m:sub>
                          <m:r>
                            <a:rPr lang="en-US" altLang="en-US" b="0" i="1" smtClean="0">
                              <a:latin typeface="Cambria Math" panose="02040503050406030204" pitchFamily="18" charset="0"/>
                            </a:rPr>
                            <m:t>𝑥</m:t>
                          </m:r>
                        </m:sub>
                      </m:sSub>
                      <m:r>
                        <a:rPr lang="en-US" altLang="en-US" b="0" i="1" smtClean="0">
                          <a:latin typeface="Cambria Math" panose="02040503050406030204" pitchFamily="18" charset="0"/>
                        </a:rPr>
                        <m:t>=</m:t>
                      </m:r>
                      <m:r>
                        <a:rPr lang="en-US" altLang="en-US" b="0" i="1" smtClean="0">
                          <a:latin typeface="Cambria Math" panose="02040503050406030204" pitchFamily="18" charset="0"/>
                        </a:rPr>
                        <m:t>𝛼</m:t>
                      </m:r>
                      <m:r>
                        <a:rPr lang="en-US" altLang="en-US" b="0" i="1" smtClean="0">
                          <a:latin typeface="Cambria Math" panose="02040503050406030204" pitchFamily="18" charset="0"/>
                        </a:rPr>
                        <m:t>𝑦</m:t>
                      </m:r>
                      <m:r>
                        <a:rPr lang="en-US" altLang="en-US" b="0" i="1" smtClean="0">
                          <a:latin typeface="Cambria Math" panose="02040503050406030204" pitchFamily="18" charset="0"/>
                        </a:rPr>
                        <m:t>+</m:t>
                      </m:r>
                      <m:d>
                        <m:dPr>
                          <m:ctrlPr>
                            <a:rPr lang="en-US" altLang="en-US" b="0" i="1" smtClean="0">
                              <a:latin typeface="Cambria Math" panose="02040503050406030204" pitchFamily="18" charset="0"/>
                            </a:rPr>
                          </m:ctrlPr>
                        </m:dPr>
                        <m:e>
                          <m:r>
                            <a:rPr lang="en-US" altLang="en-US" b="0" i="1" smtClean="0">
                              <a:latin typeface="Cambria Math" panose="02040503050406030204" pitchFamily="18" charset="0"/>
                            </a:rPr>
                            <m:t>1−</m:t>
                          </m:r>
                          <m:r>
                            <a:rPr lang="en-US" altLang="en-US" b="0" i="1" smtClean="0">
                              <a:latin typeface="Cambria Math" panose="02040503050406030204" pitchFamily="18" charset="0"/>
                            </a:rPr>
                            <m:t>𝛼</m:t>
                          </m:r>
                        </m:e>
                      </m:d>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𝑆</m:t>
                          </m:r>
                        </m:e>
                        <m:sub>
                          <m:r>
                            <a:rPr lang="en-US" altLang="en-US" b="0" i="1" smtClean="0">
                              <a:latin typeface="Cambria Math" panose="02040503050406030204" pitchFamily="18" charset="0"/>
                            </a:rPr>
                            <m:t>𝑥</m:t>
                          </m:r>
                          <m:r>
                            <a:rPr lang="en-US" altLang="en-US" b="0" i="1" smtClean="0">
                              <a:latin typeface="Cambria Math" panose="02040503050406030204" pitchFamily="18" charset="0"/>
                            </a:rPr>
                            <m:t>−1</m:t>
                          </m:r>
                        </m:sub>
                      </m:sSub>
                    </m:oMath>
                  </m:oMathPara>
                </a14:m>
                <a:endParaRPr lang="en-AU" altLang="en-US" dirty="0"/>
              </a:p>
              <a:p>
                <a:pPr>
                  <a:buFont typeface="Arial" charset="0"/>
                  <a:buChar char="•"/>
                  <a:defRPr/>
                </a:pPr>
                <a14:m>
                  <m:oMath xmlns:m="http://schemas.openxmlformats.org/officeDocument/2006/math">
                    <m:r>
                      <a:rPr lang="en-AU" i="1" dirty="0" smtClean="0">
                        <a:latin typeface="Cambria Math" panose="02040503050406030204" pitchFamily="18" charset="0"/>
                      </a:rPr>
                      <m:t>𝑆</m:t>
                    </m:r>
                    <m:r>
                      <a:rPr lang="en-AU" i="1" baseline="-25000" dirty="0" err="1">
                        <a:latin typeface="Cambria Math" panose="02040503050406030204" pitchFamily="18" charset="0"/>
                      </a:rPr>
                      <m:t>𝑥</m:t>
                    </m:r>
                  </m:oMath>
                </a14:m>
                <a:r>
                  <a:rPr lang="en-AU" baseline="-25000" dirty="0"/>
                  <a:t>  </a:t>
                </a:r>
                <a:r>
                  <a:rPr lang="en-AU" dirty="0"/>
                  <a:t>=</a:t>
                </a:r>
                <a:r>
                  <a:rPr lang="en-AU" baseline="-25000" dirty="0"/>
                  <a:t> </a:t>
                </a:r>
                <a:r>
                  <a:rPr lang="en-AU" dirty="0"/>
                  <a:t>the</a:t>
                </a:r>
                <a:r>
                  <a:rPr lang="en-AU" baseline="-25000" dirty="0"/>
                  <a:t> </a:t>
                </a:r>
                <a:r>
                  <a:rPr lang="en-AU" dirty="0"/>
                  <a:t>smoothed value for observation </a:t>
                </a:r>
                <a14:m>
                  <m:oMath xmlns:m="http://schemas.openxmlformats.org/officeDocument/2006/math">
                    <m:r>
                      <a:rPr lang="en-AU" i="1" dirty="0">
                        <a:latin typeface="Cambria Math" panose="02040503050406030204" pitchFamily="18" charset="0"/>
                      </a:rPr>
                      <m:t>𝑥</m:t>
                    </m:r>
                  </m:oMath>
                </a14:m>
                <a:endParaRPr lang="en-AU" dirty="0"/>
              </a:p>
              <a:p>
                <a:pPr>
                  <a:buFont typeface="Arial" charset="0"/>
                  <a:buChar char="•"/>
                  <a:defRPr/>
                </a:pPr>
                <a:endParaRPr lang="en-AU" sz="700" dirty="0"/>
              </a:p>
              <a:p>
                <a:pPr>
                  <a:buFont typeface="Arial" charset="0"/>
                  <a:buChar char="•"/>
                  <a:defRPr/>
                </a:pPr>
                <a14:m>
                  <m:oMath xmlns:m="http://schemas.openxmlformats.org/officeDocument/2006/math">
                    <m:r>
                      <a:rPr lang="en-US" b="0" i="1" smtClean="0">
                        <a:latin typeface="Cambria Math" panose="02040503050406030204" pitchFamily="18" charset="0"/>
                      </a:rPr>
                      <m:t>𝑦</m:t>
                    </m:r>
                  </m:oMath>
                </a14:m>
                <a:r>
                  <a:rPr lang="en-AU" dirty="0"/>
                  <a:t>  = the actual value of observation at time </a:t>
                </a:r>
                <a14:m>
                  <m:oMath xmlns:m="http://schemas.openxmlformats.org/officeDocument/2006/math">
                    <m:r>
                      <a:rPr lang="en-AU" i="1" dirty="0" smtClean="0">
                        <a:latin typeface="Cambria Math" panose="02040503050406030204" pitchFamily="18" charset="0"/>
                      </a:rPr>
                      <m:t>𝑥</m:t>
                    </m:r>
                  </m:oMath>
                </a14:m>
                <a:endParaRPr lang="en-AU" dirty="0"/>
              </a:p>
              <a:p>
                <a:pPr>
                  <a:buFont typeface="Arial" charset="0"/>
                  <a:buChar char="•"/>
                  <a:defRPr/>
                </a:pPr>
                <a:endParaRPr lang="en-AU" sz="700" dirty="0"/>
              </a:p>
              <a:p>
                <a:pPr>
                  <a:buFont typeface="Arial" charset="0"/>
                  <a:buChar char="•"/>
                  <a:defRPr/>
                </a:pPr>
                <a14:m>
                  <m:oMath xmlns:m="http://schemas.openxmlformats.org/officeDocument/2006/math">
                    <m:sSub>
                      <m:sSubPr>
                        <m:ctrlPr>
                          <a:rPr lang="en-US" b="0" i="1" dirty="0" smtClean="0">
                            <a:latin typeface="Cambria Math" panose="02040503050406030204" pitchFamily="18" charset="0"/>
                          </a:rPr>
                        </m:ctrlPr>
                      </m:sSubPr>
                      <m:e>
                        <m:r>
                          <a:rPr lang="en-AU" i="1" dirty="0" smtClean="0">
                            <a:latin typeface="Cambria Math" panose="02040503050406030204" pitchFamily="18" charset="0"/>
                          </a:rPr>
                          <m:t>𝑆</m:t>
                        </m:r>
                      </m:e>
                      <m:sub>
                        <m:r>
                          <a:rPr lang="en-US" b="0" i="1" dirty="0" smtClean="0">
                            <a:latin typeface="Cambria Math" panose="02040503050406030204" pitchFamily="18" charset="0"/>
                          </a:rPr>
                          <m:t>𝑥</m:t>
                        </m:r>
                        <m:r>
                          <a:rPr lang="en-US" b="0" i="1" dirty="0" smtClean="0">
                            <a:latin typeface="Cambria Math" panose="02040503050406030204" pitchFamily="18" charset="0"/>
                          </a:rPr>
                          <m:t>−1</m:t>
                        </m:r>
                      </m:sub>
                    </m:sSub>
                  </m:oMath>
                </a14:m>
                <a:r>
                  <a:rPr lang="en-AU" i="1" baseline="-25000" dirty="0"/>
                  <a:t> </a:t>
                </a:r>
                <a:r>
                  <a:rPr lang="en-AU" dirty="0"/>
                  <a:t>= the smoothed value previously calculated for observation at time (</a:t>
                </a:r>
                <a14:m>
                  <m:oMath xmlns:m="http://schemas.openxmlformats.org/officeDocument/2006/math">
                    <m:r>
                      <a:rPr lang="en-AU" i="1" dirty="0" smtClean="0">
                        <a:latin typeface="Cambria Math" panose="02040503050406030204" pitchFamily="18" charset="0"/>
                      </a:rPr>
                      <m:t>𝑥</m:t>
                    </m:r>
                    <m:r>
                      <a:rPr lang="en-AU" i="1" dirty="0" smtClean="0">
                        <a:latin typeface="Cambria Math" panose="02040503050406030204" pitchFamily="18" charset="0"/>
                      </a:rPr>
                      <m:t>−1</m:t>
                    </m:r>
                  </m:oMath>
                </a14:m>
                <a:r>
                  <a:rPr lang="en-AU" dirty="0"/>
                  <a:t>)</a:t>
                </a:r>
              </a:p>
              <a:p>
                <a:pPr>
                  <a:buFont typeface="Arial" charset="0"/>
                  <a:buChar char="•"/>
                  <a:defRPr/>
                </a:pPr>
                <a:endParaRPr lang="en-AU" sz="700" dirty="0"/>
              </a:p>
              <a:p>
                <a:pPr>
                  <a:buFont typeface="Arial" charset="0"/>
                  <a:buChar char="•"/>
                  <a:defRPr/>
                </a:pPr>
                <a14:m>
                  <m:oMath xmlns:m="http://schemas.openxmlformats.org/officeDocument/2006/math">
                    <m:r>
                      <a:rPr lang="en-AU" i="1" dirty="0" smtClean="0">
                        <a:latin typeface="Cambria Math" panose="02040503050406030204" pitchFamily="18" charset="0"/>
                        <a:sym typeface="Symbol"/>
                      </a:rPr>
                      <m:t></m:t>
                    </m:r>
                  </m:oMath>
                </a14:m>
                <a:r>
                  <a:rPr lang="en-AU" dirty="0"/>
                  <a:t> =	the </a:t>
                </a:r>
                <a:r>
                  <a:rPr lang="en-AU" b="1" dirty="0"/>
                  <a:t>smoothing constant</a:t>
                </a:r>
                <a:r>
                  <a:rPr lang="en-AU" dirty="0"/>
                  <a:t> where </a:t>
                </a:r>
                <a14:m>
                  <m:oMath xmlns:m="http://schemas.openxmlformats.org/officeDocument/2006/math">
                    <m:r>
                      <a:rPr lang="en-AU" i="1" dirty="0" smtClean="0">
                        <a:latin typeface="Cambria Math" panose="02040503050406030204" pitchFamily="18" charset="0"/>
                      </a:rPr>
                      <m:t>0 </m:t>
                    </m:r>
                    <m:r>
                      <a:rPr lang="en-AU" i="1" dirty="0">
                        <a:latin typeface="Cambria Math" panose="02040503050406030204" pitchFamily="18" charset="0"/>
                        <a:sym typeface="Symbol"/>
                      </a:rPr>
                      <m:t></m:t>
                    </m:r>
                    <m:r>
                      <a:rPr lang="en-AU" i="1" dirty="0">
                        <a:latin typeface="Cambria Math" panose="02040503050406030204" pitchFamily="18" charset="0"/>
                      </a:rPr>
                      <m:t> </m:t>
                    </m:r>
                    <m:r>
                      <a:rPr lang="en-AU" i="1" dirty="0">
                        <a:latin typeface="Cambria Math" panose="02040503050406030204" pitchFamily="18" charset="0"/>
                        <a:sym typeface="Symbol"/>
                      </a:rPr>
                      <m:t></m:t>
                    </m:r>
                    <m:r>
                      <a:rPr lang="en-AU" i="1" dirty="0">
                        <a:latin typeface="Cambria Math" panose="02040503050406030204" pitchFamily="18" charset="0"/>
                      </a:rPr>
                      <m:t> </m:t>
                    </m:r>
                    <m:r>
                      <a:rPr lang="en-AU" i="1" dirty="0">
                        <a:latin typeface="Cambria Math" panose="02040503050406030204" pitchFamily="18" charset="0"/>
                        <a:sym typeface="Symbol"/>
                      </a:rPr>
                      <m:t></m:t>
                    </m:r>
                    <m:r>
                      <a:rPr lang="en-AU" i="1" dirty="0">
                        <a:latin typeface="Cambria Math" panose="02040503050406030204" pitchFamily="18" charset="0"/>
                      </a:rPr>
                      <m:t> 1</m:t>
                    </m:r>
                  </m:oMath>
                </a14:m>
                <a:endParaRPr lang="en-AU" dirty="0"/>
              </a:p>
              <a:p>
                <a:endParaRPr lang="en-AU" altLang="en-US" dirty="0"/>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838200" y="1544595"/>
                <a:ext cx="10515600" cy="4948280"/>
              </a:xfrm>
              <a:blipFill>
                <a:blip r:embed="rId2"/>
                <a:stretch>
                  <a:fillRect l="-1086" t="-204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347C6D7-A5D1-B7E5-50D2-281C0AE3D632}"/>
              </a:ext>
            </a:extLst>
          </p:cNvPr>
          <p:cNvSpPr>
            <a:spLocks noGrp="1"/>
          </p:cNvSpPr>
          <p:nvPr>
            <p:ph type="sldNum" sz="quarter" idx="12"/>
          </p:nvPr>
        </p:nvSpPr>
        <p:spPr/>
        <p:txBody>
          <a:bodyPr/>
          <a:lstStyle/>
          <a:p>
            <a:fld id="{F8D8F54C-053C-4394-9990-70DE256B1A6D}" type="slidenum">
              <a:rPr lang="nl-NL" smtClean="0"/>
              <a:t>41</a:t>
            </a:fld>
            <a:endParaRPr lang="nl-NL"/>
          </a:p>
        </p:txBody>
      </p:sp>
    </p:spTree>
    <p:extLst>
      <p:ext uri="{BB962C8B-B14F-4D97-AF65-F5344CB8AC3E}">
        <p14:creationId xmlns:p14="http://schemas.microsoft.com/office/powerpoint/2010/main" val="21289190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6"/>
            <a:ext cx="10515600" cy="902200"/>
          </a:xfrm>
        </p:spPr>
        <p:txBody>
          <a:bodyPr>
            <a:noAutofit/>
          </a:bodyPr>
          <a:lstStyle/>
          <a:p>
            <a:r>
              <a:rPr lang="en-US" altLang="nl-NL" sz="3200" b="1" dirty="0">
                <a:latin typeface="Times New Roman" panose="02020603050405020304" pitchFamily="18" charset="0"/>
                <a:cs typeface="Times New Roman" panose="02020603050405020304" pitchFamily="18" charset="0"/>
              </a:rPr>
              <a:t>Depicting the Trend – Exponential Smoothing</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44595"/>
                <a:ext cx="10515600" cy="4948280"/>
              </a:xfrm>
            </p:spPr>
            <p:txBody>
              <a:bodyPr>
                <a:normAutofit/>
              </a:bodyPr>
              <a:lstStyle/>
              <a:p>
                <a:pPr>
                  <a:lnSpc>
                    <a:spcPct val="150000"/>
                  </a:lnSpc>
                  <a:buFont typeface="Arial" charset="0"/>
                  <a:buChar char="•"/>
                  <a:defRPr/>
                </a:pPr>
                <a14:m>
                  <m:oMath xmlns:m="http://schemas.openxmlformats.org/officeDocument/2006/math">
                    <m:r>
                      <a:rPr lang="en-AU" i="1" dirty="0" smtClean="0">
                        <a:latin typeface="Cambria Math" panose="02040503050406030204" pitchFamily="18" charset="0"/>
                        <a:sym typeface="Symbol"/>
                      </a:rPr>
                      <m:t></m:t>
                    </m:r>
                  </m:oMath>
                </a14:m>
                <a:r>
                  <a:rPr lang="en-AU" dirty="0"/>
                  <a:t> =	the </a:t>
                </a:r>
                <a:r>
                  <a:rPr lang="en-AU" b="1" dirty="0"/>
                  <a:t>smoothing constant</a:t>
                </a:r>
                <a:r>
                  <a:rPr lang="en-AU" dirty="0"/>
                  <a:t> where </a:t>
                </a:r>
                <a14:m>
                  <m:oMath xmlns:m="http://schemas.openxmlformats.org/officeDocument/2006/math">
                    <m:r>
                      <a:rPr lang="en-AU" i="1" dirty="0" smtClean="0">
                        <a:latin typeface="Cambria Math" panose="02040503050406030204" pitchFamily="18" charset="0"/>
                      </a:rPr>
                      <m:t>0 </m:t>
                    </m:r>
                    <m:r>
                      <a:rPr lang="en-AU" i="1" dirty="0">
                        <a:latin typeface="Cambria Math" panose="02040503050406030204" pitchFamily="18" charset="0"/>
                        <a:sym typeface="Symbol"/>
                      </a:rPr>
                      <m:t></m:t>
                    </m:r>
                    <m:r>
                      <a:rPr lang="en-AU" i="1" dirty="0">
                        <a:latin typeface="Cambria Math" panose="02040503050406030204" pitchFamily="18" charset="0"/>
                      </a:rPr>
                      <m:t> </m:t>
                    </m:r>
                    <m:r>
                      <a:rPr lang="en-AU" i="1" dirty="0">
                        <a:latin typeface="Cambria Math" panose="02040503050406030204" pitchFamily="18" charset="0"/>
                        <a:sym typeface="Symbol"/>
                      </a:rPr>
                      <m:t></m:t>
                    </m:r>
                    <m:r>
                      <a:rPr lang="en-AU" i="1" dirty="0">
                        <a:latin typeface="Cambria Math" panose="02040503050406030204" pitchFamily="18" charset="0"/>
                      </a:rPr>
                      <m:t> </m:t>
                    </m:r>
                    <m:r>
                      <a:rPr lang="en-AU" i="1" dirty="0">
                        <a:latin typeface="Cambria Math" panose="02040503050406030204" pitchFamily="18" charset="0"/>
                        <a:sym typeface="Symbol"/>
                      </a:rPr>
                      <m:t></m:t>
                    </m:r>
                    <m:r>
                      <a:rPr lang="en-AU" i="1" dirty="0">
                        <a:latin typeface="Cambria Math" panose="02040503050406030204" pitchFamily="18" charset="0"/>
                      </a:rPr>
                      <m:t> 1</m:t>
                    </m:r>
                  </m:oMath>
                </a14:m>
                <a:endParaRPr lang="en-AU" dirty="0"/>
              </a:p>
              <a:p>
                <a:pPr lvl="1">
                  <a:lnSpc>
                    <a:spcPct val="150000"/>
                  </a:lnSpc>
                </a:pPr>
                <a14:m>
                  <m:oMath xmlns:m="http://schemas.openxmlformats.org/officeDocument/2006/math">
                    <m:r>
                      <a:rPr lang="en-US" altLang="en-US" b="0" i="1" smtClean="0">
                        <a:latin typeface="Cambria Math" panose="02040503050406030204" pitchFamily="18" charset="0"/>
                      </a:rPr>
                      <m:t>𝛼</m:t>
                    </m:r>
                  </m:oMath>
                </a14:m>
                <a:r>
                  <a:rPr lang="en-AU" altLang="en-US" dirty="0"/>
                  <a:t> is small </a:t>
                </a:r>
                <a14:m>
                  <m:oMath xmlns:m="http://schemas.openxmlformats.org/officeDocument/2006/math">
                    <m:r>
                      <a:rPr lang="en-AU" altLang="en-US" i="1" smtClean="0">
                        <a:latin typeface="Cambria Math" panose="02040503050406030204" pitchFamily="18" charset="0"/>
                        <a:ea typeface="Cambria Math" panose="02040503050406030204" pitchFamily="18" charset="0"/>
                      </a:rPr>
                      <m:t>⟹</m:t>
                    </m:r>
                  </m:oMath>
                </a14:m>
                <a:r>
                  <a:rPr lang="en-AU" altLang="en-US" dirty="0"/>
                  <a:t> more weight for the past measurements</a:t>
                </a:r>
              </a:p>
              <a:p>
                <a:pPr lvl="1">
                  <a:lnSpc>
                    <a:spcPct val="150000"/>
                  </a:lnSpc>
                </a:pPr>
                <a14:m>
                  <m:oMath xmlns:m="http://schemas.openxmlformats.org/officeDocument/2006/math">
                    <m:r>
                      <a:rPr lang="en-US" altLang="en-US" i="1">
                        <a:latin typeface="Cambria Math" panose="02040503050406030204" pitchFamily="18" charset="0"/>
                      </a:rPr>
                      <m:t>𝛼</m:t>
                    </m:r>
                  </m:oMath>
                </a14:m>
                <a:r>
                  <a:rPr lang="en-AU" altLang="en-US" dirty="0"/>
                  <a:t> is large </a:t>
                </a:r>
                <a14:m>
                  <m:oMath xmlns:m="http://schemas.openxmlformats.org/officeDocument/2006/math">
                    <m:r>
                      <a:rPr lang="en-AU" altLang="en-US" i="1">
                        <a:latin typeface="Cambria Math" panose="02040503050406030204" pitchFamily="18" charset="0"/>
                        <a:ea typeface="Cambria Math" panose="02040503050406030204" pitchFamily="18" charset="0"/>
                      </a:rPr>
                      <m:t>⟹</m:t>
                    </m:r>
                  </m:oMath>
                </a14:m>
                <a:r>
                  <a:rPr lang="en-AU" altLang="en-US" dirty="0"/>
                  <a:t> more weight for the present trend</a:t>
                </a:r>
              </a:p>
              <a:p>
                <a:r>
                  <a:rPr lang="en-AU" altLang="en-US" dirty="0"/>
                  <a:t>This approach needs a starting point</a:t>
                </a:r>
              </a:p>
              <a:p>
                <a:pPr lvl="1"/>
                <a:r>
                  <a:rPr lang="en-AU" altLang="en-US" dirty="0"/>
                  <a:t>we choose the first smoothed value (</a:t>
                </a:r>
                <a14:m>
                  <m:oMath xmlns:m="http://schemas.openxmlformats.org/officeDocument/2006/math">
                    <m:sSub>
                      <m:sSubPr>
                        <m:ctrlPr>
                          <a:rPr lang="en-US" altLang="en-US" b="0" i="1" dirty="0" smtClean="0">
                            <a:latin typeface="Cambria Math" panose="02040503050406030204" pitchFamily="18" charset="0"/>
                          </a:rPr>
                        </m:ctrlPr>
                      </m:sSubPr>
                      <m:e>
                        <m:r>
                          <a:rPr lang="en-AU" altLang="en-US" i="1" dirty="0" smtClean="0">
                            <a:latin typeface="Cambria Math" panose="02040503050406030204" pitchFamily="18" charset="0"/>
                          </a:rPr>
                          <m:t>𝑆</m:t>
                        </m:r>
                      </m:e>
                      <m:sub>
                        <m:r>
                          <a:rPr lang="en-AU" altLang="en-US" i="1" dirty="0" smtClean="0">
                            <a:latin typeface="Cambria Math" panose="02040503050406030204" pitchFamily="18" charset="0"/>
                          </a:rPr>
                          <m:t>1</m:t>
                        </m:r>
                      </m:sub>
                    </m:sSub>
                  </m:oMath>
                </a14:m>
                <a:r>
                  <a:rPr lang="en-AU" altLang="en-US" dirty="0"/>
                  <a:t>) to be the first observation (</a:t>
                </a:r>
                <a14:m>
                  <m:oMath xmlns:m="http://schemas.openxmlformats.org/officeDocument/2006/math">
                    <m:sSub>
                      <m:sSubPr>
                        <m:ctrlPr>
                          <a:rPr lang="en-US" altLang="en-US" i="1" dirty="0">
                            <a:latin typeface="Cambria Math" panose="02040503050406030204" pitchFamily="18" charset="0"/>
                          </a:rPr>
                        </m:ctrlPr>
                      </m:sSubPr>
                      <m:e>
                        <m:r>
                          <a:rPr lang="en-US" altLang="en-US" b="0" i="1" dirty="0" smtClean="0">
                            <a:latin typeface="Cambria Math" panose="02040503050406030204" pitchFamily="18" charset="0"/>
                          </a:rPr>
                          <m:t>𝑦</m:t>
                        </m:r>
                      </m:e>
                      <m:sub>
                        <m:r>
                          <a:rPr lang="en-AU" altLang="en-US" i="1" dirty="0">
                            <a:latin typeface="Cambria Math" panose="02040503050406030204" pitchFamily="18" charset="0"/>
                          </a:rPr>
                          <m:t>1</m:t>
                        </m:r>
                      </m:sub>
                    </m:sSub>
                  </m:oMath>
                </a14:m>
                <a:r>
                  <a:rPr lang="en-AU" altLang="en-US" dirty="0"/>
                  <a:t>)</a:t>
                </a:r>
              </a:p>
              <a:p>
                <a:r>
                  <a:rPr lang="en-AU" altLang="en-US" dirty="0"/>
                  <a:t>The smoothed value of each observation is a function of the smoothed value of the observation immediately before it</a:t>
                </a:r>
              </a:p>
              <a:p>
                <a:r>
                  <a:rPr lang="en-AU" altLang="en-US" dirty="0"/>
                  <a:t>Suffers from propagation error</a:t>
                </a:r>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838200" y="1544595"/>
                <a:ext cx="10515600" cy="4948280"/>
              </a:xfrm>
              <a:blipFill>
                <a:blip r:embed="rId2"/>
                <a:stretch>
                  <a:fillRect l="-108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1F34B7A-F40C-6C67-62FF-FBF1F2BA8854}"/>
              </a:ext>
            </a:extLst>
          </p:cNvPr>
          <p:cNvSpPr>
            <a:spLocks noGrp="1"/>
          </p:cNvSpPr>
          <p:nvPr>
            <p:ph type="sldNum" sz="quarter" idx="12"/>
          </p:nvPr>
        </p:nvSpPr>
        <p:spPr/>
        <p:txBody>
          <a:bodyPr/>
          <a:lstStyle/>
          <a:p>
            <a:fld id="{F8D8F54C-053C-4394-9990-70DE256B1A6D}" type="slidenum">
              <a:rPr lang="nl-NL" smtClean="0"/>
              <a:t>42</a:t>
            </a:fld>
            <a:endParaRPr lang="nl-NL"/>
          </a:p>
        </p:txBody>
      </p:sp>
    </p:spTree>
    <p:extLst>
      <p:ext uri="{BB962C8B-B14F-4D97-AF65-F5344CB8AC3E}">
        <p14:creationId xmlns:p14="http://schemas.microsoft.com/office/powerpoint/2010/main" val="2980704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58E363-DEF3-4AC8-A6C7-1973B994C704}"/>
              </a:ext>
            </a:extLst>
          </p:cNvPr>
          <p:cNvSpPr txBox="1">
            <a:spLocks/>
          </p:cNvSpPr>
          <p:nvPr/>
        </p:nvSpPr>
        <p:spPr>
          <a:xfrm>
            <a:off x="1202028" y="2650844"/>
            <a:ext cx="8277726" cy="57901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Seasonal Variation</a:t>
            </a:r>
          </a:p>
        </p:txBody>
      </p:sp>
      <p:cxnSp>
        <p:nvCxnSpPr>
          <p:cNvPr id="3" name="Straight Connector 2">
            <a:extLst>
              <a:ext uri="{FF2B5EF4-FFF2-40B4-BE49-F238E27FC236}">
                <a16:creationId xmlns:a16="http://schemas.microsoft.com/office/drawing/2014/main" id="{3879DA28-57D8-46DC-9BF7-32D7F0AE8996}"/>
              </a:ext>
            </a:extLst>
          </p:cNvPr>
          <p:cNvCxnSpPr>
            <a:cxnSpLocks/>
          </p:cNvCxnSpPr>
          <p:nvPr/>
        </p:nvCxnSpPr>
        <p:spPr>
          <a:xfrm>
            <a:off x="1029405" y="3429000"/>
            <a:ext cx="9730554" cy="0"/>
          </a:xfrm>
          <a:prstGeom prst="line">
            <a:avLst/>
          </a:prstGeom>
          <a:ln w="95250">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p:spPr>
        <p:style>
          <a:lnRef idx="1">
            <a:schemeClr val="accent2"/>
          </a:lnRef>
          <a:fillRef idx="0">
            <a:schemeClr val="accent2"/>
          </a:fillRef>
          <a:effectRef idx="0">
            <a:schemeClr val="accent2"/>
          </a:effectRef>
          <a:fontRef idx="minor">
            <a:schemeClr val="tx1"/>
          </a:fontRef>
        </p:style>
      </p:cxnSp>
      <p:sp>
        <p:nvSpPr>
          <p:cNvPr id="4" name="Slide Number Placeholder 3">
            <a:extLst>
              <a:ext uri="{FF2B5EF4-FFF2-40B4-BE49-F238E27FC236}">
                <a16:creationId xmlns:a16="http://schemas.microsoft.com/office/drawing/2014/main" id="{71E8F07E-E315-A527-D227-D50DEA8AD3F1}"/>
              </a:ext>
            </a:extLst>
          </p:cNvPr>
          <p:cNvSpPr>
            <a:spLocks noGrp="1"/>
          </p:cNvSpPr>
          <p:nvPr>
            <p:ph type="sldNum" sz="quarter" idx="12"/>
          </p:nvPr>
        </p:nvSpPr>
        <p:spPr/>
        <p:txBody>
          <a:bodyPr/>
          <a:lstStyle/>
          <a:p>
            <a:fld id="{F8D8F54C-053C-4394-9990-70DE256B1A6D}" type="slidenum">
              <a:rPr lang="nl-NL" smtClean="0"/>
              <a:t>43</a:t>
            </a:fld>
            <a:endParaRPr lang="nl-NL"/>
          </a:p>
        </p:txBody>
      </p:sp>
    </p:spTree>
    <p:extLst>
      <p:ext uri="{BB962C8B-B14F-4D97-AF65-F5344CB8AC3E}">
        <p14:creationId xmlns:p14="http://schemas.microsoft.com/office/powerpoint/2010/main" val="37950305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Seasonal Variations</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a:bodyPr>
          <a:lstStyle/>
          <a:p>
            <a:pPr>
              <a:lnSpc>
                <a:spcPct val="110000"/>
              </a:lnSpc>
            </a:pPr>
            <a:r>
              <a:rPr lang="en-US" altLang="nl-NL" dirty="0">
                <a:cs typeface="Times New Roman" panose="02020603050405020304" pitchFamily="18" charset="0"/>
              </a:rPr>
              <a:t>Periodic movements in the time series </a:t>
            </a:r>
          </a:p>
          <a:p>
            <a:pPr>
              <a:lnSpc>
                <a:spcPct val="110000"/>
              </a:lnSpc>
            </a:pPr>
            <a:r>
              <a:rPr lang="en-US" altLang="nl-NL" dirty="0">
                <a:cs typeface="Times New Roman" panose="02020603050405020304" pitchFamily="18" charset="0"/>
              </a:rPr>
              <a:t>It is important to consider seasonal variations for future planning</a:t>
            </a:r>
          </a:p>
          <a:p>
            <a:pPr>
              <a:lnSpc>
                <a:spcPct val="110000"/>
              </a:lnSpc>
            </a:pPr>
            <a:r>
              <a:rPr lang="en-US" altLang="nl-NL" dirty="0">
                <a:cs typeface="Times New Roman" panose="02020603050405020304" pitchFamily="18" charset="0"/>
              </a:rPr>
              <a:t>A seasonally adjusted series involves estimating and removing the cyclical and seasonal effects from the original data</a:t>
            </a:r>
          </a:p>
          <a:p>
            <a:pPr>
              <a:lnSpc>
                <a:spcPct val="110000"/>
              </a:lnSpc>
            </a:pPr>
            <a:r>
              <a:rPr lang="en-AU" altLang="en-US" dirty="0"/>
              <a:t>For example: </a:t>
            </a:r>
          </a:p>
          <a:p>
            <a:pPr lvl="1">
              <a:lnSpc>
                <a:spcPct val="110000"/>
              </a:lnSpc>
            </a:pPr>
            <a:r>
              <a:rPr lang="en-AU" altLang="en-US" dirty="0"/>
              <a:t>employment and unemployment are often seasonally adjusted so that the actual change in employment and unemployment levels can be seen, without the impact of periods of peak employment such as Christmas/New Year when a large number of casual workers are temporarily employed </a:t>
            </a:r>
          </a:p>
          <a:p>
            <a:pPr>
              <a:lnSpc>
                <a:spcPct val="110000"/>
              </a:lnSpc>
            </a:pPr>
            <a:endParaRPr lang="en-US" altLang="nl-NL" dirty="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BDA57A6-6C54-DCD5-2832-8F72C80A8183}"/>
              </a:ext>
            </a:extLst>
          </p:cNvPr>
          <p:cNvSpPr>
            <a:spLocks noGrp="1"/>
          </p:cNvSpPr>
          <p:nvPr>
            <p:ph type="sldNum" sz="quarter" idx="12"/>
          </p:nvPr>
        </p:nvSpPr>
        <p:spPr/>
        <p:txBody>
          <a:bodyPr/>
          <a:lstStyle/>
          <a:p>
            <a:fld id="{F8D8F54C-053C-4394-9990-70DE256B1A6D}" type="slidenum">
              <a:rPr lang="nl-NL" smtClean="0"/>
              <a:t>44</a:t>
            </a:fld>
            <a:endParaRPr lang="nl-NL"/>
          </a:p>
        </p:txBody>
      </p:sp>
    </p:spTree>
    <p:extLst>
      <p:ext uri="{BB962C8B-B14F-4D97-AF65-F5344CB8AC3E}">
        <p14:creationId xmlns:p14="http://schemas.microsoft.com/office/powerpoint/2010/main" val="6631697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Seasonal Variations – Example </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a:bodyPr>
          <a:lstStyle/>
          <a:p>
            <a:pPr>
              <a:lnSpc>
                <a:spcPct val="110000"/>
              </a:lnSpc>
            </a:pPr>
            <a:r>
              <a:rPr lang="en-AU" altLang="en-US" dirty="0"/>
              <a:t>Adverse publicity in December about ice-cream</a:t>
            </a:r>
          </a:p>
          <a:p>
            <a:pPr>
              <a:lnSpc>
                <a:spcPct val="110000"/>
              </a:lnSpc>
            </a:pPr>
            <a:r>
              <a:rPr lang="en-US" altLang="nl-NL" dirty="0">
                <a:cs typeface="Times New Roman" panose="02020603050405020304" pitchFamily="18" charset="0"/>
              </a:rPr>
              <a:t>It would be incorrect simply to compare the sales of ice-cream in June with those in December to determine the effect of the adverse publicity. Sales rate in June is higher in any case, because it is warmer</a:t>
            </a:r>
          </a:p>
          <a:p>
            <a:pPr>
              <a:lnSpc>
                <a:spcPct val="110000"/>
              </a:lnSpc>
            </a:pPr>
            <a:endParaRPr lang="en-US" altLang="nl-NL" dirty="0">
              <a:cs typeface="Times New Roman" panose="02020603050405020304" pitchFamily="18" charset="0"/>
            </a:endParaRPr>
          </a:p>
          <a:p>
            <a:pPr>
              <a:lnSpc>
                <a:spcPct val="110000"/>
              </a:lnSpc>
            </a:pPr>
            <a:r>
              <a:rPr lang="en-US" altLang="nl-NL" dirty="0">
                <a:cs typeface="Times New Roman" panose="02020603050405020304" pitchFamily="18" charset="0"/>
              </a:rPr>
              <a:t>Useful comparisons of sales could only be made after removing the seasonal variation so the true impact of the publicity would be more realistic </a:t>
            </a:r>
          </a:p>
        </p:txBody>
      </p:sp>
      <p:sp>
        <p:nvSpPr>
          <p:cNvPr id="4" name="Slide Number Placeholder 3">
            <a:extLst>
              <a:ext uri="{FF2B5EF4-FFF2-40B4-BE49-F238E27FC236}">
                <a16:creationId xmlns:a16="http://schemas.microsoft.com/office/drawing/2014/main" id="{0FB1B5DC-305D-9E9C-5629-84E502DA4C7A}"/>
              </a:ext>
            </a:extLst>
          </p:cNvPr>
          <p:cNvSpPr>
            <a:spLocks noGrp="1"/>
          </p:cNvSpPr>
          <p:nvPr>
            <p:ph type="sldNum" sz="quarter" idx="12"/>
          </p:nvPr>
        </p:nvSpPr>
        <p:spPr/>
        <p:txBody>
          <a:bodyPr/>
          <a:lstStyle/>
          <a:p>
            <a:fld id="{F8D8F54C-053C-4394-9990-70DE256B1A6D}" type="slidenum">
              <a:rPr lang="nl-NL" smtClean="0"/>
              <a:t>45</a:t>
            </a:fld>
            <a:endParaRPr lang="nl-NL"/>
          </a:p>
        </p:txBody>
      </p:sp>
    </p:spTree>
    <p:extLst>
      <p:ext uri="{BB962C8B-B14F-4D97-AF65-F5344CB8AC3E}">
        <p14:creationId xmlns:p14="http://schemas.microsoft.com/office/powerpoint/2010/main" val="33890871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Compute the Seasonal Index</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a:bodyPr>
          <a:lstStyle/>
          <a:p>
            <a:pPr>
              <a:lnSpc>
                <a:spcPct val="120000"/>
              </a:lnSpc>
            </a:pPr>
            <a:r>
              <a:rPr lang="en-AU" altLang="en-US" dirty="0"/>
              <a:t>To remove the seasonal effect before finding the trend in the data</a:t>
            </a:r>
          </a:p>
          <a:p>
            <a:pPr>
              <a:lnSpc>
                <a:spcPct val="120000"/>
              </a:lnSpc>
            </a:pPr>
            <a:r>
              <a:rPr lang="en-AU" altLang="en-US" dirty="0"/>
              <a:t>Simple average method </a:t>
            </a:r>
          </a:p>
          <a:p>
            <a:pPr lvl="1">
              <a:lnSpc>
                <a:spcPct val="120000"/>
              </a:lnSpc>
            </a:pPr>
            <a:r>
              <a:rPr lang="en-AU" altLang="en-US" dirty="0"/>
              <a:t>Take the average for each period (period mean) over at least three years</a:t>
            </a:r>
          </a:p>
          <a:p>
            <a:pPr lvl="1">
              <a:lnSpc>
                <a:spcPct val="120000"/>
              </a:lnSpc>
            </a:pPr>
            <a:r>
              <a:rPr lang="en-AU" altLang="en-US" dirty="0"/>
              <a:t>Express that as an index by comparing it to the average of all periods over the same period of time</a:t>
            </a:r>
          </a:p>
          <a:p>
            <a:pPr>
              <a:lnSpc>
                <a:spcPct val="120000"/>
              </a:lnSpc>
            </a:pPr>
            <a:r>
              <a:rPr lang="en-AU" altLang="en-US" dirty="0"/>
              <a:t>Note: indices can be based on periods such as months or weeks</a:t>
            </a:r>
          </a:p>
        </p:txBody>
      </p:sp>
      <p:sp>
        <p:nvSpPr>
          <p:cNvPr id="4" name="Slide Number Placeholder 3">
            <a:extLst>
              <a:ext uri="{FF2B5EF4-FFF2-40B4-BE49-F238E27FC236}">
                <a16:creationId xmlns:a16="http://schemas.microsoft.com/office/drawing/2014/main" id="{37D48043-64FF-C7F4-51F5-B12C47755A91}"/>
              </a:ext>
            </a:extLst>
          </p:cNvPr>
          <p:cNvSpPr>
            <a:spLocks noGrp="1"/>
          </p:cNvSpPr>
          <p:nvPr>
            <p:ph type="sldNum" sz="quarter" idx="12"/>
          </p:nvPr>
        </p:nvSpPr>
        <p:spPr/>
        <p:txBody>
          <a:bodyPr/>
          <a:lstStyle/>
          <a:p>
            <a:fld id="{F8D8F54C-053C-4394-9990-70DE256B1A6D}" type="slidenum">
              <a:rPr lang="nl-NL" smtClean="0"/>
              <a:t>46</a:t>
            </a:fld>
            <a:endParaRPr lang="nl-NL"/>
          </a:p>
        </p:txBody>
      </p:sp>
    </p:spTree>
    <p:extLst>
      <p:ext uri="{BB962C8B-B14F-4D97-AF65-F5344CB8AC3E}">
        <p14:creationId xmlns:p14="http://schemas.microsoft.com/office/powerpoint/2010/main" val="6280380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Compute the Seasonal Index – Example </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a:bodyPr>
          <a:lstStyle/>
          <a:p>
            <a:pPr>
              <a:lnSpc>
                <a:spcPct val="120000"/>
              </a:lnSpc>
            </a:pPr>
            <a:r>
              <a:rPr lang="en-AU" altLang="en-US" dirty="0"/>
              <a:t>Consider the data</a:t>
            </a:r>
          </a:p>
        </p:txBody>
      </p:sp>
      <p:graphicFrame>
        <p:nvGraphicFramePr>
          <p:cNvPr id="4" name="Table 4">
            <a:extLst>
              <a:ext uri="{FF2B5EF4-FFF2-40B4-BE49-F238E27FC236}">
                <a16:creationId xmlns:a16="http://schemas.microsoft.com/office/drawing/2014/main" id="{DBA4099D-11FC-4546-9942-141256D4F170}"/>
              </a:ext>
            </a:extLst>
          </p:cNvPr>
          <p:cNvGraphicFramePr>
            <a:graphicFrameLocks noGrp="1"/>
          </p:cNvGraphicFramePr>
          <p:nvPr>
            <p:extLst>
              <p:ext uri="{D42A27DB-BD31-4B8C-83A1-F6EECF244321}">
                <p14:modId xmlns:p14="http://schemas.microsoft.com/office/powerpoint/2010/main" val="44633303"/>
              </p:ext>
            </p:extLst>
          </p:nvPr>
        </p:nvGraphicFramePr>
        <p:xfrm>
          <a:off x="179943" y="1928726"/>
          <a:ext cx="5916057" cy="3000548"/>
        </p:xfrm>
        <a:graphic>
          <a:graphicData uri="http://schemas.openxmlformats.org/drawingml/2006/table">
            <a:tbl>
              <a:tblPr firstRow="1" bandRow="1">
                <a:tableStyleId>{5940675A-B579-460E-94D1-54222C63F5DA}</a:tableStyleId>
              </a:tblPr>
              <a:tblGrid>
                <a:gridCol w="1867713">
                  <a:extLst>
                    <a:ext uri="{9D8B030D-6E8A-4147-A177-3AD203B41FA5}">
                      <a16:colId xmlns:a16="http://schemas.microsoft.com/office/drawing/2014/main" val="2034630473"/>
                    </a:ext>
                  </a:extLst>
                </a:gridCol>
                <a:gridCol w="1001626">
                  <a:extLst>
                    <a:ext uri="{9D8B030D-6E8A-4147-A177-3AD203B41FA5}">
                      <a16:colId xmlns:a16="http://schemas.microsoft.com/office/drawing/2014/main" val="731224760"/>
                    </a:ext>
                  </a:extLst>
                </a:gridCol>
                <a:gridCol w="1022528">
                  <a:extLst>
                    <a:ext uri="{9D8B030D-6E8A-4147-A177-3AD203B41FA5}">
                      <a16:colId xmlns:a16="http://schemas.microsoft.com/office/drawing/2014/main" val="1765590961"/>
                    </a:ext>
                  </a:extLst>
                </a:gridCol>
                <a:gridCol w="1043397">
                  <a:extLst>
                    <a:ext uri="{9D8B030D-6E8A-4147-A177-3AD203B41FA5}">
                      <a16:colId xmlns:a16="http://schemas.microsoft.com/office/drawing/2014/main" val="933404632"/>
                    </a:ext>
                  </a:extLst>
                </a:gridCol>
                <a:gridCol w="980793">
                  <a:extLst>
                    <a:ext uri="{9D8B030D-6E8A-4147-A177-3AD203B41FA5}">
                      <a16:colId xmlns:a16="http://schemas.microsoft.com/office/drawing/2014/main" val="3433415523"/>
                    </a:ext>
                  </a:extLst>
                </a:gridCol>
              </a:tblGrid>
              <a:tr h="332119">
                <a:tc rowSpan="2">
                  <a:txBody>
                    <a:bodyPr/>
                    <a:lstStyle/>
                    <a:p>
                      <a:pPr algn="ctr"/>
                      <a:r>
                        <a:rPr lang="en-US" b="1" dirty="0"/>
                        <a:t>Year</a:t>
                      </a:r>
                    </a:p>
                  </a:txBody>
                  <a:tcPr/>
                </a:tc>
                <a:tc gridSpan="4">
                  <a:txBody>
                    <a:bodyPr/>
                    <a:lstStyle/>
                    <a:p>
                      <a:pPr algn="ctr"/>
                      <a:r>
                        <a:rPr lang="en-US" b="1" dirty="0"/>
                        <a:t>Quarter</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529852700"/>
                  </a:ext>
                </a:extLst>
              </a:tr>
              <a:tr h="332119">
                <a:tc vMerge="1">
                  <a:txBody>
                    <a:bodyPr/>
                    <a:lstStyle/>
                    <a:p>
                      <a:endParaRPr lang="en-US" dirty="0"/>
                    </a:p>
                  </a:txBody>
                  <a:tcPr/>
                </a:tc>
                <a:tc>
                  <a:txBody>
                    <a:bodyPr/>
                    <a:lstStyle/>
                    <a:p>
                      <a:pPr algn="ctr"/>
                      <a:r>
                        <a:rPr lang="en-US" b="1" dirty="0"/>
                        <a:t>1</a:t>
                      </a:r>
                    </a:p>
                  </a:txBody>
                  <a:tcPr/>
                </a:tc>
                <a:tc>
                  <a:txBody>
                    <a:bodyPr/>
                    <a:lstStyle/>
                    <a:p>
                      <a:pPr algn="ctr"/>
                      <a:r>
                        <a:rPr lang="en-US" b="1" dirty="0"/>
                        <a:t>2</a:t>
                      </a:r>
                    </a:p>
                  </a:txBody>
                  <a:tcPr/>
                </a:tc>
                <a:tc>
                  <a:txBody>
                    <a:bodyPr/>
                    <a:lstStyle/>
                    <a:p>
                      <a:pPr algn="ctr"/>
                      <a:r>
                        <a:rPr lang="en-US" b="1" dirty="0"/>
                        <a:t>3</a:t>
                      </a:r>
                    </a:p>
                  </a:txBody>
                  <a:tcPr/>
                </a:tc>
                <a:tc>
                  <a:txBody>
                    <a:bodyPr/>
                    <a:lstStyle/>
                    <a:p>
                      <a:pPr algn="ctr"/>
                      <a:r>
                        <a:rPr lang="en-US" b="1" dirty="0"/>
                        <a:t>4</a:t>
                      </a:r>
                    </a:p>
                  </a:txBody>
                  <a:tcPr/>
                </a:tc>
                <a:extLst>
                  <a:ext uri="{0D108BD9-81ED-4DB2-BD59-A6C34878D82A}">
                    <a16:rowId xmlns:a16="http://schemas.microsoft.com/office/drawing/2014/main" val="2046672112"/>
                  </a:ext>
                </a:extLst>
              </a:tr>
              <a:tr h="332119">
                <a:tc>
                  <a:txBody>
                    <a:bodyPr/>
                    <a:lstStyle/>
                    <a:p>
                      <a:pPr algn="ctr"/>
                      <a:r>
                        <a:rPr lang="en-US" b="1" dirty="0"/>
                        <a:t>1994</a:t>
                      </a:r>
                    </a:p>
                  </a:txBody>
                  <a:tcPr/>
                </a:tc>
                <a:tc>
                  <a:txBody>
                    <a:bodyPr/>
                    <a:lstStyle/>
                    <a:p>
                      <a:pPr algn="ctr"/>
                      <a:r>
                        <a:rPr lang="en-US" dirty="0"/>
                        <a:t>43</a:t>
                      </a:r>
                    </a:p>
                  </a:txBody>
                  <a:tcPr/>
                </a:tc>
                <a:tc>
                  <a:txBody>
                    <a:bodyPr/>
                    <a:lstStyle/>
                    <a:p>
                      <a:pPr algn="ctr"/>
                      <a:r>
                        <a:rPr lang="en-US" dirty="0"/>
                        <a:t>64</a:t>
                      </a:r>
                    </a:p>
                  </a:txBody>
                  <a:tcPr/>
                </a:tc>
                <a:tc>
                  <a:txBody>
                    <a:bodyPr/>
                    <a:lstStyle/>
                    <a:p>
                      <a:pPr algn="ctr"/>
                      <a:r>
                        <a:rPr lang="en-US" dirty="0"/>
                        <a:t>63</a:t>
                      </a:r>
                    </a:p>
                  </a:txBody>
                  <a:tcPr/>
                </a:tc>
                <a:tc>
                  <a:txBody>
                    <a:bodyPr/>
                    <a:lstStyle/>
                    <a:p>
                      <a:pPr algn="ctr"/>
                      <a:r>
                        <a:rPr lang="en-US" dirty="0"/>
                        <a:t>41</a:t>
                      </a:r>
                    </a:p>
                  </a:txBody>
                  <a:tcPr/>
                </a:tc>
                <a:extLst>
                  <a:ext uri="{0D108BD9-81ED-4DB2-BD59-A6C34878D82A}">
                    <a16:rowId xmlns:a16="http://schemas.microsoft.com/office/drawing/2014/main" val="3536627746"/>
                  </a:ext>
                </a:extLst>
              </a:tr>
              <a:tr h="332119">
                <a:tc>
                  <a:txBody>
                    <a:bodyPr/>
                    <a:lstStyle/>
                    <a:p>
                      <a:pPr algn="ctr"/>
                      <a:r>
                        <a:rPr lang="en-US" b="1" dirty="0"/>
                        <a:t>1995</a:t>
                      </a:r>
                    </a:p>
                  </a:txBody>
                  <a:tcPr/>
                </a:tc>
                <a:tc>
                  <a:txBody>
                    <a:bodyPr/>
                    <a:lstStyle/>
                    <a:p>
                      <a:pPr algn="ctr"/>
                      <a:r>
                        <a:rPr lang="en-US" dirty="0"/>
                        <a:t>46</a:t>
                      </a:r>
                    </a:p>
                  </a:txBody>
                  <a:tcPr/>
                </a:tc>
                <a:tc>
                  <a:txBody>
                    <a:bodyPr/>
                    <a:lstStyle/>
                    <a:p>
                      <a:pPr algn="ctr"/>
                      <a:r>
                        <a:rPr lang="en-US" dirty="0"/>
                        <a:t>64</a:t>
                      </a:r>
                    </a:p>
                  </a:txBody>
                  <a:tcPr/>
                </a:tc>
                <a:tc>
                  <a:txBody>
                    <a:bodyPr/>
                    <a:lstStyle/>
                    <a:p>
                      <a:pPr algn="ctr"/>
                      <a:r>
                        <a:rPr lang="en-US" dirty="0"/>
                        <a:t>67</a:t>
                      </a:r>
                    </a:p>
                  </a:txBody>
                  <a:tcPr/>
                </a:tc>
                <a:tc>
                  <a:txBody>
                    <a:bodyPr/>
                    <a:lstStyle/>
                    <a:p>
                      <a:pPr algn="ctr"/>
                      <a:r>
                        <a:rPr lang="en-US" dirty="0"/>
                        <a:t>43</a:t>
                      </a:r>
                    </a:p>
                  </a:txBody>
                  <a:tcPr/>
                </a:tc>
                <a:extLst>
                  <a:ext uri="{0D108BD9-81ED-4DB2-BD59-A6C34878D82A}">
                    <a16:rowId xmlns:a16="http://schemas.microsoft.com/office/drawing/2014/main" val="2003989947"/>
                  </a:ext>
                </a:extLst>
              </a:tr>
              <a:tr h="332119">
                <a:tc>
                  <a:txBody>
                    <a:bodyPr/>
                    <a:lstStyle/>
                    <a:p>
                      <a:pPr algn="ctr"/>
                      <a:r>
                        <a:rPr lang="en-US" b="1" dirty="0"/>
                        <a:t>1996</a:t>
                      </a:r>
                    </a:p>
                  </a:txBody>
                  <a:tcPr/>
                </a:tc>
                <a:tc>
                  <a:txBody>
                    <a:bodyPr/>
                    <a:lstStyle/>
                    <a:p>
                      <a:pPr algn="ctr"/>
                      <a:r>
                        <a:rPr lang="en-US" dirty="0"/>
                        <a:t>51</a:t>
                      </a:r>
                    </a:p>
                  </a:txBody>
                  <a:tcPr/>
                </a:tc>
                <a:tc>
                  <a:txBody>
                    <a:bodyPr/>
                    <a:lstStyle/>
                    <a:p>
                      <a:pPr algn="ctr"/>
                      <a:r>
                        <a:rPr lang="en-US" dirty="0"/>
                        <a:t>69</a:t>
                      </a:r>
                    </a:p>
                  </a:txBody>
                  <a:tcPr/>
                </a:tc>
                <a:tc>
                  <a:txBody>
                    <a:bodyPr/>
                    <a:lstStyle/>
                    <a:p>
                      <a:pPr algn="ctr"/>
                      <a:r>
                        <a:rPr lang="en-US" dirty="0"/>
                        <a:t>75</a:t>
                      </a:r>
                    </a:p>
                  </a:txBody>
                  <a:tcPr/>
                </a:tc>
                <a:tc>
                  <a:txBody>
                    <a:bodyPr/>
                    <a:lstStyle/>
                    <a:p>
                      <a:pPr algn="ctr"/>
                      <a:r>
                        <a:rPr lang="en-US" dirty="0"/>
                        <a:t>39</a:t>
                      </a:r>
                    </a:p>
                  </a:txBody>
                  <a:tcPr/>
                </a:tc>
                <a:extLst>
                  <a:ext uri="{0D108BD9-81ED-4DB2-BD59-A6C34878D82A}">
                    <a16:rowId xmlns:a16="http://schemas.microsoft.com/office/drawing/2014/main" val="3719070889"/>
                  </a:ext>
                </a:extLst>
              </a:tr>
              <a:tr h="332119">
                <a:tc>
                  <a:txBody>
                    <a:bodyPr/>
                    <a:lstStyle/>
                    <a:p>
                      <a:pPr algn="ctr"/>
                      <a:r>
                        <a:rPr lang="en-US" b="1" dirty="0"/>
                        <a:t>1997</a:t>
                      </a:r>
                    </a:p>
                  </a:txBody>
                  <a:tcPr>
                    <a:lnB w="12700" cap="flat" cmpd="sng" algn="ctr">
                      <a:solidFill>
                        <a:schemeClr val="tx1"/>
                      </a:solidFill>
                      <a:prstDash val="solid"/>
                      <a:round/>
                      <a:headEnd type="none" w="med" len="med"/>
                      <a:tailEnd type="none" w="med" len="med"/>
                    </a:lnB>
                  </a:tcPr>
                </a:tc>
                <a:tc>
                  <a:txBody>
                    <a:bodyPr/>
                    <a:lstStyle/>
                    <a:p>
                      <a:pPr algn="ctr"/>
                      <a:r>
                        <a:rPr lang="en-US" dirty="0"/>
                        <a:t>55</a:t>
                      </a:r>
                    </a:p>
                  </a:txBody>
                  <a:tcPr>
                    <a:lnB w="12700" cap="flat" cmpd="sng" algn="ctr">
                      <a:solidFill>
                        <a:schemeClr val="tx1"/>
                      </a:solidFill>
                      <a:prstDash val="solid"/>
                      <a:round/>
                      <a:headEnd type="none" w="med" len="med"/>
                      <a:tailEnd type="none" w="med" len="med"/>
                    </a:lnB>
                  </a:tcPr>
                </a:tc>
                <a:tc>
                  <a:txBody>
                    <a:bodyPr/>
                    <a:lstStyle/>
                    <a:p>
                      <a:pPr algn="ctr"/>
                      <a:r>
                        <a:rPr lang="en-US" dirty="0"/>
                        <a:t>73</a:t>
                      </a:r>
                    </a:p>
                  </a:txBody>
                  <a:tcPr>
                    <a:lnB w="12700" cap="flat" cmpd="sng" algn="ctr">
                      <a:solidFill>
                        <a:schemeClr val="tx1"/>
                      </a:solidFill>
                      <a:prstDash val="solid"/>
                      <a:round/>
                      <a:headEnd type="none" w="med" len="med"/>
                      <a:tailEnd type="none" w="med" len="med"/>
                    </a:lnB>
                  </a:tcPr>
                </a:tc>
                <a:tc>
                  <a:txBody>
                    <a:bodyPr/>
                    <a:lstStyle/>
                    <a:p>
                      <a:pPr algn="ctr"/>
                      <a:r>
                        <a:rPr lang="en-US" dirty="0"/>
                        <a:t>79</a:t>
                      </a:r>
                    </a:p>
                  </a:txBody>
                  <a:tcPr>
                    <a:lnB w="12700" cap="flat" cmpd="sng" algn="ctr">
                      <a:solidFill>
                        <a:schemeClr val="tx1"/>
                      </a:solidFill>
                      <a:prstDash val="solid"/>
                      <a:round/>
                      <a:headEnd type="none" w="med" len="med"/>
                      <a:tailEnd type="none" w="med" len="med"/>
                    </a:lnB>
                  </a:tcPr>
                </a:tc>
                <a:tc>
                  <a:txBody>
                    <a:bodyPr/>
                    <a:lstStyle/>
                    <a:p>
                      <a:pPr algn="ctr"/>
                      <a:r>
                        <a:rPr lang="en-US" dirty="0"/>
                        <a:t>48</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0490593"/>
                  </a:ext>
                </a:extLst>
              </a:tr>
              <a:tr h="332119">
                <a:tc>
                  <a:txBody>
                    <a:bodyPr/>
                    <a:lstStyle/>
                    <a:p>
                      <a:pPr algn="ctr"/>
                      <a:r>
                        <a:rPr lang="en-US" b="1" dirty="0"/>
                        <a:t>Quarterly total</a:t>
                      </a:r>
                    </a:p>
                  </a:txBody>
                  <a:tcPr>
                    <a:lnT w="12700" cap="flat" cmpd="sng" algn="ctr">
                      <a:solidFill>
                        <a:schemeClr val="tx1"/>
                      </a:solidFill>
                      <a:prstDash val="solid"/>
                      <a:round/>
                      <a:headEnd type="none" w="med" len="med"/>
                      <a:tailEnd type="none" w="med" len="med"/>
                    </a:lnT>
                    <a:solidFill>
                      <a:schemeClr val="bg2"/>
                    </a:solidFill>
                  </a:tcPr>
                </a:tc>
                <a:tc>
                  <a:txBody>
                    <a:bodyPr/>
                    <a:lstStyle/>
                    <a:p>
                      <a:pPr algn="ctr"/>
                      <a:r>
                        <a:rPr lang="en-US" b="1" dirty="0"/>
                        <a:t>195</a:t>
                      </a:r>
                    </a:p>
                  </a:txBody>
                  <a:tcPr>
                    <a:lnT w="12700" cap="flat" cmpd="sng" algn="ctr">
                      <a:solidFill>
                        <a:schemeClr val="tx1"/>
                      </a:solidFill>
                      <a:prstDash val="solid"/>
                      <a:round/>
                      <a:headEnd type="none" w="med" len="med"/>
                      <a:tailEnd type="none" w="med" len="med"/>
                    </a:lnT>
                    <a:solidFill>
                      <a:schemeClr val="bg2"/>
                    </a:solidFill>
                  </a:tcPr>
                </a:tc>
                <a:tc>
                  <a:txBody>
                    <a:bodyPr/>
                    <a:lstStyle/>
                    <a:p>
                      <a:pPr algn="ctr"/>
                      <a:r>
                        <a:rPr lang="en-US" b="1" dirty="0"/>
                        <a:t>270</a:t>
                      </a:r>
                    </a:p>
                  </a:txBody>
                  <a:tcPr>
                    <a:lnT w="12700" cap="flat" cmpd="sng" algn="ctr">
                      <a:solidFill>
                        <a:schemeClr val="tx1"/>
                      </a:solidFill>
                      <a:prstDash val="solid"/>
                      <a:round/>
                      <a:headEnd type="none" w="med" len="med"/>
                      <a:tailEnd type="none" w="med" len="med"/>
                    </a:lnT>
                    <a:solidFill>
                      <a:schemeClr val="bg2"/>
                    </a:solidFill>
                  </a:tcPr>
                </a:tc>
                <a:tc>
                  <a:txBody>
                    <a:bodyPr/>
                    <a:lstStyle/>
                    <a:p>
                      <a:pPr algn="ctr"/>
                      <a:r>
                        <a:rPr lang="en-US" b="1" dirty="0"/>
                        <a:t>284</a:t>
                      </a:r>
                    </a:p>
                  </a:txBody>
                  <a:tcPr>
                    <a:lnT w="12700" cap="flat" cmpd="sng" algn="ctr">
                      <a:solidFill>
                        <a:schemeClr val="tx1"/>
                      </a:solidFill>
                      <a:prstDash val="solid"/>
                      <a:round/>
                      <a:headEnd type="none" w="med" len="med"/>
                      <a:tailEnd type="none" w="med" len="med"/>
                    </a:lnT>
                    <a:solidFill>
                      <a:schemeClr val="bg2"/>
                    </a:solidFill>
                  </a:tcPr>
                </a:tc>
                <a:tc>
                  <a:txBody>
                    <a:bodyPr/>
                    <a:lstStyle/>
                    <a:p>
                      <a:pPr algn="ctr"/>
                      <a:r>
                        <a:rPr lang="en-US" b="1" dirty="0"/>
                        <a:t>171</a:t>
                      </a:r>
                    </a:p>
                  </a:txBody>
                  <a:tcP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4196862072"/>
                  </a:ext>
                </a:extLst>
              </a:tr>
              <a:tr h="440228">
                <a:tc>
                  <a:txBody>
                    <a:bodyPr/>
                    <a:lstStyle/>
                    <a:p>
                      <a:pPr algn="ctr"/>
                      <a:r>
                        <a:rPr lang="en-US" b="1" dirty="0"/>
                        <a:t>Quarterly mean</a:t>
                      </a:r>
                    </a:p>
                  </a:txBody>
                  <a:tcPr>
                    <a:solidFill>
                      <a:schemeClr val="bg2"/>
                    </a:solidFill>
                  </a:tcPr>
                </a:tc>
                <a:tc>
                  <a:txBody>
                    <a:bodyPr/>
                    <a:lstStyle/>
                    <a:p>
                      <a:pPr algn="ctr"/>
                      <a:r>
                        <a:rPr lang="en-US" b="1" dirty="0"/>
                        <a:t>48.75</a:t>
                      </a:r>
                    </a:p>
                  </a:txBody>
                  <a:tcPr>
                    <a:solidFill>
                      <a:schemeClr val="bg2"/>
                    </a:solidFill>
                  </a:tcPr>
                </a:tc>
                <a:tc>
                  <a:txBody>
                    <a:bodyPr/>
                    <a:lstStyle/>
                    <a:p>
                      <a:pPr algn="ctr"/>
                      <a:r>
                        <a:rPr lang="en-US" b="1" dirty="0"/>
                        <a:t>67.5</a:t>
                      </a:r>
                    </a:p>
                  </a:txBody>
                  <a:tcPr>
                    <a:solidFill>
                      <a:schemeClr val="bg2"/>
                    </a:solidFill>
                  </a:tcPr>
                </a:tc>
                <a:tc>
                  <a:txBody>
                    <a:bodyPr/>
                    <a:lstStyle/>
                    <a:p>
                      <a:pPr algn="ctr"/>
                      <a:r>
                        <a:rPr lang="en-US" b="1" dirty="0"/>
                        <a:t>71</a:t>
                      </a:r>
                    </a:p>
                  </a:txBody>
                  <a:tcPr>
                    <a:solidFill>
                      <a:schemeClr val="bg2"/>
                    </a:solidFill>
                  </a:tcPr>
                </a:tc>
                <a:tc>
                  <a:txBody>
                    <a:bodyPr/>
                    <a:lstStyle/>
                    <a:p>
                      <a:pPr algn="ctr"/>
                      <a:r>
                        <a:rPr lang="en-US" b="1" dirty="0"/>
                        <a:t>42.75</a:t>
                      </a:r>
                    </a:p>
                  </a:txBody>
                  <a:tcPr>
                    <a:solidFill>
                      <a:schemeClr val="bg2"/>
                    </a:solidFill>
                  </a:tcPr>
                </a:tc>
                <a:extLst>
                  <a:ext uri="{0D108BD9-81ED-4DB2-BD59-A6C34878D82A}">
                    <a16:rowId xmlns:a16="http://schemas.microsoft.com/office/drawing/2014/main" val="1087255501"/>
                  </a:ext>
                </a:extLst>
              </a:tr>
            </a:tbl>
          </a:graphicData>
        </a:graphic>
      </p:graphicFrame>
      <p:sp>
        <p:nvSpPr>
          <p:cNvPr id="5" name="Rectangle 4">
            <a:extLst>
              <a:ext uri="{FF2B5EF4-FFF2-40B4-BE49-F238E27FC236}">
                <a16:creationId xmlns:a16="http://schemas.microsoft.com/office/drawing/2014/main" id="{195844E7-93E9-726E-CC32-115176878E77}"/>
              </a:ext>
            </a:extLst>
          </p:cNvPr>
          <p:cNvSpPr/>
          <p:nvPr/>
        </p:nvSpPr>
        <p:spPr>
          <a:xfrm>
            <a:off x="6235548" y="4037056"/>
            <a:ext cx="5956452" cy="1569660"/>
          </a:xfrm>
          <a:prstGeom prst="rect">
            <a:avLst/>
          </a:prstGeom>
        </p:spPr>
        <p:txBody>
          <a:bodyPr wrap="square">
            <a:spAutoFit/>
          </a:bodyPr>
          <a:lstStyle/>
          <a:p>
            <a:pPr eaLnBrk="1" hangingPunct="1">
              <a:defRPr/>
            </a:pPr>
            <a:r>
              <a:rPr lang="en-AU" dirty="0">
                <a:solidFill>
                  <a:schemeClr val="accent6">
                    <a:lumMod val="75000"/>
                  </a:schemeClr>
                </a:solidFill>
                <a:cs typeface="Arial" charset="0"/>
              </a:rPr>
              <a:t>Yearly average 1994 = (43 + 64 + 63 + 41)/4 = 211/4 = 52.75</a:t>
            </a:r>
          </a:p>
          <a:p>
            <a:pPr eaLnBrk="1" hangingPunct="1">
              <a:defRPr/>
            </a:pPr>
            <a:endParaRPr lang="en-AU" sz="800" dirty="0">
              <a:solidFill>
                <a:schemeClr val="accent6">
                  <a:lumMod val="75000"/>
                </a:schemeClr>
              </a:solidFill>
              <a:cs typeface="Arial" charset="0"/>
            </a:endParaRPr>
          </a:p>
          <a:p>
            <a:pPr eaLnBrk="1" hangingPunct="1">
              <a:defRPr/>
            </a:pPr>
            <a:r>
              <a:rPr lang="en-AU" dirty="0">
                <a:solidFill>
                  <a:schemeClr val="accent6">
                    <a:lumMod val="75000"/>
                  </a:schemeClr>
                </a:solidFill>
                <a:cs typeface="Arial" charset="0"/>
              </a:rPr>
              <a:t>Yearly average 1995 = (46 + 64 + 67 + 43 )/4 = 220 /4 = 55.0</a:t>
            </a:r>
          </a:p>
          <a:p>
            <a:pPr eaLnBrk="1" hangingPunct="1">
              <a:defRPr/>
            </a:pPr>
            <a:endParaRPr lang="en-AU" sz="800" dirty="0">
              <a:solidFill>
                <a:schemeClr val="accent6">
                  <a:lumMod val="75000"/>
                </a:schemeClr>
              </a:solidFill>
              <a:cs typeface="Arial" charset="0"/>
            </a:endParaRPr>
          </a:p>
          <a:p>
            <a:pPr eaLnBrk="1" hangingPunct="1">
              <a:defRPr/>
            </a:pPr>
            <a:r>
              <a:rPr lang="en-AU" dirty="0">
                <a:solidFill>
                  <a:schemeClr val="accent6">
                    <a:lumMod val="75000"/>
                  </a:schemeClr>
                </a:solidFill>
                <a:cs typeface="Arial" charset="0"/>
              </a:rPr>
              <a:t>Yearly average 1996 = (51 + 69 + 75 + 39 )/4 = 234/4 = 58.5</a:t>
            </a:r>
          </a:p>
          <a:p>
            <a:pPr eaLnBrk="1" hangingPunct="1">
              <a:defRPr/>
            </a:pPr>
            <a:endParaRPr lang="en-AU" sz="800" dirty="0">
              <a:solidFill>
                <a:schemeClr val="accent6">
                  <a:lumMod val="75000"/>
                </a:schemeClr>
              </a:solidFill>
              <a:cs typeface="Arial" charset="0"/>
            </a:endParaRPr>
          </a:p>
          <a:p>
            <a:pPr eaLnBrk="1" hangingPunct="1">
              <a:defRPr/>
            </a:pPr>
            <a:r>
              <a:rPr lang="en-AU" dirty="0">
                <a:solidFill>
                  <a:schemeClr val="accent6">
                    <a:lumMod val="75000"/>
                  </a:schemeClr>
                </a:solidFill>
                <a:cs typeface="Arial" charset="0"/>
              </a:rPr>
              <a:t>Yearly average 1997 = (55 + 73 + 79 + 48 )/4 = 255 / 4 =63.75</a:t>
            </a:r>
          </a:p>
        </p:txBody>
      </p:sp>
      <p:sp>
        <p:nvSpPr>
          <p:cNvPr id="6" name="Slide Number Placeholder 5">
            <a:extLst>
              <a:ext uri="{FF2B5EF4-FFF2-40B4-BE49-F238E27FC236}">
                <a16:creationId xmlns:a16="http://schemas.microsoft.com/office/drawing/2014/main" id="{C96C01DF-5EDD-A07F-4EBA-7F85E4A3B0AC}"/>
              </a:ext>
            </a:extLst>
          </p:cNvPr>
          <p:cNvSpPr>
            <a:spLocks noGrp="1"/>
          </p:cNvSpPr>
          <p:nvPr>
            <p:ph type="sldNum" sz="quarter" idx="12"/>
          </p:nvPr>
        </p:nvSpPr>
        <p:spPr/>
        <p:txBody>
          <a:bodyPr/>
          <a:lstStyle/>
          <a:p>
            <a:fld id="{F8D8F54C-053C-4394-9990-70DE256B1A6D}" type="slidenum">
              <a:rPr lang="nl-NL" smtClean="0"/>
              <a:t>47</a:t>
            </a:fld>
            <a:endParaRPr lang="nl-NL"/>
          </a:p>
        </p:txBody>
      </p:sp>
    </p:spTree>
    <p:extLst>
      <p:ext uri="{BB962C8B-B14F-4D97-AF65-F5344CB8AC3E}">
        <p14:creationId xmlns:p14="http://schemas.microsoft.com/office/powerpoint/2010/main" val="25201601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Compute the Seasonal Index – Example </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a:bodyPr>
          <a:lstStyle/>
          <a:p>
            <a:pPr>
              <a:lnSpc>
                <a:spcPct val="120000"/>
              </a:lnSpc>
            </a:pPr>
            <a:r>
              <a:rPr lang="en-AU" altLang="en-US" dirty="0"/>
              <a:t>Compute the yearly average of the values and divide the quarterly reading over the yearly average </a:t>
            </a:r>
          </a:p>
        </p:txBody>
      </p:sp>
      <p:graphicFrame>
        <p:nvGraphicFramePr>
          <p:cNvPr id="4" name="Table 4">
            <a:extLst>
              <a:ext uri="{FF2B5EF4-FFF2-40B4-BE49-F238E27FC236}">
                <a16:creationId xmlns:a16="http://schemas.microsoft.com/office/drawing/2014/main" id="{DBA4099D-11FC-4546-9942-141256D4F170}"/>
              </a:ext>
            </a:extLst>
          </p:cNvPr>
          <p:cNvGraphicFramePr>
            <a:graphicFrameLocks noGrp="1"/>
          </p:cNvGraphicFramePr>
          <p:nvPr>
            <p:extLst>
              <p:ext uri="{D42A27DB-BD31-4B8C-83A1-F6EECF244321}">
                <p14:modId xmlns:p14="http://schemas.microsoft.com/office/powerpoint/2010/main" val="208668145"/>
              </p:ext>
            </p:extLst>
          </p:nvPr>
        </p:nvGraphicFramePr>
        <p:xfrm>
          <a:off x="1311926" y="2423882"/>
          <a:ext cx="7590621" cy="2194560"/>
        </p:xfrm>
        <a:graphic>
          <a:graphicData uri="http://schemas.openxmlformats.org/drawingml/2006/table">
            <a:tbl>
              <a:tblPr firstRow="1" bandRow="1">
                <a:tableStyleId>{5940675A-B579-460E-94D1-54222C63F5DA}</a:tableStyleId>
              </a:tblPr>
              <a:tblGrid>
                <a:gridCol w="2396376">
                  <a:extLst>
                    <a:ext uri="{9D8B030D-6E8A-4147-A177-3AD203B41FA5}">
                      <a16:colId xmlns:a16="http://schemas.microsoft.com/office/drawing/2014/main" val="2034630473"/>
                    </a:ext>
                  </a:extLst>
                </a:gridCol>
                <a:gridCol w="1285140">
                  <a:extLst>
                    <a:ext uri="{9D8B030D-6E8A-4147-A177-3AD203B41FA5}">
                      <a16:colId xmlns:a16="http://schemas.microsoft.com/office/drawing/2014/main" val="731224760"/>
                    </a:ext>
                  </a:extLst>
                </a:gridCol>
                <a:gridCol w="1311959">
                  <a:extLst>
                    <a:ext uri="{9D8B030D-6E8A-4147-A177-3AD203B41FA5}">
                      <a16:colId xmlns:a16="http://schemas.microsoft.com/office/drawing/2014/main" val="1765590961"/>
                    </a:ext>
                  </a:extLst>
                </a:gridCol>
                <a:gridCol w="1338735">
                  <a:extLst>
                    <a:ext uri="{9D8B030D-6E8A-4147-A177-3AD203B41FA5}">
                      <a16:colId xmlns:a16="http://schemas.microsoft.com/office/drawing/2014/main" val="933404632"/>
                    </a:ext>
                  </a:extLst>
                </a:gridCol>
                <a:gridCol w="1258411">
                  <a:extLst>
                    <a:ext uri="{9D8B030D-6E8A-4147-A177-3AD203B41FA5}">
                      <a16:colId xmlns:a16="http://schemas.microsoft.com/office/drawing/2014/main" val="3433415523"/>
                    </a:ext>
                  </a:extLst>
                </a:gridCol>
              </a:tblGrid>
              <a:tr h="332119">
                <a:tc rowSpan="2">
                  <a:txBody>
                    <a:bodyPr/>
                    <a:lstStyle/>
                    <a:p>
                      <a:pPr algn="ctr"/>
                      <a:r>
                        <a:rPr lang="en-US" b="1" dirty="0"/>
                        <a:t>Year</a:t>
                      </a:r>
                    </a:p>
                  </a:txBody>
                  <a:tcPr/>
                </a:tc>
                <a:tc gridSpan="4">
                  <a:txBody>
                    <a:bodyPr/>
                    <a:lstStyle/>
                    <a:p>
                      <a:pPr algn="ctr"/>
                      <a:r>
                        <a:rPr lang="en-US" b="1" dirty="0"/>
                        <a:t>Quarter</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529852700"/>
                  </a:ext>
                </a:extLst>
              </a:tr>
              <a:tr h="332119">
                <a:tc vMerge="1">
                  <a:txBody>
                    <a:bodyPr/>
                    <a:lstStyle/>
                    <a:p>
                      <a:endParaRPr lang="en-US" dirty="0"/>
                    </a:p>
                  </a:txBody>
                  <a:tcPr/>
                </a:tc>
                <a:tc>
                  <a:txBody>
                    <a:bodyPr/>
                    <a:lstStyle/>
                    <a:p>
                      <a:pPr algn="ctr"/>
                      <a:r>
                        <a:rPr lang="en-US" b="1" dirty="0"/>
                        <a:t>1</a:t>
                      </a:r>
                    </a:p>
                  </a:txBody>
                  <a:tcPr/>
                </a:tc>
                <a:tc>
                  <a:txBody>
                    <a:bodyPr/>
                    <a:lstStyle/>
                    <a:p>
                      <a:pPr algn="ctr"/>
                      <a:r>
                        <a:rPr lang="en-US" b="1" dirty="0"/>
                        <a:t>2</a:t>
                      </a:r>
                    </a:p>
                  </a:txBody>
                  <a:tcPr/>
                </a:tc>
                <a:tc>
                  <a:txBody>
                    <a:bodyPr/>
                    <a:lstStyle/>
                    <a:p>
                      <a:pPr algn="ctr"/>
                      <a:r>
                        <a:rPr lang="en-US" b="1" dirty="0"/>
                        <a:t>3</a:t>
                      </a:r>
                    </a:p>
                  </a:txBody>
                  <a:tcPr/>
                </a:tc>
                <a:tc>
                  <a:txBody>
                    <a:bodyPr/>
                    <a:lstStyle/>
                    <a:p>
                      <a:pPr algn="ctr"/>
                      <a:r>
                        <a:rPr lang="en-US" b="1" dirty="0"/>
                        <a:t>4</a:t>
                      </a:r>
                    </a:p>
                  </a:txBody>
                  <a:tcPr/>
                </a:tc>
                <a:extLst>
                  <a:ext uri="{0D108BD9-81ED-4DB2-BD59-A6C34878D82A}">
                    <a16:rowId xmlns:a16="http://schemas.microsoft.com/office/drawing/2014/main" val="2046672112"/>
                  </a:ext>
                </a:extLst>
              </a:tr>
              <a:tr h="332119">
                <a:tc>
                  <a:txBody>
                    <a:bodyPr/>
                    <a:lstStyle/>
                    <a:p>
                      <a:pPr algn="ctr"/>
                      <a:r>
                        <a:rPr lang="en-US" b="1" dirty="0"/>
                        <a:t>1994</a:t>
                      </a:r>
                    </a:p>
                  </a:txBody>
                  <a:tcPr/>
                </a:tc>
                <a:tc>
                  <a:txBody>
                    <a:bodyPr/>
                    <a:lstStyle/>
                    <a:p>
                      <a:pPr algn="ctr"/>
                      <a:r>
                        <a:rPr lang="en-US" dirty="0"/>
                        <a:t>43/52.75</a:t>
                      </a:r>
                    </a:p>
                  </a:txBody>
                  <a:tcPr/>
                </a:tc>
                <a:tc>
                  <a:txBody>
                    <a:bodyPr/>
                    <a:lstStyle/>
                    <a:p>
                      <a:pPr algn="ctr"/>
                      <a:r>
                        <a:rPr lang="en-US" dirty="0"/>
                        <a:t>64/52.75</a:t>
                      </a:r>
                    </a:p>
                  </a:txBody>
                  <a:tcPr/>
                </a:tc>
                <a:tc>
                  <a:txBody>
                    <a:bodyPr/>
                    <a:lstStyle/>
                    <a:p>
                      <a:pPr algn="ctr"/>
                      <a:r>
                        <a:rPr lang="en-US" dirty="0"/>
                        <a:t>63/52.75</a:t>
                      </a:r>
                    </a:p>
                  </a:txBody>
                  <a:tcPr/>
                </a:tc>
                <a:tc>
                  <a:txBody>
                    <a:bodyPr/>
                    <a:lstStyle/>
                    <a:p>
                      <a:pPr algn="ctr"/>
                      <a:r>
                        <a:rPr lang="en-US" dirty="0"/>
                        <a:t>41/52.75</a:t>
                      </a:r>
                    </a:p>
                  </a:txBody>
                  <a:tcPr/>
                </a:tc>
                <a:extLst>
                  <a:ext uri="{0D108BD9-81ED-4DB2-BD59-A6C34878D82A}">
                    <a16:rowId xmlns:a16="http://schemas.microsoft.com/office/drawing/2014/main" val="3536627746"/>
                  </a:ext>
                </a:extLst>
              </a:tr>
              <a:tr h="332119">
                <a:tc>
                  <a:txBody>
                    <a:bodyPr/>
                    <a:lstStyle/>
                    <a:p>
                      <a:pPr algn="ctr"/>
                      <a:r>
                        <a:rPr lang="en-US" b="1" dirty="0"/>
                        <a:t>1995</a:t>
                      </a:r>
                    </a:p>
                  </a:txBody>
                  <a:tcPr/>
                </a:tc>
                <a:tc>
                  <a:txBody>
                    <a:bodyPr/>
                    <a:lstStyle/>
                    <a:p>
                      <a:pPr algn="ctr"/>
                      <a:r>
                        <a:rPr lang="en-US" dirty="0"/>
                        <a:t>46/55</a:t>
                      </a:r>
                    </a:p>
                  </a:txBody>
                  <a:tcPr/>
                </a:tc>
                <a:tc>
                  <a:txBody>
                    <a:bodyPr/>
                    <a:lstStyle/>
                    <a:p>
                      <a:pPr algn="ctr"/>
                      <a:r>
                        <a:rPr lang="en-US" dirty="0"/>
                        <a:t>64/55</a:t>
                      </a:r>
                    </a:p>
                  </a:txBody>
                  <a:tcPr/>
                </a:tc>
                <a:tc>
                  <a:txBody>
                    <a:bodyPr/>
                    <a:lstStyle/>
                    <a:p>
                      <a:pPr algn="ctr"/>
                      <a:r>
                        <a:rPr lang="en-US" dirty="0"/>
                        <a:t>67/55</a:t>
                      </a:r>
                    </a:p>
                  </a:txBody>
                  <a:tcPr/>
                </a:tc>
                <a:tc>
                  <a:txBody>
                    <a:bodyPr/>
                    <a:lstStyle/>
                    <a:p>
                      <a:pPr algn="ctr"/>
                      <a:r>
                        <a:rPr lang="en-US" dirty="0"/>
                        <a:t>43/55</a:t>
                      </a:r>
                    </a:p>
                  </a:txBody>
                  <a:tcPr/>
                </a:tc>
                <a:extLst>
                  <a:ext uri="{0D108BD9-81ED-4DB2-BD59-A6C34878D82A}">
                    <a16:rowId xmlns:a16="http://schemas.microsoft.com/office/drawing/2014/main" val="2003989947"/>
                  </a:ext>
                </a:extLst>
              </a:tr>
              <a:tr h="332119">
                <a:tc>
                  <a:txBody>
                    <a:bodyPr/>
                    <a:lstStyle/>
                    <a:p>
                      <a:pPr algn="ctr"/>
                      <a:r>
                        <a:rPr lang="en-US" b="1" dirty="0"/>
                        <a:t>1996</a:t>
                      </a:r>
                    </a:p>
                  </a:txBody>
                  <a:tcPr/>
                </a:tc>
                <a:tc>
                  <a:txBody>
                    <a:bodyPr/>
                    <a:lstStyle/>
                    <a:p>
                      <a:pPr algn="ctr"/>
                      <a:r>
                        <a:rPr lang="en-US" dirty="0"/>
                        <a:t>51/58.5</a:t>
                      </a:r>
                    </a:p>
                  </a:txBody>
                  <a:tcPr/>
                </a:tc>
                <a:tc>
                  <a:txBody>
                    <a:bodyPr/>
                    <a:lstStyle/>
                    <a:p>
                      <a:pPr algn="ctr"/>
                      <a:r>
                        <a:rPr lang="en-US" dirty="0"/>
                        <a:t>69/58.5</a:t>
                      </a:r>
                    </a:p>
                  </a:txBody>
                  <a:tcPr/>
                </a:tc>
                <a:tc>
                  <a:txBody>
                    <a:bodyPr/>
                    <a:lstStyle/>
                    <a:p>
                      <a:pPr algn="ctr"/>
                      <a:r>
                        <a:rPr lang="en-US" dirty="0"/>
                        <a:t>75/58.5</a:t>
                      </a:r>
                    </a:p>
                  </a:txBody>
                  <a:tcPr/>
                </a:tc>
                <a:tc>
                  <a:txBody>
                    <a:bodyPr/>
                    <a:lstStyle/>
                    <a:p>
                      <a:pPr algn="ctr"/>
                      <a:r>
                        <a:rPr lang="en-US" dirty="0"/>
                        <a:t>39/58.5</a:t>
                      </a:r>
                    </a:p>
                  </a:txBody>
                  <a:tcPr/>
                </a:tc>
                <a:extLst>
                  <a:ext uri="{0D108BD9-81ED-4DB2-BD59-A6C34878D82A}">
                    <a16:rowId xmlns:a16="http://schemas.microsoft.com/office/drawing/2014/main" val="3719070889"/>
                  </a:ext>
                </a:extLst>
              </a:tr>
              <a:tr h="332119">
                <a:tc>
                  <a:txBody>
                    <a:bodyPr/>
                    <a:lstStyle/>
                    <a:p>
                      <a:pPr algn="ctr"/>
                      <a:r>
                        <a:rPr lang="en-US" b="1" dirty="0"/>
                        <a:t>1997</a:t>
                      </a:r>
                    </a:p>
                  </a:txBody>
                  <a:tcPr>
                    <a:lnB w="12700" cap="flat" cmpd="sng" algn="ctr">
                      <a:solidFill>
                        <a:schemeClr val="tx1"/>
                      </a:solidFill>
                      <a:prstDash val="solid"/>
                      <a:round/>
                      <a:headEnd type="none" w="med" len="med"/>
                      <a:tailEnd type="none" w="med" len="med"/>
                    </a:lnB>
                  </a:tcPr>
                </a:tc>
                <a:tc>
                  <a:txBody>
                    <a:bodyPr/>
                    <a:lstStyle/>
                    <a:p>
                      <a:pPr algn="ctr"/>
                      <a:r>
                        <a:rPr lang="en-US" dirty="0"/>
                        <a:t>55/63.75</a:t>
                      </a:r>
                    </a:p>
                  </a:txBody>
                  <a:tcPr>
                    <a:lnB w="12700" cap="flat" cmpd="sng" algn="ctr">
                      <a:solidFill>
                        <a:schemeClr val="tx1"/>
                      </a:solidFill>
                      <a:prstDash val="solid"/>
                      <a:round/>
                      <a:headEnd type="none" w="med" len="med"/>
                      <a:tailEnd type="none" w="med" len="med"/>
                    </a:lnB>
                  </a:tcPr>
                </a:tc>
                <a:tc>
                  <a:txBody>
                    <a:bodyPr/>
                    <a:lstStyle/>
                    <a:p>
                      <a:pPr algn="ctr"/>
                      <a:r>
                        <a:rPr lang="en-US" dirty="0"/>
                        <a:t>73/63.75</a:t>
                      </a:r>
                    </a:p>
                  </a:txBody>
                  <a:tcPr>
                    <a:lnB w="12700" cap="flat" cmpd="sng" algn="ctr">
                      <a:solidFill>
                        <a:schemeClr val="tx1"/>
                      </a:solidFill>
                      <a:prstDash val="solid"/>
                      <a:round/>
                      <a:headEnd type="none" w="med" len="med"/>
                      <a:tailEnd type="none" w="med" len="med"/>
                    </a:lnB>
                  </a:tcPr>
                </a:tc>
                <a:tc>
                  <a:txBody>
                    <a:bodyPr/>
                    <a:lstStyle/>
                    <a:p>
                      <a:pPr algn="ctr"/>
                      <a:r>
                        <a:rPr lang="en-US" dirty="0"/>
                        <a:t>79/63.75</a:t>
                      </a:r>
                    </a:p>
                  </a:txBody>
                  <a:tcPr>
                    <a:lnB w="12700" cap="flat" cmpd="sng" algn="ctr">
                      <a:solidFill>
                        <a:schemeClr val="tx1"/>
                      </a:solidFill>
                      <a:prstDash val="solid"/>
                      <a:round/>
                      <a:headEnd type="none" w="med" len="med"/>
                      <a:tailEnd type="none" w="med" len="med"/>
                    </a:lnB>
                  </a:tcPr>
                </a:tc>
                <a:tc>
                  <a:txBody>
                    <a:bodyPr/>
                    <a:lstStyle/>
                    <a:p>
                      <a:pPr algn="ctr"/>
                      <a:r>
                        <a:rPr lang="en-US" dirty="0"/>
                        <a:t>48/63.75</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0490593"/>
                  </a:ext>
                </a:extLst>
              </a:tr>
            </a:tbl>
          </a:graphicData>
        </a:graphic>
      </p:graphicFrame>
      <p:sp>
        <p:nvSpPr>
          <p:cNvPr id="6" name="Rectangle 5">
            <a:extLst>
              <a:ext uri="{FF2B5EF4-FFF2-40B4-BE49-F238E27FC236}">
                <a16:creationId xmlns:a16="http://schemas.microsoft.com/office/drawing/2014/main" id="{24681D5E-61A6-9045-BA34-6F880BDE51D2}"/>
              </a:ext>
            </a:extLst>
          </p:cNvPr>
          <p:cNvSpPr/>
          <p:nvPr/>
        </p:nvSpPr>
        <p:spPr>
          <a:xfrm>
            <a:off x="6096000" y="4775228"/>
            <a:ext cx="5956452" cy="1847850"/>
          </a:xfrm>
          <a:prstGeom prst="rect">
            <a:avLst/>
          </a:prstGeom>
        </p:spPr>
        <p:txBody>
          <a:bodyPr wrap="square">
            <a:spAutoFit/>
          </a:bodyPr>
          <a:lstStyle/>
          <a:p>
            <a:pPr eaLnBrk="1" hangingPunct="1">
              <a:defRPr/>
            </a:pPr>
            <a:r>
              <a:rPr lang="en-AU" dirty="0">
                <a:solidFill>
                  <a:schemeClr val="accent6">
                    <a:lumMod val="75000"/>
                  </a:schemeClr>
                </a:solidFill>
                <a:cs typeface="Arial" charset="0"/>
              </a:rPr>
              <a:t>Yearly average 1994 = (43 + 64 + 63 + 41)/4 = 211/4 = 52.75</a:t>
            </a:r>
          </a:p>
          <a:p>
            <a:pPr eaLnBrk="1" hangingPunct="1">
              <a:defRPr/>
            </a:pPr>
            <a:endParaRPr lang="en-AU" sz="800" dirty="0">
              <a:solidFill>
                <a:schemeClr val="accent6">
                  <a:lumMod val="75000"/>
                </a:schemeClr>
              </a:solidFill>
              <a:cs typeface="Arial" charset="0"/>
            </a:endParaRPr>
          </a:p>
          <a:p>
            <a:pPr eaLnBrk="1" hangingPunct="1">
              <a:defRPr/>
            </a:pPr>
            <a:r>
              <a:rPr lang="en-AU" dirty="0">
                <a:solidFill>
                  <a:schemeClr val="accent6">
                    <a:lumMod val="75000"/>
                  </a:schemeClr>
                </a:solidFill>
                <a:cs typeface="Arial" charset="0"/>
              </a:rPr>
              <a:t>Yearly average 1995 = (46 + 64 + 67 + 43 )/4 = 220 /4 = 55.0</a:t>
            </a:r>
          </a:p>
          <a:p>
            <a:pPr eaLnBrk="1" hangingPunct="1">
              <a:defRPr/>
            </a:pPr>
            <a:endParaRPr lang="en-AU" sz="800" dirty="0">
              <a:solidFill>
                <a:schemeClr val="accent6">
                  <a:lumMod val="75000"/>
                </a:schemeClr>
              </a:solidFill>
              <a:cs typeface="Arial" charset="0"/>
            </a:endParaRPr>
          </a:p>
          <a:p>
            <a:pPr eaLnBrk="1" hangingPunct="1">
              <a:defRPr/>
            </a:pPr>
            <a:r>
              <a:rPr lang="en-AU" dirty="0">
                <a:solidFill>
                  <a:schemeClr val="accent6">
                    <a:lumMod val="75000"/>
                  </a:schemeClr>
                </a:solidFill>
                <a:cs typeface="Arial" charset="0"/>
              </a:rPr>
              <a:t>Yearly average 1996 = (51 + 69 + 75 + 39 )/4 = 234/4 = 58.5</a:t>
            </a:r>
          </a:p>
          <a:p>
            <a:pPr eaLnBrk="1" hangingPunct="1">
              <a:defRPr/>
            </a:pPr>
            <a:endParaRPr lang="en-AU" sz="800" dirty="0">
              <a:solidFill>
                <a:schemeClr val="accent6">
                  <a:lumMod val="75000"/>
                </a:schemeClr>
              </a:solidFill>
              <a:cs typeface="Arial" charset="0"/>
            </a:endParaRPr>
          </a:p>
          <a:p>
            <a:pPr eaLnBrk="1" hangingPunct="1">
              <a:defRPr/>
            </a:pPr>
            <a:r>
              <a:rPr lang="en-AU" dirty="0">
                <a:solidFill>
                  <a:schemeClr val="accent6">
                    <a:lumMod val="75000"/>
                  </a:schemeClr>
                </a:solidFill>
                <a:cs typeface="Arial" charset="0"/>
              </a:rPr>
              <a:t>Yearly average 1997 = (55 + 73 + 79 + 48 )/4 = 255 / 4 =63.75</a:t>
            </a:r>
          </a:p>
          <a:p>
            <a:pPr eaLnBrk="1" hangingPunct="1">
              <a:defRPr/>
            </a:pPr>
            <a:endParaRPr lang="en-AU" dirty="0">
              <a:solidFill>
                <a:schemeClr val="accent6">
                  <a:lumMod val="75000"/>
                </a:schemeClr>
              </a:solidFill>
              <a:cs typeface="Arial" charset="0"/>
            </a:endParaRPr>
          </a:p>
        </p:txBody>
      </p:sp>
      <p:sp>
        <p:nvSpPr>
          <p:cNvPr id="5" name="Slide Number Placeholder 4">
            <a:extLst>
              <a:ext uri="{FF2B5EF4-FFF2-40B4-BE49-F238E27FC236}">
                <a16:creationId xmlns:a16="http://schemas.microsoft.com/office/drawing/2014/main" id="{A885EE1D-2F2D-D665-F55E-AFA09769A09F}"/>
              </a:ext>
            </a:extLst>
          </p:cNvPr>
          <p:cNvSpPr>
            <a:spLocks noGrp="1"/>
          </p:cNvSpPr>
          <p:nvPr>
            <p:ph type="sldNum" sz="quarter" idx="12"/>
          </p:nvPr>
        </p:nvSpPr>
        <p:spPr/>
        <p:txBody>
          <a:bodyPr/>
          <a:lstStyle/>
          <a:p>
            <a:fld id="{F8D8F54C-053C-4394-9990-70DE256B1A6D}" type="slidenum">
              <a:rPr lang="nl-NL" smtClean="0"/>
              <a:t>48</a:t>
            </a:fld>
            <a:endParaRPr lang="nl-NL"/>
          </a:p>
        </p:txBody>
      </p:sp>
    </p:spTree>
    <p:extLst>
      <p:ext uri="{BB962C8B-B14F-4D97-AF65-F5344CB8AC3E}">
        <p14:creationId xmlns:p14="http://schemas.microsoft.com/office/powerpoint/2010/main" val="19153694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Compute the Seasonal Index – Example </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a:bodyPr>
          <a:lstStyle/>
          <a:p>
            <a:pPr>
              <a:lnSpc>
                <a:spcPct val="120000"/>
              </a:lnSpc>
            </a:pPr>
            <a:r>
              <a:rPr lang="en-AU" altLang="en-US" dirty="0"/>
              <a:t>Compute the index as the quarterly average over the years</a:t>
            </a:r>
          </a:p>
        </p:txBody>
      </p:sp>
      <p:graphicFrame>
        <p:nvGraphicFramePr>
          <p:cNvPr id="4" name="Table 4">
            <a:extLst>
              <a:ext uri="{FF2B5EF4-FFF2-40B4-BE49-F238E27FC236}">
                <a16:creationId xmlns:a16="http://schemas.microsoft.com/office/drawing/2014/main" id="{DBA4099D-11FC-4546-9942-141256D4F170}"/>
              </a:ext>
            </a:extLst>
          </p:cNvPr>
          <p:cNvGraphicFramePr>
            <a:graphicFrameLocks noGrp="1"/>
          </p:cNvGraphicFramePr>
          <p:nvPr>
            <p:extLst>
              <p:ext uri="{D42A27DB-BD31-4B8C-83A1-F6EECF244321}">
                <p14:modId xmlns:p14="http://schemas.microsoft.com/office/powerpoint/2010/main" val="710385522"/>
              </p:ext>
            </p:extLst>
          </p:nvPr>
        </p:nvGraphicFramePr>
        <p:xfrm>
          <a:off x="529728" y="2455268"/>
          <a:ext cx="5276162" cy="2194560"/>
        </p:xfrm>
        <a:graphic>
          <a:graphicData uri="http://schemas.openxmlformats.org/drawingml/2006/table">
            <a:tbl>
              <a:tblPr firstRow="1" bandRow="1">
                <a:tableStyleId>{5940675A-B579-460E-94D1-54222C63F5DA}</a:tableStyleId>
              </a:tblPr>
              <a:tblGrid>
                <a:gridCol w="1665696">
                  <a:extLst>
                    <a:ext uri="{9D8B030D-6E8A-4147-A177-3AD203B41FA5}">
                      <a16:colId xmlns:a16="http://schemas.microsoft.com/office/drawing/2014/main" val="2034630473"/>
                    </a:ext>
                  </a:extLst>
                </a:gridCol>
                <a:gridCol w="893288">
                  <a:extLst>
                    <a:ext uri="{9D8B030D-6E8A-4147-A177-3AD203B41FA5}">
                      <a16:colId xmlns:a16="http://schemas.microsoft.com/office/drawing/2014/main" val="731224760"/>
                    </a:ext>
                  </a:extLst>
                </a:gridCol>
                <a:gridCol w="911929">
                  <a:extLst>
                    <a:ext uri="{9D8B030D-6E8A-4147-A177-3AD203B41FA5}">
                      <a16:colId xmlns:a16="http://schemas.microsoft.com/office/drawing/2014/main" val="1765590961"/>
                    </a:ext>
                  </a:extLst>
                </a:gridCol>
                <a:gridCol w="930541">
                  <a:extLst>
                    <a:ext uri="{9D8B030D-6E8A-4147-A177-3AD203B41FA5}">
                      <a16:colId xmlns:a16="http://schemas.microsoft.com/office/drawing/2014/main" val="933404632"/>
                    </a:ext>
                  </a:extLst>
                </a:gridCol>
                <a:gridCol w="874708">
                  <a:extLst>
                    <a:ext uri="{9D8B030D-6E8A-4147-A177-3AD203B41FA5}">
                      <a16:colId xmlns:a16="http://schemas.microsoft.com/office/drawing/2014/main" val="3433415523"/>
                    </a:ext>
                  </a:extLst>
                </a:gridCol>
              </a:tblGrid>
              <a:tr h="352511">
                <a:tc rowSpan="2">
                  <a:txBody>
                    <a:bodyPr/>
                    <a:lstStyle/>
                    <a:p>
                      <a:pPr algn="ctr"/>
                      <a:r>
                        <a:rPr lang="en-US" b="1" dirty="0"/>
                        <a:t>Year</a:t>
                      </a:r>
                    </a:p>
                  </a:txBody>
                  <a:tcPr/>
                </a:tc>
                <a:tc gridSpan="4">
                  <a:txBody>
                    <a:bodyPr/>
                    <a:lstStyle/>
                    <a:p>
                      <a:pPr algn="ctr"/>
                      <a:r>
                        <a:rPr lang="en-US" b="1" dirty="0"/>
                        <a:t>Quarter</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529852700"/>
                  </a:ext>
                </a:extLst>
              </a:tr>
              <a:tr h="352511">
                <a:tc vMerge="1">
                  <a:txBody>
                    <a:bodyPr/>
                    <a:lstStyle/>
                    <a:p>
                      <a:endParaRPr lang="en-US" dirty="0"/>
                    </a:p>
                  </a:txBody>
                  <a:tcPr/>
                </a:tc>
                <a:tc>
                  <a:txBody>
                    <a:bodyPr/>
                    <a:lstStyle/>
                    <a:p>
                      <a:pPr algn="ctr"/>
                      <a:r>
                        <a:rPr lang="en-US" b="1" dirty="0"/>
                        <a:t>1</a:t>
                      </a:r>
                    </a:p>
                  </a:txBody>
                  <a:tcPr/>
                </a:tc>
                <a:tc>
                  <a:txBody>
                    <a:bodyPr/>
                    <a:lstStyle/>
                    <a:p>
                      <a:pPr algn="ctr"/>
                      <a:r>
                        <a:rPr lang="en-US" b="1" dirty="0"/>
                        <a:t>2</a:t>
                      </a:r>
                    </a:p>
                  </a:txBody>
                  <a:tcPr/>
                </a:tc>
                <a:tc>
                  <a:txBody>
                    <a:bodyPr/>
                    <a:lstStyle/>
                    <a:p>
                      <a:pPr algn="ctr"/>
                      <a:r>
                        <a:rPr lang="en-US" b="1" dirty="0"/>
                        <a:t>3</a:t>
                      </a:r>
                    </a:p>
                  </a:txBody>
                  <a:tcPr/>
                </a:tc>
                <a:tc>
                  <a:txBody>
                    <a:bodyPr/>
                    <a:lstStyle/>
                    <a:p>
                      <a:pPr algn="ctr"/>
                      <a:r>
                        <a:rPr lang="en-US" b="1" dirty="0"/>
                        <a:t>4</a:t>
                      </a:r>
                    </a:p>
                  </a:txBody>
                  <a:tcPr/>
                </a:tc>
                <a:extLst>
                  <a:ext uri="{0D108BD9-81ED-4DB2-BD59-A6C34878D82A}">
                    <a16:rowId xmlns:a16="http://schemas.microsoft.com/office/drawing/2014/main" val="2046672112"/>
                  </a:ext>
                </a:extLst>
              </a:tr>
              <a:tr h="352511">
                <a:tc>
                  <a:txBody>
                    <a:bodyPr/>
                    <a:lstStyle/>
                    <a:p>
                      <a:pPr algn="ctr"/>
                      <a:r>
                        <a:rPr lang="en-US" b="1" dirty="0"/>
                        <a:t>1994</a:t>
                      </a:r>
                    </a:p>
                  </a:txBody>
                  <a:tcPr/>
                </a:tc>
                <a:tc>
                  <a:txBody>
                    <a:bodyPr/>
                    <a:lstStyle/>
                    <a:p>
                      <a:pPr marL="0" algn="ctr" defTabSz="914400" rtl="0" eaLnBrk="1" fontAlgn="b" latinLnBrk="0" hangingPunct="1"/>
                      <a:r>
                        <a:rPr lang="en-NL" sz="1800" kern="1200" dirty="0">
                          <a:solidFill>
                            <a:schemeClr val="tx1"/>
                          </a:solidFill>
                          <a:latin typeface="+mn-lt"/>
                          <a:ea typeface="+mn-ea"/>
                          <a:cs typeface="+mn-cs"/>
                        </a:rPr>
                        <a:t>0.82</a:t>
                      </a:r>
                    </a:p>
                  </a:txBody>
                  <a:tcPr marL="9525" marR="9525" marT="9525" marB="0" anchor="b"/>
                </a:tc>
                <a:tc>
                  <a:txBody>
                    <a:bodyPr/>
                    <a:lstStyle/>
                    <a:p>
                      <a:pPr marL="0" algn="ctr" defTabSz="914400" rtl="0" eaLnBrk="1" fontAlgn="b" latinLnBrk="0" hangingPunct="1"/>
                      <a:r>
                        <a:rPr lang="en-NL" sz="1800" kern="1200">
                          <a:solidFill>
                            <a:schemeClr val="tx1"/>
                          </a:solidFill>
                          <a:latin typeface="+mn-lt"/>
                          <a:ea typeface="+mn-ea"/>
                          <a:cs typeface="+mn-cs"/>
                        </a:rPr>
                        <a:t>1.21</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1.19</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0.78</a:t>
                      </a:r>
                    </a:p>
                  </a:txBody>
                  <a:tcPr marL="9525" marR="9525" marT="9525" marB="0" anchor="b"/>
                </a:tc>
                <a:extLst>
                  <a:ext uri="{0D108BD9-81ED-4DB2-BD59-A6C34878D82A}">
                    <a16:rowId xmlns:a16="http://schemas.microsoft.com/office/drawing/2014/main" val="3536627746"/>
                  </a:ext>
                </a:extLst>
              </a:tr>
              <a:tr h="352511">
                <a:tc>
                  <a:txBody>
                    <a:bodyPr/>
                    <a:lstStyle/>
                    <a:p>
                      <a:pPr algn="ctr"/>
                      <a:r>
                        <a:rPr lang="en-US" b="1" dirty="0"/>
                        <a:t>1995</a:t>
                      </a:r>
                    </a:p>
                  </a:txBody>
                  <a:tcPr/>
                </a:tc>
                <a:tc>
                  <a:txBody>
                    <a:bodyPr/>
                    <a:lstStyle/>
                    <a:p>
                      <a:pPr marL="0" algn="ctr" defTabSz="914400" rtl="0" eaLnBrk="1" fontAlgn="b" latinLnBrk="0" hangingPunct="1"/>
                      <a:r>
                        <a:rPr lang="en-NL" sz="1800" kern="1200" dirty="0">
                          <a:solidFill>
                            <a:schemeClr val="tx1"/>
                          </a:solidFill>
                          <a:latin typeface="+mn-lt"/>
                          <a:ea typeface="+mn-ea"/>
                          <a:cs typeface="+mn-cs"/>
                        </a:rPr>
                        <a:t>0.84</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1.16</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1.22</a:t>
                      </a:r>
                    </a:p>
                  </a:txBody>
                  <a:tcPr marL="9525" marR="9525" marT="9525" marB="0" anchor="b"/>
                </a:tc>
                <a:tc>
                  <a:txBody>
                    <a:bodyPr/>
                    <a:lstStyle/>
                    <a:p>
                      <a:pPr marL="0" algn="ctr" defTabSz="914400" rtl="0" eaLnBrk="1" fontAlgn="b" latinLnBrk="0" hangingPunct="1"/>
                      <a:r>
                        <a:rPr lang="en-NL" sz="1800" kern="1200">
                          <a:solidFill>
                            <a:schemeClr val="tx1"/>
                          </a:solidFill>
                          <a:latin typeface="+mn-lt"/>
                          <a:ea typeface="+mn-ea"/>
                          <a:cs typeface="+mn-cs"/>
                        </a:rPr>
                        <a:t>0.78</a:t>
                      </a:r>
                    </a:p>
                  </a:txBody>
                  <a:tcPr marL="9525" marR="9525" marT="9525" marB="0" anchor="b"/>
                </a:tc>
                <a:extLst>
                  <a:ext uri="{0D108BD9-81ED-4DB2-BD59-A6C34878D82A}">
                    <a16:rowId xmlns:a16="http://schemas.microsoft.com/office/drawing/2014/main" val="2003989947"/>
                  </a:ext>
                </a:extLst>
              </a:tr>
              <a:tr h="352511">
                <a:tc>
                  <a:txBody>
                    <a:bodyPr/>
                    <a:lstStyle/>
                    <a:p>
                      <a:pPr algn="ctr"/>
                      <a:r>
                        <a:rPr lang="en-US" b="1" dirty="0"/>
                        <a:t>1996</a:t>
                      </a:r>
                    </a:p>
                  </a:txBody>
                  <a:tcPr/>
                </a:tc>
                <a:tc>
                  <a:txBody>
                    <a:bodyPr/>
                    <a:lstStyle/>
                    <a:p>
                      <a:pPr marL="0" algn="ctr" defTabSz="914400" rtl="0" eaLnBrk="1" fontAlgn="b" latinLnBrk="0" hangingPunct="1"/>
                      <a:r>
                        <a:rPr lang="en-NL" sz="1800" kern="1200" dirty="0">
                          <a:solidFill>
                            <a:schemeClr val="tx1"/>
                          </a:solidFill>
                          <a:latin typeface="+mn-lt"/>
                          <a:ea typeface="+mn-ea"/>
                          <a:cs typeface="+mn-cs"/>
                        </a:rPr>
                        <a:t>0.87</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1.18</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1.28</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0.67</a:t>
                      </a:r>
                    </a:p>
                  </a:txBody>
                  <a:tcPr marL="9525" marR="9525" marT="9525" marB="0" anchor="b"/>
                </a:tc>
                <a:extLst>
                  <a:ext uri="{0D108BD9-81ED-4DB2-BD59-A6C34878D82A}">
                    <a16:rowId xmlns:a16="http://schemas.microsoft.com/office/drawing/2014/main" val="3719070889"/>
                  </a:ext>
                </a:extLst>
              </a:tr>
              <a:tr h="352511">
                <a:tc>
                  <a:txBody>
                    <a:bodyPr/>
                    <a:lstStyle/>
                    <a:p>
                      <a:pPr algn="ctr"/>
                      <a:r>
                        <a:rPr lang="en-US" b="1" dirty="0"/>
                        <a:t>1997</a:t>
                      </a:r>
                    </a:p>
                  </a:txBody>
                  <a:tcPr>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NL" sz="1800" kern="1200">
                          <a:solidFill>
                            <a:schemeClr val="tx1"/>
                          </a:solidFill>
                          <a:latin typeface="+mn-lt"/>
                          <a:ea typeface="+mn-ea"/>
                          <a:cs typeface="+mn-cs"/>
                        </a:rPr>
                        <a:t>0.86</a:t>
                      </a:r>
                    </a:p>
                  </a:txBody>
                  <a:tcPr marL="9525" marR="9525" marT="9525" marB="0" anchor="b">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NL" sz="1800" kern="1200">
                          <a:solidFill>
                            <a:schemeClr val="tx1"/>
                          </a:solidFill>
                          <a:latin typeface="+mn-lt"/>
                          <a:ea typeface="+mn-ea"/>
                          <a:cs typeface="+mn-cs"/>
                        </a:rPr>
                        <a:t>1.15</a:t>
                      </a:r>
                    </a:p>
                  </a:txBody>
                  <a:tcPr marL="9525" marR="9525" marT="9525" marB="0" anchor="b">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NL" sz="1800" kern="1200" dirty="0">
                          <a:solidFill>
                            <a:schemeClr val="tx1"/>
                          </a:solidFill>
                          <a:latin typeface="+mn-lt"/>
                          <a:ea typeface="+mn-ea"/>
                          <a:cs typeface="+mn-cs"/>
                        </a:rPr>
                        <a:t>1.24</a:t>
                      </a:r>
                    </a:p>
                  </a:txBody>
                  <a:tcPr marL="9525" marR="9525" marT="9525" marB="0" anchor="b">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NL" sz="1800" kern="1200" dirty="0">
                          <a:solidFill>
                            <a:schemeClr val="tx1"/>
                          </a:solidFill>
                          <a:latin typeface="+mn-lt"/>
                          <a:ea typeface="+mn-ea"/>
                          <a:cs typeface="+mn-cs"/>
                        </a:rPr>
                        <a:t>0.75</a:t>
                      </a: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0490593"/>
                  </a:ext>
                </a:extLst>
              </a:tr>
            </a:tbl>
          </a:graphicData>
        </a:graphic>
      </p:graphicFrame>
      <p:graphicFrame>
        <p:nvGraphicFramePr>
          <p:cNvPr id="7" name="Table 4">
            <a:extLst>
              <a:ext uri="{FF2B5EF4-FFF2-40B4-BE49-F238E27FC236}">
                <a16:creationId xmlns:a16="http://schemas.microsoft.com/office/drawing/2014/main" id="{8D629484-D70B-3749-A9E7-FA0314040C1D}"/>
              </a:ext>
            </a:extLst>
          </p:cNvPr>
          <p:cNvGraphicFramePr>
            <a:graphicFrameLocks noGrp="1"/>
          </p:cNvGraphicFramePr>
          <p:nvPr>
            <p:extLst>
              <p:ext uri="{D42A27DB-BD31-4B8C-83A1-F6EECF244321}">
                <p14:modId xmlns:p14="http://schemas.microsoft.com/office/powerpoint/2010/main" val="2311472755"/>
              </p:ext>
            </p:extLst>
          </p:nvPr>
        </p:nvGraphicFramePr>
        <p:xfrm>
          <a:off x="6114362" y="2455268"/>
          <a:ext cx="5837105" cy="2834640"/>
        </p:xfrm>
        <a:graphic>
          <a:graphicData uri="http://schemas.openxmlformats.org/drawingml/2006/table">
            <a:tbl>
              <a:tblPr firstRow="1" bandRow="1">
                <a:tableStyleId>{5940675A-B579-460E-94D1-54222C63F5DA}</a:tableStyleId>
              </a:tblPr>
              <a:tblGrid>
                <a:gridCol w="1842787">
                  <a:extLst>
                    <a:ext uri="{9D8B030D-6E8A-4147-A177-3AD203B41FA5}">
                      <a16:colId xmlns:a16="http://schemas.microsoft.com/office/drawing/2014/main" val="2034630473"/>
                    </a:ext>
                  </a:extLst>
                </a:gridCol>
                <a:gridCol w="988259">
                  <a:extLst>
                    <a:ext uri="{9D8B030D-6E8A-4147-A177-3AD203B41FA5}">
                      <a16:colId xmlns:a16="http://schemas.microsoft.com/office/drawing/2014/main" val="731224760"/>
                    </a:ext>
                  </a:extLst>
                </a:gridCol>
                <a:gridCol w="1008882">
                  <a:extLst>
                    <a:ext uri="{9D8B030D-6E8A-4147-A177-3AD203B41FA5}">
                      <a16:colId xmlns:a16="http://schemas.microsoft.com/office/drawing/2014/main" val="1765590961"/>
                    </a:ext>
                  </a:extLst>
                </a:gridCol>
                <a:gridCol w="1029473">
                  <a:extLst>
                    <a:ext uri="{9D8B030D-6E8A-4147-A177-3AD203B41FA5}">
                      <a16:colId xmlns:a16="http://schemas.microsoft.com/office/drawing/2014/main" val="933404632"/>
                    </a:ext>
                  </a:extLst>
                </a:gridCol>
                <a:gridCol w="967704">
                  <a:extLst>
                    <a:ext uri="{9D8B030D-6E8A-4147-A177-3AD203B41FA5}">
                      <a16:colId xmlns:a16="http://schemas.microsoft.com/office/drawing/2014/main" val="3433415523"/>
                    </a:ext>
                  </a:extLst>
                </a:gridCol>
              </a:tblGrid>
              <a:tr h="352511">
                <a:tc rowSpan="2">
                  <a:txBody>
                    <a:bodyPr/>
                    <a:lstStyle/>
                    <a:p>
                      <a:pPr algn="ctr"/>
                      <a:r>
                        <a:rPr lang="en-US" b="1" dirty="0"/>
                        <a:t>Year</a:t>
                      </a:r>
                    </a:p>
                  </a:txBody>
                  <a:tcPr/>
                </a:tc>
                <a:tc gridSpan="4">
                  <a:txBody>
                    <a:bodyPr/>
                    <a:lstStyle/>
                    <a:p>
                      <a:pPr algn="ctr"/>
                      <a:r>
                        <a:rPr lang="en-US" b="1" dirty="0"/>
                        <a:t>Seasonal index (Quarterly) </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529852700"/>
                  </a:ext>
                </a:extLst>
              </a:tr>
              <a:tr h="352511">
                <a:tc vMerge="1">
                  <a:txBody>
                    <a:bodyPr/>
                    <a:lstStyle/>
                    <a:p>
                      <a:endParaRPr lang="en-US" dirty="0"/>
                    </a:p>
                  </a:txBody>
                  <a:tcPr/>
                </a:tc>
                <a:tc>
                  <a:txBody>
                    <a:bodyPr/>
                    <a:lstStyle/>
                    <a:p>
                      <a:pPr algn="ctr"/>
                      <a:r>
                        <a:rPr lang="en-US" b="1" dirty="0"/>
                        <a:t>1</a:t>
                      </a:r>
                    </a:p>
                  </a:txBody>
                  <a:tcPr/>
                </a:tc>
                <a:tc>
                  <a:txBody>
                    <a:bodyPr/>
                    <a:lstStyle/>
                    <a:p>
                      <a:pPr algn="ctr"/>
                      <a:r>
                        <a:rPr lang="en-US" b="1" dirty="0"/>
                        <a:t>2</a:t>
                      </a:r>
                    </a:p>
                  </a:txBody>
                  <a:tcPr/>
                </a:tc>
                <a:tc>
                  <a:txBody>
                    <a:bodyPr/>
                    <a:lstStyle/>
                    <a:p>
                      <a:pPr algn="ctr"/>
                      <a:r>
                        <a:rPr lang="en-US" b="1" dirty="0"/>
                        <a:t>3</a:t>
                      </a:r>
                    </a:p>
                  </a:txBody>
                  <a:tcPr/>
                </a:tc>
                <a:tc>
                  <a:txBody>
                    <a:bodyPr/>
                    <a:lstStyle/>
                    <a:p>
                      <a:pPr algn="ctr"/>
                      <a:r>
                        <a:rPr lang="en-US" b="1" dirty="0"/>
                        <a:t>4</a:t>
                      </a:r>
                    </a:p>
                  </a:txBody>
                  <a:tcPr/>
                </a:tc>
                <a:extLst>
                  <a:ext uri="{0D108BD9-81ED-4DB2-BD59-A6C34878D82A}">
                    <a16:rowId xmlns:a16="http://schemas.microsoft.com/office/drawing/2014/main" val="2046672112"/>
                  </a:ext>
                </a:extLst>
              </a:tr>
              <a:tr h="352511">
                <a:tc>
                  <a:txBody>
                    <a:bodyPr/>
                    <a:lstStyle/>
                    <a:p>
                      <a:pPr algn="ctr"/>
                      <a:r>
                        <a:rPr lang="en-US" b="1" dirty="0"/>
                        <a:t>1994</a:t>
                      </a:r>
                    </a:p>
                  </a:txBody>
                  <a:tcPr/>
                </a:tc>
                <a:tc>
                  <a:txBody>
                    <a:bodyPr/>
                    <a:lstStyle/>
                    <a:p>
                      <a:pPr marL="0" algn="ctr" defTabSz="914400" rtl="0" eaLnBrk="1" fontAlgn="b" latinLnBrk="0" hangingPunct="1"/>
                      <a:r>
                        <a:rPr lang="en-NL" sz="1800" kern="1200" dirty="0">
                          <a:solidFill>
                            <a:schemeClr val="tx1"/>
                          </a:solidFill>
                          <a:latin typeface="+mn-lt"/>
                          <a:ea typeface="+mn-ea"/>
                          <a:cs typeface="+mn-cs"/>
                        </a:rPr>
                        <a:t>82</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121</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119</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78</a:t>
                      </a:r>
                    </a:p>
                  </a:txBody>
                  <a:tcPr marL="9525" marR="9525" marT="9525" marB="0" anchor="b"/>
                </a:tc>
                <a:extLst>
                  <a:ext uri="{0D108BD9-81ED-4DB2-BD59-A6C34878D82A}">
                    <a16:rowId xmlns:a16="http://schemas.microsoft.com/office/drawing/2014/main" val="3536627746"/>
                  </a:ext>
                </a:extLst>
              </a:tr>
              <a:tr h="352511">
                <a:tc>
                  <a:txBody>
                    <a:bodyPr/>
                    <a:lstStyle/>
                    <a:p>
                      <a:pPr algn="ctr"/>
                      <a:r>
                        <a:rPr lang="en-US" b="1" dirty="0"/>
                        <a:t>1995</a:t>
                      </a:r>
                    </a:p>
                  </a:txBody>
                  <a:tcPr/>
                </a:tc>
                <a:tc>
                  <a:txBody>
                    <a:bodyPr/>
                    <a:lstStyle/>
                    <a:p>
                      <a:pPr marL="0" algn="ctr" defTabSz="914400" rtl="0" eaLnBrk="1" fontAlgn="b" latinLnBrk="0" hangingPunct="1"/>
                      <a:r>
                        <a:rPr lang="en-NL" sz="1800" kern="1200" dirty="0">
                          <a:solidFill>
                            <a:schemeClr val="tx1"/>
                          </a:solidFill>
                          <a:latin typeface="+mn-lt"/>
                          <a:ea typeface="+mn-ea"/>
                          <a:cs typeface="+mn-cs"/>
                        </a:rPr>
                        <a:t>84</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116</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122</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78</a:t>
                      </a:r>
                    </a:p>
                  </a:txBody>
                  <a:tcPr marL="9525" marR="9525" marT="9525" marB="0" anchor="b"/>
                </a:tc>
                <a:extLst>
                  <a:ext uri="{0D108BD9-81ED-4DB2-BD59-A6C34878D82A}">
                    <a16:rowId xmlns:a16="http://schemas.microsoft.com/office/drawing/2014/main" val="2003989947"/>
                  </a:ext>
                </a:extLst>
              </a:tr>
              <a:tr h="352511">
                <a:tc>
                  <a:txBody>
                    <a:bodyPr/>
                    <a:lstStyle/>
                    <a:p>
                      <a:pPr algn="ctr"/>
                      <a:r>
                        <a:rPr lang="en-US" b="1" dirty="0"/>
                        <a:t>1996</a:t>
                      </a:r>
                    </a:p>
                  </a:txBody>
                  <a:tcPr/>
                </a:tc>
                <a:tc>
                  <a:txBody>
                    <a:bodyPr/>
                    <a:lstStyle/>
                    <a:p>
                      <a:pPr marL="0" algn="ctr" defTabSz="914400" rtl="0" eaLnBrk="1" fontAlgn="b" latinLnBrk="0" hangingPunct="1"/>
                      <a:r>
                        <a:rPr lang="en-NL" sz="1800" kern="1200" dirty="0">
                          <a:solidFill>
                            <a:schemeClr val="tx1"/>
                          </a:solidFill>
                          <a:latin typeface="+mn-lt"/>
                          <a:ea typeface="+mn-ea"/>
                          <a:cs typeface="+mn-cs"/>
                        </a:rPr>
                        <a:t>87</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118</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128</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67</a:t>
                      </a:r>
                    </a:p>
                  </a:txBody>
                  <a:tcPr marL="9525" marR="9525" marT="9525" marB="0" anchor="b"/>
                </a:tc>
                <a:extLst>
                  <a:ext uri="{0D108BD9-81ED-4DB2-BD59-A6C34878D82A}">
                    <a16:rowId xmlns:a16="http://schemas.microsoft.com/office/drawing/2014/main" val="3719070889"/>
                  </a:ext>
                </a:extLst>
              </a:tr>
              <a:tr h="352511">
                <a:tc>
                  <a:txBody>
                    <a:bodyPr/>
                    <a:lstStyle/>
                    <a:p>
                      <a:pPr algn="ctr"/>
                      <a:r>
                        <a:rPr lang="en-US" b="1" dirty="0"/>
                        <a:t>1997</a:t>
                      </a:r>
                    </a:p>
                  </a:txBody>
                  <a:tcPr/>
                </a:tc>
                <a:tc>
                  <a:txBody>
                    <a:bodyPr/>
                    <a:lstStyle/>
                    <a:p>
                      <a:pPr marL="0" algn="ctr" defTabSz="914400" rtl="0" eaLnBrk="1" fontAlgn="b" latinLnBrk="0" hangingPunct="1"/>
                      <a:r>
                        <a:rPr lang="en-NL" sz="1800" kern="1200" dirty="0">
                          <a:solidFill>
                            <a:schemeClr val="tx1"/>
                          </a:solidFill>
                          <a:latin typeface="+mn-lt"/>
                          <a:ea typeface="+mn-ea"/>
                          <a:cs typeface="+mn-cs"/>
                        </a:rPr>
                        <a:t>86</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115</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124</a:t>
                      </a:r>
                    </a:p>
                  </a:txBody>
                  <a:tcPr marL="9525" marR="9525" marT="9525" marB="0" anchor="b"/>
                </a:tc>
                <a:tc>
                  <a:txBody>
                    <a:bodyPr/>
                    <a:lstStyle/>
                    <a:p>
                      <a:pPr marL="0" algn="ctr" defTabSz="914400" rtl="0" eaLnBrk="1" fontAlgn="b" latinLnBrk="0" hangingPunct="1"/>
                      <a:r>
                        <a:rPr lang="en-NL" sz="1800" kern="1200" dirty="0">
                          <a:solidFill>
                            <a:schemeClr val="tx1"/>
                          </a:solidFill>
                          <a:latin typeface="+mn-lt"/>
                          <a:ea typeface="+mn-ea"/>
                          <a:cs typeface="+mn-cs"/>
                        </a:rPr>
                        <a:t>75</a:t>
                      </a:r>
                    </a:p>
                  </a:txBody>
                  <a:tcPr marL="9525" marR="9525" marT="9525" marB="0" anchor="b"/>
                </a:tc>
                <a:extLst>
                  <a:ext uri="{0D108BD9-81ED-4DB2-BD59-A6C34878D82A}">
                    <a16:rowId xmlns:a16="http://schemas.microsoft.com/office/drawing/2014/main" val="1460490593"/>
                  </a:ext>
                </a:extLst>
              </a:tr>
              <a:tr h="230534">
                <a:tc>
                  <a:txBody>
                    <a:bodyPr/>
                    <a:lstStyle/>
                    <a:p>
                      <a:pPr algn="ctr"/>
                      <a:r>
                        <a:rPr lang="en-US" b="1" dirty="0"/>
                        <a:t>Seasonal Index (Over the years)</a:t>
                      </a:r>
                    </a:p>
                  </a:txBody>
                  <a:tcPr>
                    <a:lnB w="12700" cap="flat" cmpd="sng" algn="ctr">
                      <a:solidFill>
                        <a:schemeClr val="tx1"/>
                      </a:solidFill>
                      <a:prstDash val="solid"/>
                      <a:round/>
                      <a:headEnd type="none" w="med" len="med"/>
                      <a:tailEnd type="none" w="med" len="med"/>
                    </a:lnB>
                  </a:tcPr>
                </a:tc>
                <a:tc>
                  <a:txBody>
                    <a:bodyPr/>
                    <a:lstStyle/>
                    <a:p>
                      <a:pPr algn="ctr" fontAlgn="b"/>
                      <a:r>
                        <a:rPr lang="en-NL" sz="1800" b="1" kern="1200" dirty="0">
                          <a:solidFill>
                            <a:schemeClr val="tx1"/>
                          </a:solidFill>
                          <a:latin typeface="+mn-lt"/>
                          <a:ea typeface="+mn-ea"/>
                          <a:cs typeface="+mn-cs"/>
                        </a:rPr>
                        <a:t>84.8</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r>
                        <a:rPr lang="en-NL" sz="1800" b="1" kern="1200" dirty="0">
                          <a:solidFill>
                            <a:schemeClr val="tx1"/>
                          </a:solidFill>
                          <a:latin typeface="+mn-lt"/>
                          <a:ea typeface="+mn-ea"/>
                          <a:cs typeface="+mn-cs"/>
                        </a:rPr>
                        <a:t>117.5</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r>
                        <a:rPr lang="en-NL" sz="1800" b="1" kern="1200" dirty="0">
                          <a:solidFill>
                            <a:schemeClr val="tx1"/>
                          </a:solidFill>
                          <a:latin typeface="+mn-lt"/>
                          <a:ea typeface="+mn-ea"/>
                          <a:cs typeface="+mn-cs"/>
                        </a:rPr>
                        <a:t>123.3</a:t>
                      </a: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r>
                        <a:rPr lang="en-NL" sz="1800" b="1" kern="1200" dirty="0">
                          <a:solidFill>
                            <a:schemeClr val="tx1"/>
                          </a:solidFill>
                          <a:latin typeface="+mn-lt"/>
                          <a:ea typeface="+mn-ea"/>
                          <a:cs typeface="+mn-cs"/>
                        </a:rPr>
                        <a:t>74.5</a:t>
                      </a: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1215209"/>
                  </a:ext>
                </a:extLst>
              </a:tr>
            </a:tbl>
          </a:graphicData>
        </a:graphic>
      </p:graphicFrame>
      <p:sp>
        <p:nvSpPr>
          <p:cNvPr id="5" name="TextBox 4">
            <a:extLst>
              <a:ext uri="{FF2B5EF4-FFF2-40B4-BE49-F238E27FC236}">
                <a16:creationId xmlns:a16="http://schemas.microsoft.com/office/drawing/2014/main" id="{7127ACE6-7C91-EBB1-2955-3AA67F53B0C5}"/>
              </a:ext>
            </a:extLst>
          </p:cNvPr>
          <p:cNvSpPr txBox="1"/>
          <p:nvPr/>
        </p:nvSpPr>
        <p:spPr>
          <a:xfrm>
            <a:off x="486885" y="4729073"/>
            <a:ext cx="5169284" cy="646331"/>
          </a:xfrm>
          <a:prstGeom prst="rect">
            <a:avLst/>
          </a:prstGeom>
          <a:noFill/>
        </p:spPr>
        <p:txBody>
          <a:bodyPr wrap="square" rtlCol="0">
            <a:spAutoFit/>
          </a:bodyPr>
          <a:lstStyle/>
          <a:p>
            <a:pPr marL="285750" indent="-285750">
              <a:buFont typeface="Arial" panose="020B0604020202020204" pitchFamily="34" charset="0"/>
              <a:buChar char="•"/>
            </a:pPr>
            <a:r>
              <a:rPr lang="en-US" dirty="0"/>
              <a:t>Divide the Quarterly value over the yearly average</a:t>
            </a:r>
          </a:p>
          <a:p>
            <a:pPr marL="285750" indent="-285750">
              <a:buFont typeface="Arial" panose="020B0604020202020204" pitchFamily="34" charset="0"/>
              <a:buChar char="•"/>
            </a:pPr>
            <a:r>
              <a:rPr lang="en-US" dirty="0"/>
              <a:t>Summation of the values in each row is 4</a:t>
            </a:r>
          </a:p>
        </p:txBody>
      </p:sp>
      <p:sp>
        <p:nvSpPr>
          <p:cNvPr id="6" name="TextBox 5">
            <a:extLst>
              <a:ext uri="{FF2B5EF4-FFF2-40B4-BE49-F238E27FC236}">
                <a16:creationId xmlns:a16="http://schemas.microsoft.com/office/drawing/2014/main" id="{C9D097D8-9F9F-8180-3BFF-87C3B59A1A2F}"/>
              </a:ext>
            </a:extLst>
          </p:cNvPr>
          <p:cNvSpPr txBox="1"/>
          <p:nvPr/>
        </p:nvSpPr>
        <p:spPr>
          <a:xfrm>
            <a:off x="8273143" y="5375404"/>
            <a:ext cx="2244469" cy="369332"/>
          </a:xfrm>
          <a:prstGeom prst="rect">
            <a:avLst/>
          </a:prstGeom>
          <a:noFill/>
        </p:spPr>
        <p:txBody>
          <a:bodyPr wrap="square" rtlCol="0">
            <a:spAutoFit/>
          </a:bodyPr>
          <a:lstStyle/>
          <a:p>
            <a:r>
              <a:rPr lang="en-US" dirty="0"/>
              <a:t>Multiply by 100</a:t>
            </a:r>
          </a:p>
        </p:txBody>
      </p:sp>
      <p:sp>
        <p:nvSpPr>
          <p:cNvPr id="8" name="Slide Number Placeholder 7">
            <a:extLst>
              <a:ext uri="{FF2B5EF4-FFF2-40B4-BE49-F238E27FC236}">
                <a16:creationId xmlns:a16="http://schemas.microsoft.com/office/drawing/2014/main" id="{073BB30E-D056-486F-AB85-2359A31FDFDF}"/>
              </a:ext>
            </a:extLst>
          </p:cNvPr>
          <p:cNvSpPr>
            <a:spLocks noGrp="1"/>
          </p:cNvSpPr>
          <p:nvPr>
            <p:ph type="sldNum" sz="quarter" idx="12"/>
          </p:nvPr>
        </p:nvSpPr>
        <p:spPr/>
        <p:txBody>
          <a:bodyPr/>
          <a:lstStyle/>
          <a:p>
            <a:fld id="{F8D8F54C-053C-4394-9990-70DE256B1A6D}" type="slidenum">
              <a:rPr lang="nl-NL" smtClean="0"/>
              <a:t>49</a:t>
            </a:fld>
            <a:endParaRPr lang="nl-NL"/>
          </a:p>
        </p:txBody>
      </p:sp>
      <p:sp>
        <p:nvSpPr>
          <p:cNvPr id="9" name="TextBox 8">
            <a:extLst>
              <a:ext uri="{FF2B5EF4-FFF2-40B4-BE49-F238E27FC236}">
                <a16:creationId xmlns:a16="http://schemas.microsoft.com/office/drawing/2014/main" id="{318DE678-B98D-EEC5-4ACC-3D56A5C79B12}"/>
              </a:ext>
            </a:extLst>
          </p:cNvPr>
          <p:cNvSpPr txBox="1"/>
          <p:nvPr/>
        </p:nvSpPr>
        <p:spPr>
          <a:xfrm>
            <a:off x="6448272" y="5872980"/>
            <a:ext cx="5169284" cy="369332"/>
          </a:xfrm>
          <a:prstGeom prst="rect">
            <a:avLst/>
          </a:prstGeom>
          <a:noFill/>
        </p:spPr>
        <p:txBody>
          <a:bodyPr wrap="square" rtlCol="0">
            <a:spAutoFit/>
          </a:bodyPr>
          <a:lstStyle/>
          <a:p>
            <a:pPr marL="285750" indent="-285750">
              <a:buFont typeface="Arial" panose="020B0604020202020204" pitchFamily="34" charset="0"/>
              <a:buChar char="•"/>
            </a:pPr>
            <a:r>
              <a:rPr lang="en-US" dirty="0"/>
              <a:t>Summation of the values in each row is 400</a:t>
            </a:r>
          </a:p>
        </p:txBody>
      </p:sp>
    </p:spTree>
    <p:extLst>
      <p:ext uri="{BB962C8B-B14F-4D97-AF65-F5344CB8AC3E}">
        <p14:creationId xmlns:p14="http://schemas.microsoft.com/office/powerpoint/2010/main" val="22981016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Compute the Seasonal Index – Example </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757630"/>
          </a:xfrm>
        </p:spPr>
        <p:txBody>
          <a:bodyPr>
            <a:normAutofit/>
          </a:bodyPr>
          <a:lstStyle/>
          <a:p>
            <a:pPr>
              <a:lnSpc>
                <a:spcPct val="120000"/>
              </a:lnSpc>
            </a:pPr>
            <a:r>
              <a:rPr lang="en-AU" altLang="en-US" dirty="0"/>
              <a:t>Remove the seasonal effect from the data (multiplicative model)</a:t>
            </a:r>
          </a:p>
        </p:txBody>
      </p:sp>
      <p:graphicFrame>
        <p:nvGraphicFramePr>
          <p:cNvPr id="4" name="Table 4">
            <a:extLst>
              <a:ext uri="{FF2B5EF4-FFF2-40B4-BE49-F238E27FC236}">
                <a16:creationId xmlns:a16="http://schemas.microsoft.com/office/drawing/2014/main" id="{DBA4099D-11FC-4546-9942-141256D4F170}"/>
              </a:ext>
            </a:extLst>
          </p:cNvPr>
          <p:cNvGraphicFramePr>
            <a:graphicFrameLocks noGrp="1"/>
          </p:cNvGraphicFramePr>
          <p:nvPr>
            <p:extLst>
              <p:ext uri="{D42A27DB-BD31-4B8C-83A1-F6EECF244321}">
                <p14:modId xmlns:p14="http://schemas.microsoft.com/office/powerpoint/2010/main" val="984300084"/>
              </p:ext>
            </p:extLst>
          </p:nvPr>
        </p:nvGraphicFramePr>
        <p:xfrm>
          <a:off x="838200" y="2010620"/>
          <a:ext cx="10362885" cy="3844307"/>
        </p:xfrm>
        <a:graphic>
          <a:graphicData uri="http://schemas.openxmlformats.org/drawingml/2006/table">
            <a:tbl>
              <a:tblPr firstRow="1" bandRow="1">
                <a:tableStyleId>{5940675A-B579-460E-94D1-54222C63F5DA}</a:tableStyleId>
              </a:tblPr>
              <a:tblGrid>
                <a:gridCol w="2131341">
                  <a:extLst>
                    <a:ext uri="{9D8B030D-6E8A-4147-A177-3AD203B41FA5}">
                      <a16:colId xmlns:a16="http://schemas.microsoft.com/office/drawing/2014/main" val="2034630473"/>
                    </a:ext>
                  </a:extLst>
                </a:gridCol>
                <a:gridCol w="1760465">
                  <a:extLst>
                    <a:ext uri="{9D8B030D-6E8A-4147-A177-3AD203B41FA5}">
                      <a16:colId xmlns:a16="http://schemas.microsoft.com/office/drawing/2014/main" val="731224760"/>
                    </a:ext>
                  </a:extLst>
                </a:gridCol>
                <a:gridCol w="2080010">
                  <a:extLst>
                    <a:ext uri="{9D8B030D-6E8A-4147-A177-3AD203B41FA5}">
                      <a16:colId xmlns:a16="http://schemas.microsoft.com/office/drawing/2014/main" val="1765590961"/>
                    </a:ext>
                  </a:extLst>
                </a:gridCol>
                <a:gridCol w="2207338">
                  <a:extLst>
                    <a:ext uri="{9D8B030D-6E8A-4147-A177-3AD203B41FA5}">
                      <a16:colId xmlns:a16="http://schemas.microsoft.com/office/drawing/2014/main" val="933404632"/>
                    </a:ext>
                  </a:extLst>
                </a:gridCol>
                <a:gridCol w="2183731">
                  <a:extLst>
                    <a:ext uri="{9D8B030D-6E8A-4147-A177-3AD203B41FA5}">
                      <a16:colId xmlns:a16="http://schemas.microsoft.com/office/drawing/2014/main" val="3433415523"/>
                    </a:ext>
                  </a:extLst>
                </a:gridCol>
              </a:tblGrid>
              <a:tr h="678197">
                <a:tc>
                  <a:txBody>
                    <a:bodyPr/>
                    <a:lstStyle/>
                    <a:p>
                      <a:pPr algn="ctr"/>
                      <a:r>
                        <a:rPr lang="en-US" sz="2400" b="1" dirty="0"/>
                        <a:t>Year</a:t>
                      </a:r>
                    </a:p>
                  </a:txBody>
                  <a:tcPr/>
                </a:tc>
                <a:tc>
                  <a:txBody>
                    <a:bodyPr/>
                    <a:lstStyle/>
                    <a:p>
                      <a:pPr algn="ctr"/>
                      <a:r>
                        <a:rPr lang="en-US" sz="2400" b="1" dirty="0"/>
                        <a:t>Quarter</a:t>
                      </a:r>
                    </a:p>
                  </a:txBody>
                  <a:tcPr/>
                </a:tc>
                <a:tc>
                  <a:txBody>
                    <a:bodyPr/>
                    <a:lstStyle/>
                    <a:p>
                      <a:r>
                        <a:rPr lang="en-US" sz="2400" dirty="0"/>
                        <a:t>Actual Value</a:t>
                      </a:r>
                    </a:p>
                  </a:txBody>
                  <a:tcPr/>
                </a:tc>
                <a:tc>
                  <a:txBody>
                    <a:bodyPr/>
                    <a:lstStyle/>
                    <a:p>
                      <a:r>
                        <a:rPr lang="en-US" sz="2400" dirty="0"/>
                        <a:t>Seasonal Index</a:t>
                      </a:r>
                    </a:p>
                  </a:txBody>
                  <a:tcPr/>
                </a:tc>
                <a:tc>
                  <a:txBody>
                    <a:bodyPr/>
                    <a:lstStyle/>
                    <a:p>
                      <a:r>
                        <a:rPr lang="en-US" sz="2400" dirty="0"/>
                        <a:t>Adjusted Values</a:t>
                      </a:r>
                    </a:p>
                  </a:txBody>
                  <a:tcPr/>
                </a:tc>
                <a:extLst>
                  <a:ext uri="{0D108BD9-81ED-4DB2-BD59-A6C34878D82A}">
                    <a16:rowId xmlns:a16="http://schemas.microsoft.com/office/drawing/2014/main" val="3529852700"/>
                  </a:ext>
                </a:extLst>
              </a:tr>
              <a:tr h="387541">
                <a:tc rowSpan="4">
                  <a:txBody>
                    <a:bodyPr/>
                    <a:lstStyle/>
                    <a:p>
                      <a:pPr algn="ctr"/>
                      <a:r>
                        <a:rPr lang="en-US" sz="2400" b="1" dirty="0"/>
                        <a:t>1996</a:t>
                      </a:r>
                    </a:p>
                  </a:txBody>
                  <a:tcPr/>
                </a:tc>
                <a:tc>
                  <a:txBody>
                    <a:bodyPr/>
                    <a:lstStyle/>
                    <a:p>
                      <a:pPr algn="ctr"/>
                      <a:r>
                        <a:rPr lang="en-US" sz="2400" b="0" dirty="0"/>
                        <a:t>1</a:t>
                      </a:r>
                    </a:p>
                  </a:txBody>
                  <a:tcPr/>
                </a:tc>
                <a:tc>
                  <a:txBody>
                    <a:bodyPr/>
                    <a:lstStyle/>
                    <a:p>
                      <a:pPr algn="ctr"/>
                      <a:r>
                        <a:rPr lang="en-US" sz="2400" b="0" dirty="0"/>
                        <a:t>51</a:t>
                      </a:r>
                    </a:p>
                  </a:txBody>
                  <a:tcPr/>
                </a:tc>
                <a:tc>
                  <a:txBody>
                    <a:bodyPr/>
                    <a:lstStyle/>
                    <a:p>
                      <a:pPr algn="ctr"/>
                      <a:r>
                        <a:rPr lang="en-US" sz="2400" b="0" dirty="0"/>
                        <a:t>84.8</a:t>
                      </a:r>
                    </a:p>
                  </a:txBody>
                  <a:tcPr/>
                </a:tc>
                <a:tc>
                  <a:txBody>
                    <a:bodyPr/>
                    <a:lstStyle/>
                    <a:p>
                      <a:pPr algn="ctr" fontAlgn="b"/>
                      <a:r>
                        <a:rPr lang="en-NL" sz="2400" b="0" kern="1200" dirty="0">
                          <a:solidFill>
                            <a:schemeClr val="tx1"/>
                          </a:solidFill>
                          <a:latin typeface="+mn-lt"/>
                          <a:ea typeface="+mn-ea"/>
                          <a:cs typeface="+mn-cs"/>
                        </a:rPr>
                        <a:t>60</a:t>
                      </a:r>
                    </a:p>
                  </a:txBody>
                  <a:tcPr marL="9525" marR="9525" marT="9525" marB="0" anchor="b"/>
                </a:tc>
                <a:extLst>
                  <a:ext uri="{0D108BD9-81ED-4DB2-BD59-A6C34878D82A}">
                    <a16:rowId xmlns:a16="http://schemas.microsoft.com/office/drawing/2014/main" val="2046672112"/>
                  </a:ext>
                </a:extLst>
              </a:tr>
              <a:tr h="373503">
                <a:tc vMerge="1">
                  <a:txBody>
                    <a:bodyPr/>
                    <a:lstStyle/>
                    <a:p>
                      <a:pPr algn="ctr"/>
                      <a:endParaRPr lang="en-US" b="1" dirty="0"/>
                    </a:p>
                  </a:txBody>
                  <a:tcPr/>
                </a:tc>
                <a:tc>
                  <a:txBody>
                    <a:bodyPr/>
                    <a:lstStyle/>
                    <a:p>
                      <a:pPr marL="0" algn="ctr" defTabSz="914400" rtl="0" eaLnBrk="1" fontAlgn="b" latinLnBrk="0" hangingPunct="1"/>
                      <a:r>
                        <a:rPr lang="en-NL" sz="2400" kern="1200" dirty="0">
                          <a:solidFill>
                            <a:schemeClr val="tx1"/>
                          </a:solidFill>
                        </a:rPr>
                        <a:t>2</a:t>
                      </a:r>
                      <a:endParaRPr lang="en-NL" sz="2400" kern="1200" dirty="0">
                        <a:solidFill>
                          <a:schemeClr val="tx1"/>
                        </a:solidFill>
                        <a:latin typeface="+mn-lt"/>
                        <a:ea typeface="+mn-ea"/>
                        <a:cs typeface="+mn-cs"/>
                      </a:endParaRP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69</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117.5</a:t>
                      </a:r>
                    </a:p>
                  </a:txBody>
                  <a:tcPr marL="9525" marR="9525" marT="9525" marB="0" anchor="b"/>
                </a:tc>
                <a:tc>
                  <a:txBody>
                    <a:bodyPr/>
                    <a:lstStyle/>
                    <a:p>
                      <a:pPr algn="ctr" fontAlgn="b"/>
                      <a:r>
                        <a:rPr lang="en-NL" sz="2400" b="0" kern="1200" dirty="0">
                          <a:solidFill>
                            <a:schemeClr val="tx1"/>
                          </a:solidFill>
                          <a:latin typeface="+mn-lt"/>
                          <a:ea typeface="+mn-ea"/>
                          <a:cs typeface="+mn-cs"/>
                        </a:rPr>
                        <a:t>59</a:t>
                      </a:r>
                    </a:p>
                  </a:txBody>
                  <a:tcPr marL="9525" marR="9525" marT="9525" marB="0" anchor="b"/>
                </a:tc>
                <a:extLst>
                  <a:ext uri="{0D108BD9-81ED-4DB2-BD59-A6C34878D82A}">
                    <a16:rowId xmlns:a16="http://schemas.microsoft.com/office/drawing/2014/main" val="3536627746"/>
                  </a:ext>
                </a:extLst>
              </a:tr>
              <a:tr h="373503">
                <a:tc vMerge="1">
                  <a:txBody>
                    <a:bodyPr/>
                    <a:lstStyle/>
                    <a:p>
                      <a:pPr algn="ctr"/>
                      <a:endParaRPr lang="en-US" b="1" dirty="0"/>
                    </a:p>
                  </a:txBody>
                  <a:tcPr/>
                </a:tc>
                <a:tc>
                  <a:txBody>
                    <a:bodyPr/>
                    <a:lstStyle/>
                    <a:p>
                      <a:pPr marL="0" algn="ctr" defTabSz="914400" rtl="0" eaLnBrk="1" fontAlgn="b" latinLnBrk="0" hangingPunct="1"/>
                      <a:r>
                        <a:rPr lang="en-NL" sz="2400" kern="1200" dirty="0">
                          <a:solidFill>
                            <a:schemeClr val="tx1"/>
                          </a:solidFill>
                        </a:rPr>
                        <a:t>3</a:t>
                      </a:r>
                      <a:endParaRPr lang="en-NL" sz="2400" kern="1200" dirty="0">
                        <a:solidFill>
                          <a:schemeClr val="tx1"/>
                        </a:solidFill>
                        <a:latin typeface="+mn-lt"/>
                        <a:ea typeface="+mn-ea"/>
                        <a:cs typeface="+mn-cs"/>
                      </a:endParaRP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75</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123.3</a:t>
                      </a:r>
                    </a:p>
                  </a:txBody>
                  <a:tcPr marL="9525" marR="9525" marT="9525" marB="0" anchor="b"/>
                </a:tc>
                <a:tc>
                  <a:txBody>
                    <a:bodyPr/>
                    <a:lstStyle/>
                    <a:p>
                      <a:pPr algn="ctr" fontAlgn="b"/>
                      <a:r>
                        <a:rPr lang="en-NL" sz="2400" b="0" kern="1200" dirty="0">
                          <a:solidFill>
                            <a:schemeClr val="tx1"/>
                          </a:solidFill>
                          <a:latin typeface="+mn-lt"/>
                          <a:ea typeface="+mn-ea"/>
                          <a:cs typeface="+mn-cs"/>
                        </a:rPr>
                        <a:t>61</a:t>
                      </a:r>
                    </a:p>
                  </a:txBody>
                  <a:tcPr marL="9525" marR="9525" marT="9525" marB="0" anchor="b"/>
                </a:tc>
                <a:extLst>
                  <a:ext uri="{0D108BD9-81ED-4DB2-BD59-A6C34878D82A}">
                    <a16:rowId xmlns:a16="http://schemas.microsoft.com/office/drawing/2014/main" val="2003989947"/>
                  </a:ext>
                </a:extLst>
              </a:tr>
              <a:tr h="373503">
                <a:tc vMerge="1">
                  <a:txBody>
                    <a:bodyPr/>
                    <a:lstStyle/>
                    <a:p>
                      <a:pPr algn="ctr"/>
                      <a:endParaRPr lang="en-US" b="1" dirty="0"/>
                    </a:p>
                  </a:txBody>
                  <a:tcPr/>
                </a:tc>
                <a:tc>
                  <a:txBody>
                    <a:bodyPr/>
                    <a:lstStyle/>
                    <a:p>
                      <a:pPr marL="0" algn="ctr" defTabSz="914400" rtl="0" eaLnBrk="1" fontAlgn="b" latinLnBrk="0" hangingPunct="1"/>
                      <a:r>
                        <a:rPr lang="en-NL" sz="2400" kern="1200" dirty="0">
                          <a:solidFill>
                            <a:schemeClr val="tx1"/>
                          </a:solidFill>
                        </a:rPr>
                        <a:t>4</a:t>
                      </a:r>
                      <a:endParaRPr lang="en-NL" sz="2400" kern="1200" dirty="0">
                        <a:solidFill>
                          <a:schemeClr val="tx1"/>
                        </a:solidFill>
                        <a:latin typeface="+mn-lt"/>
                        <a:ea typeface="+mn-ea"/>
                        <a:cs typeface="+mn-cs"/>
                      </a:endParaRP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39</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74.5</a:t>
                      </a:r>
                    </a:p>
                  </a:txBody>
                  <a:tcPr marL="9525" marR="9525" marT="9525" marB="0" anchor="b"/>
                </a:tc>
                <a:tc>
                  <a:txBody>
                    <a:bodyPr/>
                    <a:lstStyle/>
                    <a:p>
                      <a:pPr algn="ctr" fontAlgn="b"/>
                      <a:r>
                        <a:rPr lang="en-NL" sz="2400" b="0" kern="1200" dirty="0">
                          <a:solidFill>
                            <a:schemeClr val="tx1"/>
                          </a:solidFill>
                          <a:latin typeface="+mn-lt"/>
                          <a:ea typeface="+mn-ea"/>
                          <a:cs typeface="+mn-cs"/>
                        </a:rPr>
                        <a:t>52</a:t>
                      </a:r>
                    </a:p>
                  </a:txBody>
                  <a:tcPr marL="9525" marR="9525" marT="9525" marB="0" anchor="b"/>
                </a:tc>
                <a:extLst>
                  <a:ext uri="{0D108BD9-81ED-4DB2-BD59-A6C34878D82A}">
                    <a16:rowId xmlns:a16="http://schemas.microsoft.com/office/drawing/2014/main" val="3719070889"/>
                  </a:ext>
                </a:extLst>
              </a:tr>
              <a:tr h="373503">
                <a:tc rowSpan="4">
                  <a:txBody>
                    <a:bodyPr/>
                    <a:lstStyle/>
                    <a:p>
                      <a:pPr algn="ctr"/>
                      <a:r>
                        <a:rPr lang="en-US" sz="2400" b="1" dirty="0"/>
                        <a:t>1997</a:t>
                      </a:r>
                    </a:p>
                  </a:txBody>
                  <a:tcPr/>
                </a:tc>
                <a:tc>
                  <a:txBody>
                    <a:bodyPr/>
                    <a:lstStyle/>
                    <a:p>
                      <a:pPr marL="0" algn="ctr" defTabSz="914400" rtl="0" eaLnBrk="1" fontAlgn="b" latinLnBrk="0" hangingPunct="1"/>
                      <a:r>
                        <a:rPr lang="en-NL" sz="2400" kern="1200" dirty="0">
                          <a:solidFill>
                            <a:schemeClr val="tx1"/>
                          </a:solidFill>
                        </a:rPr>
                        <a:t>1</a:t>
                      </a:r>
                      <a:endParaRPr lang="en-NL" sz="2400" kern="1200" dirty="0">
                        <a:solidFill>
                          <a:schemeClr val="tx1"/>
                        </a:solidFill>
                        <a:latin typeface="+mn-lt"/>
                        <a:ea typeface="+mn-ea"/>
                        <a:cs typeface="+mn-cs"/>
                      </a:endParaRP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55</a:t>
                      </a:r>
                    </a:p>
                  </a:txBody>
                  <a:tcPr marL="9525" marR="9525" marT="9525" marB="0" anchor="b"/>
                </a:tc>
                <a:tc>
                  <a:txBody>
                    <a:bodyPr/>
                    <a:lstStyle/>
                    <a:p>
                      <a:pPr algn="ctr"/>
                      <a:r>
                        <a:rPr lang="en-US" sz="2400" b="0" dirty="0"/>
                        <a:t>84.8</a:t>
                      </a:r>
                    </a:p>
                  </a:txBody>
                  <a:tcPr/>
                </a:tc>
                <a:tc>
                  <a:txBody>
                    <a:bodyPr/>
                    <a:lstStyle/>
                    <a:p>
                      <a:pPr algn="ctr" fontAlgn="b"/>
                      <a:r>
                        <a:rPr lang="en-NL" sz="2400" b="0" kern="1200" dirty="0">
                          <a:solidFill>
                            <a:schemeClr val="tx1"/>
                          </a:solidFill>
                          <a:latin typeface="+mn-lt"/>
                          <a:ea typeface="+mn-ea"/>
                          <a:cs typeface="+mn-cs"/>
                        </a:rPr>
                        <a:t>65</a:t>
                      </a:r>
                    </a:p>
                  </a:txBody>
                  <a:tcPr marL="9525" marR="9525" marT="9525" marB="0" anchor="b"/>
                </a:tc>
                <a:extLst>
                  <a:ext uri="{0D108BD9-81ED-4DB2-BD59-A6C34878D82A}">
                    <a16:rowId xmlns:a16="http://schemas.microsoft.com/office/drawing/2014/main" val="1460490593"/>
                  </a:ext>
                </a:extLst>
              </a:tr>
              <a:tr h="373503">
                <a:tc vMerge="1">
                  <a:txBody>
                    <a:bodyPr/>
                    <a:lstStyle/>
                    <a:p>
                      <a:pPr algn="ctr"/>
                      <a:endParaRPr lang="en-US" b="1" dirty="0"/>
                    </a:p>
                  </a:txBody>
                  <a:tcPr/>
                </a:tc>
                <a:tc>
                  <a:txBody>
                    <a:bodyPr/>
                    <a:lstStyle/>
                    <a:p>
                      <a:pPr marL="0" algn="ctr" defTabSz="914400" rtl="0" eaLnBrk="1" fontAlgn="b" latinLnBrk="0" hangingPunct="1"/>
                      <a:r>
                        <a:rPr lang="en-NL" sz="2400" kern="1200" dirty="0">
                          <a:solidFill>
                            <a:schemeClr val="tx1"/>
                          </a:solidFill>
                          <a:latin typeface="+mn-lt"/>
                          <a:ea typeface="+mn-ea"/>
                          <a:cs typeface="+mn-cs"/>
                        </a:rPr>
                        <a:t>2</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73</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117.4</a:t>
                      </a:r>
                    </a:p>
                  </a:txBody>
                  <a:tcPr marL="9525" marR="9525" marT="9525" marB="0" anchor="b"/>
                </a:tc>
                <a:tc>
                  <a:txBody>
                    <a:bodyPr/>
                    <a:lstStyle/>
                    <a:p>
                      <a:pPr algn="ctr" fontAlgn="b"/>
                      <a:r>
                        <a:rPr lang="en-NL" sz="2400" b="0" kern="1200" dirty="0">
                          <a:solidFill>
                            <a:schemeClr val="tx1"/>
                          </a:solidFill>
                          <a:latin typeface="+mn-lt"/>
                          <a:ea typeface="+mn-ea"/>
                          <a:cs typeface="+mn-cs"/>
                        </a:rPr>
                        <a:t>62</a:t>
                      </a:r>
                    </a:p>
                  </a:txBody>
                  <a:tcPr marL="9525" marR="9525" marT="9525" marB="0" anchor="b"/>
                </a:tc>
                <a:extLst>
                  <a:ext uri="{0D108BD9-81ED-4DB2-BD59-A6C34878D82A}">
                    <a16:rowId xmlns:a16="http://schemas.microsoft.com/office/drawing/2014/main" val="2509813521"/>
                  </a:ext>
                </a:extLst>
              </a:tr>
              <a:tr h="373503">
                <a:tc vMerge="1">
                  <a:txBody>
                    <a:bodyPr/>
                    <a:lstStyle/>
                    <a:p>
                      <a:pPr algn="ctr"/>
                      <a:endParaRPr lang="en-US" b="1" dirty="0"/>
                    </a:p>
                  </a:txBody>
                  <a:tcPr/>
                </a:tc>
                <a:tc>
                  <a:txBody>
                    <a:bodyPr/>
                    <a:lstStyle/>
                    <a:p>
                      <a:pPr marL="0" algn="ctr" defTabSz="914400" rtl="0" eaLnBrk="1" fontAlgn="b" latinLnBrk="0" hangingPunct="1"/>
                      <a:r>
                        <a:rPr lang="en-NL" sz="2400" kern="1200" dirty="0">
                          <a:solidFill>
                            <a:schemeClr val="tx1"/>
                          </a:solidFill>
                          <a:latin typeface="+mn-lt"/>
                          <a:ea typeface="+mn-ea"/>
                          <a:cs typeface="+mn-cs"/>
                        </a:rPr>
                        <a:t>3</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79</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123.3</a:t>
                      </a:r>
                    </a:p>
                  </a:txBody>
                  <a:tcPr marL="9525" marR="9525" marT="9525" marB="0" anchor="b"/>
                </a:tc>
                <a:tc>
                  <a:txBody>
                    <a:bodyPr/>
                    <a:lstStyle/>
                    <a:p>
                      <a:pPr algn="ctr" fontAlgn="b"/>
                      <a:r>
                        <a:rPr lang="en-NL" sz="2400" b="0" kern="1200" dirty="0">
                          <a:solidFill>
                            <a:schemeClr val="tx1"/>
                          </a:solidFill>
                          <a:latin typeface="+mn-lt"/>
                          <a:ea typeface="+mn-ea"/>
                          <a:cs typeface="+mn-cs"/>
                        </a:rPr>
                        <a:t>64</a:t>
                      </a:r>
                    </a:p>
                  </a:txBody>
                  <a:tcPr marL="9525" marR="9525" marT="9525" marB="0" anchor="b"/>
                </a:tc>
                <a:extLst>
                  <a:ext uri="{0D108BD9-81ED-4DB2-BD59-A6C34878D82A}">
                    <a16:rowId xmlns:a16="http://schemas.microsoft.com/office/drawing/2014/main" val="202037547"/>
                  </a:ext>
                </a:extLst>
              </a:tr>
              <a:tr h="373503">
                <a:tc vMerge="1">
                  <a:txBody>
                    <a:bodyPr/>
                    <a:lstStyle/>
                    <a:p>
                      <a:pPr algn="ctr"/>
                      <a:endParaRPr lang="en-US" b="1" dirty="0"/>
                    </a:p>
                  </a:txBody>
                  <a:tcPr>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NL" sz="2400" kern="1200" dirty="0">
                          <a:solidFill>
                            <a:schemeClr val="tx1"/>
                          </a:solidFill>
                        </a:rPr>
                        <a:t>4</a:t>
                      </a:r>
                      <a:endParaRPr lang="en-NL" sz="2400" kern="1200" dirty="0">
                        <a:solidFill>
                          <a:schemeClr val="tx1"/>
                        </a:solidFill>
                        <a:latin typeface="+mn-lt"/>
                        <a:ea typeface="+mn-ea"/>
                        <a:cs typeface="+mn-cs"/>
                      </a:endParaRP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48</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74.5</a:t>
                      </a:r>
                    </a:p>
                  </a:txBody>
                  <a:tcPr marL="9525" marR="9525" marT="9525" marB="0" anchor="b"/>
                </a:tc>
                <a:tc>
                  <a:txBody>
                    <a:bodyPr/>
                    <a:lstStyle/>
                    <a:p>
                      <a:pPr algn="ctr" fontAlgn="b"/>
                      <a:r>
                        <a:rPr lang="en-NL" sz="2400" b="0" kern="1200" dirty="0">
                          <a:solidFill>
                            <a:schemeClr val="tx1"/>
                          </a:solidFill>
                          <a:latin typeface="+mn-lt"/>
                          <a:ea typeface="+mn-ea"/>
                          <a:cs typeface="+mn-cs"/>
                        </a:rPr>
                        <a:t>64</a:t>
                      </a:r>
                    </a:p>
                  </a:txBody>
                  <a:tcPr marL="9525" marR="9525" marT="9525" marB="0" anchor="b"/>
                </a:tc>
                <a:extLst>
                  <a:ext uri="{0D108BD9-81ED-4DB2-BD59-A6C34878D82A}">
                    <a16:rowId xmlns:a16="http://schemas.microsoft.com/office/drawing/2014/main" val="2137431013"/>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3C2B4C0-FB95-1750-D4C9-24F3CAED9EEA}"/>
                  </a:ext>
                </a:extLst>
              </p:cNvPr>
              <p:cNvSpPr txBox="1"/>
              <p:nvPr/>
            </p:nvSpPr>
            <p:spPr>
              <a:xfrm>
                <a:off x="2753387" y="5979474"/>
                <a:ext cx="6064042"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𝑆𝑒𝑎𝑠𝑜𝑛𝑎𝑙𝑙𝑦</m:t>
                      </m:r>
                      <m:r>
                        <a:rPr lang="en-US" i="1" dirty="0">
                          <a:latin typeface="Cambria Math" panose="02040503050406030204" pitchFamily="18" charset="0"/>
                        </a:rPr>
                        <m:t> </m:t>
                      </m:r>
                      <m:r>
                        <a:rPr lang="en-US" i="1" dirty="0" smtClean="0">
                          <a:latin typeface="Cambria Math" panose="02040503050406030204" pitchFamily="18" charset="0"/>
                        </a:rPr>
                        <m:t>𝐴𝑑𝑗𝑢𝑠𝑡𝑒𝑑</m:t>
                      </m:r>
                      <m:r>
                        <a:rPr lang="en-US" i="1" dirty="0">
                          <a:latin typeface="Cambria Math" panose="02040503050406030204" pitchFamily="18" charset="0"/>
                        </a:rPr>
                        <m:t> </m:t>
                      </m:r>
                      <m:r>
                        <a:rPr lang="en-US" i="1" dirty="0" smtClean="0">
                          <a:latin typeface="Cambria Math" panose="02040503050406030204" pitchFamily="18" charset="0"/>
                        </a:rPr>
                        <m:t>𝑑𝑎𝑡𝑎</m:t>
                      </m:r>
                      <m:r>
                        <a:rPr lang="en-US" i="1" dirty="0">
                          <a:latin typeface="Cambria Math" panose="02040503050406030204" pitchFamily="18" charset="0"/>
                        </a:rPr>
                        <m:t> </m:t>
                      </m:r>
                      <m:r>
                        <a:rPr lang="en-US" i="1" dirty="0" smtClean="0">
                          <a:latin typeface="Cambria Math" panose="02040503050406030204" pitchFamily="18" charset="0"/>
                        </a:rPr>
                        <m:t>=</m:t>
                      </m:r>
                      <m:r>
                        <a:rPr lang="en-US" i="1" dirty="0">
                          <a:latin typeface="Cambria Math" panose="02040503050406030204" pitchFamily="18" charset="0"/>
                        </a:rPr>
                        <m:t> </m:t>
                      </m:r>
                      <m:f>
                        <m:fPr>
                          <m:ctrlPr>
                            <a:rPr lang="en-US" i="1" dirty="0" smtClean="0">
                              <a:latin typeface="Cambria Math" panose="02040503050406030204" pitchFamily="18" charset="0"/>
                            </a:rPr>
                          </m:ctrlPr>
                        </m:fPr>
                        <m:num>
                          <m:r>
                            <a:rPr lang="en-US" b="0" i="1" dirty="0" smtClean="0">
                              <a:latin typeface="Cambria Math" panose="02040503050406030204" pitchFamily="18" charset="0"/>
                            </a:rPr>
                            <m:t>𝐴𝑐𝑡𝑢𝑎𝑙</m:t>
                          </m:r>
                          <m:r>
                            <a:rPr lang="en-US" b="0" i="1" dirty="0" smtClean="0">
                              <a:latin typeface="Cambria Math" panose="02040503050406030204" pitchFamily="18" charset="0"/>
                            </a:rPr>
                            <m:t> </m:t>
                          </m:r>
                          <m:r>
                            <a:rPr lang="en-US" b="0" i="1" dirty="0" smtClean="0">
                              <a:latin typeface="Cambria Math" panose="02040503050406030204" pitchFamily="18" charset="0"/>
                            </a:rPr>
                            <m:t>𝑉𝑎𝑙𝑢𝑒𝑠</m:t>
                          </m:r>
                        </m:num>
                        <m:den>
                          <m:r>
                            <a:rPr lang="en-US" b="0" i="1" dirty="0" smtClean="0">
                              <a:latin typeface="Cambria Math" panose="02040503050406030204" pitchFamily="18" charset="0"/>
                            </a:rPr>
                            <m:t>𝑆𝑒𝑎𝑠𝑜𝑛𝑎𝑙</m:t>
                          </m:r>
                          <m:r>
                            <a:rPr lang="en-US" b="0" i="1" dirty="0" smtClean="0">
                              <a:latin typeface="Cambria Math" panose="02040503050406030204" pitchFamily="18" charset="0"/>
                            </a:rPr>
                            <m:t> </m:t>
                          </m:r>
                          <m:r>
                            <a:rPr lang="en-US" b="0" i="1" dirty="0" smtClean="0">
                              <a:latin typeface="Cambria Math" panose="02040503050406030204" pitchFamily="18" charset="0"/>
                            </a:rPr>
                            <m:t>𝐼𝑛𝑑𝑒𝑥</m:t>
                          </m:r>
                        </m:den>
                      </m:f>
                      <m:r>
                        <a:rPr lang="en-US" b="0" i="1" dirty="0" smtClean="0">
                          <a:latin typeface="Cambria Math" panose="02040503050406030204" pitchFamily="18" charset="0"/>
                        </a:rPr>
                        <m:t> ×100</m:t>
                      </m:r>
                    </m:oMath>
                  </m:oMathPara>
                </a14:m>
                <a:endParaRPr lang="en-US" dirty="0"/>
              </a:p>
            </p:txBody>
          </p:sp>
        </mc:Choice>
        <mc:Fallback xmlns="">
          <p:sp>
            <p:nvSpPr>
              <p:cNvPr id="5" name="TextBox 4">
                <a:extLst>
                  <a:ext uri="{FF2B5EF4-FFF2-40B4-BE49-F238E27FC236}">
                    <a16:creationId xmlns:a16="http://schemas.microsoft.com/office/drawing/2014/main" id="{63C2B4C0-FB95-1750-D4C9-24F3CAED9EEA}"/>
                  </a:ext>
                </a:extLst>
              </p:cNvPr>
              <p:cNvSpPr txBox="1">
                <a:spLocks noRot="1" noChangeAspect="1" noMove="1" noResize="1" noEditPoints="1" noAdjustHandles="1" noChangeArrowheads="1" noChangeShapeType="1" noTextEdit="1"/>
              </p:cNvSpPr>
              <p:nvPr/>
            </p:nvSpPr>
            <p:spPr>
              <a:xfrm>
                <a:off x="2753387" y="5979474"/>
                <a:ext cx="6064042" cy="634789"/>
              </a:xfrm>
              <a:prstGeom prst="rect">
                <a:avLst/>
              </a:prstGeom>
              <a:blipFill>
                <a:blip r:embed="rId2"/>
                <a:stretch>
                  <a:fillRect b="-15686"/>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CC0895EA-FF77-D5D2-D5BC-5453A03A5293}"/>
              </a:ext>
            </a:extLst>
          </p:cNvPr>
          <p:cNvSpPr>
            <a:spLocks noGrp="1"/>
          </p:cNvSpPr>
          <p:nvPr>
            <p:ph type="sldNum" sz="quarter" idx="12"/>
          </p:nvPr>
        </p:nvSpPr>
        <p:spPr/>
        <p:txBody>
          <a:bodyPr/>
          <a:lstStyle/>
          <a:p>
            <a:fld id="{F8D8F54C-053C-4394-9990-70DE256B1A6D}" type="slidenum">
              <a:rPr lang="nl-NL" smtClean="0"/>
              <a:t>50</a:t>
            </a:fld>
            <a:endParaRPr lang="nl-NL"/>
          </a:p>
        </p:txBody>
      </p:sp>
    </p:spTree>
    <p:extLst>
      <p:ext uri="{BB962C8B-B14F-4D97-AF65-F5344CB8AC3E}">
        <p14:creationId xmlns:p14="http://schemas.microsoft.com/office/powerpoint/2010/main" val="36672901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Compute the Seasonal Index – Example </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896600" cy="4948280"/>
          </a:xfrm>
        </p:spPr>
        <p:txBody>
          <a:bodyPr>
            <a:normAutofit/>
          </a:bodyPr>
          <a:lstStyle/>
          <a:p>
            <a:pPr>
              <a:lnSpc>
                <a:spcPct val="120000"/>
              </a:lnSpc>
            </a:pPr>
            <a:r>
              <a:rPr lang="en-AU" altLang="en-US" dirty="0"/>
              <a:t>Alternate approach to calculate Seasonal Index number for each quarter</a:t>
            </a:r>
          </a:p>
          <a:p>
            <a:pPr lvl="1">
              <a:lnSpc>
                <a:spcPct val="120000"/>
              </a:lnSpc>
            </a:pPr>
            <a:r>
              <a:rPr lang="en-AU" altLang="en-US" dirty="0"/>
              <a:t>Take the quarterly mean over the years</a:t>
            </a:r>
          </a:p>
          <a:p>
            <a:pPr lvl="1">
              <a:lnSpc>
                <a:spcPct val="120000"/>
              </a:lnSpc>
            </a:pPr>
            <a:r>
              <a:rPr lang="en-AU" altLang="en-US" dirty="0"/>
              <a:t>Divide each mean value by the mean of means multiplied by 100 </a:t>
            </a:r>
          </a:p>
        </p:txBody>
      </p:sp>
      <p:graphicFrame>
        <p:nvGraphicFramePr>
          <p:cNvPr id="4" name="Table 4">
            <a:extLst>
              <a:ext uri="{FF2B5EF4-FFF2-40B4-BE49-F238E27FC236}">
                <a16:creationId xmlns:a16="http://schemas.microsoft.com/office/drawing/2014/main" id="{DBA4099D-11FC-4546-9942-141256D4F170}"/>
              </a:ext>
            </a:extLst>
          </p:cNvPr>
          <p:cNvGraphicFramePr>
            <a:graphicFrameLocks noGrp="1"/>
          </p:cNvGraphicFramePr>
          <p:nvPr>
            <p:extLst>
              <p:ext uri="{D42A27DB-BD31-4B8C-83A1-F6EECF244321}">
                <p14:modId xmlns:p14="http://schemas.microsoft.com/office/powerpoint/2010/main" val="2904974093"/>
              </p:ext>
            </p:extLst>
          </p:nvPr>
        </p:nvGraphicFramePr>
        <p:xfrm>
          <a:off x="1507330" y="3004457"/>
          <a:ext cx="9177340" cy="3011822"/>
        </p:xfrm>
        <a:graphic>
          <a:graphicData uri="http://schemas.openxmlformats.org/drawingml/2006/table">
            <a:tbl>
              <a:tblPr firstRow="1" bandRow="1">
                <a:tableStyleId>{5940675A-B579-460E-94D1-54222C63F5DA}</a:tableStyleId>
              </a:tblPr>
              <a:tblGrid>
                <a:gridCol w="2671443">
                  <a:extLst>
                    <a:ext uri="{9D8B030D-6E8A-4147-A177-3AD203B41FA5}">
                      <a16:colId xmlns:a16="http://schemas.microsoft.com/office/drawing/2014/main" val="731224760"/>
                    </a:ext>
                  </a:extLst>
                </a:gridCol>
                <a:gridCol w="3156341">
                  <a:extLst>
                    <a:ext uri="{9D8B030D-6E8A-4147-A177-3AD203B41FA5}">
                      <a16:colId xmlns:a16="http://schemas.microsoft.com/office/drawing/2014/main" val="1765590961"/>
                    </a:ext>
                  </a:extLst>
                </a:gridCol>
                <a:gridCol w="3349556">
                  <a:extLst>
                    <a:ext uri="{9D8B030D-6E8A-4147-A177-3AD203B41FA5}">
                      <a16:colId xmlns:a16="http://schemas.microsoft.com/office/drawing/2014/main" val="933404632"/>
                    </a:ext>
                  </a:extLst>
                </a:gridCol>
              </a:tblGrid>
              <a:tr h="678197">
                <a:tc>
                  <a:txBody>
                    <a:bodyPr/>
                    <a:lstStyle/>
                    <a:p>
                      <a:pPr algn="ctr"/>
                      <a:r>
                        <a:rPr lang="en-US" sz="2400" b="1" dirty="0"/>
                        <a:t>Quarter</a:t>
                      </a:r>
                    </a:p>
                  </a:txBody>
                  <a:tcPr/>
                </a:tc>
                <a:tc>
                  <a:txBody>
                    <a:bodyPr/>
                    <a:lstStyle/>
                    <a:p>
                      <a:pPr algn="ctr"/>
                      <a:r>
                        <a:rPr lang="en-US" sz="2400" dirty="0"/>
                        <a:t>Quarterly mean</a:t>
                      </a:r>
                    </a:p>
                  </a:txBody>
                  <a:tcPr/>
                </a:tc>
                <a:tc>
                  <a:txBody>
                    <a:bodyPr/>
                    <a:lstStyle/>
                    <a:p>
                      <a:pPr algn="ctr"/>
                      <a:r>
                        <a:rPr lang="en-US" sz="2400" dirty="0"/>
                        <a:t>Seasonal Index</a:t>
                      </a:r>
                    </a:p>
                  </a:txBody>
                  <a:tcPr/>
                </a:tc>
                <a:extLst>
                  <a:ext uri="{0D108BD9-81ED-4DB2-BD59-A6C34878D82A}">
                    <a16:rowId xmlns:a16="http://schemas.microsoft.com/office/drawing/2014/main" val="3529852700"/>
                  </a:ext>
                </a:extLst>
              </a:tr>
              <a:tr h="387541">
                <a:tc>
                  <a:txBody>
                    <a:bodyPr/>
                    <a:lstStyle/>
                    <a:p>
                      <a:pPr algn="ctr"/>
                      <a:r>
                        <a:rPr lang="en-US" sz="2400" b="0" dirty="0"/>
                        <a:t>1</a:t>
                      </a:r>
                    </a:p>
                  </a:txBody>
                  <a:tcPr/>
                </a:tc>
                <a:tc>
                  <a:txBody>
                    <a:bodyPr/>
                    <a:lstStyle/>
                    <a:p>
                      <a:pPr algn="ctr"/>
                      <a:r>
                        <a:rPr lang="en-US" sz="2400" b="0" dirty="0"/>
                        <a:t>48.75</a:t>
                      </a:r>
                    </a:p>
                  </a:txBody>
                  <a:tcPr/>
                </a:tc>
                <a:tc>
                  <a:txBody>
                    <a:bodyPr/>
                    <a:lstStyle/>
                    <a:p>
                      <a:pPr algn="ctr"/>
                      <a:r>
                        <a:rPr lang="en-US" sz="2400" b="0" dirty="0"/>
                        <a:t>48.75/57.5*100 = 84.78</a:t>
                      </a:r>
                    </a:p>
                  </a:txBody>
                  <a:tcPr/>
                </a:tc>
                <a:extLst>
                  <a:ext uri="{0D108BD9-81ED-4DB2-BD59-A6C34878D82A}">
                    <a16:rowId xmlns:a16="http://schemas.microsoft.com/office/drawing/2014/main" val="2046672112"/>
                  </a:ext>
                </a:extLst>
              </a:tr>
              <a:tr h="373503">
                <a:tc>
                  <a:txBody>
                    <a:bodyPr/>
                    <a:lstStyle/>
                    <a:p>
                      <a:pPr marL="0" algn="ctr" defTabSz="914400" rtl="0" eaLnBrk="1" fontAlgn="b" latinLnBrk="0" hangingPunct="1"/>
                      <a:r>
                        <a:rPr lang="en-NL" sz="2400" kern="1200" dirty="0">
                          <a:solidFill>
                            <a:schemeClr val="tx1"/>
                          </a:solidFill>
                        </a:rPr>
                        <a:t>2</a:t>
                      </a:r>
                      <a:endParaRPr lang="en-NL" sz="2400" kern="1200" dirty="0">
                        <a:solidFill>
                          <a:schemeClr val="tx1"/>
                        </a:solidFill>
                        <a:latin typeface="+mn-lt"/>
                        <a:ea typeface="+mn-ea"/>
                        <a:cs typeface="+mn-cs"/>
                      </a:endParaRP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67.5</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67.5/57.5*100 = 117.39</a:t>
                      </a:r>
                    </a:p>
                  </a:txBody>
                  <a:tcPr marL="9525" marR="9525" marT="9525" marB="0" anchor="b"/>
                </a:tc>
                <a:extLst>
                  <a:ext uri="{0D108BD9-81ED-4DB2-BD59-A6C34878D82A}">
                    <a16:rowId xmlns:a16="http://schemas.microsoft.com/office/drawing/2014/main" val="3536627746"/>
                  </a:ext>
                </a:extLst>
              </a:tr>
              <a:tr h="373503">
                <a:tc>
                  <a:txBody>
                    <a:bodyPr/>
                    <a:lstStyle/>
                    <a:p>
                      <a:pPr marL="0" algn="ctr" defTabSz="914400" rtl="0" eaLnBrk="1" fontAlgn="b" latinLnBrk="0" hangingPunct="1"/>
                      <a:r>
                        <a:rPr lang="en-NL" sz="2400" kern="1200" dirty="0">
                          <a:solidFill>
                            <a:schemeClr val="tx1"/>
                          </a:solidFill>
                        </a:rPr>
                        <a:t>3</a:t>
                      </a:r>
                      <a:endParaRPr lang="en-NL" sz="2400" kern="1200" dirty="0">
                        <a:solidFill>
                          <a:schemeClr val="tx1"/>
                        </a:solidFill>
                        <a:latin typeface="+mn-lt"/>
                        <a:ea typeface="+mn-ea"/>
                        <a:cs typeface="+mn-cs"/>
                      </a:endParaRP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71</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71/57.5*100 = 123.478</a:t>
                      </a:r>
                    </a:p>
                  </a:txBody>
                  <a:tcPr marL="9525" marR="9525" marT="9525" marB="0" anchor="b"/>
                </a:tc>
                <a:extLst>
                  <a:ext uri="{0D108BD9-81ED-4DB2-BD59-A6C34878D82A}">
                    <a16:rowId xmlns:a16="http://schemas.microsoft.com/office/drawing/2014/main" val="2003989947"/>
                  </a:ext>
                </a:extLst>
              </a:tr>
              <a:tr h="373503">
                <a:tc>
                  <a:txBody>
                    <a:bodyPr/>
                    <a:lstStyle/>
                    <a:p>
                      <a:pPr marL="0" algn="ctr" defTabSz="914400" rtl="0" eaLnBrk="1" fontAlgn="b" latinLnBrk="0" hangingPunct="1"/>
                      <a:r>
                        <a:rPr lang="en-NL" sz="2400" kern="1200" dirty="0">
                          <a:solidFill>
                            <a:schemeClr val="tx1"/>
                          </a:solidFill>
                        </a:rPr>
                        <a:t>4</a:t>
                      </a:r>
                      <a:endParaRPr lang="en-NL" sz="2400" kern="1200" dirty="0">
                        <a:solidFill>
                          <a:schemeClr val="tx1"/>
                        </a:solidFill>
                        <a:latin typeface="+mn-lt"/>
                        <a:ea typeface="+mn-ea"/>
                        <a:cs typeface="+mn-cs"/>
                      </a:endParaRP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42.75</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42.75/57.5*100 = 74.348</a:t>
                      </a:r>
                    </a:p>
                  </a:txBody>
                  <a:tcPr marL="9525" marR="9525" marT="9525" marB="0" anchor="b"/>
                </a:tc>
                <a:extLst>
                  <a:ext uri="{0D108BD9-81ED-4DB2-BD59-A6C34878D82A}">
                    <a16:rowId xmlns:a16="http://schemas.microsoft.com/office/drawing/2014/main" val="3719070889"/>
                  </a:ext>
                </a:extLst>
              </a:tr>
              <a:tr h="373503">
                <a:tc>
                  <a:txBody>
                    <a:bodyPr/>
                    <a:lstStyle/>
                    <a:p>
                      <a:pPr marL="0" algn="ctr" defTabSz="914400" rtl="0" eaLnBrk="1" fontAlgn="b" latinLnBrk="0" hangingPunct="1"/>
                      <a:r>
                        <a:rPr lang="en-GB" sz="2400" b="1" kern="1200" dirty="0">
                          <a:solidFill>
                            <a:schemeClr val="tx1"/>
                          </a:solidFill>
                          <a:latin typeface="+mn-lt"/>
                          <a:ea typeface="+mn-ea"/>
                          <a:cs typeface="+mn-cs"/>
                        </a:rPr>
                        <a:t>Means T</a:t>
                      </a:r>
                      <a:r>
                        <a:rPr lang="en-NL" sz="2400" b="1" kern="1200" dirty="0">
                          <a:solidFill>
                            <a:schemeClr val="tx1"/>
                          </a:solidFill>
                          <a:latin typeface="+mn-lt"/>
                          <a:ea typeface="+mn-ea"/>
                          <a:cs typeface="+mn-cs"/>
                        </a:rPr>
                        <a:t>otal </a:t>
                      </a:r>
                    </a:p>
                  </a:txBody>
                  <a:tcPr marL="9525" marR="9525" marT="9525" marB="0" anchor="b"/>
                </a:tc>
                <a:tc>
                  <a:txBody>
                    <a:bodyPr/>
                    <a:lstStyle/>
                    <a:p>
                      <a:pPr marL="0" algn="ctr" defTabSz="914400" rtl="0" eaLnBrk="1" fontAlgn="b" latinLnBrk="0" hangingPunct="1"/>
                      <a:r>
                        <a:rPr lang="en-NL" sz="2400" b="1" kern="1200" dirty="0">
                          <a:solidFill>
                            <a:schemeClr val="tx1"/>
                          </a:solidFill>
                          <a:latin typeface="+mn-lt"/>
                          <a:ea typeface="+mn-ea"/>
                          <a:cs typeface="+mn-cs"/>
                        </a:rPr>
                        <a:t>230</a:t>
                      </a:r>
                    </a:p>
                  </a:txBody>
                  <a:tcPr marL="9525" marR="9525" marT="9525" marB="0" anchor="b"/>
                </a:tc>
                <a:tc>
                  <a:txBody>
                    <a:bodyPr/>
                    <a:lstStyle/>
                    <a:p>
                      <a:pPr marL="0" algn="ctr" defTabSz="914400" rtl="0" eaLnBrk="1" fontAlgn="b" latinLnBrk="0" hangingPunct="1"/>
                      <a:r>
                        <a:rPr lang="en-NL" sz="2400" b="1" kern="1200" dirty="0">
                          <a:solidFill>
                            <a:schemeClr val="tx1"/>
                          </a:solidFill>
                          <a:latin typeface="+mn-lt"/>
                          <a:ea typeface="+mn-ea"/>
                          <a:cs typeface="+mn-cs"/>
                        </a:rPr>
                        <a:t>400</a:t>
                      </a:r>
                    </a:p>
                  </a:txBody>
                  <a:tcPr marL="9525" marR="9525" marT="9525" marB="0" anchor="b"/>
                </a:tc>
                <a:extLst>
                  <a:ext uri="{0D108BD9-81ED-4DB2-BD59-A6C34878D82A}">
                    <a16:rowId xmlns:a16="http://schemas.microsoft.com/office/drawing/2014/main" val="1460490593"/>
                  </a:ext>
                </a:extLst>
              </a:tr>
              <a:tr h="373503">
                <a:tc>
                  <a:txBody>
                    <a:bodyPr/>
                    <a:lstStyle/>
                    <a:p>
                      <a:pPr marL="0" algn="ctr" defTabSz="914400" rtl="0" eaLnBrk="1" fontAlgn="b" latinLnBrk="0" hangingPunct="1"/>
                      <a:r>
                        <a:rPr lang="en-NL" sz="2400" b="1" kern="1200" dirty="0">
                          <a:solidFill>
                            <a:schemeClr val="tx1"/>
                          </a:solidFill>
                          <a:latin typeface="+mn-lt"/>
                          <a:ea typeface="+mn-ea"/>
                          <a:cs typeface="+mn-cs"/>
                        </a:rPr>
                        <a:t>Mean of Means</a:t>
                      </a:r>
                    </a:p>
                  </a:txBody>
                  <a:tcPr marL="9525" marR="9525" marT="9525" marB="0" anchor="b"/>
                </a:tc>
                <a:tc>
                  <a:txBody>
                    <a:bodyPr/>
                    <a:lstStyle/>
                    <a:p>
                      <a:pPr marL="0" algn="ctr" defTabSz="914400" rtl="0" eaLnBrk="1" fontAlgn="b" latinLnBrk="0" hangingPunct="1"/>
                      <a:r>
                        <a:rPr lang="en-NL" sz="2400" b="1" kern="1200" dirty="0">
                          <a:solidFill>
                            <a:schemeClr val="tx1"/>
                          </a:solidFill>
                          <a:latin typeface="+mn-lt"/>
                          <a:ea typeface="+mn-ea"/>
                          <a:cs typeface="+mn-cs"/>
                        </a:rPr>
                        <a:t>57.5</a:t>
                      </a:r>
                    </a:p>
                  </a:txBody>
                  <a:tcPr marL="9525" marR="9525" marT="9525" marB="0" anchor="b"/>
                </a:tc>
                <a:tc>
                  <a:txBody>
                    <a:bodyPr/>
                    <a:lstStyle/>
                    <a:p>
                      <a:pPr marL="0" algn="ctr" defTabSz="914400" rtl="0" eaLnBrk="1" fontAlgn="b" latinLnBrk="0" hangingPunct="1"/>
                      <a:r>
                        <a:rPr lang="en-NL" sz="2400" b="1" kern="1200" dirty="0">
                          <a:solidFill>
                            <a:schemeClr val="tx1"/>
                          </a:solidFill>
                          <a:latin typeface="+mn-lt"/>
                          <a:ea typeface="+mn-ea"/>
                          <a:cs typeface="+mn-cs"/>
                        </a:rPr>
                        <a:t>100</a:t>
                      </a:r>
                    </a:p>
                  </a:txBody>
                  <a:tcPr marL="9525" marR="9525" marT="9525" marB="0" anchor="b"/>
                </a:tc>
                <a:extLst>
                  <a:ext uri="{0D108BD9-81ED-4DB2-BD59-A6C34878D82A}">
                    <a16:rowId xmlns:a16="http://schemas.microsoft.com/office/drawing/2014/main" val="2509813521"/>
                  </a:ext>
                </a:extLst>
              </a:tr>
            </a:tbl>
          </a:graphicData>
        </a:graphic>
      </p:graphicFrame>
      <p:sp>
        <p:nvSpPr>
          <p:cNvPr id="5" name="Slide Number Placeholder 4">
            <a:extLst>
              <a:ext uri="{FF2B5EF4-FFF2-40B4-BE49-F238E27FC236}">
                <a16:creationId xmlns:a16="http://schemas.microsoft.com/office/drawing/2014/main" id="{D16054F2-1FBD-2441-F10F-9951C7A8E882}"/>
              </a:ext>
            </a:extLst>
          </p:cNvPr>
          <p:cNvSpPr>
            <a:spLocks noGrp="1"/>
          </p:cNvSpPr>
          <p:nvPr>
            <p:ph type="sldNum" sz="quarter" idx="12"/>
          </p:nvPr>
        </p:nvSpPr>
        <p:spPr/>
        <p:txBody>
          <a:bodyPr/>
          <a:lstStyle/>
          <a:p>
            <a:fld id="{F8D8F54C-053C-4394-9990-70DE256B1A6D}" type="slidenum">
              <a:rPr lang="nl-NL" smtClean="0"/>
              <a:t>51</a:t>
            </a:fld>
            <a:endParaRPr lang="nl-NL"/>
          </a:p>
        </p:txBody>
      </p:sp>
    </p:spTree>
    <p:extLst>
      <p:ext uri="{BB962C8B-B14F-4D97-AF65-F5344CB8AC3E}">
        <p14:creationId xmlns:p14="http://schemas.microsoft.com/office/powerpoint/2010/main" val="29647384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Compute the Seasonal Index – Example </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a:bodyPr>
          <a:lstStyle/>
          <a:p>
            <a:pPr>
              <a:lnSpc>
                <a:spcPct val="120000"/>
              </a:lnSpc>
            </a:pPr>
            <a:r>
              <a:rPr lang="en-AU" altLang="en-US" dirty="0"/>
              <a:t>Remove the seasonal effect from the data</a:t>
            </a:r>
          </a:p>
        </p:txBody>
      </p:sp>
      <p:graphicFrame>
        <p:nvGraphicFramePr>
          <p:cNvPr id="4" name="Table 4">
            <a:extLst>
              <a:ext uri="{FF2B5EF4-FFF2-40B4-BE49-F238E27FC236}">
                <a16:creationId xmlns:a16="http://schemas.microsoft.com/office/drawing/2014/main" id="{DBA4099D-11FC-4546-9942-141256D4F170}"/>
              </a:ext>
            </a:extLst>
          </p:cNvPr>
          <p:cNvGraphicFramePr>
            <a:graphicFrameLocks noGrp="1"/>
          </p:cNvGraphicFramePr>
          <p:nvPr>
            <p:extLst>
              <p:ext uri="{D42A27DB-BD31-4B8C-83A1-F6EECF244321}">
                <p14:modId xmlns:p14="http://schemas.microsoft.com/office/powerpoint/2010/main" val="4156435496"/>
              </p:ext>
            </p:extLst>
          </p:nvPr>
        </p:nvGraphicFramePr>
        <p:xfrm>
          <a:off x="838200" y="2010620"/>
          <a:ext cx="10362885" cy="3844307"/>
        </p:xfrm>
        <a:graphic>
          <a:graphicData uri="http://schemas.openxmlformats.org/drawingml/2006/table">
            <a:tbl>
              <a:tblPr firstRow="1" bandRow="1">
                <a:tableStyleId>{5940675A-B579-460E-94D1-54222C63F5DA}</a:tableStyleId>
              </a:tblPr>
              <a:tblGrid>
                <a:gridCol w="2131341">
                  <a:extLst>
                    <a:ext uri="{9D8B030D-6E8A-4147-A177-3AD203B41FA5}">
                      <a16:colId xmlns:a16="http://schemas.microsoft.com/office/drawing/2014/main" val="2034630473"/>
                    </a:ext>
                  </a:extLst>
                </a:gridCol>
                <a:gridCol w="1760465">
                  <a:extLst>
                    <a:ext uri="{9D8B030D-6E8A-4147-A177-3AD203B41FA5}">
                      <a16:colId xmlns:a16="http://schemas.microsoft.com/office/drawing/2014/main" val="731224760"/>
                    </a:ext>
                  </a:extLst>
                </a:gridCol>
                <a:gridCol w="2080010">
                  <a:extLst>
                    <a:ext uri="{9D8B030D-6E8A-4147-A177-3AD203B41FA5}">
                      <a16:colId xmlns:a16="http://schemas.microsoft.com/office/drawing/2014/main" val="1765590961"/>
                    </a:ext>
                  </a:extLst>
                </a:gridCol>
                <a:gridCol w="2207338">
                  <a:extLst>
                    <a:ext uri="{9D8B030D-6E8A-4147-A177-3AD203B41FA5}">
                      <a16:colId xmlns:a16="http://schemas.microsoft.com/office/drawing/2014/main" val="933404632"/>
                    </a:ext>
                  </a:extLst>
                </a:gridCol>
                <a:gridCol w="2183731">
                  <a:extLst>
                    <a:ext uri="{9D8B030D-6E8A-4147-A177-3AD203B41FA5}">
                      <a16:colId xmlns:a16="http://schemas.microsoft.com/office/drawing/2014/main" val="3433415523"/>
                    </a:ext>
                  </a:extLst>
                </a:gridCol>
              </a:tblGrid>
              <a:tr h="678197">
                <a:tc>
                  <a:txBody>
                    <a:bodyPr/>
                    <a:lstStyle/>
                    <a:p>
                      <a:pPr algn="ctr"/>
                      <a:r>
                        <a:rPr lang="en-US" sz="2400" b="1" dirty="0"/>
                        <a:t>Year</a:t>
                      </a:r>
                    </a:p>
                  </a:txBody>
                  <a:tcPr/>
                </a:tc>
                <a:tc>
                  <a:txBody>
                    <a:bodyPr/>
                    <a:lstStyle/>
                    <a:p>
                      <a:pPr algn="ctr"/>
                      <a:r>
                        <a:rPr lang="en-US" sz="2400" b="1" dirty="0"/>
                        <a:t>Quarter</a:t>
                      </a:r>
                    </a:p>
                  </a:txBody>
                  <a:tcPr/>
                </a:tc>
                <a:tc>
                  <a:txBody>
                    <a:bodyPr/>
                    <a:lstStyle/>
                    <a:p>
                      <a:r>
                        <a:rPr lang="en-US" sz="2400" dirty="0"/>
                        <a:t>Actual Value</a:t>
                      </a:r>
                    </a:p>
                  </a:txBody>
                  <a:tcPr/>
                </a:tc>
                <a:tc>
                  <a:txBody>
                    <a:bodyPr/>
                    <a:lstStyle/>
                    <a:p>
                      <a:r>
                        <a:rPr lang="en-US" sz="2400" dirty="0"/>
                        <a:t>Seasonal Index</a:t>
                      </a:r>
                    </a:p>
                  </a:txBody>
                  <a:tcPr/>
                </a:tc>
                <a:tc>
                  <a:txBody>
                    <a:bodyPr/>
                    <a:lstStyle/>
                    <a:p>
                      <a:r>
                        <a:rPr lang="en-US" sz="2400" dirty="0"/>
                        <a:t>Adjusted Values</a:t>
                      </a:r>
                    </a:p>
                  </a:txBody>
                  <a:tcPr/>
                </a:tc>
                <a:extLst>
                  <a:ext uri="{0D108BD9-81ED-4DB2-BD59-A6C34878D82A}">
                    <a16:rowId xmlns:a16="http://schemas.microsoft.com/office/drawing/2014/main" val="3529852700"/>
                  </a:ext>
                </a:extLst>
              </a:tr>
              <a:tr h="387541">
                <a:tc rowSpan="4">
                  <a:txBody>
                    <a:bodyPr/>
                    <a:lstStyle/>
                    <a:p>
                      <a:pPr algn="ctr"/>
                      <a:r>
                        <a:rPr lang="en-US" sz="2400" b="1" dirty="0"/>
                        <a:t>1996</a:t>
                      </a:r>
                    </a:p>
                  </a:txBody>
                  <a:tcPr/>
                </a:tc>
                <a:tc>
                  <a:txBody>
                    <a:bodyPr/>
                    <a:lstStyle/>
                    <a:p>
                      <a:pPr algn="ctr"/>
                      <a:r>
                        <a:rPr lang="en-US" sz="2400" b="0" dirty="0"/>
                        <a:t>1</a:t>
                      </a:r>
                    </a:p>
                  </a:txBody>
                  <a:tcPr/>
                </a:tc>
                <a:tc>
                  <a:txBody>
                    <a:bodyPr/>
                    <a:lstStyle/>
                    <a:p>
                      <a:pPr algn="ctr"/>
                      <a:r>
                        <a:rPr lang="en-US" sz="2400" b="0" dirty="0"/>
                        <a:t>51</a:t>
                      </a:r>
                    </a:p>
                  </a:txBody>
                  <a:tcPr/>
                </a:tc>
                <a:tc>
                  <a:txBody>
                    <a:bodyPr/>
                    <a:lstStyle/>
                    <a:p>
                      <a:pPr algn="ctr"/>
                      <a:r>
                        <a:rPr lang="en-US" sz="2400" b="0" dirty="0"/>
                        <a:t>84.8</a:t>
                      </a:r>
                    </a:p>
                  </a:txBody>
                  <a:tcPr/>
                </a:tc>
                <a:tc>
                  <a:txBody>
                    <a:bodyPr/>
                    <a:lstStyle/>
                    <a:p>
                      <a:pPr algn="ctr" fontAlgn="b"/>
                      <a:r>
                        <a:rPr lang="en-NL" sz="2400" b="0" kern="1200" dirty="0">
                          <a:solidFill>
                            <a:schemeClr val="tx1"/>
                          </a:solidFill>
                          <a:latin typeface="+mn-lt"/>
                          <a:ea typeface="+mn-ea"/>
                          <a:cs typeface="+mn-cs"/>
                        </a:rPr>
                        <a:t>60</a:t>
                      </a:r>
                    </a:p>
                  </a:txBody>
                  <a:tcPr marL="9525" marR="9525" marT="9525" marB="0" anchor="b"/>
                </a:tc>
                <a:extLst>
                  <a:ext uri="{0D108BD9-81ED-4DB2-BD59-A6C34878D82A}">
                    <a16:rowId xmlns:a16="http://schemas.microsoft.com/office/drawing/2014/main" val="2046672112"/>
                  </a:ext>
                </a:extLst>
              </a:tr>
              <a:tr h="373503">
                <a:tc vMerge="1">
                  <a:txBody>
                    <a:bodyPr/>
                    <a:lstStyle/>
                    <a:p>
                      <a:pPr algn="ctr"/>
                      <a:endParaRPr lang="en-US" b="1" dirty="0"/>
                    </a:p>
                  </a:txBody>
                  <a:tcPr/>
                </a:tc>
                <a:tc>
                  <a:txBody>
                    <a:bodyPr/>
                    <a:lstStyle/>
                    <a:p>
                      <a:pPr marL="0" algn="ctr" defTabSz="914400" rtl="0" eaLnBrk="1" fontAlgn="b" latinLnBrk="0" hangingPunct="1"/>
                      <a:r>
                        <a:rPr lang="en-NL" sz="2400" kern="1200" dirty="0">
                          <a:solidFill>
                            <a:schemeClr val="tx1"/>
                          </a:solidFill>
                        </a:rPr>
                        <a:t>2</a:t>
                      </a:r>
                      <a:endParaRPr lang="en-NL" sz="2400" kern="1200" dirty="0">
                        <a:solidFill>
                          <a:schemeClr val="tx1"/>
                        </a:solidFill>
                        <a:latin typeface="+mn-lt"/>
                        <a:ea typeface="+mn-ea"/>
                        <a:cs typeface="+mn-cs"/>
                      </a:endParaRP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69</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117.4</a:t>
                      </a:r>
                    </a:p>
                  </a:txBody>
                  <a:tcPr marL="9525" marR="9525" marT="9525" marB="0" anchor="b"/>
                </a:tc>
                <a:tc>
                  <a:txBody>
                    <a:bodyPr/>
                    <a:lstStyle/>
                    <a:p>
                      <a:pPr algn="ctr" fontAlgn="b"/>
                      <a:r>
                        <a:rPr lang="en-NL" sz="2400" b="0" kern="1200" dirty="0">
                          <a:solidFill>
                            <a:schemeClr val="tx1"/>
                          </a:solidFill>
                          <a:latin typeface="+mn-lt"/>
                          <a:ea typeface="+mn-ea"/>
                          <a:cs typeface="+mn-cs"/>
                        </a:rPr>
                        <a:t>59</a:t>
                      </a:r>
                    </a:p>
                  </a:txBody>
                  <a:tcPr marL="9525" marR="9525" marT="9525" marB="0" anchor="b"/>
                </a:tc>
                <a:extLst>
                  <a:ext uri="{0D108BD9-81ED-4DB2-BD59-A6C34878D82A}">
                    <a16:rowId xmlns:a16="http://schemas.microsoft.com/office/drawing/2014/main" val="3536627746"/>
                  </a:ext>
                </a:extLst>
              </a:tr>
              <a:tr h="373503">
                <a:tc vMerge="1">
                  <a:txBody>
                    <a:bodyPr/>
                    <a:lstStyle/>
                    <a:p>
                      <a:pPr algn="ctr"/>
                      <a:endParaRPr lang="en-US" b="1" dirty="0"/>
                    </a:p>
                  </a:txBody>
                  <a:tcPr/>
                </a:tc>
                <a:tc>
                  <a:txBody>
                    <a:bodyPr/>
                    <a:lstStyle/>
                    <a:p>
                      <a:pPr marL="0" algn="ctr" defTabSz="914400" rtl="0" eaLnBrk="1" fontAlgn="b" latinLnBrk="0" hangingPunct="1"/>
                      <a:r>
                        <a:rPr lang="en-NL" sz="2400" kern="1200" dirty="0">
                          <a:solidFill>
                            <a:schemeClr val="tx1"/>
                          </a:solidFill>
                        </a:rPr>
                        <a:t>3</a:t>
                      </a:r>
                      <a:endParaRPr lang="en-NL" sz="2400" kern="1200" dirty="0">
                        <a:solidFill>
                          <a:schemeClr val="tx1"/>
                        </a:solidFill>
                        <a:latin typeface="+mn-lt"/>
                        <a:ea typeface="+mn-ea"/>
                        <a:cs typeface="+mn-cs"/>
                      </a:endParaRP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75</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123.5</a:t>
                      </a:r>
                    </a:p>
                  </a:txBody>
                  <a:tcPr marL="9525" marR="9525" marT="9525" marB="0" anchor="b"/>
                </a:tc>
                <a:tc>
                  <a:txBody>
                    <a:bodyPr/>
                    <a:lstStyle/>
                    <a:p>
                      <a:pPr algn="ctr" fontAlgn="b"/>
                      <a:r>
                        <a:rPr lang="en-NL" sz="2400" b="0" kern="1200" dirty="0">
                          <a:solidFill>
                            <a:schemeClr val="tx1"/>
                          </a:solidFill>
                          <a:latin typeface="+mn-lt"/>
                          <a:ea typeface="+mn-ea"/>
                          <a:cs typeface="+mn-cs"/>
                        </a:rPr>
                        <a:t>61</a:t>
                      </a:r>
                    </a:p>
                  </a:txBody>
                  <a:tcPr marL="9525" marR="9525" marT="9525" marB="0" anchor="b"/>
                </a:tc>
                <a:extLst>
                  <a:ext uri="{0D108BD9-81ED-4DB2-BD59-A6C34878D82A}">
                    <a16:rowId xmlns:a16="http://schemas.microsoft.com/office/drawing/2014/main" val="2003989947"/>
                  </a:ext>
                </a:extLst>
              </a:tr>
              <a:tr h="373503">
                <a:tc vMerge="1">
                  <a:txBody>
                    <a:bodyPr/>
                    <a:lstStyle/>
                    <a:p>
                      <a:pPr algn="ctr"/>
                      <a:endParaRPr lang="en-US" b="1" dirty="0"/>
                    </a:p>
                  </a:txBody>
                  <a:tcPr/>
                </a:tc>
                <a:tc>
                  <a:txBody>
                    <a:bodyPr/>
                    <a:lstStyle/>
                    <a:p>
                      <a:pPr marL="0" algn="ctr" defTabSz="914400" rtl="0" eaLnBrk="1" fontAlgn="b" latinLnBrk="0" hangingPunct="1"/>
                      <a:r>
                        <a:rPr lang="en-NL" sz="2400" kern="1200" dirty="0">
                          <a:solidFill>
                            <a:schemeClr val="tx1"/>
                          </a:solidFill>
                        </a:rPr>
                        <a:t>4</a:t>
                      </a:r>
                      <a:endParaRPr lang="en-NL" sz="2400" kern="1200" dirty="0">
                        <a:solidFill>
                          <a:schemeClr val="tx1"/>
                        </a:solidFill>
                        <a:latin typeface="+mn-lt"/>
                        <a:ea typeface="+mn-ea"/>
                        <a:cs typeface="+mn-cs"/>
                      </a:endParaRP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39</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74.3</a:t>
                      </a:r>
                    </a:p>
                  </a:txBody>
                  <a:tcPr marL="9525" marR="9525" marT="9525" marB="0" anchor="b"/>
                </a:tc>
                <a:tc>
                  <a:txBody>
                    <a:bodyPr/>
                    <a:lstStyle/>
                    <a:p>
                      <a:pPr algn="ctr" fontAlgn="b"/>
                      <a:r>
                        <a:rPr lang="en-NL" sz="2400" b="0" kern="1200" dirty="0">
                          <a:solidFill>
                            <a:schemeClr val="tx1"/>
                          </a:solidFill>
                          <a:latin typeface="+mn-lt"/>
                          <a:ea typeface="+mn-ea"/>
                          <a:cs typeface="+mn-cs"/>
                        </a:rPr>
                        <a:t>52</a:t>
                      </a:r>
                    </a:p>
                  </a:txBody>
                  <a:tcPr marL="9525" marR="9525" marT="9525" marB="0" anchor="b"/>
                </a:tc>
                <a:extLst>
                  <a:ext uri="{0D108BD9-81ED-4DB2-BD59-A6C34878D82A}">
                    <a16:rowId xmlns:a16="http://schemas.microsoft.com/office/drawing/2014/main" val="3719070889"/>
                  </a:ext>
                </a:extLst>
              </a:tr>
              <a:tr h="373503">
                <a:tc rowSpan="4">
                  <a:txBody>
                    <a:bodyPr/>
                    <a:lstStyle/>
                    <a:p>
                      <a:pPr algn="ctr"/>
                      <a:r>
                        <a:rPr lang="en-US" sz="2400" b="1" dirty="0"/>
                        <a:t>1997</a:t>
                      </a:r>
                    </a:p>
                  </a:txBody>
                  <a:tcPr/>
                </a:tc>
                <a:tc>
                  <a:txBody>
                    <a:bodyPr/>
                    <a:lstStyle/>
                    <a:p>
                      <a:pPr marL="0" algn="ctr" defTabSz="914400" rtl="0" eaLnBrk="1" fontAlgn="b" latinLnBrk="0" hangingPunct="1"/>
                      <a:r>
                        <a:rPr lang="en-NL" sz="2400" kern="1200" dirty="0">
                          <a:solidFill>
                            <a:schemeClr val="tx1"/>
                          </a:solidFill>
                        </a:rPr>
                        <a:t>1</a:t>
                      </a:r>
                      <a:endParaRPr lang="en-NL" sz="2400" kern="1200" dirty="0">
                        <a:solidFill>
                          <a:schemeClr val="tx1"/>
                        </a:solidFill>
                        <a:latin typeface="+mn-lt"/>
                        <a:ea typeface="+mn-ea"/>
                        <a:cs typeface="+mn-cs"/>
                      </a:endParaRP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55</a:t>
                      </a:r>
                    </a:p>
                  </a:txBody>
                  <a:tcPr marL="9525" marR="9525" marT="9525" marB="0" anchor="b"/>
                </a:tc>
                <a:tc>
                  <a:txBody>
                    <a:bodyPr/>
                    <a:lstStyle/>
                    <a:p>
                      <a:pPr algn="ctr"/>
                      <a:r>
                        <a:rPr lang="en-US" sz="2400" b="0" dirty="0"/>
                        <a:t>84.8</a:t>
                      </a:r>
                    </a:p>
                  </a:txBody>
                  <a:tcPr/>
                </a:tc>
                <a:tc>
                  <a:txBody>
                    <a:bodyPr/>
                    <a:lstStyle/>
                    <a:p>
                      <a:pPr algn="ctr" fontAlgn="b"/>
                      <a:r>
                        <a:rPr lang="en-NL" sz="2400" b="0" kern="1200" dirty="0">
                          <a:solidFill>
                            <a:schemeClr val="tx1"/>
                          </a:solidFill>
                          <a:latin typeface="+mn-lt"/>
                          <a:ea typeface="+mn-ea"/>
                          <a:cs typeface="+mn-cs"/>
                        </a:rPr>
                        <a:t>65</a:t>
                      </a:r>
                    </a:p>
                  </a:txBody>
                  <a:tcPr marL="9525" marR="9525" marT="9525" marB="0" anchor="b"/>
                </a:tc>
                <a:extLst>
                  <a:ext uri="{0D108BD9-81ED-4DB2-BD59-A6C34878D82A}">
                    <a16:rowId xmlns:a16="http://schemas.microsoft.com/office/drawing/2014/main" val="1460490593"/>
                  </a:ext>
                </a:extLst>
              </a:tr>
              <a:tr h="373503">
                <a:tc vMerge="1">
                  <a:txBody>
                    <a:bodyPr/>
                    <a:lstStyle/>
                    <a:p>
                      <a:pPr algn="ctr"/>
                      <a:endParaRPr lang="en-US" b="1" dirty="0"/>
                    </a:p>
                  </a:txBody>
                  <a:tcPr/>
                </a:tc>
                <a:tc>
                  <a:txBody>
                    <a:bodyPr/>
                    <a:lstStyle/>
                    <a:p>
                      <a:pPr marL="0" algn="ctr" defTabSz="914400" rtl="0" eaLnBrk="1" fontAlgn="b" latinLnBrk="0" hangingPunct="1"/>
                      <a:r>
                        <a:rPr lang="en-NL" sz="2400" kern="1200" dirty="0">
                          <a:solidFill>
                            <a:schemeClr val="tx1"/>
                          </a:solidFill>
                          <a:latin typeface="+mn-lt"/>
                          <a:ea typeface="+mn-ea"/>
                          <a:cs typeface="+mn-cs"/>
                        </a:rPr>
                        <a:t>2</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73</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117.4</a:t>
                      </a:r>
                    </a:p>
                  </a:txBody>
                  <a:tcPr marL="9525" marR="9525" marT="9525" marB="0" anchor="b"/>
                </a:tc>
                <a:tc>
                  <a:txBody>
                    <a:bodyPr/>
                    <a:lstStyle/>
                    <a:p>
                      <a:pPr algn="ctr" fontAlgn="b"/>
                      <a:r>
                        <a:rPr lang="en-NL" sz="2400" b="0" kern="1200" dirty="0">
                          <a:solidFill>
                            <a:schemeClr val="tx1"/>
                          </a:solidFill>
                          <a:latin typeface="+mn-lt"/>
                          <a:ea typeface="+mn-ea"/>
                          <a:cs typeface="+mn-cs"/>
                        </a:rPr>
                        <a:t>62</a:t>
                      </a:r>
                    </a:p>
                  </a:txBody>
                  <a:tcPr marL="9525" marR="9525" marT="9525" marB="0" anchor="b"/>
                </a:tc>
                <a:extLst>
                  <a:ext uri="{0D108BD9-81ED-4DB2-BD59-A6C34878D82A}">
                    <a16:rowId xmlns:a16="http://schemas.microsoft.com/office/drawing/2014/main" val="2509813521"/>
                  </a:ext>
                </a:extLst>
              </a:tr>
              <a:tr h="373503">
                <a:tc vMerge="1">
                  <a:txBody>
                    <a:bodyPr/>
                    <a:lstStyle/>
                    <a:p>
                      <a:pPr algn="ctr"/>
                      <a:endParaRPr lang="en-US" b="1" dirty="0"/>
                    </a:p>
                  </a:txBody>
                  <a:tcPr/>
                </a:tc>
                <a:tc>
                  <a:txBody>
                    <a:bodyPr/>
                    <a:lstStyle/>
                    <a:p>
                      <a:pPr marL="0" algn="ctr" defTabSz="914400" rtl="0" eaLnBrk="1" fontAlgn="b" latinLnBrk="0" hangingPunct="1"/>
                      <a:r>
                        <a:rPr lang="en-NL" sz="2400" kern="1200" dirty="0">
                          <a:solidFill>
                            <a:schemeClr val="tx1"/>
                          </a:solidFill>
                          <a:latin typeface="+mn-lt"/>
                          <a:ea typeface="+mn-ea"/>
                          <a:cs typeface="+mn-cs"/>
                        </a:rPr>
                        <a:t>3</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79</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123.5</a:t>
                      </a:r>
                    </a:p>
                  </a:txBody>
                  <a:tcPr marL="9525" marR="9525" marT="9525" marB="0" anchor="b"/>
                </a:tc>
                <a:tc>
                  <a:txBody>
                    <a:bodyPr/>
                    <a:lstStyle/>
                    <a:p>
                      <a:pPr algn="ctr" fontAlgn="b"/>
                      <a:r>
                        <a:rPr lang="en-NL" sz="2400" b="0" kern="1200" dirty="0">
                          <a:solidFill>
                            <a:schemeClr val="tx1"/>
                          </a:solidFill>
                          <a:latin typeface="+mn-lt"/>
                          <a:ea typeface="+mn-ea"/>
                          <a:cs typeface="+mn-cs"/>
                        </a:rPr>
                        <a:t>64</a:t>
                      </a:r>
                    </a:p>
                  </a:txBody>
                  <a:tcPr marL="9525" marR="9525" marT="9525" marB="0" anchor="b"/>
                </a:tc>
                <a:extLst>
                  <a:ext uri="{0D108BD9-81ED-4DB2-BD59-A6C34878D82A}">
                    <a16:rowId xmlns:a16="http://schemas.microsoft.com/office/drawing/2014/main" val="202037547"/>
                  </a:ext>
                </a:extLst>
              </a:tr>
              <a:tr h="373503">
                <a:tc vMerge="1">
                  <a:txBody>
                    <a:bodyPr/>
                    <a:lstStyle/>
                    <a:p>
                      <a:pPr algn="ctr"/>
                      <a:endParaRPr lang="en-US" b="1" dirty="0"/>
                    </a:p>
                  </a:txBody>
                  <a:tcPr>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NL" sz="2400" kern="1200" dirty="0">
                          <a:solidFill>
                            <a:schemeClr val="tx1"/>
                          </a:solidFill>
                        </a:rPr>
                        <a:t>4</a:t>
                      </a:r>
                      <a:endParaRPr lang="en-NL" sz="2400" kern="1200" dirty="0">
                        <a:solidFill>
                          <a:schemeClr val="tx1"/>
                        </a:solidFill>
                        <a:latin typeface="+mn-lt"/>
                        <a:ea typeface="+mn-ea"/>
                        <a:cs typeface="+mn-cs"/>
                      </a:endParaRP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48</a:t>
                      </a:r>
                    </a:p>
                  </a:txBody>
                  <a:tcPr marL="9525" marR="9525" marT="9525" marB="0" anchor="b"/>
                </a:tc>
                <a:tc>
                  <a:txBody>
                    <a:bodyPr/>
                    <a:lstStyle/>
                    <a:p>
                      <a:pPr marL="0" algn="ctr" defTabSz="914400" rtl="0" eaLnBrk="1" fontAlgn="b" latinLnBrk="0" hangingPunct="1"/>
                      <a:r>
                        <a:rPr lang="en-NL" sz="2400" kern="1200" dirty="0">
                          <a:solidFill>
                            <a:schemeClr val="tx1"/>
                          </a:solidFill>
                          <a:latin typeface="+mn-lt"/>
                          <a:ea typeface="+mn-ea"/>
                          <a:cs typeface="+mn-cs"/>
                        </a:rPr>
                        <a:t>74.3</a:t>
                      </a:r>
                    </a:p>
                  </a:txBody>
                  <a:tcPr marL="9525" marR="9525" marT="9525" marB="0" anchor="b"/>
                </a:tc>
                <a:tc>
                  <a:txBody>
                    <a:bodyPr/>
                    <a:lstStyle/>
                    <a:p>
                      <a:pPr algn="ctr" fontAlgn="b"/>
                      <a:r>
                        <a:rPr lang="en-NL" sz="2400" b="0" kern="1200" dirty="0">
                          <a:solidFill>
                            <a:schemeClr val="tx1"/>
                          </a:solidFill>
                          <a:latin typeface="+mn-lt"/>
                          <a:ea typeface="+mn-ea"/>
                          <a:cs typeface="+mn-cs"/>
                        </a:rPr>
                        <a:t>65</a:t>
                      </a:r>
                    </a:p>
                  </a:txBody>
                  <a:tcPr marL="9525" marR="9525" marT="9525" marB="0" anchor="b"/>
                </a:tc>
                <a:extLst>
                  <a:ext uri="{0D108BD9-81ED-4DB2-BD59-A6C34878D82A}">
                    <a16:rowId xmlns:a16="http://schemas.microsoft.com/office/drawing/2014/main" val="2137431013"/>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9648935-134D-9475-8267-1126A2749335}"/>
                  </a:ext>
                </a:extLst>
              </p:cNvPr>
              <p:cNvSpPr txBox="1"/>
              <p:nvPr/>
            </p:nvSpPr>
            <p:spPr>
              <a:xfrm>
                <a:off x="2753387" y="5979474"/>
                <a:ext cx="6064042"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𝑆𝑒𝑎𝑠𝑜𝑛𝑎𝑙𝑙𝑦</m:t>
                      </m:r>
                      <m:r>
                        <a:rPr lang="en-US" i="1" dirty="0">
                          <a:latin typeface="Cambria Math" panose="02040503050406030204" pitchFamily="18" charset="0"/>
                        </a:rPr>
                        <m:t> </m:t>
                      </m:r>
                      <m:r>
                        <a:rPr lang="en-US" i="1" dirty="0" smtClean="0">
                          <a:latin typeface="Cambria Math" panose="02040503050406030204" pitchFamily="18" charset="0"/>
                        </a:rPr>
                        <m:t>𝐴𝑑𝑗𝑢𝑠𝑡𝑒𝑑</m:t>
                      </m:r>
                      <m:r>
                        <a:rPr lang="en-US" i="1" dirty="0">
                          <a:latin typeface="Cambria Math" panose="02040503050406030204" pitchFamily="18" charset="0"/>
                        </a:rPr>
                        <m:t> </m:t>
                      </m:r>
                      <m:r>
                        <a:rPr lang="en-US" i="1" dirty="0" smtClean="0">
                          <a:latin typeface="Cambria Math" panose="02040503050406030204" pitchFamily="18" charset="0"/>
                        </a:rPr>
                        <m:t>𝑑𝑎𝑡𝑎</m:t>
                      </m:r>
                      <m:r>
                        <a:rPr lang="en-US" i="1" dirty="0">
                          <a:latin typeface="Cambria Math" panose="02040503050406030204" pitchFamily="18" charset="0"/>
                        </a:rPr>
                        <m:t> </m:t>
                      </m:r>
                      <m:r>
                        <a:rPr lang="en-US" i="1" dirty="0" smtClean="0">
                          <a:latin typeface="Cambria Math" panose="02040503050406030204" pitchFamily="18" charset="0"/>
                        </a:rPr>
                        <m:t>=</m:t>
                      </m:r>
                      <m:r>
                        <a:rPr lang="en-US" i="1" dirty="0">
                          <a:latin typeface="Cambria Math" panose="02040503050406030204" pitchFamily="18" charset="0"/>
                        </a:rPr>
                        <m:t> </m:t>
                      </m:r>
                      <m:f>
                        <m:fPr>
                          <m:ctrlPr>
                            <a:rPr lang="en-US" i="1" dirty="0" smtClean="0">
                              <a:latin typeface="Cambria Math" panose="02040503050406030204" pitchFamily="18" charset="0"/>
                            </a:rPr>
                          </m:ctrlPr>
                        </m:fPr>
                        <m:num>
                          <m:r>
                            <a:rPr lang="en-US" b="0" i="1" dirty="0" smtClean="0">
                              <a:latin typeface="Cambria Math" panose="02040503050406030204" pitchFamily="18" charset="0"/>
                            </a:rPr>
                            <m:t>𝐴𝑐𝑡𝑢𝑎𝑙</m:t>
                          </m:r>
                          <m:r>
                            <a:rPr lang="en-US" b="0" i="1" dirty="0" smtClean="0">
                              <a:latin typeface="Cambria Math" panose="02040503050406030204" pitchFamily="18" charset="0"/>
                            </a:rPr>
                            <m:t> </m:t>
                          </m:r>
                          <m:r>
                            <a:rPr lang="en-US" b="0" i="1" dirty="0" smtClean="0">
                              <a:latin typeface="Cambria Math" panose="02040503050406030204" pitchFamily="18" charset="0"/>
                            </a:rPr>
                            <m:t>𝑉𝑎𝑙𝑢𝑒𝑠</m:t>
                          </m:r>
                        </m:num>
                        <m:den>
                          <m:r>
                            <a:rPr lang="en-US" b="0" i="1" dirty="0" smtClean="0">
                              <a:latin typeface="Cambria Math" panose="02040503050406030204" pitchFamily="18" charset="0"/>
                            </a:rPr>
                            <m:t>𝑆𝑒𝑎𝑠𝑜𝑛𝑎𝑙</m:t>
                          </m:r>
                          <m:r>
                            <a:rPr lang="en-US" b="0" i="1" dirty="0" smtClean="0">
                              <a:latin typeface="Cambria Math" panose="02040503050406030204" pitchFamily="18" charset="0"/>
                            </a:rPr>
                            <m:t> </m:t>
                          </m:r>
                          <m:r>
                            <a:rPr lang="en-US" b="0" i="1" dirty="0" smtClean="0">
                              <a:latin typeface="Cambria Math" panose="02040503050406030204" pitchFamily="18" charset="0"/>
                            </a:rPr>
                            <m:t>𝐼𝑛𝑑𝑒𝑥</m:t>
                          </m:r>
                        </m:den>
                      </m:f>
                      <m:r>
                        <a:rPr lang="en-US" b="0" i="1" dirty="0" smtClean="0">
                          <a:latin typeface="Cambria Math" panose="02040503050406030204" pitchFamily="18" charset="0"/>
                        </a:rPr>
                        <m:t> ×100</m:t>
                      </m:r>
                    </m:oMath>
                  </m:oMathPara>
                </a14:m>
                <a:endParaRPr lang="en-US" dirty="0"/>
              </a:p>
            </p:txBody>
          </p:sp>
        </mc:Choice>
        <mc:Fallback xmlns="">
          <p:sp>
            <p:nvSpPr>
              <p:cNvPr id="5" name="TextBox 4">
                <a:extLst>
                  <a:ext uri="{FF2B5EF4-FFF2-40B4-BE49-F238E27FC236}">
                    <a16:creationId xmlns:a16="http://schemas.microsoft.com/office/drawing/2014/main" id="{59648935-134D-9475-8267-1126A2749335}"/>
                  </a:ext>
                </a:extLst>
              </p:cNvPr>
              <p:cNvSpPr txBox="1">
                <a:spLocks noRot="1" noChangeAspect="1" noMove="1" noResize="1" noEditPoints="1" noAdjustHandles="1" noChangeArrowheads="1" noChangeShapeType="1" noTextEdit="1"/>
              </p:cNvSpPr>
              <p:nvPr/>
            </p:nvSpPr>
            <p:spPr>
              <a:xfrm>
                <a:off x="2753387" y="5979474"/>
                <a:ext cx="6064042" cy="634789"/>
              </a:xfrm>
              <a:prstGeom prst="rect">
                <a:avLst/>
              </a:prstGeom>
              <a:blipFill>
                <a:blip r:embed="rId2"/>
                <a:stretch>
                  <a:fillRect b="-15686"/>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E311FA9D-AFB0-CF5A-A20D-F28AC781BCC9}"/>
              </a:ext>
            </a:extLst>
          </p:cNvPr>
          <p:cNvSpPr>
            <a:spLocks noGrp="1"/>
          </p:cNvSpPr>
          <p:nvPr>
            <p:ph type="sldNum" sz="quarter" idx="12"/>
          </p:nvPr>
        </p:nvSpPr>
        <p:spPr/>
        <p:txBody>
          <a:bodyPr/>
          <a:lstStyle/>
          <a:p>
            <a:fld id="{F8D8F54C-053C-4394-9990-70DE256B1A6D}" type="slidenum">
              <a:rPr lang="nl-NL" smtClean="0"/>
              <a:t>52</a:t>
            </a:fld>
            <a:endParaRPr lang="nl-NL"/>
          </a:p>
        </p:txBody>
      </p:sp>
    </p:spTree>
    <p:extLst>
      <p:ext uri="{BB962C8B-B14F-4D97-AF65-F5344CB8AC3E}">
        <p14:creationId xmlns:p14="http://schemas.microsoft.com/office/powerpoint/2010/main" val="9671190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Time Series Decomposition – Summary</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lnSpcReduction="10000"/>
              </a:bodyPr>
              <a:lstStyle/>
              <a:p>
                <a:pPr>
                  <a:lnSpc>
                    <a:spcPct val="120000"/>
                  </a:lnSpc>
                </a:pPr>
                <a:r>
                  <a:rPr lang="en-AU" altLang="en-US" dirty="0"/>
                  <a:t>Additive decomposition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𝑆</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𝑇</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𝑅</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𝑆</m:t>
                            </m:r>
                          </m:e>
                        </m:acc>
                      </m:e>
                      <m:sub>
                        <m:r>
                          <a:rPr lang="en-US" altLang="en-US" i="1">
                            <a:latin typeface="Cambria Math" panose="02040503050406030204" pitchFamily="18" charset="0"/>
                          </a:rPr>
                          <m:t>𝑡</m:t>
                        </m:r>
                      </m:sub>
                    </m:sSub>
                    <m:r>
                      <a:rPr lang="en-US" altLang="en-US" i="1">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𝑇</m:t>
                            </m:r>
                          </m:e>
                        </m:acc>
                      </m:e>
                      <m:sub>
                        <m:r>
                          <a:rPr lang="en-US" altLang="en-US" i="1">
                            <a:latin typeface="Cambria Math" panose="02040503050406030204" pitchFamily="18" charset="0"/>
                          </a:rPr>
                          <m:t>𝑡</m:t>
                        </m:r>
                      </m:sub>
                    </m:sSub>
                    <m:r>
                      <a:rPr lang="en-US" altLang="en-US" i="1">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𝑅</m:t>
                            </m:r>
                          </m:e>
                        </m:acc>
                      </m:e>
                      <m:sub>
                        <m:r>
                          <a:rPr lang="en-US" altLang="en-US" i="1">
                            <a:latin typeface="Cambria Math" panose="02040503050406030204" pitchFamily="18" charset="0"/>
                          </a:rPr>
                          <m:t>𝑡</m:t>
                        </m:r>
                      </m:sub>
                    </m:sSub>
                  </m:oMath>
                </a14:m>
                <a:endParaRPr lang="en-AU" altLang="en-US" dirty="0"/>
              </a:p>
              <a:p>
                <a:pPr>
                  <a:lnSpc>
                    <a:spcPct val="120000"/>
                  </a:lnSpc>
                </a:pPr>
                <a:r>
                  <a:rPr lang="en-AU" altLang="en-US" dirty="0"/>
                  <a:t>Multiplicative decomposition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𝑆</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𝑇</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𝑅</m:t>
                        </m:r>
                      </m:e>
                      <m:sub>
                        <m:r>
                          <a:rPr lang="en-US" altLang="en-US" b="0" i="1" smtClean="0">
                            <a:latin typeface="Cambria Math" panose="02040503050406030204" pitchFamily="18" charset="0"/>
                          </a:rPr>
                          <m:t>𝑡</m:t>
                        </m:r>
                      </m:sub>
                    </m:sSub>
                    <m:r>
                      <a:rPr lang="en-US" altLang="en-US" i="1">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𝑆</m:t>
                            </m:r>
                          </m:e>
                        </m:acc>
                      </m:e>
                      <m:sub>
                        <m:r>
                          <a:rPr lang="en-US" altLang="en-US" i="1">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𝑇</m:t>
                            </m:r>
                          </m:e>
                        </m:acc>
                      </m:e>
                      <m:sub>
                        <m:r>
                          <a:rPr lang="en-US" altLang="en-US" i="1">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𝑅</m:t>
                            </m:r>
                          </m:e>
                        </m:acc>
                      </m:e>
                      <m:sub>
                        <m:r>
                          <a:rPr lang="en-US" altLang="en-US" i="1">
                            <a:latin typeface="Cambria Math" panose="02040503050406030204" pitchFamily="18" charset="0"/>
                          </a:rPr>
                          <m:t>𝑡</m:t>
                        </m:r>
                      </m:sub>
                    </m:sSub>
                  </m:oMath>
                </a14:m>
                <a:endParaRPr lang="en-AU" altLang="en-US" dirty="0"/>
              </a:p>
              <a:p>
                <a:pPr>
                  <a:lnSpc>
                    <a:spcPct val="120000"/>
                  </a:lnSpc>
                </a:pPr>
                <a:r>
                  <a:rPr lang="en-AU" altLang="en-US" dirty="0"/>
                  <a:t>Detrended data</a:t>
                </a:r>
              </a:p>
              <a:p>
                <a:pPr lvl="1">
                  <a:lnSpc>
                    <a:spcPct val="120000"/>
                  </a:lnSpc>
                </a:pPr>
                <a:r>
                  <a:rPr lang="en-AU" altLang="en-US" dirty="0"/>
                  <a:t>In additive decomposition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acc>
                          <m:accPr>
                            <m:chr m:val="̂"/>
                            <m:ctrlPr>
                              <a:rPr lang="en-US" altLang="en-US" b="0" i="1" smtClean="0">
                                <a:latin typeface="Cambria Math" panose="02040503050406030204" pitchFamily="18" charset="0"/>
                              </a:rPr>
                            </m:ctrlPr>
                          </m:accPr>
                          <m:e>
                            <m:r>
                              <a:rPr lang="en-US" altLang="en-US" b="0" i="1" smtClean="0">
                                <a:latin typeface="Cambria Math" panose="02040503050406030204" pitchFamily="18" charset="0"/>
                              </a:rPr>
                              <m:t>𝑇</m:t>
                            </m:r>
                          </m:e>
                        </m:acc>
                      </m:e>
                      <m:sub>
                        <m:r>
                          <a:rPr lang="en-US" altLang="en-US" b="0" i="1" smtClean="0">
                            <a:latin typeface="Cambria Math" panose="02040503050406030204" pitchFamily="18" charset="0"/>
                          </a:rPr>
                          <m:t>𝑡</m:t>
                        </m:r>
                      </m:sub>
                    </m:sSub>
                    <m:sSub>
                      <m:sSubPr>
                        <m:ctrlPr>
                          <a:rPr lang="en-US" altLang="en-US" i="1">
                            <a:latin typeface="Cambria Math" panose="02040503050406030204" pitchFamily="18" charset="0"/>
                          </a:rPr>
                        </m:ctrlPr>
                      </m:sSubPr>
                      <m:e>
                        <m:r>
                          <a:rPr lang="en-US" altLang="en-US" b="0" i="1" smtClean="0">
                            <a:latin typeface="Cambria Math" panose="02040503050406030204" pitchFamily="18" charset="0"/>
                          </a:rPr>
                          <m:t>=</m:t>
                        </m:r>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𝑆</m:t>
                            </m:r>
                          </m:e>
                        </m:acc>
                      </m:e>
                      <m:sub>
                        <m:r>
                          <a:rPr lang="en-US" altLang="en-US" i="1">
                            <a:latin typeface="Cambria Math" panose="02040503050406030204" pitchFamily="18" charset="0"/>
                          </a:rPr>
                          <m:t>𝑡</m:t>
                        </m:r>
                      </m:sub>
                    </m:sSub>
                    <m:r>
                      <a:rPr lang="en-US" altLang="en-US" i="1">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𝑅</m:t>
                            </m:r>
                          </m:e>
                        </m:acc>
                      </m:e>
                      <m:sub>
                        <m:r>
                          <a:rPr lang="en-US" altLang="en-US" i="1">
                            <a:latin typeface="Cambria Math" panose="02040503050406030204" pitchFamily="18" charset="0"/>
                          </a:rPr>
                          <m:t>𝑡</m:t>
                        </m:r>
                      </m:sub>
                    </m:sSub>
                  </m:oMath>
                </a14:m>
                <a:endParaRPr lang="en-AU" altLang="en-US" dirty="0"/>
              </a:p>
              <a:p>
                <a:pPr lvl="1">
                  <a:lnSpc>
                    <a:spcPct val="120000"/>
                  </a:lnSpc>
                </a:pPr>
                <a:r>
                  <a:rPr lang="en-AU" altLang="en-US" dirty="0"/>
                  <a:t>In multiplicative decomposition </a:t>
                </a:r>
                <a14:m>
                  <m:oMath xmlns:m="http://schemas.openxmlformats.org/officeDocument/2006/math">
                    <m:f>
                      <m:fPr>
                        <m:ctrlPr>
                          <a:rPr lang="en-US" altLang="en-US" b="0" i="1" smtClean="0">
                            <a:latin typeface="Cambria Math" panose="02040503050406030204" pitchFamily="18" charset="0"/>
                          </a:rPr>
                        </m:ctrlPr>
                      </m:fPr>
                      <m:num>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𝑡</m:t>
                            </m:r>
                          </m:sub>
                        </m:sSub>
                      </m:num>
                      <m:den>
                        <m:sSub>
                          <m:sSubPr>
                            <m:ctrlPr>
                              <a:rPr lang="en-US" altLang="en-US" b="0" i="1" smtClean="0">
                                <a:latin typeface="Cambria Math" panose="02040503050406030204" pitchFamily="18" charset="0"/>
                              </a:rPr>
                            </m:ctrlPr>
                          </m:sSubPr>
                          <m:e>
                            <m:acc>
                              <m:accPr>
                                <m:chr m:val="̂"/>
                                <m:ctrlPr>
                                  <a:rPr lang="en-US" altLang="en-US" b="0" i="1" smtClean="0">
                                    <a:latin typeface="Cambria Math" panose="02040503050406030204" pitchFamily="18" charset="0"/>
                                  </a:rPr>
                                </m:ctrlPr>
                              </m:accPr>
                              <m:e>
                                <m:r>
                                  <a:rPr lang="en-US" altLang="en-US" b="0" i="1" smtClean="0">
                                    <a:latin typeface="Cambria Math" panose="02040503050406030204" pitchFamily="18" charset="0"/>
                                  </a:rPr>
                                  <m:t>𝑇</m:t>
                                </m:r>
                              </m:e>
                            </m:acc>
                          </m:e>
                          <m:sub>
                            <m:r>
                              <a:rPr lang="en-US" altLang="en-US" b="0" i="1" smtClean="0">
                                <a:latin typeface="Cambria Math" panose="02040503050406030204" pitchFamily="18" charset="0"/>
                              </a:rPr>
                              <m:t>𝑡</m:t>
                            </m:r>
                          </m:sub>
                        </m:sSub>
                      </m:den>
                    </m:f>
                    <m:sSub>
                      <m:sSubPr>
                        <m:ctrlPr>
                          <a:rPr lang="en-US" altLang="en-US" i="1">
                            <a:latin typeface="Cambria Math" panose="02040503050406030204" pitchFamily="18" charset="0"/>
                          </a:rPr>
                        </m:ctrlPr>
                      </m:sSubPr>
                      <m:e>
                        <m:r>
                          <a:rPr lang="en-US" altLang="en-US" b="0" i="1" smtClean="0">
                            <a:latin typeface="Cambria Math" panose="02040503050406030204" pitchFamily="18" charset="0"/>
                          </a:rPr>
                          <m:t>=</m:t>
                        </m:r>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𝑆</m:t>
                            </m:r>
                          </m:e>
                        </m:acc>
                      </m:e>
                      <m:sub>
                        <m:r>
                          <a:rPr lang="en-US" altLang="en-US" i="1">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𝑅</m:t>
                            </m:r>
                          </m:e>
                        </m:acc>
                      </m:e>
                      <m:sub>
                        <m:r>
                          <a:rPr lang="en-US" altLang="en-US" i="1">
                            <a:latin typeface="Cambria Math" panose="02040503050406030204" pitchFamily="18" charset="0"/>
                          </a:rPr>
                          <m:t>𝑡</m:t>
                        </m:r>
                      </m:sub>
                    </m:sSub>
                  </m:oMath>
                </a14:m>
                <a:endParaRPr lang="en-US" altLang="en-US" dirty="0"/>
              </a:p>
              <a:p>
                <a:pPr>
                  <a:lnSpc>
                    <a:spcPct val="120000"/>
                  </a:lnSpc>
                </a:pPr>
                <a:r>
                  <a:rPr lang="en-AU" altLang="en-US" dirty="0"/>
                  <a:t>Detrending and removing the seasonal effect</a:t>
                </a:r>
              </a:p>
              <a:p>
                <a:pPr lvl="1">
                  <a:lnSpc>
                    <a:spcPct val="120000"/>
                  </a:lnSpc>
                </a:pPr>
                <a:r>
                  <a:rPr lang="en-US" altLang="en-US" dirty="0"/>
                  <a:t>For additive decomposition </a:t>
                </a:r>
                <a14:m>
                  <m:oMath xmlns:m="http://schemas.openxmlformats.org/officeDocument/2006/math">
                    <m:sSub>
                      <m:sSubPr>
                        <m:ctrlPr>
                          <a:rPr lang="en-US" altLang="en-US" b="0" i="1" dirty="0" smtClean="0">
                            <a:latin typeface="Cambria Math" panose="02040503050406030204" pitchFamily="18" charset="0"/>
                          </a:rPr>
                        </m:ctrlPr>
                      </m:sSubPr>
                      <m:e>
                        <m:acc>
                          <m:accPr>
                            <m:chr m:val="̂"/>
                            <m:ctrlPr>
                              <a:rPr lang="en-US" altLang="en-US" i="1" smtClean="0">
                                <a:latin typeface="Cambria Math" panose="02040503050406030204" pitchFamily="18" charset="0"/>
                              </a:rPr>
                            </m:ctrlPr>
                          </m:accPr>
                          <m:e>
                            <m:r>
                              <a:rPr lang="en-US" altLang="en-US" b="0" i="1" smtClean="0">
                                <a:latin typeface="Cambria Math" panose="02040503050406030204" pitchFamily="18" charset="0"/>
                              </a:rPr>
                              <m:t>𝑅</m:t>
                            </m:r>
                          </m:e>
                        </m:acc>
                      </m:e>
                      <m:sub>
                        <m:r>
                          <a:rPr lang="en-US" altLang="en-US" b="0" i="1" dirty="0" smtClean="0">
                            <a:latin typeface="Cambria Math" panose="02040503050406030204" pitchFamily="18" charset="0"/>
                          </a:rPr>
                          <m:t>𝑡</m:t>
                        </m:r>
                      </m:sub>
                    </m:sSub>
                    <m:r>
                      <a:rPr lang="en-US" altLang="en-US" b="0" i="1" dirty="0" smtClean="0">
                        <a:latin typeface="Cambria Math" panose="02040503050406030204" pitchFamily="18" charset="0"/>
                      </a:rPr>
                      <m:t>=</m:t>
                    </m:r>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𝑦</m:t>
                        </m:r>
                      </m:e>
                      <m:sub>
                        <m:r>
                          <a:rPr lang="en-US" altLang="en-US" b="0" i="1" dirty="0" smtClean="0">
                            <a:latin typeface="Cambria Math" panose="02040503050406030204" pitchFamily="18" charset="0"/>
                          </a:rPr>
                          <m:t>𝑡</m:t>
                        </m:r>
                      </m:sub>
                    </m:sSub>
                    <m:r>
                      <a:rPr lang="en-US" altLang="en-US" b="0" i="1" dirty="0" smtClean="0">
                        <a:latin typeface="Cambria Math" panose="02040503050406030204" pitchFamily="18" charset="0"/>
                      </a:rPr>
                      <m:t>−</m:t>
                    </m:r>
                    <m:sSub>
                      <m:sSubPr>
                        <m:ctrlPr>
                          <a:rPr lang="en-US" altLang="en-US" b="0" i="1" dirty="0" smtClean="0">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𝑇</m:t>
                            </m:r>
                          </m:e>
                        </m:acc>
                      </m:e>
                      <m:sub>
                        <m:r>
                          <a:rPr lang="en-US" altLang="en-US" b="0" i="1" dirty="0" smtClean="0">
                            <a:latin typeface="Cambria Math" panose="02040503050406030204" pitchFamily="18" charset="0"/>
                          </a:rPr>
                          <m:t>𝑡</m:t>
                        </m:r>
                      </m:sub>
                    </m:sSub>
                    <m:r>
                      <a:rPr lang="en-US" altLang="en-US" b="0" i="1" dirty="0" smtClean="0">
                        <a:latin typeface="Cambria Math" panose="02040503050406030204" pitchFamily="18" charset="0"/>
                      </a:rPr>
                      <m:t>−</m:t>
                    </m:r>
                    <m:sSub>
                      <m:sSubPr>
                        <m:ctrlPr>
                          <a:rPr lang="en-US" altLang="en-US" b="0" i="1" dirty="0" smtClean="0">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𝑆</m:t>
                            </m:r>
                          </m:e>
                        </m:acc>
                      </m:e>
                      <m:sub>
                        <m:r>
                          <a:rPr lang="en-US" altLang="en-US" b="0" i="1" dirty="0" smtClean="0">
                            <a:latin typeface="Cambria Math" panose="02040503050406030204" pitchFamily="18" charset="0"/>
                          </a:rPr>
                          <m:t>𝑡</m:t>
                        </m:r>
                      </m:sub>
                    </m:sSub>
                  </m:oMath>
                </a14:m>
                <a:r>
                  <a:rPr lang="en-AU" altLang="en-US" dirty="0"/>
                  <a:t> </a:t>
                </a:r>
              </a:p>
              <a:p>
                <a:pPr lvl="1">
                  <a:lnSpc>
                    <a:spcPct val="120000"/>
                  </a:lnSpc>
                </a:pPr>
                <a:r>
                  <a:rPr lang="en-AU" altLang="en-US" dirty="0"/>
                  <a:t>For multiplicative decomposition </a:t>
                </a:r>
                <a14:m>
                  <m:oMath xmlns:m="http://schemas.openxmlformats.org/officeDocument/2006/math">
                    <m:sSub>
                      <m:sSubPr>
                        <m:ctrlPr>
                          <a:rPr lang="en-US" altLang="en-US" b="0" i="1" dirty="0" smtClean="0">
                            <a:latin typeface="Cambria Math" panose="02040503050406030204" pitchFamily="18" charset="0"/>
                          </a:rPr>
                        </m:ctrlPr>
                      </m:sSubPr>
                      <m:e>
                        <m:acc>
                          <m:accPr>
                            <m:chr m:val="̂"/>
                            <m:ctrlPr>
                              <a:rPr lang="en-US" altLang="en-US" i="1" smtClean="0">
                                <a:latin typeface="Cambria Math" panose="02040503050406030204" pitchFamily="18" charset="0"/>
                              </a:rPr>
                            </m:ctrlPr>
                          </m:accPr>
                          <m:e>
                            <m:r>
                              <a:rPr lang="en-US" altLang="en-US" b="0" i="1" smtClean="0">
                                <a:latin typeface="Cambria Math" panose="02040503050406030204" pitchFamily="18" charset="0"/>
                              </a:rPr>
                              <m:t>𝑅</m:t>
                            </m:r>
                          </m:e>
                        </m:acc>
                      </m:e>
                      <m:sub>
                        <m:r>
                          <a:rPr lang="en-US" altLang="en-US" b="0" i="1" dirty="0" smtClean="0">
                            <a:latin typeface="Cambria Math" panose="02040503050406030204" pitchFamily="18" charset="0"/>
                          </a:rPr>
                          <m:t>𝑡</m:t>
                        </m:r>
                      </m:sub>
                    </m:sSub>
                    <m:r>
                      <a:rPr lang="en-US" altLang="en-US" b="0" i="1" dirty="0" smtClean="0">
                        <a:latin typeface="Cambria Math" panose="02040503050406030204" pitchFamily="18" charset="0"/>
                      </a:rPr>
                      <m:t>=</m:t>
                    </m:r>
                    <m:f>
                      <m:fPr>
                        <m:ctrlPr>
                          <a:rPr lang="en-US" altLang="en-US" b="0" i="1" dirty="0" smtClean="0">
                            <a:latin typeface="Cambria Math" panose="02040503050406030204" pitchFamily="18" charset="0"/>
                          </a:rPr>
                        </m:ctrlPr>
                      </m:fPr>
                      <m:num>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𝑦</m:t>
                            </m:r>
                          </m:e>
                          <m:sub>
                            <m:r>
                              <a:rPr lang="en-US" altLang="en-US" b="0" i="1" dirty="0" smtClean="0">
                                <a:latin typeface="Cambria Math" panose="02040503050406030204" pitchFamily="18" charset="0"/>
                              </a:rPr>
                              <m:t>𝑡</m:t>
                            </m:r>
                          </m:sub>
                        </m:sSub>
                      </m:num>
                      <m:den>
                        <m:sSub>
                          <m:sSubPr>
                            <m:ctrlPr>
                              <a:rPr lang="en-US" altLang="en-US" b="0" i="1" dirty="0" smtClean="0">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𝑇</m:t>
                                </m:r>
                              </m:e>
                            </m:acc>
                          </m:e>
                          <m:sub>
                            <m:r>
                              <a:rPr lang="en-US" altLang="en-US" b="0" i="1" dirty="0" smtClean="0">
                                <a:latin typeface="Cambria Math" panose="02040503050406030204" pitchFamily="18" charset="0"/>
                              </a:rPr>
                              <m:t>𝑡</m:t>
                            </m:r>
                          </m:sub>
                        </m:sSub>
                        <m:sSub>
                          <m:sSubPr>
                            <m:ctrlPr>
                              <a:rPr lang="en-US" altLang="en-US" b="0" i="1" dirty="0" smtClean="0">
                                <a:latin typeface="Cambria Math" panose="02040503050406030204" pitchFamily="18" charset="0"/>
                              </a:rPr>
                            </m:ctrlPr>
                          </m:sSubPr>
                          <m:e>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𝑆</m:t>
                                </m:r>
                              </m:e>
                            </m:acc>
                          </m:e>
                          <m:sub>
                            <m:r>
                              <a:rPr lang="en-US" altLang="en-US" b="0" i="1" dirty="0" smtClean="0">
                                <a:latin typeface="Cambria Math" panose="02040503050406030204" pitchFamily="18" charset="0"/>
                              </a:rPr>
                              <m:t>𝑡</m:t>
                            </m:r>
                          </m:sub>
                        </m:sSub>
                      </m:den>
                    </m:f>
                  </m:oMath>
                </a14:m>
                <a:endParaRPr lang="en-AU" altLang="en-US" dirty="0"/>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838200" y="1251284"/>
                <a:ext cx="10515600" cy="4948280"/>
              </a:xfrm>
              <a:blipFill>
                <a:blip r:embed="rId2"/>
                <a:stretch>
                  <a:fillRect l="-1086" t="-51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49EDE97-DFDE-91A8-87CE-490ADD2D3E04}"/>
              </a:ext>
            </a:extLst>
          </p:cNvPr>
          <p:cNvSpPr>
            <a:spLocks noGrp="1"/>
          </p:cNvSpPr>
          <p:nvPr>
            <p:ph type="sldNum" sz="quarter" idx="12"/>
          </p:nvPr>
        </p:nvSpPr>
        <p:spPr/>
        <p:txBody>
          <a:bodyPr/>
          <a:lstStyle/>
          <a:p>
            <a:fld id="{F8D8F54C-053C-4394-9990-70DE256B1A6D}" type="slidenum">
              <a:rPr lang="nl-NL" smtClean="0"/>
              <a:t>53</a:t>
            </a:fld>
            <a:endParaRPr lang="nl-NL"/>
          </a:p>
        </p:txBody>
      </p:sp>
    </p:spTree>
    <p:extLst>
      <p:ext uri="{BB962C8B-B14F-4D97-AF65-F5344CB8AC3E}">
        <p14:creationId xmlns:p14="http://schemas.microsoft.com/office/powerpoint/2010/main" val="13639564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STL Decomposition</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a:bodyPr>
          <a:lstStyle/>
          <a:p>
            <a:pPr>
              <a:lnSpc>
                <a:spcPct val="120000"/>
              </a:lnSpc>
            </a:pPr>
            <a:r>
              <a:rPr lang="en-AU" altLang="en-US" dirty="0"/>
              <a:t>Seasonal and Trend decomposition using Loess</a:t>
            </a:r>
          </a:p>
          <a:p>
            <a:pPr lvl="1">
              <a:lnSpc>
                <a:spcPct val="120000"/>
              </a:lnSpc>
            </a:pPr>
            <a:r>
              <a:rPr lang="en-AU" altLang="en-US" dirty="0"/>
              <a:t>Handle any type of seasonality </a:t>
            </a:r>
          </a:p>
          <a:p>
            <a:pPr lvl="1">
              <a:lnSpc>
                <a:spcPct val="120000"/>
              </a:lnSpc>
            </a:pPr>
            <a:r>
              <a:rPr lang="en-AU" altLang="en-US" dirty="0"/>
              <a:t>Seasonal component is allowed to change over time</a:t>
            </a:r>
          </a:p>
          <a:p>
            <a:pPr lvl="1">
              <a:lnSpc>
                <a:spcPct val="120000"/>
              </a:lnSpc>
            </a:pPr>
            <a:r>
              <a:rPr lang="en-AU" altLang="en-US" dirty="0"/>
              <a:t>Smoothness of the trend can be controlled by the user</a:t>
            </a:r>
          </a:p>
          <a:p>
            <a:pPr lvl="1">
              <a:lnSpc>
                <a:spcPct val="120000"/>
              </a:lnSpc>
            </a:pPr>
            <a:r>
              <a:rPr lang="en-AU" altLang="en-US" dirty="0"/>
              <a:t>Can be robust to outliers</a:t>
            </a:r>
          </a:p>
        </p:txBody>
      </p:sp>
      <p:sp>
        <p:nvSpPr>
          <p:cNvPr id="6" name="TextBox 5">
            <a:extLst>
              <a:ext uri="{FF2B5EF4-FFF2-40B4-BE49-F238E27FC236}">
                <a16:creationId xmlns:a16="http://schemas.microsoft.com/office/drawing/2014/main" id="{E3AFB1D2-E24B-3038-F86D-A6A9B25541F4}"/>
              </a:ext>
            </a:extLst>
          </p:cNvPr>
          <p:cNvSpPr txBox="1"/>
          <p:nvPr/>
        </p:nvSpPr>
        <p:spPr>
          <a:xfrm>
            <a:off x="4943476" y="3938330"/>
            <a:ext cx="7448550" cy="2554545"/>
          </a:xfrm>
          <a:prstGeom prst="rect">
            <a:avLst/>
          </a:prstGeom>
          <a:noFill/>
        </p:spPr>
        <p:txBody>
          <a:bodyPr wrap="square" rtlCol="0">
            <a:spAutoFit/>
          </a:bodyPr>
          <a:lstStyle/>
          <a:p>
            <a:r>
              <a:rPr lang="en-GB" sz="2000" b="0" dirty="0">
                <a:solidFill>
                  <a:srgbClr val="AF00DB"/>
                </a:solidFill>
                <a:effectLst/>
                <a:latin typeface="Courier New" panose="02070309020205020404" pitchFamily="49" charset="0"/>
              </a:rPr>
              <a:t>from</a:t>
            </a:r>
            <a:r>
              <a:rPr lang="en-GB" sz="2000" b="0" dirty="0">
                <a:solidFill>
                  <a:srgbClr val="000000"/>
                </a:solidFill>
                <a:effectLst/>
                <a:latin typeface="Courier New" panose="02070309020205020404" pitchFamily="49" charset="0"/>
              </a:rPr>
              <a:t> </a:t>
            </a:r>
            <a:r>
              <a:rPr lang="en-GB" sz="2000" b="0" dirty="0" err="1">
                <a:solidFill>
                  <a:srgbClr val="000000"/>
                </a:solidFill>
                <a:effectLst/>
                <a:latin typeface="Courier New" panose="02070309020205020404" pitchFamily="49" charset="0"/>
              </a:rPr>
              <a:t>statsmodels.tsa.seasonal</a:t>
            </a:r>
            <a:r>
              <a:rPr lang="en-GB" sz="2000" b="0" dirty="0">
                <a:solidFill>
                  <a:srgbClr val="000000"/>
                </a:solidFill>
                <a:effectLst/>
                <a:latin typeface="Courier New" panose="02070309020205020404" pitchFamily="49" charset="0"/>
              </a:rPr>
              <a:t> </a:t>
            </a:r>
            <a:r>
              <a:rPr lang="en-GB" sz="2000" b="0" dirty="0">
                <a:solidFill>
                  <a:srgbClr val="AF00DB"/>
                </a:solidFill>
                <a:effectLst/>
                <a:latin typeface="Courier New" panose="02070309020205020404" pitchFamily="49" charset="0"/>
              </a:rPr>
              <a:t>import</a:t>
            </a:r>
            <a:r>
              <a:rPr lang="en-GB" sz="2000" b="0" dirty="0">
                <a:solidFill>
                  <a:srgbClr val="000000"/>
                </a:solidFill>
                <a:effectLst/>
                <a:latin typeface="Courier New" panose="02070309020205020404" pitchFamily="49" charset="0"/>
              </a:rPr>
              <a:t> STL</a:t>
            </a:r>
          </a:p>
          <a:p>
            <a:r>
              <a:rPr lang="en-GB" sz="2000" b="0" dirty="0" err="1">
                <a:solidFill>
                  <a:srgbClr val="000000"/>
                </a:solidFill>
                <a:effectLst/>
                <a:latin typeface="Courier New" panose="02070309020205020404" pitchFamily="49" charset="0"/>
              </a:rPr>
              <a:t>df_oil_new</a:t>
            </a:r>
            <a:r>
              <a:rPr lang="en-GB" sz="2000" b="0" dirty="0">
                <a:solidFill>
                  <a:srgbClr val="000000"/>
                </a:solidFill>
                <a:effectLst/>
                <a:latin typeface="Courier New" panose="02070309020205020404" pitchFamily="49" charset="0"/>
              </a:rPr>
              <a:t> = </a:t>
            </a:r>
            <a:r>
              <a:rPr lang="en-GB" sz="2000" b="0" dirty="0" err="1">
                <a:solidFill>
                  <a:srgbClr val="000000"/>
                </a:solidFill>
                <a:effectLst/>
                <a:latin typeface="Courier New" panose="02070309020205020404" pitchFamily="49" charset="0"/>
              </a:rPr>
              <a:t>df_oil.dropna</a:t>
            </a:r>
            <a:r>
              <a:rPr lang="en-GB" sz="2000" b="0" dirty="0">
                <a:solidFill>
                  <a:srgbClr val="000000"/>
                </a:solidFill>
                <a:effectLst/>
                <a:latin typeface="Courier New" panose="02070309020205020404" pitchFamily="49" charset="0"/>
              </a:rPr>
              <a:t>()</a:t>
            </a:r>
          </a:p>
          <a:p>
            <a:r>
              <a:rPr lang="en-GB" sz="2000" b="0" dirty="0" err="1">
                <a:solidFill>
                  <a:srgbClr val="000000"/>
                </a:solidFill>
                <a:effectLst/>
                <a:latin typeface="Courier New" panose="02070309020205020404" pitchFamily="49" charset="0"/>
              </a:rPr>
              <a:t>dcoilwtico</a:t>
            </a:r>
            <a:r>
              <a:rPr lang="en-GB" sz="2000" b="0" dirty="0">
                <a:solidFill>
                  <a:srgbClr val="000000"/>
                </a:solidFill>
                <a:effectLst/>
                <a:latin typeface="Courier New" panose="02070309020205020404" pitchFamily="49" charset="0"/>
              </a:rPr>
              <a:t> = </a:t>
            </a:r>
            <a:r>
              <a:rPr lang="en-GB" sz="2000" b="0" dirty="0">
                <a:solidFill>
                  <a:srgbClr val="257693"/>
                </a:solidFill>
                <a:effectLst/>
                <a:latin typeface="Courier New" panose="02070309020205020404" pitchFamily="49" charset="0"/>
              </a:rPr>
              <a:t>list</a:t>
            </a:r>
            <a:r>
              <a:rPr lang="en-GB" sz="2000" b="0" dirty="0">
                <a:solidFill>
                  <a:srgbClr val="000000"/>
                </a:solidFill>
                <a:effectLst/>
                <a:latin typeface="Courier New" panose="02070309020205020404" pitchFamily="49" charset="0"/>
              </a:rPr>
              <a:t>(</a:t>
            </a:r>
            <a:r>
              <a:rPr lang="en-GB" sz="2000" b="0" dirty="0" err="1">
                <a:solidFill>
                  <a:srgbClr val="000000"/>
                </a:solidFill>
                <a:effectLst/>
                <a:latin typeface="Courier New" panose="02070309020205020404" pitchFamily="49" charset="0"/>
              </a:rPr>
              <a:t>df_oil_new.dcoilwtico</a:t>
            </a:r>
            <a:r>
              <a:rPr lang="en-GB" sz="2000" b="0" dirty="0">
                <a:solidFill>
                  <a:srgbClr val="000000"/>
                </a:solidFill>
                <a:effectLst/>
                <a:latin typeface="Courier New" panose="02070309020205020404" pitchFamily="49" charset="0"/>
              </a:rPr>
              <a:t>)</a:t>
            </a:r>
          </a:p>
          <a:p>
            <a:r>
              <a:rPr lang="en-GB" sz="2000" b="0" dirty="0" err="1">
                <a:solidFill>
                  <a:srgbClr val="000000"/>
                </a:solidFill>
                <a:effectLst/>
                <a:latin typeface="Courier New" panose="02070309020205020404" pitchFamily="49" charset="0"/>
              </a:rPr>
              <a:t>oil_data</a:t>
            </a:r>
            <a:r>
              <a:rPr lang="en-GB" sz="2000" b="0" dirty="0">
                <a:solidFill>
                  <a:srgbClr val="000000"/>
                </a:solidFill>
                <a:effectLst/>
                <a:latin typeface="Courier New" panose="02070309020205020404" pitchFamily="49" charset="0"/>
              </a:rPr>
              <a:t> = </a:t>
            </a:r>
            <a:r>
              <a:rPr lang="en-GB" sz="2000" b="0" dirty="0" err="1">
                <a:solidFill>
                  <a:srgbClr val="000000"/>
                </a:solidFill>
                <a:effectLst/>
                <a:latin typeface="Courier New" panose="02070309020205020404" pitchFamily="49" charset="0"/>
              </a:rPr>
              <a:t>pd.Series</a:t>
            </a:r>
            <a:r>
              <a:rPr lang="en-GB" sz="2000" b="0" dirty="0">
                <a:solidFill>
                  <a:srgbClr val="000000"/>
                </a:solidFill>
                <a:effectLst/>
                <a:latin typeface="Courier New" panose="02070309020205020404" pitchFamily="49" charset="0"/>
              </a:rPr>
              <a:t>(</a:t>
            </a:r>
          </a:p>
          <a:p>
            <a:r>
              <a:rPr lang="en-GB" sz="2000" b="0" dirty="0" err="1">
                <a:solidFill>
                  <a:srgbClr val="000000"/>
                </a:solidFill>
                <a:effectLst/>
                <a:latin typeface="Courier New" panose="02070309020205020404" pitchFamily="49" charset="0"/>
              </a:rPr>
              <a:t>dcoilwtico</a:t>
            </a:r>
            <a:r>
              <a:rPr lang="en-GB" sz="2000" b="0" dirty="0">
                <a:solidFill>
                  <a:srgbClr val="000000"/>
                </a:solidFill>
                <a:effectLst/>
                <a:latin typeface="Courier New" panose="02070309020205020404" pitchFamily="49" charset="0"/>
              </a:rPr>
              <a:t>, index=</a:t>
            </a:r>
            <a:r>
              <a:rPr lang="en-GB" sz="2000" b="0" dirty="0" err="1">
                <a:solidFill>
                  <a:srgbClr val="000000"/>
                </a:solidFill>
                <a:effectLst/>
                <a:latin typeface="Courier New" panose="02070309020205020404" pitchFamily="49" charset="0"/>
              </a:rPr>
              <a:t>df_oil_new.date</a:t>
            </a:r>
            <a:r>
              <a:rPr lang="en-GB" sz="2000" b="0" dirty="0">
                <a:solidFill>
                  <a:srgbClr val="000000"/>
                </a:solidFill>
                <a:effectLst/>
                <a:latin typeface="Courier New" panose="02070309020205020404" pitchFamily="49" charset="0"/>
              </a:rPr>
              <a:t>, name=</a:t>
            </a:r>
            <a:r>
              <a:rPr lang="en-GB" sz="2000" b="0" dirty="0">
                <a:solidFill>
                  <a:srgbClr val="A31515"/>
                </a:solidFill>
                <a:effectLst/>
                <a:latin typeface="Courier New" panose="02070309020205020404" pitchFamily="49" charset="0"/>
              </a:rPr>
              <a:t>"OIL"</a:t>
            </a:r>
            <a:r>
              <a:rPr lang="en-GB" sz="2000" b="0" dirty="0">
                <a:solidFill>
                  <a:srgbClr val="000000"/>
                </a:solidFill>
                <a:effectLst/>
                <a:latin typeface="Courier New" panose="02070309020205020404" pitchFamily="49" charset="0"/>
              </a:rPr>
              <a:t>)</a:t>
            </a:r>
          </a:p>
          <a:p>
            <a:r>
              <a:rPr lang="en-GB" sz="2000" b="0" dirty="0" err="1">
                <a:solidFill>
                  <a:srgbClr val="000000"/>
                </a:solidFill>
                <a:effectLst/>
                <a:latin typeface="Courier New" panose="02070309020205020404" pitchFamily="49" charset="0"/>
              </a:rPr>
              <a:t>stl</a:t>
            </a:r>
            <a:r>
              <a:rPr lang="en-GB" sz="2000" b="0" dirty="0">
                <a:solidFill>
                  <a:srgbClr val="000000"/>
                </a:solidFill>
                <a:effectLst/>
                <a:latin typeface="Courier New" panose="02070309020205020404" pitchFamily="49" charset="0"/>
              </a:rPr>
              <a:t> = STL(</a:t>
            </a:r>
            <a:r>
              <a:rPr lang="en-GB" sz="2000" b="0" dirty="0" err="1">
                <a:solidFill>
                  <a:srgbClr val="000000"/>
                </a:solidFill>
                <a:effectLst/>
                <a:latin typeface="Courier New" panose="02070309020205020404" pitchFamily="49" charset="0"/>
              </a:rPr>
              <a:t>oil_data</a:t>
            </a:r>
            <a:r>
              <a:rPr lang="en-GB" sz="2000" b="0" dirty="0">
                <a:solidFill>
                  <a:srgbClr val="000000"/>
                </a:solidFill>
                <a:effectLst/>
                <a:latin typeface="Courier New" panose="02070309020205020404" pitchFamily="49" charset="0"/>
              </a:rPr>
              <a:t>, period = </a:t>
            </a:r>
            <a:r>
              <a:rPr lang="en-GB" sz="2000" b="0" dirty="0">
                <a:solidFill>
                  <a:srgbClr val="098156"/>
                </a:solidFill>
                <a:effectLst/>
                <a:latin typeface="Courier New" panose="02070309020205020404" pitchFamily="49" charset="0"/>
              </a:rPr>
              <a:t>100</a:t>
            </a:r>
            <a:r>
              <a:rPr lang="en-GB" sz="2000" b="0" dirty="0">
                <a:solidFill>
                  <a:srgbClr val="000000"/>
                </a:solidFill>
                <a:effectLst/>
                <a:latin typeface="Courier New" panose="02070309020205020404" pitchFamily="49" charset="0"/>
              </a:rPr>
              <a:t>)</a:t>
            </a:r>
          </a:p>
          <a:p>
            <a:r>
              <a:rPr lang="en-GB" sz="2000" b="0" dirty="0">
                <a:solidFill>
                  <a:srgbClr val="000000"/>
                </a:solidFill>
                <a:effectLst/>
                <a:latin typeface="Courier New" panose="02070309020205020404" pitchFamily="49" charset="0"/>
              </a:rPr>
              <a:t>res = </a:t>
            </a:r>
            <a:r>
              <a:rPr lang="en-GB" sz="2000" b="0" dirty="0" err="1">
                <a:solidFill>
                  <a:srgbClr val="000000"/>
                </a:solidFill>
                <a:effectLst/>
                <a:latin typeface="Courier New" panose="02070309020205020404" pitchFamily="49" charset="0"/>
              </a:rPr>
              <a:t>stl.fit</a:t>
            </a:r>
            <a:r>
              <a:rPr lang="en-GB" sz="2000" b="0" dirty="0">
                <a:solidFill>
                  <a:srgbClr val="000000"/>
                </a:solidFill>
                <a:effectLst/>
                <a:latin typeface="Courier New" panose="02070309020205020404" pitchFamily="49" charset="0"/>
              </a:rPr>
              <a:t>()</a:t>
            </a:r>
          </a:p>
          <a:p>
            <a:r>
              <a:rPr lang="en-GB" sz="2000" b="0" dirty="0">
                <a:solidFill>
                  <a:srgbClr val="000000"/>
                </a:solidFill>
                <a:effectLst/>
                <a:latin typeface="Courier New" panose="02070309020205020404" pitchFamily="49" charset="0"/>
              </a:rPr>
              <a:t>fig = </a:t>
            </a:r>
            <a:r>
              <a:rPr lang="en-GB" sz="2000" b="0" dirty="0" err="1">
                <a:solidFill>
                  <a:srgbClr val="000000"/>
                </a:solidFill>
                <a:effectLst/>
                <a:latin typeface="Courier New" panose="02070309020205020404" pitchFamily="49" charset="0"/>
              </a:rPr>
              <a:t>res.plot</a:t>
            </a:r>
            <a:r>
              <a:rPr lang="en-GB" sz="2000" b="0" dirty="0">
                <a:solidFill>
                  <a:srgbClr val="000000"/>
                </a:solidFill>
                <a:effectLst/>
                <a:latin typeface="Courier New" panose="02070309020205020404" pitchFamily="49" charset="0"/>
              </a:rPr>
              <a:t>()</a:t>
            </a:r>
          </a:p>
        </p:txBody>
      </p:sp>
      <p:sp>
        <p:nvSpPr>
          <p:cNvPr id="4" name="Slide Number Placeholder 3">
            <a:extLst>
              <a:ext uri="{FF2B5EF4-FFF2-40B4-BE49-F238E27FC236}">
                <a16:creationId xmlns:a16="http://schemas.microsoft.com/office/drawing/2014/main" id="{45D2024D-CAB7-150D-00AF-3B06964F7314}"/>
              </a:ext>
            </a:extLst>
          </p:cNvPr>
          <p:cNvSpPr>
            <a:spLocks noGrp="1"/>
          </p:cNvSpPr>
          <p:nvPr>
            <p:ph type="sldNum" sz="quarter" idx="12"/>
          </p:nvPr>
        </p:nvSpPr>
        <p:spPr/>
        <p:txBody>
          <a:bodyPr/>
          <a:lstStyle/>
          <a:p>
            <a:fld id="{F8D8F54C-053C-4394-9990-70DE256B1A6D}" type="slidenum">
              <a:rPr lang="nl-NL" smtClean="0"/>
              <a:t>54</a:t>
            </a:fld>
            <a:endParaRPr lang="nl-NL"/>
          </a:p>
        </p:txBody>
      </p:sp>
    </p:spTree>
    <p:extLst>
      <p:ext uri="{BB962C8B-B14F-4D97-AF65-F5344CB8AC3E}">
        <p14:creationId xmlns:p14="http://schemas.microsoft.com/office/powerpoint/2010/main" val="16824468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58E363-DEF3-4AC8-A6C7-1973B994C704}"/>
              </a:ext>
            </a:extLst>
          </p:cNvPr>
          <p:cNvSpPr txBox="1">
            <a:spLocks/>
          </p:cNvSpPr>
          <p:nvPr/>
        </p:nvSpPr>
        <p:spPr>
          <a:xfrm>
            <a:off x="1211264" y="2715494"/>
            <a:ext cx="8277726" cy="542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Demand Forecasting</a:t>
            </a:r>
            <a:endParaRPr lang="nl-NL" b="1" dirty="0"/>
          </a:p>
        </p:txBody>
      </p:sp>
      <p:cxnSp>
        <p:nvCxnSpPr>
          <p:cNvPr id="3" name="Straight Connector 2">
            <a:extLst>
              <a:ext uri="{FF2B5EF4-FFF2-40B4-BE49-F238E27FC236}">
                <a16:creationId xmlns:a16="http://schemas.microsoft.com/office/drawing/2014/main" id="{3879DA28-57D8-46DC-9BF7-32D7F0AE8996}"/>
              </a:ext>
            </a:extLst>
          </p:cNvPr>
          <p:cNvCxnSpPr>
            <a:cxnSpLocks/>
          </p:cNvCxnSpPr>
          <p:nvPr/>
        </p:nvCxnSpPr>
        <p:spPr>
          <a:xfrm>
            <a:off x="1029405" y="3429000"/>
            <a:ext cx="9730554" cy="0"/>
          </a:xfrm>
          <a:prstGeom prst="line">
            <a:avLst/>
          </a:prstGeom>
          <a:ln w="95250">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p:spPr>
        <p:style>
          <a:lnRef idx="1">
            <a:schemeClr val="accent2"/>
          </a:lnRef>
          <a:fillRef idx="0">
            <a:schemeClr val="accent2"/>
          </a:fillRef>
          <a:effectRef idx="0">
            <a:schemeClr val="accent2"/>
          </a:effectRef>
          <a:fontRef idx="minor">
            <a:schemeClr val="tx1"/>
          </a:fontRef>
        </p:style>
      </p:cxnSp>
      <p:sp>
        <p:nvSpPr>
          <p:cNvPr id="4" name="Slide Number Placeholder 3">
            <a:extLst>
              <a:ext uri="{FF2B5EF4-FFF2-40B4-BE49-F238E27FC236}">
                <a16:creationId xmlns:a16="http://schemas.microsoft.com/office/drawing/2014/main" id="{84C0331C-3C07-C7AC-8BEC-93B3A8D46FB9}"/>
              </a:ext>
            </a:extLst>
          </p:cNvPr>
          <p:cNvSpPr>
            <a:spLocks noGrp="1"/>
          </p:cNvSpPr>
          <p:nvPr>
            <p:ph type="sldNum" sz="quarter" idx="12"/>
          </p:nvPr>
        </p:nvSpPr>
        <p:spPr/>
        <p:txBody>
          <a:bodyPr/>
          <a:lstStyle/>
          <a:p>
            <a:fld id="{F8D8F54C-053C-4394-9990-70DE256B1A6D}" type="slidenum">
              <a:rPr lang="nl-NL" smtClean="0"/>
              <a:t>55</a:t>
            </a:fld>
            <a:endParaRPr lang="nl-NL"/>
          </a:p>
        </p:txBody>
      </p:sp>
    </p:spTree>
    <p:extLst>
      <p:ext uri="{BB962C8B-B14F-4D97-AF65-F5344CB8AC3E}">
        <p14:creationId xmlns:p14="http://schemas.microsoft.com/office/powerpoint/2010/main" val="24017764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Decisions that Require Forecasting</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a:bodyPr>
          <a:lstStyle/>
          <a:p>
            <a:pPr>
              <a:lnSpc>
                <a:spcPct val="120000"/>
              </a:lnSpc>
            </a:pPr>
            <a:r>
              <a:rPr lang="en-AU" altLang="en-US" dirty="0"/>
              <a:t>What products to produce?</a:t>
            </a:r>
          </a:p>
          <a:p>
            <a:pPr>
              <a:lnSpc>
                <a:spcPct val="120000"/>
              </a:lnSpc>
            </a:pPr>
            <a:r>
              <a:rPr lang="en-AU" altLang="en-US" dirty="0"/>
              <a:t>How many people to hire?</a:t>
            </a:r>
          </a:p>
          <a:p>
            <a:pPr>
              <a:lnSpc>
                <a:spcPct val="120000"/>
              </a:lnSpc>
            </a:pPr>
            <a:r>
              <a:rPr lang="en-AU" altLang="en-US" dirty="0"/>
              <a:t>How many units to purchase?</a:t>
            </a:r>
          </a:p>
          <a:p>
            <a:pPr>
              <a:lnSpc>
                <a:spcPct val="120000"/>
              </a:lnSpc>
            </a:pPr>
            <a:r>
              <a:rPr lang="en-AU" altLang="en-US" dirty="0"/>
              <a:t>How many units to produce?</a:t>
            </a:r>
          </a:p>
          <a:p>
            <a:pPr>
              <a:lnSpc>
                <a:spcPct val="120000"/>
              </a:lnSpc>
            </a:pPr>
            <a:r>
              <a:rPr lang="en-AU" altLang="en-US" dirty="0"/>
              <a:t>How many items to order?</a:t>
            </a:r>
          </a:p>
          <a:p>
            <a:pPr>
              <a:lnSpc>
                <a:spcPct val="120000"/>
              </a:lnSpc>
            </a:pPr>
            <a:r>
              <a:rPr lang="en-AU" altLang="en-US" dirty="0"/>
              <a:t>And so on……</a:t>
            </a:r>
          </a:p>
        </p:txBody>
      </p:sp>
      <p:sp>
        <p:nvSpPr>
          <p:cNvPr id="4" name="Slide Number Placeholder 3">
            <a:extLst>
              <a:ext uri="{FF2B5EF4-FFF2-40B4-BE49-F238E27FC236}">
                <a16:creationId xmlns:a16="http://schemas.microsoft.com/office/drawing/2014/main" id="{AE7800DF-4573-7C51-08D8-3AF3E76D1188}"/>
              </a:ext>
            </a:extLst>
          </p:cNvPr>
          <p:cNvSpPr>
            <a:spLocks noGrp="1"/>
          </p:cNvSpPr>
          <p:nvPr>
            <p:ph type="sldNum" sz="quarter" idx="12"/>
          </p:nvPr>
        </p:nvSpPr>
        <p:spPr/>
        <p:txBody>
          <a:bodyPr/>
          <a:lstStyle/>
          <a:p>
            <a:fld id="{F8D8F54C-053C-4394-9990-70DE256B1A6D}" type="slidenum">
              <a:rPr lang="nl-NL" smtClean="0"/>
              <a:t>56</a:t>
            </a:fld>
            <a:endParaRPr lang="nl-NL"/>
          </a:p>
        </p:txBody>
      </p:sp>
    </p:spTree>
    <p:extLst>
      <p:ext uri="{BB962C8B-B14F-4D97-AF65-F5344CB8AC3E}">
        <p14:creationId xmlns:p14="http://schemas.microsoft.com/office/powerpoint/2010/main" val="7594488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Common Characteristics of Forecasting</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a:bodyPr>
          <a:lstStyle/>
          <a:p>
            <a:pPr>
              <a:lnSpc>
                <a:spcPct val="120000"/>
              </a:lnSpc>
            </a:pPr>
            <a:r>
              <a:rPr lang="en-AU" altLang="en-US" dirty="0"/>
              <a:t>Forecasts are rarely perfect</a:t>
            </a:r>
          </a:p>
          <a:p>
            <a:pPr>
              <a:lnSpc>
                <a:spcPct val="120000"/>
              </a:lnSpc>
            </a:pPr>
            <a:endParaRPr lang="en-AU" altLang="en-US" dirty="0"/>
          </a:p>
          <a:p>
            <a:pPr>
              <a:lnSpc>
                <a:spcPct val="120000"/>
              </a:lnSpc>
            </a:pPr>
            <a:r>
              <a:rPr lang="en-AU" altLang="en-US" dirty="0"/>
              <a:t>Forecasts are more accurate for aggregated data than for individual items</a:t>
            </a:r>
          </a:p>
          <a:p>
            <a:pPr>
              <a:lnSpc>
                <a:spcPct val="120000"/>
              </a:lnSpc>
            </a:pPr>
            <a:endParaRPr lang="en-AU" altLang="en-US" dirty="0"/>
          </a:p>
          <a:p>
            <a:pPr>
              <a:lnSpc>
                <a:spcPct val="120000"/>
              </a:lnSpc>
            </a:pPr>
            <a:r>
              <a:rPr lang="en-AU" altLang="en-US" dirty="0"/>
              <a:t>Forecast are more accurate for shorter than longer time periods</a:t>
            </a:r>
          </a:p>
        </p:txBody>
      </p:sp>
      <p:sp>
        <p:nvSpPr>
          <p:cNvPr id="4" name="Slide Number Placeholder 3">
            <a:extLst>
              <a:ext uri="{FF2B5EF4-FFF2-40B4-BE49-F238E27FC236}">
                <a16:creationId xmlns:a16="http://schemas.microsoft.com/office/drawing/2014/main" id="{40D0CB3A-8496-F71E-B533-495A2B1E014F}"/>
              </a:ext>
            </a:extLst>
          </p:cNvPr>
          <p:cNvSpPr>
            <a:spLocks noGrp="1"/>
          </p:cNvSpPr>
          <p:nvPr>
            <p:ph type="sldNum" sz="quarter" idx="12"/>
          </p:nvPr>
        </p:nvSpPr>
        <p:spPr/>
        <p:txBody>
          <a:bodyPr/>
          <a:lstStyle/>
          <a:p>
            <a:fld id="{F8D8F54C-053C-4394-9990-70DE256B1A6D}" type="slidenum">
              <a:rPr lang="nl-NL" smtClean="0"/>
              <a:t>57</a:t>
            </a:fld>
            <a:endParaRPr lang="nl-NL"/>
          </a:p>
        </p:txBody>
      </p:sp>
    </p:spTree>
    <p:extLst>
      <p:ext uri="{BB962C8B-B14F-4D97-AF65-F5344CB8AC3E}">
        <p14:creationId xmlns:p14="http://schemas.microsoft.com/office/powerpoint/2010/main" val="18550893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1198181" y="560881"/>
            <a:ext cx="9795638" cy="1114380"/>
          </a:xfrm>
        </p:spPr>
        <p:txBody>
          <a:bodyPr vert="horz" lIns="91440" tIns="45720" rIns="91440" bIns="45720" rtlCol="0" anchor="b">
            <a:normAutofit/>
          </a:bodyPr>
          <a:lstStyle/>
          <a:p>
            <a:pPr algn="ctr"/>
            <a:r>
              <a:rPr lang="en-US" altLang="nl-NL" sz="5200" b="1"/>
              <a:t>Why Forecasting is Important?</a:t>
            </a:r>
            <a:endParaRPr lang="en-US" sz="5200" b="1"/>
          </a:p>
        </p:txBody>
      </p:sp>
      <p:pic>
        <p:nvPicPr>
          <p:cNvPr id="7" name="Picture 6" descr="Graphical user interface, text, application&#10;&#10;Description automatically generated">
            <a:extLst>
              <a:ext uri="{FF2B5EF4-FFF2-40B4-BE49-F238E27FC236}">
                <a16:creationId xmlns:a16="http://schemas.microsoft.com/office/drawing/2014/main" id="{060D8D98-2D42-7241-BDDA-01CE050507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3305" y="2957665"/>
            <a:ext cx="4144119" cy="3346376"/>
          </a:xfrm>
          <a:prstGeom prst="rect">
            <a:avLst/>
          </a:prstGeom>
        </p:spPr>
      </p:pic>
      <p:pic>
        <p:nvPicPr>
          <p:cNvPr id="9" name="Picture 8" descr="Graphical user interface, text, application&#10;&#10;Description automatically generated">
            <a:extLst>
              <a:ext uri="{FF2B5EF4-FFF2-40B4-BE49-F238E27FC236}">
                <a16:creationId xmlns:a16="http://schemas.microsoft.com/office/drawing/2014/main" id="{EFCABAE2-5C65-F44B-BDDE-B191639BBF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7945" y="2957665"/>
            <a:ext cx="5397381" cy="3346376"/>
          </a:xfrm>
          <a:prstGeom prst="rect">
            <a:avLst/>
          </a:prstGeom>
        </p:spPr>
      </p:pic>
      <p:sp>
        <p:nvSpPr>
          <p:cNvPr id="3" name="Slide Number Placeholder 2">
            <a:extLst>
              <a:ext uri="{FF2B5EF4-FFF2-40B4-BE49-F238E27FC236}">
                <a16:creationId xmlns:a16="http://schemas.microsoft.com/office/drawing/2014/main" id="{5C016C6A-3EF9-58C5-B53D-461823450DB6}"/>
              </a:ext>
            </a:extLst>
          </p:cNvPr>
          <p:cNvSpPr>
            <a:spLocks noGrp="1"/>
          </p:cNvSpPr>
          <p:nvPr>
            <p:ph type="sldNum" sz="quarter" idx="12"/>
          </p:nvPr>
        </p:nvSpPr>
        <p:spPr/>
        <p:txBody>
          <a:bodyPr/>
          <a:lstStyle/>
          <a:p>
            <a:fld id="{F8D8F54C-053C-4394-9990-70DE256B1A6D}" type="slidenum">
              <a:rPr lang="nl-NL" smtClean="0"/>
              <a:t>58</a:t>
            </a:fld>
            <a:endParaRPr lang="nl-NL"/>
          </a:p>
        </p:txBody>
      </p:sp>
    </p:spTree>
    <p:extLst>
      <p:ext uri="{BB962C8B-B14F-4D97-AF65-F5344CB8AC3E}">
        <p14:creationId xmlns:p14="http://schemas.microsoft.com/office/powerpoint/2010/main" val="3098875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Forecasting Techniques</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4948280"/>
          </a:xfrm>
        </p:spPr>
        <p:txBody>
          <a:bodyPr>
            <a:normAutofit/>
          </a:bodyPr>
          <a:lstStyle/>
          <a:p>
            <a:pPr>
              <a:lnSpc>
                <a:spcPct val="120000"/>
              </a:lnSpc>
            </a:pPr>
            <a:r>
              <a:rPr lang="en-AU" altLang="en-US" dirty="0"/>
              <a:t>Naïve Forecasting</a:t>
            </a:r>
          </a:p>
          <a:p>
            <a:pPr>
              <a:lnSpc>
                <a:spcPct val="120000"/>
              </a:lnSpc>
            </a:pPr>
            <a:r>
              <a:rPr lang="en-AU" altLang="en-US" dirty="0"/>
              <a:t>Simple Mean</a:t>
            </a:r>
          </a:p>
          <a:p>
            <a:pPr>
              <a:lnSpc>
                <a:spcPct val="120000"/>
              </a:lnSpc>
            </a:pPr>
            <a:r>
              <a:rPr lang="en-AU" altLang="en-US" dirty="0"/>
              <a:t>Moving Average</a:t>
            </a:r>
          </a:p>
          <a:p>
            <a:pPr>
              <a:lnSpc>
                <a:spcPct val="120000"/>
              </a:lnSpc>
            </a:pPr>
            <a:r>
              <a:rPr lang="en-AU" altLang="en-US" dirty="0"/>
              <a:t>Weighted Moving Average</a:t>
            </a:r>
          </a:p>
          <a:p>
            <a:pPr>
              <a:lnSpc>
                <a:spcPct val="120000"/>
              </a:lnSpc>
            </a:pPr>
            <a:r>
              <a:rPr lang="en-AU" altLang="en-US" dirty="0"/>
              <a:t>Exponential Smoothing</a:t>
            </a:r>
          </a:p>
        </p:txBody>
      </p:sp>
      <p:sp>
        <p:nvSpPr>
          <p:cNvPr id="4" name="Slide Number Placeholder 3">
            <a:extLst>
              <a:ext uri="{FF2B5EF4-FFF2-40B4-BE49-F238E27FC236}">
                <a16:creationId xmlns:a16="http://schemas.microsoft.com/office/drawing/2014/main" id="{C90BCCBA-2905-CBED-1AEC-A47D85867B18}"/>
              </a:ext>
            </a:extLst>
          </p:cNvPr>
          <p:cNvSpPr>
            <a:spLocks noGrp="1"/>
          </p:cNvSpPr>
          <p:nvPr>
            <p:ph type="sldNum" sz="quarter" idx="12"/>
          </p:nvPr>
        </p:nvSpPr>
        <p:spPr/>
        <p:txBody>
          <a:bodyPr/>
          <a:lstStyle/>
          <a:p>
            <a:fld id="{F8D8F54C-053C-4394-9990-70DE256B1A6D}" type="slidenum">
              <a:rPr lang="nl-NL" smtClean="0"/>
              <a:t>59</a:t>
            </a:fld>
            <a:endParaRPr lang="nl-NL"/>
          </a:p>
        </p:txBody>
      </p:sp>
    </p:spTree>
    <p:extLst>
      <p:ext uri="{BB962C8B-B14F-4D97-AF65-F5344CB8AC3E}">
        <p14:creationId xmlns:p14="http://schemas.microsoft.com/office/powerpoint/2010/main" val="19367883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Forecasting – Example</a:t>
            </a:r>
            <a:endParaRPr lang="nl-NL"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6012051" cy="4948280"/>
          </a:xfrm>
        </p:spPr>
        <p:txBody>
          <a:bodyPr>
            <a:normAutofit/>
          </a:bodyPr>
          <a:lstStyle/>
          <a:p>
            <a:pPr>
              <a:lnSpc>
                <a:spcPct val="120000"/>
              </a:lnSpc>
            </a:pPr>
            <a:r>
              <a:rPr lang="en-AU" altLang="en-US" dirty="0"/>
              <a:t>Determine forecast for periods 11</a:t>
            </a:r>
          </a:p>
          <a:p>
            <a:pPr lvl="1">
              <a:lnSpc>
                <a:spcPct val="120000"/>
              </a:lnSpc>
            </a:pPr>
            <a:r>
              <a:rPr lang="en-AU" altLang="en-US" dirty="0"/>
              <a:t>Naïve forecast</a:t>
            </a:r>
          </a:p>
          <a:p>
            <a:pPr lvl="1">
              <a:lnSpc>
                <a:spcPct val="120000"/>
              </a:lnSpc>
            </a:pPr>
            <a:r>
              <a:rPr lang="en-AU" altLang="en-US" dirty="0"/>
              <a:t>Simple average</a:t>
            </a:r>
          </a:p>
          <a:p>
            <a:pPr lvl="1">
              <a:lnSpc>
                <a:spcPct val="120000"/>
              </a:lnSpc>
            </a:pPr>
            <a:r>
              <a:rPr lang="en-AU" altLang="en-US" dirty="0"/>
              <a:t>3- and 5-period moving average</a:t>
            </a:r>
          </a:p>
          <a:p>
            <a:pPr lvl="1">
              <a:lnSpc>
                <a:spcPct val="120000"/>
              </a:lnSpc>
            </a:pPr>
            <a:r>
              <a:rPr lang="en-AU" altLang="en-US" dirty="0"/>
              <a:t>3-period weighted moving average with weights 0.5, 0.3, and 0.2</a:t>
            </a:r>
          </a:p>
          <a:p>
            <a:pPr lvl="1">
              <a:lnSpc>
                <a:spcPct val="120000"/>
              </a:lnSpc>
            </a:pPr>
            <a:r>
              <a:rPr lang="en-AU" altLang="en-US" dirty="0"/>
              <a:t>Exponential smoothing with alpha=0.2 and 0.5</a:t>
            </a:r>
          </a:p>
        </p:txBody>
      </p:sp>
      <p:graphicFrame>
        <p:nvGraphicFramePr>
          <p:cNvPr id="4" name="Table 4">
            <a:extLst>
              <a:ext uri="{FF2B5EF4-FFF2-40B4-BE49-F238E27FC236}">
                <a16:creationId xmlns:a16="http://schemas.microsoft.com/office/drawing/2014/main" id="{8E0441AB-63CC-C042-B1A5-7E9B327317C0}"/>
              </a:ext>
            </a:extLst>
          </p:cNvPr>
          <p:cNvGraphicFramePr>
            <a:graphicFrameLocks noGrp="1"/>
          </p:cNvGraphicFramePr>
          <p:nvPr>
            <p:extLst>
              <p:ext uri="{D42A27DB-BD31-4B8C-83A1-F6EECF244321}">
                <p14:modId xmlns:p14="http://schemas.microsoft.com/office/powerpoint/2010/main" val="4154499937"/>
              </p:ext>
            </p:extLst>
          </p:nvPr>
        </p:nvGraphicFramePr>
        <p:xfrm>
          <a:off x="8601559" y="1463585"/>
          <a:ext cx="2448734" cy="5029200"/>
        </p:xfrm>
        <a:graphic>
          <a:graphicData uri="http://schemas.openxmlformats.org/drawingml/2006/table">
            <a:tbl>
              <a:tblPr firstRow="1" bandRow="1">
                <a:tableStyleId>{793D81CF-94F2-401A-BA57-92F5A7B2D0C5}</a:tableStyleId>
              </a:tblPr>
              <a:tblGrid>
                <a:gridCol w="1224367">
                  <a:extLst>
                    <a:ext uri="{9D8B030D-6E8A-4147-A177-3AD203B41FA5}">
                      <a16:colId xmlns:a16="http://schemas.microsoft.com/office/drawing/2014/main" val="1587537030"/>
                    </a:ext>
                  </a:extLst>
                </a:gridCol>
                <a:gridCol w="1224367">
                  <a:extLst>
                    <a:ext uri="{9D8B030D-6E8A-4147-A177-3AD203B41FA5}">
                      <a16:colId xmlns:a16="http://schemas.microsoft.com/office/drawing/2014/main" val="1462394367"/>
                    </a:ext>
                  </a:extLst>
                </a:gridCol>
              </a:tblGrid>
              <a:tr h="370840">
                <a:tc>
                  <a:txBody>
                    <a:bodyPr/>
                    <a:lstStyle/>
                    <a:p>
                      <a:pPr algn="ctr"/>
                      <a:r>
                        <a:rPr lang="en-US" sz="2400" dirty="0"/>
                        <a:t>Period</a:t>
                      </a:r>
                    </a:p>
                  </a:txBody>
                  <a:tcPr/>
                </a:tc>
                <a:tc>
                  <a:txBody>
                    <a:bodyPr/>
                    <a:lstStyle/>
                    <a:p>
                      <a:pPr algn="ctr"/>
                      <a:r>
                        <a:rPr lang="en-US" sz="2400" dirty="0"/>
                        <a:t>Orders</a:t>
                      </a:r>
                    </a:p>
                  </a:txBody>
                  <a:tcPr/>
                </a:tc>
                <a:extLst>
                  <a:ext uri="{0D108BD9-81ED-4DB2-BD59-A6C34878D82A}">
                    <a16:rowId xmlns:a16="http://schemas.microsoft.com/office/drawing/2014/main" val="934362906"/>
                  </a:ext>
                </a:extLst>
              </a:tr>
              <a:tr h="370840">
                <a:tc>
                  <a:txBody>
                    <a:bodyPr/>
                    <a:lstStyle/>
                    <a:p>
                      <a:pPr algn="ctr"/>
                      <a:r>
                        <a:rPr lang="en-US" sz="2400" dirty="0"/>
                        <a:t>1</a:t>
                      </a:r>
                    </a:p>
                  </a:txBody>
                  <a:tcPr/>
                </a:tc>
                <a:tc>
                  <a:txBody>
                    <a:bodyPr/>
                    <a:lstStyle/>
                    <a:p>
                      <a:pPr algn="ctr"/>
                      <a:r>
                        <a:rPr lang="en-US" sz="2400" dirty="0"/>
                        <a:t>122</a:t>
                      </a:r>
                    </a:p>
                  </a:txBody>
                  <a:tcPr/>
                </a:tc>
                <a:extLst>
                  <a:ext uri="{0D108BD9-81ED-4DB2-BD59-A6C34878D82A}">
                    <a16:rowId xmlns:a16="http://schemas.microsoft.com/office/drawing/2014/main" val="3825270358"/>
                  </a:ext>
                </a:extLst>
              </a:tr>
              <a:tr h="370840">
                <a:tc>
                  <a:txBody>
                    <a:bodyPr/>
                    <a:lstStyle/>
                    <a:p>
                      <a:pPr algn="ctr"/>
                      <a:r>
                        <a:rPr lang="en-US" sz="2400" dirty="0"/>
                        <a:t>2</a:t>
                      </a:r>
                    </a:p>
                  </a:txBody>
                  <a:tcPr/>
                </a:tc>
                <a:tc>
                  <a:txBody>
                    <a:bodyPr/>
                    <a:lstStyle/>
                    <a:p>
                      <a:pPr algn="ctr"/>
                      <a:r>
                        <a:rPr lang="en-US" sz="2400" dirty="0"/>
                        <a:t>91</a:t>
                      </a:r>
                    </a:p>
                  </a:txBody>
                  <a:tcPr/>
                </a:tc>
                <a:extLst>
                  <a:ext uri="{0D108BD9-81ED-4DB2-BD59-A6C34878D82A}">
                    <a16:rowId xmlns:a16="http://schemas.microsoft.com/office/drawing/2014/main" val="214079680"/>
                  </a:ext>
                </a:extLst>
              </a:tr>
              <a:tr h="370840">
                <a:tc>
                  <a:txBody>
                    <a:bodyPr/>
                    <a:lstStyle/>
                    <a:p>
                      <a:pPr algn="ctr"/>
                      <a:r>
                        <a:rPr lang="en-US" sz="2400" dirty="0"/>
                        <a:t>3</a:t>
                      </a:r>
                    </a:p>
                  </a:txBody>
                  <a:tcPr/>
                </a:tc>
                <a:tc>
                  <a:txBody>
                    <a:bodyPr/>
                    <a:lstStyle/>
                    <a:p>
                      <a:pPr algn="ctr"/>
                      <a:r>
                        <a:rPr lang="en-US" sz="2400" dirty="0"/>
                        <a:t>100</a:t>
                      </a:r>
                    </a:p>
                  </a:txBody>
                  <a:tcPr/>
                </a:tc>
                <a:extLst>
                  <a:ext uri="{0D108BD9-81ED-4DB2-BD59-A6C34878D82A}">
                    <a16:rowId xmlns:a16="http://schemas.microsoft.com/office/drawing/2014/main" val="322780954"/>
                  </a:ext>
                </a:extLst>
              </a:tr>
              <a:tr h="370840">
                <a:tc>
                  <a:txBody>
                    <a:bodyPr/>
                    <a:lstStyle/>
                    <a:p>
                      <a:pPr algn="ctr"/>
                      <a:r>
                        <a:rPr lang="en-US" sz="2400" dirty="0"/>
                        <a:t>4</a:t>
                      </a:r>
                    </a:p>
                  </a:txBody>
                  <a:tcPr/>
                </a:tc>
                <a:tc>
                  <a:txBody>
                    <a:bodyPr/>
                    <a:lstStyle/>
                    <a:p>
                      <a:pPr algn="ctr"/>
                      <a:r>
                        <a:rPr lang="en-US" sz="2400" dirty="0"/>
                        <a:t>77</a:t>
                      </a:r>
                    </a:p>
                  </a:txBody>
                  <a:tcPr/>
                </a:tc>
                <a:extLst>
                  <a:ext uri="{0D108BD9-81ED-4DB2-BD59-A6C34878D82A}">
                    <a16:rowId xmlns:a16="http://schemas.microsoft.com/office/drawing/2014/main" val="3992653053"/>
                  </a:ext>
                </a:extLst>
              </a:tr>
              <a:tr h="370840">
                <a:tc>
                  <a:txBody>
                    <a:bodyPr/>
                    <a:lstStyle/>
                    <a:p>
                      <a:pPr algn="ctr"/>
                      <a:r>
                        <a:rPr lang="en-US" sz="2400" dirty="0"/>
                        <a:t>5</a:t>
                      </a:r>
                    </a:p>
                  </a:txBody>
                  <a:tcPr/>
                </a:tc>
                <a:tc>
                  <a:txBody>
                    <a:bodyPr/>
                    <a:lstStyle/>
                    <a:p>
                      <a:pPr algn="ctr"/>
                      <a:r>
                        <a:rPr lang="en-US" sz="2400" dirty="0"/>
                        <a:t>115</a:t>
                      </a:r>
                    </a:p>
                  </a:txBody>
                  <a:tcPr/>
                </a:tc>
                <a:extLst>
                  <a:ext uri="{0D108BD9-81ED-4DB2-BD59-A6C34878D82A}">
                    <a16:rowId xmlns:a16="http://schemas.microsoft.com/office/drawing/2014/main" val="550763541"/>
                  </a:ext>
                </a:extLst>
              </a:tr>
              <a:tr h="370840">
                <a:tc>
                  <a:txBody>
                    <a:bodyPr/>
                    <a:lstStyle/>
                    <a:p>
                      <a:pPr algn="ctr"/>
                      <a:r>
                        <a:rPr lang="en-US" sz="2400" dirty="0"/>
                        <a:t>6</a:t>
                      </a:r>
                    </a:p>
                  </a:txBody>
                  <a:tcPr/>
                </a:tc>
                <a:tc>
                  <a:txBody>
                    <a:bodyPr/>
                    <a:lstStyle/>
                    <a:p>
                      <a:pPr algn="ctr"/>
                      <a:r>
                        <a:rPr lang="en-US" sz="2400" dirty="0"/>
                        <a:t>58</a:t>
                      </a:r>
                    </a:p>
                  </a:txBody>
                  <a:tcPr/>
                </a:tc>
                <a:extLst>
                  <a:ext uri="{0D108BD9-81ED-4DB2-BD59-A6C34878D82A}">
                    <a16:rowId xmlns:a16="http://schemas.microsoft.com/office/drawing/2014/main" val="4228619177"/>
                  </a:ext>
                </a:extLst>
              </a:tr>
              <a:tr h="370840">
                <a:tc>
                  <a:txBody>
                    <a:bodyPr/>
                    <a:lstStyle/>
                    <a:p>
                      <a:pPr algn="ctr"/>
                      <a:r>
                        <a:rPr lang="en-US" sz="2400" dirty="0"/>
                        <a:t>7</a:t>
                      </a:r>
                    </a:p>
                  </a:txBody>
                  <a:tcPr/>
                </a:tc>
                <a:tc>
                  <a:txBody>
                    <a:bodyPr/>
                    <a:lstStyle/>
                    <a:p>
                      <a:pPr algn="ctr"/>
                      <a:r>
                        <a:rPr lang="en-US" sz="2400" dirty="0"/>
                        <a:t>75</a:t>
                      </a:r>
                    </a:p>
                  </a:txBody>
                  <a:tcPr/>
                </a:tc>
                <a:extLst>
                  <a:ext uri="{0D108BD9-81ED-4DB2-BD59-A6C34878D82A}">
                    <a16:rowId xmlns:a16="http://schemas.microsoft.com/office/drawing/2014/main" val="4170487017"/>
                  </a:ext>
                </a:extLst>
              </a:tr>
              <a:tr h="370840">
                <a:tc>
                  <a:txBody>
                    <a:bodyPr/>
                    <a:lstStyle/>
                    <a:p>
                      <a:pPr algn="ctr"/>
                      <a:r>
                        <a:rPr lang="en-US" sz="2400" dirty="0"/>
                        <a:t>8</a:t>
                      </a:r>
                    </a:p>
                  </a:txBody>
                  <a:tcPr/>
                </a:tc>
                <a:tc>
                  <a:txBody>
                    <a:bodyPr/>
                    <a:lstStyle/>
                    <a:p>
                      <a:pPr algn="ctr"/>
                      <a:r>
                        <a:rPr lang="en-US" sz="2400" dirty="0"/>
                        <a:t>128</a:t>
                      </a:r>
                    </a:p>
                  </a:txBody>
                  <a:tcPr/>
                </a:tc>
                <a:extLst>
                  <a:ext uri="{0D108BD9-81ED-4DB2-BD59-A6C34878D82A}">
                    <a16:rowId xmlns:a16="http://schemas.microsoft.com/office/drawing/2014/main" val="549461603"/>
                  </a:ext>
                </a:extLst>
              </a:tr>
              <a:tr h="370840">
                <a:tc>
                  <a:txBody>
                    <a:bodyPr/>
                    <a:lstStyle/>
                    <a:p>
                      <a:pPr algn="ctr"/>
                      <a:r>
                        <a:rPr lang="en-US" sz="2400" dirty="0"/>
                        <a:t>9</a:t>
                      </a:r>
                    </a:p>
                  </a:txBody>
                  <a:tcPr/>
                </a:tc>
                <a:tc>
                  <a:txBody>
                    <a:bodyPr/>
                    <a:lstStyle/>
                    <a:p>
                      <a:pPr algn="ctr"/>
                      <a:r>
                        <a:rPr lang="en-US" sz="2400" dirty="0"/>
                        <a:t>111</a:t>
                      </a:r>
                    </a:p>
                  </a:txBody>
                  <a:tcPr/>
                </a:tc>
                <a:extLst>
                  <a:ext uri="{0D108BD9-81ED-4DB2-BD59-A6C34878D82A}">
                    <a16:rowId xmlns:a16="http://schemas.microsoft.com/office/drawing/2014/main" val="1675822261"/>
                  </a:ext>
                </a:extLst>
              </a:tr>
              <a:tr h="370840">
                <a:tc>
                  <a:txBody>
                    <a:bodyPr/>
                    <a:lstStyle/>
                    <a:p>
                      <a:pPr algn="ctr"/>
                      <a:r>
                        <a:rPr lang="en-US" sz="2400" dirty="0"/>
                        <a:t>10</a:t>
                      </a:r>
                    </a:p>
                  </a:txBody>
                  <a:tcPr/>
                </a:tc>
                <a:tc>
                  <a:txBody>
                    <a:bodyPr/>
                    <a:lstStyle/>
                    <a:p>
                      <a:pPr algn="ctr"/>
                      <a:r>
                        <a:rPr lang="en-US" sz="2400" dirty="0"/>
                        <a:t>88</a:t>
                      </a:r>
                    </a:p>
                  </a:txBody>
                  <a:tcPr/>
                </a:tc>
                <a:extLst>
                  <a:ext uri="{0D108BD9-81ED-4DB2-BD59-A6C34878D82A}">
                    <a16:rowId xmlns:a16="http://schemas.microsoft.com/office/drawing/2014/main" val="3381910438"/>
                  </a:ext>
                </a:extLst>
              </a:tr>
            </a:tbl>
          </a:graphicData>
        </a:graphic>
      </p:graphicFrame>
      <p:sp>
        <p:nvSpPr>
          <p:cNvPr id="5" name="Slide Number Placeholder 4">
            <a:extLst>
              <a:ext uri="{FF2B5EF4-FFF2-40B4-BE49-F238E27FC236}">
                <a16:creationId xmlns:a16="http://schemas.microsoft.com/office/drawing/2014/main" id="{5B4395FD-B4D7-BD69-AC93-240B201B9F0B}"/>
              </a:ext>
            </a:extLst>
          </p:cNvPr>
          <p:cNvSpPr>
            <a:spLocks noGrp="1"/>
          </p:cNvSpPr>
          <p:nvPr>
            <p:ph type="sldNum" sz="quarter" idx="12"/>
          </p:nvPr>
        </p:nvSpPr>
        <p:spPr/>
        <p:txBody>
          <a:bodyPr/>
          <a:lstStyle/>
          <a:p>
            <a:fld id="{F8D8F54C-053C-4394-9990-70DE256B1A6D}" type="slidenum">
              <a:rPr lang="nl-NL" smtClean="0"/>
              <a:t>60</a:t>
            </a:fld>
            <a:endParaRPr lang="nl-NL"/>
          </a:p>
        </p:txBody>
      </p:sp>
    </p:spTree>
    <p:extLst>
      <p:ext uri="{BB962C8B-B14F-4D97-AF65-F5344CB8AC3E}">
        <p14:creationId xmlns:p14="http://schemas.microsoft.com/office/powerpoint/2010/main" val="28990191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Naïve Forecasting</a:t>
            </a:r>
            <a:br>
              <a:rPr lang="en-AU" altLang="en-US" sz="3200" dirty="0"/>
            </a:b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614363" y="1251284"/>
                <a:ext cx="5481637" cy="4948280"/>
              </a:xfrm>
            </p:spPr>
            <p:txBody>
              <a:bodyPr>
                <a:normAutofit/>
              </a:bodyPr>
              <a:lstStyle/>
              <a:p>
                <a:pPr>
                  <a:lnSpc>
                    <a:spcPct val="120000"/>
                  </a:lnSpc>
                </a:pPr>
                <a:r>
                  <a:rPr lang="en-AU" altLang="en-US" dirty="0"/>
                  <a:t>Next period’s forecast = previous period’s actual</a:t>
                </a:r>
              </a:p>
              <a:p>
                <a:pPr>
                  <a:lnSpc>
                    <a:spcPct val="120000"/>
                  </a:lnSpc>
                </a:pPr>
                <a:endParaRPr lang="en-AU" altLang="en-US" dirty="0"/>
              </a:p>
              <a:p>
                <a:pPr marL="457200" lvl="1" indent="0">
                  <a:lnSpc>
                    <a:spcPct val="120000"/>
                  </a:lnSpc>
                  <a:buNone/>
                </a:pPr>
                <a14:m>
                  <m:oMathPara xmlns:m="http://schemas.openxmlformats.org/officeDocument/2006/math">
                    <m:oMathParaPr>
                      <m:jc m:val="centerGroup"/>
                    </m:oMathParaPr>
                    <m:oMath xmlns:m="http://schemas.openxmlformats.org/officeDocument/2006/math">
                      <m:sSub>
                        <m:sSubPr>
                          <m:ctrlPr>
                            <a:rPr lang="en-US" altLang="en-US" b="0" i="1" smtClean="0">
                              <a:latin typeface="Cambria Math" panose="02040503050406030204" pitchFamily="18" charset="0"/>
                            </a:rPr>
                          </m:ctrlPr>
                        </m:sSubPr>
                        <m:e>
                          <m:acc>
                            <m:accPr>
                              <m:chr m:val="̂"/>
                              <m:ctrlPr>
                                <a:rPr lang="en-US" altLang="en-US" b="0" i="1" smtClean="0">
                                  <a:latin typeface="Cambria Math" panose="02040503050406030204" pitchFamily="18" charset="0"/>
                                </a:rPr>
                              </m:ctrlPr>
                            </m:accPr>
                            <m:e>
                              <m:r>
                                <a:rPr lang="en-US" altLang="en-US" b="0" i="1" smtClean="0">
                                  <a:latin typeface="Cambria Math" panose="02040503050406030204" pitchFamily="18" charset="0"/>
                                </a:rPr>
                                <m:t>𝑦</m:t>
                              </m:r>
                            </m:e>
                          </m:acc>
                        </m:e>
                        <m:sub>
                          <m:r>
                            <a:rPr lang="en-US" altLang="en-US" b="0" i="1" smtClean="0">
                              <a:latin typeface="Cambria Math" panose="02040503050406030204" pitchFamily="18" charset="0"/>
                            </a:rPr>
                            <m:t>𝑡</m:t>
                          </m:r>
                          <m:r>
                            <a:rPr lang="en-US" altLang="en-US" b="0" i="1" smtClean="0">
                              <a:latin typeface="Cambria Math" panose="02040503050406030204" pitchFamily="18" charset="0"/>
                            </a:rPr>
                            <m:t>+1</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 </m:t>
                      </m:r>
                    </m:oMath>
                  </m:oMathPara>
                </a14:m>
                <a:endParaRPr lang="en-AU" altLang="en-US" dirty="0"/>
              </a:p>
              <a:p>
                <a:pPr marL="457200" lvl="1" indent="0">
                  <a:lnSpc>
                    <a:spcPct val="120000"/>
                  </a:lnSpc>
                  <a:buNone/>
                </a:pPr>
                <a14:m>
                  <m:oMath xmlns:m="http://schemas.openxmlformats.org/officeDocument/2006/math">
                    <m:sSub>
                      <m:sSubPr>
                        <m:ctrlPr>
                          <a:rPr lang="en-US" altLang="en-US" i="1" dirty="0">
                            <a:latin typeface="Cambria Math" panose="02040503050406030204" pitchFamily="18" charset="0"/>
                          </a:rPr>
                        </m:ctrlPr>
                      </m:sSubPr>
                      <m:e>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𝑦</m:t>
                            </m:r>
                          </m:e>
                        </m:acc>
                      </m:e>
                      <m:sub>
                        <m:r>
                          <a:rPr lang="en-US" altLang="en-US" i="1" dirty="0">
                            <a:latin typeface="Cambria Math" panose="02040503050406030204" pitchFamily="18" charset="0"/>
                          </a:rPr>
                          <m:t>𝑡</m:t>
                        </m:r>
                      </m:sub>
                    </m:sSub>
                  </m:oMath>
                </a14:m>
                <a:r>
                  <a:rPr lang="en-AU" altLang="en-US" dirty="0"/>
                  <a:t> represents the predicted value at time </a:t>
                </a:r>
                <a14:m>
                  <m:oMath xmlns:m="http://schemas.openxmlformats.org/officeDocument/2006/math">
                    <m:r>
                      <a:rPr lang="en-US" altLang="en-US" i="1">
                        <a:latin typeface="Cambria Math" panose="02040503050406030204" pitchFamily="18" charset="0"/>
                      </a:rPr>
                      <m:t>𝑡</m:t>
                    </m:r>
                  </m:oMath>
                </a14:m>
                <a:endParaRPr lang="en-US" altLang="en-US" i="1" dirty="0">
                  <a:latin typeface="Cambria Math" panose="02040503050406030204" pitchFamily="18" charset="0"/>
                </a:endParaRPr>
              </a:p>
              <a:p>
                <a:pPr marL="457200" lvl="1" indent="0">
                  <a:lnSpc>
                    <a:spcPct val="120000"/>
                  </a:lnSpc>
                  <a:buNone/>
                </a:pPr>
                <a14:m>
                  <m:oMath xmlns:m="http://schemas.openxmlformats.org/officeDocument/2006/math">
                    <m:r>
                      <a:rPr lang="en-US" altLang="en-US" i="1">
                        <a:latin typeface="Cambria Math" panose="02040503050406030204" pitchFamily="18" charset="0"/>
                      </a:rPr>
                      <m:t>𝑦</m:t>
                    </m:r>
                  </m:oMath>
                </a14:m>
                <a:r>
                  <a:rPr lang="en-AU" altLang="en-US" dirty="0"/>
                  <a:t> represents the actual value at time </a:t>
                </a:r>
                <a14:m>
                  <m:oMath xmlns:m="http://schemas.openxmlformats.org/officeDocument/2006/math">
                    <m:r>
                      <a:rPr lang="en-US" altLang="en-US" i="1">
                        <a:latin typeface="Cambria Math" panose="02040503050406030204" pitchFamily="18" charset="0"/>
                      </a:rPr>
                      <m:t>𝑡</m:t>
                    </m:r>
                  </m:oMath>
                </a14:m>
                <a:endParaRPr lang="en-AU" altLang="en-US" dirty="0"/>
              </a:p>
              <a:p>
                <a:pPr marL="457200" lvl="1" indent="0">
                  <a:lnSpc>
                    <a:spcPct val="120000"/>
                  </a:lnSpc>
                  <a:buNone/>
                </a:pPr>
                <a:endParaRPr lang="en-AU" altLang="en-US" dirty="0"/>
              </a:p>
              <a:p>
                <a:pPr marL="457200" lvl="1" indent="0">
                  <a:lnSpc>
                    <a:spcPct val="120000"/>
                  </a:lnSpc>
                  <a:buNone/>
                </a:pPr>
                <a:endParaRPr lang="en-AU" altLang="en-US" dirty="0"/>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614363" y="1251284"/>
                <a:ext cx="5481637" cy="4948280"/>
              </a:xfrm>
              <a:blipFill>
                <a:blip r:embed="rId2"/>
                <a:stretch>
                  <a:fillRect l="-2079" t="-256"/>
                </a:stretch>
              </a:blipFill>
            </p:spPr>
            <p:txBody>
              <a:bodyPr/>
              <a:lstStyle/>
              <a:p>
                <a:r>
                  <a:rPr lang="en-US">
                    <a:noFill/>
                  </a:rPr>
                  <a:t> </a:t>
                </a:r>
              </a:p>
            </p:txBody>
          </p:sp>
        </mc:Fallback>
      </mc:AlternateContent>
      <p:graphicFrame>
        <p:nvGraphicFramePr>
          <p:cNvPr id="4" name="Table 4">
            <a:extLst>
              <a:ext uri="{FF2B5EF4-FFF2-40B4-BE49-F238E27FC236}">
                <a16:creationId xmlns:a16="http://schemas.microsoft.com/office/drawing/2014/main" id="{3338AB65-3538-8041-8BB9-792AB8998988}"/>
              </a:ext>
            </a:extLst>
          </p:cNvPr>
          <p:cNvGraphicFramePr>
            <a:graphicFrameLocks noGrp="1"/>
          </p:cNvGraphicFramePr>
          <p:nvPr>
            <p:extLst>
              <p:ext uri="{D42A27DB-BD31-4B8C-83A1-F6EECF244321}">
                <p14:modId xmlns:p14="http://schemas.microsoft.com/office/powerpoint/2010/main" val="1511982738"/>
              </p:ext>
            </p:extLst>
          </p:nvPr>
        </p:nvGraphicFramePr>
        <p:xfrm>
          <a:off x="6691392" y="885694"/>
          <a:ext cx="4438974" cy="5852160"/>
        </p:xfrm>
        <a:graphic>
          <a:graphicData uri="http://schemas.openxmlformats.org/drawingml/2006/table">
            <a:tbl>
              <a:tblPr firstRow="1" bandRow="1">
                <a:tableStyleId>{793D81CF-94F2-401A-BA57-92F5A7B2D0C5}</a:tableStyleId>
              </a:tblPr>
              <a:tblGrid>
                <a:gridCol w="1479658">
                  <a:extLst>
                    <a:ext uri="{9D8B030D-6E8A-4147-A177-3AD203B41FA5}">
                      <a16:colId xmlns:a16="http://schemas.microsoft.com/office/drawing/2014/main" val="1587537030"/>
                    </a:ext>
                  </a:extLst>
                </a:gridCol>
                <a:gridCol w="1479658">
                  <a:extLst>
                    <a:ext uri="{9D8B030D-6E8A-4147-A177-3AD203B41FA5}">
                      <a16:colId xmlns:a16="http://schemas.microsoft.com/office/drawing/2014/main" val="1462394367"/>
                    </a:ext>
                  </a:extLst>
                </a:gridCol>
                <a:gridCol w="1479658">
                  <a:extLst>
                    <a:ext uri="{9D8B030D-6E8A-4147-A177-3AD203B41FA5}">
                      <a16:colId xmlns:a16="http://schemas.microsoft.com/office/drawing/2014/main" val="3258343430"/>
                    </a:ext>
                  </a:extLst>
                </a:gridCol>
              </a:tblGrid>
              <a:tr h="792770">
                <a:tc>
                  <a:txBody>
                    <a:bodyPr/>
                    <a:lstStyle/>
                    <a:p>
                      <a:pPr algn="ctr"/>
                      <a:r>
                        <a:rPr lang="en-US" sz="2400" dirty="0"/>
                        <a:t>Period</a:t>
                      </a:r>
                    </a:p>
                  </a:txBody>
                  <a:tcPr/>
                </a:tc>
                <a:tc>
                  <a:txBody>
                    <a:bodyPr/>
                    <a:lstStyle/>
                    <a:p>
                      <a:pPr algn="ctr"/>
                      <a:r>
                        <a:rPr lang="en-US" sz="2400" dirty="0"/>
                        <a:t>Orders</a:t>
                      </a:r>
                    </a:p>
                  </a:txBody>
                  <a:tcPr/>
                </a:tc>
                <a:tc>
                  <a:txBody>
                    <a:bodyPr/>
                    <a:lstStyle/>
                    <a:p>
                      <a:pPr algn="ctr"/>
                      <a:r>
                        <a:rPr lang="en-US" altLang="nl-NL" sz="2400" b="1" dirty="0">
                          <a:latin typeface="Times New Roman" panose="02020603050405020304" pitchFamily="18" charset="0"/>
                          <a:cs typeface="Times New Roman" panose="02020603050405020304" pitchFamily="18" charset="0"/>
                        </a:rPr>
                        <a:t>Naïve Forecast</a:t>
                      </a:r>
                      <a:endParaRPr lang="en-US" sz="2400" dirty="0"/>
                    </a:p>
                  </a:txBody>
                  <a:tcPr/>
                </a:tc>
                <a:extLst>
                  <a:ext uri="{0D108BD9-81ED-4DB2-BD59-A6C34878D82A}">
                    <a16:rowId xmlns:a16="http://schemas.microsoft.com/office/drawing/2014/main" val="934362906"/>
                  </a:ext>
                </a:extLst>
              </a:tr>
              <a:tr h="440428">
                <a:tc>
                  <a:txBody>
                    <a:bodyPr/>
                    <a:lstStyle/>
                    <a:p>
                      <a:pPr algn="ctr"/>
                      <a:r>
                        <a:rPr lang="en-US" sz="2400" dirty="0"/>
                        <a:t>1</a:t>
                      </a:r>
                    </a:p>
                  </a:txBody>
                  <a:tcPr/>
                </a:tc>
                <a:tc>
                  <a:txBody>
                    <a:bodyPr/>
                    <a:lstStyle/>
                    <a:p>
                      <a:pPr algn="ctr"/>
                      <a:r>
                        <a:rPr lang="en-US" sz="2400" dirty="0"/>
                        <a:t>122</a:t>
                      </a:r>
                    </a:p>
                  </a:txBody>
                  <a:tcPr/>
                </a:tc>
                <a:tc>
                  <a:txBody>
                    <a:bodyPr/>
                    <a:lstStyle/>
                    <a:p>
                      <a:pPr algn="ctr"/>
                      <a:endParaRPr lang="en-US" sz="2400" dirty="0"/>
                    </a:p>
                  </a:txBody>
                  <a:tcPr/>
                </a:tc>
                <a:extLst>
                  <a:ext uri="{0D108BD9-81ED-4DB2-BD59-A6C34878D82A}">
                    <a16:rowId xmlns:a16="http://schemas.microsoft.com/office/drawing/2014/main" val="3825270358"/>
                  </a:ext>
                </a:extLst>
              </a:tr>
              <a:tr h="440428">
                <a:tc>
                  <a:txBody>
                    <a:bodyPr/>
                    <a:lstStyle/>
                    <a:p>
                      <a:pPr algn="ctr"/>
                      <a:r>
                        <a:rPr lang="en-US" sz="2400" dirty="0"/>
                        <a:t>2</a:t>
                      </a:r>
                    </a:p>
                  </a:txBody>
                  <a:tcPr/>
                </a:tc>
                <a:tc>
                  <a:txBody>
                    <a:bodyPr/>
                    <a:lstStyle/>
                    <a:p>
                      <a:pPr algn="ctr"/>
                      <a:r>
                        <a:rPr lang="en-US" sz="2400" dirty="0"/>
                        <a:t>91</a:t>
                      </a:r>
                    </a:p>
                  </a:txBody>
                  <a:tcPr/>
                </a:tc>
                <a:tc>
                  <a:txBody>
                    <a:bodyPr/>
                    <a:lstStyle/>
                    <a:p>
                      <a:pPr algn="ctr"/>
                      <a:r>
                        <a:rPr lang="en-US" sz="2400" dirty="0"/>
                        <a:t>122</a:t>
                      </a:r>
                    </a:p>
                  </a:txBody>
                  <a:tcPr/>
                </a:tc>
                <a:extLst>
                  <a:ext uri="{0D108BD9-81ED-4DB2-BD59-A6C34878D82A}">
                    <a16:rowId xmlns:a16="http://schemas.microsoft.com/office/drawing/2014/main" val="214079680"/>
                  </a:ext>
                </a:extLst>
              </a:tr>
              <a:tr h="440428">
                <a:tc>
                  <a:txBody>
                    <a:bodyPr/>
                    <a:lstStyle/>
                    <a:p>
                      <a:pPr algn="ctr"/>
                      <a:r>
                        <a:rPr lang="en-US" sz="2400" dirty="0"/>
                        <a:t>3</a:t>
                      </a:r>
                    </a:p>
                  </a:txBody>
                  <a:tcPr/>
                </a:tc>
                <a:tc>
                  <a:txBody>
                    <a:bodyPr/>
                    <a:lstStyle/>
                    <a:p>
                      <a:pPr algn="ctr"/>
                      <a:r>
                        <a:rPr lang="en-US" sz="2400" dirty="0"/>
                        <a:t>100</a:t>
                      </a:r>
                    </a:p>
                  </a:txBody>
                  <a:tcPr/>
                </a:tc>
                <a:tc>
                  <a:txBody>
                    <a:bodyPr/>
                    <a:lstStyle/>
                    <a:p>
                      <a:pPr algn="ctr"/>
                      <a:r>
                        <a:rPr lang="en-US" sz="2400" dirty="0"/>
                        <a:t>91</a:t>
                      </a:r>
                    </a:p>
                  </a:txBody>
                  <a:tcPr/>
                </a:tc>
                <a:extLst>
                  <a:ext uri="{0D108BD9-81ED-4DB2-BD59-A6C34878D82A}">
                    <a16:rowId xmlns:a16="http://schemas.microsoft.com/office/drawing/2014/main" val="322780954"/>
                  </a:ext>
                </a:extLst>
              </a:tr>
              <a:tr h="440428">
                <a:tc>
                  <a:txBody>
                    <a:bodyPr/>
                    <a:lstStyle/>
                    <a:p>
                      <a:pPr algn="ctr"/>
                      <a:r>
                        <a:rPr lang="en-US" sz="2400" dirty="0"/>
                        <a:t>4</a:t>
                      </a:r>
                    </a:p>
                  </a:txBody>
                  <a:tcPr/>
                </a:tc>
                <a:tc>
                  <a:txBody>
                    <a:bodyPr/>
                    <a:lstStyle/>
                    <a:p>
                      <a:pPr algn="ctr"/>
                      <a:r>
                        <a:rPr lang="en-US" sz="2400" dirty="0"/>
                        <a:t>77</a:t>
                      </a:r>
                    </a:p>
                  </a:txBody>
                  <a:tcPr/>
                </a:tc>
                <a:tc>
                  <a:txBody>
                    <a:bodyPr/>
                    <a:lstStyle/>
                    <a:p>
                      <a:pPr algn="ctr"/>
                      <a:r>
                        <a:rPr lang="en-US" sz="2400" dirty="0"/>
                        <a:t>100</a:t>
                      </a:r>
                    </a:p>
                  </a:txBody>
                  <a:tcPr/>
                </a:tc>
                <a:extLst>
                  <a:ext uri="{0D108BD9-81ED-4DB2-BD59-A6C34878D82A}">
                    <a16:rowId xmlns:a16="http://schemas.microsoft.com/office/drawing/2014/main" val="3992653053"/>
                  </a:ext>
                </a:extLst>
              </a:tr>
              <a:tr h="440428">
                <a:tc>
                  <a:txBody>
                    <a:bodyPr/>
                    <a:lstStyle/>
                    <a:p>
                      <a:pPr algn="ctr"/>
                      <a:r>
                        <a:rPr lang="en-US" sz="2400" dirty="0"/>
                        <a:t>5</a:t>
                      </a:r>
                    </a:p>
                  </a:txBody>
                  <a:tcPr/>
                </a:tc>
                <a:tc>
                  <a:txBody>
                    <a:bodyPr/>
                    <a:lstStyle/>
                    <a:p>
                      <a:pPr algn="ctr"/>
                      <a:r>
                        <a:rPr lang="en-US" sz="2400" dirty="0"/>
                        <a:t>115</a:t>
                      </a:r>
                    </a:p>
                  </a:txBody>
                  <a:tcPr/>
                </a:tc>
                <a:tc>
                  <a:txBody>
                    <a:bodyPr/>
                    <a:lstStyle/>
                    <a:p>
                      <a:pPr algn="ctr"/>
                      <a:r>
                        <a:rPr lang="en-US" sz="2400" dirty="0"/>
                        <a:t>77</a:t>
                      </a:r>
                    </a:p>
                  </a:txBody>
                  <a:tcPr/>
                </a:tc>
                <a:extLst>
                  <a:ext uri="{0D108BD9-81ED-4DB2-BD59-A6C34878D82A}">
                    <a16:rowId xmlns:a16="http://schemas.microsoft.com/office/drawing/2014/main" val="550763541"/>
                  </a:ext>
                </a:extLst>
              </a:tr>
              <a:tr h="440428">
                <a:tc>
                  <a:txBody>
                    <a:bodyPr/>
                    <a:lstStyle/>
                    <a:p>
                      <a:pPr algn="ctr"/>
                      <a:r>
                        <a:rPr lang="en-US" sz="2400" dirty="0"/>
                        <a:t>6</a:t>
                      </a:r>
                    </a:p>
                  </a:txBody>
                  <a:tcPr/>
                </a:tc>
                <a:tc>
                  <a:txBody>
                    <a:bodyPr/>
                    <a:lstStyle/>
                    <a:p>
                      <a:pPr algn="ctr"/>
                      <a:r>
                        <a:rPr lang="en-US" sz="2400" dirty="0"/>
                        <a:t>58</a:t>
                      </a:r>
                    </a:p>
                  </a:txBody>
                  <a:tcPr/>
                </a:tc>
                <a:tc>
                  <a:txBody>
                    <a:bodyPr/>
                    <a:lstStyle/>
                    <a:p>
                      <a:pPr algn="ctr"/>
                      <a:r>
                        <a:rPr lang="en-US" sz="2400" dirty="0"/>
                        <a:t>115</a:t>
                      </a:r>
                    </a:p>
                  </a:txBody>
                  <a:tcPr/>
                </a:tc>
                <a:extLst>
                  <a:ext uri="{0D108BD9-81ED-4DB2-BD59-A6C34878D82A}">
                    <a16:rowId xmlns:a16="http://schemas.microsoft.com/office/drawing/2014/main" val="4228619177"/>
                  </a:ext>
                </a:extLst>
              </a:tr>
              <a:tr h="440428">
                <a:tc>
                  <a:txBody>
                    <a:bodyPr/>
                    <a:lstStyle/>
                    <a:p>
                      <a:pPr algn="ctr"/>
                      <a:r>
                        <a:rPr lang="en-US" sz="2400" dirty="0"/>
                        <a:t>7</a:t>
                      </a:r>
                    </a:p>
                  </a:txBody>
                  <a:tcPr/>
                </a:tc>
                <a:tc>
                  <a:txBody>
                    <a:bodyPr/>
                    <a:lstStyle/>
                    <a:p>
                      <a:pPr algn="ctr"/>
                      <a:r>
                        <a:rPr lang="en-US" sz="2400" dirty="0"/>
                        <a:t>75</a:t>
                      </a:r>
                    </a:p>
                  </a:txBody>
                  <a:tcPr/>
                </a:tc>
                <a:tc>
                  <a:txBody>
                    <a:bodyPr/>
                    <a:lstStyle/>
                    <a:p>
                      <a:pPr algn="ctr"/>
                      <a:r>
                        <a:rPr lang="en-US" sz="2400" dirty="0"/>
                        <a:t>58</a:t>
                      </a:r>
                    </a:p>
                  </a:txBody>
                  <a:tcPr/>
                </a:tc>
                <a:extLst>
                  <a:ext uri="{0D108BD9-81ED-4DB2-BD59-A6C34878D82A}">
                    <a16:rowId xmlns:a16="http://schemas.microsoft.com/office/drawing/2014/main" val="4170487017"/>
                  </a:ext>
                </a:extLst>
              </a:tr>
              <a:tr h="440428">
                <a:tc>
                  <a:txBody>
                    <a:bodyPr/>
                    <a:lstStyle/>
                    <a:p>
                      <a:pPr algn="ctr"/>
                      <a:r>
                        <a:rPr lang="en-US" sz="2400" dirty="0"/>
                        <a:t>8</a:t>
                      </a:r>
                    </a:p>
                  </a:txBody>
                  <a:tcPr/>
                </a:tc>
                <a:tc>
                  <a:txBody>
                    <a:bodyPr/>
                    <a:lstStyle/>
                    <a:p>
                      <a:pPr algn="ctr"/>
                      <a:r>
                        <a:rPr lang="en-US" sz="2400" dirty="0"/>
                        <a:t>128</a:t>
                      </a:r>
                    </a:p>
                  </a:txBody>
                  <a:tcPr/>
                </a:tc>
                <a:tc>
                  <a:txBody>
                    <a:bodyPr/>
                    <a:lstStyle/>
                    <a:p>
                      <a:pPr algn="ctr"/>
                      <a:r>
                        <a:rPr lang="en-US" sz="2400" dirty="0"/>
                        <a:t>75</a:t>
                      </a:r>
                    </a:p>
                  </a:txBody>
                  <a:tcPr/>
                </a:tc>
                <a:extLst>
                  <a:ext uri="{0D108BD9-81ED-4DB2-BD59-A6C34878D82A}">
                    <a16:rowId xmlns:a16="http://schemas.microsoft.com/office/drawing/2014/main" val="549461603"/>
                  </a:ext>
                </a:extLst>
              </a:tr>
              <a:tr h="440428">
                <a:tc>
                  <a:txBody>
                    <a:bodyPr/>
                    <a:lstStyle/>
                    <a:p>
                      <a:pPr algn="ctr"/>
                      <a:r>
                        <a:rPr lang="en-US" sz="2400" dirty="0"/>
                        <a:t>9</a:t>
                      </a:r>
                    </a:p>
                  </a:txBody>
                  <a:tcPr/>
                </a:tc>
                <a:tc>
                  <a:txBody>
                    <a:bodyPr/>
                    <a:lstStyle/>
                    <a:p>
                      <a:pPr algn="ctr"/>
                      <a:r>
                        <a:rPr lang="en-US" sz="2400" dirty="0"/>
                        <a:t>111</a:t>
                      </a:r>
                    </a:p>
                  </a:txBody>
                  <a:tcPr/>
                </a:tc>
                <a:tc>
                  <a:txBody>
                    <a:bodyPr/>
                    <a:lstStyle/>
                    <a:p>
                      <a:pPr algn="ctr"/>
                      <a:r>
                        <a:rPr lang="en-US" sz="2400" dirty="0"/>
                        <a:t>128</a:t>
                      </a:r>
                    </a:p>
                  </a:txBody>
                  <a:tcPr/>
                </a:tc>
                <a:extLst>
                  <a:ext uri="{0D108BD9-81ED-4DB2-BD59-A6C34878D82A}">
                    <a16:rowId xmlns:a16="http://schemas.microsoft.com/office/drawing/2014/main" val="1675822261"/>
                  </a:ext>
                </a:extLst>
              </a:tr>
              <a:tr h="440428">
                <a:tc>
                  <a:txBody>
                    <a:bodyPr/>
                    <a:lstStyle/>
                    <a:p>
                      <a:pPr algn="ctr"/>
                      <a:r>
                        <a:rPr lang="en-US" sz="2400" dirty="0"/>
                        <a:t>10</a:t>
                      </a:r>
                    </a:p>
                  </a:txBody>
                  <a:tcPr/>
                </a:tc>
                <a:tc>
                  <a:txBody>
                    <a:bodyPr/>
                    <a:lstStyle/>
                    <a:p>
                      <a:pPr algn="ctr"/>
                      <a:r>
                        <a:rPr lang="en-US" sz="2400" dirty="0"/>
                        <a:t>88</a:t>
                      </a:r>
                    </a:p>
                  </a:txBody>
                  <a:tcPr/>
                </a:tc>
                <a:tc>
                  <a:txBody>
                    <a:bodyPr/>
                    <a:lstStyle/>
                    <a:p>
                      <a:pPr algn="ctr"/>
                      <a:r>
                        <a:rPr lang="en-US" sz="2400" dirty="0"/>
                        <a:t>111</a:t>
                      </a:r>
                    </a:p>
                  </a:txBody>
                  <a:tcPr/>
                </a:tc>
                <a:extLst>
                  <a:ext uri="{0D108BD9-81ED-4DB2-BD59-A6C34878D82A}">
                    <a16:rowId xmlns:a16="http://schemas.microsoft.com/office/drawing/2014/main" val="3381910438"/>
                  </a:ext>
                </a:extLst>
              </a:tr>
              <a:tr h="440428">
                <a:tc>
                  <a:txBody>
                    <a:bodyPr/>
                    <a:lstStyle/>
                    <a:p>
                      <a:pPr algn="ctr"/>
                      <a:r>
                        <a:rPr lang="en-US" sz="2400" dirty="0">
                          <a:solidFill>
                            <a:srgbClr val="00B050"/>
                          </a:solidFill>
                        </a:rPr>
                        <a:t>11</a:t>
                      </a:r>
                    </a:p>
                  </a:txBody>
                  <a:tcPr/>
                </a:tc>
                <a:tc>
                  <a:txBody>
                    <a:bodyPr/>
                    <a:lstStyle/>
                    <a:p>
                      <a:pPr algn="ctr"/>
                      <a:endParaRPr lang="en-US" sz="2400" dirty="0">
                        <a:solidFill>
                          <a:srgbClr val="00B050"/>
                        </a:solidFill>
                      </a:endParaRPr>
                    </a:p>
                  </a:txBody>
                  <a:tcPr/>
                </a:tc>
                <a:tc>
                  <a:txBody>
                    <a:bodyPr/>
                    <a:lstStyle/>
                    <a:p>
                      <a:pPr algn="ctr"/>
                      <a:r>
                        <a:rPr lang="en-US" sz="2400" dirty="0">
                          <a:solidFill>
                            <a:srgbClr val="00B050"/>
                          </a:solidFill>
                        </a:rPr>
                        <a:t>88</a:t>
                      </a:r>
                    </a:p>
                  </a:txBody>
                  <a:tcPr/>
                </a:tc>
                <a:extLst>
                  <a:ext uri="{0D108BD9-81ED-4DB2-BD59-A6C34878D82A}">
                    <a16:rowId xmlns:a16="http://schemas.microsoft.com/office/drawing/2014/main" val="3580419074"/>
                  </a:ext>
                </a:extLst>
              </a:tr>
            </a:tbl>
          </a:graphicData>
        </a:graphic>
      </p:graphicFrame>
      <p:sp>
        <p:nvSpPr>
          <p:cNvPr id="5" name="Slide Number Placeholder 4">
            <a:extLst>
              <a:ext uri="{FF2B5EF4-FFF2-40B4-BE49-F238E27FC236}">
                <a16:creationId xmlns:a16="http://schemas.microsoft.com/office/drawing/2014/main" id="{C2552C3F-B979-9731-5B3F-0903452315EF}"/>
              </a:ext>
            </a:extLst>
          </p:cNvPr>
          <p:cNvSpPr>
            <a:spLocks noGrp="1"/>
          </p:cNvSpPr>
          <p:nvPr>
            <p:ph type="sldNum" sz="quarter" idx="12"/>
          </p:nvPr>
        </p:nvSpPr>
        <p:spPr/>
        <p:txBody>
          <a:bodyPr/>
          <a:lstStyle/>
          <a:p>
            <a:fld id="{F8D8F54C-053C-4394-9990-70DE256B1A6D}" type="slidenum">
              <a:rPr lang="nl-NL" smtClean="0"/>
              <a:t>61</a:t>
            </a:fld>
            <a:endParaRPr lang="nl-NL"/>
          </a:p>
        </p:txBody>
      </p:sp>
    </p:spTree>
    <p:extLst>
      <p:ext uri="{BB962C8B-B14F-4D97-AF65-F5344CB8AC3E}">
        <p14:creationId xmlns:p14="http://schemas.microsoft.com/office/powerpoint/2010/main" val="1088383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Simple Average</a:t>
            </a:r>
            <a:br>
              <a:rPr lang="en-AU" altLang="en-US" sz="3200" dirty="0"/>
            </a:b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528638" y="1251284"/>
                <a:ext cx="5567362" cy="4948280"/>
              </a:xfrm>
            </p:spPr>
            <p:txBody>
              <a:bodyPr>
                <a:normAutofit/>
              </a:bodyPr>
              <a:lstStyle/>
              <a:p>
                <a:pPr>
                  <a:lnSpc>
                    <a:spcPct val="120000"/>
                  </a:lnSpc>
                </a:pPr>
                <a:r>
                  <a:rPr lang="en-AU" altLang="en-US" dirty="0"/>
                  <a:t>Next period’s forecast = average of previously overserved data</a:t>
                </a:r>
              </a:p>
              <a:p>
                <a:pPr>
                  <a:lnSpc>
                    <a:spcPct val="120000"/>
                  </a:lnSpc>
                </a:pPr>
                <a:endParaRPr lang="en-AU" altLang="en-US" dirty="0"/>
              </a:p>
              <a:p>
                <a:pPr marL="457200" lvl="1" indent="0">
                  <a:lnSpc>
                    <a:spcPct val="120000"/>
                  </a:lnSpc>
                  <a:buNone/>
                </a:pPr>
                <a14:m>
                  <m:oMathPara xmlns:m="http://schemas.openxmlformats.org/officeDocument/2006/math">
                    <m:oMathParaPr>
                      <m:jc m:val="centerGroup"/>
                    </m:oMathParaPr>
                    <m:oMath xmlns:m="http://schemas.openxmlformats.org/officeDocument/2006/math">
                      <m:sSub>
                        <m:sSubPr>
                          <m:ctrlPr>
                            <a:rPr lang="en-US" altLang="en-US" b="0" i="1" smtClean="0">
                              <a:latin typeface="Cambria Math" panose="02040503050406030204" pitchFamily="18" charset="0"/>
                            </a:rPr>
                          </m:ctrlPr>
                        </m:sSubPr>
                        <m:e>
                          <m:acc>
                            <m:accPr>
                              <m:chr m:val="̂"/>
                              <m:ctrlPr>
                                <a:rPr lang="en-US" altLang="en-US" b="0" i="1" smtClean="0">
                                  <a:latin typeface="Cambria Math" panose="02040503050406030204" pitchFamily="18" charset="0"/>
                                </a:rPr>
                              </m:ctrlPr>
                            </m:accPr>
                            <m:e>
                              <m:r>
                                <a:rPr lang="en-US" altLang="en-US" b="0" i="1" smtClean="0">
                                  <a:latin typeface="Cambria Math" panose="02040503050406030204" pitchFamily="18" charset="0"/>
                                </a:rPr>
                                <m:t>𝑦</m:t>
                              </m:r>
                            </m:e>
                          </m:acc>
                        </m:e>
                        <m:sub>
                          <m:r>
                            <a:rPr lang="en-US" altLang="en-US" b="0" i="1" smtClean="0">
                              <a:latin typeface="Cambria Math" panose="02040503050406030204" pitchFamily="18" charset="0"/>
                            </a:rPr>
                            <m:t>𝑡</m:t>
                          </m:r>
                          <m:r>
                            <a:rPr lang="en-US" altLang="en-US" b="0" i="1" smtClean="0">
                              <a:latin typeface="Cambria Math" panose="02040503050406030204" pitchFamily="18" charset="0"/>
                            </a:rPr>
                            <m:t>+1</m:t>
                          </m:r>
                        </m:sub>
                      </m:sSub>
                      <m:r>
                        <a:rPr lang="en-US" altLang="en-US" b="0" i="1" smtClean="0">
                          <a:latin typeface="Cambria Math" panose="02040503050406030204" pitchFamily="18" charset="0"/>
                        </a:rPr>
                        <m:t>=</m:t>
                      </m:r>
                      <m:f>
                        <m:fPr>
                          <m:ctrlPr>
                            <a:rPr lang="en-US" altLang="en-US" b="0" i="1" smtClean="0">
                              <a:latin typeface="Cambria Math" panose="02040503050406030204" pitchFamily="18" charset="0"/>
                            </a:rPr>
                          </m:ctrlPr>
                        </m:fPr>
                        <m:num>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1</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2</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𝑡</m:t>
                              </m:r>
                            </m:sub>
                          </m:sSub>
                        </m:num>
                        <m:den>
                          <m:r>
                            <a:rPr lang="en-US" altLang="en-US" b="0" i="1" smtClean="0">
                              <a:latin typeface="Cambria Math" panose="02040503050406030204" pitchFamily="18" charset="0"/>
                            </a:rPr>
                            <m:t>𝑡</m:t>
                          </m:r>
                        </m:den>
                      </m:f>
                    </m:oMath>
                  </m:oMathPara>
                </a14:m>
                <a:endParaRPr lang="en-AU" altLang="en-US" dirty="0"/>
              </a:p>
              <a:p>
                <a:pPr marL="457200" lvl="1" indent="0">
                  <a:lnSpc>
                    <a:spcPct val="120000"/>
                  </a:lnSpc>
                  <a:buNone/>
                </a:pPr>
                <a:endParaRPr lang="en-AU" altLang="en-US" dirty="0"/>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528638" y="1251284"/>
                <a:ext cx="5567362" cy="4948280"/>
              </a:xfrm>
              <a:blipFill>
                <a:blip r:embed="rId2"/>
                <a:stretch>
                  <a:fillRect l="-1818" t="-256" r="-455"/>
                </a:stretch>
              </a:blipFill>
            </p:spPr>
            <p:txBody>
              <a:bodyPr/>
              <a:lstStyle/>
              <a:p>
                <a:r>
                  <a:rPr lang="en-US">
                    <a:noFill/>
                  </a:rPr>
                  <a:t> </a:t>
                </a:r>
              </a:p>
            </p:txBody>
          </p:sp>
        </mc:Fallback>
      </mc:AlternateContent>
      <p:graphicFrame>
        <p:nvGraphicFramePr>
          <p:cNvPr id="4" name="Table 4">
            <a:extLst>
              <a:ext uri="{FF2B5EF4-FFF2-40B4-BE49-F238E27FC236}">
                <a16:creationId xmlns:a16="http://schemas.microsoft.com/office/drawing/2014/main" id="{3338AB65-3538-8041-8BB9-792AB8998988}"/>
              </a:ext>
            </a:extLst>
          </p:cNvPr>
          <p:cNvGraphicFramePr>
            <a:graphicFrameLocks noGrp="1"/>
          </p:cNvGraphicFramePr>
          <p:nvPr>
            <p:extLst>
              <p:ext uri="{D42A27DB-BD31-4B8C-83A1-F6EECF244321}">
                <p14:modId xmlns:p14="http://schemas.microsoft.com/office/powerpoint/2010/main" val="799479833"/>
              </p:ext>
            </p:extLst>
          </p:nvPr>
        </p:nvGraphicFramePr>
        <p:xfrm>
          <a:off x="6691392" y="885694"/>
          <a:ext cx="4438974" cy="5852160"/>
        </p:xfrm>
        <a:graphic>
          <a:graphicData uri="http://schemas.openxmlformats.org/drawingml/2006/table">
            <a:tbl>
              <a:tblPr firstRow="1" bandRow="1">
                <a:tableStyleId>{793D81CF-94F2-401A-BA57-92F5A7B2D0C5}</a:tableStyleId>
              </a:tblPr>
              <a:tblGrid>
                <a:gridCol w="1479658">
                  <a:extLst>
                    <a:ext uri="{9D8B030D-6E8A-4147-A177-3AD203B41FA5}">
                      <a16:colId xmlns:a16="http://schemas.microsoft.com/office/drawing/2014/main" val="1587537030"/>
                    </a:ext>
                  </a:extLst>
                </a:gridCol>
                <a:gridCol w="1479658">
                  <a:extLst>
                    <a:ext uri="{9D8B030D-6E8A-4147-A177-3AD203B41FA5}">
                      <a16:colId xmlns:a16="http://schemas.microsoft.com/office/drawing/2014/main" val="1462394367"/>
                    </a:ext>
                  </a:extLst>
                </a:gridCol>
                <a:gridCol w="1479658">
                  <a:extLst>
                    <a:ext uri="{9D8B030D-6E8A-4147-A177-3AD203B41FA5}">
                      <a16:colId xmlns:a16="http://schemas.microsoft.com/office/drawing/2014/main" val="3258343430"/>
                    </a:ext>
                  </a:extLst>
                </a:gridCol>
              </a:tblGrid>
              <a:tr h="792770">
                <a:tc>
                  <a:txBody>
                    <a:bodyPr/>
                    <a:lstStyle/>
                    <a:p>
                      <a:pPr algn="ctr"/>
                      <a:r>
                        <a:rPr lang="en-US" sz="2400" dirty="0"/>
                        <a:t>Period</a:t>
                      </a:r>
                    </a:p>
                  </a:txBody>
                  <a:tcPr/>
                </a:tc>
                <a:tc>
                  <a:txBody>
                    <a:bodyPr/>
                    <a:lstStyle/>
                    <a:p>
                      <a:pPr algn="ctr"/>
                      <a:r>
                        <a:rPr lang="en-US" sz="2400" dirty="0"/>
                        <a:t>Orders</a:t>
                      </a:r>
                    </a:p>
                  </a:txBody>
                  <a:tcPr/>
                </a:tc>
                <a:tc>
                  <a:txBody>
                    <a:bodyPr/>
                    <a:lstStyle/>
                    <a:p>
                      <a:pPr algn="ctr"/>
                      <a:r>
                        <a:rPr lang="en-US" altLang="nl-NL" sz="2400" b="1" dirty="0">
                          <a:latin typeface="Times New Roman" panose="02020603050405020304" pitchFamily="18" charset="0"/>
                          <a:cs typeface="Times New Roman" panose="02020603050405020304" pitchFamily="18" charset="0"/>
                        </a:rPr>
                        <a:t>Simple Average</a:t>
                      </a:r>
                      <a:endParaRPr lang="en-US" sz="2400" dirty="0"/>
                    </a:p>
                  </a:txBody>
                  <a:tcPr/>
                </a:tc>
                <a:extLst>
                  <a:ext uri="{0D108BD9-81ED-4DB2-BD59-A6C34878D82A}">
                    <a16:rowId xmlns:a16="http://schemas.microsoft.com/office/drawing/2014/main" val="934362906"/>
                  </a:ext>
                </a:extLst>
              </a:tr>
              <a:tr h="440428">
                <a:tc>
                  <a:txBody>
                    <a:bodyPr/>
                    <a:lstStyle/>
                    <a:p>
                      <a:pPr algn="ctr"/>
                      <a:r>
                        <a:rPr lang="en-US" sz="2400" dirty="0"/>
                        <a:t>1</a:t>
                      </a:r>
                    </a:p>
                  </a:txBody>
                  <a:tcPr/>
                </a:tc>
                <a:tc>
                  <a:txBody>
                    <a:bodyPr/>
                    <a:lstStyle/>
                    <a:p>
                      <a:pPr algn="ctr"/>
                      <a:r>
                        <a:rPr lang="en-US" sz="2400" dirty="0"/>
                        <a:t>122</a:t>
                      </a:r>
                    </a:p>
                  </a:txBody>
                  <a:tcPr/>
                </a:tc>
                <a:tc>
                  <a:txBody>
                    <a:bodyPr/>
                    <a:lstStyle/>
                    <a:p>
                      <a:pPr algn="ctr"/>
                      <a:endParaRPr lang="en-US" sz="2400" dirty="0"/>
                    </a:p>
                  </a:txBody>
                  <a:tcPr/>
                </a:tc>
                <a:extLst>
                  <a:ext uri="{0D108BD9-81ED-4DB2-BD59-A6C34878D82A}">
                    <a16:rowId xmlns:a16="http://schemas.microsoft.com/office/drawing/2014/main" val="3825270358"/>
                  </a:ext>
                </a:extLst>
              </a:tr>
              <a:tr h="440428">
                <a:tc>
                  <a:txBody>
                    <a:bodyPr/>
                    <a:lstStyle/>
                    <a:p>
                      <a:pPr algn="ctr"/>
                      <a:r>
                        <a:rPr lang="en-US" sz="2400" dirty="0"/>
                        <a:t>2</a:t>
                      </a:r>
                    </a:p>
                  </a:txBody>
                  <a:tcPr/>
                </a:tc>
                <a:tc>
                  <a:txBody>
                    <a:bodyPr/>
                    <a:lstStyle/>
                    <a:p>
                      <a:pPr algn="ctr"/>
                      <a:r>
                        <a:rPr lang="en-US" sz="2400" dirty="0"/>
                        <a:t>91</a:t>
                      </a:r>
                    </a:p>
                  </a:txBody>
                  <a:tcPr/>
                </a:tc>
                <a:tc>
                  <a:txBody>
                    <a:bodyPr/>
                    <a:lstStyle/>
                    <a:p>
                      <a:pPr marL="0" algn="ctr" defTabSz="914400" rtl="0" eaLnBrk="1" fontAlgn="b" latinLnBrk="0" hangingPunct="1"/>
                      <a:r>
                        <a:rPr lang="en-NL" sz="2400" kern="1200" dirty="0">
                          <a:solidFill>
                            <a:schemeClr val="dk1"/>
                          </a:solidFill>
                          <a:latin typeface="+mn-lt"/>
                          <a:ea typeface="+mn-ea"/>
                          <a:cs typeface="+mn-cs"/>
                        </a:rPr>
                        <a:t>122</a:t>
                      </a:r>
                    </a:p>
                  </a:txBody>
                  <a:tcPr marL="9525" marR="9525" marT="9525" marB="0" anchor="b"/>
                </a:tc>
                <a:extLst>
                  <a:ext uri="{0D108BD9-81ED-4DB2-BD59-A6C34878D82A}">
                    <a16:rowId xmlns:a16="http://schemas.microsoft.com/office/drawing/2014/main" val="214079680"/>
                  </a:ext>
                </a:extLst>
              </a:tr>
              <a:tr h="440428">
                <a:tc>
                  <a:txBody>
                    <a:bodyPr/>
                    <a:lstStyle/>
                    <a:p>
                      <a:pPr algn="ctr"/>
                      <a:r>
                        <a:rPr lang="en-US" sz="2400" dirty="0"/>
                        <a:t>3</a:t>
                      </a:r>
                    </a:p>
                  </a:txBody>
                  <a:tcPr/>
                </a:tc>
                <a:tc>
                  <a:txBody>
                    <a:bodyPr/>
                    <a:lstStyle/>
                    <a:p>
                      <a:pPr algn="ctr"/>
                      <a:r>
                        <a:rPr lang="en-US" sz="2400" dirty="0"/>
                        <a:t>100</a:t>
                      </a:r>
                    </a:p>
                  </a:txBody>
                  <a:tcPr/>
                </a:tc>
                <a:tc>
                  <a:txBody>
                    <a:bodyPr/>
                    <a:lstStyle/>
                    <a:p>
                      <a:pPr marL="0" algn="ctr" defTabSz="914400" rtl="0" eaLnBrk="1" fontAlgn="b" latinLnBrk="0" hangingPunct="1"/>
                      <a:r>
                        <a:rPr lang="en-NL" sz="2400" kern="1200" dirty="0">
                          <a:solidFill>
                            <a:schemeClr val="dk1"/>
                          </a:solidFill>
                          <a:latin typeface="+mn-lt"/>
                          <a:ea typeface="+mn-ea"/>
                          <a:cs typeface="+mn-cs"/>
                        </a:rPr>
                        <a:t>107</a:t>
                      </a:r>
                    </a:p>
                  </a:txBody>
                  <a:tcPr marL="9525" marR="9525" marT="9525" marB="0" anchor="b"/>
                </a:tc>
                <a:extLst>
                  <a:ext uri="{0D108BD9-81ED-4DB2-BD59-A6C34878D82A}">
                    <a16:rowId xmlns:a16="http://schemas.microsoft.com/office/drawing/2014/main" val="322780954"/>
                  </a:ext>
                </a:extLst>
              </a:tr>
              <a:tr h="440428">
                <a:tc>
                  <a:txBody>
                    <a:bodyPr/>
                    <a:lstStyle/>
                    <a:p>
                      <a:pPr algn="ctr"/>
                      <a:r>
                        <a:rPr lang="en-US" sz="2400" dirty="0"/>
                        <a:t>4</a:t>
                      </a:r>
                    </a:p>
                  </a:txBody>
                  <a:tcPr/>
                </a:tc>
                <a:tc>
                  <a:txBody>
                    <a:bodyPr/>
                    <a:lstStyle/>
                    <a:p>
                      <a:pPr algn="ctr"/>
                      <a:r>
                        <a:rPr lang="en-US" sz="2400" dirty="0"/>
                        <a:t>77</a:t>
                      </a:r>
                    </a:p>
                  </a:txBody>
                  <a:tcPr/>
                </a:tc>
                <a:tc>
                  <a:txBody>
                    <a:bodyPr/>
                    <a:lstStyle/>
                    <a:p>
                      <a:pPr marL="0" algn="ctr" defTabSz="914400" rtl="0" eaLnBrk="1" fontAlgn="b" latinLnBrk="0" hangingPunct="1"/>
                      <a:r>
                        <a:rPr lang="en-NL" sz="2400" kern="1200" dirty="0">
                          <a:solidFill>
                            <a:schemeClr val="dk1"/>
                          </a:solidFill>
                          <a:latin typeface="+mn-lt"/>
                          <a:ea typeface="+mn-ea"/>
                          <a:cs typeface="+mn-cs"/>
                        </a:rPr>
                        <a:t>104</a:t>
                      </a:r>
                    </a:p>
                  </a:txBody>
                  <a:tcPr marL="9525" marR="9525" marT="9525" marB="0" anchor="b"/>
                </a:tc>
                <a:extLst>
                  <a:ext uri="{0D108BD9-81ED-4DB2-BD59-A6C34878D82A}">
                    <a16:rowId xmlns:a16="http://schemas.microsoft.com/office/drawing/2014/main" val="3992653053"/>
                  </a:ext>
                </a:extLst>
              </a:tr>
              <a:tr h="440428">
                <a:tc>
                  <a:txBody>
                    <a:bodyPr/>
                    <a:lstStyle/>
                    <a:p>
                      <a:pPr algn="ctr"/>
                      <a:r>
                        <a:rPr lang="en-US" sz="2400" dirty="0"/>
                        <a:t>5</a:t>
                      </a:r>
                    </a:p>
                  </a:txBody>
                  <a:tcPr/>
                </a:tc>
                <a:tc>
                  <a:txBody>
                    <a:bodyPr/>
                    <a:lstStyle/>
                    <a:p>
                      <a:pPr algn="ctr"/>
                      <a:r>
                        <a:rPr lang="en-US" sz="2400" dirty="0"/>
                        <a:t>115</a:t>
                      </a:r>
                    </a:p>
                  </a:txBody>
                  <a:tcPr/>
                </a:tc>
                <a:tc>
                  <a:txBody>
                    <a:bodyPr/>
                    <a:lstStyle/>
                    <a:p>
                      <a:pPr marL="0" algn="ctr" defTabSz="914400" rtl="0" eaLnBrk="1" fontAlgn="b" latinLnBrk="0" hangingPunct="1"/>
                      <a:r>
                        <a:rPr lang="en-NL" sz="2400" kern="1200" dirty="0">
                          <a:solidFill>
                            <a:schemeClr val="dk1"/>
                          </a:solidFill>
                          <a:latin typeface="+mn-lt"/>
                          <a:ea typeface="+mn-ea"/>
                          <a:cs typeface="+mn-cs"/>
                        </a:rPr>
                        <a:t>98</a:t>
                      </a:r>
                    </a:p>
                  </a:txBody>
                  <a:tcPr marL="9525" marR="9525" marT="9525" marB="0" anchor="b"/>
                </a:tc>
                <a:extLst>
                  <a:ext uri="{0D108BD9-81ED-4DB2-BD59-A6C34878D82A}">
                    <a16:rowId xmlns:a16="http://schemas.microsoft.com/office/drawing/2014/main" val="550763541"/>
                  </a:ext>
                </a:extLst>
              </a:tr>
              <a:tr h="440428">
                <a:tc>
                  <a:txBody>
                    <a:bodyPr/>
                    <a:lstStyle/>
                    <a:p>
                      <a:pPr algn="ctr"/>
                      <a:r>
                        <a:rPr lang="en-US" sz="2400" dirty="0"/>
                        <a:t>6</a:t>
                      </a:r>
                    </a:p>
                  </a:txBody>
                  <a:tcPr/>
                </a:tc>
                <a:tc>
                  <a:txBody>
                    <a:bodyPr/>
                    <a:lstStyle/>
                    <a:p>
                      <a:pPr algn="ctr"/>
                      <a:r>
                        <a:rPr lang="en-US" sz="2400" dirty="0"/>
                        <a:t>58</a:t>
                      </a:r>
                    </a:p>
                  </a:txBody>
                  <a:tcPr/>
                </a:tc>
                <a:tc>
                  <a:txBody>
                    <a:bodyPr/>
                    <a:lstStyle/>
                    <a:p>
                      <a:pPr marL="0" algn="ctr" defTabSz="914400" rtl="0" eaLnBrk="1" fontAlgn="b" latinLnBrk="0" hangingPunct="1"/>
                      <a:r>
                        <a:rPr lang="en-NL" sz="2400" kern="1200" dirty="0">
                          <a:solidFill>
                            <a:schemeClr val="dk1"/>
                          </a:solidFill>
                          <a:latin typeface="+mn-lt"/>
                          <a:ea typeface="+mn-ea"/>
                          <a:cs typeface="+mn-cs"/>
                        </a:rPr>
                        <a:t>101</a:t>
                      </a:r>
                    </a:p>
                  </a:txBody>
                  <a:tcPr marL="9525" marR="9525" marT="9525" marB="0" anchor="b"/>
                </a:tc>
                <a:extLst>
                  <a:ext uri="{0D108BD9-81ED-4DB2-BD59-A6C34878D82A}">
                    <a16:rowId xmlns:a16="http://schemas.microsoft.com/office/drawing/2014/main" val="4228619177"/>
                  </a:ext>
                </a:extLst>
              </a:tr>
              <a:tr h="440428">
                <a:tc>
                  <a:txBody>
                    <a:bodyPr/>
                    <a:lstStyle/>
                    <a:p>
                      <a:pPr algn="ctr"/>
                      <a:r>
                        <a:rPr lang="en-US" sz="2400" dirty="0"/>
                        <a:t>7</a:t>
                      </a:r>
                    </a:p>
                  </a:txBody>
                  <a:tcPr/>
                </a:tc>
                <a:tc>
                  <a:txBody>
                    <a:bodyPr/>
                    <a:lstStyle/>
                    <a:p>
                      <a:pPr algn="ctr"/>
                      <a:r>
                        <a:rPr lang="en-US" sz="2400" dirty="0"/>
                        <a:t>75</a:t>
                      </a:r>
                    </a:p>
                  </a:txBody>
                  <a:tcPr/>
                </a:tc>
                <a:tc>
                  <a:txBody>
                    <a:bodyPr/>
                    <a:lstStyle/>
                    <a:p>
                      <a:pPr marL="0" algn="ctr" defTabSz="914400" rtl="0" eaLnBrk="1" fontAlgn="b" latinLnBrk="0" hangingPunct="1"/>
                      <a:r>
                        <a:rPr lang="en-NL" sz="2400" kern="1200" dirty="0">
                          <a:solidFill>
                            <a:schemeClr val="dk1"/>
                          </a:solidFill>
                          <a:latin typeface="+mn-lt"/>
                          <a:ea typeface="+mn-ea"/>
                          <a:cs typeface="+mn-cs"/>
                        </a:rPr>
                        <a:t>94</a:t>
                      </a:r>
                    </a:p>
                  </a:txBody>
                  <a:tcPr marL="9525" marR="9525" marT="9525" marB="0" anchor="b"/>
                </a:tc>
                <a:extLst>
                  <a:ext uri="{0D108BD9-81ED-4DB2-BD59-A6C34878D82A}">
                    <a16:rowId xmlns:a16="http://schemas.microsoft.com/office/drawing/2014/main" val="4170487017"/>
                  </a:ext>
                </a:extLst>
              </a:tr>
              <a:tr h="440428">
                <a:tc>
                  <a:txBody>
                    <a:bodyPr/>
                    <a:lstStyle/>
                    <a:p>
                      <a:pPr algn="ctr"/>
                      <a:r>
                        <a:rPr lang="en-US" sz="2400" dirty="0"/>
                        <a:t>8</a:t>
                      </a:r>
                    </a:p>
                  </a:txBody>
                  <a:tcPr/>
                </a:tc>
                <a:tc>
                  <a:txBody>
                    <a:bodyPr/>
                    <a:lstStyle/>
                    <a:p>
                      <a:pPr algn="ctr"/>
                      <a:r>
                        <a:rPr lang="en-US" sz="2400" dirty="0"/>
                        <a:t>128</a:t>
                      </a:r>
                    </a:p>
                  </a:txBody>
                  <a:tcPr/>
                </a:tc>
                <a:tc>
                  <a:txBody>
                    <a:bodyPr/>
                    <a:lstStyle/>
                    <a:p>
                      <a:pPr marL="0" algn="ctr" defTabSz="914400" rtl="0" eaLnBrk="1" fontAlgn="b" latinLnBrk="0" hangingPunct="1"/>
                      <a:r>
                        <a:rPr lang="en-NL" sz="2400" kern="1200" dirty="0">
                          <a:solidFill>
                            <a:schemeClr val="dk1"/>
                          </a:solidFill>
                          <a:latin typeface="+mn-lt"/>
                          <a:ea typeface="+mn-ea"/>
                          <a:cs typeface="+mn-cs"/>
                        </a:rPr>
                        <a:t>91</a:t>
                      </a:r>
                    </a:p>
                  </a:txBody>
                  <a:tcPr marL="9525" marR="9525" marT="9525" marB="0" anchor="b"/>
                </a:tc>
                <a:extLst>
                  <a:ext uri="{0D108BD9-81ED-4DB2-BD59-A6C34878D82A}">
                    <a16:rowId xmlns:a16="http://schemas.microsoft.com/office/drawing/2014/main" val="549461603"/>
                  </a:ext>
                </a:extLst>
              </a:tr>
              <a:tr h="440428">
                <a:tc>
                  <a:txBody>
                    <a:bodyPr/>
                    <a:lstStyle/>
                    <a:p>
                      <a:pPr algn="ctr"/>
                      <a:r>
                        <a:rPr lang="en-US" sz="2400" dirty="0"/>
                        <a:t>9</a:t>
                      </a:r>
                    </a:p>
                  </a:txBody>
                  <a:tcPr/>
                </a:tc>
                <a:tc>
                  <a:txBody>
                    <a:bodyPr/>
                    <a:lstStyle/>
                    <a:p>
                      <a:pPr algn="ctr"/>
                      <a:r>
                        <a:rPr lang="en-US" sz="2400" dirty="0"/>
                        <a:t>111</a:t>
                      </a:r>
                    </a:p>
                  </a:txBody>
                  <a:tcPr/>
                </a:tc>
                <a:tc>
                  <a:txBody>
                    <a:bodyPr/>
                    <a:lstStyle/>
                    <a:p>
                      <a:pPr marL="0" algn="ctr" defTabSz="914400" rtl="0" eaLnBrk="1" fontAlgn="b" latinLnBrk="0" hangingPunct="1"/>
                      <a:r>
                        <a:rPr lang="en-NL" sz="2400" kern="1200" dirty="0">
                          <a:solidFill>
                            <a:schemeClr val="dk1"/>
                          </a:solidFill>
                          <a:latin typeface="+mn-lt"/>
                          <a:ea typeface="+mn-ea"/>
                          <a:cs typeface="+mn-cs"/>
                        </a:rPr>
                        <a:t>96</a:t>
                      </a:r>
                    </a:p>
                  </a:txBody>
                  <a:tcPr marL="9525" marR="9525" marT="9525" marB="0" anchor="b"/>
                </a:tc>
                <a:extLst>
                  <a:ext uri="{0D108BD9-81ED-4DB2-BD59-A6C34878D82A}">
                    <a16:rowId xmlns:a16="http://schemas.microsoft.com/office/drawing/2014/main" val="1675822261"/>
                  </a:ext>
                </a:extLst>
              </a:tr>
              <a:tr h="440428">
                <a:tc>
                  <a:txBody>
                    <a:bodyPr/>
                    <a:lstStyle/>
                    <a:p>
                      <a:pPr algn="ctr"/>
                      <a:r>
                        <a:rPr lang="en-US" sz="2400" dirty="0"/>
                        <a:t>10</a:t>
                      </a:r>
                    </a:p>
                  </a:txBody>
                  <a:tcPr/>
                </a:tc>
                <a:tc>
                  <a:txBody>
                    <a:bodyPr/>
                    <a:lstStyle/>
                    <a:p>
                      <a:pPr algn="ctr"/>
                      <a:r>
                        <a:rPr lang="en-US" sz="2400" dirty="0"/>
                        <a:t>88</a:t>
                      </a:r>
                    </a:p>
                  </a:txBody>
                  <a:tcPr/>
                </a:tc>
                <a:tc>
                  <a:txBody>
                    <a:bodyPr/>
                    <a:lstStyle/>
                    <a:p>
                      <a:pPr marL="0" algn="ctr" defTabSz="914400" rtl="0" eaLnBrk="1" fontAlgn="b" latinLnBrk="0" hangingPunct="1"/>
                      <a:r>
                        <a:rPr lang="en-NL" sz="2400" kern="1200" dirty="0">
                          <a:solidFill>
                            <a:schemeClr val="dk1"/>
                          </a:solidFill>
                          <a:latin typeface="+mn-lt"/>
                          <a:ea typeface="+mn-ea"/>
                          <a:cs typeface="+mn-cs"/>
                        </a:rPr>
                        <a:t>97</a:t>
                      </a:r>
                    </a:p>
                  </a:txBody>
                  <a:tcPr marL="9525" marR="9525" marT="9525" marB="0" anchor="b"/>
                </a:tc>
                <a:extLst>
                  <a:ext uri="{0D108BD9-81ED-4DB2-BD59-A6C34878D82A}">
                    <a16:rowId xmlns:a16="http://schemas.microsoft.com/office/drawing/2014/main" val="3381910438"/>
                  </a:ext>
                </a:extLst>
              </a:tr>
              <a:tr h="440428">
                <a:tc>
                  <a:txBody>
                    <a:bodyPr/>
                    <a:lstStyle/>
                    <a:p>
                      <a:pPr algn="ctr"/>
                      <a:r>
                        <a:rPr lang="en-US" sz="2400" dirty="0">
                          <a:solidFill>
                            <a:srgbClr val="00B050"/>
                          </a:solidFill>
                        </a:rPr>
                        <a:t>11</a:t>
                      </a:r>
                    </a:p>
                  </a:txBody>
                  <a:tcPr/>
                </a:tc>
                <a:tc>
                  <a:txBody>
                    <a:bodyPr/>
                    <a:lstStyle/>
                    <a:p>
                      <a:pPr algn="ctr"/>
                      <a:endParaRPr lang="en-US" sz="2400" dirty="0">
                        <a:solidFill>
                          <a:srgbClr val="00B050"/>
                        </a:solidFill>
                      </a:endParaRPr>
                    </a:p>
                  </a:txBody>
                  <a:tcPr/>
                </a:tc>
                <a:tc>
                  <a:txBody>
                    <a:bodyPr/>
                    <a:lstStyle/>
                    <a:p>
                      <a:pPr algn="ctr"/>
                      <a:r>
                        <a:rPr lang="en-US" sz="2400" dirty="0">
                          <a:solidFill>
                            <a:srgbClr val="00B050"/>
                          </a:solidFill>
                        </a:rPr>
                        <a:t>97</a:t>
                      </a:r>
                    </a:p>
                  </a:txBody>
                  <a:tcPr/>
                </a:tc>
                <a:extLst>
                  <a:ext uri="{0D108BD9-81ED-4DB2-BD59-A6C34878D82A}">
                    <a16:rowId xmlns:a16="http://schemas.microsoft.com/office/drawing/2014/main" val="3580419074"/>
                  </a:ext>
                </a:extLst>
              </a:tr>
            </a:tbl>
          </a:graphicData>
        </a:graphic>
      </p:graphicFrame>
      <p:sp>
        <p:nvSpPr>
          <p:cNvPr id="5" name="Slide Number Placeholder 4">
            <a:extLst>
              <a:ext uri="{FF2B5EF4-FFF2-40B4-BE49-F238E27FC236}">
                <a16:creationId xmlns:a16="http://schemas.microsoft.com/office/drawing/2014/main" id="{CE578B5E-A53F-13BE-A375-252B488C2EA0}"/>
              </a:ext>
            </a:extLst>
          </p:cNvPr>
          <p:cNvSpPr>
            <a:spLocks noGrp="1"/>
          </p:cNvSpPr>
          <p:nvPr>
            <p:ph type="sldNum" sz="quarter" idx="12"/>
          </p:nvPr>
        </p:nvSpPr>
        <p:spPr/>
        <p:txBody>
          <a:bodyPr/>
          <a:lstStyle/>
          <a:p>
            <a:fld id="{F8D8F54C-053C-4394-9990-70DE256B1A6D}" type="slidenum">
              <a:rPr lang="nl-NL" smtClean="0"/>
              <a:t>62</a:t>
            </a:fld>
            <a:endParaRPr lang="nl-NL"/>
          </a:p>
        </p:txBody>
      </p:sp>
    </p:spTree>
    <p:extLst>
      <p:ext uri="{BB962C8B-B14F-4D97-AF65-F5344CB8AC3E}">
        <p14:creationId xmlns:p14="http://schemas.microsoft.com/office/powerpoint/2010/main" val="23690213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Moving Average</a:t>
            </a:r>
            <a:br>
              <a:rPr lang="en-AU" altLang="en-US" sz="3200" dirty="0"/>
            </a:b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441308" y="1256864"/>
                <a:ext cx="5654692" cy="4948280"/>
              </a:xfrm>
            </p:spPr>
            <p:txBody>
              <a:bodyPr>
                <a:normAutofit lnSpcReduction="10000"/>
              </a:bodyPr>
              <a:lstStyle/>
              <a:p>
                <a:pPr>
                  <a:lnSpc>
                    <a:spcPct val="120000"/>
                  </a:lnSpc>
                </a:pPr>
                <a:r>
                  <a:rPr lang="en-AU" altLang="en-US" dirty="0"/>
                  <a:t>Next period’s forecast = simple average of the last </a:t>
                </a:r>
                <a14:m>
                  <m:oMath xmlns:m="http://schemas.openxmlformats.org/officeDocument/2006/math">
                    <m:r>
                      <a:rPr lang="en-US" altLang="en-US" b="0" i="1" smtClean="0">
                        <a:latin typeface="Cambria Math" panose="02040503050406030204" pitchFamily="18" charset="0"/>
                      </a:rPr>
                      <m:t>𝑘</m:t>
                    </m:r>
                  </m:oMath>
                </a14:m>
                <a:r>
                  <a:rPr lang="en-AU" altLang="en-US" dirty="0"/>
                  <a:t> periods </a:t>
                </a: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n-US" altLang="en-US" b="0" i="1" smtClean="0">
                              <a:latin typeface="Cambria Math" panose="02040503050406030204" pitchFamily="18" charset="0"/>
                            </a:rPr>
                          </m:ctrlPr>
                        </m:sSubPr>
                        <m:e>
                          <m:acc>
                            <m:accPr>
                              <m:chr m:val="̂"/>
                              <m:ctrlPr>
                                <a:rPr lang="en-US" altLang="en-US" b="0" i="1" smtClean="0">
                                  <a:latin typeface="Cambria Math" panose="02040503050406030204" pitchFamily="18" charset="0"/>
                                </a:rPr>
                              </m:ctrlPr>
                            </m:accPr>
                            <m:e>
                              <m:r>
                                <a:rPr lang="en-US" altLang="en-US" b="0" i="1" smtClean="0">
                                  <a:latin typeface="Cambria Math" panose="02040503050406030204" pitchFamily="18" charset="0"/>
                                </a:rPr>
                                <m:t>𝑦</m:t>
                              </m:r>
                            </m:e>
                          </m:acc>
                        </m:e>
                        <m:sub>
                          <m:r>
                            <a:rPr lang="en-US" altLang="en-US" b="0" i="1" smtClean="0">
                              <a:latin typeface="Cambria Math" panose="02040503050406030204" pitchFamily="18" charset="0"/>
                            </a:rPr>
                            <m:t>𝑡</m:t>
                          </m:r>
                          <m:r>
                            <a:rPr lang="en-US" altLang="en-US" b="0" i="1" smtClean="0">
                              <a:latin typeface="Cambria Math" panose="02040503050406030204" pitchFamily="18" charset="0"/>
                            </a:rPr>
                            <m:t>+1</m:t>
                          </m:r>
                        </m:sub>
                      </m:sSub>
                      <m:r>
                        <a:rPr lang="en-US" altLang="en-US" b="0" i="1" smtClean="0">
                          <a:latin typeface="Cambria Math" panose="02040503050406030204" pitchFamily="18" charset="0"/>
                        </a:rPr>
                        <m:t>=</m:t>
                      </m:r>
                      <m:f>
                        <m:fPr>
                          <m:ctrlPr>
                            <a:rPr lang="en-US" altLang="en-US" b="0" i="1" smtClean="0">
                              <a:latin typeface="Cambria Math" panose="02040503050406030204" pitchFamily="18" charset="0"/>
                            </a:rPr>
                          </m:ctrlPr>
                        </m:fPr>
                        <m:num>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𝑡</m:t>
                              </m:r>
                              <m:r>
                                <a:rPr lang="en-US" altLang="en-US" b="0" i="1" smtClean="0">
                                  <a:latin typeface="Cambria Math" panose="02040503050406030204" pitchFamily="18" charset="0"/>
                                </a:rPr>
                                <m:t>−</m:t>
                              </m:r>
                              <m:r>
                                <a:rPr lang="en-US" altLang="en-US" b="0" i="1" smtClean="0">
                                  <a:latin typeface="Cambria Math" panose="02040503050406030204" pitchFamily="18" charset="0"/>
                                </a:rPr>
                                <m:t>𝑘</m:t>
                              </m:r>
                              <m:r>
                                <a:rPr lang="en-US" altLang="en-US" b="0" i="1" smtClean="0">
                                  <a:latin typeface="Cambria Math" panose="02040503050406030204" pitchFamily="18" charset="0"/>
                                </a:rPr>
                                <m:t>+1</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𝑡</m:t>
                              </m:r>
                              <m:r>
                                <a:rPr lang="en-US" altLang="en-US" b="0" i="1" smtClean="0">
                                  <a:latin typeface="Cambria Math" panose="02040503050406030204" pitchFamily="18" charset="0"/>
                                </a:rPr>
                                <m:t>−</m:t>
                              </m:r>
                              <m:r>
                                <a:rPr lang="en-US" altLang="en-US" b="0" i="1" smtClean="0">
                                  <a:latin typeface="Cambria Math" panose="02040503050406030204" pitchFamily="18" charset="0"/>
                                </a:rPr>
                                <m:t>𝑘</m:t>
                              </m:r>
                              <m:r>
                                <a:rPr lang="en-US" altLang="en-US" b="0" i="1" smtClean="0">
                                  <a:latin typeface="Cambria Math" panose="02040503050406030204" pitchFamily="18" charset="0"/>
                                </a:rPr>
                                <m:t>+2</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𝑡</m:t>
                              </m:r>
                            </m:sub>
                          </m:sSub>
                        </m:num>
                        <m:den>
                          <m:r>
                            <a:rPr lang="en-US" altLang="en-US" b="0" i="1" smtClean="0">
                              <a:latin typeface="Cambria Math" panose="02040503050406030204" pitchFamily="18" charset="0"/>
                            </a:rPr>
                            <m:t>𝑘</m:t>
                          </m:r>
                        </m:den>
                      </m:f>
                    </m:oMath>
                  </m:oMathPara>
                </a14:m>
                <a:endParaRPr lang="en-AU" altLang="en-US" dirty="0"/>
              </a:p>
              <a:p>
                <a:pPr>
                  <a:lnSpc>
                    <a:spcPct val="120000"/>
                  </a:lnSpc>
                </a:pPr>
                <a:r>
                  <a:rPr lang="en-GB" altLang="en-NL" dirty="0"/>
                  <a:t>Also called </a:t>
                </a:r>
                <a:r>
                  <a:rPr lang="en-GB" altLang="en-NL" b="1" dirty="0">
                    <a:solidFill>
                      <a:srgbClr val="00B050"/>
                    </a:solidFill>
                  </a:rPr>
                  <a:t>Rolling Window</a:t>
                </a:r>
                <a:endParaRPr lang="en-AU" altLang="en-US" b="1" dirty="0">
                  <a:solidFill>
                    <a:srgbClr val="00B050"/>
                  </a:solidFill>
                </a:endParaRPr>
              </a:p>
              <a:p>
                <a:pPr>
                  <a:lnSpc>
                    <a:spcPct val="120000"/>
                  </a:lnSpc>
                </a:pPr>
                <a:r>
                  <a:rPr lang="en-AU" altLang="en-US" dirty="0"/>
                  <a:t>A smaller </a:t>
                </a:r>
                <a14:m>
                  <m:oMath xmlns:m="http://schemas.openxmlformats.org/officeDocument/2006/math">
                    <m:r>
                      <a:rPr lang="en-US" altLang="en-US" i="1">
                        <a:latin typeface="Cambria Math" panose="02040503050406030204" pitchFamily="18" charset="0"/>
                      </a:rPr>
                      <m:t>𝑘</m:t>
                    </m:r>
                  </m:oMath>
                </a14:m>
                <a:r>
                  <a:rPr lang="en-AU" altLang="en-US" dirty="0"/>
                  <a:t> makes the forecast more </a:t>
                </a:r>
                <a:r>
                  <a:rPr lang="en-AU" altLang="en-US" b="1" dirty="0">
                    <a:solidFill>
                      <a:srgbClr val="C00000"/>
                    </a:solidFill>
                  </a:rPr>
                  <a:t>responsive</a:t>
                </a:r>
              </a:p>
              <a:p>
                <a:pPr>
                  <a:lnSpc>
                    <a:spcPct val="120000"/>
                  </a:lnSpc>
                </a:pPr>
                <a:r>
                  <a:rPr lang="en-AU" altLang="en-US" dirty="0"/>
                  <a:t>A larger </a:t>
                </a:r>
                <a14:m>
                  <m:oMath xmlns:m="http://schemas.openxmlformats.org/officeDocument/2006/math">
                    <m:r>
                      <a:rPr lang="en-US" altLang="en-US" i="1">
                        <a:latin typeface="Cambria Math" panose="02040503050406030204" pitchFamily="18" charset="0"/>
                      </a:rPr>
                      <m:t>𝑘</m:t>
                    </m:r>
                  </m:oMath>
                </a14:m>
                <a:r>
                  <a:rPr lang="en-AU" altLang="en-US" dirty="0"/>
                  <a:t> makes the forecast more </a:t>
                </a:r>
                <a:r>
                  <a:rPr lang="en-AU" altLang="en-US" b="1" dirty="0">
                    <a:solidFill>
                      <a:srgbClr val="C00000"/>
                    </a:solidFill>
                  </a:rPr>
                  <a:t>stable</a:t>
                </a:r>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441308" y="1256864"/>
                <a:ext cx="5654692" cy="4948280"/>
              </a:xfrm>
              <a:blipFill>
                <a:blip r:embed="rId2"/>
                <a:stretch>
                  <a:fillRect l="-1790" t="-512" r="-224"/>
                </a:stretch>
              </a:blipFill>
            </p:spPr>
            <p:txBody>
              <a:bodyPr/>
              <a:lstStyle/>
              <a:p>
                <a:r>
                  <a:rPr lang="en-US">
                    <a:noFill/>
                  </a:rPr>
                  <a:t> </a:t>
                </a:r>
              </a:p>
            </p:txBody>
          </p:sp>
        </mc:Fallback>
      </mc:AlternateContent>
      <p:graphicFrame>
        <p:nvGraphicFramePr>
          <p:cNvPr id="4" name="Table 4">
            <a:extLst>
              <a:ext uri="{FF2B5EF4-FFF2-40B4-BE49-F238E27FC236}">
                <a16:creationId xmlns:a16="http://schemas.microsoft.com/office/drawing/2014/main" id="{3338AB65-3538-8041-8BB9-792AB8998988}"/>
              </a:ext>
            </a:extLst>
          </p:cNvPr>
          <p:cNvGraphicFramePr>
            <a:graphicFrameLocks noGrp="1"/>
          </p:cNvGraphicFramePr>
          <p:nvPr>
            <p:extLst>
              <p:ext uri="{D42A27DB-BD31-4B8C-83A1-F6EECF244321}">
                <p14:modId xmlns:p14="http://schemas.microsoft.com/office/powerpoint/2010/main" val="4201032243"/>
              </p:ext>
            </p:extLst>
          </p:nvPr>
        </p:nvGraphicFramePr>
        <p:xfrm>
          <a:off x="6196624" y="1007452"/>
          <a:ext cx="5899688" cy="5637478"/>
        </p:xfrm>
        <a:graphic>
          <a:graphicData uri="http://schemas.openxmlformats.org/drawingml/2006/table">
            <a:tbl>
              <a:tblPr firstRow="1" bandRow="1">
                <a:tableStyleId>{793D81CF-94F2-401A-BA57-92F5A7B2D0C5}</a:tableStyleId>
              </a:tblPr>
              <a:tblGrid>
                <a:gridCol w="1055562">
                  <a:extLst>
                    <a:ext uri="{9D8B030D-6E8A-4147-A177-3AD203B41FA5}">
                      <a16:colId xmlns:a16="http://schemas.microsoft.com/office/drawing/2014/main" val="1587537030"/>
                    </a:ext>
                  </a:extLst>
                </a:gridCol>
                <a:gridCol w="1080110">
                  <a:extLst>
                    <a:ext uri="{9D8B030D-6E8A-4147-A177-3AD203B41FA5}">
                      <a16:colId xmlns:a16="http://schemas.microsoft.com/office/drawing/2014/main" val="1462394367"/>
                    </a:ext>
                  </a:extLst>
                </a:gridCol>
                <a:gridCol w="1882008">
                  <a:extLst>
                    <a:ext uri="{9D8B030D-6E8A-4147-A177-3AD203B41FA5}">
                      <a16:colId xmlns:a16="http://schemas.microsoft.com/office/drawing/2014/main" val="3258343430"/>
                    </a:ext>
                  </a:extLst>
                </a:gridCol>
                <a:gridCol w="1882008">
                  <a:extLst>
                    <a:ext uri="{9D8B030D-6E8A-4147-A177-3AD203B41FA5}">
                      <a16:colId xmlns:a16="http://schemas.microsoft.com/office/drawing/2014/main" val="3084021690"/>
                    </a:ext>
                  </a:extLst>
                </a:gridCol>
              </a:tblGrid>
              <a:tr h="792770">
                <a:tc>
                  <a:txBody>
                    <a:bodyPr/>
                    <a:lstStyle/>
                    <a:p>
                      <a:pPr algn="ctr"/>
                      <a:r>
                        <a:rPr lang="en-US" sz="2000" dirty="0"/>
                        <a:t>Period</a:t>
                      </a:r>
                    </a:p>
                  </a:txBody>
                  <a:tcPr/>
                </a:tc>
                <a:tc>
                  <a:txBody>
                    <a:bodyPr/>
                    <a:lstStyle/>
                    <a:p>
                      <a:pPr algn="ctr"/>
                      <a:r>
                        <a:rPr lang="en-US" sz="2000" dirty="0"/>
                        <a:t>Orders</a:t>
                      </a:r>
                    </a:p>
                  </a:txBody>
                  <a:tcPr/>
                </a:tc>
                <a:tc>
                  <a:txBody>
                    <a:bodyPr/>
                    <a:lstStyle/>
                    <a:p>
                      <a:pPr algn="ctr"/>
                      <a:r>
                        <a:rPr lang="en-US" altLang="nl-NL" sz="2000" b="1" dirty="0">
                          <a:latin typeface="Times New Roman" panose="02020603050405020304" pitchFamily="18" charset="0"/>
                          <a:cs typeface="Times New Roman" panose="02020603050405020304" pitchFamily="18" charset="0"/>
                        </a:rPr>
                        <a:t>Moving Average (k = 3)</a:t>
                      </a:r>
                      <a:endParaRPr 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nl-NL" sz="2000" b="1" dirty="0">
                          <a:latin typeface="Times New Roman" panose="02020603050405020304" pitchFamily="18" charset="0"/>
                          <a:cs typeface="Times New Roman" panose="02020603050405020304" pitchFamily="18" charset="0"/>
                        </a:rPr>
                        <a:t>Moving Average (k = 5)</a:t>
                      </a:r>
                      <a:endParaRPr lang="en-US" sz="2000" dirty="0"/>
                    </a:p>
                  </a:txBody>
                  <a:tcPr/>
                </a:tc>
                <a:extLst>
                  <a:ext uri="{0D108BD9-81ED-4DB2-BD59-A6C34878D82A}">
                    <a16:rowId xmlns:a16="http://schemas.microsoft.com/office/drawing/2014/main" val="934362906"/>
                  </a:ext>
                </a:extLst>
              </a:tr>
              <a:tr h="440428">
                <a:tc>
                  <a:txBody>
                    <a:bodyPr/>
                    <a:lstStyle/>
                    <a:p>
                      <a:pPr algn="ctr"/>
                      <a:r>
                        <a:rPr lang="en-US" sz="2000" dirty="0"/>
                        <a:t>1</a:t>
                      </a:r>
                    </a:p>
                  </a:txBody>
                  <a:tcPr/>
                </a:tc>
                <a:tc>
                  <a:txBody>
                    <a:bodyPr/>
                    <a:lstStyle/>
                    <a:p>
                      <a:pPr algn="ctr"/>
                      <a:r>
                        <a:rPr lang="en-US" sz="2000" dirty="0"/>
                        <a:t>122</a:t>
                      </a:r>
                    </a:p>
                  </a:txBody>
                  <a:tcPr/>
                </a:tc>
                <a:tc>
                  <a:txBody>
                    <a:bodyPr/>
                    <a:lstStyle/>
                    <a:p>
                      <a:pPr algn="ctr"/>
                      <a:endParaRPr lang="en-US" sz="2000" dirty="0"/>
                    </a:p>
                  </a:txBody>
                  <a:tcPr/>
                </a:tc>
                <a:tc>
                  <a:txBody>
                    <a:bodyPr/>
                    <a:lstStyle/>
                    <a:p>
                      <a:pPr algn="ctr"/>
                      <a:endParaRPr lang="en-US" sz="2000" dirty="0"/>
                    </a:p>
                  </a:txBody>
                  <a:tcPr/>
                </a:tc>
                <a:extLst>
                  <a:ext uri="{0D108BD9-81ED-4DB2-BD59-A6C34878D82A}">
                    <a16:rowId xmlns:a16="http://schemas.microsoft.com/office/drawing/2014/main" val="3825270358"/>
                  </a:ext>
                </a:extLst>
              </a:tr>
              <a:tr h="440428">
                <a:tc>
                  <a:txBody>
                    <a:bodyPr/>
                    <a:lstStyle/>
                    <a:p>
                      <a:pPr algn="ctr"/>
                      <a:r>
                        <a:rPr lang="en-US" sz="2000" dirty="0"/>
                        <a:t>2</a:t>
                      </a:r>
                    </a:p>
                  </a:txBody>
                  <a:tcPr/>
                </a:tc>
                <a:tc>
                  <a:txBody>
                    <a:bodyPr/>
                    <a:lstStyle/>
                    <a:p>
                      <a:pPr algn="ctr"/>
                      <a:r>
                        <a:rPr lang="en-US" sz="2000" dirty="0"/>
                        <a:t>91</a:t>
                      </a:r>
                    </a:p>
                  </a:txBody>
                  <a:tcPr/>
                </a:tc>
                <a:tc>
                  <a:txBody>
                    <a:bodyPr/>
                    <a:lstStyle/>
                    <a:p>
                      <a:pPr marL="0" algn="ctr" defTabSz="914400" rtl="0" eaLnBrk="1" fontAlgn="b" latinLnBrk="0" hangingPunct="1"/>
                      <a:endParaRPr lang="en-NL" sz="2000" kern="1200" dirty="0">
                        <a:solidFill>
                          <a:schemeClr val="dk1"/>
                        </a:solidFill>
                        <a:latin typeface="+mn-lt"/>
                        <a:ea typeface="+mn-ea"/>
                        <a:cs typeface="+mn-cs"/>
                      </a:endParaRPr>
                    </a:p>
                  </a:txBody>
                  <a:tcPr marL="9525" marR="9525" marT="9525" marB="0" anchor="b"/>
                </a:tc>
                <a:tc>
                  <a:txBody>
                    <a:bodyPr/>
                    <a:lstStyle/>
                    <a:p>
                      <a:pPr marL="0" algn="ctr" defTabSz="914400" rtl="0" eaLnBrk="1" fontAlgn="b" latinLnBrk="0" hangingPunct="1"/>
                      <a:endParaRPr lang="en-NL" sz="20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4079680"/>
                  </a:ext>
                </a:extLst>
              </a:tr>
              <a:tr h="440428">
                <a:tc>
                  <a:txBody>
                    <a:bodyPr/>
                    <a:lstStyle/>
                    <a:p>
                      <a:pPr algn="ctr"/>
                      <a:r>
                        <a:rPr lang="en-US" sz="2000" dirty="0"/>
                        <a:t>3</a:t>
                      </a:r>
                    </a:p>
                  </a:txBody>
                  <a:tcPr/>
                </a:tc>
                <a:tc>
                  <a:txBody>
                    <a:bodyPr/>
                    <a:lstStyle/>
                    <a:p>
                      <a:pPr algn="ctr"/>
                      <a:r>
                        <a:rPr lang="en-US" sz="2000" dirty="0"/>
                        <a:t>100</a:t>
                      </a:r>
                    </a:p>
                  </a:txBody>
                  <a:tcPr/>
                </a:tc>
                <a:tc>
                  <a:txBody>
                    <a:bodyPr/>
                    <a:lstStyle/>
                    <a:p>
                      <a:pPr marL="0" algn="ctr" defTabSz="914400" rtl="0" eaLnBrk="1" fontAlgn="b" latinLnBrk="0" hangingPunct="1"/>
                      <a:endParaRPr lang="en-NL" sz="2000" kern="1200" dirty="0">
                        <a:solidFill>
                          <a:schemeClr val="dk1"/>
                        </a:solidFill>
                        <a:latin typeface="+mn-lt"/>
                        <a:ea typeface="+mn-ea"/>
                        <a:cs typeface="+mn-cs"/>
                      </a:endParaRPr>
                    </a:p>
                  </a:txBody>
                  <a:tcPr marL="9525" marR="9525" marT="9525" marB="0" anchor="b"/>
                </a:tc>
                <a:tc>
                  <a:txBody>
                    <a:bodyPr/>
                    <a:lstStyle/>
                    <a:p>
                      <a:pPr marL="0" algn="ctr" defTabSz="914400" rtl="0" eaLnBrk="1" fontAlgn="b" latinLnBrk="0" hangingPunct="1"/>
                      <a:endParaRPr lang="en-NL" sz="20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22780954"/>
                  </a:ext>
                </a:extLst>
              </a:tr>
              <a:tr h="440428">
                <a:tc>
                  <a:txBody>
                    <a:bodyPr/>
                    <a:lstStyle/>
                    <a:p>
                      <a:pPr algn="ctr"/>
                      <a:r>
                        <a:rPr lang="en-US" sz="2000" dirty="0"/>
                        <a:t>4</a:t>
                      </a:r>
                    </a:p>
                  </a:txBody>
                  <a:tcPr/>
                </a:tc>
                <a:tc>
                  <a:txBody>
                    <a:bodyPr/>
                    <a:lstStyle/>
                    <a:p>
                      <a:pPr algn="ctr"/>
                      <a:r>
                        <a:rPr lang="en-US" sz="2000" dirty="0"/>
                        <a:t>77</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104</a:t>
                      </a:r>
                    </a:p>
                  </a:txBody>
                  <a:tcPr marL="9525" marR="9525" marT="9525" marB="0" anchor="b"/>
                </a:tc>
                <a:tc>
                  <a:txBody>
                    <a:bodyPr/>
                    <a:lstStyle/>
                    <a:p>
                      <a:pPr marL="0" algn="ctr" defTabSz="914400" rtl="0" eaLnBrk="1" fontAlgn="b" latinLnBrk="0" hangingPunct="1"/>
                      <a:endParaRPr lang="en-NL" sz="20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992653053"/>
                  </a:ext>
                </a:extLst>
              </a:tr>
              <a:tr h="440428">
                <a:tc>
                  <a:txBody>
                    <a:bodyPr/>
                    <a:lstStyle/>
                    <a:p>
                      <a:pPr algn="ctr"/>
                      <a:r>
                        <a:rPr lang="en-US" sz="2000" dirty="0"/>
                        <a:t>5</a:t>
                      </a:r>
                    </a:p>
                  </a:txBody>
                  <a:tcPr/>
                </a:tc>
                <a:tc>
                  <a:txBody>
                    <a:bodyPr/>
                    <a:lstStyle/>
                    <a:p>
                      <a:pPr algn="ctr"/>
                      <a:r>
                        <a:rPr lang="en-US" sz="2000" dirty="0"/>
                        <a:t>115</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89</a:t>
                      </a:r>
                    </a:p>
                  </a:txBody>
                  <a:tcPr marL="9525" marR="9525" marT="9525" marB="0" anchor="b"/>
                </a:tc>
                <a:tc>
                  <a:txBody>
                    <a:bodyPr/>
                    <a:lstStyle/>
                    <a:p>
                      <a:pPr marL="0" algn="ctr" defTabSz="914400" rtl="0" eaLnBrk="1" fontAlgn="b" latinLnBrk="0" hangingPunct="1"/>
                      <a:endParaRPr lang="en-NL" sz="20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550763541"/>
                  </a:ext>
                </a:extLst>
              </a:tr>
              <a:tr h="440428">
                <a:tc>
                  <a:txBody>
                    <a:bodyPr/>
                    <a:lstStyle/>
                    <a:p>
                      <a:pPr algn="ctr"/>
                      <a:r>
                        <a:rPr lang="en-US" sz="2000" dirty="0"/>
                        <a:t>6</a:t>
                      </a:r>
                    </a:p>
                  </a:txBody>
                  <a:tcPr/>
                </a:tc>
                <a:tc>
                  <a:txBody>
                    <a:bodyPr/>
                    <a:lstStyle/>
                    <a:p>
                      <a:pPr algn="ctr"/>
                      <a:r>
                        <a:rPr lang="en-US" sz="2000" dirty="0"/>
                        <a:t>58</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97</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101</a:t>
                      </a:r>
                    </a:p>
                  </a:txBody>
                  <a:tcPr marL="9525" marR="9525" marT="9525" marB="0" anchor="b"/>
                </a:tc>
                <a:extLst>
                  <a:ext uri="{0D108BD9-81ED-4DB2-BD59-A6C34878D82A}">
                    <a16:rowId xmlns:a16="http://schemas.microsoft.com/office/drawing/2014/main" val="4228619177"/>
                  </a:ext>
                </a:extLst>
              </a:tr>
              <a:tr h="440428">
                <a:tc>
                  <a:txBody>
                    <a:bodyPr/>
                    <a:lstStyle/>
                    <a:p>
                      <a:pPr algn="ctr"/>
                      <a:r>
                        <a:rPr lang="en-US" sz="2000" dirty="0"/>
                        <a:t>7</a:t>
                      </a:r>
                    </a:p>
                  </a:txBody>
                  <a:tcPr/>
                </a:tc>
                <a:tc>
                  <a:txBody>
                    <a:bodyPr/>
                    <a:lstStyle/>
                    <a:p>
                      <a:pPr algn="ctr"/>
                      <a:r>
                        <a:rPr lang="en-US" sz="2000" dirty="0"/>
                        <a:t>75</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83</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88</a:t>
                      </a:r>
                    </a:p>
                  </a:txBody>
                  <a:tcPr marL="9525" marR="9525" marT="9525" marB="0" anchor="b"/>
                </a:tc>
                <a:extLst>
                  <a:ext uri="{0D108BD9-81ED-4DB2-BD59-A6C34878D82A}">
                    <a16:rowId xmlns:a16="http://schemas.microsoft.com/office/drawing/2014/main" val="4170487017"/>
                  </a:ext>
                </a:extLst>
              </a:tr>
              <a:tr h="440428">
                <a:tc>
                  <a:txBody>
                    <a:bodyPr/>
                    <a:lstStyle/>
                    <a:p>
                      <a:pPr algn="ctr"/>
                      <a:r>
                        <a:rPr lang="en-US" sz="2000" dirty="0"/>
                        <a:t>8</a:t>
                      </a:r>
                    </a:p>
                  </a:txBody>
                  <a:tcPr/>
                </a:tc>
                <a:tc>
                  <a:txBody>
                    <a:bodyPr/>
                    <a:lstStyle/>
                    <a:p>
                      <a:pPr algn="ctr"/>
                      <a:r>
                        <a:rPr lang="en-US" sz="2000" dirty="0"/>
                        <a:t>128</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83</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85</a:t>
                      </a:r>
                    </a:p>
                  </a:txBody>
                  <a:tcPr marL="9525" marR="9525" marT="9525" marB="0" anchor="b"/>
                </a:tc>
                <a:extLst>
                  <a:ext uri="{0D108BD9-81ED-4DB2-BD59-A6C34878D82A}">
                    <a16:rowId xmlns:a16="http://schemas.microsoft.com/office/drawing/2014/main" val="549461603"/>
                  </a:ext>
                </a:extLst>
              </a:tr>
              <a:tr h="440428">
                <a:tc>
                  <a:txBody>
                    <a:bodyPr/>
                    <a:lstStyle/>
                    <a:p>
                      <a:pPr algn="ctr"/>
                      <a:r>
                        <a:rPr lang="en-US" sz="2000" dirty="0"/>
                        <a:t>9</a:t>
                      </a:r>
                    </a:p>
                  </a:txBody>
                  <a:tcPr/>
                </a:tc>
                <a:tc>
                  <a:txBody>
                    <a:bodyPr/>
                    <a:lstStyle/>
                    <a:p>
                      <a:pPr algn="ctr"/>
                      <a:r>
                        <a:rPr lang="en-US" sz="2000" dirty="0"/>
                        <a:t>111</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87</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91</a:t>
                      </a:r>
                    </a:p>
                  </a:txBody>
                  <a:tcPr marL="9525" marR="9525" marT="9525" marB="0" anchor="b"/>
                </a:tc>
                <a:extLst>
                  <a:ext uri="{0D108BD9-81ED-4DB2-BD59-A6C34878D82A}">
                    <a16:rowId xmlns:a16="http://schemas.microsoft.com/office/drawing/2014/main" val="1675822261"/>
                  </a:ext>
                </a:extLst>
              </a:tr>
              <a:tr h="440428">
                <a:tc>
                  <a:txBody>
                    <a:bodyPr/>
                    <a:lstStyle/>
                    <a:p>
                      <a:pPr algn="ctr"/>
                      <a:r>
                        <a:rPr lang="en-US" sz="2000" dirty="0"/>
                        <a:t>10</a:t>
                      </a:r>
                    </a:p>
                  </a:txBody>
                  <a:tcPr/>
                </a:tc>
                <a:tc>
                  <a:txBody>
                    <a:bodyPr/>
                    <a:lstStyle/>
                    <a:p>
                      <a:pPr algn="ctr"/>
                      <a:r>
                        <a:rPr lang="en-US" sz="2000" dirty="0"/>
                        <a:t>88</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105</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97</a:t>
                      </a:r>
                    </a:p>
                  </a:txBody>
                  <a:tcPr marL="9525" marR="9525" marT="9525" marB="0" anchor="b"/>
                </a:tc>
                <a:extLst>
                  <a:ext uri="{0D108BD9-81ED-4DB2-BD59-A6C34878D82A}">
                    <a16:rowId xmlns:a16="http://schemas.microsoft.com/office/drawing/2014/main" val="3381910438"/>
                  </a:ext>
                </a:extLst>
              </a:tr>
              <a:tr h="440428">
                <a:tc>
                  <a:txBody>
                    <a:bodyPr/>
                    <a:lstStyle/>
                    <a:p>
                      <a:pPr algn="ctr"/>
                      <a:r>
                        <a:rPr lang="en-US" sz="2000" dirty="0">
                          <a:solidFill>
                            <a:srgbClr val="00B050"/>
                          </a:solidFill>
                        </a:rPr>
                        <a:t>11</a:t>
                      </a:r>
                    </a:p>
                  </a:txBody>
                  <a:tcPr/>
                </a:tc>
                <a:tc>
                  <a:txBody>
                    <a:bodyPr/>
                    <a:lstStyle/>
                    <a:p>
                      <a:pPr algn="ctr"/>
                      <a:endParaRPr lang="en-US" sz="2000" dirty="0">
                        <a:solidFill>
                          <a:srgbClr val="00B050"/>
                        </a:solidFill>
                      </a:endParaRPr>
                    </a:p>
                  </a:txBody>
                  <a:tcPr/>
                </a:tc>
                <a:tc>
                  <a:txBody>
                    <a:bodyPr/>
                    <a:lstStyle/>
                    <a:p>
                      <a:pPr algn="ctr"/>
                      <a:r>
                        <a:rPr lang="en-US" sz="2000" dirty="0">
                          <a:solidFill>
                            <a:srgbClr val="00B050"/>
                          </a:solidFill>
                        </a:rPr>
                        <a:t>109</a:t>
                      </a:r>
                    </a:p>
                  </a:txBody>
                  <a:tcPr/>
                </a:tc>
                <a:tc>
                  <a:txBody>
                    <a:bodyPr/>
                    <a:lstStyle/>
                    <a:p>
                      <a:pPr algn="ctr"/>
                      <a:r>
                        <a:rPr lang="en-US" sz="2000" dirty="0">
                          <a:solidFill>
                            <a:srgbClr val="00B050"/>
                          </a:solidFill>
                        </a:rPr>
                        <a:t>92</a:t>
                      </a:r>
                    </a:p>
                  </a:txBody>
                  <a:tcPr/>
                </a:tc>
                <a:extLst>
                  <a:ext uri="{0D108BD9-81ED-4DB2-BD59-A6C34878D82A}">
                    <a16:rowId xmlns:a16="http://schemas.microsoft.com/office/drawing/2014/main" val="3580419074"/>
                  </a:ext>
                </a:extLst>
              </a:tr>
            </a:tbl>
          </a:graphicData>
        </a:graphic>
      </p:graphicFrame>
      <p:sp>
        <p:nvSpPr>
          <p:cNvPr id="5" name="Slide Number Placeholder 4">
            <a:extLst>
              <a:ext uri="{FF2B5EF4-FFF2-40B4-BE49-F238E27FC236}">
                <a16:creationId xmlns:a16="http://schemas.microsoft.com/office/drawing/2014/main" id="{F4506B01-41F3-8E03-4E15-AF0BD5F5D042}"/>
              </a:ext>
            </a:extLst>
          </p:cNvPr>
          <p:cNvSpPr>
            <a:spLocks noGrp="1"/>
          </p:cNvSpPr>
          <p:nvPr>
            <p:ph type="sldNum" sz="quarter" idx="12"/>
          </p:nvPr>
        </p:nvSpPr>
        <p:spPr/>
        <p:txBody>
          <a:bodyPr/>
          <a:lstStyle/>
          <a:p>
            <a:fld id="{F8D8F54C-053C-4394-9990-70DE256B1A6D}" type="slidenum">
              <a:rPr lang="nl-NL" smtClean="0"/>
              <a:t>63</a:t>
            </a:fld>
            <a:endParaRPr lang="nl-NL"/>
          </a:p>
        </p:txBody>
      </p:sp>
    </p:spTree>
    <p:extLst>
      <p:ext uri="{BB962C8B-B14F-4D97-AF65-F5344CB8AC3E}">
        <p14:creationId xmlns:p14="http://schemas.microsoft.com/office/powerpoint/2010/main" val="20303157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202769" y="365125"/>
            <a:ext cx="11151031"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Weighted Moving Average</a:t>
            </a:r>
            <a:br>
              <a:rPr lang="en-AU" altLang="en-US" sz="3200" dirty="0"/>
            </a:b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202769" y="1251284"/>
                <a:ext cx="5257800" cy="4948280"/>
              </a:xfrm>
            </p:spPr>
            <p:txBody>
              <a:bodyPr>
                <a:normAutofit/>
              </a:bodyPr>
              <a:lstStyle/>
              <a:p>
                <a:pPr>
                  <a:lnSpc>
                    <a:spcPct val="120000"/>
                  </a:lnSpc>
                </a:pPr>
                <a:r>
                  <a:rPr lang="en-AU" altLang="en-US" dirty="0"/>
                  <a:t>Next period’s forecast = weighted average of the last </a:t>
                </a:r>
                <a14:m>
                  <m:oMath xmlns:m="http://schemas.openxmlformats.org/officeDocument/2006/math">
                    <m:r>
                      <a:rPr lang="en-US" altLang="en-US" b="0" i="1" smtClean="0">
                        <a:latin typeface="Cambria Math" panose="02040503050406030204" pitchFamily="18" charset="0"/>
                      </a:rPr>
                      <m:t>𝑘</m:t>
                    </m:r>
                  </m:oMath>
                </a14:m>
                <a:r>
                  <a:rPr lang="en-AU" altLang="en-US" dirty="0"/>
                  <a:t> periods </a:t>
                </a: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n-US" altLang="en-US" b="0" i="1" smtClean="0">
                              <a:latin typeface="Cambria Math" panose="02040503050406030204" pitchFamily="18" charset="0"/>
                            </a:rPr>
                          </m:ctrlPr>
                        </m:sSubPr>
                        <m:e>
                          <m:acc>
                            <m:accPr>
                              <m:chr m:val="̂"/>
                              <m:ctrlPr>
                                <a:rPr lang="en-US" altLang="en-US" b="0" i="1" smtClean="0">
                                  <a:latin typeface="Cambria Math" panose="02040503050406030204" pitchFamily="18" charset="0"/>
                                </a:rPr>
                              </m:ctrlPr>
                            </m:accPr>
                            <m:e>
                              <m:r>
                                <a:rPr lang="en-US" altLang="en-US" i="1">
                                  <a:latin typeface="Cambria Math" panose="02040503050406030204" pitchFamily="18" charset="0"/>
                                </a:rPr>
                                <m:t>𝑦</m:t>
                              </m:r>
                            </m:e>
                          </m:acc>
                        </m:e>
                        <m:sub>
                          <m:r>
                            <a:rPr lang="en-US" altLang="en-US" b="0" i="1" smtClean="0">
                              <a:latin typeface="Cambria Math" panose="02040503050406030204" pitchFamily="18" charset="0"/>
                            </a:rPr>
                            <m:t>𝑡</m:t>
                          </m:r>
                          <m:r>
                            <a:rPr lang="en-US" altLang="en-US" b="0" i="1" smtClean="0">
                              <a:latin typeface="Cambria Math" panose="02040503050406030204" pitchFamily="18" charset="0"/>
                            </a:rPr>
                            <m:t>+1</m:t>
                          </m:r>
                        </m:sub>
                      </m:sSub>
                      <m:r>
                        <a:rPr lang="en-US" altLang="en-US" b="0" i="1" smtClean="0">
                          <a:latin typeface="Cambria Math" panose="02040503050406030204" pitchFamily="18" charset="0"/>
                        </a:rPr>
                        <m:t>=</m:t>
                      </m:r>
                      <m:sSub>
                        <m:sSubPr>
                          <m:ctrlPr>
                            <a:rPr lang="en-US" altLang="en-US" i="1">
                              <a:latin typeface="Cambria Math" panose="02040503050406030204" pitchFamily="18" charset="0"/>
                            </a:rPr>
                          </m:ctrlPr>
                        </m:sSubPr>
                        <m:e>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𝑐</m:t>
                              </m:r>
                            </m:e>
                            <m:sub>
                              <m:r>
                                <a:rPr lang="en-US" altLang="en-US" b="0" i="1" smtClean="0">
                                  <a:latin typeface="Cambria Math" panose="02040503050406030204" pitchFamily="18" charset="0"/>
                                </a:rPr>
                                <m:t>1</m:t>
                              </m:r>
                            </m:sub>
                          </m:sSub>
                          <m:r>
                            <a:rPr lang="en-US" altLang="en-US" i="1">
                              <a:latin typeface="Cambria Math" panose="02040503050406030204" pitchFamily="18" charset="0"/>
                            </a:rPr>
                            <m:t>𝑦</m:t>
                          </m:r>
                        </m:e>
                        <m:sub>
                          <m:r>
                            <a:rPr lang="en-US" altLang="en-US" i="1">
                              <a:latin typeface="Cambria Math" panose="02040503050406030204" pitchFamily="18" charset="0"/>
                            </a:rPr>
                            <m:t>𝑡</m:t>
                          </m:r>
                          <m:r>
                            <a:rPr lang="en-US" altLang="en-US" i="1">
                              <a:latin typeface="Cambria Math" panose="02040503050406030204" pitchFamily="18" charset="0"/>
                            </a:rPr>
                            <m:t>−</m:t>
                          </m:r>
                          <m:r>
                            <a:rPr lang="en-US" altLang="en-US" i="1">
                              <a:latin typeface="Cambria Math" panose="02040503050406030204" pitchFamily="18" charset="0"/>
                            </a:rPr>
                            <m:t>𝑘</m:t>
                          </m:r>
                          <m:r>
                            <a:rPr lang="en-US" altLang="en-US" i="1">
                              <a:latin typeface="Cambria Math" panose="02040503050406030204" pitchFamily="18" charset="0"/>
                            </a:rPr>
                            <m:t>+1</m:t>
                          </m:r>
                        </m:sub>
                      </m:sSub>
                      <m:r>
                        <a:rPr lang="en-US" altLang="en-US" i="1">
                          <a:latin typeface="Cambria Math" panose="02040503050406030204" pitchFamily="18" charset="0"/>
                        </a:rPr>
                        <m:t>+…+</m:t>
                      </m:r>
                      <m:sSub>
                        <m:sSubPr>
                          <m:ctrlPr>
                            <a:rPr lang="en-US" altLang="en-US" i="1">
                              <a:latin typeface="Cambria Math" panose="02040503050406030204" pitchFamily="18" charset="0"/>
                            </a:rPr>
                          </m:ctrlPr>
                        </m:sSubPr>
                        <m:e>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𝑐</m:t>
                              </m:r>
                            </m:e>
                            <m:sub>
                              <m:r>
                                <a:rPr lang="en-US" altLang="en-US" b="0" i="1" smtClean="0">
                                  <a:latin typeface="Cambria Math" panose="02040503050406030204" pitchFamily="18" charset="0"/>
                                </a:rPr>
                                <m:t>𝑘</m:t>
                              </m:r>
                            </m:sub>
                          </m:sSub>
                          <m:r>
                            <a:rPr lang="en-US" altLang="en-US" i="1">
                              <a:latin typeface="Cambria Math" panose="02040503050406030204" pitchFamily="18" charset="0"/>
                            </a:rPr>
                            <m:t>𝑦</m:t>
                          </m:r>
                        </m:e>
                        <m:sub>
                          <m:r>
                            <a:rPr lang="en-US" altLang="en-US" i="1">
                              <a:latin typeface="Cambria Math" panose="02040503050406030204" pitchFamily="18" charset="0"/>
                            </a:rPr>
                            <m:t>𝑡</m:t>
                          </m:r>
                        </m:sub>
                      </m:sSub>
                    </m:oMath>
                  </m:oMathPara>
                </a14:m>
                <a:endParaRPr lang="en-AU" altLang="en-US" dirty="0"/>
              </a:p>
              <a:p>
                <a:pPr marL="0" indent="0">
                  <a:lnSpc>
                    <a:spcPct val="120000"/>
                  </a:lnSpc>
                  <a:buNone/>
                </a:pPr>
                <a:r>
                  <a:rPr lang="en-AU" altLang="en-US" dirty="0"/>
                  <a:t>With </a:t>
                </a: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𝑐</m:t>
                          </m:r>
                        </m:e>
                        <m:sub>
                          <m:r>
                            <a:rPr lang="en-US" altLang="en-US" b="0" i="1" smtClean="0">
                              <a:latin typeface="Cambria Math" panose="02040503050406030204" pitchFamily="18" charset="0"/>
                            </a:rPr>
                            <m:t>1</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𝑐</m:t>
                          </m:r>
                        </m:e>
                        <m:sub>
                          <m:r>
                            <a:rPr lang="en-US" altLang="en-US" b="0" i="1" smtClean="0">
                              <a:latin typeface="Cambria Math" panose="02040503050406030204" pitchFamily="18" charset="0"/>
                            </a:rPr>
                            <m:t>2</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𝑐</m:t>
                          </m:r>
                        </m:e>
                        <m:sub>
                          <m:r>
                            <a:rPr lang="en-US" altLang="en-US" b="0" i="1" smtClean="0">
                              <a:latin typeface="Cambria Math" panose="02040503050406030204" pitchFamily="18" charset="0"/>
                            </a:rPr>
                            <m:t>𝑘</m:t>
                          </m:r>
                        </m:sub>
                      </m:sSub>
                      <m:r>
                        <a:rPr lang="en-US" altLang="en-US" b="0" i="1" smtClean="0">
                          <a:latin typeface="Cambria Math" panose="02040503050406030204" pitchFamily="18" charset="0"/>
                        </a:rPr>
                        <m:t>=1</m:t>
                      </m:r>
                    </m:oMath>
                  </m:oMathPara>
                </a14:m>
                <a:endParaRPr lang="en-AU" altLang="en-US" dirty="0"/>
              </a:p>
              <a:p>
                <a:pPr marL="0" indent="0">
                  <a:lnSpc>
                    <a:spcPct val="120000"/>
                  </a:lnSpc>
                  <a:buNone/>
                </a:pPr>
                <a:endParaRPr lang="en-AU" altLang="en-US" dirty="0"/>
              </a:p>
              <a:p>
                <a:pPr marL="0" indent="0">
                  <a:lnSpc>
                    <a:spcPct val="120000"/>
                  </a:lnSpc>
                  <a:buNone/>
                </a:pPr>
                <a:r>
                  <a:rPr lang="en-AU" altLang="en-US" dirty="0"/>
                  <a:t>We take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panose="02040503050406030204" pitchFamily="18" charset="0"/>
                          </a:rPr>
                          <m:t>𝑐</m:t>
                        </m:r>
                      </m:e>
                      <m:sub>
                        <m:r>
                          <a:rPr lang="en-US" altLang="en-US" i="1">
                            <a:latin typeface="Cambria Math" panose="02040503050406030204" pitchFamily="18" charset="0"/>
                          </a:rPr>
                          <m:t>1</m:t>
                        </m:r>
                      </m:sub>
                    </m:sSub>
                    <m:r>
                      <a:rPr lang="en-US" altLang="en-US" b="0" i="1" smtClean="0">
                        <a:latin typeface="Cambria Math" panose="02040503050406030204" pitchFamily="18" charset="0"/>
                      </a:rPr>
                      <m:t>=0.2</m:t>
                    </m:r>
                  </m:oMath>
                </a14:m>
                <a:r>
                  <a:rPr lang="en-AU" altLang="en-US" dirty="0"/>
                  <a:t>,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panose="02040503050406030204" pitchFamily="18" charset="0"/>
                          </a:rPr>
                          <m:t>𝑐</m:t>
                        </m:r>
                      </m:e>
                      <m:sub>
                        <m:r>
                          <a:rPr lang="en-US" altLang="en-US" b="0" i="1" smtClean="0">
                            <a:latin typeface="Cambria Math" panose="02040503050406030204" pitchFamily="18" charset="0"/>
                          </a:rPr>
                          <m:t>2</m:t>
                        </m:r>
                      </m:sub>
                    </m:sSub>
                    <m:r>
                      <a:rPr lang="en-US" altLang="en-US" i="1">
                        <a:latin typeface="Cambria Math" panose="02040503050406030204" pitchFamily="18" charset="0"/>
                      </a:rPr>
                      <m:t>=0.</m:t>
                    </m:r>
                    <m:r>
                      <a:rPr lang="en-US" altLang="en-US" b="0" i="1" smtClean="0">
                        <a:latin typeface="Cambria Math" panose="02040503050406030204" pitchFamily="18" charset="0"/>
                      </a:rPr>
                      <m:t>3</m:t>
                    </m:r>
                  </m:oMath>
                </a14:m>
                <a:r>
                  <a:rPr lang="en-AU" altLang="en-US" dirty="0"/>
                  <a:t> and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panose="02040503050406030204" pitchFamily="18" charset="0"/>
                          </a:rPr>
                          <m:t>𝑐</m:t>
                        </m:r>
                      </m:e>
                      <m:sub>
                        <m:r>
                          <a:rPr lang="en-US" altLang="en-US" b="0" i="1" smtClean="0">
                            <a:latin typeface="Cambria Math" panose="02040503050406030204" pitchFamily="18" charset="0"/>
                          </a:rPr>
                          <m:t>3</m:t>
                        </m:r>
                      </m:sub>
                    </m:sSub>
                    <m:r>
                      <a:rPr lang="en-US" altLang="en-US" i="1">
                        <a:latin typeface="Cambria Math" panose="02040503050406030204" pitchFamily="18" charset="0"/>
                      </a:rPr>
                      <m:t>=0.</m:t>
                    </m:r>
                    <m:r>
                      <a:rPr lang="en-US" altLang="en-US" b="0" i="1" smtClean="0">
                        <a:latin typeface="Cambria Math" panose="02040503050406030204" pitchFamily="18" charset="0"/>
                      </a:rPr>
                      <m:t>5</m:t>
                    </m:r>
                  </m:oMath>
                </a14:m>
                <a:endParaRPr lang="en-AU" altLang="en-US" dirty="0"/>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202769" y="1251284"/>
                <a:ext cx="5257800" cy="4948280"/>
              </a:xfrm>
              <a:blipFill>
                <a:blip r:embed="rId2"/>
                <a:stretch>
                  <a:fillRect l="-2404" t="-256" r="-3365"/>
                </a:stretch>
              </a:blipFill>
            </p:spPr>
            <p:txBody>
              <a:bodyPr/>
              <a:lstStyle/>
              <a:p>
                <a:r>
                  <a:rPr lang="en-US">
                    <a:noFill/>
                  </a:rPr>
                  <a:t> </a:t>
                </a:r>
              </a:p>
            </p:txBody>
          </p:sp>
        </mc:Fallback>
      </mc:AlternateContent>
      <p:graphicFrame>
        <p:nvGraphicFramePr>
          <p:cNvPr id="4" name="Table 4">
            <a:extLst>
              <a:ext uri="{FF2B5EF4-FFF2-40B4-BE49-F238E27FC236}">
                <a16:creationId xmlns:a16="http://schemas.microsoft.com/office/drawing/2014/main" id="{3338AB65-3538-8041-8BB9-792AB8998988}"/>
              </a:ext>
            </a:extLst>
          </p:cNvPr>
          <p:cNvGraphicFramePr>
            <a:graphicFrameLocks noGrp="1"/>
          </p:cNvGraphicFramePr>
          <p:nvPr>
            <p:extLst>
              <p:ext uri="{D42A27DB-BD31-4B8C-83A1-F6EECF244321}">
                <p14:modId xmlns:p14="http://schemas.microsoft.com/office/powerpoint/2010/main" val="2470053533"/>
              </p:ext>
            </p:extLst>
          </p:nvPr>
        </p:nvGraphicFramePr>
        <p:xfrm>
          <a:off x="6096000" y="1022950"/>
          <a:ext cx="5660759" cy="5637478"/>
        </p:xfrm>
        <a:graphic>
          <a:graphicData uri="http://schemas.openxmlformats.org/drawingml/2006/table">
            <a:tbl>
              <a:tblPr firstRow="1" bandRow="1">
                <a:tableStyleId>{793D81CF-94F2-401A-BA57-92F5A7B2D0C5}</a:tableStyleId>
              </a:tblPr>
              <a:tblGrid>
                <a:gridCol w="1487247">
                  <a:extLst>
                    <a:ext uri="{9D8B030D-6E8A-4147-A177-3AD203B41FA5}">
                      <a16:colId xmlns:a16="http://schemas.microsoft.com/office/drawing/2014/main" val="1587537030"/>
                    </a:ext>
                  </a:extLst>
                </a:gridCol>
                <a:gridCol w="1521834">
                  <a:extLst>
                    <a:ext uri="{9D8B030D-6E8A-4147-A177-3AD203B41FA5}">
                      <a16:colId xmlns:a16="http://schemas.microsoft.com/office/drawing/2014/main" val="1462394367"/>
                    </a:ext>
                  </a:extLst>
                </a:gridCol>
                <a:gridCol w="2651678">
                  <a:extLst>
                    <a:ext uri="{9D8B030D-6E8A-4147-A177-3AD203B41FA5}">
                      <a16:colId xmlns:a16="http://schemas.microsoft.com/office/drawing/2014/main" val="3258343430"/>
                    </a:ext>
                  </a:extLst>
                </a:gridCol>
              </a:tblGrid>
              <a:tr h="792770">
                <a:tc>
                  <a:txBody>
                    <a:bodyPr/>
                    <a:lstStyle/>
                    <a:p>
                      <a:pPr algn="ctr"/>
                      <a:r>
                        <a:rPr lang="en-US" sz="2000" dirty="0"/>
                        <a:t>Period</a:t>
                      </a:r>
                    </a:p>
                  </a:txBody>
                  <a:tcPr/>
                </a:tc>
                <a:tc>
                  <a:txBody>
                    <a:bodyPr/>
                    <a:lstStyle/>
                    <a:p>
                      <a:pPr algn="ctr"/>
                      <a:r>
                        <a:rPr lang="en-US" sz="2000" dirty="0"/>
                        <a:t>Orders</a:t>
                      </a:r>
                    </a:p>
                  </a:txBody>
                  <a:tcPr/>
                </a:tc>
                <a:tc>
                  <a:txBody>
                    <a:bodyPr/>
                    <a:lstStyle/>
                    <a:p>
                      <a:pPr algn="ctr"/>
                      <a:r>
                        <a:rPr lang="en-US" altLang="nl-NL" sz="2000" b="1" dirty="0">
                          <a:latin typeface="Times New Roman" panose="02020603050405020304" pitchFamily="18" charset="0"/>
                          <a:cs typeface="Times New Roman" panose="02020603050405020304" pitchFamily="18" charset="0"/>
                        </a:rPr>
                        <a:t>Weighted Moving Average (k = 3)</a:t>
                      </a:r>
                      <a:endParaRPr lang="en-US" sz="2000" dirty="0"/>
                    </a:p>
                  </a:txBody>
                  <a:tcPr/>
                </a:tc>
                <a:extLst>
                  <a:ext uri="{0D108BD9-81ED-4DB2-BD59-A6C34878D82A}">
                    <a16:rowId xmlns:a16="http://schemas.microsoft.com/office/drawing/2014/main" val="934362906"/>
                  </a:ext>
                </a:extLst>
              </a:tr>
              <a:tr h="440428">
                <a:tc>
                  <a:txBody>
                    <a:bodyPr/>
                    <a:lstStyle/>
                    <a:p>
                      <a:pPr algn="ctr"/>
                      <a:r>
                        <a:rPr lang="en-US" sz="2000" dirty="0"/>
                        <a:t>1</a:t>
                      </a:r>
                    </a:p>
                  </a:txBody>
                  <a:tcPr/>
                </a:tc>
                <a:tc>
                  <a:txBody>
                    <a:bodyPr/>
                    <a:lstStyle/>
                    <a:p>
                      <a:pPr algn="ctr"/>
                      <a:r>
                        <a:rPr lang="en-US" sz="2000" dirty="0"/>
                        <a:t>122</a:t>
                      </a:r>
                    </a:p>
                  </a:txBody>
                  <a:tcPr/>
                </a:tc>
                <a:tc>
                  <a:txBody>
                    <a:bodyPr/>
                    <a:lstStyle/>
                    <a:p>
                      <a:pPr algn="ctr"/>
                      <a:endParaRPr lang="en-US" sz="2000" dirty="0"/>
                    </a:p>
                  </a:txBody>
                  <a:tcPr/>
                </a:tc>
                <a:extLst>
                  <a:ext uri="{0D108BD9-81ED-4DB2-BD59-A6C34878D82A}">
                    <a16:rowId xmlns:a16="http://schemas.microsoft.com/office/drawing/2014/main" val="3825270358"/>
                  </a:ext>
                </a:extLst>
              </a:tr>
              <a:tr h="440428">
                <a:tc>
                  <a:txBody>
                    <a:bodyPr/>
                    <a:lstStyle/>
                    <a:p>
                      <a:pPr algn="ctr"/>
                      <a:r>
                        <a:rPr lang="en-US" sz="2000" dirty="0"/>
                        <a:t>2</a:t>
                      </a:r>
                    </a:p>
                  </a:txBody>
                  <a:tcPr/>
                </a:tc>
                <a:tc>
                  <a:txBody>
                    <a:bodyPr/>
                    <a:lstStyle/>
                    <a:p>
                      <a:pPr algn="ctr"/>
                      <a:r>
                        <a:rPr lang="en-US" sz="2000" dirty="0"/>
                        <a:t>91</a:t>
                      </a:r>
                    </a:p>
                  </a:txBody>
                  <a:tcPr/>
                </a:tc>
                <a:tc>
                  <a:txBody>
                    <a:bodyPr/>
                    <a:lstStyle/>
                    <a:p>
                      <a:pPr marL="0" algn="ctr" defTabSz="914400" rtl="0" eaLnBrk="1" fontAlgn="b" latinLnBrk="0" hangingPunct="1"/>
                      <a:endParaRPr lang="en-NL" sz="20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4079680"/>
                  </a:ext>
                </a:extLst>
              </a:tr>
              <a:tr h="440428">
                <a:tc>
                  <a:txBody>
                    <a:bodyPr/>
                    <a:lstStyle/>
                    <a:p>
                      <a:pPr algn="ctr"/>
                      <a:r>
                        <a:rPr lang="en-US" sz="2000" dirty="0"/>
                        <a:t>3</a:t>
                      </a:r>
                    </a:p>
                  </a:txBody>
                  <a:tcPr/>
                </a:tc>
                <a:tc>
                  <a:txBody>
                    <a:bodyPr/>
                    <a:lstStyle/>
                    <a:p>
                      <a:pPr algn="ctr"/>
                      <a:r>
                        <a:rPr lang="en-US" sz="2000" dirty="0"/>
                        <a:t>100</a:t>
                      </a:r>
                    </a:p>
                  </a:txBody>
                  <a:tcPr/>
                </a:tc>
                <a:tc>
                  <a:txBody>
                    <a:bodyPr/>
                    <a:lstStyle/>
                    <a:p>
                      <a:pPr marL="0" algn="ctr" defTabSz="914400" rtl="0" eaLnBrk="1" fontAlgn="b" latinLnBrk="0" hangingPunct="1"/>
                      <a:endParaRPr lang="en-NL" sz="20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22780954"/>
                  </a:ext>
                </a:extLst>
              </a:tr>
              <a:tr h="440428">
                <a:tc>
                  <a:txBody>
                    <a:bodyPr/>
                    <a:lstStyle/>
                    <a:p>
                      <a:pPr algn="ctr"/>
                      <a:r>
                        <a:rPr lang="en-US" sz="2000" dirty="0"/>
                        <a:t>4</a:t>
                      </a:r>
                    </a:p>
                  </a:txBody>
                  <a:tcPr/>
                </a:tc>
                <a:tc>
                  <a:txBody>
                    <a:bodyPr/>
                    <a:lstStyle/>
                    <a:p>
                      <a:pPr algn="ctr"/>
                      <a:r>
                        <a:rPr lang="en-US" sz="2000" dirty="0"/>
                        <a:t>77</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102</a:t>
                      </a:r>
                    </a:p>
                  </a:txBody>
                  <a:tcPr marL="9525" marR="9525" marT="9525" marB="0" anchor="b"/>
                </a:tc>
                <a:extLst>
                  <a:ext uri="{0D108BD9-81ED-4DB2-BD59-A6C34878D82A}">
                    <a16:rowId xmlns:a16="http://schemas.microsoft.com/office/drawing/2014/main" val="3992653053"/>
                  </a:ext>
                </a:extLst>
              </a:tr>
              <a:tr h="440428">
                <a:tc>
                  <a:txBody>
                    <a:bodyPr/>
                    <a:lstStyle/>
                    <a:p>
                      <a:pPr algn="ctr"/>
                      <a:r>
                        <a:rPr lang="en-US" sz="2000" dirty="0"/>
                        <a:t>5</a:t>
                      </a:r>
                    </a:p>
                  </a:txBody>
                  <a:tcPr/>
                </a:tc>
                <a:tc>
                  <a:txBody>
                    <a:bodyPr/>
                    <a:lstStyle/>
                    <a:p>
                      <a:pPr algn="ctr"/>
                      <a:r>
                        <a:rPr lang="en-US" sz="2000" dirty="0"/>
                        <a:t>115</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87</a:t>
                      </a:r>
                    </a:p>
                  </a:txBody>
                  <a:tcPr marL="9525" marR="9525" marT="9525" marB="0" anchor="b"/>
                </a:tc>
                <a:extLst>
                  <a:ext uri="{0D108BD9-81ED-4DB2-BD59-A6C34878D82A}">
                    <a16:rowId xmlns:a16="http://schemas.microsoft.com/office/drawing/2014/main" val="550763541"/>
                  </a:ext>
                </a:extLst>
              </a:tr>
              <a:tr h="440428">
                <a:tc>
                  <a:txBody>
                    <a:bodyPr/>
                    <a:lstStyle/>
                    <a:p>
                      <a:pPr algn="ctr"/>
                      <a:r>
                        <a:rPr lang="en-US" sz="2000" dirty="0"/>
                        <a:t>6</a:t>
                      </a:r>
                    </a:p>
                  </a:txBody>
                  <a:tcPr/>
                </a:tc>
                <a:tc>
                  <a:txBody>
                    <a:bodyPr/>
                    <a:lstStyle/>
                    <a:p>
                      <a:pPr algn="ctr"/>
                      <a:r>
                        <a:rPr lang="en-US" sz="2000" dirty="0"/>
                        <a:t>58</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101</a:t>
                      </a:r>
                    </a:p>
                  </a:txBody>
                  <a:tcPr marL="9525" marR="9525" marT="9525" marB="0" anchor="b"/>
                </a:tc>
                <a:extLst>
                  <a:ext uri="{0D108BD9-81ED-4DB2-BD59-A6C34878D82A}">
                    <a16:rowId xmlns:a16="http://schemas.microsoft.com/office/drawing/2014/main" val="4228619177"/>
                  </a:ext>
                </a:extLst>
              </a:tr>
              <a:tr h="440428">
                <a:tc>
                  <a:txBody>
                    <a:bodyPr/>
                    <a:lstStyle/>
                    <a:p>
                      <a:pPr algn="ctr"/>
                      <a:r>
                        <a:rPr lang="en-US" sz="2000" dirty="0"/>
                        <a:t>7</a:t>
                      </a:r>
                    </a:p>
                  </a:txBody>
                  <a:tcPr/>
                </a:tc>
                <a:tc>
                  <a:txBody>
                    <a:bodyPr/>
                    <a:lstStyle/>
                    <a:p>
                      <a:pPr algn="ctr"/>
                      <a:r>
                        <a:rPr lang="en-US" sz="2000" dirty="0"/>
                        <a:t>75</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79</a:t>
                      </a:r>
                    </a:p>
                  </a:txBody>
                  <a:tcPr marL="9525" marR="9525" marT="9525" marB="0" anchor="b"/>
                </a:tc>
                <a:extLst>
                  <a:ext uri="{0D108BD9-81ED-4DB2-BD59-A6C34878D82A}">
                    <a16:rowId xmlns:a16="http://schemas.microsoft.com/office/drawing/2014/main" val="4170487017"/>
                  </a:ext>
                </a:extLst>
              </a:tr>
              <a:tr h="440428">
                <a:tc>
                  <a:txBody>
                    <a:bodyPr/>
                    <a:lstStyle/>
                    <a:p>
                      <a:pPr algn="ctr"/>
                      <a:r>
                        <a:rPr lang="en-US" sz="2000" dirty="0"/>
                        <a:t>8</a:t>
                      </a:r>
                    </a:p>
                  </a:txBody>
                  <a:tcPr/>
                </a:tc>
                <a:tc>
                  <a:txBody>
                    <a:bodyPr/>
                    <a:lstStyle/>
                    <a:p>
                      <a:pPr algn="ctr"/>
                      <a:r>
                        <a:rPr lang="en-US" sz="2000" dirty="0"/>
                        <a:t>128</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78</a:t>
                      </a:r>
                    </a:p>
                  </a:txBody>
                  <a:tcPr marL="9525" marR="9525" marT="9525" marB="0" anchor="b"/>
                </a:tc>
                <a:extLst>
                  <a:ext uri="{0D108BD9-81ED-4DB2-BD59-A6C34878D82A}">
                    <a16:rowId xmlns:a16="http://schemas.microsoft.com/office/drawing/2014/main" val="549461603"/>
                  </a:ext>
                </a:extLst>
              </a:tr>
              <a:tr h="440428">
                <a:tc>
                  <a:txBody>
                    <a:bodyPr/>
                    <a:lstStyle/>
                    <a:p>
                      <a:pPr algn="ctr"/>
                      <a:r>
                        <a:rPr lang="en-US" sz="2000" dirty="0"/>
                        <a:t>9</a:t>
                      </a:r>
                    </a:p>
                  </a:txBody>
                  <a:tcPr/>
                </a:tc>
                <a:tc>
                  <a:txBody>
                    <a:bodyPr/>
                    <a:lstStyle/>
                    <a:p>
                      <a:pPr algn="ctr"/>
                      <a:r>
                        <a:rPr lang="en-US" sz="2000" dirty="0"/>
                        <a:t>111</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98</a:t>
                      </a:r>
                    </a:p>
                  </a:txBody>
                  <a:tcPr marL="9525" marR="9525" marT="9525" marB="0" anchor="b"/>
                </a:tc>
                <a:extLst>
                  <a:ext uri="{0D108BD9-81ED-4DB2-BD59-A6C34878D82A}">
                    <a16:rowId xmlns:a16="http://schemas.microsoft.com/office/drawing/2014/main" val="1675822261"/>
                  </a:ext>
                </a:extLst>
              </a:tr>
              <a:tr h="440428">
                <a:tc>
                  <a:txBody>
                    <a:bodyPr/>
                    <a:lstStyle/>
                    <a:p>
                      <a:pPr algn="ctr"/>
                      <a:r>
                        <a:rPr lang="en-US" sz="2000" dirty="0"/>
                        <a:t>10</a:t>
                      </a:r>
                    </a:p>
                  </a:txBody>
                  <a:tcPr/>
                </a:tc>
                <a:tc>
                  <a:txBody>
                    <a:bodyPr/>
                    <a:lstStyle/>
                    <a:p>
                      <a:pPr algn="ctr"/>
                      <a:r>
                        <a:rPr lang="en-US" sz="2000" dirty="0"/>
                        <a:t>88</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109</a:t>
                      </a:r>
                    </a:p>
                  </a:txBody>
                  <a:tcPr marL="9525" marR="9525" marT="9525" marB="0" anchor="b"/>
                </a:tc>
                <a:extLst>
                  <a:ext uri="{0D108BD9-81ED-4DB2-BD59-A6C34878D82A}">
                    <a16:rowId xmlns:a16="http://schemas.microsoft.com/office/drawing/2014/main" val="3381910438"/>
                  </a:ext>
                </a:extLst>
              </a:tr>
              <a:tr h="440428">
                <a:tc>
                  <a:txBody>
                    <a:bodyPr/>
                    <a:lstStyle/>
                    <a:p>
                      <a:pPr algn="ctr"/>
                      <a:r>
                        <a:rPr lang="en-US" sz="2000" dirty="0">
                          <a:solidFill>
                            <a:srgbClr val="00B050"/>
                          </a:solidFill>
                        </a:rPr>
                        <a:t>11</a:t>
                      </a:r>
                    </a:p>
                  </a:txBody>
                  <a:tcPr/>
                </a:tc>
                <a:tc>
                  <a:txBody>
                    <a:bodyPr/>
                    <a:lstStyle/>
                    <a:p>
                      <a:pPr algn="ctr"/>
                      <a:endParaRPr lang="en-US" sz="2000" dirty="0">
                        <a:solidFill>
                          <a:srgbClr val="00B050"/>
                        </a:solidFill>
                      </a:endParaRPr>
                    </a:p>
                  </a:txBody>
                  <a:tcPr/>
                </a:tc>
                <a:tc>
                  <a:txBody>
                    <a:bodyPr/>
                    <a:lstStyle/>
                    <a:p>
                      <a:pPr algn="ctr"/>
                      <a:r>
                        <a:rPr lang="en-US" sz="2000" dirty="0">
                          <a:solidFill>
                            <a:srgbClr val="00B050"/>
                          </a:solidFill>
                        </a:rPr>
                        <a:t>103</a:t>
                      </a:r>
                    </a:p>
                  </a:txBody>
                  <a:tcPr/>
                </a:tc>
                <a:extLst>
                  <a:ext uri="{0D108BD9-81ED-4DB2-BD59-A6C34878D82A}">
                    <a16:rowId xmlns:a16="http://schemas.microsoft.com/office/drawing/2014/main" val="3580419074"/>
                  </a:ext>
                </a:extLst>
              </a:tr>
            </a:tbl>
          </a:graphicData>
        </a:graphic>
      </p:graphicFrame>
      <p:sp>
        <p:nvSpPr>
          <p:cNvPr id="5" name="Slide Number Placeholder 4">
            <a:extLst>
              <a:ext uri="{FF2B5EF4-FFF2-40B4-BE49-F238E27FC236}">
                <a16:creationId xmlns:a16="http://schemas.microsoft.com/office/drawing/2014/main" id="{62E8500B-701B-2EA7-8B32-7582670A4C3B}"/>
              </a:ext>
            </a:extLst>
          </p:cNvPr>
          <p:cNvSpPr>
            <a:spLocks noGrp="1"/>
          </p:cNvSpPr>
          <p:nvPr>
            <p:ph type="sldNum" sz="quarter" idx="12"/>
          </p:nvPr>
        </p:nvSpPr>
        <p:spPr/>
        <p:txBody>
          <a:bodyPr/>
          <a:lstStyle/>
          <a:p>
            <a:fld id="{F8D8F54C-053C-4394-9990-70DE256B1A6D}" type="slidenum">
              <a:rPr lang="nl-NL" smtClean="0"/>
              <a:t>64</a:t>
            </a:fld>
            <a:endParaRPr lang="nl-NL"/>
          </a:p>
        </p:txBody>
      </p:sp>
    </p:spTree>
    <p:extLst>
      <p:ext uri="{BB962C8B-B14F-4D97-AF65-F5344CB8AC3E}">
        <p14:creationId xmlns:p14="http://schemas.microsoft.com/office/powerpoint/2010/main" val="24987673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199" y="365125"/>
            <a:ext cx="11151031"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Exponential Smoothing</a:t>
            </a:r>
            <a:br>
              <a:rPr lang="en-AU" altLang="en-US" sz="3200" dirty="0"/>
            </a:b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202769" y="1251284"/>
                <a:ext cx="5257800" cy="4948280"/>
              </a:xfrm>
            </p:spPr>
            <p:txBody>
              <a:bodyPr>
                <a:normAutofit/>
              </a:bodyPr>
              <a:lstStyle/>
              <a:p>
                <a:pPr>
                  <a:lnSpc>
                    <a:spcPct val="120000"/>
                  </a:lnSpc>
                </a:pPr>
                <a:r>
                  <a:rPr lang="en-AU" altLang="en-US" dirty="0"/>
                  <a:t>Next period’s forecast = weighted average of the previous reading and the history</a:t>
                </a:r>
                <a:endParaRPr lang="en-US" altLang="en-US" b="0" i="1" dirty="0">
                  <a:latin typeface="Cambria Math" panose="02040503050406030204" pitchFamily="18" charset="0"/>
                </a:endParaRP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n-US" altLang="en-US" b="0" i="1" smtClean="0">
                              <a:latin typeface="Cambria Math" panose="02040503050406030204" pitchFamily="18" charset="0"/>
                            </a:rPr>
                          </m:ctrlPr>
                        </m:sSubPr>
                        <m:e>
                          <m:acc>
                            <m:accPr>
                              <m:chr m:val="̂"/>
                              <m:ctrlPr>
                                <a:rPr lang="en-US" altLang="en-US" b="0" i="1" smtClean="0">
                                  <a:latin typeface="Cambria Math" panose="02040503050406030204" pitchFamily="18" charset="0"/>
                                </a:rPr>
                              </m:ctrlPr>
                            </m:accPr>
                            <m:e>
                              <m:r>
                                <a:rPr lang="en-US" altLang="en-US" i="1">
                                  <a:latin typeface="Cambria Math" panose="02040503050406030204" pitchFamily="18" charset="0"/>
                                </a:rPr>
                                <m:t>𝑦</m:t>
                              </m:r>
                            </m:e>
                          </m:acc>
                        </m:e>
                        <m:sub>
                          <m:r>
                            <a:rPr lang="en-US" altLang="en-US" b="0" i="1" smtClean="0">
                              <a:latin typeface="Cambria Math" panose="02040503050406030204" pitchFamily="18" charset="0"/>
                            </a:rPr>
                            <m:t>𝑡</m:t>
                          </m:r>
                          <m:r>
                            <a:rPr lang="en-US" altLang="en-US" b="0" i="1" smtClean="0">
                              <a:latin typeface="Cambria Math" panose="02040503050406030204" pitchFamily="18" charset="0"/>
                            </a:rPr>
                            <m:t>+1</m:t>
                          </m:r>
                        </m:sub>
                      </m:sSub>
                      <m:r>
                        <a:rPr lang="en-US" altLang="en-US" b="0" i="1" smtClean="0">
                          <a:latin typeface="Cambria Math" panose="02040503050406030204" pitchFamily="18" charset="0"/>
                        </a:rPr>
                        <m:t>=</m:t>
                      </m:r>
                      <m:sSub>
                        <m:sSubPr>
                          <m:ctrlPr>
                            <a:rPr lang="en-US" altLang="en-US" i="1">
                              <a:latin typeface="Cambria Math" panose="02040503050406030204" pitchFamily="18" charset="0"/>
                            </a:rPr>
                          </m:ctrlPr>
                        </m:sSubPr>
                        <m:e>
                          <m:r>
                            <a:rPr lang="en-US" altLang="en-US" b="0" i="1" smtClean="0">
                              <a:latin typeface="Cambria Math" panose="02040503050406030204" pitchFamily="18" charset="0"/>
                            </a:rPr>
                            <m:t>𝛼</m:t>
                          </m:r>
                          <m:r>
                            <a:rPr lang="en-US" altLang="en-US" b="0" i="1" smtClean="0">
                              <a:latin typeface="Cambria Math" panose="02040503050406030204" pitchFamily="18" charset="0"/>
                            </a:rPr>
                            <m:t> </m:t>
                          </m:r>
                          <m:r>
                            <a:rPr lang="en-US" altLang="en-US" i="1">
                              <a:latin typeface="Cambria Math" panose="02040503050406030204" pitchFamily="18" charset="0"/>
                            </a:rPr>
                            <m:t>𝑦</m:t>
                          </m:r>
                        </m:e>
                        <m:sub>
                          <m:r>
                            <a:rPr lang="en-US" altLang="en-US" i="1">
                              <a:latin typeface="Cambria Math" panose="02040503050406030204" pitchFamily="18" charset="0"/>
                            </a:rPr>
                            <m:t>𝑡</m:t>
                          </m:r>
                        </m:sub>
                      </m:sSub>
                      <m:r>
                        <a:rPr lang="en-US" altLang="en-US" i="1">
                          <a:latin typeface="Cambria Math" panose="02040503050406030204" pitchFamily="18" charset="0"/>
                        </a:rPr>
                        <m:t>+</m:t>
                      </m:r>
                      <m:r>
                        <a:rPr lang="en-US" altLang="en-US" b="0" i="1" smtClean="0">
                          <a:latin typeface="Cambria Math" panose="02040503050406030204" pitchFamily="18" charset="0"/>
                        </a:rPr>
                        <m:t>(1−</m:t>
                      </m:r>
                      <m:r>
                        <a:rPr lang="en-US" altLang="en-US" b="0" i="1" smtClean="0">
                          <a:latin typeface="Cambria Math" panose="02040503050406030204" pitchFamily="18" charset="0"/>
                        </a:rPr>
                        <m:t>𝛼</m:t>
                      </m:r>
                      <m:r>
                        <a:rPr lang="en-US" altLang="en-US" b="0" i="1" smtClean="0">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b="0" i="1" smtClean="0">
                                  <a:latin typeface="Cambria Math" panose="02040503050406030204" pitchFamily="18" charset="0"/>
                                </a:rPr>
                              </m:ctrlPr>
                            </m:accPr>
                            <m:e>
                              <m:r>
                                <a:rPr lang="en-US" altLang="en-US" b="0" i="1" smtClean="0">
                                  <a:latin typeface="Cambria Math" panose="02040503050406030204" pitchFamily="18" charset="0"/>
                                </a:rPr>
                                <m:t>𝑦</m:t>
                              </m:r>
                            </m:e>
                          </m:acc>
                        </m:e>
                        <m:sub>
                          <m:r>
                            <a:rPr lang="en-US" altLang="en-US" i="1">
                              <a:latin typeface="Cambria Math" panose="02040503050406030204" pitchFamily="18" charset="0"/>
                            </a:rPr>
                            <m:t>𝑡</m:t>
                          </m:r>
                        </m:sub>
                      </m:sSub>
                    </m:oMath>
                  </m:oMathPara>
                </a14:m>
                <a:endParaRPr lang="en-AU" altLang="en-US" dirty="0"/>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n-US" altLang="en-US" i="1">
                              <a:latin typeface="Cambria Math" panose="02040503050406030204" pitchFamily="18" charset="0"/>
                            </a:rPr>
                          </m:ctrlPr>
                        </m:sSubPr>
                        <m:e>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𝑦</m:t>
                              </m:r>
                            </m:e>
                          </m:acc>
                        </m:e>
                        <m:sub>
                          <m:r>
                            <a:rPr lang="en-US" altLang="en-US" b="0" i="1" smtClean="0">
                              <a:latin typeface="Cambria Math" panose="02040503050406030204" pitchFamily="18" charset="0"/>
                            </a:rPr>
                            <m:t>3</m:t>
                          </m:r>
                        </m:sub>
                      </m:sSub>
                      <m:r>
                        <a:rPr lang="en-US" altLang="en-US" i="1">
                          <a:latin typeface="Cambria Math" panose="02040503050406030204" pitchFamily="18" charset="0"/>
                        </a:rPr>
                        <m:t>=</m:t>
                      </m:r>
                      <m:r>
                        <a:rPr lang="en-US" altLang="en-US" i="1" smtClean="0">
                          <a:latin typeface="Cambria Math" panose="02040503050406030204" pitchFamily="18" charset="0"/>
                        </a:rPr>
                        <m:t>0</m:t>
                      </m:r>
                      <m:r>
                        <a:rPr lang="en-US" altLang="en-US" b="0" i="1" smtClean="0">
                          <a:latin typeface="Cambria Math" panose="02040503050406030204" pitchFamily="18" charset="0"/>
                        </a:rPr>
                        <m:t>.2∗91</m:t>
                      </m:r>
                      <m:r>
                        <a:rPr lang="en-US" altLang="en-US" i="1">
                          <a:latin typeface="Cambria Math" panose="02040503050406030204" pitchFamily="18" charset="0"/>
                        </a:rPr>
                        <m:t>+</m:t>
                      </m:r>
                      <m:r>
                        <a:rPr lang="en-US" altLang="en-US" b="0" i="1" smtClean="0">
                          <a:latin typeface="Cambria Math" panose="02040503050406030204" pitchFamily="18" charset="0"/>
                        </a:rPr>
                        <m:t>0.8∗122=116</m:t>
                      </m:r>
                    </m:oMath>
                  </m:oMathPara>
                </a14:m>
                <a:endParaRPr lang="en-AU" altLang="en-US" dirty="0"/>
              </a:p>
              <a:p>
                <a:pPr>
                  <a:lnSpc>
                    <a:spcPct val="120000"/>
                  </a:lnSpc>
                </a:pPr>
                <a:r>
                  <a:rPr lang="en-AU" altLang="en-US" dirty="0"/>
                  <a:t>A smaller </a:t>
                </a:r>
                <a14:m>
                  <m:oMath xmlns:m="http://schemas.openxmlformats.org/officeDocument/2006/math">
                    <m:r>
                      <a:rPr lang="en-US" altLang="en-US" b="0" i="1" smtClean="0">
                        <a:latin typeface="Cambria Math" panose="02040503050406030204" pitchFamily="18" charset="0"/>
                      </a:rPr>
                      <m:t>𝛼</m:t>
                    </m:r>
                  </m:oMath>
                </a14:m>
                <a:r>
                  <a:rPr lang="en-AU" altLang="en-US" dirty="0"/>
                  <a:t> makes the forecast more </a:t>
                </a:r>
                <a:r>
                  <a:rPr lang="en-AU" altLang="en-US" b="1" dirty="0">
                    <a:solidFill>
                      <a:srgbClr val="C00000"/>
                    </a:solidFill>
                  </a:rPr>
                  <a:t>stable</a:t>
                </a:r>
              </a:p>
              <a:p>
                <a:pPr>
                  <a:lnSpc>
                    <a:spcPct val="120000"/>
                  </a:lnSpc>
                </a:pPr>
                <a:r>
                  <a:rPr lang="en-AU" altLang="en-US" dirty="0"/>
                  <a:t>A larger </a:t>
                </a:r>
                <a14:m>
                  <m:oMath xmlns:m="http://schemas.openxmlformats.org/officeDocument/2006/math">
                    <m:r>
                      <a:rPr lang="en-US" altLang="en-US" b="0" i="1" smtClean="0">
                        <a:latin typeface="Cambria Math" panose="02040503050406030204" pitchFamily="18" charset="0"/>
                      </a:rPr>
                      <m:t>𝛼</m:t>
                    </m:r>
                  </m:oMath>
                </a14:m>
                <a:r>
                  <a:rPr lang="en-AU" altLang="en-US" dirty="0"/>
                  <a:t> makes the forecast more </a:t>
                </a:r>
                <a:r>
                  <a:rPr lang="en-AU" altLang="en-US" b="1" dirty="0">
                    <a:solidFill>
                      <a:srgbClr val="C00000"/>
                    </a:solidFill>
                  </a:rPr>
                  <a:t>responsive</a:t>
                </a:r>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202769" y="1251284"/>
                <a:ext cx="5257800" cy="4948280"/>
              </a:xfrm>
              <a:blipFill>
                <a:blip r:embed="rId2"/>
                <a:stretch>
                  <a:fillRect l="-1923" t="-256" r="-3365" b="-28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3338AB65-3538-8041-8BB9-792AB8998988}"/>
                  </a:ext>
                </a:extLst>
              </p:cNvPr>
              <p:cNvGraphicFramePr>
                <a:graphicFrameLocks noGrp="1"/>
              </p:cNvGraphicFramePr>
              <p:nvPr>
                <p:extLst>
                  <p:ext uri="{D42A27DB-BD31-4B8C-83A1-F6EECF244321}">
                    <p14:modId xmlns:p14="http://schemas.microsoft.com/office/powerpoint/2010/main" val="3519922424"/>
                  </p:ext>
                </p:extLst>
              </p:nvPr>
            </p:nvGraphicFramePr>
            <p:xfrm>
              <a:off x="5460569" y="808204"/>
              <a:ext cx="6528661" cy="5850548"/>
            </p:xfrm>
            <a:graphic>
              <a:graphicData uri="http://schemas.openxmlformats.org/drawingml/2006/table">
                <a:tbl>
                  <a:tblPr firstRow="1" bandRow="1">
                    <a:tableStyleId>{793D81CF-94F2-401A-BA57-92F5A7B2D0C5}</a:tableStyleId>
                  </a:tblPr>
                  <a:tblGrid>
                    <a:gridCol w="1040472">
                      <a:extLst>
                        <a:ext uri="{9D8B030D-6E8A-4147-A177-3AD203B41FA5}">
                          <a16:colId xmlns:a16="http://schemas.microsoft.com/office/drawing/2014/main" val="1587537030"/>
                        </a:ext>
                      </a:extLst>
                    </a:gridCol>
                    <a:gridCol w="1029036">
                      <a:extLst>
                        <a:ext uri="{9D8B030D-6E8A-4147-A177-3AD203B41FA5}">
                          <a16:colId xmlns:a16="http://schemas.microsoft.com/office/drawing/2014/main" val="1462394367"/>
                        </a:ext>
                      </a:extLst>
                    </a:gridCol>
                    <a:gridCol w="2212427">
                      <a:extLst>
                        <a:ext uri="{9D8B030D-6E8A-4147-A177-3AD203B41FA5}">
                          <a16:colId xmlns:a16="http://schemas.microsoft.com/office/drawing/2014/main" val="3258343430"/>
                        </a:ext>
                      </a:extLst>
                    </a:gridCol>
                    <a:gridCol w="2246726">
                      <a:extLst>
                        <a:ext uri="{9D8B030D-6E8A-4147-A177-3AD203B41FA5}">
                          <a16:colId xmlns:a16="http://schemas.microsoft.com/office/drawing/2014/main" val="3084021690"/>
                        </a:ext>
                      </a:extLst>
                    </a:gridCol>
                  </a:tblGrid>
                  <a:tr h="792770">
                    <a:tc>
                      <a:txBody>
                        <a:bodyPr/>
                        <a:lstStyle/>
                        <a:p>
                          <a:pPr algn="ctr"/>
                          <a:r>
                            <a:rPr lang="en-US" sz="2000" dirty="0"/>
                            <a:t>Period</a:t>
                          </a:r>
                        </a:p>
                      </a:txBody>
                      <a:tcPr/>
                    </a:tc>
                    <a:tc>
                      <a:txBody>
                        <a:bodyPr/>
                        <a:lstStyle/>
                        <a:p>
                          <a:pPr algn="ctr"/>
                          <a:r>
                            <a:rPr lang="en-US" sz="2000" dirty="0"/>
                            <a:t>Orders</a:t>
                          </a:r>
                        </a:p>
                      </a:txBody>
                      <a:tcPr/>
                    </a:tc>
                    <a:tc>
                      <a:txBody>
                        <a:bodyPr/>
                        <a:lstStyle/>
                        <a:p>
                          <a:pPr algn="ctr"/>
                          <a:r>
                            <a:rPr lang="en-US" altLang="nl-NL" sz="2000" b="1" dirty="0">
                              <a:latin typeface="Times New Roman" panose="02020603050405020304" pitchFamily="18" charset="0"/>
                              <a:cs typeface="Times New Roman" panose="02020603050405020304" pitchFamily="18" charset="0"/>
                            </a:rPr>
                            <a:t>Exponential Smoothing(</a:t>
                          </a:r>
                          <a14:m>
                            <m:oMath xmlns:m="http://schemas.openxmlformats.org/officeDocument/2006/math">
                              <m:r>
                                <a:rPr lang="en-US" altLang="nl-NL" sz="2000" b="1" i="1" smtClean="0">
                                  <a:latin typeface="Cambria Math" panose="02040503050406030204" pitchFamily="18" charset="0"/>
                                  <a:cs typeface="Times New Roman" panose="02020603050405020304" pitchFamily="18" charset="0"/>
                                </a:rPr>
                                <m:t>𝜶</m:t>
                              </m:r>
                              <m:r>
                                <a:rPr lang="en-US" altLang="nl-NL" sz="2000" b="1" i="1" smtClean="0">
                                  <a:latin typeface="Cambria Math" panose="02040503050406030204" pitchFamily="18" charset="0"/>
                                  <a:cs typeface="Times New Roman" panose="02020603050405020304" pitchFamily="18" charset="0"/>
                                </a:rPr>
                                <m:t>=</m:t>
                              </m:r>
                              <m:r>
                                <a:rPr lang="en-US" altLang="nl-NL" sz="2000" b="1" i="1" smtClean="0">
                                  <a:latin typeface="Cambria Math" panose="02040503050406030204" pitchFamily="18" charset="0"/>
                                  <a:cs typeface="Times New Roman" panose="02020603050405020304" pitchFamily="18" charset="0"/>
                                </a:rPr>
                                <m:t>𝟎</m:t>
                              </m:r>
                              <m:r>
                                <a:rPr lang="en-US" altLang="nl-NL" sz="2000" b="1" i="1" smtClean="0">
                                  <a:latin typeface="Cambria Math" panose="02040503050406030204" pitchFamily="18" charset="0"/>
                                  <a:cs typeface="Times New Roman" panose="02020603050405020304" pitchFamily="18" charset="0"/>
                                </a:rPr>
                                <m:t>.</m:t>
                              </m:r>
                              <m:r>
                                <a:rPr lang="en-US" altLang="nl-NL" sz="2000" b="1" i="1" smtClean="0">
                                  <a:latin typeface="Cambria Math" panose="02040503050406030204" pitchFamily="18" charset="0"/>
                                  <a:cs typeface="Times New Roman" panose="02020603050405020304" pitchFamily="18" charset="0"/>
                                </a:rPr>
                                <m:t>𝟐</m:t>
                              </m:r>
                            </m:oMath>
                          </a14:m>
                          <a:r>
                            <a:rPr lang="en-US" altLang="nl-NL" sz="2000" b="1" dirty="0">
                              <a:latin typeface="Times New Roman" panose="02020603050405020304" pitchFamily="18" charset="0"/>
                              <a:cs typeface="Times New Roman" panose="02020603050405020304" pitchFamily="18" charset="0"/>
                            </a:rPr>
                            <a:t>)</a:t>
                          </a:r>
                          <a:endParaRPr 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nl-NL" sz="2000" b="1" dirty="0">
                              <a:latin typeface="Times New Roman" panose="02020603050405020304" pitchFamily="18" charset="0"/>
                              <a:cs typeface="Times New Roman" panose="02020603050405020304" pitchFamily="18" charset="0"/>
                            </a:rPr>
                            <a:t>Exponential Smoothing(</a:t>
                          </a:r>
                          <a14:m>
                            <m:oMath xmlns:m="http://schemas.openxmlformats.org/officeDocument/2006/math">
                              <m:r>
                                <a:rPr lang="en-US" altLang="nl-NL" sz="2000" b="1" i="1" smtClean="0">
                                  <a:latin typeface="Cambria Math" panose="02040503050406030204" pitchFamily="18" charset="0"/>
                                  <a:cs typeface="Times New Roman" panose="02020603050405020304" pitchFamily="18" charset="0"/>
                                </a:rPr>
                                <m:t>𝜶</m:t>
                              </m:r>
                              <m:r>
                                <a:rPr lang="en-US" altLang="nl-NL" sz="2000" b="1" i="1" smtClean="0">
                                  <a:latin typeface="Cambria Math" panose="02040503050406030204" pitchFamily="18" charset="0"/>
                                  <a:cs typeface="Times New Roman" panose="02020603050405020304" pitchFamily="18" charset="0"/>
                                </a:rPr>
                                <m:t>=</m:t>
                              </m:r>
                              <m:r>
                                <a:rPr lang="en-US" altLang="nl-NL" sz="2000" b="1" i="1" smtClean="0">
                                  <a:latin typeface="Cambria Math" panose="02040503050406030204" pitchFamily="18" charset="0"/>
                                  <a:cs typeface="Times New Roman" panose="02020603050405020304" pitchFamily="18" charset="0"/>
                                </a:rPr>
                                <m:t>𝟎</m:t>
                              </m:r>
                              <m:r>
                                <a:rPr lang="en-US" altLang="nl-NL" sz="2000" b="1" i="1" smtClean="0">
                                  <a:latin typeface="Cambria Math" panose="02040503050406030204" pitchFamily="18" charset="0"/>
                                  <a:cs typeface="Times New Roman" panose="02020603050405020304" pitchFamily="18" charset="0"/>
                                </a:rPr>
                                <m:t>.</m:t>
                              </m:r>
                              <m:r>
                                <a:rPr lang="en-US" altLang="nl-NL" sz="2000" b="1" i="1" smtClean="0">
                                  <a:latin typeface="Cambria Math" panose="02040503050406030204" pitchFamily="18" charset="0"/>
                                  <a:cs typeface="Times New Roman" panose="02020603050405020304" pitchFamily="18" charset="0"/>
                                </a:rPr>
                                <m:t>𝟓</m:t>
                              </m:r>
                            </m:oMath>
                          </a14:m>
                          <a:r>
                            <a:rPr lang="en-US" altLang="nl-NL" sz="2000" b="1" dirty="0">
                              <a:latin typeface="Times New Roman" panose="02020603050405020304" pitchFamily="18" charset="0"/>
                              <a:cs typeface="Times New Roman" panose="02020603050405020304" pitchFamily="18" charset="0"/>
                            </a:rPr>
                            <a:t>)</a:t>
                          </a:r>
                          <a:endParaRPr lang="en-US" sz="2000" dirty="0"/>
                        </a:p>
                      </a:txBody>
                      <a:tcPr/>
                    </a:tc>
                    <a:extLst>
                      <a:ext uri="{0D108BD9-81ED-4DB2-BD59-A6C34878D82A}">
                        <a16:rowId xmlns:a16="http://schemas.microsoft.com/office/drawing/2014/main" val="934362906"/>
                      </a:ext>
                    </a:extLst>
                  </a:tr>
                  <a:tr h="440428">
                    <a:tc>
                      <a:txBody>
                        <a:bodyPr/>
                        <a:lstStyle/>
                        <a:p>
                          <a:pPr algn="ctr"/>
                          <a:r>
                            <a:rPr lang="en-US" sz="2000" dirty="0"/>
                            <a:t>1</a:t>
                          </a:r>
                        </a:p>
                      </a:txBody>
                      <a:tcPr/>
                    </a:tc>
                    <a:tc>
                      <a:txBody>
                        <a:bodyPr/>
                        <a:lstStyle/>
                        <a:p>
                          <a:pPr algn="ctr"/>
                          <a:r>
                            <a:rPr lang="en-US" sz="2000" dirty="0"/>
                            <a:t>122</a:t>
                          </a:r>
                        </a:p>
                      </a:txBody>
                      <a:tcPr/>
                    </a:tc>
                    <a:tc>
                      <a:txBody>
                        <a:bodyPr/>
                        <a:lstStyle/>
                        <a:p>
                          <a:pPr algn="ctr"/>
                          <a:endParaRPr lang="en-US" sz="2000" dirty="0"/>
                        </a:p>
                      </a:txBody>
                      <a:tcPr/>
                    </a:tc>
                    <a:tc>
                      <a:txBody>
                        <a:bodyPr/>
                        <a:lstStyle/>
                        <a:p>
                          <a:pPr algn="ctr"/>
                          <a:endParaRPr lang="en-US" sz="2000" dirty="0"/>
                        </a:p>
                      </a:txBody>
                      <a:tcPr/>
                    </a:tc>
                    <a:extLst>
                      <a:ext uri="{0D108BD9-81ED-4DB2-BD59-A6C34878D82A}">
                        <a16:rowId xmlns:a16="http://schemas.microsoft.com/office/drawing/2014/main" val="3825270358"/>
                      </a:ext>
                    </a:extLst>
                  </a:tr>
                  <a:tr h="440428">
                    <a:tc>
                      <a:txBody>
                        <a:bodyPr/>
                        <a:lstStyle/>
                        <a:p>
                          <a:pPr algn="ctr"/>
                          <a:r>
                            <a:rPr lang="en-US" sz="2000" dirty="0"/>
                            <a:t>2</a:t>
                          </a:r>
                        </a:p>
                      </a:txBody>
                      <a:tcPr/>
                    </a:tc>
                    <a:tc>
                      <a:txBody>
                        <a:bodyPr/>
                        <a:lstStyle/>
                        <a:p>
                          <a:pPr algn="ctr"/>
                          <a:r>
                            <a:rPr lang="en-US" sz="2000" dirty="0"/>
                            <a:t>91</a:t>
                          </a:r>
                        </a:p>
                      </a:txBody>
                      <a:tcPr/>
                    </a:tc>
                    <a:tc>
                      <a:txBody>
                        <a:bodyPr/>
                        <a:lstStyle/>
                        <a:p>
                          <a:pPr marL="0" algn="ctr" defTabSz="914400" rtl="0" eaLnBrk="1" fontAlgn="b" latinLnBrk="0" hangingPunct="1"/>
                          <a:endParaRPr lang="en-NL" sz="2000" kern="1200" dirty="0">
                            <a:solidFill>
                              <a:schemeClr val="dk1"/>
                            </a:solidFill>
                            <a:latin typeface="+mn-lt"/>
                            <a:ea typeface="+mn-ea"/>
                            <a:cs typeface="+mn-cs"/>
                          </a:endParaRPr>
                        </a:p>
                      </a:txBody>
                      <a:tcPr marL="9525" marR="9525" marT="9525" marB="0" anchor="b"/>
                    </a:tc>
                    <a:tc>
                      <a:txBody>
                        <a:bodyPr/>
                        <a:lstStyle/>
                        <a:p>
                          <a:pPr marL="0" algn="ctr" defTabSz="914400" rtl="0" eaLnBrk="1" fontAlgn="b" latinLnBrk="0" hangingPunct="1"/>
                          <a:endParaRPr lang="en-NL" sz="20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4079680"/>
                      </a:ext>
                    </a:extLst>
                  </a:tr>
                  <a:tr h="440428">
                    <a:tc>
                      <a:txBody>
                        <a:bodyPr/>
                        <a:lstStyle/>
                        <a:p>
                          <a:pPr algn="ctr"/>
                          <a:r>
                            <a:rPr lang="en-US" sz="2000" dirty="0"/>
                            <a:t>3</a:t>
                          </a:r>
                        </a:p>
                      </a:txBody>
                      <a:tcPr/>
                    </a:tc>
                    <a:tc>
                      <a:txBody>
                        <a:bodyPr/>
                        <a:lstStyle/>
                        <a:p>
                          <a:pPr algn="ctr"/>
                          <a:r>
                            <a:rPr lang="en-US" sz="2000" dirty="0"/>
                            <a:t>100</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116</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107</a:t>
                          </a:r>
                        </a:p>
                      </a:txBody>
                      <a:tcPr marL="9525" marR="9525" marT="9525" marB="0" anchor="b"/>
                    </a:tc>
                    <a:extLst>
                      <a:ext uri="{0D108BD9-81ED-4DB2-BD59-A6C34878D82A}">
                        <a16:rowId xmlns:a16="http://schemas.microsoft.com/office/drawing/2014/main" val="322780954"/>
                      </a:ext>
                    </a:extLst>
                  </a:tr>
                  <a:tr h="440428">
                    <a:tc>
                      <a:txBody>
                        <a:bodyPr/>
                        <a:lstStyle/>
                        <a:p>
                          <a:pPr algn="ctr"/>
                          <a:r>
                            <a:rPr lang="en-US" sz="2000" dirty="0"/>
                            <a:t>4</a:t>
                          </a:r>
                        </a:p>
                      </a:txBody>
                      <a:tcPr/>
                    </a:tc>
                    <a:tc>
                      <a:txBody>
                        <a:bodyPr/>
                        <a:lstStyle/>
                        <a:p>
                          <a:pPr algn="ctr"/>
                          <a:r>
                            <a:rPr lang="en-US" sz="2000" dirty="0"/>
                            <a:t>77</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113</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104</a:t>
                          </a:r>
                        </a:p>
                      </a:txBody>
                      <a:tcPr marL="9525" marR="9525" marT="9525" marB="0" anchor="b"/>
                    </a:tc>
                    <a:extLst>
                      <a:ext uri="{0D108BD9-81ED-4DB2-BD59-A6C34878D82A}">
                        <a16:rowId xmlns:a16="http://schemas.microsoft.com/office/drawing/2014/main" val="3992653053"/>
                      </a:ext>
                    </a:extLst>
                  </a:tr>
                  <a:tr h="440428">
                    <a:tc>
                      <a:txBody>
                        <a:bodyPr/>
                        <a:lstStyle/>
                        <a:p>
                          <a:pPr algn="ctr"/>
                          <a:r>
                            <a:rPr lang="en-US" sz="2000" dirty="0"/>
                            <a:t>5</a:t>
                          </a:r>
                        </a:p>
                      </a:txBody>
                      <a:tcPr/>
                    </a:tc>
                    <a:tc>
                      <a:txBody>
                        <a:bodyPr/>
                        <a:lstStyle/>
                        <a:p>
                          <a:pPr algn="ctr"/>
                          <a:r>
                            <a:rPr lang="en-US" sz="2000" dirty="0"/>
                            <a:t>115</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106</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91</a:t>
                          </a:r>
                        </a:p>
                      </a:txBody>
                      <a:tcPr marL="9525" marR="9525" marT="9525" marB="0" anchor="b"/>
                    </a:tc>
                    <a:extLst>
                      <a:ext uri="{0D108BD9-81ED-4DB2-BD59-A6C34878D82A}">
                        <a16:rowId xmlns:a16="http://schemas.microsoft.com/office/drawing/2014/main" val="550763541"/>
                      </a:ext>
                    </a:extLst>
                  </a:tr>
                  <a:tr h="440428">
                    <a:tc>
                      <a:txBody>
                        <a:bodyPr/>
                        <a:lstStyle/>
                        <a:p>
                          <a:pPr algn="ctr"/>
                          <a:r>
                            <a:rPr lang="en-US" sz="2000" dirty="0"/>
                            <a:t>6</a:t>
                          </a:r>
                        </a:p>
                      </a:txBody>
                      <a:tcPr/>
                    </a:tc>
                    <a:tc>
                      <a:txBody>
                        <a:bodyPr/>
                        <a:lstStyle/>
                        <a:p>
                          <a:pPr algn="ctr"/>
                          <a:r>
                            <a:rPr lang="en-US" sz="2000" dirty="0"/>
                            <a:t>58</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108</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103</a:t>
                          </a:r>
                        </a:p>
                      </a:txBody>
                      <a:tcPr marL="9525" marR="9525" marT="9525" marB="0" anchor="b"/>
                    </a:tc>
                    <a:extLst>
                      <a:ext uri="{0D108BD9-81ED-4DB2-BD59-A6C34878D82A}">
                        <a16:rowId xmlns:a16="http://schemas.microsoft.com/office/drawing/2014/main" val="4228619177"/>
                      </a:ext>
                    </a:extLst>
                  </a:tr>
                  <a:tr h="440428">
                    <a:tc>
                      <a:txBody>
                        <a:bodyPr/>
                        <a:lstStyle/>
                        <a:p>
                          <a:pPr algn="ctr"/>
                          <a:r>
                            <a:rPr lang="en-US" sz="2000" dirty="0"/>
                            <a:t>7</a:t>
                          </a:r>
                        </a:p>
                      </a:txBody>
                      <a:tcPr/>
                    </a:tc>
                    <a:tc>
                      <a:txBody>
                        <a:bodyPr/>
                        <a:lstStyle/>
                        <a:p>
                          <a:pPr algn="ctr"/>
                          <a:r>
                            <a:rPr lang="en-US" sz="2000" dirty="0"/>
                            <a:t>75</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98</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81</a:t>
                          </a:r>
                        </a:p>
                      </a:txBody>
                      <a:tcPr marL="9525" marR="9525" marT="9525" marB="0" anchor="b"/>
                    </a:tc>
                    <a:extLst>
                      <a:ext uri="{0D108BD9-81ED-4DB2-BD59-A6C34878D82A}">
                        <a16:rowId xmlns:a16="http://schemas.microsoft.com/office/drawing/2014/main" val="4170487017"/>
                      </a:ext>
                    </a:extLst>
                  </a:tr>
                  <a:tr h="440428">
                    <a:tc>
                      <a:txBody>
                        <a:bodyPr/>
                        <a:lstStyle/>
                        <a:p>
                          <a:pPr algn="ctr"/>
                          <a:r>
                            <a:rPr lang="en-US" sz="2000" dirty="0"/>
                            <a:t>8</a:t>
                          </a:r>
                        </a:p>
                      </a:txBody>
                      <a:tcPr/>
                    </a:tc>
                    <a:tc>
                      <a:txBody>
                        <a:bodyPr/>
                        <a:lstStyle/>
                        <a:p>
                          <a:pPr algn="ctr"/>
                          <a:r>
                            <a:rPr lang="en-US" sz="2000" dirty="0"/>
                            <a:t>128</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93</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78</a:t>
                          </a:r>
                        </a:p>
                      </a:txBody>
                      <a:tcPr marL="9525" marR="9525" marT="9525" marB="0" anchor="b"/>
                    </a:tc>
                    <a:extLst>
                      <a:ext uri="{0D108BD9-81ED-4DB2-BD59-A6C34878D82A}">
                        <a16:rowId xmlns:a16="http://schemas.microsoft.com/office/drawing/2014/main" val="549461603"/>
                      </a:ext>
                    </a:extLst>
                  </a:tr>
                  <a:tr h="440428">
                    <a:tc>
                      <a:txBody>
                        <a:bodyPr/>
                        <a:lstStyle/>
                        <a:p>
                          <a:pPr algn="ctr"/>
                          <a:r>
                            <a:rPr lang="en-US" sz="2000" dirty="0"/>
                            <a:t>9</a:t>
                          </a:r>
                        </a:p>
                      </a:txBody>
                      <a:tcPr/>
                    </a:tc>
                    <a:tc>
                      <a:txBody>
                        <a:bodyPr/>
                        <a:lstStyle/>
                        <a:p>
                          <a:pPr algn="ctr"/>
                          <a:r>
                            <a:rPr lang="en-US" sz="2000" dirty="0"/>
                            <a:t>111</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100</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103</a:t>
                          </a:r>
                        </a:p>
                      </a:txBody>
                      <a:tcPr marL="9525" marR="9525" marT="9525" marB="0" anchor="b"/>
                    </a:tc>
                    <a:extLst>
                      <a:ext uri="{0D108BD9-81ED-4DB2-BD59-A6C34878D82A}">
                        <a16:rowId xmlns:a16="http://schemas.microsoft.com/office/drawing/2014/main" val="1675822261"/>
                      </a:ext>
                    </a:extLst>
                  </a:tr>
                  <a:tr h="440428">
                    <a:tc>
                      <a:txBody>
                        <a:bodyPr/>
                        <a:lstStyle/>
                        <a:p>
                          <a:pPr algn="ctr"/>
                          <a:r>
                            <a:rPr lang="en-US" sz="2000" dirty="0"/>
                            <a:t>10</a:t>
                          </a:r>
                        </a:p>
                      </a:txBody>
                      <a:tcPr/>
                    </a:tc>
                    <a:tc>
                      <a:txBody>
                        <a:bodyPr/>
                        <a:lstStyle/>
                        <a:p>
                          <a:pPr algn="ctr"/>
                          <a:r>
                            <a:rPr lang="en-US" sz="2000" dirty="0"/>
                            <a:t>88</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102</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107</a:t>
                          </a:r>
                        </a:p>
                      </a:txBody>
                      <a:tcPr marL="9525" marR="9525" marT="9525" marB="0" anchor="b"/>
                    </a:tc>
                    <a:extLst>
                      <a:ext uri="{0D108BD9-81ED-4DB2-BD59-A6C34878D82A}">
                        <a16:rowId xmlns:a16="http://schemas.microsoft.com/office/drawing/2014/main" val="3381910438"/>
                      </a:ext>
                    </a:extLst>
                  </a:tr>
                  <a:tr h="440428">
                    <a:tc>
                      <a:txBody>
                        <a:bodyPr/>
                        <a:lstStyle/>
                        <a:p>
                          <a:pPr algn="ctr"/>
                          <a:r>
                            <a:rPr lang="en-US" sz="2000" dirty="0">
                              <a:solidFill>
                                <a:srgbClr val="00B050"/>
                              </a:solidFill>
                            </a:rPr>
                            <a:t>11</a:t>
                          </a:r>
                        </a:p>
                      </a:txBody>
                      <a:tcPr/>
                    </a:tc>
                    <a:tc>
                      <a:txBody>
                        <a:bodyPr/>
                        <a:lstStyle/>
                        <a:p>
                          <a:pPr algn="ctr"/>
                          <a:endParaRPr lang="en-US" sz="2000" dirty="0">
                            <a:solidFill>
                              <a:srgbClr val="00B050"/>
                            </a:solidFill>
                          </a:endParaRPr>
                        </a:p>
                      </a:txBody>
                      <a:tcPr/>
                    </a:tc>
                    <a:tc>
                      <a:txBody>
                        <a:bodyPr/>
                        <a:lstStyle/>
                        <a:p>
                          <a:pPr algn="ctr"/>
                          <a:r>
                            <a:rPr lang="en-US" sz="2000" dirty="0">
                              <a:solidFill>
                                <a:srgbClr val="00B050"/>
                              </a:solidFill>
                            </a:rPr>
                            <a:t>99</a:t>
                          </a:r>
                        </a:p>
                      </a:txBody>
                      <a:tcPr/>
                    </a:tc>
                    <a:tc>
                      <a:txBody>
                        <a:bodyPr/>
                        <a:lstStyle/>
                        <a:p>
                          <a:pPr algn="ctr"/>
                          <a:r>
                            <a:rPr lang="en-US" sz="2000" dirty="0">
                              <a:solidFill>
                                <a:srgbClr val="00B050"/>
                              </a:solidFill>
                            </a:rPr>
                            <a:t>98</a:t>
                          </a:r>
                        </a:p>
                      </a:txBody>
                      <a:tcPr/>
                    </a:tc>
                    <a:extLst>
                      <a:ext uri="{0D108BD9-81ED-4DB2-BD59-A6C34878D82A}">
                        <a16:rowId xmlns:a16="http://schemas.microsoft.com/office/drawing/2014/main" val="3580419074"/>
                      </a:ext>
                    </a:extLst>
                  </a:tr>
                </a:tbl>
              </a:graphicData>
            </a:graphic>
          </p:graphicFrame>
        </mc:Choice>
        <mc:Fallback xmlns="">
          <p:graphicFrame>
            <p:nvGraphicFramePr>
              <p:cNvPr id="4" name="Table 4">
                <a:extLst>
                  <a:ext uri="{FF2B5EF4-FFF2-40B4-BE49-F238E27FC236}">
                    <a16:creationId xmlns:a16="http://schemas.microsoft.com/office/drawing/2014/main" id="{3338AB65-3538-8041-8BB9-792AB8998988}"/>
                  </a:ext>
                </a:extLst>
              </p:cNvPr>
              <p:cNvGraphicFramePr>
                <a:graphicFrameLocks noGrp="1"/>
              </p:cNvGraphicFramePr>
              <p:nvPr>
                <p:extLst>
                  <p:ext uri="{D42A27DB-BD31-4B8C-83A1-F6EECF244321}">
                    <p14:modId xmlns:p14="http://schemas.microsoft.com/office/powerpoint/2010/main" val="3519922424"/>
                  </p:ext>
                </p:extLst>
              </p:nvPr>
            </p:nvGraphicFramePr>
            <p:xfrm>
              <a:off x="5460569" y="808204"/>
              <a:ext cx="6528661" cy="5850548"/>
            </p:xfrm>
            <a:graphic>
              <a:graphicData uri="http://schemas.openxmlformats.org/drawingml/2006/table">
                <a:tbl>
                  <a:tblPr firstRow="1" bandRow="1">
                    <a:tableStyleId>{793D81CF-94F2-401A-BA57-92F5A7B2D0C5}</a:tableStyleId>
                  </a:tblPr>
                  <a:tblGrid>
                    <a:gridCol w="1040472">
                      <a:extLst>
                        <a:ext uri="{9D8B030D-6E8A-4147-A177-3AD203B41FA5}">
                          <a16:colId xmlns:a16="http://schemas.microsoft.com/office/drawing/2014/main" val="1587537030"/>
                        </a:ext>
                      </a:extLst>
                    </a:gridCol>
                    <a:gridCol w="1029036">
                      <a:extLst>
                        <a:ext uri="{9D8B030D-6E8A-4147-A177-3AD203B41FA5}">
                          <a16:colId xmlns:a16="http://schemas.microsoft.com/office/drawing/2014/main" val="1462394367"/>
                        </a:ext>
                      </a:extLst>
                    </a:gridCol>
                    <a:gridCol w="2212427">
                      <a:extLst>
                        <a:ext uri="{9D8B030D-6E8A-4147-A177-3AD203B41FA5}">
                          <a16:colId xmlns:a16="http://schemas.microsoft.com/office/drawing/2014/main" val="3258343430"/>
                        </a:ext>
                      </a:extLst>
                    </a:gridCol>
                    <a:gridCol w="2246726">
                      <a:extLst>
                        <a:ext uri="{9D8B030D-6E8A-4147-A177-3AD203B41FA5}">
                          <a16:colId xmlns:a16="http://schemas.microsoft.com/office/drawing/2014/main" val="3084021690"/>
                        </a:ext>
                      </a:extLst>
                    </a:gridCol>
                  </a:tblGrid>
                  <a:tr h="1005840">
                    <a:tc>
                      <a:txBody>
                        <a:bodyPr/>
                        <a:lstStyle/>
                        <a:p>
                          <a:pPr algn="ctr"/>
                          <a:r>
                            <a:rPr lang="en-US" sz="2000" dirty="0"/>
                            <a:t>Period</a:t>
                          </a:r>
                        </a:p>
                      </a:txBody>
                      <a:tcPr/>
                    </a:tc>
                    <a:tc>
                      <a:txBody>
                        <a:bodyPr/>
                        <a:lstStyle/>
                        <a:p>
                          <a:pPr algn="ctr"/>
                          <a:r>
                            <a:rPr lang="en-US" sz="2000" dirty="0"/>
                            <a:t>Orders</a:t>
                          </a:r>
                        </a:p>
                      </a:txBody>
                      <a:tcPr/>
                    </a:tc>
                    <a:tc>
                      <a:txBody>
                        <a:bodyPr/>
                        <a:lstStyle/>
                        <a:p>
                          <a:endParaRPr lang="en-NL"/>
                        </a:p>
                      </a:txBody>
                      <a:tcPr>
                        <a:blipFill>
                          <a:blip r:embed="rId3"/>
                          <a:stretch>
                            <a:fillRect l="-94253" t="-3797" r="-102874" b="-491139"/>
                          </a:stretch>
                        </a:blipFill>
                      </a:tcPr>
                    </a:tc>
                    <a:tc>
                      <a:txBody>
                        <a:bodyPr/>
                        <a:lstStyle/>
                        <a:p>
                          <a:endParaRPr lang="en-NL"/>
                        </a:p>
                      </a:txBody>
                      <a:tcPr>
                        <a:blipFill>
                          <a:blip r:embed="rId3"/>
                          <a:stretch>
                            <a:fillRect l="-189888" t="-3797" r="-562" b="-491139"/>
                          </a:stretch>
                        </a:blipFill>
                      </a:tcPr>
                    </a:tc>
                    <a:extLst>
                      <a:ext uri="{0D108BD9-81ED-4DB2-BD59-A6C34878D82A}">
                        <a16:rowId xmlns:a16="http://schemas.microsoft.com/office/drawing/2014/main" val="934362906"/>
                      </a:ext>
                    </a:extLst>
                  </a:tr>
                  <a:tr h="440428">
                    <a:tc>
                      <a:txBody>
                        <a:bodyPr/>
                        <a:lstStyle/>
                        <a:p>
                          <a:pPr algn="ctr"/>
                          <a:r>
                            <a:rPr lang="en-US" sz="2000" dirty="0"/>
                            <a:t>1</a:t>
                          </a:r>
                        </a:p>
                      </a:txBody>
                      <a:tcPr/>
                    </a:tc>
                    <a:tc>
                      <a:txBody>
                        <a:bodyPr/>
                        <a:lstStyle/>
                        <a:p>
                          <a:pPr algn="ctr"/>
                          <a:r>
                            <a:rPr lang="en-US" sz="2000" dirty="0"/>
                            <a:t>122</a:t>
                          </a:r>
                        </a:p>
                      </a:txBody>
                      <a:tcPr/>
                    </a:tc>
                    <a:tc>
                      <a:txBody>
                        <a:bodyPr/>
                        <a:lstStyle/>
                        <a:p>
                          <a:pPr algn="ctr"/>
                          <a:endParaRPr lang="en-US" sz="2000" dirty="0"/>
                        </a:p>
                      </a:txBody>
                      <a:tcPr/>
                    </a:tc>
                    <a:tc>
                      <a:txBody>
                        <a:bodyPr/>
                        <a:lstStyle/>
                        <a:p>
                          <a:pPr algn="ctr"/>
                          <a:endParaRPr lang="en-US" sz="2000" dirty="0"/>
                        </a:p>
                      </a:txBody>
                      <a:tcPr/>
                    </a:tc>
                    <a:extLst>
                      <a:ext uri="{0D108BD9-81ED-4DB2-BD59-A6C34878D82A}">
                        <a16:rowId xmlns:a16="http://schemas.microsoft.com/office/drawing/2014/main" val="3825270358"/>
                      </a:ext>
                    </a:extLst>
                  </a:tr>
                  <a:tr h="440428">
                    <a:tc>
                      <a:txBody>
                        <a:bodyPr/>
                        <a:lstStyle/>
                        <a:p>
                          <a:pPr algn="ctr"/>
                          <a:r>
                            <a:rPr lang="en-US" sz="2000" dirty="0"/>
                            <a:t>2</a:t>
                          </a:r>
                        </a:p>
                      </a:txBody>
                      <a:tcPr/>
                    </a:tc>
                    <a:tc>
                      <a:txBody>
                        <a:bodyPr/>
                        <a:lstStyle/>
                        <a:p>
                          <a:pPr algn="ctr"/>
                          <a:r>
                            <a:rPr lang="en-US" sz="2000" dirty="0"/>
                            <a:t>91</a:t>
                          </a:r>
                        </a:p>
                      </a:txBody>
                      <a:tcPr/>
                    </a:tc>
                    <a:tc>
                      <a:txBody>
                        <a:bodyPr/>
                        <a:lstStyle/>
                        <a:p>
                          <a:pPr marL="0" algn="ctr" defTabSz="914400" rtl="0" eaLnBrk="1" fontAlgn="b" latinLnBrk="0" hangingPunct="1"/>
                          <a:endParaRPr lang="en-NL" sz="2000" kern="1200" dirty="0">
                            <a:solidFill>
                              <a:schemeClr val="dk1"/>
                            </a:solidFill>
                            <a:latin typeface="+mn-lt"/>
                            <a:ea typeface="+mn-ea"/>
                            <a:cs typeface="+mn-cs"/>
                          </a:endParaRPr>
                        </a:p>
                      </a:txBody>
                      <a:tcPr marL="9525" marR="9525" marT="9525" marB="0" anchor="b"/>
                    </a:tc>
                    <a:tc>
                      <a:txBody>
                        <a:bodyPr/>
                        <a:lstStyle/>
                        <a:p>
                          <a:pPr marL="0" algn="ctr" defTabSz="914400" rtl="0" eaLnBrk="1" fontAlgn="b" latinLnBrk="0" hangingPunct="1"/>
                          <a:endParaRPr lang="en-NL" sz="20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4079680"/>
                      </a:ext>
                    </a:extLst>
                  </a:tr>
                  <a:tr h="440428">
                    <a:tc>
                      <a:txBody>
                        <a:bodyPr/>
                        <a:lstStyle/>
                        <a:p>
                          <a:pPr algn="ctr"/>
                          <a:r>
                            <a:rPr lang="en-US" sz="2000" dirty="0"/>
                            <a:t>3</a:t>
                          </a:r>
                        </a:p>
                      </a:txBody>
                      <a:tcPr/>
                    </a:tc>
                    <a:tc>
                      <a:txBody>
                        <a:bodyPr/>
                        <a:lstStyle/>
                        <a:p>
                          <a:pPr algn="ctr"/>
                          <a:r>
                            <a:rPr lang="en-US" sz="2000" dirty="0"/>
                            <a:t>100</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116</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107</a:t>
                          </a:r>
                        </a:p>
                      </a:txBody>
                      <a:tcPr marL="9525" marR="9525" marT="9525" marB="0" anchor="b"/>
                    </a:tc>
                    <a:extLst>
                      <a:ext uri="{0D108BD9-81ED-4DB2-BD59-A6C34878D82A}">
                        <a16:rowId xmlns:a16="http://schemas.microsoft.com/office/drawing/2014/main" val="322780954"/>
                      </a:ext>
                    </a:extLst>
                  </a:tr>
                  <a:tr h="440428">
                    <a:tc>
                      <a:txBody>
                        <a:bodyPr/>
                        <a:lstStyle/>
                        <a:p>
                          <a:pPr algn="ctr"/>
                          <a:r>
                            <a:rPr lang="en-US" sz="2000" dirty="0"/>
                            <a:t>4</a:t>
                          </a:r>
                        </a:p>
                      </a:txBody>
                      <a:tcPr/>
                    </a:tc>
                    <a:tc>
                      <a:txBody>
                        <a:bodyPr/>
                        <a:lstStyle/>
                        <a:p>
                          <a:pPr algn="ctr"/>
                          <a:r>
                            <a:rPr lang="en-US" sz="2000" dirty="0"/>
                            <a:t>77</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113</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104</a:t>
                          </a:r>
                        </a:p>
                      </a:txBody>
                      <a:tcPr marL="9525" marR="9525" marT="9525" marB="0" anchor="b"/>
                    </a:tc>
                    <a:extLst>
                      <a:ext uri="{0D108BD9-81ED-4DB2-BD59-A6C34878D82A}">
                        <a16:rowId xmlns:a16="http://schemas.microsoft.com/office/drawing/2014/main" val="3992653053"/>
                      </a:ext>
                    </a:extLst>
                  </a:tr>
                  <a:tr h="440428">
                    <a:tc>
                      <a:txBody>
                        <a:bodyPr/>
                        <a:lstStyle/>
                        <a:p>
                          <a:pPr algn="ctr"/>
                          <a:r>
                            <a:rPr lang="en-US" sz="2000" dirty="0"/>
                            <a:t>5</a:t>
                          </a:r>
                        </a:p>
                      </a:txBody>
                      <a:tcPr/>
                    </a:tc>
                    <a:tc>
                      <a:txBody>
                        <a:bodyPr/>
                        <a:lstStyle/>
                        <a:p>
                          <a:pPr algn="ctr"/>
                          <a:r>
                            <a:rPr lang="en-US" sz="2000" dirty="0"/>
                            <a:t>115</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106</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91</a:t>
                          </a:r>
                        </a:p>
                      </a:txBody>
                      <a:tcPr marL="9525" marR="9525" marT="9525" marB="0" anchor="b"/>
                    </a:tc>
                    <a:extLst>
                      <a:ext uri="{0D108BD9-81ED-4DB2-BD59-A6C34878D82A}">
                        <a16:rowId xmlns:a16="http://schemas.microsoft.com/office/drawing/2014/main" val="550763541"/>
                      </a:ext>
                    </a:extLst>
                  </a:tr>
                  <a:tr h="440428">
                    <a:tc>
                      <a:txBody>
                        <a:bodyPr/>
                        <a:lstStyle/>
                        <a:p>
                          <a:pPr algn="ctr"/>
                          <a:r>
                            <a:rPr lang="en-US" sz="2000" dirty="0"/>
                            <a:t>6</a:t>
                          </a:r>
                        </a:p>
                      </a:txBody>
                      <a:tcPr/>
                    </a:tc>
                    <a:tc>
                      <a:txBody>
                        <a:bodyPr/>
                        <a:lstStyle/>
                        <a:p>
                          <a:pPr algn="ctr"/>
                          <a:r>
                            <a:rPr lang="en-US" sz="2000" dirty="0"/>
                            <a:t>58</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108</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103</a:t>
                          </a:r>
                        </a:p>
                      </a:txBody>
                      <a:tcPr marL="9525" marR="9525" marT="9525" marB="0" anchor="b"/>
                    </a:tc>
                    <a:extLst>
                      <a:ext uri="{0D108BD9-81ED-4DB2-BD59-A6C34878D82A}">
                        <a16:rowId xmlns:a16="http://schemas.microsoft.com/office/drawing/2014/main" val="4228619177"/>
                      </a:ext>
                    </a:extLst>
                  </a:tr>
                  <a:tr h="440428">
                    <a:tc>
                      <a:txBody>
                        <a:bodyPr/>
                        <a:lstStyle/>
                        <a:p>
                          <a:pPr algn="ctr"/>
                          <a:r>
                            <a:rPr lang="en-US" sz="2000" dirty="0"/>
                            <a:t>7</a:t>
                          </a:r>
                        </a:p>
                      </a:txBody>
                      <a:tcPr/>
                    </a:tc>
                    <a:tc>
                      <a:txBody>
                        <a:bodyPr/>
                        <a:lstStyle/>
                        <a:p>
                          <a:pPr algn="ctr"/>
                          <a:r>
                            <a:rPr lang="en-US" sz="2000" dirty="0"/>
                            <a:t>75</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98</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81</a:t>
                          </a:r>
                        </a:p>
                      </a:txBody>
                      <a:tcPr marL="9525" marR="9525" marT="9525" marB="0" anchor="b"/>
                    </a:tc>
                    <a:extLst>
                      <a:ext uri="{0D108BD9-81ED-4DB2-BD59-A6C34878D82A}">
                        <a16:rowId xmlns:a16="http://schemas.microsoft.com/office/drawing/2014/main" val="4170487017"/>
                      </a:ext>
                    </a:extLst>
                  </a:tr>
                  <a:tr h="440428">
                    <a:tc>
                      <a:txBody>
                        <a:bodyPr/>
                        <a:lstStyle/>
                        <a:p>
                          <a:pPr algn="ctr"/>
                          <a:r>
                            <a:rPr lang="en-US" sz="2000" dirty="0"/>
                            <a:t>8</a:t>
                          </a:r>
                        </a:p>
                      </a:txBody>
                      <a:tcPr/>
                    </a:tc>
                    <a:tc>
                      <a:txBody>
                        <a:bodyPr/>
                        <a:lstStyle/>
                        <a:p>
                          <a:pPr algn="ctr"/>
                          <a:r>
                            <a:rPr lang="en-US" sz="2000" dirty="0"/>
                            <a:t>128</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93</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78</a:t>
                          </a:r>
                        </a:p>
                      </a:txBody>
                      <a:tcPr marL="9525" marR="9525" marT="9525" marB="0" anchor="b"/>
                    </a:tc>
                    <a:extLst>
                      <a:ext uri="{0D108BD9-81ED-4DB2-BD59-A6C34878D82A}">
                        <a16:rowId xmlns:a16="http://schemas.microsoft.com/office/drawing/2014/main" val="549461603"/>
                      </a:ext>
                    </a:extLst>
                  </a:tr>
                  <a:tr h="440428">
                    <a:tc>
                      <a:txBody>
                        <a:bodyPr/>
                        <a:lstStyle/>
                        <a:p>
                          <a:pPr algn="ctr"/>
                          <a:r>
                            <a:rPr lang="en-US" sz="2000" dirty="0"/>
                            <a:t>9</a:t>
                          </a:r>
                        </a:p>
                      </a:txBody>
                      <a:tcPr/>
                    </a:tc>
                    <a:tc>
                      <a:txBody>
                        <a:bodyPr/>
                        <a:lstStyle/>
                        <a:p>
                          <a:pPr algn="ctr"/>
                          <a:r>
                            <a:rPr lang="en-US" sz="2000" dirty="0"/>
                            <a:t>111</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100</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103</a:t>
                          </a:r>
                        </a:p>
                      </a:txBody>
                      <a:tcPr marL="9525" marR="9525" marT="9525" marB="0" anchor="b"/>
                    </a:tc>
                    <a:extLst>
                      <a:ext uri="{0D108BD9-81ED-4DB2-BD59-A6C34878D82A}">
                        <a16:rowId xmlns:a16="http://schemas.microsoft.com/office/drawing/2014/main" val="1675822261"/>
                      </a:ext>
                    </a:extLst>
                  </a:tr>
                  <a:tr h="440428">
                    <a:tc>
                      <a:txBody>
                        <a:bodyPr/>
                        <a:lstStyle/>
                        <a:p>
                          <a:pPr algn="ctr"/>
                          <a:r>
                            <a:rPr lang="en-US" sz="2000" dirty="0"/>
                            <a:t>10</a:t>
                          </a:r>
                        </a:p>
                      </a:txBody>
                      <a:tcPr/>
                    </a:tc>
                    <a:tc>
                      <a:txBody>
                        <a:bodyPr/>
                        <a:lstStyle/>
                        <a:p>
                          <a:pPr algn="ctr"/>
                          <a:r>
                            <a:rPr lang="en-US" sz="2000" dirty="0"/>
                            <a:t>88</a:t>
                          </a:r>
                        </a:p>
                      </a:txBody>
                      <a:tcPr/>
                    </a:tc>
                    <a:tc>
                      <a:txBody>
                        <a:bodyPr/>
                        <a:lstStyle/>
                        <a:p>
                          <a:pPr marL="0" algn="ctr" defTabSz="914400" rtl="0" eaLnBrk="1" fontAlgn="b" latinLnBrk="0" hangingPunct="1"/>
                          <a:r>
                            <a:rPr lang="en-NL" sz="2000" kern="1200" dirty="0">
                              <a:solidFill>
                                <a:schemeClr val="dk1"/>
                              </a:solidFill>
                              <a:latin typeface="+mn-lt"/>
                              <a:ea typeface="+mn-ea"/>
                              <a:cs typeface="+mn-cs"/>
                            </a:rPr>
                            <a:t>102</a:t>
                          </a:r>
                        </a:p>
                      </a:txBody>
                      <a:tcPr marL="9525" marR="9525" marT="9525" marB="0" anchor="b"/>
                    </a:tc>
                    <a:tc>
                      <a:txBody>
                        <a:bodyPr/>
                        <a:lstStyle/>
                        <a:p>
                          <a:pPr marL="0" algn="ctr" defTabSz="914400" rtl="0" eaLnBrk="1" fontAlgn="b" latinLnBrk="0" hangingPunct="1"/>
                          <a:r>
                            <a:rPr lang="en-NL" sz="2000" kern="1200" dirty="0">
                              <a:solidFill>
                                <a:schemeClr val="dk1"/>
                              </a:solidFill>
                              <a:latin typeface="+mn-lt"/>
                              <a:ea typeface="+mn-ea"/>
                              <a:cs typeface="+mn-cs"/>
                            </a:rPr>
                            <a:t>107</a:t>
                          </a:r>
                        </a:p>
                      </a:txBody>
                      <a:tcPr marL="9525" marR="9525" marT="9525" marB="0" anchor="b"/>
                    </a:tc>
                    <a:extLst>
                      <a:ext uri="{0D108BD9-81ED-4DB2-BD59-A6C34878D82A}">
                        <a16:rowId xmlns:a16="http://schemas.microsoft.com/office/drawing/2014/main" val="3381910438"/>
                      </a:ext>
                    </a:extLst>
                  </a:tr>
                  <a:tr h="440428">
                    <a:tc>
                      <a:txBody>
                        <a:bodyPr/>
                        <a:lstStyle/>
                        <a:p>
                          <a:pPr algn="ctr"/>
                          <a:r>
                            <a:rPr lang="en-US" sz="2000" dirty="0">
                              <a:solidFill>
                                <a:srgbClr val="00B050"/>
                              </a:solidFill>
                            </a:rPr>
                            <a:t>11</a:t>
                          </a:r>
                        </a:p>
                      </a:txBody>
                      <a:tcPr/>
                    </a:tc>
                    <a:tc>
                      <a:txBody>
                        <a:bodyPr/>
                        <a:lstStyle/>
                        <a:p>
                          <a:pPr algn="ctr"/>
                          <a:endParaRPr lang="en-US" sz="2000" dirty="0">
                            <a:solidFill>
                              <a:srgbClr val="00B050"/>
                            </a:solidFill>
                          </a:endParaRPr>
                        </a:p>
                      </a:txBody>
                      <a:tcPr/>
                    </a:tc>
                    <a:tc>
                      <a:txBody>
                        <a:bodyPr/>
                        <a:lstStyle/>
                        <a:p>
                          <a:pPr algn="ctr"/>
                          <a:r>
                            <a:rPr lang="en-US" sz="2000" dirty="0">
                              <a:solidFill>
                                <a:srgbClr val="00B050"/>
                              </a:solidFill>
                            </a:rPr>
                            <a:t>99</a:t>
                          </a:r>
                        </a:p>
                      </a:txBody>
                      <a:tcPr/>
                    </a:tc>
                    <a:tc>
                      <a:txBody>
                        <a:bodyPr/>
                        <a:lstStyle/>
                        <a:p>
                          <a:pPr algn="ctr"/>
                          <a:r>
                            <a:rPr lang="en-US" sz="2000" dirty="0">
                              <a:solidFill>
                                <a:srgbClr val="00B050"/>
                              </a:solidFill>
                            </a:rPr>
                            <a:t>98</a:t>
                          </a:r>
                        </a:p>
                      </a:txBody>
                      <a:tcPr/>
                    </a:tc>
                    <a:extLst>
                      <a:ext uri="{0D108BD9-81ED-4DB2-BD59-A6C34878D82A}">
                        <a16:rowId xmlns:a16="http://schemas.microsoft.com/office/drawing/2014/main" val="3580419074"/>
                      </a:ext>
                    </a:extLst>
                  </a:tr>
                </a:tbl>
              </a:graphicData>
            </a:graphic>
          </p:graphicFrame>
        </mc:Fallback>
      </mc:AlternateContent>
      <p:sp>
        <p:nvSpPr>
          <p:cNvPr id="5" name="Slide Number Placeholder 4">
            <a:extLst>
              <a:ext uri="{FF2B5EF4-FFF2-40B4-BE49-F238E27FC236}">
                <a16:creationId xmlns:a16="http://schemas.microsoft.com/office/drawing/2014/main" id="{34CDF55C-3796-32A7-2AB8-9600B6BF99FB}"/>
              </a:ext>
            </a:extLst>
          </p:cNvPr>
          <p:cNvSpPr>
            <a:spLocks noGrp="1"/>
          </p:cNvSpPr>
          <p:nvPr>
            <p:ph type="sldNum" sz="quarter" idx="12"/>
          </p:nvPr>
        </p:nvSpPr>
        <p:spPr/>
        <p:txBody>
          <a:bodyPr/>
          <a:lstStyle/>
          <a:p>
            <a:fld id="{F8D8F54C-053C-4394-9990-70DE256B1A6D}" type="slidenum">
              <a:rPr lang="nl-NL" smtClean="0"/>
              <a:t>65</a:t>
            </a:fld>
            <a:endParaRPr lang="nl-NL"/>
          </a:p>
        </p:txBody>
      </p:sp>
    </p:spTree>
    <p:extLst>
      <p:ext uri="{BB962C8B-B14F-4D97-AF65-F5344CB8AC3E}">
        <p14:creationId xmlns:p14="http://schemas.microsoft.com/office/powerpoint/2010/main" val="32437860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Forecast Accuracy</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577008"/>
                <a:ext cx="10515600" cy="4622555"/>
              </a:xfrm>
            </p:spPr>
            <p:txBody>
              <a:bodyPr>
                <a:normAutofit/>
              </a:bodyPr>
              <a:lstStyle/>
              <a:p>
                <a:pPr>
                  <a:lnSpc>
                    <a:spcPct val="100000"/>
                  </a:lnSpc>
                </a:pPr>
                <a:r>
                  <a:rPr lang="en-GB" altLang="en-NL" dirty="0"/>
                  <a:t>Tests of forecast accuracy are based on the difference between the forecast of the variables’ values at time </a:t>
                </a:r>
                <a:r>
                  <a:rPr lang="en-GB" altLang="en-NL" i="1" dirty="0"/>
                  <a:t>t</a:t>
                </a:r>
                <a:r>
                  <a:rPr lang="en-GB" altLang="en-NL" dirty="0"/>
                  <a:t> and the actual value at the same time point </a:t>
                </a:r>
                <a:r>
                  <a:rPr lang="en-GB" altLang="en-NL" i="1" dirty="0"/>
                  <a:t>t</a:t>
                </a:r>
                <a:r>
                  <a:rPr lang="en-GB" altLang="en-NL" dirty="0"/>
                  <a:t> </a:t>
                </a:r>
              </a:p>
              <a:p>
                <a:pPr>
                  <a:lnSpc>
                    <a:spcPct val="100000"/>
                  </a:lnSpc>
                </a:pPr>
                <a:endParaRPr lang="en-GB" altLang="en-NL" dirty="0"/>
              </a:p>
              <a:p>
                <a:pPr>
                  <a:lnSpc>
                    <a:spcPct val="100000"/>
                  </a:lnSpc>
                </a:pPr>
                <a:r>
                  <a:rPr lang="en-GB" altLang="en-NL" dirty="0"/>
                  <a:t>The closer the two to each other </a:t>
                </a:r>
                <a14:m>
                  <m:oMath xmlns:m="http://schemas.openxmlformats.org/officeDocument/2006/math">
                    <m:r>
                      <a:rPr lang="en-GB" altLang="en-NL" i="1" smtClean="0">
                        <a:latin typeface="Cambria Math" panose="02040503050406030204" pitchFamily="18" charset="0"/>
                        <a:ea typeface="Cambria Math" panose="02040503050406030204" pitchFamily="18" charset="0"/>
                      </a:rPr>
                      <m:t>⟹</m:t>
                    </m:r>
                  </m:oMath>
                </a14:m>
                <a:r>
                  <a:rPr lang="en-GB" altLang="en-NL" dirty="0"/>
                  <a:t>  the smaller the forecast error, i.e. better forecast</a:t>
                </a:r>
              </a:p>
              <a:p>
                <a:pPr>
                  <a:lnSpc>
                    <a:spcPct val="120000"/>
                  </a:lnSpc>
                </a:pPr>
                <a:endParaRPr lang="en-AU" altLang="en-US" dirty="0"/>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838200" y="1577008"/>
                <a:ext cx="10515600" cy="4622555"/>
              </a:xfrm>
              <a:blipFill>
                <a:blip r:embed="rId2"/>
                <a:stretch>
                  <a:fillRect l="-1086" t="-137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82E34D9-71B1-A0E2-C6A6-3366FBFD54B4}"/>
              </a:ext>
            </a:extLst>
          </p:cNvPr>
          <p:cNvSpPr>
            <a:spLocks noGrp="1"/>
          </p:cNvSpPr>
          <p:nvPr>
            <p:ph type="sldNum" sz="quarter" idx="12"/>
          </p:nvPr>
        </p:nvSpPr>
        <p:spPr/>
        <p:txBody>
          <a:bodyPr/>
          <a:lstStyle/>
          <a:p>
            <a:fld id="{F8D8F54C-053C-4394-9990-70DE256B1A6D}" type="slidenum">
              <a:rPr lang="nl-NL" smtClean="0"/>
              <a:t>66</a:t>
            </a:fld>
            <a:endParaRPr lang="nl-NL"/>
          </a:p>
        </p:txBody>
      </p:sp>
    </p:spTree>
    <p:extLst>
      <p:ext uri="{BB962C8B-B14F-4D97-AF65-F5344CB8AC3E}">
        <p14:creationId xmlns:p14="http://schemas.microsoft.com/office/powerpoint/2010/main" val="27469499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Forecast Accuracy – Mean Squared Error (MSE)</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5241591"/>
              </a:xfrm>
            </p:spPr>
            <p:txBody>
              <a:bodyPr>
                <a:normAutofit/>
              </a:bodyPr>
              <a:lstStyle/>
              <a:p>
                <a:pPr>
                  <a:lnSpc>
                    <a:spcPct val="120000"/>
                  </a:lnSpc>
                </a:pPr>
                <a:r>
                  <a:rPr lang="en-GB" altLang="en-NL" dirty="0"/>
                  <a:t>The MSE statistic is defined as:</a:t>
                </a:r>
              </a:p>
              <a:p>
                <a:pPr marL="0" indent="0">
                  <a:lnSpc>
                    <a:spcPct val="120000"/>
                  </a:lnSpc>
                  <a:buNone/>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rPr>
                        <m:t>𝑀𝑆𝐸</m:t>
                      </m:r>
                      <m:r>
                        <a:rPr lang="en-US" altLang="en-US" b="0" i="1" smtClean="0">
                          <a:latin typeface="Cambria Math" panose="02040503050406030204" pitchFamily="18" charset="0"/>
                        </a:rPr>
                        <m:t>= </m:t>
                      </m:r>
                      <m:f>
                        <m:fPr>
                          <m:ctrlPr>
                            <a:rPr lang="en-US" altLang="en-US" b="0" i="1" smtClean="0">
                              <a:latin typeface="Cambria Math" panose="02040503050406030204" pitchFamily="18" charset="0"/>
                            </a:rPr>
                          </m:ctrlPr>
                        </m:fPr>
                        <m:num>
                          <m:nary>
                            <m:naryPr>
                              <m:chr m:val="∑"/>
                              <m:ctrlPr>
                                <a:rPr lang="en-US" altLang="en-US" b="0" i="1" smtClean="0">
                                  <a:latin typeface="Cambria Math" panose="02040503050406030204" pitchFamily="18" charset="0"/>
                                </a:rPr>
                              </m:ctrlPr>
                            </m:naryPr>
                            <m:sub>
                              <m:r>
                                <m:rPr>
                                  <m:brk m:alnAt="23"/>
                                </m:rPr>
                                <a:rPr lang="en-US" altLang="en-US" b="0" i="1" smtClean="0">
                                  <a:latin typeface="Cambria Math" panose="02040503050406030204" pitchFamily="18" charset="0"/>
                                </a:rPr>
                                <m:t>𝑡</m:t>
                              </m:r>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m:rPr>
                                      <m:brk m:alnAt="23"/>
                                    </m:rPr>
                                    <a:rPr lang="en-US" altLang="en-US" b="0" i="1" smtClean="0">
                                      <a:latin typeface="Cambria Math" panose="02040503050406030204" pitchFamily="18" charset="0"/>
                                    </a:rPr>
                                    <m:t>𝑇</m:t>
                                  </m:r>
                                </m:e>
                                <m:sub>
                                  <m:r>
                                    <m:rPr>
                                      <m:brk m:alnAt="23"/>
                                    </m:rPr>
                                    <a:rPr lang="en-US" altLang="en-US" b="0" i="1" smtClean="0">
                                      <a:latin typeface="Cambria Math" panose="02040503050406030204" pitchFamily="18" charset="0"/>
                                    </a:rPr>
                                    <m:t>1</m:t>
                                  </m:r>
                                </m:sub>
                              </m:sSub>
                            </m:sub>
                            <m:sup>
                              <m:r>
                                <a:rPr lang="en-US" altLang="en-US" b="0" i="1" smtClean="0">
                                  <a:latin typeface="Cambria Math" panose="02040503050406030204" pitchFamily="18" charset="0"/>
                                </a:rPr>
                                <m:t>𝑇</m:t>
                              </m:r>
                            </m:sup>
                            <m:e>
                              <m:sSup>
                                <m:sSupPr>
                                  <m:ctrlPr>
                                    <a:rPr lang="en-US" altLang="en-US" b="0" i="1" smtClean="0">
                                      <a:latin typeface="Cambria Math" panose="02040503050406030204" pitchFamily="18" charset="0"/>
                                    </a:rPr>
                                  </m:ctrlPr>
                                </m:sSupPr>
                                <m:e>
                                  <m:d>
                                    <m:dPr>
                                      <m:ctrlPr>
                                        <a:rPr lang="en-US" altLang="en-US" b="0" i="1" smtClean="0">
                                          <a:latin typeface="Cambria Math" panose="02040503050406030204" pitchFamily="18" charset="0"/>
                                        </a:rPr>
                                      </m:ctrlPr>
                                    </m:dPr>
                                    <m:e>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𝑡</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acc>
                                            <m:accPr>
                                              <m:chr m:val="̂"/>
                                              <m:ctrlPr>
                                                <a:rPr lang="en-US" altLang="en-US" b="0" i="1" smtClean="0">
                                                  <a:latin typeface="Cambria Math" panose="02040503050406030204" pitchFamily="18" charset="0"/>
                                                </a:rPr>
                                              </m:ctrlPr>
                                            </m:accPr>
                                            <m:e>
                                              <m:r>
                                                <a:rPr lang="en-US" altLang="en-US" b="0" i="1" smtClean="0">
                                                  <a:latin typeface="Cambria Math" panose="02040503050406030204" pitchFamily="18" charset="0"/>
                                                </a:rPr>
                                                <m:t>𝑦</m:t>
                                              </m:r>
                                            </m:e>
                                          </m:acc>
                                        </m:e>
                                        <m:sub>
                                          <m:r>
                                            <a:rPr lang="en-US" altLang="en-US" b="0" i="1" smtClean="0">
                                              <a:latin typeface="Cambria Math" panose="02040503050406030204" pitchFamily="18" charset="0"/>
                                            </a:rPr>
                                            <m:t>𝑡</m:t>
                                          </m:r>
                                        </m:sub>
                                      </m:sSub>
                                    </m:e>
                                  </m:d>
                                </m:e>
                                <m:sup>
                                  <m:r>
                                    <a:rPr lang="en-US" altLang="en-US" b="0" i="1" smtClean="0">
                                      <a:latin typeface="Cambria Math" panose="02040503050406030204" pitchFamily="18" charset="0"/>
                                    </a:rPr>
                                    <m:t>2</m:t>
                                  </m:r>
                                </m:sup>
                              </m:sSup>
                            </m:e>
                          </m:nary>
                        </m:num>
                        <m:den>
                          <m:r>
                            <a:rPr lang="en-US" altLang="en-US" b="0" i="1" smtClean="0">
                              <a:latin typeface="Cambria Math" panose="02040503050406030204" pitchFamily="18" charset="0"/>
                            </a:rPr>
                            <m:t>𝑇</m:t>
                          </m:r>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𝑇</m:t>
                              </m:r>
                            </m:e>
                            <m:sub>
                              <m:r>
                                <a:rPr lang="en-US" altLang="en-US" b="0" i="1" smtClean="0">
                                  <a:latin typeface="Cambria Math" panose="02040503050406030204" pitchFamily="18" charset="0"/>
                                </a:rPr>
                                <m:t>1</m:t>
                              </m:r>
                            </m:sub>
                          </m:sSub>
                          <m:r>
                            <a:rPr lang="en-US" altLang="en-US" b="0" i="1" smtClean="0">
                              <a:latin typeface="Cambria Math" panose="02040503050406030204" pitchFamily="18" charset="0"/>
                            </a:rPr>
                            <m:t>+1</m:t>
                          </m:r>
                        </m:den>
                      </m:f>
                    </m:oMath>
                  </m:oMathPara>
                </a14:m>
                <a:endParaRPr lang="en-AU" altLang="en-US" dirty="0"/>
              </a:p>
              <a:p>
                <a:pPr>
                  <a:lnSpc>
                    <a:spcPct val="120000"/>
                  </a:lnSpc>
                </a:pPr>
                <a14:m>
                  <m:oMath xmlns:m="http://schemas.openxmlformats.org/officeDocument/2006/math">
                    <m:r>
                      <a:rPr lang="en-US" altLang="en-US" i="1">
                        <a:latin typeface="Cambria Math" panose="02040503050406030204" pitchFamily="18" charset="0"/>
                      </a:rPr>
                      <m:t>𝑇</m:t>
                    </m:r>
                  </m:oMath>
                </a14:m>
                <a:r>
                  <a:rPr lang="en-AU" altLang="en-US" dirty="0"/>
                  <a:t> is the total number of samples in the time series</a:t>
                </a:r>
              </a:p>
              <a:p>
                <a:pPr>
                  <a:lnSpc>
                    <a:spcPct val="120000"/>
                  </a:lnSpc>
                </a:pPr>
                <a14:m>
                  <m:oMath xmlns:m="http://schemas.openxmlformats.org/officeDocument/2006/math">
                    <m:sSub>
                      <m:sSubPr>
                        <m:ctrlPr>
                          <a:rPr lang="en-US" altLang="en-US" b="0" i="1" smtClean="0">
                            <a:latin typeface="Cambria Math" panose="02040503050406030204" pitchFamily="18" charset="0"/>
                          </a:rPr>
                        </m:ctrlPr>
                      </m:sSubPr>
                      <m:e>
                        <m:r>
                          <a:rPr lang="en-US" altLang="en-US" i="1">
                            <a:latin typeface="Cambria Math" panose="02040503050406030204" pitchFamily="18" charset="0"/>
                          </a:rPr>
                          <m:t>𝑇</m:t>
                        </m:r>
                      </m:e>
                      <m:sub>
                        <m:r>
                          <a:rPr lang="en-US" altLang="en-US" b="0" i="1" smtClean="0">
                            <a:latin typeface="Cambria Math" panose="02040503050406030204" pitchFamily="18" charset="0"/>
                          </a:rPr>
                          <m:t>1</m:t>
                        </m:r>
                      </m:sub>
                    </m:sSub>
                  </m:oMath>
                </a14:m>
                <a:r>
                  <a:rPr lang="en-AU" altLang="en-US" dirty="0"/>
                  <a:t> the index of the first value to be forecast</a:t>
                </a:r>
              </a:p>
              <a:p>
                <a:pPr>
                  <a:lnSpc>
                    <a:spcPct val="120000"/>
                  </a:lnSpc>
                </a:pPr>
                <a14:m>
                  <m:oMath xmlns:m="http://schemas.openxmlformats.org/officeDocument/2006/math">
                    <m:sSub>
                      <m:sSubPr>
                        <m:ctrlPr>
                          <a:rPr lang="en-US" altLang="en-US" i="1">
                            <a:latin typeface="Cambria Math" panose="02040503050406030204" pitchFamily="18" charset="0"/>
                          </a:rPr>
                        </m:ctrlPr>
                      </m:sSubPr>
                      <m:e>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𝑦</m:t>
                            </m:r>
                          </m:e>
                        </m:acc>
                      </m:e>
                      <m:sub>
                        <m:r>
                          <a:rPr lang="en-US" altLang="en-US" i="1">
                            <a:latin typeface="Cambria Math" panose="02040503050406030204" pitchFamily="18" charset="0"/>
                          </a:rPr>
                          <m:t>𝑡</m:t>
                        </m:r>
                      </m:sub>
                    </m:sSub>
                  </m:oMath>
                </a14:m>
                <a:r>
                  <a:rPr lang="en-AU" altLang="en-US" dirty="0"/>
                  <a:t> is the predicted value at time t</a:t>
                </a:r>
              </a:p>
              <a:p>
                <a:pPr>
                  <a:lnSpc>
                    <a:spcPct val="120000"/>
                  </a:lnSpc>
                </a:pPr>
                <a14:m>
                  <m:oMath xmlns:m="http://schemas.openxmlformats.org/officeDocument/2006/math">
                    <m:sSub>
                      <m:sSubPr>
                        <m:ctrlPr>
                          <a:rPr lang="en-US" altLang="en-US" i="1">
                            <a:latin typeface="Cambria Math" panose="02040503050406030204" pitchFamily="18" charset="0"/>
                          </a:rPr>
                        </m:ctrlPr>
                      </m:sSubPr>
                      <m:e>
                        <m:r>
                          <a:rPr lang="en-US" altLang="en-US" b="0" i="1" smtClean="0">
                            <a:latin typeface="Cambria Math" panose="02040503050406030204" pitchFamily="18" charset="0"/>
                          </a:rPr>
                          <m:t>𝑦</m:t>
                        </m:r>
                      </m:e>
                      <m:sub>
                        <m:r>
                          <a:rPr lang="en-US" altLang="en-US" b="0" i="1" smtClean="0">
                            <a:latin typeface="Cambria Math" panose="02040503050406030204" pitchFamily="18" charset="0"/>
                          </a:rPr>
                          <m:t>𝑡</m:t>
                        </m:r>
                      </m:sub>
                    </m:sSub>
                  </m:oMath>
                </a14:m>
                <a:r>
                  <a:rPr lang="en-AU" altLang="en-US" dirty="0"/>
                  <a:t> is the actual value at time t</a:t>
                </a:r>
              </a:p>
              <a:p>
                <a:pPr>
                  <a:lnSpc>
                    <a:spcPct val="120000"/>
                  </a:lnSpc>
                </a:pPr>
                <a:r>
                  <a:rPr lang="en-AU" altLang="en-US" dirty="0"/>
                  <a:t>Another popular measure: Root Mean Squared Error (RMSE) = </a:t>
                </a:r>
                <a14:m>
                  <m:oMath xmlns:m="http://schemas.openxmlformats.org/officeDocument/2006/math">
                    <m:rad>
                      <m:radPr>
                        <m:degHide m:val="on"/>
                        <m:ctrlPr>
                          <a:rPr lang="en-US" altLang="en-US" b="0" i="1" smtClean="0">
                            <a:latin typeface="Cambria Math" panose="02040503050406030204" pitchFamily="18" charset="0"/>
                          </a:rPr>
                        </m:ctrlPr>
                      </m:radPr>
                      <m:deg/>
                      <m:e>
                        <m:r>
                          <a:rPr lang="en-US" altLang="en-US" i="1">
                            <a:latin typeface="Cambria Math" panose="02040503050406030204" pitchFamily="18" charset="0"/>
                          </a:rPr>
                          <m:t>𝑀𝑆𝐸</m:t>
                        </m:r>
                      </m:e>
                    </m:rad>
                  </m:oMath>
                </a14:m>
                <a:endParaRPr lang="en-AU" altLang="en-US" dirty="0"/>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838200" y="1251284"/>
                <a:ext cx="10515600" cy="5241591"/>
              </a:xfrm>
              <a:blipFill>
                <a:blip r:embed="rId2"/>
                <a:stretch>
                  <a:fillRect l="-1086" t="-24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AD79F26-6C6B-7590-C2CF-EFDA69F30EBD}"/>
              </a:ext>
            </a:extLst>
          </p:cNvPr>
          <p:cNvSpPr>
            <a:spLocks noGrp="1"/>
          </p:cNvSpPr>
          <p:nvPr>
            <p:ph type="sldNum" sz="quarter" idx="12"/>
          </p:nvPr>
        </p:nvSpPr>
        <p:spPr/>
        <p:txBody>
          <a:bodyPr/>
          <a:lstStyle/>
          <a:p>
            <a:fld id="{F8D8F54C-053C-4394-9990-70DE256B1A6D}" type="slidenum">
              <a:rPr lang="nl-NL" smtClean="0"/>
              <a:t>67</a:t>
            </a:fld>
            <a:endParaRPr lang="nl-NL"/>
          </a:p>
        </p:txBody>
      </p:sp>
    </p:spTree>
    <p:extLst>
      <p:ext uri="{BB962C8B-B14F-4D97-AF65-F5344CB8AC3E}">
        <p14:creationId xmlns:p14="http://schemas.microsoft.com/office/powerpoint/2010/main" val="19656498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F5F2-267A-4A6E-AAB7-2C088BAE714C}"/>
              </a:ext>
            </a:extLst>
          </p:cNvPr>
          <p:cNvSpPr>
            <a:spLocks noGrp="1"/>
          </p:cNvSpPr>
          <p:nvPr>
            <p:ph type="title"/>
          </p:nvPr>
        </p:nvSpPr>
        <p:spPr>
          <a:xfrm>
            <a:off x="838200" y="365125"/>
            <a:ext cx="10515600" cy="886159"/>
          </a:xfrm>
        </p:spPr>
        <p:txBody>
          <a:bodyPr>
            <a:noAutofit/>
          </a:bodyPr>
          <a:lstStyle/>
          <a:p>
            <a:r>
              <a:rPr lang="en-US" altLang="nl-NL" sz="3200" b="1" dirty="0">
                <a:latin typeface="Times New Roman" panose="02020603050405020304" pitchFamily="18" charset="0"/>
                <a:cs typeface="Times New Roman" panose="02020603050405020304" pitchFamily="18" charset="0"/>
              </a:rPr>
              <a:t>Forecast Accuracy – More Measures</a:t>
            </a:r>
            <a:endParaRPr lang="nl-NL"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25166-E312-42E3-86E9-D4580053EAA4}"/>
                  </a:ext>
                </a:extLst>
              </p:cNvPr>
              <p:cNvSpPr>
                <a:spLocks noGrp="1"/>
              </p:cNvSpPr>
              <p:nvPr>
                <p:ph idx="1"/>
              </p:nvPr>
            </p:nvSpPr>
            <p:spPr>
              <a:xfrm>
                <a:off x="838200" y="1251284"/>
                <a:ext cx="10515600" cy="5241591"/>
              </a:xfrm>
            </p:spPr>
            <p:txBody>
              <a:bodyPr>
                <a:normAutofit/>
              </a:bodyPr>
              <a:lstStyle/>
              <a:p>
                <a:pPr>
                  <a:lnSpc>
                    <a:spcPct val="120000"/>
                  </a:lnSpc>
                </a:pPr>
                <a:r>
                  <a:rPr lang="en-GB" altLang="en-NL" dirty="0"/>
                  <a:t>The Mean Absolute Error (MAE) :</a:t>
                </a:r>
              </a:p>
              <a:p>
                <a:pPr marL="0" indent="0">
                  <a:lnSpc>
                    <a:spcPct val="120000"/>
                  </a:lnSpc>
                  <a:buNone/>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rPr>
                        <m:t>𝑀𝐴𝐸</m:t>
                      </m:r>
                      <m:r>
                        <a:rPr lang="en-US" altLang="en-US" b="0" i="1" smtClean="0">
                          <a:latin typeface="Cambria Math" panose="02040503050406030204" pitchFamily="18" charset="0"/>
                        </a:rPr>
                        <m:t>= </m:t>
                      </m:r>
                      <m:f>
                        <m:fPr>
                          <m:ctrlPr>
                            <a:rPr lang="en-US" altLang="en-US" b="0" i="1" smtClean="0">
                              <a:latin typeface="Cambria Math" panose="02040503050406030204" pitchFamily="18" charset="0"/>
                            </a:rPr>
                          </m:ctrlPr>
                        </m:fPr>
                        <m:num>
                          <m:nary>
                            <m:naryPr>
                              <m:chr m:val="∑"/>
                              <m:ctrlPr>
                                <a:rPr lang="en-US" altLang="en-US" b="0" i="1" smtClean="0">
                                  <a:latin typeface="Cambria Math" panose="02040503050406030204" pitchFamily="18" charset="0"/>
                                </a:rPr>
                              </m:ctrlPr>
                            </m:naryPr>
                            <m:sub>
                              <m:r>
                                <m:rPr>
                                  <m:brk m:alnAt="23"/>
                                </m:rPr>
                                <a:rPr lang="en-US" altLang="en-US" b="0" i="1" smtClean="0">
                                  <a:latin typeface="Cambria Math" panose="02040503050406030204" pitchFamily="18" charset="0"/>
                                </a:rPr>
                                <m:t>𝑡</m:t>
                              </m:r>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m:rPr>
                                      <m:brk m:alnAt="23"/>
                                    </m:rPr>
                                    <a:rPr lang="en-US" altLang="en-US" b="0" i="1" smtClean="0">
                                      <a:latin typeface="Cambria Math" panose="02040503050406030204" pitchFamily="18" charset="0"/>
                                    </a:rPr>
                                    <m:t>𝑇</m:t>
                                  </m:r>
                                </m:e>
                                <m:sub>
                                  <m:r>
                                    <m:rPr>
                                      <m:brk m:alnAt="23"/>
                                    </m:rPr>
                                    <a:rPr lang="en-US" altLang="en-US" b="0" i="1" smtClean="0">
                                      <a:latin typeface="Cambria Math" panose="02040503050406030204" pitchFamily="18" charset="0"/>
                                    </a:rPr>
                                    <m:t>1</m:t>
                                  </m:r>
                                </m:sub>
                              </m:sSub>
                            </m:sub>
                            <m:sup>
                              <m:r>
                                <a:rPr lang="en-US" altLang="en-US" b="0" i="1" smtClean="0">
                                  <a:latin typeface="Cambria Math" panose="02040503050406030204" pitchFamily="18" charset="0"/>
                                </a:rPr>
                                <m:t>𝑇</m:t>
                              </m:r>
                            </m:sup>
                            <m:e>
                              <m:d>
                                <m:dPr>
                                  <m:begChr m:val="|"/>
                                  <m:endChr m:val="|"/>
                                  <m:ctrlPr>
                                    <a:rPr lang="en-US" altLang="en-US" b="0" i="1" smtClean="0">
                                      <a:latin typeface="Cambria Math" panose="02040503050406030204" pitchFamily="18" charset="0"/>
                                    </a:rPr>
                                  </m:ctrlPr>
                                </m:dPr>
                                <m:e>
                                  <m:d>
                                    <m:dPr>
                                      <m:ctrlPr>
                                        <a:rPr lang="en-US" altLang="en-US" i="1">
                                          <a:latin typeface="Cambria Math" panose="02040503050406030204" pitchFamily="18" charset="0"/>
                                        </a:rPr>
                                      </m:ctrlPr>
                                    </m:dPr>
                                    <m:e>
                                      <m:sSub>
                                        <m:sSubPr>
                                          <m:ctrlPr>
                                            <a:rPr lang="en-US" altLang="en-US" i="1">
                                              <a:latin typeface="Cambria Math" panose="02040503050406030204" pitchFamily="18" charset="0"/>
                                            </a:rPr>
                                          </m:ctrlPr>
                                        </m:sSubPr>
                                        <m:e>
                                          <m:r>
                                            <a:rPr lang="en-US" altLang="en-US" i="1">
                                              <a:latin typeface="Cambria Math" panose="02040503050406030204" pitchFamily="18" charset="0"/>
                                            </a:rPr>
                                            <m:t>𝑦</m:t>
                                          </m:r>
                                        </m:e>
                                        <m:sub>
                                          <m:r>
                                            <a:rPr lang="en-US" altLang="en-US" i="1">
                                              <a:latin typeface="Cambria Math" panose="02040503050406030204" pitchFamily="18" charset="0"/>
                                            </a:rPr>
                                            <m:t>𝑡</m:t>
                                          </m:r>
                                        </m:sub>
                                      </m:sSub>
                                      <m:r>
                                        <a:rPr lang="en-US" altLang="en-US" i="1">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𝑦</m:t>
                                              </m:r>
                                            </m:e>
                                          </m:acc>
                                        </m:e>
                                        <m:sub>
                                          <m:r>
                                            <a:rPr lang="en-US" altLang="en-US" i="1">
                                              <a:latin typeface="Cambria Math" panose="02040503050406030204" pitchFamily="18" charset="0"/>
                                            </a:rPr>
                                            <m:t>𝑡</m:t>
                                          </m:r>
                                        </m:sub>
                                      </m:sSub>
                                    </m:e>
                                  </m:d>
                                </m:e>
                              </m:d>
                            </m:e>
                          </m:nary>
                        </m:num>
                        <m:den>
                          <m:r>
                            <a:rPr lang="en-US" altLang="en-US" b="0" i="1" smtClean="0">
                              <a:latin typeface="Cambria Math" panose="02040503050406030204" pitchFamily="18" charset="0"/>
                            </a:rPr>
                            <m:t>𝑇</m:t>
                          </m:r>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𝑇</m:t>
                              </m:r>
                            </m:e>
                            <m:sub>
                              <m:r>
                                <a:rPr lang="en-US" altLang="en-US" b="0" i="1" smtClean="0">
                                  <a:latin typeface="Cambria Math" panose="02040503050406030204" pitchFamily="18" charset="0"/>
                                </a:rPr>
                                <m:t>1</m:t>
                              </m:r>
                            </m:sub>
                          </m:sSub>
                          <m:r>
                            <a:rPr lang="en-US" altLang="en-US" b="0" i="1" smtClean="0">
                              <a:latin typeface="Cambria Math" panose="02040503050406030204" pitchFamily="18" charset="0"/>
                            </a:rPr>
                            <m:t>+1</m:t>
                          </m:r>
                        </m:den>
                      </m:f>
                    </m:oMath>
                  </m:oMathPara>
                </a14:m>
                <a:endParaRPr lang="en-AU" altLang="en-US" dirty="0"/>
              </a:p>
              <a:p>
                <a:pPr lvl="1">
                  <a:lnSpc>
                    <a:spcPct val="120000"/>
                  </a:lnSpc>
                </a:pPr>
                <a:r>
                  <a:rPr lang="en-AU" altLang="en-US" dirty="0"/>
                  <a:t>It is also known as Mean Absolute Deviation (MAD)</a:t>
                </a:r>
              </a:p>
              <a:p>
                <a:pPr>
                  <a:lnSpc>
                    <a:spcPct val="120000"/>
                  </a:lnSpc>
                </a:pPr>
                <a:endParaRPr lang="en-AU" altLang="en-US" dirty="0"/>
              </a:p>
              <a:p>
                <a:pPr>
                  <a:lnSpc>
                    <a:spcPct val="120000"/>
                  </a:lnSpc>
                </a:pPr>
                <a:r>
                  <a:rPr lang="en-AU" altLang="en-US" dirty="0"/>
                  <a:t>Tracking Signal (TS)</a:t>
                </a:r>
              </a:p>
              <a:p>
                <a:pPr marL="0" indent="0">
                  <a:lnSpc>
                    <a:spcPct val="120000"/>
                  </a:lnSpc>
                  <a:buNone/>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rPr>
                        <m:t>𝑇𝑆</m:t>
                      </m:r>
                      <m:r>
                        <a:rPr lang="en-US" altLang="en-US" i="1">
                          <a:latin typeface="Cambria Math" panose="02040503050406030204" pitchFamily="18" charset="0"/>
                        </a:rPr>
                        <m:t>= </m:t>
                      </m:r>
                      <m:f>
                        <m:fPr>
                          <m:ctrlPr>
                            <a:rPr lang="en-US" altLang="en-US" i="1">
                              <a:latin typeface="Cambria Math" panose="02040503050406030204" pitchFamily="18" charset="0"/>
                            </a:rPr>
                          </m:ctrlPr>
                        </m:fPr>
                        <m:num>
                          <m:nary>
                            <m:naryPr>
                              <m:chr m:val="∑"/>
                              <m:ctrlPr>
                                <a:rPr lang="en-US" altLang="en-US" i="1">
                                  <a:latin typeface="Cambria Math" panose="02040503050406030204" pitchFamily="18" charset="0"/>
                                </a:rPr>
                              </m:ctrlPr>
                            </m:naryPr>
                            <m:sub>
                              <m:r>
                                <m:rPr>
                                  <m:brk m:alnAt="23"/>
                                </m:rPr>
                                <a:rPr lang="en-US" altLang="en-US" i="1">
                                  <a:latin typeface="Cambria Math" panose="02040503050406030204" pitchFamily="18" charset="0"/>
                                </a:rPr>
                                <m:t>𝑡</m:t>
                              </m:r>
                              <m:r>
                                <a:rPr lang="en-US" altLang="en-US" i="1">
                                  <a:latin typeface="Cambria Math" panose="02040503050406030204" pitchFamily="18" charset="0"/>
                                </a:rPr>
                                <m:t>=</m:t>
                              </m:r>
                              <m:sSub>
                                <m:sSubPr>
                                  <m:ctrlPr>
                                    <a:rPr lang="en-US" altLang="en-US" i="1">
                                      <a:latin typeface="Cambria Math" panose="02040503050406030204" pitchFamily="18" charset="0"/>
                                    </a:rPr>
                                  </m:ctrlPr>
                                </m:sSubPr>
                                <m:e>
                                  <m:r>
                                    <m:rPr>
                                      <m:brk m:alnAt="23"/>
                                    </m:rPr>
                                    <a:rPr lang="en-US" altLang="en-US" i="1">
                                      <a:latin typeface="Cambria Math" panose="02040503050406030204" pitchFamily="18" charset="0"/>
                                    </a:rPr>
                                    <m:t>𝑇</m:t>
                                  </m:r>
                                </m:e>
                                <m:sub>
                                  <m:r>
                                    <m:rPr>
                                      <m:brk m:alnAt="23"/>
                                    </m:rPr>
                                    <a:rPr lang="en-US" altLang="en-US" i="1">
                                      <a:latin typeface="Cambria Math" panose="02040503050406030204" pitchFamily="18" charset="0"/>
                                    </a:rPr>
                                    <m:t>1</m:t>
                                  </m:r>
                                </m:sub>
                              </m:sSub>
                            </m:sub>
                            <m:sup>
                              <m:r>
                                <a:rPr lang="en-US" altLang="en-US" i="1">
                                  <a:latin typeface="Cambria Math" panose="02040503050406030204" pitchFamily="18" charset="0"/>
                                </a:rPr>
                                <m:t>𝑇</m:t>
                              </m:r>
                            </m:sup>
                            <m:e>
                              <m:d>
                                <m:dPr>
                                  <m:ctrlPr>
                                    <a:rPr lang="en-US" altLang="en-US" i="1">
                                      <a:latin typeface="Cambria Math" panose="02040503050406030204" pitchFamily="18" charset="0"/>
                                    </a:rPr>
                                  </m:ctrlPr>
                                </m:dPr>
                                <m:e>
                                  <m:sSub>
                                    <m:sSubPr>
                                      <m:ctrlPr>
                                        <a:rPr lang="en-US" altLang="en-US" i="1">
                                          <a:latin typeface="Cambria Math" panose="02040503050406030204" pitchFamily="18" charset="0"/>
                                        </a:rPr>
                                      </m:ctrlPr>
                                    </m:sSubPr>
                                    <m:e>
                                      <m:r>
                                        <a:rPr lang="en-US" altLang="en-US" i="1">
                                          <a:latin typeface="Cambria Math" panose="02040503050406030204" pitchFamily="18" charset="0"/>
                                        </a:rPr>
                                        <m:t>𝑦</m:t>
                                      </m:r>
                                    </m:e>
                                    <m:sub>
                                      <m:r>
                                        <a:rPr lang="en-US" altLang="en-US" i="1">
                                          <a:latin typeface="Cambria Math" panose="02040503050406030204" pitchFamily="18" charset="0"/>
                                        </a:rPr>
                                        <m:t>𝑡</m:t>
                                      </m:r>
                                    </m:sub>
                                  </m:sSub>
                                  <m:r>
                                    <a:rPr lang="en-US" altLang="en-US" i="1">
                                      <a:latin typeface="Cambria Math" panose="02040503050406030204" pitchFamily="18" charset="0"/>
                                    </a:rPr>
                                    <m:t>−</m:t>
                                  </m:r>
                                  <m:sSub>
                                    <m:sSubPr>
                                      <m:ctrlPr>
                                        <a:rPr lang="en-US" altLang="en-US" i="1">
                                          <a:latin typeface="Cambria Math" panose="02040503050406030204" pitchFamily="18" charset="0"/>
                                        </a:rPr>
                                      </m:ctrlPr>
                                    </m:sSubPr>
                                    <m:e>
                                      <m:acc>
                                        <m:accPr>
                                          <m:chr m:val="̂"/>
                                          <m:ctrlPr>
                                            <a:rPr lang="en-US" altLang="en-US" i="1">
                                              <a:latin typeface="Cambria Math" panose="02040503050406030204" pitchFamily="18" charset="0"/>
                                            </a:rPr>
                                          </m:ctrlPr>
                                        </m:accPr>
                                        <m:e>
                                          <m:r>
                                            <a:rPr lang="en-US" altLang="en-US" i="1">
                                              <a:latin typeface="Cambria Math" panose="02040503050406030204" pitchFamily="18" charset="0"/>
                                            </a:rPr>
                                            <m:t>𝑦</m:t>
                                          </m:r>
                                        </m:e>
                                      </m:acc>
                                    </m:e>
                                    <m:sub>
                                      <m:r>
                                        <a:rPr lang="en-US" altLang="en-US" i="1">
                                          <a:latin typeface="Cambria Math" panose="02040503050406030204" pitchFamily="18" charset="0"/>
                                        </a:rPr>
                                        <m:t>𝑡</m:t>
                                      </m:r>
                                    </m:sub>
                                  </m:sSub>
                                </m:e>
                              </m:d>
                            </m:e>
                          </m:nary>
                        </m:num>
                        <m:den>
                          <m:r>
                            <a:rPr lang="en-US" altLang="en-US" b="0" i="1" smtClean="0">
                              <a:latin typeface="Cambria Math" panose="02040503050406030204" pitchFamily="18" charset="0"/>
                            </a:rPr>
                            <m:t>𝑀𝐴𝐸</m:t>
                          </m:r>
                        </m:den>
                      </m:f>
                    </m:oMath>
                  </m:oMathPara>
                </a14:m>
                <a:endParaRPr lang="en-AU" altLang="en-US" dirty="0"/>
              </a:p>
            </p:txBody>
          </p:sp>
        </mc:Choice>
        <mc:Fallback xmlns="">
          <p:sp>
            <p:nvSpPr>
              <p:cNvPr id="3" name="Content Placeholder 2">
                <a:extLst>
                  <a:ext uri="{FF2B5EF4-FFF2-40B4-BE49-F238E27FC236}">
                    <a16:creationId xmlns:a16="http://schemas.microsoft.com/office/drawing/2014/main" id="{C1825166-E312-42E3-86E9-D4580053EAA4}"/>
                  </a:ext>
                </a:extLst>
              </p:cNvPr>
              <p:cNvSpPr>
                <a:spLocks noGrp="1" noRot="1" noChangeAspect="1" noMove="1" noResize="1" noEditPoints="1" noAdjustHandles="1" noChangeArrowheads="1" noChangeShapeType="1" noTextEdit="1"/>
              </p:cNvSpPr>
              <p:nvPr>
                <p:ph idx="1"/>
              </p:nvPr>
            </p:nvSpPr>
            <p:spPr>
              <a:xfrm>
                <a:off x="838200" y="1251284"/>
                <a:ext cx="10515600" cy="5241591"/>
              </a:xfrm>
              <a:blipFill>
                <a:blip r:embed="rId2"/>
                <a:stretch>
                  <a:fillRect l="-1086" t="-24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667615C-0A81-7FB9-F4D6-AF4CE1262D35}"/>
              </a:ext>
            </a:extLst>
          </p:cNvPr>
          <p:cNvSpPr>
            <a:spLocks noGrp="1"/>
          </p:cNvSpPr>
          <p:nvPr>
            <p:ph type="sldNum" sz="quarter" idx="12"/>
          </p:nvPr>
        </p:nvSpPr>
        <p:spPr/>
        <p:txBody>
          <a:bodyPr/>
          <a:lstStyle/>
          <a:p>
            <a:fld id="{F8D8F54C-053C-4394-9990-70DE256B1A6D}" type="slidenum">
              <a:rPr lang="nl-NL" smtClean="0"/>
              <a:t>68</a:t>
            </a:fld>
            <a:endParaRPr lang="nl-NL"/>
          </a:p>
        </p:txBody>
      </p:sp>
    </p:spTree>
    <p:extLst>
      <p:ext uri="{BB962C8B-B14F-4D97-AF65-F5344CB8AC3E}">
        <p14:creationId xmlns:p14="http://schemas.microsoft.com/office/powerpoint/2010/main" val="23562340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12.966.784 afbeeldingen voor Inpakken: afbeeldingen, stockfoto's en  vectoren | Shutterstock">
            <a:extLst>
              <a:ext uri="{FF2B5EF4-FFF2-40B4-BE49-F238E27FC236}">
                <a16:creationId xmlns:a16="http://schemas.microsoft.com/office/drawing/2014/main" id="{9558914C-6874-25D6-F6CC-00E5360298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366" b="13785"/>
          <a:stretch/>
        </p:blipFill>
        <p:spPr bwMode="auto">
          <a:xfrm>
            <a:off x="1155556" y="637762"/>
            <a:ext cx="9889765" cy="3579308"/>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4">
            <a:extLst>
              <a:ext uri="{FF2B5EF4-FFF2-40B4-BE49-F238E27FC236}">
                <a16:creationId xmlns:a16="http://schemas.microsoft.com/office/drawing/2014/main" id="{C45A49BA-F1EE-4748-AA1D-3967F9097D38}"/>
              </a:ext>
            </a:extLst>
          </p:cNvPr>
          <p:cNvSpPr txBox="1">
            <a:spLocks/>
          </p:cNvSpPr>
          <p:nvPr/>
        </p:nvSpPr>
        <p:spPr>
          <a:xfrm>
            <a:off x="6734649" y="4750698"/>
            <a:ext cx="4310672" cy="14638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Summarize what you learned today in 2-minutes</a:t>
            </a:r>
            <a:endParaRPr lang="en-US" altLang="en-US" dirty="0"/>
          </a:p>
        </p:txBody>
      </p:sp>
      <p:sp>
        <p:nvSpPr>
          <p:cNvPr id="2" name="Slide Number Placeholder 1">
            <a:extLst>
              <a:ext uri="{FF2B5EF4-FFF2-40B4-BE49-F238E27FC236}">
                <a16:creationId xmlns:a16="http://schemas.microsoft.com/office/drawing/2014/main" id="{E595044B-87F2-DE56-46BE-105B1F78CB27}"/>
              </a:ext>
            </a:extLst>
          </p:cNvPr>
          <p:cNvSpPr>
            <a:spLocks noGrp="1"/>
          </p:cNvSpPr>
          <p:nvPr>
            <p:ph type="sldNum" sz="quarter" idx="12"/>
          </p:nvPr>
        </p:nvSpPr>
        <p:spPr/>
        <p:txBody>
          <a:bodyPr/>
          <a:lstStyle/>
          <a:p>
            <a:fld id="{F8D8F54C-053C-4394-9990-70DE256B1A6D}" type="slidenum">
              <a:rPr lang="nl-NL" smtClean="0"/>
              <a:t>69</a:t>
            </a:fld>
            <a:endParaRPr lang="nl-NL"/>
          </a:p>
        </p:txBody>
      </p:sp>
    </p:spTree>
    <p:extLst>
      <p:ext uri="{BB962C8B-B14F-4D97-AF65-F5344CB8AC3E}">
        <p14:creationId xmlns:p14="http://schemas.microsoft.com/office/powerpoint/2010/main" val="21816913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Title 1"/>
          <p:cNvSpPr>
            <a:spLocks noGrp="1"/>
          </p:cNvSpPr>
          <p:nvPr>
            <p:ph type="title"/>
          </p:nvPr>
        </p:nvSpPr>
        <p:spPr/>
        <p:txBody>
          <a:bodyPr/>
          <a:lstStyle/>
          <a:p>
            <a:r>
              <a:rPr lang="en-US" altLang="en-US" dirty="0"/>
              <a:t>Next lecture</a:t>
            </a:r>
          </a:p>
        </p:txBody>
      </p:sp>
      <p:sp>
        <p:nvSpPr>
          <p:cNvPr id="227331" name="Content Placeholder 2"/>
          <p:cNvSpPr>
            <a:spLocks noGrp="1"/>
          </p:cNvSpPr>
          <p:nvPr>
            <p:ph idx="1"/>
          </p:nvPr>
        </p:nvSpPr>
        <p:spPr/>
        <p:txBody>
          <a:bodyPr/>
          <a:lstStyle/>
          <a:p>
            <a:r>
              <a:rPr lang="en-US" altLang="en-US" dirty="0"/>
              <a:t>Process Discovery</a:t>
            </a:r>
          </a:p>
          <a:p>
            <a:r>
              <a:rPr lang="en-US" altLang="en-US" dirty="0"/>
              <a:t>Conformance Checking</a:t>
            </a:r>
          </a:p>
        </p:txBody>
      </p:sp>
      <p:pic>
        <p:nvPicPr>
          <p:cNvPr id="2" name="Picture 1">
            <a:extLst>
              <a:ext uri="{FF2B5EF4-FFF2-40B4-BE49-F238E27FC236}">
                <a16:creationId xmlns:a16="http://schemas.microsoft.com/office/drawing/2014/main" id="{961C2856-CB3D-D34B-9F1D-8E5B8802DB98}"/>
              </a:ext>
            </a:extLst>
          </p:cNvPr>
          <p:cNvPicPr>
            <a:picLocks noChangeAspect="1"/>
          </p:cNvPicPr>
          <p:nvPr/>
        </p:nvPicPr>
        <p:blipFill>
          <a:blip r:embed="rId3"/>
          <a:stretch>
            <a:fillRect/>
          </a:stretch>
        </p:blipFill>
        <p:spPr>
          <a:xfrm>
            <a:off x="0" y="0"/>
            <a:ext cx="12192000" cy="6858000"/>
          </a:xfrm>
          <a:prstGeom prst="rect">
            <a:avLst/>
          </a:prstGeom>
        </p:spPr>
      </p:pic>
      <p:sp>
        <p:nvSpPr>
          <p:cNvPr id="4" name="Slide Number Placeholder 3">
            <a:extLst>
              <a:ext uri="{FF2B5EF4-FFF2-40B4-BE49-F238E27FC236}">
                <a16:creationId xmlns:a16="http://schemas.microsoft.com/office/drawing/2014/main" id="{E00E04EA-A26C-E447-A8E6-CA04C1B6E839}"/>
              </a:ext>
            </a:extLst>
          </p:cNvPr>
          <p:cNvSpPr>
            <a:spLocks noGrp="1"/>
          </p:cNvSpPr>
          <p:nvPr>
            <p:ph type="sldNum" sz="quarter" idx="12"/>
          </p:nvPr>
        </p:nvSpPr>
        <p:spPr/>
        <p:txBody>
          <a:bodyPr/>
          <a:lstStyle/>
          <a:p>
            <a:fld id="{5E3B494A-3097-014D-8BD6-D19A16CE616C}" type="slidenum">
              <a:rPr lang="x-none" smtClean="0"/>
              <a:t>70</a:t>
            </a:fld>
            <a:endParaRPr lang="x-none"/>
          </a:p>
        </p:txBody>
      </p:sp>
    </p:spTree>
    <p:extLst>
      <p:ext uri="{BB962C8B-B14F-4D97-AF65-F5344CB8AC3E}">
        <p14:creationId xmlns:p14="http://schemas.microsoft.com/office/powerpoint/2010/main" val="15571778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793235904ECB429D95AFCF930B613A" ma:contentTypeVersion="5" ma:contentTypeDescription="Create a new document." ma:contentTypeScope="" ma:versionID="4c390286563cacde125c37b699801796">
  <xsd:schema xmlns:xsd="http://www.w3.org/2001/XMLSchema" xmlns:xs="http://www.w3.org/2001/XMLSchema" xmlns:p="http://schemas.microsoft.com/office/2006/metadata/properties" xmlns:ns3="5032e021-b0cf-43e6-828a-5b682824f23c" xmlns:ns4="ef284efa-1316-4307-b1a8-b157427e4237" targetNamespace="http://schemas.microsoft.com/office/2006/metadata/properties" ma:root="true" ma:fieldsID="8c9c49ab243af388e89cdf0ba7aaaf48" ns3:_="" ns4:_="">
    <xsd:import namespace="5032e021-b0cf-43e6-828a-5b682824f23c"/>
    <xsd:import namespace="ef284efa-1316-4307-b1a8-b157427e4237"/>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32e021-b0cf-43e6-828a-5b682824f2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f284efa-1316-4307-b1a8-b157427e423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EFE0A5C-9604-4B3E-8F9E-98072B6B9F48}">
  <ds:schemaRefs>
    <ds:schemaRef ds:uri="http://schemas.microsoft.com/sharepoint/v3/contenttype/forms"/>
  </ds:schemaRefs>
</ds:datastoreItem>
</file>

<file path=customXml/itemProps2.xml><?xml version="1.0" encoding="utf-8"?>
<ds:datastoreItem xmlns:ds="http://schemas.openxmlformats.org/officeDocument/2006/customXml" ds:itemID="{E27FB234-31BD-4786-8167-C9B3AC2407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032e021-b0cf-43e6-828a-5b682824f23c"/>
    <ds:schemaRef ds:uri="ef284efa-1316-4307-b1a8-b157427e42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473D4E-B70B-4136-B747-E79AAA180FB8}">
  <ds:schemaRefs>
    <ds:schemaRef ds:uri="http://purl.org/dc/terms/"/>
    <ds:schemaRef ds:uri="ef284efa-1316-4307-b1a8-b157427e4237"/>
    <ds:schemaRef ds:uri="http://purl.org/dc/dcmitype/"/>
    <ds:schemaRef ds:uri="http://schemas.microsoft.com/office/infopath/2007/PartnerControls"/>
    <ds:schemaRef ds:uri="5032e021-b0cf-43e6-828a-5b682824f23c"/>
    <ds:schemaRef ds:uri="http://purl.org/dc/elements/1.1/"/>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11692</TotalTime>
  <Words>3608</Words>
  <Application>Microsoft Macintosh PowerPoint</Application>
  <PresentationFormat>Widescreen</PresentationFormat>
  <Paragraphs>986</Paragraphs>
  <Slides>70</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70</vt:i4>
      </vt:variant>
    </vt:vector>
  </HeadingPairs>
  <TitlesOfParts>
    <vt:vector size="79" baseType="lpstr">
      <vt:lpstr>Arial</vt:lpstr>
      <vt:lpstr>Calibri</vt:lpstr>
      <vt:lpstr>Calibri Light</vt:lpstr>
      <vt:lpstr>Cambria Math</vt:lpstr>
      <vt:lpstr>Courier New</vt:lpstr>
      <vt:lpstr>Times New Roman</vt:lpstr>
      <vt:lpstr>Trebuchet MS</vt:lpstr>
      <vt:lpstr>Wingdings</vt:lpstr>
      <vt:lpstr>Office Theme</vt:lpstr>
      <vt:lpstr>PowerPoint Presentation</vt:lpstr>
      <vt:lpstr>Topics for Today</vt:lpstr>
      <vt:lpstr>Reading Material</vt:lpstr>
      <vt:lpstr>PowerPoint Presentation</vt:lpstr>
      <vt:lpstr>Time Series</vt:lpstr>
      <vt:lpstr>PowerPoint Presentation</vt:lpstr>
      <vt:lpstr>Time Series Examples</vt:lpstr>
      <vt:lpstr>Time Series Analysis</vt:lpstr>
      <vt:lpstr>Time Series Analysis</vt:lpstr>
      <vt:lpstr>Time Series Components</vt:lpstr>
      <vt:lpstr>Time Series Components</vt:lpstr>
      <vt:lpstr>Time Series Components – Trend </vt:lpstr>
      <vt:lpstr>Time Series Components – Trend </vt:lpstr>
      <vt:lpstr>Remarks: Time Series Components – Trend </vt:lpstr>
      <vt:lpstr>Remarks: Time Series Components – Trend </vt:lpstr>
      <vt:lpstr>Time Series Components – Seasonal Variation (Seasonality)</vt:lpstr>
      <vt:lpstr>Time Series Components – Seasonal Variation (Seasonality)</vt:lpstr>
      <vt:lpstr>Time Series Components – Cyclical Variation</vt:lpstr>
      <vt:lpstr>Time Series Components – Cyclical Variation</vt:lpstr>
      <vt:lpstr>Time Series Components – Cyclical Variation</vt:lpstr>
      <vt:lpstr>Time Series Components – Irregular Variation</vt:lpstr>
      <vt:lpstr>Time Series Components – Irregular Variation</vt:lpstr>
      <vt:lpstr>Time Series Decomposition</vt:lpstr>
      <vt:lpstr>Time Series Decomposition – Detrending </vt:lpstr>
      <vt:lpstr>Time Series Decomposition – Seasonal Component </vt:lpstr>
      <vt:lpstr>Time Series Decomposition – Remainder Component </vt:lpstr>
      <vt:lpstr>PowerPoint Presentation</vt:lpstr>
      <vt:lpstr>PowerPoint Presentation</vt:lpstr>
      <vt:lpstr>Measuring the Trend</vt:lpstr>
      <vt:lpstr>Why Examine the Trend?</vt:lpstr>
      <vt:lpstr>Depicting the Trend</vt:lpstr>
      <vt:lpstr>Depicting the Trend – Semi-Average</vt:lpstr>
      <vt:lpstr>Depicting the Trend – Moving-Average</vt:lpstr>
      <vt:lpstr>Depicting the Trend – Least-Square Linear Regression</vt:lpstr>
      <vt:lpstr>Depicting the Trend – Least-Square Linear Regression</vt:lpstr>
      <vt:lpstr>Depicting the Trend – Least-Square Linear Regression</vt:lpstr>
      <vt:lpstr>Depicting the Trend – Least-Square Linear Regression</vt:lpstr>
      <vt:lpstr>Depicting the Trend – Least-Square Linear Regression</vt:lpstr>
      <vt:lpstr>Example</vt:lpstr>
      <vt:lpstr>Example</vt:lpstr>
      <vt:lpstr>Depicting the Trend – Exponential Smoothing</vt:lpstr>
      <vt:lpstr>Depicting the Trend – Exponential Smoothing</vt:lpstr>
      <vt:lpstr>PowerPoint Presentation</vt:lpstr>
      <vt:lpstr>Seasonal Variations</vt:lpstr>
      <vt:lpstr>Seasonal Variations – Example </vt:lpstr>
      <vt:lpstr>Compute the Seasonal Index</vt:lpstr>
      <vt:lpstr>Compute the Seasonal Index – Example </vt:lpstr>
      <vt:lpstr>Compute the Seasonal Index – Example </vt:lpstr>
      <vt:lpstr>Compute the Seasonal Index – Example </vt:lpstr>
      <vt:lpstr>Compute the Seasonal Index – Example </vt:lpstr>
      <vt:lpstr>Compute the Seasonal Index – Example </vt:lpstr>
      <vt:lpstr>Compute the Seasonal Index – Example </vt:lpstr>
      <vt:lpstr>Time Series Decomposition – Summary</vt:lpstr>
      <vt:lpstr>STL Decomposition</vt:lpstr>
      <vt:lpstr>PowerPoint Presentation</vt:lpstr>
      <vt:lpstr>Decisions that Require Forecasting</vt:lpstr>
      <vt:lpstr>Common Characteristics of Forecasting</vt:lpstr>
      <vt:lpstr>Why Forecasting is Important?</vt:lpstr>
      <vt:lpstr>Forecasting Techniques</vt:lpstr>
      <vt:lpstr>Forecasting – Example</vt:lpstr>
      <vt:lpstr>Naïve Forecasting </vt:lpstr>
      <vt:lpstr>Simple Average </vt:lpstr>
      <vt:lpstr>Moving Average </vt:lpstr>
      <vt:lpstr>Weighted Moving Average </vt:lpstr>
      <vt:lpstr>Exponential Smoothing </vt:lpstr>
      <vt:lpstr>Forecast Accuracy</vt:lpstr>
      <vt:lpstr>Forecast Accuracy – Mean Squared Error (MSE)</vt:lpstr>
      <vt:lpstr>Forecast Accuracy – More Measures</vt:lpstr>
      <vt:lpstr>PowerPoint Presentation</vt:lpstr>
      <vt:lpstr>Next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Qahtan, A.A.A. (Hakim)</dc:creator>
  <cp:lastModifiedBy>Qahtan, A. (Hakim)</cp:lastModifiedBy>
  <cp:revision>274</cp:revision>
  <cp:lastPrinted>2025-10-27T11:16:06Z</cp:lastPrinted>
  <dcterms:created xsi:type="dcterms:W3CDTF">2020-02-17T15:53:26Z</dcterms:created>
  <dcterms:modified xsi:type="dcterms:W3CDTF">2025-10-29T22:08:04Z</dcterms:modified>
</cp:coreProperties>
</file>