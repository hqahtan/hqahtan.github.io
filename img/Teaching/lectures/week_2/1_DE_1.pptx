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69"/>
  </p:notesMasterIdLst>
  <p:sldIdLst>
    <p:sldId id="256" r:id="rId5"/>
    <p:sldId id="369" r:id="rId6"/>
    <p:sldId id="370" r:id="rId7"/>
    <p:sldId id="258" r:id="rId8"/>
    <p:sldId id="288" r:id="rId9"/>
    <p:sldId id="292" r:id="rId10"/>
    <p:sldId id="293" r:id="rId11"/>
    <p:sldId id="295" r:id="rId12"/>
    <p:sldId id="294" r:id="rId13"/>
    <p:sldId id="296" r:id="rId14"/>
    <p:sldId id="298" r:id="rId15"/>
    <p:sldId id="301" r:id="rId16"/>
    <p:sldId id="366" r:id="rId17"/>
    <p:sldId id="367" r:id="rId18"/>
    <p:sldId id="300" r:id="rId19"/>
    <p:sldId id="302" r:id="rId20"/>
    <p:sldId id="303" r:id="rId21"/>
    <p:sldId id="304" r:id="rId22"/>
    <p:sldId id="368" r:id="rId23"/>
    <p:sldId id="283" r:id="rId24"/>
    <p:sldId id="306" r:id="rId25"/>
    <p:sldId id="307" r:id="rId26"/>
    <p:sldId id="308" r:id="rId27"/>
    <p:sldId id="309" r:id="rId28"/>
    <p:sldId id="310" r:id="rId29"/>
    <p:sldId id="311" r:id="rId30"/>
    <p:sldId id="312" r:id="rId31"/>
    <p:sldId id="313" r:id="rId32"/>
    <p:sldId id="314" r:id="rId33"/>
    <p:sldId id="315" r:id="rId34"/>
    <p:sldId id="317" r:id="rId35"/>
    <p:sldId id="326" r:id="rId36"/>
    <p:sldId id="364" r:id="rId37"/>
    <p:sldId id="365" r:id="rId38"/>
    <p:sldId id="327" r:id="rId39"/>
    <p:sldId id="329" r:id="rId40"/>
    <p:sldId id="330" r:id="rId41"/>
    <p:sldId id="331" r:id="rId42"/>
    <p:sldId id="332" r:id="rId43"/>
    <p:sldId id="333" r:id="rId44"/>
    <p:sldId id="334" r:id="rId45"/>
    <p:sldId id="316" r:id="rId46"/>
    <p:sldId id="318" r:id="rId47"/>
    <p:sldId id="319" r:id="rId48"/>
    <p:sldId id="320" r:id="rId49"/>
    <p:sldId id="321" r:id="rId50"/>
    <p:sldId id="322" r:id="rId51"/>
    <p:sldId id="323" r:id="rId52"/>
    <p:sldId id="337" r:id="rId53"/>
    <p:sldId id="363" r:id="rId54"/>
    <p:sldId id="910" r:id="rId55"/>
    <p:sldId id="281" r:id="rId56"/>
    <p:sldId id="280" r:id="rId57"/>
    <p:sldId id="285" r:id="rId58"/>
    <p:sldId id="286" r:id="rId59"/>
    <p:sldId id="287" r:id="rId60"/>
    <p:sldId id="336" r:id="rId61"/>
    <p:sldId id="2237" r:id="rId62"/>
    <p:sldId id="2243" r:id="rId63"/>
    <p:sldId id="2244" r:id="rId64"/>
    <p:sldId id="2245" r:id="rId65"/>
    <p:sldId id="2246" r:id="rId66"/>
    <p:sldId id="2238" r:id="rId67"/>
    <p:sldId id="2247" r:id="rId6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0" autoAdjust="0"/>
    <p:restoredTop sz="94633"/>
  </p:normalViewPr>
  <p:slideViewPr>
    <p:cSldViewPr snapToGrid="0">
      <p:cViewPr varScale="1">
        <p:scale>
          <a:sx n="112" d="100"/>
          <a:sy n="112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6C72E7-1AC8-4769-8510-C8FBA4EE0D31}" type="datetimeFigureOut">
              <a:rPr lang="nl-NL" smtClean="0"/>
              <a:t>09-09-2025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6F6A5-1236-40E7-B937-7650038E63C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352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6F6A5-1236-40E7-B937-7650038E63C3}" type="slidenum">
              <a:rPr lang="nl-NL" smtClean="0"/>
              <a:t>32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1660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5B486-6A9F-DE47-872C-B95ED20BB4BE}" type="slidenum">
              <a:rPr lang="x-none" smtClean="0"/>
              <a:t>51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4935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6F6A5-1236-40E7-B937-7650038E63C3}" type="slidenum">
              <a:rPr lang="nl-NL" smtClean="0"/>
              <a:t>63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05792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6F6A5-1236-40E7-B937-7650038E63C3}" type="slidenum">
              <a:rPr lang="nl-NL" smtClean="0"/>
              <a:t>64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29455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F436-0D9D-46AD-BEFF-5E111B7B3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7BDE8-4FB5-4522-BEB2-CB4D9D428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33C5D-99D5-4165-B1F8-06B370213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D59A6-9BE8-4C30-961C-4CAF7195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5B115A1C-F137-473C-B049-8E2E1D4382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1098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F329-0391-403E-893E-D576018AC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0DF60-B5C5-4B67-9C59-D776B1162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7592F-54D9-46E8-91E8-E3155C6AE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E3E60-7A04-4ACB-A597-49AF9D1E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0FE4EE32-EE92-49A9-B978-9AF46FFCEE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8216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EC57-5DD0-4A03-BF25-28F500D6A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A68C0-D0E2-4B3B-8DF5-99D3AE482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84D37-B5E3-465E-AB9F-1A46C3CB8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07BA4-8DAB-4D1A-8C7A-0034BED32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B4FFACBE-778B-452B-B7B2-D991B629EC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956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F4064-BB62-46B8-9CC2-D029177E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FF1E0-3B14-45A4-A725-D5051F77C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7A2AD-DE0E-4543-BF32-97E616584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8A81F-A3D5-45B8-A8C9-BF8B4345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8AD99-EEEA-444C-A59A-65F3888F1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6E2A276F-6FEF-4ED3-85CF-E9CF754543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9754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77D37-7754-4A9C-BCC6-11C47E928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75442-2125-4972-A200-5E35EC3A2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CEFCD3-FF8C-4968-9CED-85E6346B6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DA86E1-83D0-49D4-A54B-9F17BF050F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0C060A-6098-4350-8720-54C7423C64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82D38-0587-46DF-BC2F-54BCA5167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DE6AB-74D5-42F1-A4DE-5A6E0B56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CC785A4D-427F-44CB-8E0A-B101B55E5B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971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89489-85CB-4669-ACBD-78EF5FE99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E259A-9F68-4D64-B695-B05BF20BA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55463-B67C-4CFD-B89A-A5AC40491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6" name="Afbeelding 9">
            <a:extLst>
              <a:ext uri="{FF2B5EF4-FFF2-40B4-BE49-F238E27FC236}">
                <a16:creationId xmlns:a16="http://schemas.microsoft.com/office/drawing/2014/main" id="{4E1FECAE-E5B2-4686-BED7-57C4C269E9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788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975913-F874-4ACB-BF38-06993DE48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8B41A-AEDF-4412-BB53-522D256D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5" name="Afbeelding 9">
            <a:extLst>
              <a:ext uri="{FF2B5EF4-FFF2-40B4-BE49-F238E27FC236}">
                <a16:creationId xmlns:a16="http://schemas.microsoft.com/office/drawing/2014/main" id="{003DCD53-61B3-4260-9781-C03ECF355E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999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5079-FBD9-4B6E-93BC-C2C72C3D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FB345-DC72-4009-80DF-ADF36B45C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4BB79-2FE3-4EEC-A47B-F6AA444FC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04493-2A24-4F5A-99BE-DED35B9AC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3EAAD-7F90-46F6-8777-C00D5AD3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F5965B39-71B2-49D0-86D7-1658D734E3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0239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C5DE-40EB-400F-BB8C-DD4CE993E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676FA-A76F-4435-A2C2-2AD6DBB5C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88418-CE82-4860-B21C-19BC3A38A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901AD-1CEA-40EE-8192-D18DA32CA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D7769-3DBE-45F4-9D6C-319778BC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6E6FBEF1-7C0B-499C-A27C-52802B84CB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982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7AE8A-1C31-4B80-8E0E-FA8EE7EA7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7039C-9E8F-49C2-A124-D628993DB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C1EB7-C34F-4E92-8B14-28B788637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F4EAA-ABFC-4164-BDD9-D6C18344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AA2390CE-E4A9-42B0-B346-6C3BF875E1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7979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0A7D13-05FB-4F56-9DD4-53C5B300C3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630CA-2274-448F-B50F-D48D280FD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17B21-54CC-48E7-894A-27142611C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97B17-C995-407A-9DC9-4DE969B4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4359B83E-457B-4A56-97E8-EF80F65107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8894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7109B4-6259-4B71-963F-E6EF90917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9CCA7-0EF3-49F7-943E-25DD645B6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F321C-7E99-47F2-9215-9A27ED0A15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2F472-351E-4F7F-B8E9-339BDFCA7B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653A4-AF1B-4E4A-ACF4-770CE4B004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710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3" Type="http://schemas.openxmlformats.org/officeDocument/2006/relationships/image" Target="../media/image300.png"/><Relationship Id="rId7" Type="http://schemas.openxmlformats.org/officeDocument/2006/relationships/image" Target="../media/image34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0.png"/><Relationship Id="rId5" Type="http://schemas.openxmlformats.org/officeDocument/2006/relationships/image" Target="../media/image320.png"/><Relationship Id="rId4" Type="http://schemas.openxmlformats.org/officeDocument/2006/relationships/image" Target="../media/image3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3" Type="http://schemas.openxmlformats.org/officeDocument/2006/relationships/image" Target="../media/image440.png"/><Relationship Id="rId7" Type="http://schemas.openxmlformats.org/officeDocument/2006/relationships/image" Target="../media/image480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0.png"/><Relationship Id="rId5" Type="http://schemas.openxmlformats.org/officeDocument/2006/relationships/image" Target="../media/image460.png"/><Relationship Id="rId4" Type="http://schemas.openxmlformats.org/officeDocument/2006/relationships/image" Target="../media/image4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png"/><Relationship Id="rId3" Type="http://schemas.openxmlformats.org/officeDocument/2006/relationships/image" Target="../media/image370.png"/><Relationship Id="rId7" Type="http://schemas.openxmlformats.org/officeDocument/2006/relationships/image" Target="../media/image410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0.png"/><Relationship Id="rId5" Type="http://schemas.openxmlformats.org/officeDocument/2006/relationships/image" Target="../media/image390.png"/><Relationship Id="rId4" Type="http://schemas.openxmlformats.org/officeDocument/2006/relationships/image" Target="../media/image380.png"/><Relationship Id="rId9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0.png"/><Relationship Id="rId4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90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7.png"/><Relationship Id="rId4" Type="http://schemas.openxmlformats.org/officeDocument/2006/relationships/image" Target="../media/image46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0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0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9" Type="http://schemas.openxmlformats.org/officeDocument/2006/relationships/image" Target="../media/image5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25.png"/><Relationship Id="rId7" Type="http://schemas.openxmlformats.org/officeDocument/2006/relationships/image" Target="../media/image10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130.png"/><Relationship Id="rId4" Type="http://schemas.openxmlformats.org/officeDocument/2006/relationships/image" Target="../media/image26.png"/><Relationship Id="rId9" Type="http://schemas.openxmlformats.org/officeDocument/2006/relationships/image" Target="../media/image12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16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19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2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1.png"/><Relationship Id="rId2" Type="http://schemas.openxmlformats.org/officeDocument/2006/relationships/image" Target="../media/image4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0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67D5AF9D-B0DC-43A3-AAC6-1547D97B9220}"/>
              </a:ext>
            </a:extLst>
          </p:cNvPr>
          <p:cNvSpPr txBox="1">
            <a:spLocks/>
          </p:cNvSpPr>
          <p:nvPr/>
        </p:nvSpPr>
        <p:spPr>
          <a:xfrm>
            <a:off x="3578203" y="5316032"/>
            <a:ext cx="5038747" cy="4388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Hakim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Qahtan</a:t>
            </a:r>
            <a:endParaRPr lang="nl-NL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jdelijke aanduiding voor tekst 3">
            <a:extLst>
              <a:ext uri="{FF2B5EF4-FFF2-40B4-BE49-F238E27FC236}">
                <a16:creationId xmlns:a16="http://schemas.microsoft.com/office/drawing/2014/main" id="{A0C7FD2C-79F4-4035-B87B-567FCDEE550A}"/>
              </a:ext>
            </a:extLst>
          </p:cNvPr>
          <p:cNvSpPr txBox="1">
            <a:spLocks/>
          </p:cNvSpPr>
          <p:nvPr/>
        </p:nvSpPr>
        <p:spPr>
          <a:xfrm>
            <a:off x="2743201" y="5842400"/>
            <a:ext cx="7376984" cy="867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and Computing Sciences</a:t>
            </a:r>
          </a:p>
          <a:p>
            <a:pPr marL="0" indent="0" algn="ctr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Utrecht University</a:t>
            </a:r>
            <a:endParaRPr lang="nl-NL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5150EB-C963-4057-9C23-EDF2C9EC6773}"/>
              </a:ext>
            </a:extLst>
          </p:cNvPr>
          <p:cNvSpPr/>
          <p:nvPr/>
        </p:nvSpPr>
        <p:spPr>
          <a:xfrm>
            <a:off x="620785" y="1342238"/>
            <a:ext cx="11308360" cy="236069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Wrangling and Data Analysis</a:t>
            </a:r>
          </a:p>
          <a:p>
            <a:pPr algn="ctr"/>
            <a:endParaRPr 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nl-N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Extraction 1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A95B730-DEB8-45EC-95F6-9E624B67ABF0}"/>
              </a:ext>
            </a:extLst>
          </p:cNvPr>
          <p:cNvSpPr txBox="1">
            <a:spLocks noChangeArrowheads="1"/>
          </p:cNvSpPr>
          <p:nvPr/>
        </p:nvSpPr>
        <p:spPr>
          <a:xfrm>
            <a:off x="2897187" y="3702930"/>
            <a:ext cx="6400800" cy="119942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1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810000" indent="-27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Verdana" pitchFamily="34" charset="0"/>
              <a:buChar char="–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altLang="nl-NL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56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367327"/>
            <a:ext cx="10515600" cy="4990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/>
              <a:t>So Far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Data types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Structured, semi-structured and unstructured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Data Models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Relational model and entity-relationship model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Graphs and trees 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Objects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Data model components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Data, structure, semantics, and operations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Databases vs file systems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DDL and DML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Creating and modifying tables (relations) in SQL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8A6CD5-A2C7-54BA-9B5E-09C726C72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7CB78-F48C-3900-4B76-CC8E156AD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1111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367327"/>
            <a:ext cx="10515600" cy="4990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/>
              <a:t>Today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Reminder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OAC members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Volunteers for the social event (only one week left)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Office hours only by appointment (send email)</a:t>
            </a:r>
          </a:p>
          <a:p>
            <a:pPr lvl="1">
              <a:lnSpc>
                <a:spcPct val="100000"/>
              </a:lnSpc>
            </a:pP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Operations on databases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Relational algebra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Data Extraction with SQL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E47ECE-B2DB-3D3A-361A-8B6C0CD30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54BC1-D858-08D7-83B6-D7637F600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2093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A40E628-8C67-4F61-A3CE-7B1142BE8C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63195" y="550403"/>
          <a:ext cx="4911970" cy="6077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5057764" imgH="6257805" progId="Acrobat.Document.DC">
                  <p:embed/>
                </p:oleObj>
              </mc:Choice>
              <mc:Fallback>
                <p:oleObj name="Acrobat Document" r:id="rId2" imgW="5057764" imgH="6257805" progId="Acrobat.Document.DC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CA40E628-8C67-4F61-A3CE-7B1142BE8C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763195" y="550403"/>
                        <a:ext cx="4911970" cy="60775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>
            <a:extLst>
              <a:ext uri="{FF2B5EF4-FFF2-40B4-BE49-F238E27FC236}">
                <a16:creationId xmlns:a16="http://schemas.microsoft.com/office/drawing/2014/main" id="{36849FCC-587A-D1B3-9A3B-021C2F6191FE}"/>
              </a:ext>
            </a:extLst>
          </p:cNvPr>
          <p:cNvSpPr txBox="1">
            <a:spLocks noChangeArrowheads="1"/>
          </p:cNvSpPr>
          <p:nvPr/>
        </p:nvSpPr>
        <p:spPr>
          <a:xfrm>
            <a:off x="640080" y="4631161"/>
            <a:ext cx="6692827" cy="1569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tabLst>
                <a:tab pos="1820863" algn="l"/>
                <a:tab pos="3659188" algn="l"/>
                <a:tab pos="3943350" algn="l"/>
              </a:tabLst>
              <a:defRPr/>
            </a:pPr>
            <a:r>
              <a:rPr lang="en-US" sz="2400" dirty="0"/>
              <a:t>Database System Concepts (7</a:t>
            </a:r>
            <a:r>
              <a:rPr lang="en-US" sz="2400" baseline="30000" dirty="0"/>
              <a:t>th</a:t>
            </a:r>
            <a:r>
              <a:rPr lang="en-US" sz="2400" dirty="0"/>
              <a:t> Edition)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1820863" algn="l"/>
                <a:tab pos="3659188" algn="l"/>
                <a:tab pos="3943350" algn="l"/>
              </a:tabLst>
              <a:defRPr/>
            </a:pPr>
            <a:r>
              <a:rPr lang="en-US" sz="2400" dirty="0"/>
              <a:t>	CH 2.6, 3.3 – 3.8.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B10B2257-2676-E44D-2F81-93638E322A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0081" y="2226839"/>
            <a:ext cx="6033726" cy="198587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defRPr/>
            </a:pPr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Reading Material for Today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DDF7B57-D54B-B809-DC7C-29C246F43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BEDE8E-00DA-8C43-F2FA-0E6110322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16901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489CF568-EAB2-4141-961B-07E9397559A6}"/>
              </a:ext>
            </a:extLst>
          </p:cNvPr>
          <p:cNvSpPr txBox="1">
            <a:spLocks/>
          </p:cNvSpPr>
          <p:nvPr/>
        </p:nvSpPr>
        <p:spPr>
          <a:xfrm>
            <a:off x="1202028" y="2620260"/>
            <a:ext cx="8277726" cy="60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Relational Algebra</a:t>
            </a:r>
            <a:endParaRPr lang="nl-NL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806AF92-4C3D-466B-94C7-FB715550C6EB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F2F472-4FB9-4EBD-B458-32A067A9B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8842FE-11A4-33BC-5554-146B48728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916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Algebra Operators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1704"/>
                <a:ext cx="10515600" cy="508116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Union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dirty="0"/>
                  <a:t>, intersection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/>
                  <a:t>, difference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Selection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endParaRPr lang="en-US" dirty="0"/>
              </a:p>
              <a:p>
                <a:r>
                  <a:rPr lang="en-US" dirty="0"/>
                  <a:t>Projection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/>
              </a:p>
              <a:p>
                <a:r>
                  <a:rPr lang="en-US" dirty="0"/>
                  <a:t>Join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Rename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Duplicate elimination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Grouping and aggregation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Sorting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1704"/>
                <a:ext cx="10515600" cy="5081169"/>
              </a:xfrm>
              <a:blipFill>
                <a:blip r:embed="rId2"/>
                <a:stretch>
                  <a:fillRect l="-1086" t="-1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Brace 6">
            <a:extLst>
              <a:ext uri="{FF2B5EF4-FFF2-40B4-BE49-F238E27FC236}">
                <a16:creationId xmlns:a16="http://schemas.microsoft.com/office/drawing/2014/main" id="{082CDD0C-B671-42CC-9864-7E94D55BBE53}"/>
              </a:ext>
            </a:extLst>
          </p:cNvPr>
          <p:cNvSpPr/>
          <p:nvPr/>
        </p:nvSpPr>
        <p:spPr>
          <a:xfrm>
            <a:off x="6730408" y="1411704"/>
            <a:ext cx="712381" cy="2422166"/>
          </a:xfrm>
          <a:prstGeom prst="rightBrace">
            <a:avLst>
              <a:gd name="adj1" fmla="val 8333"/>
              <a:gd name="adj2" fmla="val 44066"/>
            </a:avLst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48E192-3694-4E65-BBEF-046DCA8D0204}"/>
              </a:ext>
            </a:extLst>
          </p:cNvPr>
          <p:cNvSpPr txBox="1"/>
          <p:nvPr/>
        </p:nvSpPr>
        <p:spPr>
          <a:xfrm>
            <a:off x="7666073" y="2052084"/>
            <a:ext cx="786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/>
              <a:t>RA</a:t>
            </a:r>
            <a:endParaRPr lang="nl-NL"/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F887009E-C92C-44EB-B6E5-8CD819A72EEC}"/>
              </a:ext>
            </a:extLst>
          </p:cNvPr>
          <p:cNvSpPr/>
          <p:nvPr/>
        </p:nvSpPr>
        <p:spPr>
          <a:xfrm>
            <a:off x="8096691" y="1343198"/>
            <a:ext cx="712381" cy="4793197"/>
          </a:xfrm>
          <a:prstGeom prst="rightBrace">
            <a:avLst>
              <a:gd name="adj1" fmla="val 8333"/>
              <a:gd name="adj2" fmla="val 70184"/>
            </a:avLst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617CF2-FEE0-441A-9FFF-AC57AE764D41}"/>
              </a:ext>
            </a:extLst>
          </p:cNvPr>
          <p:cNvSpPr txBox="1"/>
          <p:nvPr/>
        </p:nvSpPr>
        <p:spPr>
          <a:xfrm>
            <a:off x="9034127" y="4124095"/>
            <a:ext cx="2555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/>
              <a:t>Extended RA</a:t>
            </a:r>
            <a:endParaRPr lang="nl-NL"/>
          </a:p>
        </p:txBody>
      </p:sp>
      <p:sp>
        <p:nvSpPr>
          <p:cNvPr id="3" name="Cloud Callout 2">
            <a:extLst>
              <a:ext uri="{FF2B5EF4-FFF2-40B4-BE49-F238E27FC236}">
                <a16:creationId xmlns:a16="http://schemas.microsoft.com/office/drawing/2014/main" id="{CB0A74A2-B16A-2C80-3D72-BE594A421EEB}"/>
              </a:ext>
            </a:extLst>
          </p:cNvPr>
          <p:cNvSpPr/>
          <p:nvPr/>
        </p:nvSpPr>
        <p:spPr>
          <a:xfrm>
            <a:off x="8452882" y="660400"/>
            <a:ext cx="3331536" cy="2311400"/>
          </a:xfrm>
          <a:prstGeom prst="cloudCallou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Remember: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a relation is a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set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 of records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BC7743-B1BA-7686-34DA-510A8B7E9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9CCA3-2C44-4ED0-0E0E-96BBD82EF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83301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Union 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1705"/>
                <a:ext cx="10515600" cy="757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1705"/>
                <a:ext cx="10515600" cy="757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D38C8B55-C8B2-400F-BC58-BD51E7CF86F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90074" y="3201425"/>
              <a:ext cx="182761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D38C8B55-C8B2-400F-BC58-BD51E7CF86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6288656"/>
                  </p:ext>
                </p:extLst>
              </p:nvPr>
            </p:nvGraphicFramePr>
            <p:xfrm>
              <a:off x="1690074" y="3201425"/>
              <a:ext cx="182761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662" t="-108197" r="-101987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662" t="-208197" r="-101987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A9C3EF-BA83-42C4-9F87-4A835E8CA839}"/>
                  </a:ext>
                </a:extLst>
              </p:cNvPr>
              <p:cNvSpPr txBox="1"/>
              <p:nvPr/>
            </p:nvSpPr>
            <p:spPr>
              <a:xfrm>
                <a:off x="2039471" y="2736940"/>
                <a:ext cx="11288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nl-NL" sz="2800" i="1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A9C3EF-BA83-42C4-9F87-4A835E8CA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471" y="2736940"/>
                <a:ext cx="112882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3">
                <a:extLst>
                  <a:ext uri="{FF2B5EF4-FFF2-40B4-BE49-F238E27FC236}">
                    <a16:creationId xmlns:a16="http://schemas.microsoft.com/office/drawing/2014/main" id="{639EFB21-ADDD-461B-A452-5A4609BDD5C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266698" y="3201425"/>
              <a:ext cx="1827618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 i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33095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3">
                <a:extLst>
                  <a:ext uri="{FF2B5EF4-FFF2-40B4-BE49-F238E27FC236}">
                    <a16:creationId xmlns:a16="http://schemas.microsoft.com/office/drawing/2014/main" id="{639EFB21-ADDD-461B-A452-5A4609BDD5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2557323"/>
                  </p:ext>
                </p:extLst>
              </p:nvPr>
            </p:nvGraphicFramePr>
            <p:xfrm>
              <a:off x="4266698" y="3201425"/>
              <a:ext cx="1827618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662" t="-108197" r="-101987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662" t="-208197" r="-101987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662" t="-308197" r="-101987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33095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0BD3FB-A751-48B9-9C2B-3EA58460266C}"/>
                  </a:ext>
                </a:extLst>
              </p:cNvPr>
              <p:cNvSpPr txBox="1"/>
              <p:nvPr/>
            </p:nvSpPr>
            <p:spPr>
              <a:xfrm>
                <a:off x="4616095" y="2736940"/>
                <a:ext cx="11288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nl-NL" sz="2800" i="1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0BD3FB-A751-48B9-9C2B-3EA584602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095" y="2736940"/>
                <a:ext cx="112882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3">
                <a:extLst>
                  <a:ext uri="{FF2B5EF4-FFF2-40B4-BE49-F238E27FC236}">
                    <a16:creationId xmlns:a16="http://schemas.microsoft.com/office/drawing/2014/main" id="{D880172C-05B1-4E42-B14F-4AA67BCEA05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550091" y="3231236"/>
              <a:ext cx="1827618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 i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3309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9143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9709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09412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3">
                <a:extLst>
                  <a:ext uri="{FF2B5EF4-FFF2-40B4-BE49-F238E27FC236}">
                    <a16:creationId xmlns:a16="http://schemas.microsoft.com/office/drawing/2014/main" id="{D880172C-05B1-4E42-B14F-4AA67BCEA0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3828412"/>
                  </p:ext>
                </p:extLst>
              </p:nvPr>
            </p:nvGraphicFramePr>
            <p:xfrm>
              <a:off x="7550091" y="3231236"/>
              <a:ext cx="1827618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7"/>
                          <a:stretch>
                            <a:fillRect l="-662" t="-108197" r="-101987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3309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7"/>
                          <a:stretch>
                            <a:fillRect l="-662" t="-208197" r="-101987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9143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7"/>
                          <a:stretch>
                            <a:fillRect l="-662" t="-308197" r="-101987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9709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7"/>
                          <a:stretch>
                            <a:fillRect l="-662" t="-408197" r="-101987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094122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8689362-D4F1-483F-80E9-5276BC892433}"/>
                  </a:ext>
                </a:extLst>
              </p:cNvPr>
              <p:cNvSpPr txBox="1"/>
              <p:nvPr/>
            </p:nvSpPr>
            <p:spPr>
              <a:xfrm>
                <a:off x="7899488" y="2766751"/>
                <a:ext cx="11288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sz="2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nl-NL" sz="2800" i="1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8689362-D4F1-483F-80E9-5276BC892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488" y="2766751"/>
                <a:ext cx="112882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60D1B9-7475-B639-9501-2925E545C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BD43C-0BAE-411D-824A-716ADE760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62730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Intersection 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1705"/>
                <a:ext cx="10515600" cy="757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1705"/>
                <a:ext cx="10515600" cy="757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A9C3EF-BA83-42C4-9F87-4A835E8CA839}"/>
                  </a:ext>
                </a:extLst>
              </p:cNvPr>
              <p:cNvSpPr txBox="1"/>
              <p:nvPr/>
            </p:nvSpPr>
            <p:spPr>
              <a:xfrm>
                <a:off x="1834370" y="2711302"/>
                <a:ext cx="11288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nl-NL" sz="2800" i="1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A9C3EF-BA83-42C4-9F87-4A835E8CA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370" y="2711302"/>
                <a:ext cx="112882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3">
                <a:extLst>
                  <a:ext uri="{FF2B5EF4-FFF2-40B4-BE49-F238E27FC236}">
                    <a16:creationId xmlns:a16="http://schemas.microsoft.com/office/drawing/2014/main" id="{639EFB21-ADDD-461B-A452-5A4609BDD5C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061597" y="3175787"/>
              <a:ext cx="1827618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 i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33095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3">
                <a:extLst>
                  <a:ext uri="{FF2B5EF4-FFF2-40B4-BE49-F238E27FC236}">
                    <a16:creationId xmlns:a16="http://schemas.microsoft.com/office/drawing/2014/main" id="{639EFB21-ADDD-461B-A452-5A4609BDD5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1293251"/>
                  </p:ext>
                </p:extLst>
              </p:nvPr>
            </p:nvGraphicFramePr>
            <p:xfrm>
              <a:off x="4061597" y="3175787"/>
              <a:ext cx="1827618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4"/>
                          <a:stretch>
                            <a:fillRect l="-662" t="-106452" r="-101987" b="-2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4"/>
                          <a:stretch>
                            <a:fillRect l="-662" t="-209836" r="-101987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4"/>
                          <a:stretch>
                            <a:fillRect l="-662" t="-309836" r="-101987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33095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0BD3FB-A751-48B9-9C2B-3EA58460266C}"/>
                  </a:ext>
                </a:extLst>
              </p:cNvPr>
              <p:cNvSpPr txBox="1"/>
              <p:nvPr/>
            </p:nvSpPr>
            <p:spPr>
              <a:xfrm>
                <a:off x="4410994" y="2711302"/>
                <a:ext cx="11288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nl-NL" sz="2800" i="1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0BD3FB-A751-48B9-9C2B-3EA584602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994" y="2711302"/>
                <a:ext cx="112882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3">
                <a:extLst>
                  <a:ext uri="{FF2B5EF4-FFF2-40B4-BE49-F238E27FC236}">
                    <a16:creationId xmlns:a16="http://schemas.microsoft.com/office/drawing/2014/main" id="{D880172C-05B1-4E42-B14F-4AA67BCEA05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44990" y="3205598"/>
              <a:ext cx="1827618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91436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3">
                <a:extLst>
                  <a:ext uri="{FF2B5EF4-FFF2-40B4-BE49-F238E27FC236}">
                    <a16:creationId xmlns:a16="http://schemas.microsoft.com/office/drawing/2014/main" id="{D880172C-05B1-4E42-B14F-4AA67BCEA0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1597742"/>
                  </p:ext>
                </p:extLst>
              </p:nvPr>
            </p:nvGraphicFramePr>
            <p:xfrm>
              <a:off x="7344990" y="3205598"/>
              <a:ext cx="1827618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6"/>
                          <a:stretch>
                            <a:fillRect l="-662" t="-109836" r="-101987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91436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8689362-D4F1-483F-80E9-5276BC892433}"/>
                  </a:ext>
                </a:extLst>
              </p:cNvPr>
              <p:cNvSpPr txBox="1"/>
              <p:nvPr/>
            </p:nvSpPr>
            <p:spPr>
              <a:xfrm>
                <a:off x="7694387" y="2741113"/>
                <a:ext cx="11288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nl-NL" sz="2800" i="1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8689362-D4F1-483F-80E9-5276BC892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387" y="2741113"/>
                <a:ext cx="112882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3">
                <a:extLst>
                  <a:ext uri="{FF2B5EF4-FFF2-40B4-BE49-F238E27FC236}">
                    <a16:creationId xmlns:a16="http://schemas.microsoft.com/office/drawing/2014/main" id="{BC49A718-E0E8-4C15-AD25-70BC2E38B94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40413" y="3175787"/>
              <a:ext cx="182761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3">
                <a:extLst>
                  <a:ext uri="{FF2B5EF4-FFF2-40B4-BE49-F238E27FC236}">
                    <a16:creationId xmlns:a16="http://schemas.microsoft.com/office/drawing/2014/main" id="{BC49A718-E0E8-4C15-AD25-70BC2E38B9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2533896"/>
                  </p:ext>
                </p:extLst>
              </p:nvPr>
            </p:nvGraphicFramePr>
            <p:xfrm>
              <a:off x="1640413" y="3175787"/>
              <a:ext cx="182761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8"/>
                          <a:stretch>
                            <a:fillRect l="-667" t="-106452" r="-103333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8"/>
                          <a:stretch>
                            <a:fillRect l="-667" t="-209836" r="-10333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EDBFC5-9010-181A-9840-9BD53A078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FD138-ED6E-D83F-6357-6F0C93A63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39145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Difference 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1705"/>
                <a:ext cx="10515600" cy="757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1705"/>
                <a:ext cx="10515600" cy="757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A9C3EF-BA83-42C4-9F87-4A835E8CA839}"/>
                  </a:ext>
                </a:extLst>
              </p:cNvPr>
              <p:cNvSpPr txBox="1"/>
              <p:nvPr/>
            </p:nvSpPr>
            <p:spPr>
              <a:xfrm>
                <a:off x="2116380" y="2711302"/>
                <a:ext cx="11288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nl-NL" sz="2800" i="1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A9C3EF-BA83-42C4-9F87-4A835E8CA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380" y="2711302"/>
                <a:ext cx="112882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3">
                <a:extLst>
                  <a:ext uri="{FF2B5EF4-FFF2-40B4-BE49-F238E27FC236}">
                    <a16:creationId xmlns:a16="http://schemas.microsoft.com/office/drawing/2014/main" id="{639EFB21-ADDD-461B-A452-5A4609BDD5C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43607" y="3175787"/>
              <a:ext cx="1827618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 i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33095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3">
                <a:extLst>
                  <a:ext uri="{FF2B5EF4-FFF2-40B4-BE49-F238E27FC236}">
                    <a16:creationId xmlns:a16="http://schemas.microsoft.com/office/drawing/2014/main" id="{639EFB21-ADDD-461B-A452-5A4609BDD5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8211531"/>
                  </p:ext>
                </p:extLst>
              </p:nvPr>
            </p:nvGraphicFramePr>
            <p:xfrm>
              <a:off x="4343607" y="3175787"/>
              <a:ext cx="1827618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4"/>
                          <a:stretch>
                            <a:fillRect l="-662" t="-106452" r="-101987" b="-2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4"/>
                          <a:stretch>
                            <a:fillRect l="-662" t="-209836" r="-101987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4"/>
                          <a:stretch>
                            <a:fillRect l="-662" t="-309836" r="-101987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33095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0BD3FB-A751-48B9-9C2B-3EA58460266C}"/>
                  </a:ext>
                </a:extLst>
              </p:cNvPr>
              <p:cNvSpPr txBox="1"/>
              <p:nvPr/>
            </p:nvSpPr>
            <p:spPr>
              <a:xfrm>
                <a:off x="4693004" y="2711302"/>
                <a:ext cx="11288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nl-NL" sz="2800" i="1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0BD3FB-A751-48B9-9C2B-3EA584602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3004" y="2711302"/>
                <a:ext cx="112882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3">
                <a:extLst>
                  <a:ext uri="{FF2B5EF4-FFF2-40B4-BE49-F238E27FC236}">
                    <a16:creationId xmlns:a16="http://schemas.microsoft.com/office/drawing/2014/main" id="{D880172C-05B1-4E42-B14F-4AA67BCEA05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7000" y="3205598"/>
              <a:ext cx="1827618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91436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3">
                <a:extLst>
                  <a:ext uri="{FF2B5EF4-FFF2-40B4-BE49-F238E27FC236}">
                    <a16:creationId xmlns:a16="http://schemas.microsoft.com/office/drawing/2014/main" id="{D880172C-05B1-4E42-B14F-4AA67BCEA0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1547176"/>
                  </p:ext>
                </p:extLst>
              </p:nvPr>
            </p:nvGraphicFramePr>
            <p:xfrm>
              <a:off x="7627000" y="3205598"/>
              <a:ext cx="1827618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6"/>
                          <a:stretch>
                            <a:fillRect l="-667" t="-109836" r="-10333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91436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8689362-D4F1-483F-80E9-5276BC892433}"/>
                  </a:ext>
                </a:extLst>
              </p:cNvPr>
              <p:cNvSpPr txBox="1"/>
              <p:nvPr/>
            </p:nvSpPr>
            <p:spPr>
              <a:xfrm>
                <a:off x="7976397" y="2741113"/>
                <a:ext cx="11288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nl-NL" sz="2800" i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8689362-D4F1-483F-80E9-5276BC892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6397" y="2741113"/>
                <a:ext cx="112882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3">
                <a:extLst>
                  <a:ext uri="{FF2B5EF4-FFF2-40B4-BE49-F238E27FC236}">
                    <a16:creationId xmlns:a16="http://schemas.microsoft.com/office/drawing/2014/main" id="{BC49A718-E0E8-4C15-AD25-70BC2E38B94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22423" y="3175787"/>
              <a:ext cx="182761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3">
                <a:extLst>
                  <a:ext uri="{FF2B5EF4-FFF2-40B4-BE49-F238E27FC236}">
                    <a16:creationId xmlns:a16="http://schemas.microsoft.com/office/drawing/2014/main" id="{BC49A718-E0E8-4C15-AD25-70BC2E38B9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740474"/>
                  </p:ext>
                </p:extLst>
              </p:nvPr>
            </p:nvGraphicFramePr>
            <p:xfrm>
              <a:off x="1922423" y="3175787"/>
              <a:ext cx="182761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8"/>
                          <a:stretch>
                            <a:fillRect l="-662" t="-106452" r="-101987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8"/>
                          <a:stretch>
                            <a:fillRect l="-662" t="-209836" r="-101987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E547A94-C4DC-8F4A-AA4A-A6DF50A6C14F}"/>
                  </a:ext>
                </a:extLst>
              </p:cNvPr>
              <p:cNvSpPr txBox="1"/>
              <p:nvPr/>
            </p:nvSpPr>
            <p:spPr>
              <a:xfrm>
                <a:off x="1143000" y="5188837"/>
                <a:ext cx="105156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Can you find an expression that is equivalent to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nl-NL" sz="2800" i="1" dirty="0"/>
                  <a:t> </a:t>
                </a:r>
                <a:r>
                  <a:rPr lang="nl-NL" sz="2800" dirty="0" err="1"/>
                  <a:t>using</a:t>
                </a:r>
                <a:r>
                  <a:rPr lang="nl-NL" sz="2800" dirty="0"/>
                  <a:t> </a:t>
                </a:r>
                <a:r>
                  <a:rPr lang="nl-NL" sz="2800" dirty="0" err="1"/>
                  <a:t>the</a:t>
                </a:r>
                <a:r>
                  <a:rPr lang="nl-NL" sz="2800" dirty="0"/>
                  <a:t> operators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nl-NL" sz="2800" dirty="0"/>
                  <a:t> </a:t>
                </a:r>
                <a:r>
                  <a:rPr lang="nl-NL" sz="2800" dirty="0" err="1"/>
                  <a:t>and</a:t>
                </a:r>
                <a:r>
                  <a:rPr lang="nl-NL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nl-NL" sz="2800" dirty="0"/>
                  <a:t>?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E547A94-C4DC-8F4A-AA4A-A6DF50A6C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5188837"/>
                <a:ext cx="10515600" cy="954107"/>
              </a:xfrm>
              <a:prstGeom prst="rect">
                <a:avLst/>
              </a:prstGeom>
              <a:blipFill>
                <a:blip r:embed="rId9"/>
                <a:stretch>
                  <a:fillRect l="-1206" t="-6579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CEC68-7546-F58D-9692-A6CF4B4C5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CB9EB-98BA-CE7A-71AC-A782A0523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5918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Selection  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39164" y="2551514"/>
                <a:ext cx="2901477" cy="757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∧(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&gt;5)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39164" y="2551514"/>
                <a:ext cx="2901477" cy="757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A9C3EF-BA83-42C4-9F87-4A835E8CA839}"/>
                  </a:ext>
                </a:extLst>
              </p:cNvPr>
              <p:cNvSpPr txBox="1"/>
              <p:nvPr/>
            </p:nvSpPr>
            <p:spPr>
              <a:xfrm>
                <a:off x="1926499" y="2668573"/>
                <a:ext cx="11288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nl-NL" sz="2800" i="1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A9C3EF-BA83-42C4-9F87-4A835E8CA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499" y="2668573"/>
                <a:ext cx="112882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3">
                <a:extLst>
                  <a:ext uri="{FF2B5EF4-FFF2-40B4-BE49-F238E27FC236}">
                    <a16:creationId xmlns:a16="http://schemas.microsoft.com/office/drawing/2014/main" id="{BC49A718-E0E8-4C15-AD25-70BC2E38B94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36211" y="3175787"/>
              <a:ext cx="27094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350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677350">
                      <a:extLst>
                        <a:ext uri="{9D8B030D-6E8A-4147-A177-3AD203B41FA5}">
                          <a16:colId xmlns:a16="http://schemas.microsoft.com/office/drawing/2014/main" val="2558356033"/>
                        </a:ext>
                      </a:extLst>
                    </a:gridCol>
                    <a:gridCol w="677350">
                      <a:extLst>
                        <a:ext uri="{9D8B030D-6E8A-4147-A177-3AD203B41FA5}">
                          <a16:colId xmlns:a16="http://schemas.microsoft.com/office/drawing/2014/main" val="2966212261"/>
                        </a:ext>
                      </a:extLst>
                    </a:gridCol>
                    <a:gridCol w="677350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C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D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5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12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7268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23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10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8503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3">
                <a:extLst>
                  <a:ext uri="{FF2B5EF4-FFF2-40B4-BE49-F238E27FC236}">
                    <a16:creationId xmlns:a16="http://schemas.microsoft.com/office/drawing/2014/main" id="{BC49A718-E0E8-4C15-AD25-70BC2E38B9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9043221"/>
                  </p:ext>
                </p:extLst>
              </p:nvPr>
            </p:nvGraphicFramePr>
            <p:xfrm>
              <a:off x="1136211" y="3175787"/>
              <a:ext cx="27094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350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677350">
                      <a:extLst>
                        <a:ext uri="{9D8B030D-6E8A-4147-A177-3AD203B41FA5}">
                          <a16:colId xmlns:a16="http://schemas.microsoft.com/office/drawing/2014/main" val="2558356033"/>
                        </a:ext>
                      </a:extLst>
                    </a:gridCol>
                    <a:gridCol w="677350">
                      <a:extLst>
                        <a:ext uri="{9D8B030D-6E8A-4147-A177-3AD203B41FA5}">
                          <a16:colId xmlns:a16="http://schemas.microsoft.com/office/drawing/2014/main" val="2966212261"/>
                        </a:ext>
                      </a:extLst>
                    </a:gridCol>
                    <a:gridCol w="677350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4"/>
                          <a:stretch>
                            <a:fillRect l="-901" t="-108197" r="-305405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08197" r="-20267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4"/>
                          <a:stretch>
                            <a:fillRect l="-901" t="-204839" r="-305405" b="-2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204839" r="-202679" b="-2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4"/>
                          <a:stretch>
                            <a:fillRect l="-901" t="-309836" r="-305405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309836" r="-202679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7268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4"/>
                          <a:stretch>
                            <a:fillRect l="-901" t="-409836" r="-305405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409836" r="-202679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23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85039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3">
                <a:extLst>
                  <a:ext uri="{FF2B5EF4-FFF2-40B4-BE49-F238E27FC236}">
                    <a16:creationId xmlns:a16="http://schemas.microsoft.com/office/drawing/2014/main" id="{F37BBD4D-56D6-44F0-8F71-85BB3A6FB6D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235203" y="3175787"/>
              <a:ext cx="27094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350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677350">
                      <a:extLst>
                        <a:ext uri="{9D8B030D-6E8A-4147-A177-3AD203B41FA5}">
                          <a16:colId xmlns:a16="http://schemas.microsoft.com/office/drawing/2014/main" val="2558356033"/>
                        </a:ext>
                      </a:extLst>
                    </a:gridCol>
                    <a:gridCol w="677350">
                      <a:extLst>
                        <a:ext uri="{9D8B030D-6E8A-4147-A177-3AD203B41FA5}">
                          <a16:colId xmlns:a16="http://schemas.microsoft.com/office/drawing/2014/main" val="2966212261"/>
                        </a:ext>
                      </a:extLst>
                    </a:gridCol>
                    <a:gridCol w="677350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C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D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23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10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3">
                <a:extLst>
                  <a:ext uri="{FF2B5EF4-FFF2-40B4-BE49-F238E27FC236}">
                    <a16:creationId xmlns:a16="http://schemas.microsoft.com/office/drawing/2014/main" id="{F37BBD4D-56D6-44F0-8F71-85BB3A6FB6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246066"/>
                  </p:ext>
                </p:extLst>
              </p:nvPr>
            </p:nvGraphicFramePr>
            <p:xfrm>
              <a:off x="6235203" y="3175787"/>
              <a:ext cx="27094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350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677350">
                      <a:extLst>
                        <a:ext uri="{9D8B030D-6E8A-4147-A177-3AD203B41FA5}">
                          <a16:colId xmlns:a16="http://schemas.microsoft.com/office/drawing/2014/main" val="2558356033"/>
                        </a:ext>
                      </a:extLst>
                    </a:gridCol>
                    <a:gridCol w="677350">
                      <a:extLst>
                        <a:ext uri="{9D8B030D-6E8A-4147-A177-3AD203B41FA5}">
                          <a16:colId xmlns:a16="http://schemas.microsoft.com/office/drawing/2014/main" val="2966212261"/>
                        </a:ext>
                      </a:extLst>
                    </a:gridCol>
                    <a:gridCol w="677350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893" t="-106452" r="-301786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101802" t="-106452" r="-204505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893" t="-209836" r="-301786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101802" t="-209836" r="-204505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23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4D952F-0884-1B58-2687-66394A3C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4A1DD-D9F2-6E85-40EA-A17AD09FF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67645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Projection  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9048" y="2517330"/>
                <a:ext cx="2543086" cy="757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9048" y="2517330"/>
                <a:ext cx="2543086" cy="757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A9C3EF-BA83-42C4-9F87-4A835E8CA839}"/>
                  </a:ext>
                </a:extLst>
              </p:cNvPr>
              <p:cNvSpPr txBox="1"/>
              <p:nvPr/>
            </p:nvSpPr>
            <p:spPr>
              <a:xfrm>
                <a:off x="2550344" y="2634389"/>
                <a:ext cx="11288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nl-NL" sz="2800" i="1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A9C3EF-BA83-42C4-9F87-4A835E8CA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0344" y="2634389"/>
                <a:ext cx="112882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3">
                <a:extLst>
                  <a:ext uri="{FF2B5EF4-FFF2-40B4-BE49-F238E27FC236}">
                    <a16:creationId xmlns:a16="http://schemas.microsoft.com/office/drawing/2014/main" id="{BC49A718-E0E8-4C15-AD25-70BC2E38B94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60056" y="3141603"/>
              <a:ext cx="27094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350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677350">
                      <a:extLst>
                        <a:ext uri="{9D8B030D-6E8A-4147-A177-3AD203B41FA5}">
                          <a16:colId xmlns:a16="http://schemas.microsoft.com/office/drawing/2014/main" val="2558356033"/>
                        </a:ext>
                      </a:extLst>
                    </a:gridCol>
                    <a:gridCol w="677350">
                      <a:extLst>
                        <a:ext uri="{9D8B030D-6E8A-4147-A177-3AD203B41FA5}">
                          <a16:colId xmlns:a16="http://schemas.microsoft.com/office/drawing/2014/main" val="2966212261"/>
                        </a:ext>
                      </a:extLst>
                    </a:gridCol>
                    <a:gridCol w="677350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C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D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5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12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7268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23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10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8503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3">
                <a:extLst>
                  <a:ext uri="{FF2B5EF4-FFF2-40B4-BE49-F238E27FC236}">
                    <a16:creationId xmlns:a16="http://schemas.microsoft.com/office/drawing/2014/main" id="{BC49A718-E0E8-4C15-AD25-70BC2E38B94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60056" y="3141603"/>
              <a:ext cx="27094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350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677350">
                      <a:extLst>
                        <a:ext uri="{9D8B030D-6E8A-4147-A177-3AD203B41FA5}">
                          <a16:colId xmlns:a16="http://schemas.microsoft.com/office/drawing/2014/main" val="2558356033"/>
                        </a:ext>
                      </a:extLst>
                    </a:gridCol>
                    <a:gridCol w="677350">
                      <a:extLst>
                        <a:ext uri="{9D8B030D-6E8A-4147-A177-3AD203B41FA5}">
                          <a16:colId xmlns:a16="http://schemas.microsoft.com/office/drawing/2014/main" val="2966212261"/>
                        </a:ext>
                      </a:extLst>
                    </a:gridCol>
                    <a:gridCol w="677350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4"/>
                          <a:stretch>
                            <a:fillRect l="-893" t="-108197" r="-301786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4"/>
                          <a:stretch>
                            <a:fillRect l="-101802" t="-108197" r="-204505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4"/>
                          <a:stretch>
                            <a:fillRect l="-893" t="-208197" r="-301786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4"/>
                          <a:stretch>
                            <a:fillRect l="-101802" t="-208197" r="-204505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4"/>
                          <a:stretch>
                            <a:fillRect l="-893" t="-308197" r="-301786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4"/>
                          <a:stretch>
                            <a:fillRect l="-101802" t="-308197" r="-204505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7268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4"/>
                          <a:stretch>
                            <a:fillRect l="-893" t="-408197" r="-301786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4"/>
                          <a:stretch>
                            <a:fillRect l="-101802" t="-408197" r="-204505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23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85039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3">
                <a:extLst>
                  <a:ext uri="{FF2B5EF4-FFF2-40B4-BE49-F238E27FC236}">
                    <a16:creationId xmlns:a16="http://schemas.microsoft.com/office/drawing/2014/main" id="{8EED6C20-CD4C-445C-8A86-AF8978216D1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453241" y="3141603"/>
              <a:ext cx="13547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350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677350">
                      <a:extLst>
                        <a:ext uri="{9D8B030D-6E8A-4147-A177-3AD203B41FA5}">
                          <a16:colId xmlns:a16="http://schemas.microsoft.com/office/drawing/2014/main" val="296621226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C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5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12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7268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23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8503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3">
                <a:extLst>
                  <a:ext uri="{FF2B5EF4-FFF2-40B4-BE49-F238E27FC236}">
                    <a16:creationId xmlns:a16="http://schemas.microsoft.com/office/drawing/2014/main" id="{8EED6C20-CD4C-445C-8A86-AF8978216D1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453241" y="3141603"/>
              <a:ext cx="13547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350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677350">
                      <a:extLst>
                        <a:ext uri="{9D8B030D-6E8A-4147-A177-3AD203B41FA5}">
                          <a16:colId xmlns:a16="http://schemas.microsoft.com/office/drawing/2014/main" val="296621226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893" t="-108197" r="-103571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893" t="-208197" r="-103571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893" t="-308197" r="-103571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7268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893" t="-408197" r="-103571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85039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1DCDC5-0364-8210-F744-5BFA1737D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41CC0-F8B8-468A-A56F-9DAF6777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0447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Join 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DB1FA9-E983-4B1F-A3ED-1B02562B9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1705"/>
            <a:ext cx="10515600" cy="757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Cartesian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A9C3EF-BA83-42C4-9F87-4A835E8CA839}"/>
                  </a:ext>
                </a:extLst>
              </p:cNvPr>
              <p:cNvSpPr txBox="1"/>
              <p:nvPr/>
            </p:nvSpPr>
            <p:spPr>
              <a:xfrm>
                <a:off x="1834370" y="2711302"/>
                <a:ext cx="11288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nl-NL" sz="2800" i="1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A9C3EF-BA83-42C4-9F87-4A835E8CA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370" y="2711302"/>
                <a:ext cx="112882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3">
                <a:extLst>
                  <a:ext uri="{FF2B5EF4-FFF2-40B4-BE49-F238E27FC236}">
                    <a16:creationId xmlns:a16="http://schemas.microsoft.com/office/drawing/2014/main" id="{639EFB21-ADDD-461B-A452-5A4609BDD5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111429"/>
                  </p:ext>
                </p:extLst>
              </p:nvPr>
            </p:nvGraphicFramePr>
            <p:xfrm>
              <a:off x="4061597" y="3175787"/>
              <a:ext cx="1827618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33095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3">
                <a:extLst>
                  <a:ext uri="{FF2B5EF4-FFF2-40B4-BE49-F238E27FC236}">
                    <a16:creationId xmlns:a16="http://schemas.microsoft.com/office/drawing/2014/main" id="{639EFB21-ADDD-461B-A452-5A4609BDD5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111429"/>
                  </p:ext>
                </p:extLst>
              </p:nvPr>
            </p:nvGraphicFramePr>
            <p:xfrm>
              <a:off x="4061597" y="3175787"/>
              <a:ext cx="1827618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3"/>
                          <a:stretch>
                            <a:fillRect t="-103333" r="-102740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3"/>
                          <a:stretch>
                            <a:fillRect t="-210345" r="-102740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3"/>
                          <a:stretch>
                            <a:fillRect t="-310345" r="-102740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33095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0BD3FB-A751-48B9-9C2B-3EA58460266C}"/>
                  </a:ext>
                </a:extLst>
              </p:cNvPr>
              <p:cNvSpPr txBox="1"/>
              <p:nvPr/>
            </p:nvSpPr>
            <p:spPr>
              <a:xfrm>
                <a:off x="4410994" y="2711302"/>
                <a:ext cx="11288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nl-NL" sz="2800" i="1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0BD3FB-A751-48B9-9C2B-3EA584602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994" y="2711302"/>
                <a:ext cx="112882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3">
                <a:extLst>
                  <a:ext uri="{FF2B5EF4-FFF2-40B4-BE49-F238E27FC236}">
                    <a16:creationId xmlns:a16="http://schemas.microsoft.com/office/drawing/2014/main" id="{D880172C-05B1-4E42-B14F-4AA67BCEA0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1702170"/>
                  </p:ext>
                </p:extLst>
              </p:nvPr>
            </p:nvGraphicFramePr>
            <p:xfrm>
              <a:off x="7344990" y="3205598"/>
              <a:ext cx="3012640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3160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1736428312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1870172461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 i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9143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35174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116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 i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49556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14706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54460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3">
                <a:extLst>
                  <a:ext uri="{FF2B5EF4-FFF2-40B4-BE49-F238E27FC236}">
                    <a16:creationId xmlns:a16="http://schemas.microsoft.com/office/drawing/2014/main" id="{D880172C-05B1-4E42-B14F-4AA67BCEA0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1702170"/>
                  </p:ext>
                </p:extLst>
              </p:nvPr>
            </p:nvGraphicFramePr>
            <p:xfrm>
              <a:off x="7344990" y="3205598"/>
              <a:ext cx="3012640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3160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1736428312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1870172461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5"/>
                          <a:stretch>
                            <a:fillRect l="-1667" t="-103333" r="-300000" b="-5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103333" r="-101667" b="-5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9143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5"/>
                          <a:stretch>
                            <a:fillRect l="-1667" t="-210345" r="-300000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210345" r="-101667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35174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5"/>
                          <a:stretch>
                            <a:fillRect l="-1667" t="-310345" r="-300000" b="-3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310345" r="-101667" b="-3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116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5"/>
                          <a:stretch>
                            <a:fillRect l="-1667" t="-410345" r="-300000" b="-2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410345" r="-101667" b="-2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49556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5"/>
                          <a:stretch>
                            <a:fillRect l="-1667" t="-493333" r="-300000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493333" r="-101667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14706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5"/>
                          <a:stretch>
                            <a:fillRect l="-1667" t="-613793" r="-300000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613793" r="-101667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54460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8689362-D4F1-483F-80E9-5276BC892433}"/>
                  </a:ext>
                </a:extLst>
              </p:cNvPr>
              <p:cNvSpPr txBox="1"/>
              <p:nvPr/>
            </p:nvSpPr>
            <p:spPr>
              <a:xfrm>
                <a:off x="8286898" y="2711302"/>
                <a:ext cx="11288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nl-NL" sz="2800" i="1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8689362-D4F1-483F-80E9-5276BC892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6898" y="2711302"/>
                <a:ext cx="112882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3">
                <a:extLst>
                  <a:ext uri="{FF2B5EF4-FFF2-40B4-BE49-F238E27FC236}">
                    <a16:creationId xmlns:a16="http://schemas.microsoft.com/office/drawing/2014/main" id="{BC49A718-E0E8-4C15-AD25-70BC2E38B94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40413" y="3175787"/>
              <a:ext cx="182761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3">
                <a:extLst>
                  <a:ext uri="{FF2B5EF4-FFF2-40B4-BE49-F238E27FC236}">
                    <a16:creationId xmlns:a16="http://schemas.microsoft.com/office/drawing/2014/main" id="{BC49A718-E0E8-4C15-AD25-70BC2E38B94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40413" y="3175787"/>
              <a:ext cx="182761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7"/>
                          <a:stretch>
                            <a:fillRect l="-667" t="-106452" r="-103333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7"/>
                          <a:stretch>
                            <a:fillRect l="-667" t="-209836" r="-10333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0B12DB-1C04-033F-367D-A343AF9ED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48A16-8409-0533-8A90-6ADFB6EB4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39239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Join 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DB1FA9-E983-4B1F-A3ED-1B02562B9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1705"/>
            <a:ext cx="10515600" cy="757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Cartesian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A9C3EF-BA83-42C4-9F87-4A835E8CA839}"/>
                  </a:ext>
                </a:extLst>
              </p:cNvPr>
              <p:cNvSpPr txBox="1"/>
              <p:nvPr/>
            </p:nvSpPr>
            <p:spPr>
              <a:xfrm>
                <a:off x="1834370" y="2711302"/>
                <a:ext cx="11288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nl-NL" sz="2800" i="1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A9C3EF-BA83-42C4-9F87-4A835E8CA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370" y="2711302"/>
                <a:ext cx="112882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3">
                <a:extLst>
                  <a:ext uri="{FF2B5EF4-FFF2-40B4-BE49-F238E27FC236}">
                    <a16:creationId xmlns:a16="http://schemas.microsoft.com/office/drawing/2014/main" id="{639EFB21-ADDD-461B-A452-5A4609BDD5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8294858"/>
                  </p:ext>
                </p:extLst>
              </p:nvPr>
            </p:nvGraphicFramePr>
            <p:xfrm>
              <a:off x="4061597" y="3175787"/>
              <a:ext cx="1827618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33095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3">
                <a:extLst>
                  <a:ext uri="{FF2B5EF4-FFF2-40B4-BE49-F238E27FC236}">
                    <a16:creationId xmlns:a16="http://schemas.microsoft.com/office/drawing/2014/main" id="{639EFB21-ADDD-461B-A452-5A4609BDD5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8294858"/>
                  </p:ext>
                </p:extLst>
              </p:nvPr>
            </p:nvGraphicFramePr>
            <p:xfrm>
              <a:off x="4061597" y="3175787"/>
              <a:ext cx="1827618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3"/>
                          <a:stretch>
                            <a:fillRect t="-103333" r="-102740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3"/>
                          <a:stretch>
                            <a:fillRect t="-210345" r="-102740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3"/>
                          <a:stretch>
                            <a:fillRect t="-310345" r="-102740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33095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0BD3FB-A751-48B9-9C2B-3EA58460266C}"/>
                  </a:ext>
                </a:extLst>
              </p:cNvPr>
              <p:cNvSpPr txBox="1"/>
              <p:nvPr/>
            </p:nvSpPr>
            <p:spPr>
              <a:xfrm>
                <a:off x="4410994" y="2711302"/>
                <a:ext cx="11288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nl-NL" sz="2800" i="1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0BD3FB-A751-48B9-9C2B-3EA584602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994" y="2711302"/>
                <a:ext cx="112882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3">
                <a:extLst>
                  <a:ext uri="{FF2B5EF4-FFF2-40B4-BE49-F238E27FC236}">
                    <a16:creationId xmlns:a16="http://schemas.microsoft.com/office/drawing/2014/main" id="{D880172C-05B1-4E42-B14F-4AA67BCEA0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4523857"/>
                  </p:ext>
                </p:extLst>
              </p:nvPr>
            </p:nvGraphicFramePr>
            <p:xfrm>
              <a:off x="7344990" y="3205598"/>
              <a:ext cx="3012640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3160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1736428312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1870172461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r.A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s.A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 i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9143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35174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116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 i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49556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14706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54460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3">
                <a:extLst>
                  <a:ext uri="{FF2B5EF4-FFF2-40B4-BE49-F238E27FC236}">
                    <a16:creationId xmlns:a16="http://schemas.microsoft.com/office/drawing/2014/main" id="{D880172C-05B1-4E42-B14F-4AA67BCEA0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4523857"/>
                  </p:ext>
                </p:extLst>
              </p:nvPr>
            </p:nvGraphicFramePr>
            <p:xfrm>
              <a:off x="7344990" y="3205598"/>
              <a:ext cx="3012640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3160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1736428312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1870172461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r.A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s.A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5"/>
                          <a:stretch>
                            <a:fillRect l="-1667" t="-103333" r="-300000" b="-5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103333" r="-101667" b="-5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9143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5"/>
                          <a:stretch>
                            <a:fillRect l="-1667" t="-210345" r="-300000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210345" r="-101667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35174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5"/>
                          <a:stretch>
                            <a:fillRect l="-1667" t="-310345" r="-300000" b="-3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310345" r="-101667" b="-3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116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5"/>
                          <a:stretch>
                            <a:fillRect l="-1667" t="-410345" r="-300000" b="-2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410345" r="-101667" b="-2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49556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5"/>
                          <a:stretch>
                            <a:fillRect l="-1667" t="-493333" r="-300000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493333" r="-101667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14706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5"/>
                          <a:stretch>
                            <a:fillRect l="-1667" t="-613793" r="-300000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613793" r="-101667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54460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8689362-D4F1-483F-80E9-5276BC892433}"/>
                  </a:ext>
                </a:extLst>
              </p:cNvPr>
              <p:cNvSpPr txBox="1"/>
              <p:nvPr/>
            </p:nvSpPr>
            <p:spPr>
              <a:xfrm>
                <a:off x="8286898" y="2711302"/>
                <a:ext cx="11288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nl-NL" sz="2800" i="1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8689362-D4F1-483F-80E9-5276BC892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6898" y="2711302"/>
                <a:ext cx="112882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3">
                <a:extLst>
                  <a:ext uri="{FF2B5EF4-FFF2-40B4-BE49-F238E27FC236}">
                    <a16:creationId xmlns:a16="http://schemas.microsoft.com/office/drawing/2014/main" id="{BC49A718-E0E8-4C15-AD25-70BC2E38B94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40413" y="3175787"/>
              <a:ext cx="182761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3">
                <a:extLst>
                  <a:ext uri="{FF2B5EF4-FFF2-40B4-BE49-F238E27FC236}">
                    <a16:creationId xmlns:a16="http://schemas.microsoft.com/office/drawing/2014/main" id="{BC49A718-E0E8-4C15-AD25-70BC2E38B94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40413" y="3175787"/>
              <a:ext cx="182761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7"/>
                          <a:stretch>
                            <a:fillRect l="-1370" t="-103333" r="-101370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7"/>
                          <a:stretch>
                            <a:fillRect l="-1370" t="-210345" r="-101370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D8C57F-2EDB-5899-3726-659D77159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B1D97-6581-89BB-739F-4AB1A9E2B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9301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Rename 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1705"/>
                <a:ext cx="8834610" cy="757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0" dirty="0"/>
                  <a:t>Rename operation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returns the output of the expression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under the name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1705"/>
                <a:ext cx="8834610" cy="757338"/>
              </a:xfrm>
              <a:blipFill>
                <a:blip r:embed="rId2"/>
                <a:stretch>
                  <a:fillRect l="-1293" t="-16667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A9C3EF-BA83-42C4-9F87-4A835E8CA839}"/>
                  </a:ext>
                </a:extLst>
              </p:cNvPr>
              <p:cNvSpPr txBox="1"/>
              <p:nvPr/>
            </p:nvSpPr>
            <p:spPr>
              <a:xfrm>
                <a:off x="1539225" y="2627886"/>
                <a:ext cx="11288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nl-NL" sz="2800" i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A9C3EF-BA83-42C4-9F87-4A835E8CA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9225" y="2627886"/>
                <a:ext cx="112882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3">
                <a:extLst>
                  <a:ext uri="{FF2B5EF4-FFF2-40B4-BE49-F238E27FC236}">
                    <a16:creationId xmlns:a16="http://schemas.microsoft.com/office/drawing/2014/main" id="{D880172C-05B1-4E42-B14F-4AA67BCEA0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8760147"/>
                  </p:ext>
                </p:extLst>
              </p:nvPr>
            </p:nvGraphicFramePr>
            <p:xfrm>
              <a:off x="4589680" y="3056363"/>
              <a:ext cx="301264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3160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1736428312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1870172461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r.A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r.B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s.A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s.B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 i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9143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35174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 i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49556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14706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3">
                <a:extLst>
                  <a:ext uri="{FF2B5EF4-FFF2-40B4-BE49-F238E27FC236}">
                    <a16:creationId xmlns:a16="http://schemas.microsoft.com/office/drawing/2014/main" id="{D880172C-05B1-4E42-B14F-4AA67BCEA0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8760147"/>
                  </p:ext>
                </p:extLst>
              </p:nvPr>
            </p:nvGraphicFramePr>
            <p:xfrm>
              <a:off x="4589680" y="3056363"/>
              <a:ext cx="301264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3160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1736428312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1870172461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r.A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r.B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s.A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s.B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103333" r="-300000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03333" r="-101667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9143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210345" r="-300000" b="-2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210345" r="-101667" b="-2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35174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300000" r="-300000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300000" r="-101667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49556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413793" r="-300000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413793" r="-101667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147064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8689362-D4F1-483F-80E9-5276BC892433}"/>
                  </a:ext>
                </a:extLst>
              </p:cNvPr>
              <p:cNvSpPr txBox="1"/>
              <p:nvPr/>
            </p:nvSpPr>
            <p:spPr>
              <a:xfrm>
                <a:off x="5209702" y="2539297"/>
                <a:ext cx="177259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nl-NL" sz="2800" i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8689362-D4F1-483F-80E9-5276BC892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9702" y="2539297"/>
                <a:ext cx="1772595" cy="523220"/>
              </a:xfrm>
              <a:prstGeom prst="rect">
                <a:avLst/>
              </a:prstGeom>
              <a:blipFill>
                <a:blip r:embed="rId5"/>
                <a:stretch>
                  <a:fillRect b="-19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3">
                <a:extLst>
                  <a:ext uri="{FF2B5EF4-FFF2-40B4-BE49-F238E27FC236}">
                    <a16:creationId xmlns:a16="http://schemas.microsoft.com/office/drawing/2014/main" id="{BC49A718-E0E8-4C15-AD25-70BC2E38B9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1037903"/>
                  </p:ext>
                </p:extLst>
              </p:nvPr>
            </p:nvGraphicFramePr>
            <p:xfrm>
              <a:off x="1345268" y="3092371"/>
              <a:ext cx="182761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3">
                <a:extLst>
                  <a:ext uri="{FF2B5EF4-FFF2-40B4-BE49-F238E27FC236}">
                    <a16:creationId xmlns:a16="http://schemas.microsoft.com/office/drawing/2014/main" id="{BC49A718-E0E8-4C15-AD25-70BC2E38B9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1037903"/>
                  </p:ext>
                </p:extLst>
              </p:nvPr>
            </p:nvGraphicFramePr>
            <p:xfrm>
              <a:off x="1345268" y="3092371"/>
              <a:ext cx="182761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6"/>
                          <a:stretch>
                            <a:fillRect t="-110345" r="-102740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6"/>
                          <a:stretch>
                            <a:fillRect t="-203333" r="-102740" b="-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50456C-4EE8-F59B-75CD-A5EB1F358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B3ACF-BFCC-E477-C2A1-FAD25F7AA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82741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Natural Join 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C45A49BA-F1EE-4748-AA1D-3967F9097D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2562" y="1367327"/>
                <a:ext cx="10515600" cy="49907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be relations on schemas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respectively.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Natural join of relations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relation on schema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obtained as follows: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Consider each pair of tuples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. 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 have the same value on each of the attributes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add a tuple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 to the result, where</a:t>
                </a:r>
              </a:p>
              <a:p>
                <a:pPr lvl="2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200" dirty="0"/>
                  <a:t> has the same value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200" dirty="0"/>
                  <a:t>  on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200" dirty="0"/>
              </a:p>
              <a:p>
                <a:pPr lvl="2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200" dirty="0"/>
                  <a:t> has the same value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200" dirty="0"/>
                  <a:t>  on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C45A49BA-F1EE-4748-AA1D-3967F9097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562" y="1367327"/>
                <a:ext cx="10515600" cy="4990744"/>
              </a:xfrm>
              <a:prstGeom prst="rect">
                <a:avLst/>
              </a:prstGeom>
              <a:blipFill>
                <a:blip r:embed="rId2"/>
                <a:stretch>
                  <a:fillRect l="-965" t="-1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5762A6-77FE-BF90-7F6F-6BB34211D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C3342-DFAB-A963-CC9E-0A55E5E71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1234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Natural Join – Example 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A9C3EF-BA83-42C4-9F87-4A835E8CA839}"/>
                  </a:ext>
                </a:extLst>
              </p:cNvPr>
              <p:cNvSpPr txBox="1"/>
              <p:nvPr/>
            </p:nvSpPr>
            <p:spPr>
              <a:xfrm>
                <a:off x="868695" y="1651624"/>
                <a:ext cx="11288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nl-NL" sz="2800" i="1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A9C3EF-BA83-42C4-9F87-4A835E8CA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95" y="1651624"/>
                <a:ext cx="112882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3">
                <a:extLst>
                  <a:ext uri="{FF2B5EF4-FFF2-40B4-BE49-F238E27FC236}">
                    <a16:creationId xmlns:a16="http://schemas.microsoft.com/office/drawing/2014/main" id="{639EFB21-ADDD-461B-A452-5A4609BDD5C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245030" y="2365029"/>
              <a:ext cx="1827618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09206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609206">
                      <a:extLst>
                        <a:ext uri="{9D8B030D-6E8A-4147-A177-3AD203B41FA5}">
                          <a16:colId xmlns:a16="http://schemas.microsoft.com/office/drawing/2014/main" val="710967834"/>
                        </a:ext>
                      </a:extLst>
                    </a:gridCol>
                    <a:gridCol w="609206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D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E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i="0"/>
                            <a:t>1</a:t>
                          </a:r>
                          <a:endParaRPr lang="nl-NL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 i="1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3309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525177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02312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3">
                <a:extLst>
                  <a:ext uri="{FF2B5EF4-FFF2-40B4-BE49-F238E27FC236}">
                    <a16:creationId xmlns:a16="http://schemas.microsoft.com/office/drawing/2014/main" id="{639EFB21-ADDD-461B-A452-5A4609BDD5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9366748"/>
                  </p:ext>
                </p:extLst>
              </p:nvPr>
            </p:nvGraphicFramePr>
            <p:xfrm>
              <a:off x="3245030" y="2365029"/>
              <a:ext cx="1827618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09206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609206">
                      <a:extLst>
                        <a:ext uri="{9D8B030D-6E8A-4147-A177-3AD203B41FA5}">
                          <a16:colId xmlns:a16="http://schemas.microsoft.com/office/drawing/2014/main" val="710967834"/>
                        </a:ext>
                      </a:extLst>
                    </a:gridCol>
                    <a:gridCol w="609206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i="0" dirty="0"/>
                            <a:t>1</a:t>
                          </a:r>
                          <a:endParaRPr lang="nl-NL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02000" t="-108197" r="-4000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02000" t="-208197" r="-4000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02000" t="-308197" r="-4000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3309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02000" t="-408197" r="-4000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25177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02000" t="-508197" r="-4000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023126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0BD3FB-A751-48B9-9C2B-3EA58460266C}"/>
                  </a:ext>
                </a:extLst>
              </p:cNvPr>
              <p:cNvSpPr txBox="1"/>
              <p:nvPr/>
            </p:nvSpPr>
            <p:spPr>
              <a:xfrm>
                <a:off x="3594427" y="1900544"/>
                <a:ext cx="11288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nl-NL" sz="2800" i="1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0BD3FB-A751-48B9-9C2B-3EA584602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427" y="1900544"/>
                <a:ext cx="112882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3">
                <a:extLst>
                  <a:ext uri="{FF2B5EF4-FFF2-40B4-BE49-F238E27FC236}">
                    <a16:creationId xmlns:a16="http://schemas.microsoft.com/office/drawing/2014/main" id="{D880172C-05B1-4E42-B14F-4AA67BCEA05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87921" y="2365029"/>
              <a:ext cx="3012640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02528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602528">
                      <a:extLst>
                        <a:ext uri="{9D8B030D-6E8A-4147-A177-3AD203B41FA5}">
                          <a16:colId xmlns:a16="http://schemas.microsoft.com/office/drawing/2014/main" val="1736428312"/>
                        </a:ext>
                      </a:extLst>
                    </a:gridCol>
                    <a:gridCol w="602528">
                      <a:extLst>
                        <a:ext uri="{9D8B030D-6E8A-4147-A177-3AD203B41FA5}">
                          <a16:colId xmlns:a16="http://schemas.microsoft.com/office/drawing/2014/main" val="1870172461"/>
                        </a:ext>
                      </a:extLst>
                    </a:gridCol>
                    <a:gridCol w="602528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  <a:gridCol w="602528">
                      <a:extLst>
                        <a:ext uri="{9D8B030D-6E8A-4147-A177-3AD203B41FA5}">
                          <a16:colId xmlns:a16="http://schemas.microsoft.com/office/drawing/2014/main" val="1004133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C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D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E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 i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 i="1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9143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 i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35174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 i="1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116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nl-NL" i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49556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oMath>
                            </m:oMathPara>
                          </a14:m>
                          <a:endParaRPr lang="nl-NL" i="1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14706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3">
                <a:extLst>
                  <a:ext uri="{FF2B5EF4-FFF2-40B4-BE49-F238E27FC236}">
                    <a16:creationId xmlns:a16="http://schemas.microsoft.com/office/drawing/2014/main" id="{D880172C-05B1-4E42-B14F-4AA67BCEA0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5297676"/>
                  </p:ext>
                </p:extLst>
              </p:nvPr>
            </p:nvGraphicFramePr>
            <p:xfrm>
              <a:off x="6887921" y="2365029"/>
              <a:ext cx="3012640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02528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602528">
                      <a:extLst>
                        <a:ext uri="{9D8B030D-6E8A-4147-A177-3AD203B41FA5}">
                          <a16:colId xmlns:a16="http://schemas.microsoft.com/office/drawing/2014/main" val="1736428312"/>
                        </a:ext>
                      </a:extLst>
                    </a:gridCol>
                    <a:gridCol w="602528">
                      <a:extLst>
                        <a:ext uri="{9D8B030D-6E8A-4147-A177-3AD203B41FA5}">
                          <a16:colId xmlns:a16="http://schemas.microsoft.com/office/drawing/2014/main" val="1870172461"/>
                        </a:ext>
                      </a:extLst>
                    </a:gridCol>
                    <a:gridCol w="602528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  <a:gridCol w="602528">
                      <a:extLst>
                        <a:ext uri="{9D8B030D-6E8A-4147-A177-3AD203B41FA5}">
                          <a16:colId xmlns:a16="http://schemas.microsoft.com/office/drawing/2014/main" val="1004133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1010" t="-108197" r="-405051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199000" t="-108197" r="-202000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402020" t="-108197" r="-4040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9143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1010" t="-208197" r="-405051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199000" t="-208197" r="-202000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402020" t="-208197" r="-4040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35174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1010" t="-308197" r="-405051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199000" t="-308197" r="-202000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402020" t="-308197" r="-4040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116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1010" t="-408197" r="-405051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199000" t="-408197" r="-20200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402020" t="-408197" r="-4040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49556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1010" t="-508197" r="-405051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199000" t="-508197" r="-202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402020" t="-508197" r="-4040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147064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8689362-D4F1-483F-80E9-5276BC892433}"/>
                  </a:ext>
                </a:extLst>
              </p:cNvPr>
              <p:cNvSpPr txBox="1"/>
              <p:nvPr/>
            </p:nvSpPr>
            <p:spPr>
              <a:xfrm>
                <a:off x="7829829" y="1870733"/>
                <a:ext cx="11288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⋈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nl-NL" sz="2800" i="1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8689362-D4F1-483F-80E9-5276BC892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9829" y="1870733"/>
                <a:ext cx="112882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3">
                <a:extLst>
                  <a:ext uri="{FF2B5EF4-FFF2-40B4-BE49-F238E27FC236}">
                    <a16:creationId xmlns:a16="http://schemas.microsoft.com/office/drawing/2014/main" id="{BC49A718-E0E8-4C15-AD25-70BC2E38B94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4738" y="2365029"/>
              <a:ext cx="2101540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3127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512748">
                      <a:extLst>
                        <a:ext uri="{9D8B030D-6E8A-4147-A177-3AD203B41FA5}">
                          <a16:colId xmlns:a16="http://schemas.microsoft.com/office/drawing/2014/main" val="85011788"/>
                        </a:ext>
                      </a:extLst>
                    </a:gridCol>
                    <a:gridCol w="564023">
                      <a:extLst>
                        <a:ext uri="{9D8B030D-6E8A-4147-A177-3AD203B41FA5}">
                          <a16:colId xmlns:a16="http://schemas.microsoft.com/office/drawing/2014/main" val="4033249136"/>
                        </a:ext>
                      </a:extLst>
                    </a:gridCol>
                    <a:gridCol w="511642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C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D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4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25982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4699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4466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3">
                <a:extLst>
                  <a:ext uri="{FF2B5EF4-FFF2-40B4-BE49-F238E27FC236}">
                    <a16:creationId xmlns:a16="http://schemas.microsoft.com/office/drawing/2014/main" id="{BC49A718-E0E8-4C15-AD25-70BC2E38B9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3756228"/>
                  </p:ext>
                </p:extLst>
              </p:nvPr>
            </p:nvGraphicFramePr>
            <p:xfrm>
              <a:off x="674738" y="2365029"/>
              <a:ext cx="2101540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3127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512748">
                      <a:extLst>
                        <a:ext uri="{9D8B030D-6E8A-4147-A177-3AD203B41FA5}">
                          <a16:colId xmlns:a16="http://schemas.microsoft.com/office/drawing/2014/main" val="85011788"/>
                        </a:ext>
                      </a:extLst>
                    </a:gridCol>
                    <a:gridCol w="564023">
                      <a:extLst>
                        <a:ext uri="{9D8B030D-6E8A-4147-A177-3AD203B41FA5}">
                          <a16:colId xmlns:a16="http://schemas.microsoft.com/office/drawing/2014/main" val="4033249136"/>
                        </a:ext>
                      </a:extLst>
                    </a:gridCol>
                    <a:gridCol w="511642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7"/>
                          <a:stretch>
                            <a:fillRect l="-1190" t="-108197" r="-316667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7"/>
                          <a:stretch>
                            <a:fillRect l="-182796" t="-108197" r="-94624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7"/>
                          <a:stretch>
                            <a:fillRect l="-1190" t="-208197" r="-316667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7"/>
                          <a:stretch>
                            <a:fillRect l="-182796" t="-208197" r="-9462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7"/>
                          <a:stretch>
                            <a:fillRect l="-1190" t="-308197" r="-316667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7"/>
                          <a:stretch>
                            <a:fillRect l="-182796" t="-308197" r="-9462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25982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7"/>
                          <a:stretch>
                            <a:fillRect l="-1190" t="-408197" r="-316667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7"/>
                          <a:stretch>
                            <a:fillRect l="-182796" t="-408197" r="-9462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4699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7"/>
                          <a:stretch>
                            <a:fillRect l="-1190" t="-508197" r="-316667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7"/>
                          <a:stretch>
                            <a:fillRect l="-182796" t="-508197" r="-9462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44663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1B90DB-ECA2-42C0-9766-5F5522C515F4}"/>
                  </a:ext>
                </a:extLst>
              </p:cNvPr>
              <p:cNvSpPr txBox="1"/>
              <p:nvPr/>
            </p:nvSpPr>
            <p:spPr>
              <a:xfrm>
                <a:off x="5069877" y="4902822"/>
                <a:ext cx="7085454" cy="542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nl-NL" sz="2800" i="1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1B90DB-ECA2-42C0-9766-5F5522C51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9877" y="4902822"/>
                <a:ext cx="7085454" cy="5421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72A49C-3CA9-69F9-D88A-DCA2F3897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9DA93-7724-0F86-0995-4BF0E60D2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069726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Composition of Operations 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A9C3EF-BA83-42C4-9F87-4A835E8CA839}"/>
                  </a:ext>
                </a:extLst>
              </p:cNvPr>
              <p:cNvSpPr txBox="1"/>
              <p:nvPr/>
            </p:nvSpPr>
            <p:spPr>
              <a:xfrm>
                <a:off x="585380" y="2297380"/>
                <a:ext cx="11288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nl-NL" sz="2800" i="1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A9C3EF-BA83-42C4-9F87-4A835E8CA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380" y="2297380"/>
                <a:ext cx="112882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3">
                <a:extLst>
                  <a:ext uri="{FF2B5EF4-FFF2-40B4-BE49-F238E27FC236}">
                    <a16:creationId xmlns:a16="http://schemas.microsoft.com/office/drawing/2014/main" id="{639EFB21-ADDD-461B-A452-5A4609BDD5C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812607" y="2761865"/>
              <a:ext cx="1827618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 i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33095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3">
                <a:extLst>
                  <a:ext uri="{FF2B5EF4-FFF2-40B4-BE49-F238E27FC236}">
                    <a16:creationId xmlns:a16="http://schemas.microsoft.com/office/drawing/2014/main" id="{639EFB21-ADDD-461B-A452-5A4609BDD5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3285663"/>
                  </p:ext>
                </p:extLst>
              </p:nvPr>
            </p:nvGraphicFramePr>
            <p:xfrm>
              <a:off x="2812607" y="2761865"/>
              <a:ext cx="1827618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662" t="-108197" r="-101987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662" t="-208197" r="-101987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662" t="-308197" r="-101987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33095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0BD3FB-A751-48B9-9C2B-3EA58460266C}"/>
                  </a:ext>
                </a:extLst>
              </p:cNvPr>
              <p:cNvSpPr txBox="1"/>
              <p:nvPr/>
            </p:nvSpPr>
            <p:spPr>
              <a:xfrm>
                <a:off x="3162004" y="2297380"/>
                <a:ext cx="11288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nl-NL" sz="2800" i="1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0BD3FB-A751-48B9-9C2B-3EA584602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2004" y="2297380"/>
                <a:ext cx="112882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3">
                <a:extLst>
                  <a:ext uri="{FF2B5EF4-FFF2-40B4-BE49-F238E27FC236}">
                    <a16:creationId xmlns:a16="http://schemas.microsoft.com/office/drawing/2014/main" id="{D880172C-05B1-4E42-B14F-4AA67BCEA05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44886" y="2761865"/>
              <a:ext cx="3012640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3160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1736428312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1870172461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err="1"/>
                            <a:t>r.A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err="1"/>
                            <a:t>r.B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err="1"/>
                            <a:t>s.A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err="1"/>
                            <a:t>s.B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 i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9143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35174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116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 i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49556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14706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54460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3">
                <a:extLst>
                  <a:ext uri="{FF2B5EF4-FFF2-40B4-BE49-F238E27FC236}">
                    <a16:creationId xmlns:a16="http://schemas.microsoft.com/office/drawing/2014/main" id="{D880172C-05B1-4E42-B14F-4AA67BCEA0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7042275"/>
                  </p:ext>
                </p:extLst>
              </p:nvPr>
            </p:nvGraphicFramePr>
            <p:xfrm>
              <a:off x="5344886" y="2761865"/>
              <a:ext cx="3012640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3160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1736428312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1870172461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r.A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r.B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s.A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s.B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806" t="-108197" r="-303226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202439" t="-108197" r="-104878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9143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806" t="-208197" r="-303226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202439" t="-208197" r="-104878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35174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806" t="-313333" r="-303226" b="-3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202439" t="-313333" r="-104878" b="-3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116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806" t="-406557" r="-303226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202439" t="-406557" r="-104878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49556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806" t="-506557" r="-303226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202439" t="-506557" r="-104878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14706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806" t="-606557" r="-303226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5"/>
                          <a:stretch>
                            <a:fillRect l="-202439" t="-606557" r="-104878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54460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8689362-D4F1-483F-80E9-5276BC892433}"/>
                  </a:ext>
                </a:extLst>
              </p:cNvPr>
              <p:cNvSpPr txBox="1"/>
              <p:nvPr/>
            </p:nvSpPr>
            <p:spPr>
              <a:xfrm>
                <a:off x="6286794" y="2267569"/>
                <a:ext cx="11288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nl-NL" sz="2800" i="1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8689362-D4F1-483F-80E9-5276BC892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794" y="2267569"/>
                <a:ext cx="112882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3">
                <a:extLst>
                  <a:ext uri="{FF2B5EF4-FFF2-40B4-BE49-F238E27FC236}">
                    <a16:creationId xmlns:a16="http://schemas.microsoft.com/office/drawing/2014/main" id="{BC49A718-E0E8-4C15-AD25-70BC2E38B94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91423" y="2761865"/>
              <a:ext cx="182761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3">
                <a:extLst>
                  <a:ext uri="{FF2B5EF4-FFF2-40B4-BE49-F238E27FC236}">
                    <a16:creationId xmlns:a16="http://schemas.microsoft.com/office/drawing/2014/main" id="{BC49A718-E0E8-4C15-AD25-70BC2E38B9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5470683"/>
                  </p:ext>
                </p:extLst>
              </p:nvPr>
            </p:nvGraphicFramePr>
            <p:xfrm>
              <a:off x="391423" y="2761865"/>
              <a:ext cx="182761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809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913809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7"/>
                          <a:stretch>
                            <a:fillRect l="-662" t="-108197" r="-101987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7"/>
                          <a:stretch>
                            <a:fillRect l="-662" t="-208197" r="-101987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3">
                <a:extLst>
                  <a:ext uri="{FF2B5EF4-FFF2-40B4-BE49-F238E27FC236}">
                    <a16:creationId xmlns:a16="http://schemas.microsoft.com/office/drawing/2014/main" id="{23F536B8-9619-46BC-844D-CE4D64DA4CC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787937" y="2753234"/>
              <a:ext cx="301264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3160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1736428312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1870172461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err="1"/>
                            <a:t>r.A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err="1"/>
                            <a:t>r.B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err="1"/>
                            <a:t>s.A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err="1"/>
                            <a:t>s.B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nl-NL" i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9143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  <a:endParaRPr lang="nl-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14706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3">
                <a:extLst>
                  <a:ext uri="{FF2B5EF4-FFF2-40B4-BE49-F238E27FC236}">
                    <a16:creationId xmlns:a16="http://schemas.microsoft.com/office/drawing/2014/main" id="{23F536B8-9619-46BC-844D-CE4D64DA4C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3604691"/>
                  </p:ext>
                </p:extLst>
              </p:nvPr>
            </p:nvGraphicFramePr>
            <p:xfrm>
              <a:off x="8787937" y="2753234"/>
              <a:ext cx="301264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3160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1736428312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1870172461"/>
                        </a:ext>
                      </a:extLst>
                    </a:gridCol>
                    <a:gridCol w="753160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r.A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r.B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s.A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s.B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8"/>
                          <a:stretch>
                            <a:fillRect l="-806" t="-106452" r="-302419" b="-1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8"/>
                          <a:stretch>
                            <a:fillRect l="-202439" t="-106452" r="-104065" b="-1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9143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8"/>
                          <a:stretch>
                            <a:fillRect l="-806" t="-209836" r="-302419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8"/>
                          <a:stretch>
                            <a:fillRect l="-202439" t="-209836" r="-104065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147064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0420CA-27E7-4F61-AD35-12248E7AD611}"/>
                  </a:ext>
                </a:extLst>
              </p:cNvPr>
              <p:cNvSpPr txBox="1"/>
              <p:nvPr/>
            </p:nvSpPr>
            <p:spPr>
              <a:xfrm>
                <a:off x="9054442" y="2109526"/>
                <a:ext cx="26232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sz="2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nl-NL" sz="2800" i="1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0420CA-27E7-4F61-AD35-12248E7AD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442" y="2109526"/>
                <a:ext cx="2623208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FB9E6D-854F-C96F-CC7A-D89F22A19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8F6A4-B1CF-AB2D-8A0C-07239126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02612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Summary of Relational Algebra Operators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3">
                <a:extLst>
                  <a:ext uri="{FF2B5EF4-FFF2-40B4-BE49-F238E27FC236}">
                    <a16:creationId xmlns:a16="http://schemas.microsoft.com/office/drawing/2014/main" id="{BC49A718-E0E8-4C15-AD25-70BC2E38B9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9800468"/>
                  </p:ext>
                </p:extLst>
              </p:nvPr>
            </p:nvGraphicFramePr>
            <p:xfrm>
              <a:off x="838200" y="1311274"/>
              <a:ext cx="10788205" cy="518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35590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8252615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/>
                            <a:t>Symbol (name)</a:t>
                          </a:r>
                          <a:endParaRPr lang="nl-NL" sz="2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/>
                            <a:t>Description</a:t>
                          </a:r>
                          <a:endParaRPr lang="nl-NL" sz="2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oMath>
                          </a14:m>
                          <a:r>
                            <a:rPr lang="nl-NL" sz="2200"/>
                            <a:t> (</a:t>
                          </a:r>
                          <a:r>
                            <a:rPr lang="en-US" altLang="en-US" sz="2200">
                              <a:latin typeface="Palatino Linotype" panose="02040502050505030304" pitchFamily="18" charset="0"/>
                            </a:rPr>
                            <a:t>Selection</a:t>
                          </a:r>
                          <a:r>
                            <a:rPr lang="nl-NL" sz="220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2200" dirty="0">
                              <a:latin typeface="Palatino Linotype" panose="02040502050505030304" pitchFamily="18" charset="0"/>
                            </a:rPr>
                            <a:t>Return rows of the input relation that satisfy a predicate.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oMath>
                          </a14:m>
                          <a:r>
                            <a:rPr lang="nl-NL" sz="2200"/>
                            <a:t> (</a:t>
                          </a:r>
                          <a:r>
                            <a:rPr lang="en-US" altLang="en-US" sz="2200">
                              <a:latin typeface="Palatino Linotype" panose="02040502050505030304" pitchFamily="18" charset="0"/>
                            </a:rPr>
                            <a:t>Projection</a:t>
                          </a:r>
                          <a:r>
                            <a:rPr lang="nl-NL" sz="220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2200">
                              <a:latin typeface="Palatino Linotype" panose="02040502050505030304" pitchFamily="18" charset="0"/>
                            </a:rPr>
                            <a:t>Return specified attributes from all rows of the input relation.  Remove duplicate tuples from the output.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nl-NL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nl-NL" sz="2200" dirty="0"/>
                            <a:t> (</a:t>
                          </a:r>
                          <a:r>
                            <a:rPr lang="en-US" altLang="en-US" sz="2200" dirty="0">
                              <a:latin typeface="Palatino Linotype" panose="02040502050505030304" pitchFamily="18" charset="0"/>
                            </a:rPr>
                            <a:t>Cartesian Product)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2200" dirty="0">
                              <a:latin typeface="Palatino Linotype" panose="02040502050505030304" pitchFamily="18" charset="0"/>
                            </a:rPr>
                            <a:t>Return pairs of rows from the </a:t>
                          </a:r>
                          <a:r>
                            <a:rPr lang="en-US" altLang="en-US" sz="2200" i="1" dirty="0">
                              <a:latin typeface="Palatino Linotype" panose="02040502050505030304" pitchFamily="18" charset="0"/>
                            </a:rPr>
                            <a:t>two</a:t>
                          </a:r>
                          <a:r>
                            <a:rPr lang="en-US" altLang="en-US" sz="2200" dirty="0">
                              <a:latin typeface="Palatino Linotype" panose="02040502050505030304" pitchFamily="18" charset="0"/>
                            </a:rPr>
                            <a:t> input relations.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58604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nl-NL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</m:t>
                              </m:r>
                            </m:oMath>
                          </a14:m>
                          <a:r>
                            <a:rPr lang="nl-NL" sz="2200"/>
                            <a:t> (</a:t>
                          </a:r>
                          <a:r>
                            <a:rPr lang="en-US" altLang="en-US" sz="2200">
                              <a:latin typeface="Palatino Linotype" panose="02040502050505030304" pitchFamily="18" charset="0"/>
                            </a:rPr>
                            <a:t>Union)</a:t>
                          </a:r>
                          <a:endParaRPr lang="nl-NL" sz="2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2200">
                              <a:latin typeface="Palatino Linotype" panose="02040502050505030304" pitchFamily="18" charset="0"/>
                            </a:rPr>
                            <a:t>Return the union of tuples from the </a:t>
                          </a:r>
                          <a:r>
                            <a:rPr lang="en-US" altLang="en-US" sz="2200" i="1">
                              <a:latin typeface="Palatino Linotype" panose="02040502050505030304" pitchFamily="18" charset="0"/>
                            </a:rPr>
                            <a:t>two </a:t>
                          </a:r>
                          <a:r>
                            <a:rPr lang="en-US" altLang="en-US" sz="2200">
                              <a:latin typeface="Palatino Linotype" panose="02040502050505030304" pitchFamily="18" charset="0"/>
                            </a:rPr>
                            <a:t>input relations.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1852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nl-NL" sz="2200"/>
                            <a:t> (</a:t>
                          </a:r>
                          <a:r>
                            <a:rPr lang="en-US" altLang="en-US" sz="2200">
                              <a:latin typeface="Palatino Linotype" panose="02040502050505030304" pitchFamily="18" charset="0"/>
                            </a:rPr>
                            <a:t>Difference)</a:t>
                          </a:r>
                          <a:endParaRPr lang="nl-NL" sz="2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2200" dirty="0">
                              <a:latin typeface="Palatino Linotype" panose="02040502050505030304" pitchFamily="18" charset="0"/>
                            </a:rPr>
                            <a:t>Return the set of records that exist in the relation before the operator(-) but not in the relation after the operator.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91960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nl-NL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</m:oMath>
                          </a14:m>
                          <a:r>
                            <a:rPr lang="nl-NL" sz="2200"/>
                            <a:t> (</a:t>
                          </a:r>
                          <a:r>
                            <a:rPr lang="en-US" altLang="en-US" sz="2200">
                              <a:latin typeface="Palatino Linotype" panose="02040502050505030304" pitchFamily="18" charset="0"/>
                            </a:rPr>
                            <a:t>Intersection)</a:t>
                          </a:r>
                          <a:endParaRPr lang="nl-NL" sz="2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2200" dirty="0">
                              <a:latin typeface="Palatino Linotype" panose="02040502050505030304" pitchFamily="18" charset="0"/>
                            </a:rPr>
                            <a:t>Return the common tuples in both input relations.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47989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nl-NL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⋈</m:t>
                              </m:r>
                            </m:oMath>
                          </a14:m>
                          <a:r>
                            <a:rPr lang="nl-NL" sz="2200" dirty="0"/>
                            <a:t> (</a:t>
                          </a:r>
                          <a:r>
                            <a:rPr lang="en-US" altLang="en-US" sz="2200" dirty="0">
                              <a:latin typeface="Palatino Linotype" panose="02040502050505030304" pitchFamily="18" charset="0"/>
                            </a:rPr>
                            <a:t>Natural Join)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2200" dirty="0">
                              <a:latin typeface="Palatino Linotype" panose="02040502050505030304" pitchFamily="18" charset="0"/>
                            </a:rPr>
                            <a:t>Return pairs of rows from the </a:t>
                          </a:r>
                          <a:r>
                            <a:rPr lang="en-US" altLang="en-US" sz="2200" i="1" dirty="0">
                              <a:latin typeface="Palatino Linotype" panose="02040502050505030304" pitchFamily="18" charset="0"/>
                            </a:rPr>
                            <a:t>two</a:t>
                          </a:r>
                          <a:r>
                            <a:rPr lang="en-US" altLang="en-US" sz="2200" dirty="0">
                              <a:latin typeface="Palatino Linotype" panose="02040502050505030304" pitchFamily="18" charset="0"/>
                            </a:rPr>
                            <a:t> input relations that have the same value on all attributes that have the same name.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39327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oMath>
                          </a14:m>
                          <a:r>
                            <a:rPr lang="nl-NL" sz="2200" dirty="0"/>
                            <a:t> (</a:t>
                          </a:r>
                          <a:r>
                            <a:rPr lang="en-US" altLang="en-US" sz="2200" dirty="0">
                              <a:latin typeface="Palatino Linotype" panose="02040502050505030304" pitchFamily="18" charset="0"/>
                            </a:rPr>
                            <a:t>Rename)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2200" dirty="0">
                              <a:latin typeface="Palatino Linotype" panose="02040502050505030304" pitchFamily="18" charset="0"/>
                            </a:rPr>
                            <a:t>Returns the outcome of an expression under the specified name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66943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3">
                <a:extLst>
                  <a:ext uri="{FF2B5EF4-FFF2-40B4-BE49-F238E27FC236}">
                    <a16:creationId xmlns:a16="http://schemas.microsoft.com/office/drawing/2014/main" id="{BC49A718-E0E8-4C15-AD25-70BC2E38B9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9800468"/>
                  </p:ext>
                </p:extLst>
              </p:nvPr>
            </p:nvGraphicFramePr>
            <p:xfrm>
              <a:off x="838200" y="1311274"/>
              <a:ext cx="10788205" cy="518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35590">
                      <a:extLst>
                        <a:ext uri="{9D8B030D-6E8A-4147-A177-3AD203B41FA5}">
                          <a16:colId xmlns:a16="http://schemas.microsoft.com/office/drawing/2014/main" val="1904727183"/>
                        </a:ext>
                      </a:extLst>
                    </a:gridCol>
                    <a:gridCol w="8252615">
                      <a:extLst>
                        <a:ext uri="{9D8B030D-6E8A-4147-A177-3AD203B41FA5}">
                          <a16:colId xmlns:a16="http://schemas.microsoft.com/office/drawing/2014/main" val="35145350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/>
                            <a:t>Symbol (name)</a:t>
                          </a:r>
                          <a:endParaRPr lang="nl-NL" sz="2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/>
                            <a:t>Description</a:t>
                          </a:r>
                          <a:endParaRPr lang="nl-NL" sz="2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544356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2"/>
                          <a:stretch>
                            <a:fillRect l="-500" t="-112121" r="-326000" b="-10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2200" dirty="0">
                              <a:latin typeface="Palatino Linotype" panose="02040502050505030304" pitchFamily="18" charset="0"/>
                            </a:rPr>
                            <a:t>Return rows of the input relation that satisfy a predicate.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57385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2"/>
                          <a:stretch>
                            <a:fillRect l="-500" t="-114754" r="-326000" b="-477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2200">
                              <a:latin typeface="Palatino Linotype" panose="02040502050505030304" pitchFamily="18" charset="0"/>
                            </a:rPr>
                            <a:t>Return specified attributes from all rows of the input relation.  Remove duplicate tuples from the output.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202408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2"/>
                          <a:stretch>
                            <a:fillRect l="-500" t="-218333" r="-326000" b="-38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2200" dirty="0">
                              <a:latin typeface="Palatino Linotype" panose="02040502050505030304" pitchFamily="18" charset="0"/>
                            </a:rPr>
                            <a:t>Return pairs of rows from the </a:t>
                          </a:r>
                          <a:r>
                            <a:rPr lang="en-US" altLang="en-US" sz="2200" i="1" dirty="0">
                              <a:latin typeface="Palatino Linotype" panose="02040502050505030304" pitchFamily="18" charset="0"/>
                            </a:rPr>
                            <a:t>two</a:t>
                          </a:r>
                          <a:r>
                            <a:rPr lang="en-US" altLang="en-US" sz="2200" dirty="0">
                              <a:latin typeface="Palatino Linotype" panose="02040502050505030304" pitchFamily="18" charset="0"/>
                            </a:rPr>
                            <a:t> input relations.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5860498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2"/>
                          <a:stretch>
                            <a:fillRect l="-500" t="-578788" r="-326000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2200">
                              <a:latin typeface="Palatino Linotype" panose="02040502050505030304" pitchFamily="18" charset="0"/>
                            </a:rPr>
                            <a:t>Return the union of tuples from the </a:t>
                          </a:r>
                          <a:r>
                            <a:rPr lang="en-US" altLang="en-US" sz="2200" i="1">
                              <a:latin typeface="Palatino Linotype" panose="02040502050505030304" pitchFamily="18" charset="0"/>
                            </a:rPr>
                            <a:t>two </a:t>
                          </a:r>
                          <a:r>
                            <a:rPr lang="en-US" altLang="en-US" sz="2200">
                              <a:latin typeface="Palatino Linotype" panose="02040502050505030304" pitchFamily="18" charset="0"/>
                            </a:rPr>
                            <a:t>input relations.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1852000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2"/>
                          <a:stretch>
                            <a:fillRect l="-500" t="-373333" r="-326000" b="-2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2200" dirty="0">
                              <a:latin typeface="Palatino Linotype" panose="02040502050505030304" pitchFamily="18" charset="0"/>
                            </a:rPr>
                            <a:t>Return the set of records that exist in the relation before the operator(-) but not in the relation after the operator.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9196025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2"/>
                          <a:stretch>
                            <a:fillRect l="-500" t="-835294" r="-326000" b="-3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2200" dirty="0">
                              <a:latin typeface="Palatino Linotype" panose="02040502050505030304" pitchFamily="18" charset="0"/>
                            </a:rPr>
                            <a:t>Return the common tuples in both input relations.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4798903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2"/>
                          <a:stretch>
                            <a:fillRect l="-500" t="-530000" r="-326000" b="-7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2200" dirty="0">
                              <a:latin typeface="Palatino Linotype" panose="02040502050505030304" pitchFamily="18" charset="0"/>
                            </a:rPr>
                            <a:t>Return pairs of rows from the </a:t>
                          </a:r>
                          <a:r>
                            <a:rPr lang="en-US" altLang="en-US" sz="2200" i="1" dirty="0">
                              <a:latin typeface="Palatino Linotype" panose="02040502050505030304" pitchFamily="18" charset="0"/>
                            </a:rPr>
                            <a:t>two</a:t>
                          </a:r>
                          <a:r>
                            <a:rPr lang="en-US" altLang="en-US" sz="2200" dirty="0">
                              <a:latin typeface="Palatino Linotype" panose="02040502050505030304" pitchFamily="18" charset="0"/>
                            </a:rPr>
                            <a:t> input relations that have the same value on all attributes that have the same name.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3932791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2"/>
                          <a:stretch>
                            <a:fillRect l="-500" t="-1111765" r="-326000" b="-2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2200" dirty="0">
                              <a:latin typeface="Palatino Linotype" panose="02040502050505030304" pitchFamily="18" charset="0"/>
                            </a:rPr>
                            <a:t>Returns the outcome of an expression under the specified name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66943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CD55DD-0666-0FF9-DACA-4FBB2F688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B6188-94AA-D81D-87E7-7692F361E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954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Remarks on RA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C45A49BA-F1EE-4748-AA1D-3967F9097D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2562" y="1367327"/>
                <a:ext cx="10515600" cy="49907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dirty="0"/>
                  <a:t>Each Query input is a table (or set of tables)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Each query output is a table.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All data in the output table appears in one of the input tables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Can we compute: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1800" dirty="0"/>
                  <a:t>SUM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𝑆𝑈𝑀</m:t>
                        </m:r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𝑡𝑜𝑡</m:t>
                        </m:r>
                        <m:r>
                          <m:rPr>
                            <m:lit/>
                          </m:rP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𝑐𝑟𝑒𝑑𝑖𝑡</m:t>
                        </m:r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𝑠𝑡𝑢𝑑𝑒𝑛𝑡</m:t>
                    </m:r>
                    <m:r>
                      <a:rPr lang="en-US" sz="1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1800" dirty="0"/>
                  <a:t>AVG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𝐴𝑉𝐺</m:t>
                        </m:r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𝑠𝑎𝑙𝑎𝑟𝑦</m:t>
                        </m:r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𝑖𝑛𝑠𝑡𝑟𝑢𝑐𝑡𝑜𝑟</m:t>
                    </m:r>
                    <m:r>
                      <a:rPr lang="en-US" sz="1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1800" dirty="0"/>
                  <a:t>MAX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𝑀𝐴𝑋</m:t>
                        </m:r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𝑏𝑢𝑔𝑒𝑡</m:t>
                        </m:r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𝑑𝑒𝑝𝑎𝑟𝑡𝑚𝑒𝑛𝑡</m:t>
                    </m:r>
                    <m:r>
                      <a:rPr lang="en-US" sz="1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pPr lvl="1">
                  <a:lnSpc>
                    <a:spcPct val="100000"/>
                  </a:lnSpc>
                </a:pPr>
                <a:r>
                  <a:rPr lang="en-US" sz="1800" dirty="0"/>
                  <a:t>MIN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𝑀𝐼𝑁</m:t>
                        </m:r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𝑏𝑢𝑑𝑔𝑒𝑡</m:t>
                        </m:r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𝑑𝑒𝑝𝑎𝑟𝑡𝑚𝑒𝑛𝑡</m:t>
                    </m:r>
                    <m:r>
                      <a:rPr lang="en-US" sz="1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pPr lvl="1">
                  <a:lnSpc>
                    <a:spcPct val="100000"/>
                  </a:lnSpc>
                </a:pPr>
                <a:r>
                  <a:rPr lang="en-US" sz="1800" dirty="0"/>
                  <a:t>COUNT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𝐶𝑂𝑈𝑁𝑇</m:t>
                        </m:r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𝑡𝑜𝑡</m:t>
                        </m:r>
                        <m:r>
                          <m:rPr>
                            <m:lit/>
                          </m:rP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𝑐𝑟𝑒𝑑𝑖𝑡</m:t>
                        </m:r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≥12)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𝑠𝑡𝑢𝑑𝑒𝑛𝑡</m:t>
                    </m:r>
                    <m:r>
                      <a:rPr lang="en-US" sz="1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pPr lvl="1">
                  <a:lnSpc>
                    <a:spcPct val="100000"/>
                  </a:lnSpc>
                </a:pPr>
                <a:r>
                  <a:rPr lang="en-US" sz="1800" dirty="0"/>
                  <a:t>GROUP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/>
                          <m:sub>
                            <m:r>
                              <a:rPr lang="en-US" sz="1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𝑑𝑒𝑝𝑡</m:t>
                            </m:r>
                            <m:r>
                              <a:rPr lang="en-US" sz="1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sz="1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𝑛𝑎𝑚𝑒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𝐴𝑉𝐺</m:t>
                        </m:r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𝑠𝑎𝑙𝑎𝑟𝑦</m:t>
                        </m:r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𝑖𝑛𝑠𝑡𝑟𝑢𝑐𝑡𝑜𝑟</m:t>
                    </m:r>
                    <m:r>
                      <a:rPr lang="en-US" sz="1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pPr lvl="1">
                  <a:lnSpc>
                    <a:spcPct val="100000"/>
                  </a:lnSpc>
                </a:pPr>
                <a:endParaRPr lang="en-US" sz="1800" dirty="0"/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C45A49BA-F1EE-4748-AA1D-3967F9097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562" y="1367327"/>
                <a:ext cx="10515600" cy="4990744"/>
              </a:xfrm>
              <a:prstGeom prst="rect">
                <a:avLst/>
              </a:prstGeom>
              <a:blipFill>
                <a:blip r:embed="rId2"/>
                <a:stretch>
                  <a:fillRect l="-965" t="-1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817B4E-B5E6-94FC-C481-19E6D699C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87E1E-295A-9D25-08C3-5A4ABE57E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028063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F53FFC1-E3F7-413F-9BA8-9CEB75EEC3FD}"/>
              </a:ext>
            </a:extLst>
          </p:cNvPr>
          <p:cNvSpPr txBox="1">
            <a:spLocks/>
          </p:cNvSpPr>
          <p:nvPr/>
        </p:nvSpPr>
        <p:spPr>
          <a:xfrm>
            <a:off x="1202027" y="2620260"/>
            <a:ext cx="9139401" cy="60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Data Extraction Using Structured Query Language (SQL)</a:t>
            </a:r>
            <a:endParaRPr lang="nl-NL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6CD3B5-1216-46F4-B818-731C1918B707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FBE3DAD-85EA-FE23-5E11-B101D6187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8DC2D2-BE4D-8223-1863-4E5D68662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42802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SELECT-FROM-WHERE Statements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415143"/>
            <a:ext cx="10515600" cy="4865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nl-NL" dirty="0">
                <a:solidFill>
                  <a:srgbClr val="006600"/>
                </a:solidFill>
              </a:rPr>
              <a:t>	SELECT</a:t>
            </a:r>
            <a:r>
              <a:rPr lang="en-US" altLang="nl-NL" dirty="0"/>
              <a:t> desired attributes</a:t>
            </a:r>
          </a:p>
          <a:p>
            <a:pPr>
              <a:buFont typeface="Monotype Sorts" pitchFamily="2" charset="2"/>
              <a:buNone/>
            </a:pPr>
            <a:r>
              <a:rPr lang="en-US" altLang="nl-NL" dirty="0"/>
              <a:t>	</a:t>
            </a:r>
            <a:r>
              <a:rPr lang="en-US" altLang="nl-NL" dirty="0">
                <a:solidFill>
                  <a:srgbClr val="006600"/>
                </a:solidFill>
              </a:rPr>
              <a:t>FROM</a:t>
            </a:r>
            <a:r>
              <a:rPr lang="en-US" altLang="nl-NL" dirty="0"/>
              <a:t> one or more tables</a:t>
            </a:r>
          </a:p>
          <a:p>
            <a:pPr>
              <a:buFont typeface="Monotype Sorts" pitchFamily="2" charset="2"/>
              <a:buNone/>
            </a:pPr>
            <a:r>
              <a:rPr lang="en-US" altLang="nl-NL" dirty="0"/>
              <a:t>	</a:t>
            </a:r>
            <a:r>
              <a:rPr lang="en-US" altLang="nl-NL" dirty="0">
                <a:solidFill>
                  <a:srgbClr val="006600"/>
                </a:solidFill>
              </a:rPr>
              <a:t>WHERE</a:t>
            </a:r>
            <a:r>
              <a:rPr lang="en-US" altLang="nl-NL" dirty="0"/>
              <a:t> condition about tuples of the tables</a:t>
            </a:r>
          </a:p>
          <a:p>
            <a:pPr>
              <a:lnSpc>
                <a:spcPct val="100000"/>
              </a:lnSpc>
            </a:pP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6366D0-59A8-22EB-5749-27AA26271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50E-59B5-90CF-8E46-B578890D0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32243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E961F1-4A28-4A5F-BBD4-6E400E5E6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72357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F57BEA8-497D-4AA8-8A18-BDCD696B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8596"/>
            <a:ext cx="12192000" cy="17355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89439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Remember Our Main Database?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82415D3-DDE5-4D63-8CB3-23A5EC581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1479733"/>
            <a:ext cx="2743200" cy="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7193FB-6AE6-4B3B-8F89-56B55DD63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201402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6A1E6AE-29EF-154A-88A1-9EFC12015B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119" y="2427541"/>
            <a:ext cx="8004789" cy="434510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EE663-F179-6EDB-D03E-CF4A2ECB0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C414F-A7A3-BFAB-31E1-5537F664D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53626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 The SELECT Clause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C45A49BA-F1EE-4748-AA1D-3967F9097D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4286" y="1415143"/>
                <a:ext cx="10783876" cy="486591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nl-NL" dirty="0"/>
                  <a:t>Get the IDs, names and total credits of students who completed at least 24 credits</a:t>
                </a:r>
              </a:p>
              <a:p>
                <a:pPr>
                  <a:buFont typeface="Monotype Sorts" pitchFamily="2" charset="2"/>
                  <a:buNone/>
                </a:pPr>
                <a:endParaRPr lang="en-US" altLang="nl-NL" dirty="0">
                  <a:solidFill>
                    <a:srgbClr val="006600"/>
                  </a:solidFill>
                </a:endParaRPr>
              </a:p>
              <a:p>
                <a:pPr>
                  <a:buFont typeface="Monotype Sorts" pitchFamily="2" charset="2"/>
                  <a:buNone/>
                </a:pPr>
                <a:r>
                  <a:rPr lang="en-US" altLang="nl-NL" dirty="0">
                    <a:solidFill>
                      <a:srgbClr val="006600"/>
                    </a:solidFill>
                  </a:rPr>
                  <a:t>	SELECT</a:t>
                </a:r>
                <a:r>
                  <a:rPr lang="en-US" altLang="nl-NL" dirty="0"/>
                  <a:t> ID, name, </a:t>
                </a:r>
                <a:r>
                  <a:rPr lang="en-US" altLang="nl-NL" dirty="0" err="1"/>
                  <a:t>tot_cred</a:t>
                </a:r>
                <a:endParaRPr lang="en-US" altLang="nl-NL" dirty="0"/>
              </a:p>
              <a:p>
                <a:pPr>
                  <a:buFont typeface="Monotype Sorts" pitchFamily="2" charset="2"/>
                  <a:buNone/>
                </a:pPr>
                <a:r>
                  <a:rPr lang="en-US" altLang="nl-NL" dirty="0"/>
                  <a:t>	</a:t>
                </a:r>
                <a:r>
                  <a:rPr lang="en-US" altLang="nl-NL" dirty="0">
                    <a:solidFill>
                      <a:srgbClr val="006600"/>
                    </a:solidFill>
                  </a:rPr>
                  <a:t>FROM</a:t>
                </a:r>
                <a:r>
                  <a:rPr lang="en-US" altLang="nl-NL" dirty="0"/>
                  <a:t> student</a:t>
                </a:r>
              </a:p>
              <a:p>
                <a:pPr>
                  <a:buFont typeface="Monotype Sorts" pitchFamily="2" charset="2"/>
                  <a:buNone/>
                </a:pPr>
                <a:r>
                  <a:rPr lang="en-US" altLang="nl-NL" dirty="0"/>
                  <a:t>	</a:t>
                </a:r>
                <a:r>
                  <a:rPr lang="en-US" altLang="nl-NL" dirty="0">
                    <a:solidFill>
                      <a:srgbClr val="006600"/>
                    </a:solidFill>
                  </a:rPr>
                  <a:t>WHERE </a:t>
                </a:r>
                <a:r>
                  <a:rPr lang="en-US" altLang="nl-NL" dirty="0" err="1"/>
                  <a:t>tot_cred</a:t>
                </a:r>
                <a:r>
                  <a:rPr lang="en-US" altLang="nl-NL" dirty="0"/>
                  <a:t> &gt;= 24;</a:t>
                </a:r>
              </a:p>
              <a:p>
                <a:pPr>
                  <a:buFont typeface="Monotype Sorts" pitchFamily="2" charset="2"/>
                  <a:buNone/>
                </a:pPr>
                <a:endParaRPr lang="en-US" dirty="0"/>
              </a:p>
              <a:p>
                <a:r>
                  <a:rPr lang="en-US" dirty="0"/>
                  <a:t>The answer is a relation with three attributes (ID, name, </a:t>
                </a:r>
                <a:r>
                  <a:rPr lang="en-US" dirty="0" err="1"/>
                  <a:t>tot_cred</a:t>
                </a:r>
                <a:r>
                  <a:rPr lang="en-US" dirty="0"/>
                  <a:t>)</a:t>
                </a: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What if we need only the names of the students?</a:t>
                </a:r>
              </a:p>
              <a:p>
                <a:r>
                  <a:rPr lang="en-US" dirty="0"/>
                  <a:t>Note that: the SQL operator names are case insensitive SELECT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dirty="0"/>
                  <a:t> Select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dirty="0"/>
                  <a:t> select</a:t>
                </a:r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C45A49BA-F1EE-4748-AA1D-3967F9097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286" y="1415143"/>
                <a:ext cx="10783876" cy="4865914"/>
              </a:xfrm>
              <a:prstGeom prst="rect">
                <a:avLst/>
              </a:prstGeom>
              <a:blipFill>
                <a:blip r:embed="rId2"/>
                <a:stretch>
                  <a:fillRect l="-824" t="-2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B5BB8-2B79-191C-84E5-82076611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8270C-492E-642C-8740-307EE46D5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94498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SELECT Clause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544285" y="1415143"/>
            <a:ext cx="11647715" cy="4865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nl-NL" dirty="0"/>
              <a:t>Lists the desired attributes in the result of the query </a:t>
            </a:r>
          </a:p>
          <a:p>
            <a:pPr lvl="1"/>
            <a:r>
              <a:rPr lang="en-US" dirty="0"/>
              <a:t>Corresponds to the projection operator of the relational algebra </a:t>
            </a:r>
          </a:p>
          <a:p>
            <a:r>
              <a:rPr lang="en-US" dirty="0"/>
              <a:t>SQL allows duplicates in relations as well as in query results</a:t>
            </a:r>
          </a:p>
          <a:p>
            <a:r>
              <a:rPr lang="en-US" dirty="0"/>
              <a:t>To force the elimination of duplicates, use the keyword </a:t>
            </a:r>
            <a:r>
              <a:rPr lang="en-US" b="1" dirty="0"/>
              <a:t>DISTINCT</a:t>
            </a:r>
            <a:r>
              <a:rPr lang="en-US" dirty="0"/>
              <a:t> after select</a:t>
            </a:r>
          </a:p>
          <a:p>
            <a:r>
              <a:rPr lang="en-US" dirty="0"/>
              <a:t>Example: find the department names of all instructors whose salary is strictly greater than 60000 without showing the department name more than once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Monotype Sorts" pitchFamily="2" charset="2"/>
              <a:buNone/>
            </a:pPr>
            <a:r>
              <a:rPr lang="en-US" altLang="nl-NL" dirty="0">
                <a:solidFill>
                  <a:srgbClr val="006600"/>
                </a:solidFill>
              </a:rPr>
              <a:t>	SELECT</a:t>
            </a:r>
            <a:r>
              <a:rPr lang="en-US" altLang="nl-NL" dirty="0"/>
              <a:t> </a:t>
            </a:r>
            <a:r>
              <a:rPr lang="en-US" altLang="nl-NL" dirty="0">
                <a:solidFill>
                  <a:srgbClr val="006600"/>
                </a:solidFill>
              </a:rPr>
              <a:t>DISTINCT</a:t>
            </a:r>
            <a:r>
              <a:rPr lang="en-US" altLang="nl-NL" dirty="0"/>
              <a:t> </a:t>
            </a:r>
            <a:r>
              <a:rPr lang="en-US" altLang="nl-NL" dirty="0" err="1"/>
              <a:t>dept_name</a:t>
            </a:r>
            <a:endParaRPr lang="en-US" altLang="nl-NL" dirty="0"/>
          </a:p>
          <a:p>
            <a:pPr>
              <a:buFont typeface="Monotype Sorts" pitchFamily="2" charset="2"/>
              <a:buNone/>
            </a:pPr>
            <a:r>
              <a:rPr lang="en-US" altLang="nl-NL" dirty="0"/>
              <a:t>	</a:t>
            </a:r>
            <a:r>
              <a:rPr lang="en-US" altLang="nl-NL" dirty="0">
                <a:solidFill>
                  <a:srgbClr val="006600"/>
                </a:solidFill>
              </a:rPr>
              <a:t>FROM</a:t>
            </a:r>
            <a:r>
              <a:rPr lang="en-US" altLang="nl-NL" dirty="0"/>
              <a:t> instructor</a:t>
            </a:r>
          </a:p>
          <a:p>
            <a:pPr>
              <a:buFont typeface="Monotype Sorts" pitchFamily="2" charset="2"/>
              <a:buNone/>
            </a:pPr>
            <a:r>
              <a:rPr lang="en-US" altLang="nl-NL" dirty="0"/>
              <a:t>	</a:t>
            </a:r>
            <a:r>
              <a:rPr lang="en-US" altLang="nl-NL" dirty="0">
                <a:solidFill>
                  <a:srgbClr val="006600"/>
                </a:solidFill>
              </a:rPr>
              <a:t>WHERE </a:t>
            </a:r>
            <a:r>
              <a:rPr lang="en-US" altLang="nl-NL" dirty="0"/>
              <a:t>salary &gt; 60000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578517-2CC9-ACF4-FB6B-4308E3B32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3E70A-27D3-6AF2-E5CD-16E08D8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821187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SELECT Clause (Cont.)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544285" y="1415143"/>
            <a:ext cx="11411153" cy="4865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keyword </a:t>
            </a:r>
            <a:r>
              <a:rPr lang="en-US" b="1" dirty="0"/>
              <a:t>ALL</a:t>
            </a:r>
            <a:r>
              <a:rPr lang="en-US" dirty="0"/>
              <a:t> specifies that duplicates should not be removed</a:t>
            </a:r>
          </a:p>
          <a:p>
            <a:pPr marL="0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   </a:t>
            </a:r>
          </a:p>
          <a:p>
            <a:pPr marL="0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   SELECT</a:t>
            </a:r>
            <a:r>
              <a:rPr lang="en-US" altLang="nl-NL" dirty="0"/>
              <a:t> </a:t>
            </a:r>
            <a:r>
              <a:rPr lang="en-US" altLang="nl-NL" dirty="0">
                <a:solidFill>
                  <a:srgbClr val="006600"/>
                </a:solidFill>
              </a:rPr>
              <a:t>ALL</a:t>
            </a:r>
            <a:r>
              <a:rPr lang="en-US" altLang="nl-NL" dirty="0"/>
              <a:t> </a:t>
            </a:r>
            <a:r>
              <a:rPr lang="en-US" altLang="nl-NL" dirty="0" err="1"/>
              <a:t>dept_name</a:t>
            </a:r>
            <a:endParaRPr lang="en-US" altLang="nl-NL" dirty="0"/>
          </a:p>
          <a:p>
            <a:pPr>
              <a:buFont typeface="Monotype Sorts" pitchFamily="2" charset="2"/>
              <a:buNone/>
            </a:pPr>
            <a:r>
              <a:rPr lang="en-US" altLang="nl-NL" dirty="0"/>
              <a:t>	</a:t>
            </a:r>
            <a:r>
              <a:rPr lang="en-US" altLang="nl-NL" dirty="0">
                <a:solidFill>
                  <a:srgbClr val="006600"/>
                </a:solidFill>
              </a:rPr>
              <a:t>FROM</a:t>
            </a:r>
            <a:r>
              <a:rPr lang="en-US" altLang="nl-NL" dirty="0"/>
              <a:t> instructor</a:t>
            </a:r>
          </a:p>
          <a:p>
            <a:pPr>
              <a:buFont typeface="Monotype Sorts" pitchFamily="2" charset="2"/>
              <a:buNone/>
            </a:pPr>
            <a:r>
              <a:rPr lang="en-US" altLang="nl-NL" dirty="0"/>
              <a:t>	</a:t>
            </a:r>
            <a:r>
              <a:rPr lang="en-US" altLang="nl-NL" dirty="0">
                <a:solidFill>
                  <a:srgbClr val="006600"/>
                </a:solidFill>
              </a:rPr>
              <a:t>WHERE </a:t>
            </a:r>
            <a:r>
              <a:rPr lang="en-US" altLang="nl-NL" dirty="0"/>
              <a:t>salary &gt; 60000</a:t>
            </a:r>
          </a:p>
          <a:p>
            <a:pPr>
              <a:buFont typeface="Monotype Sorts" pitchFamily="2" charset="2"/>
              <a:buNone/>
            </a:pPr>
            <a:endParaRPr lang="en-US" altLang="nl-NL" dirty="0"/>
          </a:p>
          <a:p>
            <a:r>
              <a:rPr lang="en-US" altLang="nl-NL" dirty="0"/>
              <a:t>An asterisk in the </a:t>
            </a:r>
            <a:r>
              <a:rPr lang="en-US" altLang="nl-NL" b="1" dirty="0"/>
              <a:t>SELECT</a:t>
            </a:r>
            <a:r>
              <a:rPr lang="en-US" altLang="nl-NL" dirty="0"/>
              <a:t> clause denotes “all attributes”</a:t>
            </a:r>
          </a:p>
          <a:p>
            <a:pPr marL="0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   SELECT</a:t>
            </a:r>
            <a:r>
              <a:rPr lang="en-US" altLang="nl-NL" dirty="0"/>
              <a:t> </a:t>
            </a:r>
            <a:r>
              <a:rPr lang="en-US" altLang="nl-NL" dirty="0">
                <a:solidFill>
                  <a:srgbClr val="006600"/>
                </a:solidFill>
              </a:rPr>
              <a:t>*</a:t>
            </a:r>
            <a:r>
              <a:rPr lang="en-US" altLang="nl-NL" dirty="0"/>
              <a:t>  </a:t>
            </a:r>
            <a:r>
              <a:rPr lang="en-US" altLang="nl-NL" dirty="0">
                <a:solidFill>
                  <a:srgbClr val="006600"/>
                </a:solidFill>
              </a:rPr>
              <a:t>FROM</a:t>
            </a:r>
            <a:r>
              <a:rPr lang="en-US" altLang="nl-NL" dirty="0"/>
              <a:t> instructor</a:t>
            </a:r>
          </a:p>
          <a:p>
            <a:pPr marL="0" indent="0">
              <a:buNone/>
            </a:pPr>
            <a:r>
              <a:rPr lang="en-US" dirty="0"/>
              <a:t>   will return all the records from table “instructor”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AE3932-F625-C087-56FB-E3558042B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8FF7B-3898-7A64-2B7F-51812F4B9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186473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SELECT Clause (Cont.)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544285" y="1415143"/>
            <a:ext cx="11411153" cy="4865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 attribute could be literal with no </a:t>
            </a:r>
            <a:r>
              <a:rPr lang="en-US" b="1" dirty="0"/>
              <a:t>FROM</a:t>
            </a:r>
            <a:r>
              <a:rPr lang="en-US" dirty="0"/>
              <a:t> clause</a:t>
            </a:r>
          </a:p>
          <a:p>
            <a:pPr marL="0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   SELECT </a:t>
            </a:r>
            <a:r>
              <a:rPr lang="en-US" altLang="nl-NL" dirty="0"/>
              <a:t>’542’</a:t>
            </a:r>
          </a:p>
          <a:p>
            <a:pPr>
              <a:buFont typeface="Monotype Sorts" pitchFamily="2" charset="2"/>
              <a:buNone/>
            </a:pPr>
            <a:r>
              <a:rPr lang="en-US" altLang="nl-NL" dirty="0"/>
              <a:t>	Results in a relation with one column and one row with value ‘’542’</a:t>
            </a:r>
          </a:p>
          <a:p>
            <a:pPr>
              <a:buFont typeface="Monotype Sorts" pitchFamily="2" charset="2"/>
              <a:buNone/>
            </a:pPr>
            <a:r>
              <a:rPr lang="en-US" altLang="nl-NL" dirty="0"/>
              <a:t>	We can also give the column a name using </a:t>
            </a:r>
          </a:p>
          <a:p>
            <a:pPr>
              <a:buFont typeface="Monotype Sorts" pitchFamily="2" charset="2"/>
              <a:buNone/>
            </a:pPr>
            <a:r>
              <a:rPr lang="en-US" altLang="nl-NL" dirty="0">
                <a:solidFill>
                  <a:srgbClr val="006600"/>
                </a:solidFill>
              </a:rPr>
              <a:t> SELECT </a:t>
            </a:r>
            <a:r>
              <a:rPr lang="en-US" altLang="nl-NL" dirty="0"/>
              <a:t>’542’ </a:t>
            </a:r>
            <a:r>
              <a:rPr lang="en-US" altLang="nl-NL" dirty="0">
                <a:solidFill>
                  <a:srgbClr val="006600"/>
                </a:solidFill>
              </a:rPr>
              <a:t>AS</a:t>
            </a:r>
            <a:r>
              <a:rPr lang="en-US" altLang="nl-NL" dirty="0"/>
              <a:t> V1</a:t>
            </a:r>
          </a:p>
          <a:p>
            <a:r>
              <a:rPr lang="en-US" altLang="nl-NL" dirty="0"/>
              <a:t>An attribute could be a literal </a:t>
            </a:r>
            <a:r>
              <a:rPr lang="en-US" dirty="0"/>
              <a:t>with </a:t>
            </a:r>
            <a:r>
              <a:rPr lang="en-US" b="1" dirty="0"/>
              <a:t>FROM</a:t>
            </a:r>
            <a:r>
              <a:rPr lang="en-US" dirty="0"/>
              <a:t> clause</a:t>
            </a:r>
            <a:endParaRPr lang="en-US" altLang="nl-NL" dirty="0"/>
          </a:p>
          <a:p>
            <a:pPr marL="0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   SELECT</a:t>
            </a:r>
            <a:r>
              <a:rPr lang="en-US" altLang="nl-NL" dirty="0"/>
              <a:t> ‘A’ </a:t>
            </a:r>
            <a:r>
              <a:rPr lang="en-US" altLang="nl-NL" dirty="0">
                <a:solidFill>
                  <a:srgbClr val="006600"/>
                </a:solidFill>
              </a:rPr>
              <a:t>FROM</a:t>
            </a:r>
            <a:r>
              <a:rPr lang="en-US" altLang="nl-NL" dirty="0"/>
              <a:t> instructor</a:t>
            </a:r>
          </a:p>
          <a:p>
            <a:pPr marL="231775" indent="-231775">
              <a:buNone/>
            </a:pPr>
            <a:r>
              <a:rPr lang="en-US" dirty="0"/>
              <a:t>   will return a relation with one column and N rows (the number of tuples in the ‘instructor ’ relation) where each row will contain the value “A”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BF9E50-A78C-E8A7-2CAF-A889888B7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9768EB-8508-666A-55A5-01A5F7D03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01762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SELECT Clause (Cont.)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544285" y="1415143"/>
            <a:ext cx="11411153" cy="4865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SELECT</a:t>
            </a:r>
            <a:r>
              <a:rPr lang="en-US" dirty="0"/>
              <a:t> clause can contain arithmetic expressions involving the operators *, +, -, and /. </a:t>
            </a:r>
          </a:p>
          <a:p>
            <a:pPr marL="0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   SELECT</a:t>
            </a:r>
            <a:r>
              <a:rPr lang="en-US" altLang="nl-NL" dirty="0"/>
              <a:t> ID, name, salary/12.0</a:t>
            </a:r>
          </a:p>
          <a:p>
            <a:pPr>
              <a:buFont typeface="Monotype Sorts" pitchFamily="2" charset="2"/>
              <a:buNone/>
            </a:pPr>
            <a:r>
              <a:rPr lang="en-US" altLang="nl-NL" dirty="0"/>
              <a:t>	 </a:t>
            </a:r>
            <a:r>
              <a:rPr lang="en-US" altLang="nl-NL" dirty="0">
                <a:solidFill>
                  <a:srgbClr val="006600"/>
                </a:solidFill>
              </a:rPr>
              <a:t>FROM</a:t>
            </a:r>
            <a:r>
              <a:rPr lang="en-US" altLang="nl-NL" dirty="0"/>
              <a:t> instructor</a:t>
            </a:r>
          </a:p>
          <a:p>
            <a:pPr marL="339725" indent="-339725">
              <a:buNone/>
            </a:pPr>
            <a:r>
              <a:rPr lang="en-US" dirty="0"/>
              <a:t>    This query would return a relation with the same number of records as the ‘instructor’ relation and the (ID, name, </a:t>
            </a:r>
            <a:r>
              <a:rPr lang="en-US" altLang="nl-NL" dirty="0"/>
              <a:t>salary/12.0)</a:t>
            </a:r>
            <a:r>
              <a:rPr lang="en-US" dirty="0"/>
              <a:t> where the yearly salary is replaced by the monthly salary </a:t>
            </a:r>
          </a:p>
          <a:p>
            <a:pPr marL="339725" indent="-339725">
              <a:buNone/>
            </a:pPr>
            <a:r>
              <a:rPr lang="en-US" dirty="0"/>
              <a:t>	We can rename the “</a:t>
            </a:r>
            <a:r>
              <a:rPr lang="en-US" altLang="nl-NL" dirty="0"/>
              <a:t>salary/12.0</a:t>
            </a:r>
            <a:r>
              <a:rPr lang="en-US" dirty="0"/>
              <a:t>” using the </a:t>
            </a:r>
            <a:r>
              <a:rPr lang="en-US" b="1" dirty="0"/>
              <a:t>AS</a:t>
            </a:r>
            <a:r>
              <a:rPr lang="en-US" dirty="0"/>
              <a:t> clause</a:t>
            </a:r>
          </a:p>
          <a:p>
            <a:pPr marL="0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    SELECT</a:t>
            </a:r>
            <a:r>
              <a:rPr lang="en-US" altLang="nl-NL" dirty="0"/>
              <a:t> ID, name, salary/12.0 as </a:t>
            </a:r>
            <a:r>
              <a:rPr lang="en-US" altLang="nl-NL" dirty="0" err="1"/>
              <a:t>monthly_salary</a:t>
            </a:r>
            <a:endParaRPr lang="en-US" altLang="nl-NL" dirty="0"/>
          </a:p>
          <a:p>
            <a:pPr>
              <a:buFont typeface="Monotype Sorts" pitchFamily="2" charset="2"/>
              <a:buNone/>
            </a:pPr>
            <a:r>
              <a:rPr lang="en-US" altLang="nl-NL" dirty="0"/>
              <a:t> 	 </a:t>
            </a:r>
            <a:r>
              <a:rPr lang="en-US" altLang="nl-NL" dirty="0">
                <a:solidFill>
                  <a:srgbClr val="006600"/>
                </a:solidFill>
              </a:rPr>
              <a:t>FROM</a:t>
            </a:r>
            <a:r>
              <a:rPr lang="en-US" altLang="nl-NL" dirty="0"/>
              <a:t> instructor</a:t>
            </a:r>
          </a:p>
          <a:p>
            <a:pPr marL="339725" indent="-339725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8FE1FD-3C2F-EB2A-1AD7-97D5E67D9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868E7-0B46-7058-3CB5-05DBD54FA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155731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WHERE Clause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544285" y="1415143"/>
            <a:ext cx="11411153" cy="4865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Specifies conditions that the result must satisfy</a:t>
            </a:r>
          </a:p>
          <a:p>
            <a:pPr lvl="1"/>
            <a:r>
              <a:rPr lang="en-US" altLang="nl-NL" dirty="0"/>
              <a:t>Corresponds to the selection predicate of the relational algebra</a:t>
            </a:r>
          </a:p>
          <a:p>
            <a:r>
              <a:rPr lang="en-US" altLang="nl-NL" dirty="0"/>
              <a:t>To find all students enrolled in the ‘Math.’ department</a:t>
            </a:r>
          </a:p>
          <a:p>
            <a:pPr marL="0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   SELECT</a:t>
            </a:r>
            <a:r>
              <a:rPr lang="en-US" altLang="nl-NL" dirty="0"/>
              <a:t> ID, name	 </a:t>
            </a:r>
            <a:r>
              <a:rPr lang="en-US" altLang="nl-NL" dirty="0">
                <a:solidFill>
                  <a:srgbClr val="006600"/>
                </a:solidFill>
              </a:rPr>
              <a:t>FROM</a:t>
            </a:r>
            <a:r>
              <a:rPr lang="en-US" altLang="nl-NL" dirty="0"/>
              <a:t> student</a:t>
            </a:r>
          </a:p>
          <a:p>
            <a:pPr marL="0" indent="0">
              <a:buNone/>
            </a:pPr>
            <a:r>
              <a:rPr lang="en-US" altLang="nl-NL" dirty="0"/>
              <a:t>    </a:t>
            </a:r>
            <a:r>
              <a:rPr lang="en-US" altLang="nl-NL" dirty="0">
                <a:solidFill>
                  <a:srgbClr val="006600"/>
                </a:solidFill>
              </a:rPr>
              <a:t>WHERE</a:t>
            </a:r>
            <a:r>
              <a:rPr lang="en-US" altLang="nl-NL" dirty="0"/>
              <a:t> </a:t>
            </a:r>
            <a:r>
              <a:rPr lang="en-US" altLang="nl-NL" dirty="0" err="1"/>
              <a:t>dept_name</a:t>
            </a:r>
            <a:r>
              <a:rPr lang="en-US" altLang="nl-NL" dirty="0"/>
              <a:t> = ‘Math.’</a:t>
            </a:r>
          </a:p>
          <a:p>
            <a:r>
              <a:rPr lang="en-US" dirty="0"/>
              <a:t>Conditions can be also combined using logical operators (AND, OR, NOT)</a:t>
            </a:r>
          </a:p>
          <a:p>
            <a:pPr lvl="1"/>
            <a:r>
              <a:rPr lang="en-US" dirty="0"/>
              <a:t>Find all students in the </a:t>
            </a:r>
            <a:r>
              <a:rPr lang="en-US" altLang="nl-NL" dirty="0"/>
              <a:t>‘Math.’ department who completed a minimum of 24 credits</a:t>
            </a:r>
          </a:p>
          <a:p>
            <a:pPr marL="0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	</a:t>
            </a:r>
            <a:r>
              <a:rPr lang="en-US" altLang="nl-NL" sz="2400" dirty="0">
                <a:solidFill>
                  <a:srgbClr val="006600"/>
                </a:solidFill>
              </a:rPr>
              <a:t>SELECT</a:t>
            </a:r>
            <a:r>
              <a:rPr lang="en-US" altLang="nl-NL" sz="2400" dirty="0"/>
              <a:t> ID, name  </a:t>
            </a:r>
            <a:r>
              <a:rPr lang="en-US" altLang="nl-NL" sz="2400" dirty="0">
                <a:solidFill>
                  <a:srgbClr val="006600"/>
                </a:solidFill>
              </a:rPr>
              <a:t>FROM</a:t>
            </a:r>
            <a:r>
              <a:rPr lang="en-US" altLang="nl-NL" sz="2400" dirty="0"/>
              <a:t> student</a:t>
            </a:r>
          </a:p>
          <a:p>
            <a:pPr marL="0" indent="0">
              <a:buNone/>
            </a:pPr>
            <a:r>
              <a:rPr lang="en-US" altLang="nl-NL" sz="2400" dirty="0"/>
              <a:t>    	</a:t>
            </a:r>
            <a:r>
              <a:rPr lang="en-US" altLang="nl-NL" sz="2400" dirty="0">
                <a:solidFill>
                  <a:srgbClr val="006600"/>
                </a:solidFill>
              </a:rPr>
              <a:t>WHERE</a:t>
            </a:r>
            <a:r>
              <a:rPr lang="en-US" altLang="nl-NL" sz="2400" dirty="0"/>
              <a:t> </a:t>
            </a:r>
            <a:r>
              <a:rPr lang="en-US" altLang="nl-NL" sz="2400" dirty="0" err="1"/>
              <a:t>dept_name</a:t>
            </a:r>
            <a:r>
              <a:rPr lang="en-US" altLang="nl-NL" sz="2400" dirty="0"/>
              <a:t> = ‘Math.’ </a:t>
            </a:r>
            <a:r>
              <a:rPr lang="en-US" altLang="nl-NL" sz="2400" dirty="0">
                <a:solidFill>
                  <a:srgbClr val="006600"/>
                </a:solidFill>
              </a:rPr>
              <a:t>AND </a:t>
            </a:r>
            <a:r>
              <a:rPr lang="en-US" altLang="nl-NL" sz="2400" dirty="0" err="1"/>
              <a:t>tot_cred</a:t>
            </a:r>
            <a:r>
              <a:rPr lang="en-US" altLang="nl-NL" sz="2400" dirty="0"/>
              <a:t> &gt;= 24</a:t>
            </a:r>
          </a:p>
          <a:p>
            <a:r>
              <a:rPr lang="en-US" altLang="nl-NL" dirty="0"/>
              <a:t>Comparisons =, &lt;&gt;, &lt;, &gt;, &lt;=, &gt;=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6BCECE-B3C0-0DEC-6ED6-C8478873A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FFA72-6962-D0AD-DF90-D7A1C7479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936465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FROM Clause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544285" y="1415143"/>
            <a:ext cx="11411153" cy="4865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Lists the relations involved in the query </a:t>
            </a:r>
          </a:p>
          <a:p>
            <a:pPr lvl="1"/>
            <a:r>
              <a:rPr lang="en-US" dirty="0"/>
              <a:t>Corresponds to the Cartesian product operation of the relational algebra</a:t>
            </a:r>
          </a:p>
          <a:p>
            <a:r>
              <a:rPr lang="en-US" altLang="en-US" dirty="0"/>
              <a:t>Find the Cartesian product </a:t>
            </a:r>
            <a:r>
              <a:rPr lang="en-US" altLang="en-US" i="1" dirty="0"/>
              <a:t>’ instructor’ X ’ teaches’</a:t>
            </a:r>
          </a:p>
          <a:p>
            <a:pPr marL="0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    SELECT</a:t>
            </a:r>
            <a:r>
              <a:rPr lang="en-US" altLang="nl-NL" dirty="0"/>
              <a:t> *  </a:t>
            </a:r>
            <a:r>
              <a:rPr lang="en-US" altLang="nl-NL" dirty="0">
                <a:solidFill>
                  <a:srgbClr val="006600"/>
                </a:solidFill>
              </a:rPr>
              <a:t>FROM</a:t>
            </a:r>
            <a:r>
              <a:rPr lang="en-US" altLang="nl-NL" dirty="0"/>
              <a:t> instructor, teaches</a:t>
            </a:r>
            <a:endParaRPr lang="en-US" altLang="en-US" dirty="0"/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dirty="0"/>
              <a:t>Generates every possible instructor – teaches pairs, with all attributes from both relations.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dirty="0"/>
              <a:t>For common attributes (e.g., </a:t>
            </a:r>
            <a:r>
              <a:rPr lang="en-US" altLang="en-US" i="1" dirty="0"/>
              <a:t>ID</a:t>
            </a:r>
            <a:r>
              <a:rPr lang="en-US" altLang="en-US" dirty="0"/>
              <a:t>), the attributes  in the resulting table are renamed using the relation name (e.g., </a:t>
            </a:r>
            <a:r>
              <a:rPr lang="en-US" altLang="en-US" i="1" dirty="0" err="1"/>
              <a:t>instructor.ID</a:t>
            </a:r>
            <a:r>
              <a:rPr lang="en-US" altLang="en-US" dirty="0"/>
              <a:t>)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dirty="0"/>
              <a:t>Similar to the cartesian product in RA</a:t>
            </a:r>
          </a:p>
          <a:p>
            <a:r>
              <a:rPr lang="en-US" altLang="en-US" dirty="0"/>
              <a:t>Cartesian product not very useful directly, but useful when combined with where-clause condition.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774A45-1890-40BB-DC1B-4813864A0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B506D-20B1-F8B8-F092-1A43FCBEE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798181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SELECT-FROM-WHERE Examples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415143"/>
            <a:ext cx="10515600" cy="4865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nl-NL" dirty="0">
                <a:solidFill>
                  <a:srgbClr val="006600"/>
                </a:solidFill>
              </a:rPr>
              <a:t>	SELECT</a:t>
            </a:r>
            <a:r>
              <a:rPr lang="en-US" altLang="nl-NL" dirty="0"/>
              <a:t> name, </a:t>
            </a:r>
            <a:r>
              <a:rPr lang="en-US" altLang="nl-NL" dirty="0" err="1"/>
              <a:t>course_id</a:t>
            </a:r>
            <a:endParaRPr lang="en-US" altLang="nl-NL" dirty="0"/>
          </a:p>
          <a:p>
            <a:pPr>
              <a:buFont typeface="Monotype Sorts" pitchFamily="2" charset="2"/>
              <a:buNone/>
            </a:pPr>
            <a:r>
              <a:rPr lang="en-US" altLang="nl-NL" dirty="0"/>
              <a:t>	</a:t>
            </a:r>
            <a:r>
              <a:rPr lang="en-US" altLang="nl-NL" dirty="0">
                <a:solidFill>
                  <a:srgbClr val="006600"/>
                </a:solidFill>
              </a:rPr>
              <a:t>FROM</a:t>
            </a:r>
            <a:r>
              <a:rPr lang="en-US" altLang="nl-NL" dirty="0"/>
              <a:t> instructor, teaches</a:t>
            </a:r>
          </a:p>
          <a:p>
            <a:pPr>
              <a:buFont typeface="Monotype Sorts" pitchFamily="2" charset="2"/>
              <a:buNone/>
            </a:pPr>
            <a:r>
              <a:rPr lang="en-US" altLang="nl-NL" dirty="0"/>
              <a:t>	</a:t>
            </a:r>
            <a:r>
              <a:rPr lang="en-US" altLang="nl-NL" dirty="0">
                <a:solidFill>
                  <a:srgbClr val="006600"/>
                </a:solidFill>
              </a:rPr>
              <a:t>WHERE</a:t>
            </a:r>
            <a:r>
              <a:rPr lang="en-US" altLang="nl-NL" dirty="0"/>
              <a:t> </a:t>
            </a:r>
            <a:r>
              <a:rPr lang="en-US" altLang="nl-NL" dirty="0" err="1"/>
              <a:t>instructor.ID</a:t>
            </a:r>
            <a:r>
              <a:rPr lang="en-US" altLang="nl-NL" dirty="0"/>
              <a:t> = </a:t>
            </a:r>
            <a:r>
              <a:rPr lang="en-US" altLang="nl-NL" dirty="0" err="1"/>
              <a:t>teaches.ID</a:t>
            </a:r>
            <a:endParaRPr lang="en-US" altLang="nl-NL" dirty="0"/>
          </a:p>
          <a:p>
            <a:pPr>
              <a:buFont typeface="Monotype Sorts" pitchFamily="2" charset="2"/>
              <a:buNone/>
            </a:pPr>
            <a:r>
              <a:rPr lang="en-US" altLang="nl-NL" dirty="0"/>
              <a:t>	Returns the names of all instructors who have taught any courses and the </a:t>
            </a:r>
            <a:r>
              <a:rPr lang="en-US" altLang="nl-NL" dirty="0" err="1"/>
              <a:t>course_id</a:t>
            </a:r>
            <a:endParaRPr lang="en-US" altLang="nl-NL" dirty="0"/>
          </a:p>
          <a:p>
            <a:pPr>
              <a:buFont typeface="Monotype Sorts" pitchFamily="2" charset="2"/>
              <a:buNone/>
            </a:pPr>
            <a:r>
              <a:rPr lang="en-US" altLang="nl-NL" dirty="0">
                <a:solidFill>
                  <a:srgbClr val="006600"/>
                </a:solidFill>
              </a:rPr>
              <a:t>   SELECT</a:t>
            </a:r>
            <a:r>
              <a:rPr lang="en-US" altLang="nl-NL" dirty="0"/>
              <a:t> name, </a:t>
            </a:r>
            <a:r>
              <a:rPr lang="en-US" altLang="nl-NL" dirty="0" err="1"/>
              <a:t>course_id</a:t>
            </a:r>
            <a:endParaRPr lang="en-US" altLang="nl-NL" dirty="0"/>
          </a:p>
          <a:p>
            <a:pPr>
              <a:buFont typeface="Monotype Sorts" pitchFamily="2" charset="2"/>
              <a:buNone/>
            </a:pPr>
            <a:r>
              <a:rPr lang="en-US" altLang="nl-NL" dirty="0"/>
              <a:t>	</a:t>
            </a:r>
            <a:r>
              <a:rPr lang="en-US" altLang="nl-NL" dirty="0">
                <a:solidFill>
                  <a:srgbClr val="006600"/>
                </a:solidFill>
              </a:rPr>
              <a:t>FROM</a:t>
            </a:r>
            <a:r>
              <a:rPr lang="en-US" altLang="nl-NL" dirty="0"/>
              <a:t> instructor, teaches</a:t>
            </a:r>
          </a:p>
          <a:p>
            <a:pPr>
              <a:buFont typeface="Monotype Sorts" pitchFamily="2" charset="2"/>
              <a:buNone/>
            </a:pPr>
            <a:r>
              <a:rPr lang="en-US" altLang="nl-NL" dirty="0"/>
              <a:t>	</a:t>
            </a:r>
            <a:r>
              <a:rPr lang="en-US" altLang="nl-NL" dirty="0">
                <a:solidFill>
                  <a:srgbClr val="006600"/>
                </a:solidFill>
              </a:rPr>
              <a:t>WHERE</a:t>
            </a:r>
            <a:r>
              <a:rPr lang="en-US" altLang="nl-NL" dirty="0"/>
              <a:t> </a:t>
            </a:r>
            <a:r>
              <a:rPr lang="en-US" altLang="nl-NL" dirty="0" err="1"/>
              <a:t>instructor.ID</a:t>
            </a:r>
            <a:r>
              <a:rPr lang="en-US" altLang="nl-NL" dirty="0"/>
              <a:t> = </a:t>
            </a:r>
            <a:r>
              <a:rPr lang="en-US" altLang="nl-NL" dirty="0" err="1"/>
              <a:t>teaches.ID</a:t>
            </a:r>
            <a:r>
              <a:rPr lang="en-US" altLang="nl-NL" dirty="0"/>
              <a:t> </a:t>
            </a:r>
            <a:r>
              <a:rPr lang="en-US" altLang="nl-NL" dirty="0">
                <a:solidFill>
                  <a:srgbClr val="006600"/>
                </a:solidFill>
              </a:rPr>
              <a:t>AND</a:t>
            </a:r>
            <a:r>
              <a:rPr lang="en-US" altLang="nl-NL" dirty="0"/>
              <a:t> </a:t>
            </a:r>
            <a:r>
              <a:rPr lang="en-US" altLang="nl-NL" dirty="0" err="1"/>
              <a:t>instructor.dept_name</a:t>
            </a:r>
            <a:r>
              <a:rPr lang="en-US" altLang="nl-NL" dirty="0"/>
              <a:t> = ‘Art’</a:t>
            </a:r>
          </a:p>
          <a:p>
            <a:pPr>
              <a:buFont typeface="Monotype Sorts" pitchFamily="2" charset="2"/>
              <a:buNone/>
            </a:pPr>
            <a:r>
              <a:rPr lang="en-US" altLang="nl-NL" dirty="0"/>
              <a:t>   Returns the </a:t>
            </a:r>
            <a:r>
              <a:rPr lang="en-US" altLang="en-US" dirty="0"/>
              <a:t>names of all instructors in the Art  department who have taught any courses and the </a:t>
            </a:r>
            <a:r>
              <a:rPr lang="en-US" altLang="en-US" dirty="0" err="1"/>
              <a:t>course_id</a:t>
            </a:r>
            <a:endParaRPr lang="en-US" altLang="nl-NL" dirty="0"/>
          </a:p>
          <a:p>
            <a:pPr>
              <a:buFont typeface="Monotype Sorts" pitchFamily="2" charset="2"/>
              <a:buNone/>
            </a:pPr>
            <a:endParaRPr lang="en-US" altLang="nl-NL" dirty="0"/>
          </a:p>
          <a:p>
            <a:pPr>
              <a:lnSpc>
                <a:spcPct val="100000"/>
              </a:lnSpc>
            </a:pP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C47B2F-8981-E73B-CD35-9A99F23A8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EBD1F-A3B6-3B73-2996-5010893FE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493850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Rename Operation 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415143"/>
            <a:ext cx="10515600" cy="4865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2055813" algn="l"/>
              </a:tabLst>
            </a:pPr>
            <a:r>
              <a:rPr lang="en-US" dirty="0"/>
              <a:t>SQL </a:t>
            </a:r>
            <a:r>
              <a:rPr lang="en-US" altLang="en-US" dirty="0"/>
              <a:t>allows renaming relations and attributes using the </a:t>
            </a:r>
            <a:r>
              <a:rPr lang="en-US" altLang="en-US" b="1" dirty="0"/>
              <a:t>AS </a:t>
            </a:r>
            <a:r>
              <a:rPr lang="en-US" altLang="en-US" dirty="0"/>
              <a:t>clause:</a:t>
            </a:r>
          </a:p>
          <a:p>
            <a:pPr>
              <a:buFont typeface="Monotype Sorts" pitchFamily="2" charset="2"/>
              <a:buNone/>
              <a:tabLst>
                <a:tab pos="2055813" algn="l"/>
              </a:tabLst>
            </a:pPr>
            <a:r>
              <a:rPr lang="en-US" altLang="en-US" i="1" dirty="0"/>
              <a:t>		old-name </a:t>
            </a:r>
            <a:r>
              <a:rPr lang="en-US" altLang="en-US" b="1" dirty="0"/>
              <a:t>AS</a:t>
            </a:r>
            <a:r>
              <a:rPr lang="en-US" altLang="en-US" i="1" dirty="0"/>
              <a:t> new-name</a:t>
            </a:r>
          </a:p>
          <a:p>
            <a:pPr>
              <a:tabLst>
                <a:tab pos="2055813" algn="l"/>
              </a:tabLst>
            </a:pPr>
            <a:r>
              <a:rPr lang="en-US" altLang="en-US" dirty="0"/>
              <a:t>Find the names of all instructors who have a higher salary than </a:t>
            </a:r>
            <a:br>
              <a:rPr lang="en-US" altLang="en-US" dirty="0"/>
            </a:br>
            <a:r>
              <a:rPr lang="en-US" altLang="en-US" dirty="0"/>
              <a:t>some instructor in ‘Comp. Sci’.</a:t>
            </a:r>
          </a:p>
          <a:p>
            <a:pPr marL="457200" lvl="1" indent="0">
              <a:buNone/>
              <a:tabLst>
                <a:tab pos="2055813" algn="l"/>
              </a:tabLst>
            </a:pPr>
            <a:r>
              <a:rPr lang="en-US" altLang="en-US" dirty="0">
                <a:solidFill>
                  <a:srgbClr val="006600"/>
                </a:solidFill>
              </a:rPr>
              <a:t>SELECT</a:t>
            </a:r>
            <a:r>
              <a:rPr lang="en-US" altLang="en-US" b="1" dirty="0"/>
              <a:t> </a:t>
            </a:r>
            <a:r>
              <a:rPr lang="en-US" altLang="en-US" dirty="0">
                <a:solidFill>
                  <a:srgbClr val="006600"/>
                </a:solidFill>
              </a:rPr>
              <a:t>DISTINCT</a:t>
            </a:r>
            <a:r>
              <a:rPr lang="en-US" altLang="en-US" b="1" dirty="0"/>
              <a:t> </a:t>
            </a:r>
            <a:r>
              <a:rPr lang="en-US" altLang="en-US" i="1" dirty="0" err="1"/>
              <a:t>T.name</a:t>
            </a:r>
            <a:br>
              <a:rPr lang="en-US" altLang="en-US" i="1" dirty="0"/>
            </a:br>
            <a:r>
              <a:rPr lang="en-US" altLang="en-US" dirty="0">
                <a:solidFill>
                  <a:srgbClr val="006600"/>
                </a:solidFill>
              </a:rPr>
              <a:t>FROM</a:t>
            </a:r>
            <a:r>
              <a:rPr lang="en-US" altLang="en-US" b="1" dirty="0"/>
              <a:t> </a:t>
            </a:r>
            <a:r>
              <a:rPr lang="en-US" altLang="en-US" i="1" dirty="0"/>
              <a:t>instructor </a:t>
            </a:r>
            <a:r>
              <a:rPr lang="en-US" altLang="en-US" dirty="0">
                <a:solidFill>
                  <a:srgbClr val="006600"/>
                </a:solidFill>
              </a:rPr>
              <a:t>AS</a:t>
            </a:r>
            <a:r>
              <a:rPr lang="en-US" altLang="en-US" b="1" dirty="0"/>
              <a:t> </a:t>
            </a:r>
            <a:r>
              <a:rPr lang="en-US" altLang="en-US" i="1" dirty="0"/>
              <a:t>T, instructor </a:t>
            </a:r>
            <a:r>
              <a:rPr lang="en-US" altLang="en-US" dirty="0">
                <a:solidFill>
                  <a:srgbClr val="006600"/>
                </a:solidFill>
              </a:rPr>
              <a:t>AS</a:t>
            </a:r>
            <a:r>
              <a:rPr lang="en-US" altLang="en-US" b="1" dirty="0"/>
              <a:t> </a:t>
            </a:r>
            <a:r>
              <a:rPr lang="en-US" altLang="en-US" i="1" dirty="0"/>
              <a:t>S</a:t>
            </a:r>
            <a:br>
              <a:rPr lang="en-US" altLang="en-US" i="1" dirty="0"/>
            </a:br>
            <a:r>
              <a:rPr lang="en-US" altLang="en-US" dirty="0">
                <a:solidFill>
                  <a:srgbClr val="006600"/>
                </a:solidFill>
              </a:rPr>
              <a:t>WHERE</a:t>
            </a:r>
            <a:r>
              <a:rPr lang="en-US" altLang="en-US" b="1" dirty="0"/>
              <a:t> </a:t>
            </a:r>
            <a:r>
              <a:rPr lang="en-US" altLang="en-US" i="1" dirty="0" err="1"/>
              <a:t>T.salary</a:t>
            </a:r>
            <a:r>
              <a:rPr lang="en-US" altLang="en-US" i="1" dirty="0"/>
              <a:t> &gt;= 75000 </a:t>
            </a:r>
            <a:r>
              <a:rPr lang="en-US" altLang="en-US" dirty="0">
                <a:solidFill>
                  <a:srgbClr val="006600"/>
                </a:solidFill>
              </a:rPr>
              <a:t>AND</a:t>
            </a:r>
            <a:r>
              <a:rPr lang="en-US" altLang="en-US" b="1" dirty="0"/>
              <a:t> </a:t>
            </a:r>
            <a:r>
              <a:rPr lang="en-US" altLang="en-US" i="1" dirty="0" err="1"/>
              <a:t>S.dept_name</a:t>
            </a:r>
            <a:r>
              <a:rPr lang="en-US" altLang="en-US" i="1" dirty="0"/>
              <a:t> = ‘Comp. Sci.’</a:t>
            </a:r>
          </a:p>
          <a:p>
            <a:pPr lvl="1">
              <a:buFont typeface="Monotype Sorts" pitchFamily="2" charset="2"/>
              <a:buNone/>
              <a:tabLst>
                <a:tab pos="2055813" algn="l"/>
              </a:tabLst>
            </a:pPr>
            <a:r>
              <a:rPr lang="en-US" altLang="en-US" dirty="0"/>
              <a:t>Returns the names of instructors in the ‘Comp. Sci.’ department joined with whose salary is greater than or equal 75000</a:t>
            </a:r>
          </a:p>
          <a:p>
            <a:pPr>
              <a:tabLst>
                <a:tab pos="2055813" algn="l"/>
              </a:tabLst>
            </a:pPr>
            <a:r>
              <a:rPr lang="en-US" altLang="en-US" dirty="0"/>
              <a:t>Keyword </a:t>
            </a:r>
            <a:r>
              <a:rPr lang="en-US" altLang="en-US" b="1" dirty="0"/>
              <a:t>AS</a:t>
            </a:r>
            <a:r>
              <a:rPr lang="en-US" altLang="en-US" dirty="0"/>
              <a:t> is optional and may be omitted</a:t>
            </a:r>
            <a:br>
              <a:rPr lang="en-US" altLang="en-US" dirty="0"/>
            </a:br>
            <a:r>
              <a:rPr lang="en-US" altLang="en-US" dirty="0"/>
              <a:t>              </a:t>
            </a:r>
            <a:r>
              <a:rPr lang="en-US" altLang="en-US" i="1" dirty="0"/>
              <a:t>instructor </a:t>
            </a:r>
            <a:r>
              <a:rPr lang="en-US" altLang="en-US" b="1" dirty="0"/>
              <a:t>AS </a:t>
            </a:r>
            <a:r>
              <a:rPr lang="en-US" altLang="en-US" i="1" dirty="0"/>
              <a:t>T ≡ instructor</a:t>
            </a:r>
            <a:r>
              <a:rPr lang="en-US" altLang="en-US" b="1" dirty="0"/>
              <a:t> </a:t>
            </a:r>
            <a:r>
              <a:rPr lang="en-US" altLang="en-US" i="1" dirty="0"/>
              <a:t>T</a:t>
            </a:r>
            <a:endParaRPr lang="en-US" altLang="en-US" dirty="0"/>
          </a:p>
          <a:p>
            <a:pPr>
              <a:buFont typeface="Monotype Sorts" pitchFamily="2" charset="2"/>
              <a:buNone/>
              <a:tabLst>
                <a:tab pos="2055813" algn="l"/>
              </a:tabLst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73A339-B6F5-BA0F-8E67-AF66E2ED4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90192-1CF6-1022-CB6B-7A654C65B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85422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Renaming Example: Self-Join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415143"/>
            <a:ext cx="10515600" cy="4865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nl-NL" dirty="0"/>
              <a:t>Sometimes, a query needs to use two copies of the same relation.</a:t>
            </a:r>
          </a:p>
          <a:p>
            <a:r>
              <a:rPr lang="en-US" altLang="nl-NL" dirty="0"/>
              <a:t>Distinguish copies by renaming the relations.</a:t>
            </a:r>
          </a:p>
          <a:p>
            <a:r>
              <a:rPr lang="en-US" altLang="nl-NL" dirty="0"/>
              <a:t>Example self-Join</a:t>
            </a:r>
          </a:p>
          <a:p>
            <a:pPr marL="457200" lvl="1" indent="0">
              <a:buNone/>
              <a:tabLst>
                <a:tab pos="2055813" algn="l"/>
              </a:tabLst>
            </a:pPr>
            <a:r>
              <a:rPr lang="en-US" altLang="en-US" dirty="0">
                <a:solidFill>
                  <a:srgbClr val="006600"/>
                </a:solidFill>
              </a:rPr>
              <a:t>SELECT</a:t>
            </a:r>
            <a:r>
              <a:rPr lang="en-US" altLang="en-US" b="1" dirty="0"/>
              <a:t> </a:t>
            </a:r>
            <a:r>
              <a:rPr lang="en-US" altLang="en-US" i="1" dirty="0" err="1"/>
              <a:t>T.name</a:t>
            </a:r>
            <a:r>
              <a:rPr lang="en-US" altLang="en-US" i="1" dirty="0"/>
              <a:t> </a:t>
            </a:r>
            <a:r>
              <a:rPr lang="en-US" altLang="en-US" dirty="0">
                <a:solidFill>
                  <a:srgbClr val="006600"/>
                </a:solidFill>
              </a:rPr>
              <a:t>AS</a:t>
            </a:r>
            <a:r>
              <a:rPr lang="en-US" altLang="en-US" i="1" dirty="0"/>
              <a:t> N1, </a:t>
            </a:r>
            <a:r>
              <a:rPr lang="en-US" altLang="en-US" i="1" dirty="0" err="1"/>
              <a:t>S.name</a:t>
            </a:r>
            <a:r>
              <a:rPr lang="en-US" altLang="en-US" i="1" dirty="0"/>
              <a:t> </a:t>
            </a:r>
            <a:r>
              <a:rPr lang="en-US" altLang="en-US" dirty="0">
                <a:solidFill>
                  <a:srgbClr val="006600"/>
                </a:solidFill>
              </a:rPr>
              <a:t>AS</a:t>
            </a:r>
            <a:r>
              <a:rPr lang="en-US" altLang="en-US" i="1" dirty="0"/>
              <a:t> N2</a:t>
            </a:r>
            <a:br>
              <a:rPr lang="en-US" altLang="en-US" i="1" dirty="0"/>
            </a:br>
            <a:r>
              <a:rPr lang="en-US" altLang="en-US" dirty="0">
                <a:solidFill>
                  <a:srgbClr val="006600"/>
                </a:solidFill>
              </a:rPr>
              <a:t>FROM</a:t>
            </a:r>
            <a:r>
              <a:rPr lang="en-US" altLang="en-US" b="1" dirty="0"/>
              <a:t> </a:t>
            </a:r>
            <a:r>
              <a:rPr lang="en-US" altLang="en-US" i="1" dirty="0"/>
              <a:t>instructor T, instructor S</a:t>
            </a:r>
            <a:br>
              <a:rPr lang="en-US" altLang="en-US" i="1" dirty="0"/>
            </a:br>
            <a:r>
              <a:rPr lang="en-US" altLang="en-US" dirty="0">
                <a:solidFill>
                  <a:srgbClr val="006600"/>
                </a:solidFill>
              </a:rPr>
              <a:t>WHERE</a:t>
            </a:r>
            <a:r>
              <a:rPr lang="en-US" altLang="en-US" b="1" dirty="0"/>
              <a:t> </a:t>
            </a:r>
            <a:r>
              <a:rPr lang="en-US" altLang="en-US" i="1" dirty="0" err="1"/>
              <a:t>T.salary</a:t>
            </a:r>
            <a:r>
              <a:rPr lang="en-US" altLang="en-US" i="1" dirty="0"/>
              <a:t> = </a:t>
            </a:r>
            <a:r>
              <a:rPr lang="en-US" altLang="en-US" i="1" dirty="0" err="1"/>
              <a:t>S.salary</a:t>
            </a:r>
            <a:r>
              <a:rPr lang="en-US" altLang="en-US" i="1" dirty="0"/>
              <a:t> </a:t>
            </a:r>
            <a:r>
              <a:rPr lang="en-US" altLang="en-US" dirty="0">
                <a:solidFill>
                  <a:srgbClr val="006600"/>
                </a:solidFill>
              </a:rPr>
              <a:t>AND</a:t>
            </a:r>
            <a:r>
              <a:rPr lang="en-US" altLang="en-US" i="1" dirty="0"/>
              <a:t> </a:t>
            </a:r>
            <a:r>
              <a:rPr lang="en-US" altLang="en-US" i="1" dirty="0" err="1"/>
              <a:t>T.name</a:t>
            </a:r>
            <a:r>
              <a:rPr lang="en-US" altLang="en-US" i="1" dirty="0"/>
              <a:t> &lt; </a:t>
            </a:r>
            <a:r>
              <a:rPr lang="en-US" altLang="en-US" i="1" dirty="0" err="1"/>
              <a:t>S.name</a:t>
            </a:r>
            <a:endParaRPr lang="en-US" altLang="en-US" i="1" dirty="0"/>
          </a:p>
          <a:p>
            <a:pPr lvl="1">
              <a:tabLst>
                <a:tab pos="2055813" algn="l"/>
              </a:tabLst>
            </a:pPr>
            <a:r>
              <a:rPr lang="en-US" altLang="en-US" dirty="0"/>
              <a:t>Returns the names of instructors who has the same salary </a:t>
            </a:r>
          </a:p>
          <a:p>
            <a:pPr lvl="1">
              <a:tabLst>
                <a:tab pos="2055813" algn="l"/>
              </a:tabLst>
            </a:pPr>
            <a:r>
              <a:rPr lang="en-US" altLang="en-US" dirty="0"/>
              <a:t>Do not produce pairs like (Miller, Miller)</a:t>
            </a:r>
          </a:p>
          <a:p>
            <a:pPr lvl="1">
              <a:tabLst>
                <a:tab pos="2055813" algn="l"/>
              </a:tabLst>
            </a:pPr>
            <a:r>
              <a:rPr lang="en-US" altLang="en-US" dirty="0"/>
              <a:t>Produces pairs in alphabetic order, e.g. (Adison, Miller), not (Miller, Adison)</a:t>
            </a:r>
          </a:p>
          <a:p>
            <a:pPr>
              <a:tabLst>
                <a:tab pos="2055813" algn="l"/>
              </a:tabLst>
            </a:pPr>
            <a:r>
              <a:rPr lang="en-US" altLang="en-US" dirty="0"/>
              <a:t>Note that we omit AS when renaming the relations</a:t>
            </a:r>
          </a:p>
          <a:p>
            <a:pPr>
              <a:buFont typeface="Monotype Sorts" pitchFamily="2" charset="2"/>
              <a:buNone/>
              <a:tabLst>
                <a:tab pos="2055813" algn="l"/>
              </a:tabLst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9CBE2F-6E30-4EE9-3E03-7DE2F4A83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FF97F-5723-3F5C-0E3B-941B10B04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64495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6CD3B5-1216-46F4-B818-731C1918B707}"/>
              </a:ext>
            </a:extLst>
          </p:cNvPr>
          <p:cNvCxnSpPr>
            <a:cxnSpLocks/>
          </p:cNvCxnSpPr>
          <p:nvPr/>
        </p:nvCxnSpPr>
        <p:spPr>
          <a:xfrm>
            <a:off x="1094720" y="4985657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26" name="Picture 2" descr="A image with text its time for coding Royalty Free Vector">
            <a:extLst>
              <a:ext uri="{FF2B5EF4-FFF2-40B4-BE49-F238E27FC236}">
                <a16:creationId xmlns:a16="http://schemas.microsoft.com/office/drawing/2014/main" id="{4A42E112-7742-AA61-20BA-A7A2F4FE7E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505"/>
          <a:stretch/>
        </p:blipFill>
        <p:spPr bwMode="auto">
          <a:xfrm>
            <a:off x="3984172" y="925286"/>
            <a:ext cx="3795486" cy="3668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86D513-DD50-C30D-6645-927B1D1A1594}"/>
              </a:ext>
            </a:extLst>
          </p:cNvPr>
          <p:cNvSpPr txBox="1"/>
          <p:nvPr/>
        </p:nvSpPr>
        <p:spPr>
          <a:xfrm>
            <a:off x="1094720" y="5246914"/>
            <a:ext cx="999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 us try:</a:t>
            </a:r>
          </a:p>
          <a:p>
            <a:r>
              <a:rPr lang="en-US" dirty="0"/>
              <a:t>Running a few SQL queries on different platforms (SQLite3 command line, Google </a:t>
            </a:r>
            <a:r>
              <a:rPr lang="en-US" dirty="0" err="1"/>
              <a:t>Colab</a:t>
            </a:r>
            <a:r>
              <a:rPr lang="en-US" dirty="0"/>
              <a:t>, and w3school)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EC3BBE9-8464-2CFF-7B2B-DF2D56025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8BB3F-4FF8-372A-DD00-57E44C632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206931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have we learnt?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415143"/>
            <a:ext cx="10515600" cy="4865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nl-NL" dirty="0">
                <a:solidFill>
                  <a:srgbClr val="006600"/>
                </a:solidFill>
              </a:rPr>
              <a:t>	Let us spend 2 minutes to look at what we have studied so far</a:t>
            </a:r>
            <a:endParaRPr lang="en-US" altLang="nl-NL" dirty="0"/>
          </a:p>
          <a:p>
            <a:pPr>
              <a:lnSpc>
                <a:spcPct val="100000"/>
              </a:lnSpc>
            </a:pP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FF2C2A-EE97-1807-F123-7B1B27CC2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8153A-3CD1-2478-0EBF-591880379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343381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Operation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415143"/>
            <a:ext cx="10515600" cy="4865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nl-NL" b="1" dirty="0"/>
              <a:t>JOIN </a:t>
            </a:r>
            <a:r>
              <a:rPr lang="en-US" altLang="nl-NL" dirty="0"/>
              <a:t>operations take two relations and return as a result another relation.</a:t>
            </a:r>
          </a:p>
          <a:p>
            <a:r>
              <a:rPr lang="en-US" altLang="nl-NL" dirty="0"/>
              <a:t>A join operation is a Cartesian product which requires that tuples in the two relations match (under some condition).  It also specifies the attributes that are present in the result of the join </a:t>
            </a:r>
          </a:p>
          <a:p>
            <a:r>
              <a:rPr lang="en-US" altLang="nl-NL" dirty="0"/>
              <a:t>The join operations are typically used as subquery expressions in the </a:t>
            </a:r>
            <a:r>
              <a:rPr lang="en-US" altLang="nl-NL" b="1" dirty="0"/>
              <a:t>FROM </a:t>
            </a:r>
            <a:r>
              <a:rPr lang="en-US" altLang="nl-NL" dirty="0"/>
              <a:t>clause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908CFF-9CC0-33FA-63AE-0A5A810FB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1C841-C7DE-43FC-9D82-194A083E0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51587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Operation (Cont.)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415143"/>
            <a:ext cx="10515600" cy="2619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nl-NL" dirty="0"/>
              <a:t>We will consider the following relations in the few coming slides</a:t>
            </a:r>
          </a:p>
          <a:p>
            <a:r>
              <a:rPr lang="en-US" altLang="nl-NL" dirty="0"/>
              <a:t>Relation </a:t>
            </a:r>
            <a:r>
              <a:rPr lang="en-US" altLang="nl-NL" i="1" dirty="0"/>
              <a:t>course</a:t>
            </a:r>
          </a:p>
          <a:p>
            <a:endParaRPr lang="en-US" altLang="nl-NL" i="1" dirty="0"/>
          </a:p>
          <a:p>
            <a:endParaRPr lang="en-US" altLang="nl-NL" i="1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A0765723-5D1D-4B24-8DDA-FECD10D578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325254"/>
              </p:ext>
            </p:extLst>
          </p:nvPr>
        </p:nvGraphicFramePr>
        <p:xfrm>
          <a:off x="1554328" y="2550842"/>
          <a:ext cx="6306783" cy="14833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257111">
                  <a:extLst>
                    <a:ext uri="{9D8B030D-6E8A-4147-A177-3AD203B41FA5}">
                      <a16:colId xmlns:a16="http://schemas.microsoft.com/office/drawing/2014/main" val="1014204439"/>
                    </a:ext>
                  </a:extLst>
                </a:gridCol>
                <a:gridCol w="1896281">
                  <a:extLst>
                    <a:ext uri="{9D8B030D-6E8A-4147-A177-3AD203B41FA5}">
                      <a16:colId xmlns:a16="http://schemas.microsoft.com/office/drawing/2014/main" val="3003598491"/>
                    </a:ext>
                  </a:extLst>
                </a:gridCol>
                <a:gridCol w="1591992">
                  <a:extLst>
                    <a:ext uri="{9D8B030D-6E8A-4147-A177-3AD203B41FA5}">
                      <a16:colId xmlns:a16="http://schemas.microsoft.com/office/drawing/2014/main" val="2591611502"/>
                    </a:ext>
                  </a:extLst>
                </a:gridCol>
                <a:gridCol w="1561399">
                  <a:extLst>
                    <a:ext uri="{9D8B030D-6E8A-4147-A177-3AD203B41FA5}">
                      <a16:colId xmlns:a16="http://schemas.microsoft.com/office/drawing/2014/main" val="1449077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course_id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title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dept_name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credits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355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BIO-301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Genetics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Biology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331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CS-490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Game Design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Comp. Sci.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073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CS-315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Boolean Algebra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Comp. Sci.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281814"/>
                  </a:ext>
                </a:extLst>
              </a:tr>
            </a:tbl>
          </a:graphicData>
        </a:graphic>
      </p:graphicFrame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8E6D356D-756A-4711-9DCC-4539305013C4}"/>
              </a:ext>
            </a:extLst>
          </p:cNvPr>
          <p:cNvSpPr txBox="1">
            <a:spLocks/>
          </p:cNvSpPr>
          <p:nvPr/>
        </p:nvSpPr>
        <p:spPr>
          <a:xfrm>
            <a:off x="1033201" y="4165977"/>
            <a:ext cx="5353951" cy="2619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nl-NL" dirty="0"/>
              <a:t>Relation </a:t>
            </a:r>
            <a:r>
              <a:rPr lang="en-US" altLang="nl-NL" i="1" dirty="0" err="1"/>
              <a:t>prereq</a:t>
            </a:r>
            <a:endParaRPr lang="en-US" altLang="nl-NL" i="1" dirty="0"/>
          </a:p>
          <a:p>
            <a:endParaRPr lang="en-US" altLang="nl-NL" i="1" dirty="0"/>
          </a:p>
          <a:p>
            <a:endParaRPr lang="en-US" altLang="nl-NL" i="1" dirty="0"/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B9E35F29-27F9-4671-8F97-E971D55B2F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965480"/>
              </p:ext>
            </p:extLst>
          </p:nvPr>
        </p:nvGraphicFramePr>
        <p:xfrm>
          <a:off x="2227001" y="4733826"/>
          <a:ext cx="2672546" cy="14833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336273">
                  <a:extLst>
                    <a:ext uri="{9D8B030D-6E8A-4147-A177-3AD203B41FA5}">
                      <a16:colId xmlns:a16="http://schemas.microsoft.com/office/drawing/2014/main" val="1014204439"/>
                    </a:ext>
                  </a:extLst>
                </a:gridCol>
                <a:gridCol w="1336273">
                  <a:extLst>
                    <a:ext uri="{9D8B030D-6E8A-4147-A177-3AD203B41FA5}">
                      <a16:colId xmlns:a16="http://schemas.microsoft.com/office/drawing/2014/main" val="30035984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course_id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prereq_id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355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BIO-301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BIO-101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331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CS-490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CS-101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073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CS-347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CS-201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281814"/>
                  </a:ext>
                </a:extLst>
              </a:tr>
            </a:tbl>
          </a:graphicData>
        </a:graphic>
      </p:graphicFrame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EAB1C909-8B54-43B8-948B-FFC507E18347}"/>
              </a:ext>
            </a:extLst>
          </p:cNvPr>
          <p:cNvSpPr txBox="1">
            <a:spLocks/>
          </p:cNvSpPr>
          <p:nvPr/>
        </p:nvSpPr>
        <p:spPr>
          <a:xfrm>
            <a:off x="6838049" y="4238941"/>
            <a:ext cx="5353951" cy="2619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nl-NL" dirty="0"/>
              <a:t>Note that:</a:t>
            </a:r>
          </a:p>
          <a:p>
            <a:pPr lvl="1"/>
            <a:r>
              <a:rPr lang="en-US" altLang="nl-NL" i="1" dirty="0" err="1"/>
              <a:t>prereq</a:t>
            </a:r>
            <a:r>
              <a:rPr lang="en-US" altLang="nl-NL" i="1" dirty="0"/>
              <a:t> </a:t>
            </a:r>
            <a:r>
              <a:rPr lang="en-US" altLang="nl-NL" dirty="0"/>
              <a:t>information is missing for course CS-315</a:t>
            </a:r>
          </a:p>
          <a:p>
            <a:pPr lvl="1"/>
            <a:r>
              <a:rPr lang="en-US" altLang="nl-NL" i="1" dirty="0"/>
              <a:t>course information is missing for course CS-347</a:t>
            </a:r>
          </a:p>
          <a:p>
            <a:endParaRPr lang="en-US" altLang="nl-NL" i="1" dirty="0"/>
          </a:p>
          <a:p>
            <a:endParaRPr lang="en-US" altLang="nl-NL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876D1E-A723-F552-D5C3-C18961F1C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B005D4-4B40-EE84-1A6E-5F2159C5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189718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Outer Join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415143"/>
            <a:ext cx="10515600" cy="4972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nl-NL" dirty="0"/>
              <a:t>An extension of the join operation that avoids loss of information.</a:t>
            </a:r>
          </a:p>
          <a:p>
            <a:r>
              <a:rPr lang="en-US" altLang="nl-NL" dirty="0"/>
              <a:t>Computes the join and then adds tuples form one relation that does not match tuples in the other relation to the result of the join. </a:t>
            </a:r>
          </a:p>
          <a:p>
            <a:r>
              <a:rPr lang="en-US" altLang="nl-NL" dirty="0"/>
              <a:t>Uses </a:t>
            </a:r>
            <a:r>
              <a:rPr lang="en-US" altLang="nl-NL" i="1" dirty="0"/>
              <a:t>null</a:t>
            </a:r>
            <a:r>
              <a:rPr lang="en-US" altLang="nl-NL" dirty="0"/>
              <a:t> values.</a:t>
            </a:r>
          </a:p>
          <a:p>
            <a:endParaRPr lang="en-US" altLang="nl-NL" i="1" dirty="0"/>
          </a:p>
          <a:p>
            <a:endParaRPr lang="en-US" altLang="nl-NL" i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0DA049-B9FF-60BE-22DD-5885320C2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63F95-D93E-530F-3BCE-FB8170D8B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626998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Outer Join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1082344" y="1283368"/>
            <a:ext cx="10515600" cy="4972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>
                <a:solidFill>
                  <a:srgbClr val="006600"/>
                </a:solidFill>
              </a:rPr>
              <a:t>SELECT</a:t>
            </a:r>
            <a:r>
              <a:rPr lang="en-US" altLang="en-US" b="1" dirty="0"/>
              <a:t> </a:t>
            </a:r>
            <a:r>
              <a:rPr lang="en-US" altLang="en-US" dirty="0"/>
              <a:t>*</a:t>
            </a:r>
            <a:br>
              <a:rPr lang="en-US" altLang="en-US" i="1" dirty="0"/>
            </a:br>
            <a:r>
              <a:rPr lang="en-US" altLang="en-US" dirty="0">
                <a:solidFill>
                  <a:srgbClr val="006600"/>
                </a:solidFill>
              </a:rPr>
              <a:t>FROM</a:t>
            </a:r>
            <a:r>
              <a:rPr lang="en-US" altLang="en-US" b="1" dirty="0"/>
              <a:t> </a:t>
            </a:r>
            <a:r>
              <a:rPr lang="en-US" altLang="en-US" i="1" dirty="0"/>
              <a:t>course</a:t>
            </a:r>
          </a:p>
          <a:p>
            <a:pPr marL="0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LEFT OUTER JOIN </a:t>
            </a:r>
            <a:r>
              <a:rPr lang="en-US" altLang="nl-NL" dirty="0" err="1"/>
              <a:t>prereq</a:t>
            </a:r>
            <a:r>
              <a:rPr lang="en-US" altLang="nl-NL" dirty="0"/>
              <a:t> </a:t>
            </a:r>
          </a:p>
          <a:p>
            <a:pPr marL="0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ON</a:t>
            </a:r>
            <a:r>
              <a:rPr lang="en-US" altLang="nl-NL" dirty="0"/>
              <a:t> </a:t>
            </a:r>
            <a:r>
              <a:rPr lang="en-US" altLang="nl-NL" dirty="0" err="1"/>
              <a:t>course.course_id</a:t>
            </a:r>
            <a:r>
              <a:rPr lang="en-US" altLang="nl-NL" dirty="0"/>
              <a:t> = </a:t>
            </a:r>
            <a:r>
              <a:rPr lang="en-US" altLang="nl-NL" dirty="0" err="1"/>
              <a:t>prereq.course_id</a:t>
            </a:r>
            <a:endParaRPr lang="en-US" altLang="nl-NL" i="1" dirty="0"/>
          </a:p>
          <a:p>
            <a:endParaRPr lang="en-US" altLang="nl-NL" i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89AE373-FBAA-4233-A3C5-3BC3CA85BF2D}"/>
              </a:ext>
            </a:extLst>
          </p:cNvPr>
          <p:cNvGraphicFramePr>
            <a:graphicFrameLocks noGrp="1"/>
          </p:cNvGraphicFramePr>
          <p:nvPr/>
        </p:nvGraphicFramePr>
        <p:xfrm>
          <a:off x="2045648" y="3928443"/>
          <a:ext cx="7002818" cy="14833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134281">
                  <a:extLst>
                    <a:ext uri="{9D8B030D-6E8A-4147-A177-3AD203B41FA5}">
                      <a16:colId xmlns:a16="http://schemas.microsoft.com/office/drawing/2014/main" val="1014204439"/>
                    </a:ext>
                  </a:extLst>
                </a:gridCol>
                <a:gridCol w="1719618">
                  <a:extLst>
                    <a:ext uri="{9D8B030D-6E8A-4147-A177-3AD203B41FA5}">
                      <a16:colId xmlns:a16="http://schemas.microsoft.com/office/drawing/2014/main" val="3003598491"/>
                    </a:ext>
                  </a:extLst>
                </a:gridCol>
                <a:gridCol w="1460310">
                  <a:extLst>
                    <a:ext uri="{9D8B030D-6E8A-4147-A177-3AD203B41FA5}">
                      <a16:colId xmlns:a16="http://schemas.microsoft.com/office/drawing/2014/main" val="2591611502"/>
                    </a:ext>
                  </a:extLst>
                </a:gridCol>
                <a:gridCol w="887105">
                  <a:extLst>
                    <a:ext uri="{9D8B030D-6E8A-4147-A177-3AD203B41FA5}">
                      <a16:colId xmlns:a16="http://schemas.microsoft.com/office/drawing/2014/main" val="144907753"/>
                    </a:ext>
                  </a:extLst>
                </a:gridCol>
                <a:gridCol w="1801504">
                  <a:extLst>
                    <a:ext uri="{9D8B030D-6E8A-4147-A177-3AD203B41FA5}">
                      <a16:colId xmlns:a16="http://schemas.microsoft.com/office/drawing/2014/main" val="3948687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course_id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title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dept_name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credits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prereq_id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355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BIO-301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Genetics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Biology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BIO-101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331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CS-490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 Design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Comp. Sci.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CS-101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073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CS-315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Boolean Algebra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Comp. Sci.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null</a:t>
                      </a:r>
                      <a:endParaRPr lang="nl-NL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281814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F76407-5838-53D6-E41B-5B3949A07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611CA-32BD-5B64-7D46-A71E0F98D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461244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Outer Join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415143"/>
            <a:ext cx="10515600" cy="4972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>
                <a:solidFill>
                  <a:srgbClr val="006600"/>
                </a:solidFill>
              </a:rPr>
              <a:t>SELECT</a:t>
            </a:r>
            <a:r>
              <a:rPr lang="en-US" altLang="en-US" b="1" dirty="0"/>
              <a:t> </a:t>
            </a:r>
            <a:r>
              <a:rPr lang="en-US" altLang="en-US" dirty="0"/>
              <a:t>*</a:t>
            </a:r>
            <a:br>
              <a:rPr lang="en-US" altLang="en-US" i="1" dirty="0"/>
            </a:br>
            <a:r>
              <a:rPr lang="en-US" altLang="en-US" dirty="0">
                <a:solidFill>
                  <a:srgbClr val="006600"/>
                </a:solidFill>
              </a:rPr>
              <a:t>FROM</a:t>
            </a:r>
            <a:r>
              <a:rPr lang="en-US" altLang="en-US" b="1" dirty="0"/>
              <a:t> </a:t>
            </a:r>
            <a:r>
              <a:rPr lang="en-US" altLang="en-US" i="1" dirty="0"/>
              <a:t>course</a:t>
            </a:r>
          </a:p>
          <a:p>
            <a:pPr marL="0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RIGHT OUTER JOIN </a:t>
            </a:r>
            <a:r>
              <a:rPr lang="en-US" altLang="nl-NL" dirty="0" err="1"/>
              <a:t>prereq</a:t>
            </a:r>
            <a:r>
              <a:rPr lang="en-US" altLang="nl-NL" dirty="0"/>
              <a:t> </a:t>
            </a:r>
          </a:p>
          <a:p>
            <a:pPr marL="0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ON</a:t>
            </a:r>
            <a:r>
              <a:rPr lang="en-US" altLang="nl-NL" dirty="0"/>
              <a:t> </a:t>
            </a:r>
            <a:r>
              <a:rPr lang="en-US" altLang="nl-NL" dirty="0" err="1"/>
              <a:t>course.course_id</a:t>
            </a:r>
            <a:r>
              <a:rPr lang="en-US" altLang="nl-NL" dirty="0"/>
              <a:t> = </a:t>
            </a:r>
            <a:r>
              <a:rPr lang="en-US" altLang="nl-NL" dirty="0" err="1"/>
              <a:t>prereq.course_id</a:t>
            </a:r>
            <a:endParaRPr lang="en-US" altLang="nl-NL" i="1" dirty="0"/>
          </a:p>
          <a:p>
            <a:pPr marL="0" indent="0">
              <a:buNone/>
            </a:pPr>
            <a:endParaRPr lang="en-US" altLang="nl-NL" i="1" dirty="0"/>
          </a:p>
          <a:p>
            <a:endParaRPr lang="en-US" altLang="nl-NL" i="1" dirty="0"/>
          </a:p>
        </p:txBody>
      </p:sp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6E34F434-21FF-4D4F-A9DA-1653B5BDE99E}"/>
              </a:ext>
            </a:extLst>
          </p:cNvPr>
          <p:cNvGraphicFramePr>
            <a:graphicFrameLocks noGrp="1"/>
          </p:cNvGraphicFramePr>
          <p:nvPr/>
        </p:nvGraphicFramePr>
        <p:xfrm>
          <a:off x="812562" y="3637102"/>
          <a:ext cx="7152945" cy="14833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430589">
                  <a:extLst>
                    <a:ext uri="{9D8B030D-6E8A-4147-A177-3AD203B41FA5}">
                      <a16:colId xmlns:a16="http://schemas.microsoft.com/office/drawing/2014/main" val="1014204439"/>
                    </a:ext>
                  </a:extLst>
                </a:gridCol>
                <a:gridCol w="1430589">
                  <a:extLst>
                    <a:ext uri="{9D8B030D-6E8A-4147-A177-3AD203B41FA5}">
                      <a16:colId xmlns:a16="http://schemas.microsoft.com/office/drawing/2014/main" val="3003598491"/>
                    </a:ext>
                  </a:extLst>
                </a:gridCol>
                <a:gridCol w="1430589">
                  <a:extLst>
                    <a:ext uri="{9D8B030D-6E8A-4147-A177-3AD203B41FA5}">
                      <a16:colId xmlns:a16="http://schemas.microsoft.com/office/drawing/2014/main" val="3338021555"/>
                    </a:ext>
                  </a:extLst>
                </a:gridCol>
                <a:gridCol w="1430589">
                  <a:extLst>
                    <a:ext uri="{9D8B030D-6E8A-4147-A177-3AD203B41FA5}">
                      <a16:colId xmlns:a16="http://schemas.microsoft.com/office/drawing/2014/main" val="1251058233"/>
                    </a:ext>
                  </a:extLst>
                </a:gridCol>
                <a:gridCol w="1430589">
                  <a:extLst>
                    <a:ext uri="{9D8B030D-6E8A-4147-A177-3AD203B41FA5}">
                      <a16:colId xmlns:a16="http://schemas.microsoft.com/office/drawing/2014/main" val="31907782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course_id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prereq_id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title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dept_name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credits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355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BIO-301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BIO-101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Genetics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Biology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331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CS-490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CS-101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 Design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Comp. Sci.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073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CS-347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CS-201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null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null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null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281814"/>
                  </a:ext>
                </a:extLst>
              </a:tr>
            </a:tbl>
          </a:graphicData>
        </a:graphic>
      </p:graphicFrame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2DC86BFE-862B-42DD-9619-9BF60DE120D2}"/>
              </a:ext>
            </a:extLst>
          </p:cNvPr>
          <p:cNvSpPr txBox="1">
            <a:spLocks/>
          </p:cNvSpPr>
          <p:nvPr/>
        </p:nvSpPr>
        <p:spPr>
          <a:xfrm>
            <a:off x="6571917" y="5442857"/>
            <a:ext cx="5353951" cy="1415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nl-NL" dirty="0"/>
              <a:t>Remember:</a:t>
            </a:r>
          </a:p>
          <a:p>
            <a:pPr lvl="1"/>
            <a:r>
              <a:rPr lang="en-US" altLang="nl-NL" dirty="0"/>
              <a:t>The order of the attributes in a relation has no meaning</a:t>
            </a:r>
          </a:p>
          <a:p>
            <a:endParaRPr lang="en-US" altLang="nl-NL" i="1" dirty="0"/>
          </a:p>
          <a:p>
            <a:endParaRPr lang="en-US" altLang="nl-NL" i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CC4BDB-BCF2-FC32-151E-A871279E8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FACDA-AA62-9729-2260-BC13125A0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069768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Outer Join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415143"/>
            <a:ext cx="10515600" cy="4972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>
                <a:solidFill>
                  <a:srgbClr val="006600"/>
                </a:solidFill>
              </a:rPr>
              <a:t>SELECT</a:t>
            </a:r>
            <a:r>
              <a:rPr lang="en-US" altLang="en-US" b="1" dirty="0"/>
              <a:t> </a:t>
            </a:r>
            <a:r>
              <a:rPr lang="en-US" altLang="en-US" dirty="0"/>
              <a:t>*</a:t>
            </a:r>
            <a:br>
              <a:rPr lang="en-US" altLang="en-US" i="1" dirty="0"/>
            </a:br>
            <a:r>
              <a:rPr lang="en-US" altLang="en-US" dirty="0">
                <a:solidFill>
                  <a:srgbClr val="006600"/>
                </a:solidFill>
              </a:rPr>
              <a:t>FROM</a:t>
            </a:r>
            <a:r>
              <a:rPr lang="en-US" altLang="en-US" b="1" dirty="0"/>
              <a:t> </a:t>
            </a:r>
            <a:r>
              <a:rPr lang="en-US" altLang="en-US" i="1" dirty="0"/>
              <a:t>course</a:t>
            </a:r>
          </a:p>
          <a:p>
            <a:pPr marL="0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FULL OUTER JOIN </a:t>
            </a:r>
            <a:r>
              <a:rPr lang="en-US" altLang="nl-NL" dirty="0" err="1"/>
              <a:t>prereq</a:t>
            </a:r>
            <a:r>
              <a:rPr lang="en-US" altLang="nl-NL" dirty="0"/>
              <a:t> </a:t>
            </a:r>
          </a:p>
          <a:p>
            <a:pPr marL="0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ON</a:t>
            </a:r>
            <a:r>
              <a:rPr lang="en-US" altLang="nl-NL" dirty="0"/>
              <a:t> </a:t>
            </a:r>
            <a:r>
              <a:rPr lang="en-US" altLang="nl-NL" dirty="0" err="1"/>
              <a:t>course.course_id</a:t>
            </a:r>
            <a:r>
              <a:rPr lang="en-US" altLang="nl-NL" dirty="0"/>
              <a:t> = </a:t>
            </a:r>
            <a:r>
              <a:rPr lang="en-US" altLang="nl-NL" dirty="0" err="1"/>
              <a:t>prereq.course_id</a:t>
            </a:r>
            <a:endParaRPr lang="en-US" altLang="nl-NL" i="1" dirty="0"/>
          </a:p>
          <a:p>
            <a:endParaRPr lang="en-US" altLang="nl-NL" i="1" dirty="0"/>
          </a:p>
          <a:p>
            <a:endParaRPr lang="en-US" altLang="nl-NL" i="1" dirty="0"/>
          </a:p>
        </p:txBody>
      </p:sp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6E34F434-21FF-4D4F-A9DA-1653B5BDE99E}"/>
              </a:ext>
            </a:extLst>
          </p:cNvPr>
          <p:cNvGraphicFramePr>
            <a:graphicFrameLocks noGrp="1"/>
          </p:cNvGraphicFramePr>
          <p:nvPr/>
        </p:nvGraphicFramePr>
        <p:xfrm>
          <a:off x="2232925" y="3710078"/>
          <a:ext cx="7726150" cy="1854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45230">
                  <a:extLst>
                    <a:ext uri="{9D8B030D-6E8A-4147-A177-3AD203B41FA5}">
                      <a16:colId xmlns:a16="http://schemas.microsoft.com/office/drawing/2014/main" val="1014204439"/>
                    </a:ext>
                  </a:extLst>
                </a:gridCol>
                <a:gridCol w="1545230">
                  <a:extLst>
                    <a:ext uri="{9D8B030D-6E8A-4147-A177-3AD203B41FA5}">
                      <a16:colId xmlns:a16="http://schemas.microsoft.com/office/drawing/2014/main" val="3003598491"/>
                    </a:ext>
                  </a:extLst>
                </a:gridCol>
                <a:gridCol w="2001671">
                  <a:extLst>
                    <a:ext uri="{9D8B030D-6E8A-4147-A177-3AD203B41FA5}">
                      <a16:colId xmlns:a16="http://schemas.microsoft.com/office/drawing/2014/main" val="3338021555"/>
                    </a:ext>
                  </a:extLst>
                </a:gridCol>
                <a:gridCol w="1542197">
                  <a:extLst>
                    <a:ext uri="{9D8B030D-6E8A-4147-A177-3AD203B41FA5}">
                      <a16:colId xmlns:a16="http://schemas.microsoft.com/office/drawing/2014/main" val="1251058233"/>
                    </a:ext>
                  </a:extLst>
                </a:gridCol>
                <a:gridCol w="1091822">
                  <a:extLst>
                    <a:ext uri="{9D8B030D-6E8A-4147-A177-3AD203B41FA5}">
                      <a16:colId xmlns:a16="http://schemas.microsoft.com/office/drawing/2014/main" val="31907782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course_id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prereq_id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title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dept_name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credits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355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BIO-301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BIO-101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Genetics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Biology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331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CS-490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CS-101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 Design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Comp. Sci.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073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CS-347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CS-201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null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null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null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281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CS-315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null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Boolean Algebra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Comp. Sci.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686952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E611B0-A533-6786-4DE1-3D219EE8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91FBD-057F-2EF5-AEB3-C15FDBC12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30295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Inner Join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415143"/>
            <a:ext cx="10515600" cy="4972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>
                <a:solidFill>
                  <a:srgbClr val="006600"/>
                </a:solidFill>
              </a:rPr>
              <a:t>SELECT</a:t>
            </a:r>
            <a:r>
              <a:rPr lang="en-US" altLang="en-US" b="1" dirty="0"/>
              <a:t> </a:t>
            </a:r>
            <a:r>
              <a:rPr lang="en-US" altLang="en-US" dirty="0"/>
              <a:t>*</a:t>
            </a:r>
            <a:br>
              <a:rPr lang="en-US" altLang="en-US" i="1" dirty="0"/>
            </a:br>
            <a:r>
              <a:rPr lang="en-US" altLang="en-US" dirty="0">
                <a:solidFill>
                  <a:srgbClr val="006600"/>
                </a:solidFill>
              </a:rPr>
              <a:t>FROM</a:t>
            </a:r>
            <a:r>
              <a:rPr lang="en-US" altLang="en-US" b="1" dirty="0"/>
              <a:t> </a:t>
            </a:r>
            <a:r>
              <a:rPr lang="en-US" altLang="en-US" i="1" dirty="0"/>
              <a:t>course</a:t>
            </a:r>
          </a:p>
          <a:p>
            <a:pPr marL="0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INNER JOIN </a:t>
            </a:r>
            <a:r>
              <a:rPr lang="en-US" altLang="nl-NL" dirty="0" err="1"/>
              <a:t>prereq</a:t>
            </a:r>
            <a:r>
              <a:rPr lang="en-US" altLang="nl-NL" dirty="0"/>
              <a:t> </a:t>
            </a:r>
          </a:p>
          <a:p>
            <a:pPr marL="0" indent="0">
              <a:buNone/>
            </a:pPr>
            <a:r>
              <a:rPr lang="en-US" altLang="nl-NL" dirty="0">
                <a:solidFill>
                  <a:srgbClr val="006600"/>
                </a:solidFill>
              </a:rPr>
              <a:t>ON</a:t>
            </a:r>
            <a:r>
              <a:rPr lang="en-US" altLang="nl-NL" dirty="0"/>
              <a:t> </a:t>
            </a:r>
            <a:r>
              <a:rPr lang="en-US" altLang="nl-NL" dirty="0" err="1"/>
              <a:t>course.course_id</a:t>
            </a:r>
            <a:r>
              <a:rPr lang="en-US" altLang="nl-NL" dirty="0"/>
              <a:t> = </a:t>
            </a:r>
            <a:r>
              <a:rPr lang="en-US" altLang="nl-NL" dirty="0" err="1"/>
              <a:t>prereq.course_id</a:t>
            </a:r>
            <a:endParaRPr lang="en-US" altLang="nl-NL" i="1" dirty="0"/>
          </a:p>
          <a:p>
            <a:pPr marL="0" indent="0">
              <a:buNone/>
            </a:pPr>
            <a:endParaRPr lang="en-US" altLang="nl-NL" dirty="0"/>
          </a:p>
          <a:p>
            <a:endParaRPr lang="en-US" altLang="nl-NL" i="1" dirty="0"/>
          </a:p>
          <a:p>
            <a:endParaRPr lang="en-US" altLang="nl-NL" i="1" dirty="0"/>
          </a:p>
        </p:txBody>
      </p:sp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6E34F434-21FF-4D4F-A9DA-1653B5BDE99E}"/>
              </a:ext>
            </a:extLst>
          </p:cNvPr>
          <p:cNvGraphicFramePr>
            <a:graphicFrameLocks noGrp="1"/>
          </p:cNvGraphicFramePr>
          <p:nvPr/>
        </p:nvGraphicFramePr>
        <p:xfrm>
          <a:off x="1131248" y="3557569"/>
          <a:ext cx="7726150" cy="11125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45230">
                  <a:extLst>
                    <a:ext uri="{9D8B030D-6E8A-4147-A177-3AD203B41FA5}">
                      <a16:colId xmlns:a16="http://schemas.microsoft.com/office/drawing/2014/main" val="1014204439"/>
                    </a:ext>
                  </a:extLst>
                </a:gridCol>
                <a:gridCol w="1545230">
                  <a:extLst>
                    <a:ext uri="{9D8B030D-6E8A-4147-A177-3AD203B41FA5}">
                      <a16:colId xmlns:a16="http://schemas.microsoft.com/office/drawing/2014/main" val="3003598491"/>
                    </a:ext>
                  </a:extLst>
                </a:gridCol>
                <a:gridCol w="2001671">
                  <a:extLst>
                    <a:ext uri="{9D8B030D-6E8A-4147-A177-3AD203B41FA5}">
                      <a16:colId xmlns:a16="http://schemas.microsoft.com/office/drawing/2014/main" val="3338021555"/>
                    </a:ext>
                  </a:extLst>
                </a:gridCol>
                <a:gridCol w="1542197">
                  <a:extLst>
                    <a:ext uri="{9D8B030D-6E8A-4147-A177-3AD203B41FA5}">
                      <a16:colId xmlns:a16="http://schemas.microsoft.com/office/drawing/2014/main" val="1251058233"/>
                    </a:ext>
                  </a:extLst>
                </a:gridCol>
                <a:gridCol w="1091822">
                  <a:extLst>
                    <a:ext uri="{9D8B030D-6E8A-4147-A177-3AD203B41FA5}">
                      <a16:colId xmlns:a16="http://schemas.microsoft.com/office/drawing/2014/main" val="31907782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course_id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prereq_id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title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dept_name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credits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355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BIO-301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BIO-101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Genetics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Biology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331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CS-490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CS-101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 Design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Comp. Sci.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073920"/>
                  </a:ext>
                </a:extLst>
              </a:tr>
            </a:tbl>
          </a:graphicData>
        </a:graphic>
      </p:graphicFrame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D342329-3D5B-48E8-9AB7-1A35E6564B36}"/>
              </a:ext>
            </a:extLst>
          </p:cNvPr>
          <p:cNvSpPr txBox="1">
            <a:spLocks/>
          </p:cNvSpPr>
          <p:nvPr/>
        </p:nvSpPr>
        <p:spPr>
          <a:xfrm>
            <a:off x="3651296" y="4785756"/>
            <a:ext cx="8249552" cy="2026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An SQL INNER JOIN is same as JOIN clause</a:t>
            </a:r>
            <a:endParaRPr lang="en-US" altLang="nl-NL" dirty="0"/>
          </a:p>
          <a:p>
            <a:r>
              <a:rPr lang="en-US" altLang="nl-NL" dirty="0"/>
              <a:t>Question:</a:t>
            </a:r>
          </a:p>
          <a:p>
            <a:pPr lvl="1"/>
            <a:r>
              <a:rPr lang="en-US" altLang="nl-NL" dirty="0"/>
              <a:t>What is the difference between the above JOIN and</a:t>
            </a:r>
          </a:p>
          <a:p>
            <a:pPr marL="457200" lvl="1" indent="0">
              <a:buNone/>
            </a:pPr>
            <a:r>
              <a:rPr lang="en-US" altLang="nl-NL" dirty="0"/>
              <a:t> the right/left outer join</a:t>
            </a:r>
          </a:p>
          <a:p>
            <a:endParaRPr lang="en-US" altLang="nl-NL" i="1" dirty="0"/>
          </a:p>
          <a:p>
            <a:endParaRPr lang="en-US" altLang="nl-NL" i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A85434-6C6F-4E4B-E0EA-F48ECCE98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BE7BD-297C-E3A4-31B2-E4C2F1FF6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561800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Operations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415143"/>
            <a:ext cx="10515600" cy="4865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2055813" algn="l"/>
              </a:tabLst>
            </a:pPr>
            <a:r>
              <a:rPr lang="en-US" dirty="0"/>
              <a:t>SQL </a:t>
            </a:r>
            <a:r>
              <a:rPr lang="en-US" altLang="en-US" dirty="0"/>
              <a:t>includes a string-matching operator for comparisons on character strings.</a:t>
            </a:r>
          </a:p>
          <a:p>
            <a:pPr>
              <a:tabLst>
                <a:tab pos="2055813" algn="l"/>
              </a:tabLst>
            </a:pPr>
            <a:r>
              <a:rPr lang="en-US" altLang="en-US" dirty="0"/>
              <a:t>The operator </a:t>
            </a:r>
            <a:r>
              <a:rPr lang="en-US" altLang="en-US" b="1" dirty="0"/>
              <a:t>LIKE</a:t>
            </a:r>
            <a:r>
              <a:rPr lang="en-US" altLang="en-US" dirty="0"/>
              <a:t> uses patterns that are described using two special characters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dirty="0"/>
              <a:t>Percent ( % ).  The % character matches any substring.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dirty="0"/>
              <a:t>Underscore ( _ ).  The _ character matches any character.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dirty="0"/>
              <a:t>Example: find the names of all instructors whose name includes the substring “Van der”</a:t>
            </a:r>
          </a:p>
          <a:p>
            <a:pPr marL="457200" lvl="1" indent="0">
              <a:buNone/>
              <a:tabLst>
                <a:tab pos="1889125" algn="l"/>
                <a:tab pos="2403475" algn="l"/>
              </a:tabLst>
            </a:pPr>
            <a:r>
              <a:rPr lang="en-US" altLang="en-US" dirty="0">
                <a:solidFill>
                  <a:srgbClr val="006600"/>
                </a:solidFill>
              </a:rPr>
              <a:t>SELECT</a:t>
            </a:r>
            <a:r>
              <a:rPr lang="en-US" altLang="en-US" b="1" dirty="0"/>
              <a:t> </a:t>
            </a:r>
            <a:r>
              <a:rPr lang="en-US" altLang="en-US" dirty="0">
                <a:solidFill>
                  <a:srgbClr val="006600"/>
                </a:solidFill>
              </a:rPr>
              <a:t>DISTINCT</a:t>
            </a:r>
            <a:r>
              <a:rPr lang="en-US" altLang="en-US" b="1" dirty="0"/>
              <a:t> </a:t>
            </a:r>
            <a:r>
              <a:rPr lang="en-US" altLang="en-US" i="1" dirty="0"/>
              <a:t>name</a:t>
            </a:r>
            <a:br>
              <a:rPr lang="en-US" altLang="en-US" i="1" dirty="0"/>
            </a:br>
            <a:r>
              <a:rPr lang="en-US" altLang="en-US" dirty="0">
                <a:solidFill>
                  <a:srgbClr val="006600"/>
                </a:solidFill>
              </a:rPr>
              <a:t>FROM</a:t>
            </a:r>
            <a:r>
              <a:rPr lang="en-US" altLang="en-US" b="1" dirty="0"/>
              <a:t> </a:t>
            </a:r>
            <a:r>
              <a:rPr lang="en-US" altLang="en-US" i="1" dirty="0"/>
              <a:t>instructor </a:t>
            </a:r>
            <a:r>
              <a:rPr lang="en-US" altLang="en-US" dirty="0">
                <a:solidFill>
                  <a:srgbClr val="006600"/>
                </a:solidFill>
              </a:rPr>
              <a:t>WHERE</a:t>
            </a:r>
            <a:r>
              <a:rPr lang="en-US" altLang="en-US" b="1" dirty="0"/>
              <a:t> </a:t>
            </a:r>
            <a:r>
              <a:rPr lang="en-US" altLang="en-US" i="1" dirty="0"/>
              <a:t>name </a:t>
            </a:r>
            <a:r>
              <a:rPr lang="en-US" altLang="en-US" dirty="0"/>
              <a:t>LIKE ‘%Van der%’</a:t>
            </a:r>
          </a:p>
          <a:p>
            <a:pPr lvl="1">
              <a:tabLst>
                <a:tab pos="1889125" algn="l"/>
                <a:tab pos="2403475" algn="l"/>
              </a:tabLst>
            </a:pPr>
            <a:endParaRPr lang="en-US" altLang="en-US" dirty="0"/>
          </a:p>
          <a:p>
            <a:pPr lvl="1">
              <a:tabLst>
                <a:tab pos="2055813" algn="l"/>
              </a:tabLst>
            </a:pPr>
            <a:endParaRPr lang="en-US" alt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0809C7-50DB-A833-6E23-2F0DB0CB7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D0D47-E015-7C3A-0212-3D03C5D0F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27442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Operations (Cont.)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415143"/>
            <a:ext cx="10515600" cy="4865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1889125" algn="l"/>
                <a:tab pos="2403475" algn="l"/>
              </a:tabLst>
            </a:pPr>
            <a:r>
              <a:rPr lang="en-US" altLang="en-US" dirty="0"/>
              <a:t>Match the string “100%”</a:t>
            </a:r>
          </a:p>
          <a:p>
            <a:pPr>
              <a:buFont typeface="Monotype Sorts" pitchFamily="2" charset="2"/>
              <a:buNone/>
              <a:tabLst>
                <a:tab pos="1889125" algn="l"/>
                <a:tab pos="2403475" algn="l"/>
              </a:tabLst>
            </a:pPr>
            <a:r>
              <a:rPr lang="en-US" altLang="en-US" dirty="0"/>
              <a:t>			</a:t>
            </a:r>
            <a:r>
              <a:rPr lang="en-US" altLang="en-US" b="1" dirty="0"/>
              <a:t>LIKE </a:t>
            </a:r>
            <a:r>
              <a:rPr lang="en-US" altLang="en-US" b="1" dirty="0">
                <a:latin typeface="Century Gothic" panose="020B0502020202020204" pitchFamily="34" charset="0"/>
              </a:rPr>
              <a:t>‘</a:t>
            </a:r>
            <a:r>
              <a:rPr lang="en-US" altLang="en-US" dirty="0"/>
              <a:t>100 \%</a:t>
            </a:r>
            <a:r>
              <a:rPr lang="en-US" altLang="en-US" dirty="0">
                <a:latin typeface="Century Gothic" panose="020B0502020202020204" pitchFamily="34" charset="0"/>
              </a:rPr>
              <a:t>’ </a:t>
            </a:r>
            <a:r>
              <a:rPr lang="en-US" altLang="en-US" dirty="0"/>
              <a:t> </a:t>
            </a:r>
            <a:r>
              <a:rPr lang="en-US" altLang="en-US" b="1" dirty="0"/>
              <a:t>ESCAPE  </a:t>
            </a:r>
            <a:r>
              <a:rPr lang="en-US" altLang="en-US" b="1" dirty="0">
                <a:latin typeface="Century Gothic" panose="020B0502020202020204" pitchFamily="34" charset="0"/>
              </a:rPr>
              <a:t>'</a:t>
            </a:r>
            <a:r>
              <a:rPr lang="en-US" altLang="en-US" dirty="0"/>
              <a:t>\</a:t>
            </a:r>
            <a:r>
              <a:rPr lang="en-US" altLang="en-US" dirty="0">
                <a:latin typeface="Century Gothic" panose="020B0502020202020204" pitchFamily="34" charset="0"/>
              </a:rPr>
              <a:t>' </a:t>
            </a:r>
            <a:endParaRPr lang="en-US" altLang="en-US" dirty="0"/>
          </a:p>
          <a:p>
            <a:pPr>
              <a:buFont typeface="Monotype Sorts" pitchFamily="2" charset="2"/>
              <a:buNone/>
              <a:tabLst>
                <a:tab pos="1889125" algn="l"/>
                <a:tab pos="2403475" algn="l"/>
              </a:tabLst>
            </a:pPr>
            <a:r>
              <a:rPr lang="en-US" altLang="en-US" dirty="0"/>
              <a:t>      in that above we use backslash (\) as the escape character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dirty="0"/>
              <a:t>Patterns are case sensitive.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dirty="0"/>
              <a:t>Pattern matching examples: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dirty="0"/>
              <a:t>‘Intro%’ matches any string beginning with “Intro”.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dirty="0"/>
              <a:t>‘%Comp%’ matches any string containing “Comp” as a substring.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dirty="0"/>
              <a:t>‘_ _ _’ matches any string of exactly three characters.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dirty="0"/>
              <a:t>‘_ _ _ %’ matches any string of at least three characters.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8287A5-DE0F-590E-5928-B18855A9B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CDD29-AC35-1765-75B1-0F4679720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16712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 Queries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415143"/>
            <a:ext cx="10515600" cy="4865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SQL includes a </a:t>
            </a:r>
            <a:r>
              <a:rPr lang="en-US" altLang="en-US" b="1" dirty="0"/>
              <a:t>BETWEEN</a:t>
            </a:r>
            <a:r>
              <a:rPr lang="en-US" altLang="en-US" dirty="0"/>
              <a:t> comparison operator</a:t>
            </a:r>
          </a:p>
          <a:p>
            <a:r>
              <a:rPr lang="en-US" altLang="en-US" dirty="0"/>
              <a:t>Example:  Find the names of all instructors with salary between $90,000 and $100,000 (that is, </a:t>
            </a:r>
            <a:r>
              <a:rPr lang="en-US" altLang="en-US" dirty="0">
                <a:latin typeface="Symbol" panose="05050102010706020507" pitchFamily="18" charset="2"/>
              </a:rPr>
              <a:t> </a:t>
            </a:r>
            <a:r>
              <a:rPr lang="en-US" altLang="en-US" dirty="0"/>
              <a:t>$90,000 and </a:t>
            </a:r>
            <a:r>
              <a:rPr lang="en-US" altLang="en-US" dirty="0">
                <a:latin typeface="Symbol" panose="05050102010706020507" pitchFamily="18" charset="2"/>
              </a:rPr>
              <a:t> </a:t>
            </a:r>
            <a:r>
              <a:rPr lang="en-US" altLang="en-US" dirty="0"/>
              <a:t>$100,000)</a:t>
            </a:r>
          </a:p>
          <a:p>
            <a:pPr marL="457200" lvl="1" indent="0">
              <a:buNone/>
            </a:pPr>
            <a:r>
              <a:rPr lang="en-US" altLang="en-US" dirty="0">
                <a:solidFill>
                  <a:srgbClr val="006600"/>
                </a:solidFill>
              </a:rPr>
              <a:t>SELECT</a:t>
            </a:r>
            <a:r>
              <a:rPr lang="en-US" altLang="en-US" i="1" dirty="0"/>
              <a:t> name</a:t>
            </a:r>
            <a:br>
              <a:rPr lang="en-US" altLang="en-US" i="1" dirty="0"/>
            </a:br>
            <a:r>
              <a:rPr lang="en-US" altLang="en-US" dirty="0">
                <a:solidFill>
                  <a:srgbClr val="006600"/>
                </a:solidFill>
              </a:rPr>
              <a:t>FROM</a:t>
            </a:r>
            <a:r>
              <a:rPr lang="en-US" altLang="en-US" b="1" dirty="0"/>
              <a:t> </a:t>
            </a:r>
            <a:r>
              <a:rPr lang="en-US" altLang="en-US" i="1" dirty="0"/>
              <a:t>instructor</a:t>
            </a:r>
            <a:br>
              <a:rPr lang="en-US" altLang="en-US" dirty="0"/>
            </a:br>
            <a:r>
              <a:rPr lang="en-US" altLang="en-US" dirty="0">
                <a:solidFill>
                  <a:srgbClr val="006600"/>
                </a:solidFill>
              </a:rPr>
              <a:t>WHERE</a:t>
            </a:r>
            <a:r>
              <a:rPr lang="en-US" altLang="en-US" b="1" dirty="0"/>
              <a:t> </a:t>
            </a:r>
            <a:r>
              <a:rPr lang="en-US" altLang="en-US" i="1" dirty="0"/>
              <a:t>salary </a:t>
            </a:r>
            <a:r>
              <a:rPr lang="en-US" altLang="en-US" dirty="0">
                <a:solidFill>
                  <a:srgbClr val="006600"/>
                </a:solidFill>
              </a:rPr>
              <a:t>BETWEEN</a:t>
            </a:r>
            <a:r>
              <a:rPr lang="en-US" altLang="en-US" b="1" dirty="0"/>
              <a:t> </a:t>
            </a:r>
            <a:r>
              <a:rPr lang="en-US" altLang="en-US" dirty="0"/>
              <a:t>90000 </a:t>
            </a:r>
            <a:r>
              <a:rPr lang="en-US" altLang="en-US" dirty="0">
                <a:solidFill>
                  <a:srgbClr val="006600"/>
                </a:solidFill>
              </a:rPr>
              <a:t>AND</a:t>
            </a:r>
            <a:r>
              <a:rPr lang="en-US" altLang="en-US" b="1" dirty="0"/>
              <a:t> </a:t>
            </a:r>
            <a:r>
              <a:rPr lang="en-US" altLang="en-US" dirty="0"/>
              <a:t>100000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B33317-D759-3817-BEDC-FE333D42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7BA39-501A-A966-92A9-942C201DC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446701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 Comparison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415143"/>
            <a:ext cx="10515600" cy="4865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altLang="en-US" dirty="0">
                <a:solidFill>
                  <a:srgbClr val="006600"/>
                </a:solidFill>
              </a:rPr>
              <a:t>SELECT</a:t>
            </a:r>
            <a:r>
              <a:rPr lang="en-US" altLang="en-US" i="1" dirty="0"/>
              <a:t> name, </a:t>
            </a:r>
            <a:r>
              <a:rPr lang="en-US" altLang="en-US" i="1" dirty="0" err="1"/>
              <a:t>course_id</a:t>
            </a:r>
            <a:br>
              <a:rPr lang="en-US" altLang="en-US" i="1" dirty="0"/>
            </a:br>
            <a:r>
              <a:rPr lang="en-US" altLang="en-US" dirty="0">
                <a:solidFill>
                  <a:srgbClr val="006600"/>
                </a:solidFill>
              </a:rPr>
              <a:t>FROM</a:t>
            </a:r>
            <a:r>
              <a:rPr lang="en-US" altLang="en-US" b="1" dirty="0"/>
              <a:t> </a:t>
            </a:r>
            <a:r>
              <a:rPr lang="en-US" altLang="en-US" i="1" dirty="0"/>
              <a:t>instructor, teaches</a:t>
            </a:r>
            <a:br>
              <a:rPr lang="en-US" altLang="en-US" dirty="0"/>
            </a:br>
            <a:r>
              <a:rPr lang="en-US" altLang="en-US" dirty="0">
                <a:solidFill>
                  <a:srgbClr val="006600"/>
                </a:solidFill>
              </a:rPr>
              <a:t>WHERE</a:t>
            </a:r>
            <a:r>
              <a:rPr lang="en-US" altLang="en-US" b="1" dirty="0"/>
              <a:t> </a:t>
            </a:r>
            <a:r>
              <a:rPr lang="en-US" altLang="en-US" i="1" dirty="0"/>
              <a:t>(instructor.ID, </a:t>
            </a:r>
            <a:r>
              <a:rPr lang="en-US" altLang="en-US" i="1" dirty="0" err="1"/>
              <a:t>dept_name</a:t>
            </a:r>
            <a:r>
              <a:rPr lang="en-US" altLang="en-US" i="1" dirty="0"/>
              <a:t>) = (teaches.ID, ‘Biology’)</a:t>
            </a:r>
            <a:endParaRPr lang="en-US" alt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59E307-1BB4-6389-A9C0-C6B2644E0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0418F-4F35-9BBB-2C88-F1518BFA8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783370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Operations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415143"/>
            <a:ext cx="10515600" cy="486591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/>
            <a:r>
              <a:rPr lang="en-US" altLang="en-US" sz="2800" dirty="0"/>
              <a:t>Find courses that ran in Fall 2009 or in Spring 2010</a:t>
            </a:r>
            <a:endParaRPr lang="en-US" altLang="en-US" sz="2800" dirty="0">
              <a:solidFill>
                <a:srgbClr val="006600"/>
              </a:solidFill>
            </a:endParaRPr>
          </a:p>
          <a:p>
            <a:pPr marL="457200" lvl="1" indent="0">
              <a:buNone/>
            </a:pPr>
            <a:r>
              <a:rPr lang="en-US" altLang="en-US" dirty="0">
                <a:solidFill>
                  <a:srgbClr val="006600"/>
                </a:solidFill>
              </a:rPr>
              <a:t>SELECT</a:t>
            </a:r>
            <a:r>
              <a:rPr lang="en-US" altLang="en-US" i="1" dirty="0"/>
              <a:t> </a:t>
            </a:r>
            <a:r>
              <a:rPr lang="en-US" altLang="en-US" i="1" dirty="0" err="1"/>
              <a:t>course_id</a:t>
            </a:r>
            <a:r>
              <a:rPr lang="en-US" altLang="en-US" i="1" dirty="0"/>
              <a:t> </a:t>
            </a:r>
            <a:r>
              <a:rPr lang="en-US" altLang="en-US" dirty="0">
                <a:solidFill>
                  <a:srgbClr val="006600"/>
                </a:solidFill>
              </a:rPr>
              <a:t>FROM</a:t>
            </a:r>
            <a:r>
              <a:rPr lang="en-US" altLang="en-US" b="1" dirty="0"/>
              <a:t> </a:t>
            </a:r>
            <a:r>
              <a:rPr lang="en-US" altLang="en-US" i="1" dirty="0"/>
              <a:t>section </a:t>
            </a:r>
            <a:r>
              <a:rPr lang="en-US" altLang="en-US" dirty="0">
                <a:solidFill>
                  <a:srgbClr val="006600"/>
                </a:solidFill>
              </a:rPr>
              <a:t>WHERE</a:t>
            </a:r>
            <a:r>
              <a:rPr lang="en-US" altLang="en-US" b="1" dirty="0"/>
              <a:t> </a:t>
            </a:r>
            <a:r>
              <a:rPr lang="en-US" altLang="en-US" i="1" dirty="0" err="1"/>
              <a:t>sem</a:t>
            </a:r>
            <a:r>
              <a:rPr lang="en-US" altLang="en-US" i="1" dirty="0"/>
              <a:t> = ‘Fall’ </a:t>
            </a:r>
            <a:r>
              <a:rPr lang="en-US" altLang="en-US" dirty="0">
                <a:solidFill>
                  <a:srgbClr val="006600"/>
                </a:solidFill>
              </a:rPr>
              <a:t>AND</a:t>
            </a:r>
            <a:r>
              <a:rPr lang="en-US" altLang="en-US" i="1" dirty="0"/>
              <a:t> year </a:t>
            </a:r>
            <a:r>
              <a:rPr lang="en-US" altLang="en-US" i="1"/>
              <a:t>= 2009</a:t>
            </a:r>
            <a:endParaRPr lang="en-US" altLang="en-US" i="1" dirty="0"/>
          </a:p>
          <a:p>
            <a:pPr marL="457200" lvl="1" indent="0">
              <a:buNone/>
            </a:pPr>
            <a:r>
              <a:rPr lang="en-US" altLang="en-US" dirty="0">
                <a:solidFill>
                  <a:srgbClr val="006600"/>
                </a:solidFill>
              </a:rPr>
              <a:t>UNION</a:t>
            </a:r>
          </a:p>
          <a:p>
            <a:pPr marL="457200" lvl="1" indent="0">
              <a:buNone/>
            </a:pPr>
            <a:r>
              <a:rPr lang="en-US" altLang="en-US" dirty="0">
                <a:solidFill>
                  <a:srgbClr val="006600"/>
                </a:solidFill>
              </a:rPr>
              <a:t>SELECT</a:t>
            </a:r>
            <a:r>
              <a:rPr lang="en-US" altLang="en-US" i="1" dirty="0"/>
              <a:t> </a:t>
            </a:r>
            <a:r>
              <a:rPr lang="en-US" altLang="en-US" i="1" dirty="0" err="1"/>
              <a:t>course_id</a:t>
            </a:r>
            <a:r>
              <a:rPr lang="en-US" altLang="en-US" i="1" dirty="0"/>
              <a:t> </a:t>
            </a:r>
            <a:r>
              <a:rPr lang="en-US" altLang="en-US" dirty="0">
                <a:solidFill>
                  <a:srgbClr val="006600"/>
                </a:solidFill>
              </a:rPr>
              <a:t>FROM</a:t>
            </a:r>
            <a:r>
              <a:rPr lang="en-US" altLang="en-US" b="1" dirty="0"/>
              <a:t> </a:t>
            </a:r>
            <a:r>
              <a:rPr lang="en-US" altLang="en-US" i="1" dirty="0"/>
              <a:t>section </a:t>
            </a:r>
            <a:r>
              <a:rPr lang="en-US" altLang="en-US" dirty="0">
                <a:solidFill>
                  <a:srgbClr val="006600"/>
                </a:solidFill>
              </a:rPr>
              <a:t>WHERE</a:t>
            </a:r>
            <a:r>
              <a:rPr lang="en-US" altLang="en-US" b="1" dirty="0"/>
              <a:t> </a:t>
            </a:r>
            <a:r>
              <a:rPr lang="en-US" altLang="en-US" i="1" dirty="0" err="1"/>
              <a:t>sem</a:t>
            </a:r>
            <a:r>
              <a:rPr lang="en-US" altLang="en-US" i="1" dirty="0"/>
              <a:t> = ‘Spring’ </a:t>
            </a:r>
            <a:r>
              <a:rPr lang="en-US" altLang="en-US" dirty="0">
                <a:solidFill>
                  <a:srgbClr val="006600"/>
                </a:solidFill>
              </a:rPr>
              <a:t>AND</a:t>
            </a:r>
            <a:r>
              <a:rPr lang="en-US" altLang="en-US" i="1" dirty="0"/>
              <a:t> year = 2010</a:t>
            </a:r>
          </a:p>
          <a:p>
            <a:pPr marL="342900" lvl="1" indent="-342900"/>
            <a:r>
              <a:rPr lang="en-US" altLang="en-US" sz="2800" dirty="0"/>
              <a:t>Find courses that ran in Fall 2009 and in Spring 2010</a:t>
            </a:r>
            <a:endParaRPr lang="en-US" altLang="en-US" sz="2800" dirty="0">
              <a:solidFill>
                <a:srgbClr val="006600"/>
              </a:solidFill>
            </a:endParaRPr>
          </a:p>
          <a:p>
            <a:pPr marL="457200" lvl="1" indent="0">
              <a:buNone/>
            </a:pPr>
            <a:r>
              <a:rPr lang="en-US" altLang="en-US" dirty="0">
                <a:solidFill>
                  <a:srgbClr val="006600"/>
                </a:solidFill>
              </a:rPr>
              <a:t>SELECT</a:t>
            </a:r>
            <a:r>
              <a:rPr lang="en-US" altLang="en-US" i="1" dirty="0"/>
              <a:t> </a:t>
            </a:r>
            <a:r>
              <a:rPr lang="en-US" altLang="en-US" i="1" dirty="0" err="1"/>
              <a:t>course_id</a:t>
            </a:r>
            <a:r>
              <a:rPr lang="en-US" altLang="en-US" i="1" dirty="0"/>
              <a:t> </a:t>
            </a:r>
            <a:r>
              <a:rPr lang="en-US" altLang="en-US" dirty="0">
                <a:solidFill>
                  <a:srgbClr val="006600"/>
                </a:solidFill>
              </a:rPr>
              <a:t>FROM</a:t>
            </a:r>
            <a:r>
              <a:rPr lang="en-US" altLang="en-US" b="1" dirty="0"/>
              <a:t> </a:t>
            </a:r>
            <a:r>
              <a:rPr lang="en-US" altLang="en-US" i="1" dirty="0"/>
              <a:t>section </a:t>
            </a:r>
            <a:r>
              <a:rPr lang="en-US" altLang="en-US" dirty="0">
                <a:solidFill>
                  <a:srgbClr val="006600"/>
                </a:solidFill>
              </a:rPr>
              <a:t>WHERE</a:t>
            </a:r>
            <a:r>
              <a:rPr lang="en-US" altLang="en-US" b="1" dirty="0"/>
              <a:t> </a:t>
            </a:r>
            <a:r>
              <a:rPr lang="en-US" altLang="en-US" i="1" dirty="0" err="1"/>
              <a:t>sem</a:t>
            </a:r>
            <a:r>
              <a:rPr lang="en-US" altLang="en-US" i="1" dirty="0"/>
              <a:t> = ‘Fall’ </a:t>
            </a:r>
            <a:r>
              <a:rPr lang="en-US" altLang="en-US" dirty="0">
                <a:solidFill>
                  <a:srgbClr val="006600"/>
                </a:solidFill>
              </a:rPr>
              <a:t>AND</a:t>
            </a:r>
            <a:r>
              <a:rPr lang="en-US" altLang="en-US" i="1" dirty="0"/>
              <a:t> year = 2009</a:t>
            </a:r>
          </a:p>
          <a:p>
            <a:pPr marL="457200" lvl="1" indent="0">
              <a:buNone/>
            </a:pPr>
            <a:r>
              <a:rPr lang="en-US" altLang="en-US" dirty="0">
                <a:solidFill>
                  <a:srgbClr val="006600"/>
                </a:solidFill>
              </a:rPr>
              <a:t>INTERSECT</a:t>
            </a:r>
          </a:p>
          <a:p>
            <a:pPr marL="457200" lvl="1" indent="0">
              <a:buNone/>
            </a:pPr>
            <a:r>
              <a:rPr lang="en-US" altLang="en-US" dirty="0">
                <a:solidFill>
                  <a:srgbClr val="006600"/>
                </a:solidFill>
              </a:rPr>
              <a:t>SELECT</a:t>
            </a:r>
            <a:r>
              <a:rPr lang="en-US" altLang="en-US" i="1" dirty="0"/>
              <a:t> </a:t>
            </a:r>
            <a:r>
              <a:rPr lang="en-US" altLang="en-US" i="1" dirty="0" err="1"/>
              <a:t>course_id</a:t>
            </a:r>
            <a:r>
              <a:rPr lang="en-US" altLang="en-US" i="1" dirty="0"/>
              <a:t> </a:t>
            </a:r>
            <a:r>
              <a:rPr lang="en-US" altLang="en-US" dirty="0">
                <a:solidFill>
                  <a:srgbClr val="006600"/>
                </a:solidFill>
              </a:rPr>
              <a:t>FROM</a:t>
            </a:r>
            <a:r>
              <a:rPr lang="en-US" altLang="en-US" b="1" dirty="0"/>
              <a:t> </a:t>
            </a:r>
            <a:r>
              <a:rPr lang="en-US" altLang="en-US" i="1" dirty="0"/>
              <a:t>section </a:t>
            </a:r>
            <a:r>
              <a:rPr lang="en-US" altLang="en-US" dirty="0">
                <a:solidFill>
                  <a:srgbClr val="006600"/>
                </a:solidFill>
              </a:rPr>
              <a:t>WHERE</a:t>
            </a:r>
            <a:r>
              <a:rPr lang="en-US" altLang="en-US" b="1" dirty="0"/>
              <a:t> </a:t>
            </a:r>
            <a:r>
              <a:rPr lang="en-US" altLang="en-US" i="1" dirty="0" err="1"/>
              <a:t>sem</a:t>
            </a:r>
            <a:r>
              <a:rPr lang="en-US" altLang="en-US" i="1" dirty="0"/>
              <a:t> = ‘Spring’ </a:t>
            </a:r>
            <a:r>
              <a:rPr lang="en-US" altLang="en-US" dirty="0">
                <a:solidFill>
                  <a:srgbClr val="006600"/>
                </a:solidFill>
              </a:rPr>
              <a:t>AND</a:t>
            </a:r>
            <a:r>
              <a:rPr lang="en-US" altLang="en-US" i="1" dirty="0"/>
              <a:t> year = 2010</a:t>
            </a:r>
          </a:p>
          <a:p>
            <a:pPr marL="342900" lvl="1" indent="-342900"/>
            <a:r>
              <a:rPr lang="en-US" altLang="en-US" sz="2800" dirty="0"/>
              <a:t>Find courses that ran in Fall 2009 but not in Spring 2010</a:t>
            </a:r>
            <a:endParaRPr lang="en-US" altLang="en-US" sz="2800" dirty="0">
              <a:solidFill>
                <a:srgbClr val="006600"/>
              </a:solidFill>
            </a:endParaRPr>
          </a:p>
          <a:p>
            <a:pPr marL="457200" lvl="1" indent="0">
              <a:buNone/>
            </a:pPr>
            <a:r>
              <a:rPr lang="en-US" altLang="en-US" dirty="0">
                <a:solidFill>
                  <a:srgbClr val="006600"/>
                </a:solidFill>
              </a:rPr>
              <a:t>SELECT</a:t>
            </a:r>
            <a:r>
              <a:rPr lang="en-US" altLang="en-US" i="1" dirty="0"/>
              <a:t> </a:t>
            </a:r>
            <a:r>
              <a:rPr lang="en-US" altLang="en-US" i="1" dirty="0" err="1"/>
              <a:t>course_id</a:t>
            </a:r>
            <a:r>
              <a:rPr lang="en-US" altLang="en-US" i="1" dirty="0"/>
              <a:t> </a:t>
            </a:r>
            <a:r>
              <a:rPr lang="en-US" altLang="en-US" dirty="0">
                <a:solidFill>
                  <a:srgbClr val="006600"/>
                </a:solidFill>
              </a:rPr>
              <a:t>FROM</a:t>
            </a:r>
            <a:r>
              <a:rPr lang="en-US" altLang="en-US" b="1" dirty="0"/>
              <a:t> </a:t>
            </a:r>
            <a:r>
              <a:rPr lang="en-US" altLang="en-US" i="1" dirty="0"/>
              <a:t>section </a:t>
            </a:r>
            <a:r>
              <a:rPr lang="en-US" altLang="en-US" dirty="0">
                <a:solidFill>
                  <a:srgbClr val="006600"/>
                </a:solidFill>
              </a:rPr>
              <a:t>WHERE</a:t>
            </a:r>
            <a:r>
              <a:rPr lang="en-US" altLang="en-US" b="1" dirty="0"/>
              <a:t> </a:t>
            </a:r>
            <a:r>
              <a:rPr lang="en-US" altLang="en-US" i="1" dirty="0" err="1"/>
              <a:t>sem</a:t>
            </a:r>
            <a:r>
              <a:rPr lang="en-US" altLang="en-US" i="1" dirty="0"/>
              <a:t> = ‘Fall’ </a:t>
            </a:r>
            <a:r>
              <a:rPr lang="en-US" altLang="en-US" dirty="0">
                <a:solidFill>
                  <a:srgbClr val="006600"/>
                </a:solidFill>
              </a:rPr>
              <a:t>AND</a:t>
            </a:r>
            <a:r>
              <a:rPr lang="en-US" altLang="en-US" i="1" dirty="0"/>
              <a:t> year = 2009</a:t>
            </a:r>
          </a:p>
          <a:p>
            <a:pPr marL="457200" lvl="1" indent="0">
              <a:buNone/>
            </a:pPr>
            <a:r>
              <a:rPr lang="en-US" altLang="en-US" dirty="0">
                <a:solidFill>
                  <a:srgbClr val="006600"/>
                </a:solidFill>
              </a:rPr>
              <a:t>EXCEPT</a:t>
            </a:r>
          </a:p>
          <a:p>
            <a:pPr marL="457200" lvl="1" indent="0">
              <a:buNone/>
            </a:pPr>
            <a:r>
              <a:rPr lang="en-US" altLang="en-US" dirty="0">
                <a:solidFill>
                  <a:srgbClr val="006600"/>
                </a:solidFill>
              </a:rPr>
              <a:t>SELECT</a:t>
            </a:r>
            <a:r>
              <a:rPr lang="en-US" altLang="en-US" i="1" dirty="0"/>
              <a:t> </a:t>
            </a:r>
            <a:r>
              <a:rPr lang="en-US" altLang="en-US" i="1" dirty="0" err="1"/>
              <a:t>course_id</a:t>
            </a:r>
            <a:r>
              <a:rPr lang="en-US" altLang="en-US" i="1" dirty="0"/>
              <a:t> </a:t>
            </a:r>
            <a:r>
              <a:rPr lang="en-US" altLang="en-US" dirty="0">
                <a:solidFill>
                  <a:srgbClr val="006600"/>
                </a:solidFill>
              </a:rPr>
              <a:t>FROM</a:t>
            </a:r>
            <a:r>
              <a:rPr lang="en-US" altLang="en-US" b="1" dirty="0"/>
              <a:t> </a:t>
            </a:r>
            <a:r>
              <a:rPr lang="en-US" altLang="en-US" i="1" dirty="0"/>
              <a:t>section </a:t>
            </a:r>
            <a:r>
              <a:rPr lang="en-US" altLang="en-US" dirty="0">
                <a:solidFill>
                  <a:srgbClr val="006600"/>
                </a:solidFill>
              </a:rPr>
              <a:t>WHERE</a:t>
            </a:r>
            <a:r>
              <a:rPr lang="en-US" altLang="en-US" b="1" dirty="0"/>
              <a:t> </a:t>
            </a:r>
            <a:r>
              <a:rPr lang="en-US" altLang="en-US" i="1" dirty="0" err="1"/>
              <a:t>sem</a:t>
            </a:r>
            <a:r>
              <a:rPr lang="en-US" altLang="en-US" i="1" dirty="0"/>
              <a:t> = ‘Spring’ </a:t>
            </a:r>
            <a:r>
              <a:rPr lang="en-US" altLang="en-US" dirty="0">
                <a:solidFill>
                  <a:srgbClr val="006600"/>
                </a:solidFill>
              </a:rPr>
              <a:t>AND</a:t>
            </a:r>
            <a:r>
              <a:rPr lang="en-US" altLang="en-US" i="1" dirty="0"/>
              <a:t> year = 2010</a:t>
            </a:r>
          </a:p>
          <a:p>
            <a:pPr marL="457200" lvl="1" indent="0">
              <a:buNone/>
            </a:pPr>
            <a:endParaRPr lang="en-US" altLang="en-US" dirty="0">
              <a:solidFill>
                <a:srgbClr val="0066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3F041D-72EC-3CE6-279E-B162C4442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C82CD-4F2A-8F42-1B42-98E386B9A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90330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 Values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415143"/>
            <a:ext cx="10515600" cy="4865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It is possible for tuples to have a null value, denoted by </a:t>
            </a:r>
            <a:r>
              <a:rPr lang="en-US" altLang="en-US" i="1" dirty="0"/>
              <a:t>NULL</a:t>
            </a:r>
            <a:r>
              <a:rPr lang="en-US" altLang="en-US" dirty="0"/>
              <a:t>, for some of their attributes</a:t>
            </a:r>
          </a:p>
          <a:p>
            <a:r>
              <a:rPr lang="en-US" altLang="en-US" i="1" dirty="0"/>
              <a:t>null</a:t>
            </a:r>
            <a:r>
              <a:rPr lang="en-US" altLang="en-US" dirty="0"/>
              <a:t> signifies an unknown value or that a value does not exist.</a:t>
            </a:r>
          </a:p>
          <a:p>
            <a:r>
              <a:rPr lang="en-US" altLang="en-US" dirty="0"/>
              <a:t>The result of any arithmetic expression involving </a:t>
            </a:r>
            <a:r>
              <a:rPr lang="en-US" altLang="en-US" i="1" dirty="0"/>
              <a:t>NULL</a:t>
            </a:r>
            <a:r>
              <a:rPr lang="en-US" altLang="en-US" dirty="0"/>
              <a:t> is </a:t>
            </a:r>
            <a:r>
              <a:rPr lang="en-US" altLang="en-US" i="1" dirty="0"/>
              <a:t>NULL</a:t>
            </a:r>
          </a:p>
          <a:p>
            <a:pPr lvl="1"/>
            <a:r>
              <a:rPr lang="en-US" altLang="en-US" dirty="0"/>
              <a:t>Example:  5 + </a:t>
            </a:r>
            <a:r>
              <a:rPr lang="en-US" altLang="en-US" i="1" dirty="0"/>
              <a:t>NULL</a:t>
            </a:r>
            <a:r>
              <a:rPr lang="en-US" altLang="en-US" dirty="0"/>
              <a:t>  returns NULL</a:t>
            </a:r>
          </a:p>
          <a:p>
            <a:r>
              <a:rPr lang="en-US" altLang="en-US" dirty="0"/>
              <a:t>The predicate  </a:t>
            </a:r>
            <a:r>
              <a:rPr lang="en-US" altLang="en-US" b="1" dirty="0"/>
              <a:t>IS NULL </a:t>
            </a:r>
            <a:r>
              <a:rPr lang="en-US" altLang="en-US" dirty="0"/>
              <a:t>can be used to check for null values.</a:t>
            </a:r>
          </a:p>
          <a:p>
            <a:pPr lvl="1"/>
            <a:r>
              <a:rPr lang="en-US" altLang="en-US" dirty="0"/>
              <a:t>Example: Find all instructors whose salary is null</a:t>
            </a:r>
            <a:r>
              <a:rPr lang="en-US" altLang="en-US" i="1" dirty="0"/>
              <a:t>.</a:t>
            </a:r>
          </a:p>
          <a:p>
            <a:pPr>
              <a:buFont typeface="Monotype Sorts" pitchFamily="2" charset="2"/>
              <a:buNone/>
            </a:pPr>
            <a:r>
              <a:rPr lang="en-US" altLang="en-US" b="1" dirty="0"/>
              <a:t>		</a:t>
            </a:r>
            <a:r>
              <a:rPr lang="en-US" altLang="en-US" dirty="0">
                <a:solidFill>
                  <a:srgbClr val="006600"/>
                </a:solidFill>
              </a:rPr>
              <a:t>SELECT</a:t>
            </a:r>
            <a:r>
              <a:rPr lang="en-US" altLang="en-US" i="1" dirty="0"/>
              <a:t> name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dirty="0">
                <a:solidFill>
                  <a:srgbClr val="006600"/>
                </a:solidFill>
              </a:rPr>
              <a:t>FROM</a:t>
            </a:r>
            <a:r>
              <a:rPr lang="en-US" altLang="en-US" b="1" dirty="0"/>
              <a:t> </a:t>
            </a:r>
            <a:r>
              <a:rPr lang="en-US" altLang="en-US" i="1" dirty="0"/>
              <a:t> instructor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dirty="0">
                <a:solidFill>
                  <a:srgbClr val="006600"/>
                </a:solidFill>
              </a:rPr>
              <a:t>WHERE</a:t>
            </a:r>
            <a:r>
              <a:rPr lang="en-US" altLang="en-US" b="1" dirty="0"/>
              <a:t> </a:t>
            </a:r>
            <a:r>
              <a:rPr lang="en-US" altLang="en-US" i="1" dirty="0"/>
              <a:t>salary </a:t>
            </a:r>
            <a:r>
              <a:rPr lang="en-US" altLang="en-US" dirty="0">
                <a:solidFill>
                  <a:srgbClr val="006600"/>
                </a:solidFill>
              </a:rPr>
              <a:t>IS</a:t>
            </a:r>
            <a:r>
              <a:rPr lang="en-US" altLang="en-US" b="1" dirty="0"/>
              <a:t> </a:t>
            </a:r>
            <a:r>
              <a:rPr lang="en-US" altLang="en-US" dirty="0">
                <a:solidFill>
                  <a:srgbClr val="006600"/>
                </a:solidFill>
              </a:rPr>
              <a:t>NULL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9DE358-9707-EECD-373E-AF9ED101E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B69DC-DE6D-79E5-51B5-968BCFB10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079023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 Values and Three Valued Logic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2833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Three values – </a:t>
            </a:r>
            <a:r>
              <a:rPr lang="en-US" altLang="en-US" i="1" dirty="0"/>
              <a:t>true</a:t>
            </a:r>
            <a:r>
              <a:rPr lang="en-US" altLang="en-US" dirty="0"/>
              <a:t>, </a:t>
            </a:r>
            <a:r>
              <a:rPr lang="en-US" altLang="en-US" i="1" dirty="0"/>
              <a:t>false</a:t>
            </a:r>
            <a:r>
              <a:rPr lang="en-US" altLang="en-US" dirty="0"/>
              <a:t>, </a:t>
            </a:r>
            <a:r>
              <a:rPr lang="en-US" altLang="en-US" i="1" dirty="0"/>
              <a:t>unknown</a:t>
            </a:r>
          </a:p>
          <a:p>
            <a:r>
              <a:rPr lang="en-US" altLang="en-US" dirty="0"/>
              <a:t>Any comparison with </a:t>
            </a:r>
            <a:r>
              <a:rPr lang="en-US" altLang="en-US" i="1" dirty="0"/>
              <a:t>null</a:t>
            </a:r>
            <a:r>
              <a:rPr lang="en-US" altLang="en-US" dirty="0"/>
              <a:t> returns </a:t>
            </a:r>
            <a:r>
              <a:rPr lang="en-US" altLang="en-US" i="1" dirty="0"/>
              <a:t>unknown</a:t>
            </a:r>
          </a:p>
          <a:p>
            <a:pPr lvl="1"/>
            <a:r>
              <a:rPr lang="en-US" altLang="en-US" dirty="0"/>
              <a:t>Example</a:t>
            </a:r>
            <a:r>
              <a:rPr lang="en-US" altLang="en-US" i="1" dirty="0"/>
              <a:t>: 5 &lt; null   or   null &lt;&gt; null    or    null = null</a:t>
            </a:r>
          </a:p>
          <a:p>
            <a:r>
              <a:rPr lang="en-US" altLang="en-US" dirty="0"/>
              <a:t>Three-valued logic using the value </a:t>
            </a:r>
            <a:r>
              <a:rPr lang="en-US" altLang="en-US" i="1" dirty="0"/>
              <a:t>unknown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OR: (</a:t>
            </a:r>
            <a:r>
              <a:rPr lang="en-US" altLang="en-US" i="1" dirty="0"/>
              <a:t>unknown</a:t>
            </a:r>
            <a:r>
              <a:rPr lang="en-US" altLang="en-US" dirty="0"/>
              <a:t> </a:t>
            </a:r>
            <a:r>
              <a:rPr lang="en-US" altLang="en-US" b="1" dirty="0"/>
              <a:t>OR</a:t>
            </a:r>
            <a:r>
              <a:rPr lang="en-US" altLang="en-US" dirty="0"/>
              <a:t> </a:t>
            </a:r>
            <a:r>
              <a:rPr lang="en-US" altLang="en-US" i="1" dirty="0"/>
              <a:t>true</a:t>
            </a:r>
            <a:r>
              <a:rPr lang="en-US" altLang="en-US" dirty="0"/>
              <a:t>)   = </a:t>
            </a:r>
            <a:r>
              <a:rPr lang="en-US" altLang="en-US" i="1" dirty="0"/>
              <a:t>true</a:t>
            </a:r>
            <a:r>
              <a:rPr lang="en-US" altLang="en-US" dirty="0"/>
              <a:t>,</a:t>
            </a:r>
            <a:br>
              <a:rPr lang="en-US" altLang="en-US" dirty="0"/>
            </a:br>
            <a:r>
              <a:rPr lang="en-US" altLang="en-US" dirty="0"/>
              <a:t>       (</a:t>
            </a:r>
            <a:r>
              <a:rPr lang="en-US" altLang="en-US" i="1" dirty="0"/>
              <a:t>unknown</a:t>
            </a:r>
            <a:r>
              <a:rPr lang="en-US" altLang="en-US" dirty="0"/>
              <a:t> </a:t>
            </a:r>
            <a:r>
              <a:rPr lang="en-US" altLang="en-US" b="1" dirty="0"/>
              <a:t>OR</a:t>
            </a:r>
            <a:r>
              <a:rPr lang="en-US" altLang="en-US" dirty="0"/>
              <a:t> </a:t>
            </a:r>
            <a:r>
              <a:rPr lang="en-US" altLang="en-US" i="1" dirty="0"/>
              <a:t>false</a:t>
            </a:r>
            <a:r>
              <a:rPr lang="en-US" altLang="en-US" dirty="0"/>
              <a:t>)  = </a:t>
            </a:r>
            <a:r>
              <a:rPr lang="en-US" altLang="en-US" i="1" dirty="0"/>
              <a:t>unknown</a:t>
            </a:r>
            <a:br>
              <a:rPr lang="en-US" altLang="en-US" dirty="0"/>
            </a:br>
            <a:r>
              <a:rPr lang="en-US" altLang="en-US" dirty="0"/>
              <a:t>       (</a:t>
            </a:r>
            <a:r>
              <a:rPr lang="en-US" altLang="en-US" i="1" dirty="0"/>
              <a:t>unknown </a:t>
            </a:r>
            <a:r>
              <a:rPr lang="en-US" altLang="en-US" b="1" dirty="0"/>
              <a:t>OR</a:t>
            </a:r>
            <a:r>
              <a:rPr lang="en-US" altLang="en-US" i="1" dirty="0"/>
              <a:t> unknown) = unknown</a:t>
            </a:r>
          </a:p>
          <a:p>
            <a:pPr lvl="1"/>
            <a:r>
              <a:rPr lang="en-US" altLang="en-US" dirty="0"/>
              <a:t>AND:</a:t>
            </a:r>
            <a:r>
              <a:rPr lang="en-US" altLang="en-US" i="1" dirty="0"/>
              <a:t> (true</a:t>
            </a:r>
            <a:r>
              <a:rPr lang="en-US" altLang="en-US" b="1" dirty="0"/>
              <a:t> AND </a:t>
            </a:r>
            <a:r>
              <a:rPr lang="en-US" altLang="en-US" i="1" dirty="0"/>
              <a:t>unknown)  = unknown,    </a:t>
            </a:r>
            <a:br>
              <a:rPr lang="en-US" altLang="en-US" i="1" dirty="0"/>
            </a:br>
            <a:r>
              <a:rPr lang="en-US" altLang="en-US" i="1" dirty="0"/>
              <a:t>         (false</a:t>
            </a:r>
            <a:r>
              <a:rPr lang="en-US" altLang="en-US" b="1" dirty="0"/>
              <a:t> AND </a:t>
            </a:r>
            <a:r>
              <a:rPr lang="en-US" altLang="en-US" i="1" dirty="0"/>
              <a:t>unknown) = false,</a:t>
            </a:r>
            <a:br>
              <a:rPr lang="en-US" altLang="en-US" i="1" dirty="0"/>
            </a:br>
            <a:r>
              <a:rPr lang="en-US" altLang="en-US" i="1" dirty="0"/>
              <a:t>         (unknown </a:t>
            </a:r>
            <a:r>
              <a:rPr lang="en-US" altLang="en-US" b="1" dirty="0"/>
              <a:t>AND</a:t>
            </a:r>
            <a:r>
              <a:rPr lang="en-US" altLang="en-US" i="1" dirty="0"/>
              <a:t> unknown) = unknown</a:t>
            </a:r>
          </a:p>
          <a:p>
            <a:pPr lvl="1"/>
            <a:r>
              <a:rPr lang="en-US" altLang="en-US" dirty="0"/>
              <a:t>NOT</a:t>
            </a:r>
            <a:r>
              <a:rPr lang="en-US" altLang="en-US" i="1" dirty="0"/>
              <a:t>:  (</a:t>
            </a:r>
            <a:r>
              <a:rPr lang="en-US" altLang="en-US" b="1" dirty="0"/>
              <a:t>NOT</a:t>
            </a:r>
            <a:r>
              <a:rPr lang="en-US" altLang="en-US" i="1" dirty="0"/>
              <a:t> unknown) = unknown</a:t>
            </a:r>
          </a:p>
          <a:p>
            <a:pPr lvl="1"/>
            <a:r>
              <a:rPr lang="en-US" altLang="en-US" dirty="0"/>
              <a:t>“</a:t>
            </a:r>
            <a:r>
              <a:rPr lang="en-US" altLang="en-US" i="1" dirty="0"/>
              <a:t>P</a:t>
            </a:r>
            <a:r>
              <a:rPr lang="en-US" altLang="en-US" b="1" dirty="0"/>
              <a:t>  is unknown</a:t>
            </a:r>
            <a:r>
              <a:rPr lang="en-US" altLang="en-US" dirty="0"/>
              <a:t>”</a:t>
            </a:r>
            <a:r>
              <a:rPr lang="en-US" altLang="en-US" b="1" dirty="0"/>
              <a:t> </a:t>
            </a:r>
            <a:r>
              <a:rPr lang="en-US" altLang="en-US" dirty="0"/>
              <a:t>evaluates to true if predicate </a:t>
            </a:r>
            <a:r>
              <a:rPr lang="en-US" altLang="en-US" i="1" dirty="0"/>
              <a:t>P</a:t>
            </a:r>
            <a:r>
              <a:rPr lang="en-US" altLang="en-US" dirty="0"/>
              <a:t> evaluates to </a:t>
            </a:r>
            <a:r>
              <a:rPr lang="en-US" altLang="en-US" i="1" dirty="0"/>
              <a:t>unknown</a:t>
            </a:r>
          </a:p>
          <a:p>
            <a:r>
              <a:rPr lang="en-US" altLang="en-US" dirty="0"/>
              <a:t>Result of </a:t>
            </a:r>
            <a:r>
              <a:rPr lang="en-US" altLang="en-US" b="1" dirty="0"/>
              <a:t>WHERE </a:t>
            </a:r>
            <a:r>
              <a:rPr lang="en-US" altLang="en-US" dirty="0"/>
              <a:t>clause predicate is treated as </a:t>
            </a:r>
            <a:r>
              <a:rPr lang="en-US" altLang="en-US" i="1" dirty="0"/>
              <a:t>false </a:t>
            </a:r>
            <a:r>
              <a:rPr lang="en-US" altLang="en-US" dirty="0"/>
              <a:t>if it evaluates to </a:t>
            </a:r>
            <a:r>
              <a:rPr lang="en-US" altLang="en-US" i="1" dirty="0"/>
              <a:t>unknown</a:t>
            </a:r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5">
                <a:extLst>
                  <a:ext uri="{FF2B5EF4-FFF2-40B4-BE49-F238E27FC236}">
                    <a16:creationId xmlns:a16="http://schemas.microsoft.com/office/drawing/2014/main" id="{1AC459A2-8E85-07B6-7DF6-F73976F3AC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7087086"/>
                  </p:ext>
                </p:extLst>
              </p:nvPr>
            </p:nvGraphicFramePr>
            <p:xfrm>
              <a:off x="9031034" y="693334"/>
              <a:ext cx="2501264" cy="1630680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625316">
                      <a:extLst>
                        <a:ext uri="{9D8B030D-6E8A-4147-A177-3AD203B41FA5}">
                          <a16:colId xmlns:a16="http://schemas.microsoft.com/office/drawing/2014/main" val="1806922832"/>
                        </a:ext>
                      </a:extLst>
                    </a:gridCol>
                    <a:gridCol w="625316">
                      <a:extLst>
                        <a:ext uri="{9D8B030D-6E8A-4147-A177-3AD203B41FA5}">
                          <a16:colId xmlns:a16="http://schemas.microsoft.com/office/drawing/2014/main" val="3777390883"/>
                        </a:ext>
                      </a:extLst>
                    </a:gridCol>
                    <a:gridCol w="625316">
                      <a:extLst>
                        <a:ext uri="{9D8B030D-6E8A-4147-A177-3AD203B41FA5}">
                          <a16:colId xmlns:a16="http://schemas.microsoft.com/office/drawing/2014/main" val="1729870247"/>
                        </a:ext>
                      </a:extLst>
                    </a:gridCol>
                    <a:gridCol w="625316">
                      <a:extLst>
                        <a:ext uri="{9D8B030D-6E8A-4147-A177-3AD203B41FA5}">
                          <a16:colId xmlns:a16="http://schemas.microsoft.com/office/drawing/2014/main" val="30844014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oMath>
                            </m:oMathPara>
                          </a14:m>
                          <a:endParaRPr lang="nl-NL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oMath>
                            </m:oMathPara>
                          </a14:m>
                          <a:endParaRPr lang="nl-NL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𝑼</m:t>
                                </m:r>
                              </m:oMath>
                            </m:oMathPara>
                          </a14:m>
                          <a:endParaRPr lang="nl-NL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75145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oMath>
                            </m:oMathPara>
                          </a14:m>
                          <a:endParaRPr lang="nl-NL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U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3730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oMath>
                            </m:oMathPara>
                          </a14:m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61197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𝑼</m:t>
                                </m:r>
                              </m:oMath>
                            </m:oMathPara>
                          </a14:m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U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U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70740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5">
                <a:extLst>
                  <a:ext uri="{FF2B5EF4-FFF2-40B4-BE49-F238E27FC236}">
                    <a16:creationId xmlns:a16="http://schemas.microsoft.com/office/drawing/2014/main" id="{1AC459A2-8E85-07B6-7DF6-F73976F3AC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7087086"/>
                  </p:ext>
                </p:extLst>
              </p:nvPr>
            </p:nvGraphicFramePr>
            <p:xfrm>
              <a:off x="9031034" y="693334"/>
              <a:ext cx="2501264" cy="1630680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625316">
                      <a:extLst>
                        <a:ext uri="{9D8B030D-6E8A-4147-A177-3AD203B41FA5}">
                          <a16:colId xmlns:a16="http://schemas.microsoft.com/office/drawing/2014/main" val="1806922832"/>
                        </a:ext>
                      </a:extLst>
                    </a:gridCol>
                    <a:gridCol w="625316">
                      <a:extLst>
                        <a:ext uri="{9D8B030D-6E8A-4147-A177-3AD203B41FA5}">
                          <a16:colId xmlns:a16="http://schemas.microsoft.com/office/drawing/2014/main" val="3777390883"/>
                        </a:ext>
                      </a:extLst>
                    </a:gridCol>
                    <a:gridCol w="625316">
                      <a:extLst>
                        <a:ext uri="{9D8B030D-6E8A-4147-A177-3AD203B41FA5}">
                          <a16:colId xmlns:a16="http://schemas.microsoft.com/office/drawing/2014/main" val="1729870247"/>
                        </a:ext>
                      </a:extLst>
                    </a:gridCol>
                    <a:gridCol w="625316">
                      <a:extLst>
                        <a:ext uri="{9D8B030D-6E8A-4147-A177-3AD203B41FA5}">
                          <a16:colId xmlns:a16="http://schemas.microsoft.com/office/drawing/2014/main" val="3084401431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2"/>
                          <a:stretch>
                            <a:fillRect l="-2000" r="-296000" b="-2341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2"/>
                          <a:stretch>
                            <a:fillRect l="-104082" r="-202041" b="-2341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2"/>
                          <a:stretch>
                            <a:fillRect l="-200000" r="-98000" b="-2341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2"/>
                          <a:stretch>
                            <a:fillRect l="-306122" b="-2341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75145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2"/>
                          <a:stretch>
                            <a:fillRect l="-2000" t="-141379" r="-296000" b="-2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U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3730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2"/>
                          <a:stretch>
                            <a:fillRect l="-2000" t="-233333" r="-296000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61197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2"/>
                          <a:stretch>
                            <a:fillRect l="-2000" t="-344828" r="-296000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U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U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707408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FCEA177A-A36F-1DEA-8691-3AE8AE6E93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5936135"/>
                  </p:ext>
                </p:extLst>
              </p:nvPr>
            </p:nvGraphicFramePr>
            <p:xfrm>
              <a:off x="9031034" y="2677358"/>
              <a:ext cx="2501264" cy="1630680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625316">
                      <a:extLst>
                        <a:ext uri="{9D8B030D-6E8A-4147-A177-3AD203B41FA5}">
                          <a16:colId xmlns:a16="http://schemas.microsoft.com/office/drawing/2014/main" val="1806922832"/>
                        </a:ext>
                      </a:extLst>
                    </a:gridCol>
                    <a:gridCol w="625316">
                      <a:extLst>
                        <a:ext uri="{9D8B030D-6E8A-4147-A177-3AD203B41FA5}">
                          <a16:colId xmlns:a16="http://schemas.microsoft.com/office/drawing/2014/main" val="3777390883"/>
                        </a:ext>
                      </a:extLst>
                    </a:gridCol>
                    <a:gridCol w="625316">
                      <a:extLst>
                        <a:ext uri="{9D8B030D-6E8A-4147-A177-3AD203B41FA5}">
                          <a16:colId xmlns:a16="http://schemas.microsoft.com/office/drawing/2014/main" val="1729870247"/>
                        </a:ext>
                      </a:extLst>
                    </a:gridCol>
                    <a:gridCol w="625316">
                      <a:extLst>
                        <a:ext uri="{9D8B030D-6E8A-4147-A177-3AD203B41FA5}">
                          <a16:colId xmlns:a16="http://schemas.microsoft.com/office/drawing/2014/main" val="30844014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oMath>
                            </m:oMathPara>
                          </a14:m>
                          <a:endParaRPr lang="nl-NL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oMath>
                            </m:oMathPara>
                          </a14:m>
                          <a:endParaRPr lang="nl-NL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𝑼</m:t>
                                </m:r>
                              </m:oMath>
                            </m:oMathPara>
                          </a14:m>
                          <a:endParaRPr lang="nl-NL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75145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oMath>
                            </m:oMathPara>
                          </a14:m>
                          <a:endParaRPr lang="nl-NL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3730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oMath>
                            </m:oMathPara>
                          </a14:m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U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61197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𝑼</m:t>
                                </m:r>
                              </m:oMath>
                            </m:oMathPara>
                          </a14:m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U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U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70740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FCEA177A-A36F-1DEA-8691-3AE8AE6E93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5936135"/>
                  </p:ext>
                </p:extLst>
              </p:nvPr>
            </p:nvGraphicFramePr>
            <p:xfrm>
              <a:off x="9031034" y="2677358"/>
              <a:ext cx="2501264" cy="1630680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625316">
                      <a:extLst>
                        <a:ext uri="{9D8B030D-6E8A-4147-A177-3AD203B41FA5}">
                          <a16:colId xmlns:a16="http://schemas.microsoft.com/office/drawing/2014/main" val="1806922832"/>
                        </a:ext>
                      </a:extLst>
                    </a:gridCol>
                    <a:gridCol w="625316">
                      <a:extLst>
                        <a:ext uri="{9D8B030D-6E8A-4147-A177-3AD203B41FA5}">
                          <a16:colId xmlns:a16="http://schemas.microsoft.com/office/drawing/2014/main" val="3777390883"/>
                        </a:ext>
                      </a:extLst>
                    </a:gridCol>
                    <a:gridCol w="625316">
                      <a:extLst>
                        <a:ext uri="{9D8B030D-6E8A-4147-A177-3AD203B41FA5}">
                          <a16:colId xmlns:a16="http://schemas.microsoft.com/office/drawing/2014/main" val="1729870247"/>
                        </a:ext>
                      </a:extLst>
                    </a:gridCol>
                    <a:gridCol w="625316">
                      <a:extLst>
                        <a:ext uri="{9D8B030D-6E8A-4147-A177-3AD203B41FA5}">
                          <a16:colId xmlns:a16="http://schemas.microsoft.com/office/drawing/2014/main" val="3084401431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3"/>
                          <a:stretch>
                            <a:fillRect l="-2000" r="-296000" b="-2365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3"/>
                          <a:stretch>
                            <a:fillRect l="-104082" r="-202041" b="-2365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3"/>
                          <a:stretch>
                            <a:fillRect l="-200000" r="-98000" b="-2365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3"/>
                          <a:stretch>
                            <a:fillRect l="-306122" b="-2365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75145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3"/>
                          <a:stretch>
                            <a:fillRect l="-2000" t="-136667" r="-296000" b="-2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3730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3"/>
                          <a:stretch>
                            <a:fillRect l="-2000" t="-244828" r="-296000" b="-1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U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61197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3"/>
                          <a:stretch>
                            <a:fillRect l="-2000" t="-333333" r="-296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U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U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70740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8489A9-DD59-8D2B-0790-16FB58939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61E27B-2344-4DB4-BF96-4F9349D4C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626949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 Operator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2833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&lt;v&gt; </a:t>
            </a:r>
            <a:r>
              <a:rPr lang="en-US" altLang="en-US" b="1" dirty="0"/>
              <a:t>IN</a:t>
            </a:r>
            <a:r>
              <a:rPr lang="en-US" altLang="en-US" dirty="0"/>
              <a:t> &lt;S&gt; evaluates to true if the value v matches one of the values in S. </a:t>
            </a:r>
          </a:p>
          <a:p>
            <a:r>
              <a:rPr lang="en-US" altLang="en-US" dirty="0"/>
              <a:t>It can be used to replace a sequence of conditions connected by </a:t>
            </a:r>
            <a:r>
              <a:rPr lang="en-US" altLang="en-US" b="1" dirty="0"/>
              <a:t>OR</a:t>
            </a:r>
          </a:p>
          <a:p>
            <a:r>
              <a:rPr lang="en-US" altLang="en-US" b="1" dirty="0"/>
              <a:t>Example:</a:t>
            </a:r>
          </a:p>
          <a:p>
            <a:pPr marL="457200" lvl="1" indent="0">
              <a:buNone/>
            </a:pPr>
            <a:r>
              <a:rPr lang="en-US" altLang="en-US" dirty="0">
                <a:solidFill>
                  <a:srgbClr val="006600"/>
                </a:solidFill>
              </a:rPr>
              <a:t>SELECT</a:t>
            </a:r>
            <a:r>
              <a:rPr lang="en-US" altLang="en-US" b="1" dirty="0"/>
              <a:t> </a:t>
            </a:r>
            <a:r>
              <a:rPr lang="en-US" altLang="en-US" dirty="0"/>
              <a:t>name</a:t>
            </a:r>
            <a:r>
              <a:rPr lang="en-US" altLang="en-US" dirty="0">
                <a:solidFill>
                  <a:srgbClr val="006600"/>
                </a:solidFill>
              </a:rPr>
              <a:t> </a:t>
            </a:r>
            <a:br>
              <a:rPr lang="en-US" altLang="en-US" dirty="0"/>
            </a:br>
            <a:r>
              <a:rPr lang="en-US" altLang="en-US" dirty="0">
                <a:solidFill>
                  <a:srgbClr val="006600"/>
                </a:solidFill>
              </a:rPr>
              <a:t>FROM</a:t>
            </a:r>
            <a:r>
              <a:rPr lang="en-US" altLang="en-US" b="1" dirty="0"/>
              <a:t> </a:t>
            </a:r>
            <a:r>
              <a:rPr lang="en-US" altLang="en-US" i="1" dirty="0"/>
              <a:t>instructor</a:t>
            </a:r>
            <a:br>
              <a:rPr lang="en-US" altLang="en-US" i="1" dirty="0"/>
            </a:br>
            <a:r>
              <a:rPr lang="en-US" altLang="en-US" dirty="0">
                <a:solidFill>
                  <a:srgbClr val="006600"/>
                </a:solidFill>
              </a:rPr>
              <a:t>WHERE</a:t>
            </a:r>
            <a:r>
              <a:rPr lang="en-US" altLang="en-US" b="1" dirty="0"/>
              <a:t> </a:t>
            </a:r>
            <a:r>
              <a:rPr lang="en-US" altLang="en-US" i="1" dirty="0" err="1"/>
              <a:t>dept_name</a:t>
            </a:r>
            <a:r>
              <a:rPr lang="en-US" altLang="en-US" i="1" dirty="0"/>
              <a:t> </a:t>
            </a:r>
            <a:r>
              <a:rPr lang="en-US" altLang="en-US" dirty="0">
                <a:solidFill>
                  <a:srgbClr val="006600"/>
                </a:solidFill>
              </a:rPr>
              <a:t>IN</a:t>
            </a:r>
            <a:r>
              <a:rPr lang="en-US" altLang="en-US" dirty="0"/>
              <a:t> (’Comp. Sci.’, ’Math.’, ’Chem.’);</a:t>
            </a:r>
          </a:p>
          <a:p>
            <a:pPr marL="457200" lvl="1" indent="-457200">
              <a:buNone/>
            </a:pPr>
            <a:r>
              <a:rPr lang="en-US" altLang="en-US" dirty="0"/>
              <a:t>This Query is equivalent to: </a:t>
            </a:r>
          </a:p>
          <a:p>
            <a:pPr marL="457200" lvl="1" indent="0">
              <a:buNone/>
            </a:pPr>
            <a:r>
              <a:rPr lang="en-US" altLang="en-US" dirty="0">
                <a:solidFill>
                  <a:srgbClr val="006600"/>
                </a:solidFill>
              </a:rPr>
              <a:t>SELECT</a:t>
            </a:r>
            <a:r>
              <a:rPr lang="en-US" altLang="en-US" b="1" dirty="0"/>
              <a:t> </a:t>
            </a:r>
            <a:r>
              <a:rPr lang="en-US" altLang="en-US" dirty="0"/>
              <a:t>name</a:t>
            </a:r>
            <a:r>
              <a:rPr lang="en-US" altLang="en-US" dirty="0">
                <a:solidFill>
                  <a:srgbClr val="006600"/>
                </a:solidFill>
              </a:rPr>
              <a:t> </a:t>
            </a:r>
            <a:br>
              <a:rPr lang="en-US" altLang="en-US" dirty="0"/>
            </a:br>
            <a:r>
              <a:rPr lang="en-US" altLang="en-US" dirty="0">
                <a:solidFill>
                  <a:srgbClr val="006600"/>
                </a:solidFill>
              </a:rPr>
              <a:t>FROM</a:t>
            </a:r>
            <a:r>
              <a:rPr lang="en-US" altLang="en-US" b="1" dirty="0"/>
              <a:t> </a:t>
            </a:r>
            <a:r>
              <a:rPr lang="en-US" altLang="en-US" i="1" dirty="0"/>
              <a:t>instructor</a:t>
            </a:r>
            <a:br>
              <a:rPr lang="en-US" altLang="en-US" i="1" dirty="0"/>
            </a:br>
            <a:r>
              <a:rPr lang="en-US" altLang="en-US" dirty="0">
                <a:solidFill>
                  <a:srgbClr val="006600"/>
                </a:solidFill>
              </a:rPr>
              <a:t>WHERE</a:t>
            </a:r>
            <a:r>
              <a:rPr lang="en-US" altLang="en-US" b="1" dirty="0"/>
              <a:t> </a:t>
            </a:r>
            <a:r>
              <a:rPr lang="en-US" altLang="en-US" i="1" dirty="0" err="1"/>
              <a:t>dept_name</a:t>
            </a:r>
            <a:r>
              <a:rPr lang="en-US" altLang="en-US" i="1" dirty="0"/>
              <a:t> </a:t>
            </a:r>
            <a:r>
              <a:rPr lang="en-US" altLang="en-US" dirty="0"/>
              <a:t>= ’Comp. Sci.’ </a:t>
            </a:r>
            <a:r>
              <a:rPr lang="en-US" altLang="en-US" dirty="0">
                <a:solidFill>
                  <a:srgbClr val="006600"/>
                </a:solidFill>
              </a:rPr>
              <a:t>OR</a:t>
            </a:r>
            <a:r>
              <a:rPr lang="en-US" altLang="en-US" dirty="0"/>
              <a:t> </a:t>
            </a:r>
            <a:r>
              <a:rPr lang="en-US" altLang="en-US" i="1" dirty="0" err="1"/>
              <a:t>dept_name</a:t>
            </a:r>
            <a:r>
              <a:rPr lang="en-US" altLang="en-US" i="1" dirty="0"/>
              <a:t> </a:t>
            </a:r>
            <a:r>
              <a:rPr lang="en-US" altLang="en-US" dirty="0"/>
              <a:t>= ’Math.’ </a:t>
            </a:r>
            <a:r>
              <a:rPr lang="en-US" altLang="en-US" dirty="0">
                <a:solidFill>
                  <a:srgbClr val="006600"/>
                </a:solidFill>
              </a:rPr>
              <a:t>OR</a:t>
            </a:r>
            <a:r>
              <a:rPr lang="en-US" altLang="en-US" i="1" dirty="0"/>
              <a:t> </a:t>
            </a:r>
            <a:r>
              <a:rPr lang="en-US" altLang="en-US" i="1" dirty="0" err="1"/>
              <a:t>dept_name</a:t>
            </a:r>
            <a:r>
              <a:rPr lang="en-US" altLang="en-US" i="1" dirty="0"/>
              <a:t> </a:t>
            </a:r>
            <a:r>
              <a:rPr lang="en-US" altLang="en-US" dirty="0"/>
              <a:t>= ’Chem.’</a:t>
            </a:r>
            <a:endParaRPr lang="en-US" altLang="en-US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487C0A-92F6-1F37-BF07-631CDCB4A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833BB-7A10-DF24-1C43-1E98BA55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515323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3193" y="489507"/>
            <a:ext cx="3091607" cy="165548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dirty="0"/>
              <a:t>Wrap-Up </a:t>
            </a:r>
          </a:p>
        </p:txBody>
      </p:sp>
      <p:pic>
        <p:nvPicPr>
          <p:cNvPr id="30" name="Picture 29" descr="Box wrapped in cloth">
            <a:extLst>
              <a:ext uri="{FF2B5EF4-FFF2-40B4-BE49-F238E27FC236}">
                <a16:creationId xmlns:a16="http://schemas.microsoft.com/office/drawing/2014/main" id="{FB7019AE-EF4E-493E-8DA4-73DA0B17F7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470" r="-1" b="-1"/>
          <a:stretch/>
        </p:blipFill>
        <p:spPr>
          <a:xfrm>
            <a:off x="20" y="431"/>
            <a:ext cx="8115280" cy="6408311"/>
          </a:xfrm>
          <a:prstGeom prst="rect">
            <a:avLst/>
          </a:prstGeom>
        </p:spPr>
      </p:pic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643193" y="2418408"/>
            <a:ext cx="2942813" cy="35402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Summarize what you learned today in 2-minutes</a:t>
            </a:r>
            <a:endParaRPr lang="en-US" alt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B0F5E0-AECB-7270-35E7-EF649837B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E01DE-FFB7-D992-B040-C5DE2CBE9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81691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Next lecture</a:t>
            </a:r>
          </a:p>
        </p:txBody>
      </p:sp>
      <p:sp>
        <p:nvSpPr>
          <p:cNvPr id="2273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Process Discovery</a:t>
            </a:r>
          </a:p>
          <a:p>
            <a:r>
              <a:rPr lang="en-US" altLang="en-US" dirty="0"/>
              <a:t>Conformance Checking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1C2856-CB3D-D34B-9F1D-8E5B8802D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E04EA-A26C-E447-A8E6-CA04C1B6E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B494A-3097-014D-8BD6-D19A16CE616C}" type="slidenum">
              <a:rPr lang="x-none" smtClean="0"/>
              <a:t>51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6552CC-4FE6-5F3A-640A-F682DB3E8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571778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489CF568-EAB2-4141-961B-07E9397559A6}"/>
              </a:ext>
            </a:extLst>
          </p:cNvPr>
          <p:cNvSpPr txBox="1">
            <a:spLocks/>
          </p:cNvSpPr>
          <p:nvPr/>
        </p:nvSpPr>
        <p:spPr>
          <a:xfrm>
            <a:off x="1202028" y="2620260"/>
            <a:ext cx="8277726" cy="60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Boolean Operators – Revision </a:t>
            </a:r>
            <a:endParaRPr lang="nl-NL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806AF92-4C3D-466B-94C7-FB715550C6EB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79DBBCF-9968-C520-CA0F-EAF093E8A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AA3AB-2547-DF35-C312-63E487E88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515047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Boolean Operators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DB1FA9-E983-4B1F-A3ED-1B02562B9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1704"/>
            <a:ext cx="10515600" cy="5081169"/>
          </a:xfrm>
        </p:spPr>
        <p:txBody>
          <a:bodyPr>
            <a:normAutofit/>
          </a:bodyPr>
          <a:lstStyle/>
          <a:p>
            <a:r>
              <a:rPr lang="en-US"/>
              <a:t>Searching through a database or search engine can often be frustrating</a:t>
            </a:r>
          </a:p>
          <a:p>
            <a:r>
              <a:rPr lang="en-US"/>
              <a:t>Boolean Operators create relationships between concepts and terms for better search results</a:t>
            </a:r>
          </a:p>
          <a:p>
            <a:r>
              <a:rPr lang="en-US"/>
              <a:t>Most popular Boolean operators are </a:t>
            </a:r>
            <a:r>
              <a:rPr lang="en-US" b="1"/>
              <a:t>AND</a:t>
            </a:r>
            <a:r>
              <a:rPr lang="en-US"/>
              <a:t>, </a:t>
            </a:r>
            <a:r>
              <a:rPr lang="en-US" b="1"/>
              <a:t>OR</a:t>
            </a:r>
            <a:r>
              <a:rPr lang="en-US"/>
              <a:t> and </a:t>
            </a:r>
            <a:r>
              <a:rPr lang="en-US" b="1"/>
              <a:t>NOT</a:t>
            </a:r>
          </a:p>
          <a:p>
            <a:pPr lvl="1"/>
            <a:r>
              <a:rPr lang="en-US"/>
              <a:t>The red areas represent the results of the operators</a:t>
            </a:r>
          </a:p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FD958BD-87E1-4EB3-B6A3-BB5D0AA398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8" t="11702" r="30993" b="47447"/>
          <a:stretch/>
        </p:blipFill>
        <p:spPr bwMode="auto">
          <a:xfrm>
            <a:off x="4401440" y="4399997"/>
            <a:ext cx="1575881" cy="1167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151CFEF-70CD-4B7B-B8BC-5C2C03851D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00" t="14667" r="46000" b="47333"/>
          <a:stretch/>
        </p:blipFill>
        <p:spPr bwMode="auto">
          <a:xfrm>
            <a:off x="1515363" y="4467259"/>
            <a:ext cx="1114426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3AA196C-257C-45FC-8367-CB6A0A1005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33" t="15000" r="47666" b="47666"/>
          <a:stretch/>
        </p:blipFill>
        <p:spPr bwMode="auto">
          <a:xfrm>
            <a:off x="2629789" y="4486308"/>
            <a:ext cx="1085850" cy="106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2E2E2BFD-E7C7-4963-B8B5-BC326C09BA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99" t="13349" r="30031" b="45800"/>
          <a:stretch/>
        </p:blipFill>
        <p:spPr bwMode="auto">
          <a:xfrm>
            <a:off x="6663122" y="4467259"/>
            <a:ext cx="1573619" cy="1167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124114-67B2-4C5E-8373-6388F482F1B5}"/>
                  </a:ext>
                </a:extLst>
              </p:cNvPr>
              <p:cNvSpPr txBox="1"/>
              <p:nvPr/>
            </p:nvSpPr>
            <p:spPr>
              <a:xfrm>
                <a:off x="1807537" y="5553109"/>
                <a:ext cx="4784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nl-NL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124114-67B2-4C5E-8373-6388F482F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537" y="5553109"/>
                <a:ext cx="47846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D79D9BB-3A86-4F89-80AD-A5306F5F58B5}"/>
                  </a:ext>
                </a:extLst>
              </p:cNvPr>
              <p:cNvSpPr txBox="1"/>
              <p:nvPr/>
            </p:nvSpPr>
            <p:spPr>
              <a:xfrm>
                <a:off x="3033799" y="5520843"/>
                <a:ext cx="4784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nl-NL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D79D9BB-3A86-4F89-80AD-A5306F5F5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799" y="5520843"/>
                <a:ext cx="47846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092192A-BE74-48D3-8A7D-FCCAFFD0DF29}"/>
                  </a:ext>
                </a:extLst>
              </p:cNvPr>
              <p:cNvSpPr txBox="1"/>
              <p:nvPr/>
            </p:nvSpPr>
            <p:spPr>
              <a:xfrm>
                <a:off x="4665038" y="5520843"/>
                <a:ext cx="8222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𝐴𝑁𝐷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nl-NL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092192A-BE74-48D3-8A7D-FCCAFFD0D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5038" y="5520843"/>
                <a:ext cx="822252" cy="369332"/>
              </a:xfrm>
              <a:prstGeom prst="rect">
                <a:avLst/>
              </a:prstGeom>
              <a:blipFill>
                <a:blip r:embed="rId8"/>
                <a:stretch>
                  <a:fillRect r="-28148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E40A9A8-7BC0-4634-B1AA-D7234494638D}"/>
                  </a:ext>
                </a:extLst>
              </p:cNvPr>
              <p:cNvSpPr txBox="1"/>
              <p:nvPr/>
            </p:nvSpPr>
            <p:spPr>
              <a:xfrm>
                <a:off x="7034398" y="5520843"/>
                <a:ext cx="8222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nl-NL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E40A9A8-7BC0-4634-B1AA-D72344946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398" y="5520843"/>
                <a:ext cx="822252" cy="369332"/>
              </a:xfrm>
              <a:prstGeom prst="rect">
                <a:avLst/>
              </a:prstGeom>
              <a:blipFill>
                <a:blip r:embed="rId9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2477B68-F002-4E86-9B90-8E212842EAEE}"/>
                  </a:ext>
                </a:extLst>
              </p:cNvPr>
              <p:cNvSpPr txBox="1"/>
              <p:nvPr/>
            </p:nvSpPr>
            <p:spPr>
              <a:xfrm>
                <a:off x="8871095" y="5520843"/>
                <a:ext cx="18837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𝐴𝑁𝐷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𝑁𝑂𝑇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nl-NL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2477B68-F002-4E86-9B90-8E212842E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1095" y="5520843"/>
                <a:ext cx="1883737" cy="369332"/>
              </a:xfrm>
              <a:prstGeom prst="rect">
                <a:avLst/>
              </a:prstGeom>
              <a:blipFill>
                <a:blip r:embed="rId1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6" name="Picture 12">
            <a:extLst>
              <a:ext uri="{FF2B5EF4-FFF2-40B4-BE49-F238E27FC236}">
                <a16:creationId xmlns:a16="http://schemas.microsoft.com/office/drawing/2014/main" id="{7D7C2746-CD9B-46C5-8E6B-E5D7922045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98" t="14137" r="30153" b="45012"/>
          <a:stretch/>
        </p:blipFill>
        <p:spPr bwMode="auto">
          <a:xfrm>
            <a:off x="8957985" y="4467258"/>
            <a:ext cx="1575882" cy="1167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BE7ECF-218D-1F07-7AE6-BB1C5BE8F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1C6A7-84B4-7557-FF3C-786D1CE6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2458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85AF5F2-267A-4A6E-AAB7-2C088BAE714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98484" y="413268"/>
                <a:ext cx="3657600" cy="1260798"/>
              </a:xfrm>
            </p:spPr>
            <p:txBody>
              <a:bodyPr vert="horz" lIns="91440" tIns="45720" rIns="91440" bIns="45720" rtlCol="0" anchor="b">
                <a:normAutofit/>
              </a:bodyPr>
              <a:lstStyle/>
              <a:p>
                <a:pPr algn="ctr"/>
                <a:r>
                  <a:rPr lang="en-US" sz="4800" b="1" kern="120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AND (</a:t>
                </a:r>
                <a14:m>
                  <m:oMath xmlns:m="http://schemas.openxmlformats.org/officeDocument/2006/math">
                    <m:r>
                      <a:rPr lang="en-US" sz="4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sz="4800" b="1" kern="120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85AF5F2-267A-4A6E-AAB7-2C088BAE71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98484" y="413268"/>
                <a:ext cx="3657600" cy="1260798"/>
              </a:xfrm>
              <a:blipFill>
                <a:blip r:embed="rId2"/>
                <a:stretch>
                  <a:fillRect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99400" y="2533088"/>
                <a:ext cx="5701474" cy="4084716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000" dirty="0">
                    <a:solidFill>
                      <a:schemeClr val="tx1"/>
                    </a:solidFill>
                  </a:rPr>
                  <a:t>The red area – </a:t>
                </a:r>
                <a14:m>
                  <m:oMath xmlns:m="http://schemas.openxmlformats.org/officeDocument/2006/math">
                    <m:r>
                      <a:rPr lang="en-US" sz="2000" b="0" i="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lang="en-US" sz="2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2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𝐵</m:t>
                    </m:r>
                    <m:r>
                      <a:rPr lang="en-US" sz="2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) </m:t>
                    </m:r>
                  </m:oMath>
                </a14:m>
                <a:endParaRPr lang="en-US" sz="20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endParaRPr lang="en-US" sz="200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kern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Retrieves only records that satisfy both conditions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457200" lvl="1" indent="0"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000" kern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ame = “Taylor” AND </a:t>
                </a:r>
                <a:r>
                  <a:rPr lang="en-US" sz="2000" kern="1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dept_name</a:t>
                </a:r>
                <a:r>
                  <a:rPr lang="en-US" sz="2000" kern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“Chem.”</a:t>
                </a:r>
              </a:p>
              <a:p>
                <a:pPr marL="457200" lvl="1" indent="0"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Returns all instructors in the Chem. department whose name is Taylor</a:t>
                </a:r>
                <a:endParaRPr lang="en-US" sz="200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99400" y="2533088"/>
                <a:ext cx="5701474" cy="4084716"/>
              </a:xfrm>
              <a:blipFill>
                <a:blip r:embed="rId3"/>
                <a:stretch>
                  <a:fillRect l="-1556" t="-18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itle 1">
            <a:extLst>
              <a:ext uri="{FF2B5EF4-FFF2-40B4-BE49-F238E27FC236}">
                <a16:creationId xmlns:a16="http://schemas.microsoft.com/office/drawing/2014/main" id="{0F29794F-9340-4808-BF22-B1301691208D}"/>
              </a:ext>
            </a:extLst>
          </p:cNvPr>
          <p:cNvSpPr txBox="1">
            <a:spLocks/>
          </p:cNvSpPr>
          <p:nvPr/>
        </p:nvSpPr>
        <p:spPr>
          <a:xfrm>
            <a:off x="530654" y="4026649"/>
            <a:ext cx="3657600" cy="12607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4800" b="1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5">
                <a:extLst>
                  <a:ext uri="{FF2B5EF4-FFF2-40B4-BE49-F238E27FC236}">
                    <a16:creationId xmlns:a16="http://schemas.microsoft.com/office/drawing/2014/main" id="{959DE94D-69A1-48AE-B043-DAFEAE415D2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91934" y="2052974"/>
              <a:ext cx="2501262" cy="1854200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833754">
                      <a:extLst>
                        <a:ext uri="{9D8B030D-6E8A-4147-A177-3AD203B41FA5}">
                          <a16:colId xmlns:a16="http://schemas.microsoft.com/office/drawing/2014/main" val="3777390883"/>
                        </a:ext>
                      </a:extLst>
                    </a:gridCol>
                    <a:gridCol w="833754">
                      <a:extLst>
                        <a:ext uri="{9D8B030D-6E8A-4147-A177-3AD203B41FA5}">
                          <a16:colId xmlns:a16="http://schemas.microsoft.com/office/drawing/2014/main" val="1729870247"/>
                        </a:ext>
                      </a:extLst>
                    </a:gridCol>
                    <a:gridCol w="833754">
                      <a:extLst>
                        <a:ext uri="{9D8B030D-6E8A-4147-A177-3AD203B41FA5}">
                          <a16:colId xmlns:a16="http://schemas.microsoft.com/office/drawing/2014/main" val="30844014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nl-NL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nl-NL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nl-NL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75145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3730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61197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70740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02919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5">
                <a:extLst>
                  <a:ext uri="{FF2B5EF4-FFF2-40B4-BE49-F238E27FC236}">
                    <a16:creationId xmlns:a16="http://schemas.microsoft.com/office/drawing/2014/main" id="{959DE94D-69A1-48AE-B043-DAFEAE415D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5779930"/>
                  </p:ext>
                </p:extLst>
              </p:nvPr>
            </p:nvGraphicFramePr>
            <p:xfrm>
              <a:off x="991934" y="2052974"/>
              <a:ext cx="2501262" cy="1854200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833754">
                      <a:extLst>
                        <a:ext uri="{9D8B030D-6E8A-4147-A177-3AD203B41FA5}">
                          <a16:colId xmlns:a16="http://schemas.microsoft.com/office/drawing/2014/main" val="3777390883"/>
                        </a:ext>
                      </a:extLst>
                    </a:gridCol>
                    <a:gridCol w="833754">
                      <a:extLst>
                        <a:ext uri="{9D8B030D-6E8A-4147-A177-3AD203B41FA5}">
                          <a16:colId xmlns:a16="http://schemas.microsoft.com/office/drawing/2014/main" val="1729870247"/>
                        </a:ext>
                      </a:extLst>
                    </a:gridCol>
                    <a:gridCol w="833754">
                      <a:extLst>
                        <a:ext uri="{9D8B030D-6E8A-4147-A177-3AD203B41FA5}">
                          <a16:colId xmlns:a16="http://schemas.microsoft.com/office/drawing/2014/main" val="30844014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4"/>
                          <a:stretch>
                            <a:fillRect l="-1515" r="-200000" b="-4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4"/>
                          <a:stretch>
                            <a:fillRect l="-101515" r="-100000" b="-4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4"/>
                          <a:stretch>
                            <a:fillRect l="-201515" b="-4344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75145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3730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61197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70740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029198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FEC83BFE-5775-D747-8542-D860E3D7F662}"/>
              </a:ext>
            </a:extLst>
          </p:cNvPr>
          <p:cNvGrpSpPr/>
          <p:nvPr/>
        </p:nvGrpSpPr>
        <p:grpSpPr>
          <a:xfrm>
            <a:off x="6453250" y="206830"/>
            <a:ext cx="3106340" cy="2334351"/>
            <a:chOff x="6453250" y="206830"/>
            <a:chExt cx="3106340" cy="2334351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7FD958BD-87E1-4EB3-B6A3-BB5D0AA398E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58" t="11702" r="30993" b="47447"/>
            <a:stretch/>
          </p:blipFill>
          <p:spPr bwMode="auto">
            <a:xfrm>
              <a:off x="6453250" y="240196"/>
              <a:ext cx="3106340" cy="23009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ACDD389-8A49-6646-B036-95FAEA784C7A}"/>
                </a:ext>
              </a:extLst>
            </p:cNvPr>
            <p:cNvSpPr txBox="1"/>
            <p:nvPr/>
          </p:nvSpPr>
          <p:spPr>
            <a:xfrm>
              <a:off x="6945086" y="228602"/>
              <a:ext cx="315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      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F78DF6E-F9F6-3049-8E8A-434A7D5CD8E4}"/>
                </a:ext>
              </a:extLst>
            </p:cNvPr>
            <p:cNvSpPr txBox="1"/>
            <p:nvPr/>
          </p:nvSpPr>
          <p:spPr>
            <a:xfrm>
              <a:off x="8632370" y="206830"/>
              <a:ext cx="315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       </a:t>
              </a:r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65302-74F9-0063-A6FE-140F875B0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EED21-9E78-2B5C-7897-D42360C28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869219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85AF5F2-267A-4A6E-AAB7-2C088BAE714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9901" y="605704"/>
                <a:ext cx="3657600" cy="786636"/>
              </a:xfrm>
            </p:spPr>
            <p:txBody>
              <a:bodyPr vert="horz" lIns="91440" tIns="45720" rIns="91440" bIns="45720" rtlCol="0" anchor="b">
                <a:normAutofit/>
              </a:bodyPr>
              <a:lstStyle/>
              <a:p>
                <a:pPr algn="ctr"/>
                <a:r>
                  <a:rPr lang="en-US" sz="4800" b="1" kern="120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OR (</a:t>
                </a:r>
                <a14:m>
                  <m:oMath xmlns:m="http://schemas.openxmlformats.org/officeDocument/2006/math">
                    <m:r>
                      <a:rPr lang="en-US" sz="4800" b="1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sz="4800" b="1" kern="120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85AF5F2-267A-4A6E-AAB7-2C088BAE71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9901" y="605704"/>
                <a:ext cx="3657600" cy="786636"/>
              </a:xfrm>
              <a:blipFill>
                <a:blip r:embed="rId2"/>
                <a:stretch>
                  <a:fillRect t="-22222" b="-41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99400" y="2533088"/>
                <a:ext cx="5701474" cy="4084716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000" dirty="0">
                    <a:solidFill>
                      <a:schemeClr val="tx1"/>
                    </a:solidFill>
                  </a:rPr>
                  <a:t>The red area – </a:t>
                </a:r>
                <a14:m>
                  <m:oMath xmlns:m="http://schemas.openxmlformats.org/officeDocument/2006/math">
                    <m:r>
                      <a:rPr lang="en-US" sz="2000" b="0" i="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lang="en-US" sz="2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sz="2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𝐵</m:t>
                    </m:r>
                    <m:r>
                      <a:rPr lang="en-US" sz="2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) </m:t>
                    </m:r>
                  </m:oMath>
                </a14:m>
                <a:endParaRPr lang="en-US" sz="20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endParaRPr lang="en-US" sz="200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kern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Retrieves records that satisfy one of the conditions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457200" lvl="1" indent="0"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000" kern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ame = “Taylor” OR </a:t>
                </a:r>
                <a:r>
                  <a:rPr lang="en-US" sz="2000" kern="1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dept_name</a:t>
                </a:r>
                <a:r>
                  <a:rPr lang="en-US" sz="2000" kern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“Chem.”</a:t>
                </a:r>
              </a:p>
              <a:p>
                <a:pPr marL="457200" lvl="1" indent="0"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Returns all instructors with the name Taylor and all instructors of the Chem. department</a:t>
                </a:r>
                <a:endParaRPr lang="en-US" sz="200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99400" y="2533088"/>
                <a:ext cx="5701474" cy="4084716"/>
              </a:xfrm>
              <a:blipFill>
                <a:blip r:embed="rId3"/>
                <a:stretch>
                  <a:fillRect l="-1556" t="-18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5">
                <a:extLst>
                  <a:ext uri="{FF2B5EF4-FFF2-40B4-BE49-F238E27FC236}">
                    <a16:creationId xmlns:a16="http://schemas.microsoft.com/office/drawing/2014/main" id="{17B3320C-5A73-4C1C-BBB8-BE201CB47DD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41968" y="2501900"/>
              <a:ext cx="2501262" cy="1854200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833754">
                      <a:extLst>
                        <a:ext uri="{9D8B030D-6E8A-4147-A177-3AD203B41FA5}">
                          <a16:colId xmlns:a16="http://schemas.microsoft.com/office/drawing/2014/main" val="3777390883"/>
                        </a:ext>
                      </a:extLst>
                    </a:gridCol>
                    <a:gridCol w="833754">
                      <a:extLst>
                        <a:ext uri="{9D8B030D-6E8A-4147-A177-3AD203B41FA5}">
                          <a16:colId xmlns:a16="http://schemas.microsoft.com/office/drawing/2014/main" val="1729870247"/>
                        </a:ext>
                      </a:extLst>
                    </a:gridCol>
                    <a:gridCol w="833754">
                      <a:extLst>
                        <a:ext uri="{9D8B030D-6E8A-4147-A177-3AD203B41FA5}">
                          <a16:colId xmlns:a16="http://schemas.microsoft.com/office/drawing/2014/main" val="30844014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nl-NL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nl-NL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nl-NL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75145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3730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61197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70740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02919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5">
                <a:extLst>
                  <a:ext uri="{FF2B5EF4-FFF2-40B4-BE49-F238E27FC236}">
                    <a16:creationId xmlns:a16="http://schemas.microsoft.com/office/drawing/2014/main" id="{17B3320C-5A73-4C1C-BBB8-BE201CB47D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8310596"/>
                  </p:ext>
                </p:extLst>
              </p:nvPr>
            </p:nvGraphicFramePr>
            <p:xfrm>
              <a:off x="1341968" y="2501900"/>
              <a:ext cx="2501262" cy="1854200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833754">
                      <a:extLst>
                        <a:ext uri="{9D8B030D-6E8A-4147-A177-3AD203B41FA5}">
                          <a16:colId xmlns:a16="http://schemas.microsoft.com/office/drawing/2014/main" val="3777390883"/>
                        </a:ext>
                      </a:extLst>
                    </a:gridCol>
                    <a:gridCol w="833754">
                      <a:extLst>
                        <a:ext uri="{9D8B030D-6E8A-4147-A177-3AD203B41FA5}">
                          <a16:colId xmlns:a16="http://schemas.microsoft.com/office/drawing/2014/main" val="1729870247"/>
                        </a:ext>
                      </a:extLst>
                    </a:gridCol>
                    <a:gridCol w="833754">
                      <a:extLst>
                        <a:ext uri="{9D8B030D-6E8A-4147-A177-3AD203B41FA5}">
                          <a16:colId xmlns:a16="http://schemas.microsoft.com/office/drawing/2014/main" val="30844014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4"/>
                          <a:stretch>
                            <a:fillRect t="-3448" r="-201515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3448" r="-101515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3448" r="-1515" b="-4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75145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3730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61197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70740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029198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A21AE3C9-6CD2-7C48-A8B0-8C3A45C46605}"/>
              </a:ext>
            </a:extLst>
          </p:cNvPr>
          <p:cNvGrpSpPr/>
          <p:nvPr/>
        </p:nvGrpSpPr>
        <p:grpSpPr>
          <a:xfrm>
            <a:off x="6596975" y="152400"/>
            <a:ext cx="3106324" cy="2392084"/>
            <a:chOff x="6596975" y="152400"/>
            <a:chExt cx="3106324" cy="2392084"/>
          </a:xfrm>
        </p:grpSpPr>
        <p:pic>
          <p:nvPicPr>
            <p:cNvPr id="7" name="Picture 8">
              <a:extLst>
                <a:ext uri="{FF2B5EF4-FFF2-40B4-BE49-F238E27FC236}">
                  <a16:creationId xmlns:a16="http://schemas.microsoft.com/office/drawing/2014/main" id="{7E2AA2C0-9093-4433-ABD8-715A06BDEF7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99" t="13349" r="30031" b="45800"/>
            <a:stretch/>
          </p:blipFill>
          <p:spPr bwMode="auto">
            <a:xfrm>
              <a:off x="6596975" y="240196"/>
              <a:ext cx="3106324" cy="2304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A5D6A5D-0CEC-364C-8A10-6E7E44E439B8}"/>
                </a:ext>
              </a:extLst>
            </p:cNvPr>
            <p:cNvSpPr txBox="1"/>
            <p:nvPr/>
          </p:nvSpPr>
          <p:spPr>
            <a:xfrm>
              <a:off x="6955972" y="195944"/>
              <a:ext cx="315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      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522ECF0-A5EC-6D45-B9C2-2612A8463D57}"/>
                </a:ext>
              </a:extLst>
            </p:cNvPr>
            <p:cNvSpPr txBox="1"/>
            <p:nvPr/>
          </p:nvSpPr>
          <p:spPr>
            <a:xfrm>
              <a:off x="8686800" y="152400"/>
              <a:ext cx="315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       </a:t>
              </a:r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1E8EA3-27A7-36EF-FFE1-E79D6E602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30BDD-0D8A-3381-52B8-27A8C9905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131694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85AF5F2-267A-4A6E-AAB7-2C088BAE714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54563" y="778780"/>
                <a:ext cx="3657600" cy="873722"/>
              </a:xfrm>
            </p:spPr>
            <p:txBody>
              <a:bodyPr vert="horz" lIns="91440" tIns="45720" rIns="91440" bIns="45720" rtlCol="0" anchor="b">
                <a:normAutofit/>
              </a:bodyPr>
              <a:lstStyle/>
              <a:p>
                <a:pPr algn="ctr"/>
                <a:r>
                  <a:rPr lang="en-US" sz="4800" b="1" kern="120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NOT (</a:t>
                </a:r>
                <a14:m>
                  <m:oMath xmlns:m="http://schemas.openxmlformats.org/officeDocument/2006/math">
                    <m:r>
                      <a:rPr lang="en-US" sz="4800" b="1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en-US" sz="4800" b="1" kern="120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85AF5F2-267A-4A6E-AAB7-2C088BAE71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54563" y="778780"/>
                <a:ext cx="3657600" cy="873722"/>
              </a:xfrm>
              <a:blipFill>
                <a:blip r:embed="rId2"/>
                <a:stretch>
                  <a:fillRect t="-11429" b="-3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99400" y="2533088"/>
                <a:ext cx="5701474" cy="4084716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000" b="0" kern="1200">
                    <a:solidFill>
                      <a:schemeClr val="tx1"/>
                    </a:solidFill>
                    <a:ea typeface="+mn-ea"/>
                    <a:cs typeface="+mn-cs"/>
                  </a:rPr>
                  <a:t>The red area – </a:t>
                </a:r>
                <a14:m>
                  <m:oMath xmlns:m="http://schemas.openxmlformats.org/officeDocument/2006/math">
                    <m:r>
                      <a:rPr lang="en-US" sz="2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  <m:r>
                      <a:rPr lang="en-US" sz="2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lang="en-US" sz="2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𝐴𝑁𝐷</m:t>
                    </m:r>
                    <m:r>
                      <a:rPr lang="en-US" sz="2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lang="en-US" sz="2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𝑁𝑂𝑇</m:t>
                    </m:r>
                    <m:r>
                      <a:rPr lang="en-US" sz="2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lang="en-US" sz="2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𝐵</m:t>
                    </m:r>
                    <m:r>
                      <a:rPr lang="en-US" sz="2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)  </m:t>
                    </m:r>
                  </m:oMath>
                </a14:m>
                <a:endParaRPr lang="en-US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endParaRPr lang="en-US" sz="2000" kern="1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Retrieves only records that satisfy the first  condition and doesn’t satisfy the second</a:t>
                </a:r>
              </a:p>
              <a:p>
                <a:r>
                  <a:rPr lang="en-US"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457200" lvl="1" indent="0">
                  <a:buNone/>
                </a:pPr>
                <a:r>
                  <a:rPr lang="en-US"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000" kern="12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ame = “Taylor” AND </a:t>
                </a:r>
              </a:p>
              <a:p>
                <a:pPr marL="457200" lvl="1" indent="0">
                  <a:buNone/>
                </a:pPr>
                <a:r>
                  <a:rPr lang="en-US" sz="2000" kern="12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 </a:t>
                </a:r>
                <a:r>
                  <a:rPr lang="en-US" sz="2000" kern="120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dept_name</a:t>
                </a:r>
                <a:r>
                  <a:rPr lang="en-US" sz="2000" kern="12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“Chem.”</a:t>
                </a:r>
              </a:p>
              <a:p>
                <a:pPr marL="457200" lvl="1" indent="0">
                  <a:buNone/>
                </a:pPr>
                <a:r>
                  <a:rPr lang="en-US"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Returns all instructors with the name Taylor who do not work in the Chem. department</a:t>
                </a:r>
                <a:endParaRPr lang="en-US" sz="2000" kern="1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99400" y="2533088"/>
                <a:ext cx="5701474" cy="4084716"/>
              </a:xfrm>
              <a:blipFill>
                <a:blip r:embed="rId3"/>
                <a:stretch>
                  <a:fillRect l="-1556" t="-1858"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5">
                <a:extLst>
                  <a:ext uri="{FF2B5EF4-FFF2-40B4-BE49-F238E27FC236}">
                    <a16:creationId xmlns:a16="http://schemas.microsoft.com/office/drawing/2014/main" id="{68C3900A-F334-4933-924B-FE6919967D8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40752" y="2316480"/>
              <a:ext cx="1667508" cy="1112520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833754">
                      <a:extLst>
                        <a:ext uri="{9D8B030D-6E8A-4147-A177-3AD203B41FA5}">
                          <a16:colId xmlns:a16="http://schemas.microsoft.com/office/drawing/2014/main" val="3777390883"/>
                        </a:ext>
                      </a:extLst>
                    </a:gridCol>
                    <a:gridCol w="833754">
                      <a:extLst>
                        <a:ext uri="{9D8B030D-6E8A-4147-A177-3AD203B41FA5}">
                          <a16:colId xmlns:a16="http://schemas.microsoft.com/office/drawing/2014/main" val="17298702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nl-NL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kern="120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∼</m:t>
                                </m:r>
                                <m:r>
                                  <a:rPr lang="en-US" sz="1800" b="1" i="1" kern="120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nl-NL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75145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3730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61197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5">
                <a:extLst>
                  <a:ext uri="{FF2B5EF4-FFF2-40B4-BE49-F238E27FC236}">
                    <a16:creationId xmlns:a16="http://schemas.microsoft.com/office/drawing/2014/main" id="{68C3900A-F334-4933-924B-FE6919967D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4124967"/>
                  </p:ext>
                </p:extLst>
              </p:nvPr>
            </p:nvGraphicFramePr>
            <p:xfrm>
              <a:off x="1440752" y="2316480"/>
              <a:ext cx="1667508" cy="1112520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833754">
                      <a:extLst>
                        <a:ext uri="{9D8B030D-6E8A-4147-A177-3AD203B41FA5}">
                          <a16:colId xmlns:a16="http://schemas.microsoft.com/office/drawing/2014/main" val="3777390883"/>
                        </a:ext>
                      </a:extLst>
                    </a:gridCol>
                    <a:gridCol w="833754">
                      <a:extLst>
                        <a:ext uri="{9D8B030D-6E8A-4147-A177-3AD203B41FA5}">
                          <a16:colId xmlns:a16="http://schemas.microsoft.com/office/drawing/2014/main" val="17298702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4"/>
                          <a:stretch>
                            <a:fillRect l="-1515" t="-3448" r="-101515" b="-2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blipFill>
                          <a:blip r:embed="rId4"/>
                          <a:stretch>
                            <a:fillRect l="-101515" t="-3448" r="-1515" b="-2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75145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3730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6119707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B288CF46-DEF9-1D4F-A0A9-30F9B4CFC8D6}"/>
              </a:ext>
            </a:extLst>
          </p:cNvPr>
          <p:cNvGrpSpPr/>
          <p:nvPr/>
        </p:nvGrpSpPr>
        <p:grpSpPr>
          <a:xfrm>
            <a:off x="6594741" y="152400"/>
            <a:ext cx="3110791" cy="2473065"/>
            <a:chOff x="6594741" y="152400"/>
            <a:chExt cx="3110791" cy="2473065"/>
          </a:xfrm>
        </p:grpSpPr>
        <p:pic>
          <p:nvPicPr>
            <p:cNvPr id="8" name="Picture 12">
              <a:extLst>
                <a:ext uri="{FF2B5EF4-FFF2-40B4-BE49-F238E27FC236}">
                  <a16:creationId xmlns:a16="http://schemas.microsoft.com/office/drawing/2014/main" id="{083DBD54-5920-4234-A17A-474884034C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98" t="14137" r="30153" b="45012"/>
            <a:stretch/>
          </p:blipFill>
          <p:spPr bwMode="auto">
            <a:xfrm>
              <a:off x="6594741" y="321177"/>
              <a:ext cx="3110791" cy="2304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6B50A27-1704-8F43-85FB-698E6DB00005}"/>
                </a:ext>
              </a:extLst>
            </p:cNvPr>
            <p:cNvSpPr txBox="1"/>
            <p:nvPr/>
          </p:nvSpPr>
          <p:spPr>
            <a:xfrm>
              <a:off x="6945086" y="152400"/>
              <a:ext cx="315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      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F25A9CD-A0C1-B743-9193-EA39BF24AF12}"/>
                </a:ext>
              </a:extLst>
            </p:cNvPr>
            <p:cNvSpPr txBox="1"/>
            <p:nvPr/>
          </p:nvSpPr>
          <p:spPr>
            <a:xfrm>
              <a:off x="8686800" y="152400"/>
              <a:ext cx="315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       </a:t>
              </a:r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32778-2C31-C456-0312-A0C42FEBE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C713B-4457-1D38-AB6E-92EB734BA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03848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 Equivalence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1704"/>
                <a:ext cx="10515600" cy="471614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Equivalence of two Boolean operations can be easily proven using truth tables</a:t>
                </a:r>
              </a:p>
              <a:p>
                <a:r>
                  <a:rPr lang="en-US" dirty="0"/>
                  <a:t>Equivalence of Boolean operations is useful for optimizing the Boolean queries</a:t>
                </a:r>
              </a:p>
              <a:p>
                <a:r>
                  <a:rPr lang="en-US" dirty="0"/>
                  <a:t>Examples: </a:t>
                </a:r>
                <a:endParaRPr lang="en-US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∼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≡∼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∼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</m:oMath>
                </a14:m>
                <a:endParaRPr lang="nl-NL" dirty="0">
                  <a:solidFill>
                    <a:schemeClr val="bg1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)∧∼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∧(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∧∼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)≡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𝒇𝒂𝒍𝒔𝒆</m:t>
                    </m:r>
                  </m:oMath>
                </a14:m>
                <a:endParaRPr lang="nl-NL" dirty="0">
                  <a:solidFill>
                    <a:schemeClr val="bg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)∨(∼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)∨(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)∨∼(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)≡(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)∨∼(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)≡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𝒕𝒓𝒖𝒆</m:t>
                    </m:r>
                  </m:oMath>
                </a14:m>
                <a:endParaRPr lang="nl-NL" dirty="0">
                  <a:solidFill>
                    <a:schemeClr val="bg1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1704"/>
                <a:ext cx="10515600" cy="4716141"/>
              </a:xfrm>
              <a:blipFill>
                <a:blip r:embed="rId2"/>
                <a:stretch>
                  <a:fillRect l="-1086" t="-3226" b="-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5">
                <a:extLst>
                  <a:ext uri="{FF2B5EF4-FFF2-40B4-BE49-F238E27FC236}">
                    <a16:creationId xmlns:a16="http://schemas.microsoft.com/office/drawing/2014/main" id="{00F5EC2B-3E7E-48D9-8C3A-295C88ECD52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226629" y="2988969"/>
              <a:ext cx="5127171" cy="1854200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823297">
                      <a:extLst>
                        <a:ext uri="{9D8B030D-6E8A-4147-A177-3AD203B41FA5}">
                          <a16:colId xmlns:a16="http://schemas.microsoft.com/office/drawing/2014/main" val="3777390883"/>
                        </a:ext>
                      </a:extLst>
                    </a:gridCol>
                    <a:gridCol w="668324">
                      <a:extLst>
                        <a:ext uri="{9D8B030D-6E8A-4147-A177-3AD203B41FA5}">
                          <a16:colId xmlns:a16="http://schemas.microsoft.com/office/drawing/2014/main" val="1729870247"/>
                        </a:ext>
                      </a:extLst>
                    </a:gridCol>
                    <a:gridCol w="1077407">
                      <a:extLst>
                        <a:ext uri="{9D8B030D-6E8A-4147-A177-3AD203B41FA5}">
                          <a16:colId xmlns:a16="http://schemas.microsoft.com/office/drawing/2014/main" val="661341087"/>
                        </a:ext>
                      </a:extLst>
                    </a:gridCol>
                    <a:gridCol w="1336310">
                      <a:extLst>
                        <a:ext uri="{9D8B030D-6E8A-4147-A177-3AD203B41FA5}">
                          <a16:colId xmlns:a16="http://schemas.microsoft.com/office/drawing/2014/main" val="3193299674"/>
                        </a:ext>
                      </a:extLst>
                    </a:gridCol>
                    <a:gridCol w="1221833">
                      <a:extLst>
                        <a:ext uri="{9D8B030D-6E8A-4147-A177-3AD203B41FA5}">
                          <a16:colId xmlns:a16="http://schemas.microsoft.com/office/drawing/2014/main" val="30844014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</m:oMath>
                          </a14:m>
                          <a:r>
                            <a:rPr lang="nl-NL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∼(</m:t>
                              </m:r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</m:oMath>
                          </a14:m>
                          <a:r>
                            <a:rPr lang="nl-NL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∼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∨∼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75145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3730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61197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70740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02919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5">
                <a:extLst>
                  <a:ext uri="{FF2B5EF4-FFF2-40B4-BE49-F238E27FC236}">
                    <a16:creationId xmlns:a16="http://schemas.microsoft.com/office/drawing/2014/main" id="{00F5EC2B-3E7E-48D9-8C3A-295C88ECD5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5392744"/>
                  </p:ext>
                </p:extLst>
              </p:nvPr>
            </p:nvGraphicFramePr>
            <p:xfrm>
              <a:off x="6226629" y="2988969"/>
              <a:ext cx="5127171" cy="1854200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823297">
                      <a:extLst>
                        <a:ext uri="{9D8B030D-6E8A-4147-A177-3AD203B41FA5}">
                          <a16:colId xmlns:a16="http://schemas.microsoft.com/office/drawing/2014/main" val="3777390883"/>
                        </a:ext>
                      </a:extLst>
                    </a:gridCol>
                    <a:gridCol w="668324">
                      <a:extLst>
                        <a:ext uri="{9D8B030D-6E8A-4147-A177-3AD203B41FA5}">
                          <a16:colId xmlns:a16="http://schemas.microsoft.com/office/drawing/2014/main" val="1729870247"/>
                        </a:ext>
                      </a:extLst>
                    </a:gridCol>
                    <a:gridCol w="1077407">
                      <a:extLst>
                        <a:ext uri="{9D8B030D-6E8A-4147-A177-3AD203B41FA5}">
                          <a16:colId xmlns:a16="http://schemas.microsoft.com/office/drawing/2014/main" val="661341087"/>
                        </a:ext>
                      </a:extLst>
                    </a:gridCol>
                    <a:gridCol w="1336310">
                      <a:extLst>
                        <a:ext uri="{9D8B030D-6E8A-4147-A177-3AD203B41FA5}">
                          <a16:colId xmlns:a16="http://schemas.microsoft.com/office/drawing/2014/main" val="3193299674"/>
                        </a:ext>
                      </a:extLst>
                    </a:gridCol>
                    <a:gridCol w="1221833">
                      <a:extLst>
                        <a:ext uri="{9D8B030D-6E8A-4147-A177-3AD203B41FA5}">
                          <a16:colId xmlns:a16="http://schemas.microsoft.com/office/drawing/2014/main" val="30844014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IT"/>
                        </a:p>
                      </a:txBody>
                      <a:tcPr>
                        <a:blipFill>
                          <a:blip r:embed="rId3"/>
                          <a:stretch>
                            <a:fillRect l="-1538" t="-6897" r="-523077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T"/>
                        </a:p>
                      </a:txBody>
                      <a:tcPr>
                        <a:blipFill>
                          <a:blip r:embed="rId3"/>
                          <a:stretch>
                            <a:fillRect l="-124528" t="-6897" r="-541509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T"/>
                        </a:p>
                      </a:txBody>
                      <a:tcPr>
                        <a:blipFill>
                          <a:blip r:embed="rId3"/>
                          <a:stretch>
                            <a:fillRect l="-141667" t="-6897" r="-241667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T"/>
                        </a:p>
                      </a:txBody>
                      <a:tcPr>
                        <a:blipFill>
                          <a:blip r:embed="rId3"/>
                          <a:stretch>
                            <a:fillRect l="-191509" t="-6897" r="-91509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T"/>
                        </a:p>
                      </a:txBody>
                      <a:tcPr>
                        <a:blipFill>
                          <a:blip r:embed="rId3"/>
                          <a:stretch>
                            <a:fillRect l="-321875" t="-6897" r="-1042" b="-4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75145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3730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61197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70740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nl-N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029198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629CD50-5634-4DC6-8026-387479E96EBB}"/>
                  </a:ext>
                </a:extLst>
              </p:cNvPr>
              <p:cNvSpPr/>
              <p:nvPr/>
            </p:nvSpPr>
            <p:spPr>
              <a:xfrm>
                <a:off x="9787132" y="5074135"/>
                <a:ext cx="51469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</m:oMath>
                  </m:oMathPara>
                </a14:m>
                <a:endParaRPr lang="nl-NL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629CD50-5634-4DC6-8026-387479E96E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7132" y="5074135"/>
                <a:ext cx="5146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40499095-C8B9-41E6-90AF-867704BEE5EF}"/>
              </a:ext>
            </a:extLst>
          </p:cNvPr>
          <p:cNvCxnSpPr>
            <a:cxnSpLocks/>
            <a:stCxn id="7" idx="1"/>
          </p:cNvCxnSpPr>
          <p:nvPr/>
        </p:nvCxnSpPr>
        <p:spPr>
          <a:xfrm rot="10800000">
            <a:off x="9514178" y="4843169"/>
            <a:ext cx="272955" cy="415632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02DAC9D0-BA44-427F-87A5-07D86A277C71}"/>
              </a:ext>
            </a:extLst>
          </p:cNvPr>
          <p:cNvCxnSpPr>
            <a:cxnSpLocks/>
          </p:cNvCxnSpPr>
          <p:nvPr/>
        </p:nvCxnSpPr>
        <p:spPr>
          <a:xfrm flipV="1">
            <a:off x="10229273" y="4842780"/>
            <a:ext cx="547584" cy="453021"/>
          </a:xfrm>
          <a:prstGeom prst="bentConnector3">
            <a:avLst>
              <a:gd name="adj1" fmla="val 97711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E77241F-0FB5-44FC-9315-6BEC87FA1238}"/>
              </a:ext>
            </a:extLst>
          </p:cNvPr>
          <p:cNvCxnSpPr>
            <a:cxnSpLocks/>
          </p:cNvCxnSpPr>
          <p:nvPr/>
        </p:nvCxnSpPr>
        <p:spPr>
          <a:xfrm>
            <a:off x="4648200" y="3684896"/>
            <a:ext cx="101237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F17329-60CC-DA2F-3344-6D1024C03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30647-26F0-7D03-6EF6-A6D48C96C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860935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Proving Boolean Equivalence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DB1FA9-E983-4B1F-A3ED-1B02562B9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1704"/>
            <a:ext cx="10515600" cy="5081169"/>
          </a:xfrm>
        </p:spPr>
        <p:txBody>
          <a:bodyPr>
            <a:normAutofit/>
          </a:bodyPr>
          <a:lstStyle/>
          <a:p>
            <a:r>
              <a:rPr lang="en-US" dirty="0"/>
              <a:t>Truth Table: Helpful when the number of statements in the Boolean expression is small</a:t>
            </a:r>
          </a:p>
          <a:p>
            <a:r>
              <a:rPr lang="en-US" dirty="0"/>
              <a:t>Proof by contradiction: assume the expression is false/true and proof that it leads to contradiction</a:t>
            </a:r>
          </a:p>
          <a:p>
            <a:r>
              <a:rPr lang="en-US" dirty="0"/>
              <a:t>Using the Boolean axioms.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37226D-53E9-D739-F570-306B5A664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AC8D6-3C3D-A6D4-7818-3D5E7103E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3040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 Axioms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1704"/>
                <a:ext cx="10515600" cy="508116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dirty="0"/>
                  <a:t> represent the</a:t>
                </a:r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cases of always True and always False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</m:oMath>
                </a14:m>
                <a:endParaRPr lang="en-US" b="1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𝑭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𝑭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</m:oMath>
                </a14:m>
                <a:endParaRPr lang="en-US" b="1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𝑭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𝑭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</m:e>
                    </m:d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</m:d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𝑭</m:t>
                    </m:r>
                  </m:oMath>
                </a14:m>
                <a:endParaRPr lang="en-US" b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</m:e>
                    </m:d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</m:d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</m:oMath>
                </a14:m>
                <a:endParaRPr lang="en-US" b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</m:acc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𝑭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</m:e>
                    </m:acc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1704"/>
                <a:ext cx="10515600" cy="5081169"/>
              </a:xfrm>
              <a:blipFill>
                <a:blip r:embed="rId2"/>
                <a:stretch>
                  <a:fillRect l="-1086" t="-1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E74CD5-D79F-1D3F-DC24-C486FC629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5C941-AA85-78A6-368F-29B108881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76530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 Axioms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1704"/>
                <a:ext cx="10515600" cy="508116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Commutativity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Identity</a:t>
                </a:r>
                <a:endParaRPr lang="en-US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</m:oMath>
                </a14:m>
                <a:endParaRPr lang="en-US" b="1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</m:oMath>
                </a14:m>
                <a:endParaRPr lang="en-US" b="1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</m:e>
                    </m:d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𝑭</m:t>
                    </m:r>
                  </m:oMath>
                </a14:m>
                <a:endParaRPr lang="en-US" b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1704"/>
                <a:ext cx="10515600" cy="5081169"/>
              </a:xfrm>
              <a:blipFill>
                <a:blip r:embed="rId2"/>
                <a:stretch>
                  <a:fillRect l="-1086" t="-1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598105-7528-0C43-C14A-A12931BB7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1251C-A42E-B1D0-0102-2E5101FA1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60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239228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 Axioms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1704"/>
                <a:ext cx="10515600" cy="508116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Idempotent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Involution</a:t>
                </a:r>
                <a:endParaRPr lang="en-US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</m:oMath>
                </a14:m>
                <a:endParaRPr lang="en-US" b="1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Complement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acc>
                          <m:accPr>
                            <m:chr m:val="̅"/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𝑭</m:t>
                    </m:r>
                  </m:oMath>
                </a14:m>
                <a:endParaRPr lang="en-US" b="1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acc>
                          <m:accPr>
                            <m:chr m:val="̅"/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</m:oMath>
                </a14:m>
                <a:endParaRPr lang="en-US" b="1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1704"/>
                <a:ext cx="10515600" cy="5081169"/>
              </a:xfrm>
              <a:blipFill>
                <a:blip r:embed="rId2"/>
                <a:stretch>
                  <a:fillRect l="-1086" t="-1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87ADB6-FB1A-7DF1-77CF-F566DDC01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08E54-0E4F-654E-20CE-1B3CBB01C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61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554706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 Axioms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1704"/>
                <a:ext cx="10515600" cy="508116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Associativity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Distributivity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</m:t>
                        </m:r>
                      </m:e>
                    </m:d>
                  </m:oMath>
                </a14:m>
                <a:endParaRPr lang="en-US" b="1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</m:t>
                        </m:r>
                      </m:e>
                    </m:d>
                  </m:oMath>
                </a14:m>
                <a:endParaRPr lang="en-US" b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1704"/>
                <a:ext cx="10515600" cy="5081169"/>
              </a:xfrm>
              <a:blipFill>
                <a:blip r:embed="rId2"/>
                <a:stretch>
                  <a:fillRect l="-1086" t="-1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DBCED1-0634-D6F1-D9ED-BD2199A69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5CE85-3A66-9D48-1B4D-13572EAFD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62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3322315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Proving Boolean Equivalence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411704"/>
                <a:ext cx="11249025" cy="508116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Using the Boolean axioms (Example): </a:t>
                </a:r>
              </a:p>
              <a:p>
                <a:pPr lvl="1"/>
                <a:r>
                  <a:rPr lang="en-US" dirty="0"/>
                  <a:t>prove that: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sz="2200" dirty="0"/>
                  <a:t>LHS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sz="2200" dirty="0">
                    <a:ea typeface="Cambria Math" panose="02040503050406030204" pitchFamily="18" charset="0"/>
                  </a:rPr>
                  <a:t>]</a:t>
                </a:r>
              </a:p>
              <a:p>
                <a:pPr marL="4319588" lvl="8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319588" lvl="8" indent="0">
                  <a:buNone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d>
                      <m:dPr>
                        <m:ctrlP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∧~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200" dirty="0">
                    <a:ea typeface="Cambria Math" panose="02040503050406030204" pitchFamily="18" charset="0"/>
                  </a:rPr>
                  <a:t>]</a:t>
                </a:r>
              </a:p>
              <a:p>
                <a:pPr marL="4319588" lvl="8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en-U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d>
                      <m:r>
                        <a:rPr lang="en-US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en-U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∧~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200" b="0" dirty="0">
                  <a:ea typeface="Cambria Math" panose="02040503050406030204" pitchFamily="18" charset="0"/>
                </a:endParaRPr>
              </a:p>
              <a:p>
                <a:pPr marL="4319588" lvl="8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∧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∨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</m:d>
                      <m:r>
                        <a:rPr lang="en-US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∧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∨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200" b="1" dirty="0">
                  <a:ea typeface="Cambria Math" panose="02040503050406030204" pitchFamily="18" charset="0"/>
                </a:endParaRPr>
              </a:p>
              <a:p>
                <a:pPr marL="4319588" lvl="8" indent="0">
                  <a:buNone/>
                </a:pP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d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d>
                      <m:dPr>
                        <m:begChr m:val="["/>
                        <m:endChr m:val="]"/>
                        <m:ctrlPr>
                          <a:rPr lang="en-US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∼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e>
                    </m:d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b="1" dirty="0">
                    <a:ea typeface="Cambria Math" panose="02040503050406030204" pitchFamily="18" charset="0"/>
                  </a:rPr>
                  <a:t>= </a:t>
                </a:r>
                <a:r>
                  <a:rPr lang="en-US" sz="2200" dirty="0">
                    <a:ea typeface="Cambria Math" panose="02040503050406030204" pitchFamily="18" charset="0"/>
                  </a:rPr>
                  <a:t>RHS</a:t>
                </a:r>
              </a:p>
              <a:p>
                <a:pPr marL="4319588" lvl="8" indent="0">
                  <a:buNone/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pPr marL="4319588" lvl="8" indent="0">
                  <a:buNone/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b="1" dirty="0"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ea typeface="Cambria Math" panose="02040503050406030204" pitchFamily="18" charset="0"/>
                  </a:rPr>
                  <a:t>means always TRUE.</a:t>
                </a:r>
              </a:p>
              <a:p>
                <a:pPr lvl="1"/>
                <a:endParaRPr lang="en-US" b="1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11704"/>
                <a:ext cx="11249025" cy="5081169"/>
              </a:xfrm>
              <a:blipFill>
                <a:blip r:embed="rId3"/>
                <a:stretch>
                  <a:fillRect l="-902" t="-1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C30E28-E43D-1D4C-8DE3-E6D656BA45F5}"/>
                  </a:ext>
                </a:extLst>
              </p:cNvPr>
              <p:cNvSpPr txBox="1"/>
              <p:nvPr/>
            </p:nvSpPr>
            <p:spPr>
              <a:xfrm>
                <a:off x="3086100" y="1894114"/>
                <a:ext cx="7070272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200" dirty="0"/>
                  <a:t>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C30E28-E43D-1D4C-8DE3-E6D656BA4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100" y="1894114"/>
                <a:ext cx="7070272" cy="338554"/>
              </a:xfrm>
              <a:prstGeom prst="rect">
                <a:avLst/>
              </a:prstGeom>
              <a:blipFill>
                <a:blip r:embed="rId4"/>
                <a:stretch>
                  <a:fillRect l="-1792" t="-25926" b="-5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A299C-C845-1EE0-7105-1E62C30C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64D8A-4083-CDB5-00B3-333EB174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63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768596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DB1FA9-E983-4B1F-A3ED-1B02562B9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7" y="2790561"/>
            <a:ext cx="11249025" cy="1592753"/>
          </a:xfrm>
        </p:spPr>
        <p:txBody>
          <a:bodyPr>
            <a:normAutofit/>
          </a:bodyPr>
          <a:lstStyle/>
          <a:p>
            <a:pPr marL="457200" lvl="1" indent="0" algn="ctr">
              <a:buNone/>
            </a:pPr>
            <a:r>
              <a:rPr lang="en-US" b="1" dirty="0">
                <a:ea typeface="Cambria Math" panose="02040503050406030204" pitchFamily="18" charset="0"/>
              </a:rPr>
              <a:t>Read more FROM </a:t>
            </a:r>
          </a:p>
          <a:p>
            <a:pPr marL="457200" lvl="1" indent="0" algn="ctr">
              <a:buNone/>
            </a:pPr>
            <a:r>
              <a:rPr lang="en-US" b="1" dirty="0">
                <a:ea typeface="Cambria Math" panose="02040503050406030204" pitchFamily="18" charset="0"/>
              </a:rPr>
              <a:t>John Kelly, The Essence of Logic (Prentice Hall, 1997)</a:t>
            </a:r>
          </a:p>
          <a:p>
            <a:pPr marL="457200" lvl="1" indent="0" algn="ctr">
              <a:buNone/>
            </a:pPr>
            <a:r>
              <a:rPr lang="en-US" b="1" dirty="0">
                <a:ea typeface="Cambria Math" panose="02040503050406030204" pitchFamily="18" charset="0"/>
              </a:rPr>
              <a:t>Chapter 1 is good enough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6D4445A-E8D5-4184-382F-428C84BE0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78EB20-B0D7-BB5E-857E-444D4E717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64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6914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793235904ECB429D95AFCF930B613A" ma:contentTypeVersion="5" ma:contentTypeDescription="Create a new document." ma:contentTypeScope="" ma:versionID="4c390286563cacde125c37b699801796">
  <xsd:schema xmlns:xsd="http://www.w3.org/2001/XMLSchema" xmlns:xs="http://www.w3.org/2001/XMLSchema" xmlns:p="http://schemas.microsoft.com/office/2006/metadata/properties" xmlns:ns3="5032e021-b0cf-43e6-828a-5b682824f23c" xmlns:ns4="ef284efa-1316-4307-b1a8-b157427e4237" targetNamespace="http://schemas.microsoft.com/office/2006/metadata/properties" ma:root="true" ma:fieldsID="8c9c49ab243af388e89cdf0ba7aaaf48" ns3:_="" ns4:_="">
    <xsd:import namespace="5032e021-b0cf-43e6-828a-5b682824f23c"/>
    <xsd:import namespace="ef284efa-1316-4307-b1a8-b157427e423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32e021-b0cf-43e6-828a-5b682824f2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284efa-1316-4307-b1a8-b157427e423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27FB234-31BD-4786-8167-C9B3AC2407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32e021-b0cf-43e6-828a-5b682824f23c"/>
    <ds:schemaRef ds:uri="ef284efa-1316-4307-b1a8-b157427e42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73D4E-B70B-4136-B747-E79AAA180FB8}">
  <ds:schemaRefs>
    <ds:schemaRef ds:uri="http://schemas.microsoft.com/office/infopath/2007/PartnerControls"/>
    <ds:schemaRef ds:uri="5032e021-b0cf-43e6-828a-5b682824f23c"/>
    <ds:schemaRef ds:uri="http://schemas.microsoft.com/office/2006/metadata/properties"/>
    <ds:schemaRef ds:uri="http://purl.org/dc/elements/1.1/"/>
    <ds:schemaRef ds:uri="http://schemas.microsoft.com/office/2006/documentManagement/types"/>
    <ds:schemaRef ds:uri="ef284efa-1316-4307-b1a8-b157427e4237"/>
    <ds:schemaRef ds:uri="http://purl.org/dc/dcmitype/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EFE0A5C-9604-4B3E-8F9E-98072B6B9F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24854</TotalTime>
  <Words>3976</Words>
  <Application>Microsoft Macintosh PowerPoint</Application>
  <PresentationFormat>Widescreen</PresentationFormat>
  <Paragraphs>1063</Paragraphs>
  <Slides>64</Slides>
  <Notes>4</Notes>
  <HiddenSlides>2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5" baseType="lpstr">
      <vt:lpstr>Arial</vt:lpstr>
      <vt:lpstr>Calibri</vt:lpstr>
      <vt:lpstr>Calibri Light</vt:lpstr>
      <vt:lpstr>Cambria Math</vt:lpstr>
      <vt:lpstr>Century Gothic</vt:lpstr>
      <vt:lpstr>Monotype Sorts</vt:lpstr>
      <vt:lpstr>Palatino Linotype</vt:lpstr>
      <vt:lpstr>Symbol</vt:lpstr>
      <vt:lpstr>Times New Roman</vt:lpstr>
      <vt:lpstr>Office Theme</vt:lpstr>
      <vt:lpstr>Acrobat Document</vt:lpstr>
      <vt:lpstr>PowerPoint Presentation</vt:lpstr>
      <vt:lpstr>Outlines</vt:lpstr>
      <vt:lpstr>Outlines</vt:lpstr>
      <vt:lpstr>Reading Material for Today</vt:lpstr>
      <vt:lpstr>PowerPoint Presentation</vt:lpstr>
      <vt:lpstr>Relational Algebra Operators</vt:lpstr>
      <vt:lpstr>Union </vt:lpstr>
      <vt:lpstr>Intersection </vt:lpstr>
      <vt:lpstr>Difference </vt:lpstr>
      <vt:lpstr>Selection  </vt:lpstr>
      <vt:lpstr>Projection  </vt:lpstr>
      <vt:lpstr>Join </vt:lpstr>
      <vt:lpstr>Join </vt:lpstr>
      <vt:lpstr>Rename  </vt:lpstr>
      <vt:lpstr>Natural Join </vt:lpstr>
      <vt:lpstr>Natural Join – Example </vt:lpstr>
      <vt:lpstr>Composition of Operations </vt:lpstr>
      <vt:lpstr>Summary of Relational Algebra Operators</vt:lpstr>
      <vt:lpstr>Remarks on RA</vt:lpstr>
      <vt:lpstr>PowerPoint Presentation</vt:lpstr>
      <vt:lpstr>SELECT-FROM-WHERE Statements</vt:lpstr>
      <vt:lpstr>Remember Our Main Database?</vt:lpstr>
      <vt:lpstr>Example: The SELECT Clause</vt:lpstr>
      <vt:lpstr>The SELECT Clause</vt:lpstr>
      <vt:lpstr>The SELECT Clause (Cont.)</vt:lpstr>
      <vt:lpstr>The SELECT Clause (Cont.)</vt:lpstr>
      <vt:lpstr>The SELECT Clause (Cont.)</vt:lpstr>
      <vt:lpstr>The WHERE Clause</vt:lpstr>
      <vt:lpstr>The FROM Clause</vt:lpstr>
      <vt:lpstr>SELECT-FROM-WHERE Examples</vt:lpstr>
      <vt:lpstr>The Rename Operation </vt:lpstr>
      <vt:lpstr>Renaming Example: Self-Join</vt:lpstr>
      <vt:lpstr>PowerPoint Presentation</vt:lpstr>
      <vt:lpstr>What have we learnt?</vt:lpstr>
      <vt:lpstr>Join Operation</vt:lpstr>
      <vt:lpstr>Join Operation (Cont.)</vt:lpstr>
      <vt:lpstr>Outer Join</vt:lpstr>
      <vt:lpstr>Left Outer Join</vt:lpstr>
      <vt:lpstr>Right Outer Join</vt:lpstr>
      <vt:lpstr>Full Outer Join</vt:lpstr>
      <vt:lpstr>Inner Join</vt:lpstr>
      <vt:lpstr>String Operations </vt:lpstr>
      <vt:lpstr>String Operations (Cont.) </vt:lpstr>
      <vt:lpstr>Range Queries </vt:lpstr>
      <vt:lpstr>Tuple Comparison </vt:lpstr>
      <vt:lpstr>Set Operations</vt:lpstr>
      <vt:lpstr>Null Values</vt:lpstr>
      <vt:lpstr>Null Values and Three Valued Logic</vt:lpstr>
      <vt:lpstr>The IN Operator</vt:lpstr>
      <vt:lpstr>Wrap-Up </vt:lpstr>
      <vt:lpstr>Next lecture</vt:lpstr>
      <vt:lpstr>PowerPoint Presentation</vt:lpstr>
      <vt:lpstr>Boolean Operators</vt:lpstr>
      <vt:lpstr>AND (∧)</vt:lpstr>
      <vt:lpstr>OR (∨)</vt:lpstr>
      <vt:lpstr>NOT (∼)</vt:lpstr>
      <vt:lpstr>Boolean Equivalence</vt:lpstr>
      <vt:lpstr>Proving Boolean Equivalence</vt:lpstr>
      <vt:lpstr>Boolean Axioms</vt:lpstr>
      <vt:lpstr>Boolean Axioms</vt:lpstr>
      <vt:lpstr>Boolean Axioms</vt:lpstr>
      <vt:lpstr>Boolean Axioms</vt:lpstr>
      <vt:lpstr>Proving Boolean Equivalence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Qahtan, A.A.A. (Hakim)</dc:creator>
  <cp:lastModifiedBy>Qahtan, A. (Hakim)</cp:lastModifiedBy>
  <cp:revision>93</cp:revision>
  <cp:lastPrinted>2025-09-03T22:26:11Z</cp:lastPrinted>
  <dcterms:created xsi:type="dcterms:W3CDTF">2020-02-17T15:53:26Z</dcterms:created>
  <dcterms:modified xsi:type="dcterms:W3CDTF">2025-09-09T00:07:41Z</dcterms:modified>
</cp:coreProperties>
</file>