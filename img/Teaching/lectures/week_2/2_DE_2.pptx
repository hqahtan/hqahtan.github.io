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7"/>
  </p:notesMasterIdLst>
  <p:sldIdLst>
    <p:sldId id="256" r:id="rId5"/>
    <p:sldId id="258" r:id="rId6"/>
    <p:sldId id="367" r:id="rId7"/>
    <p:sldId id="324" r:id="rId8"/>
    <p:sldId id="325" r:id="rId9"/>
    <p:sldId id="338" r:id="rId10"/>
    <p:sldId id="339" r:id="rId11"/>
    <p:sldId id="340" r:id="rId12"/>
    <p:sldId id="341" r:id="rId13"/>
    <p:sldId id="371" r:id="rId14"/>
    <p:sldId id="342" r:id="rId15"/>
    <p:sldId id="284" r:id="rId16"/>
    <p:sldId id="368" r:id="rId17"/>
    <p:sldId id="343" r:id="rId18"/>
    <p:sldId id="345" r:id="rId19"/>
    <p:sldId id="347" r:id="rId20"/>
    <p:sldId id="349" r:id="rId21"/>
    <p:sldId id="365" r:id="rId22"/>
    <p:sldId id="350" r:id="rId23"/>
    <p:sldId id="351" r:id="rId24"/>
    <p:sldId id="366" r:id="rId25"/>
    <p:sldId id="352" r:id="rId26"/>
    <p:sldId id="354" r:id="rId27"/>
    <p:sldId id="355" r:id="rId28"/>
    <p:sldId id="356" r:id="rId29"/>
    <p:sldId id="358" r:id="rId30"/>
    <p:sldId id="359" r:id="rId31"/>
    <p:sldId id="362" r:id="rId32"/>
    <p:sldId id="360" r:id="rId33"/>
    <p:sldId id="361" r:id="rId34"/>
    <p:sldId id="363" r:id="rId35"/>
    <p:sldId id="910" r:id="rId3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76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40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C72E7-1AC8-4769-8510-C8FBA4EE0D31}" type="datetimeFigureOut">
              <a:rPr lang="nl-NL" smtClean="0"/>
              <a:t>04-09-2025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6F6A5-1236-40E7-B937-7650038E63C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352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5B486-6A9F-DE47-872C-B95ED20BB4BE}" type="slidenum">
              <a:rPr lang="x-none" smtClean="0"/>
              <a:t>32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4935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F436-0D9D-46AD-BEFF-5E111B7B3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7BDE8-4FB5-4522-BEB2-CB4D9D428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33C5D-99D5-4165-B1F8-06B37021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D59A6-9BE8-4C30-961C-4CAF7195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5B115A1C-F137-473C-B049-8E2E1D4382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109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F329-0391-403E-893E-D576018AC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0DF60-B5C5-4B67-9C59-D776B1162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7592F-54D9-46E8-91E8-E3155C6A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3E60-7A04-4ACB-A597-49AF9D1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0FE4EE32-EE92-49A9-B978-9AF46FFCEE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821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EC57-5DD0-4A03-BF25-28F500D6A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A68C0-D0E2-4B3B-8DF5-99D3AE482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84D37-B5E3-465E-AB9F-1A46C3CB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07BA4-8DAB-4D1A-8C7A-0034BED32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B4FFACBE-778B-452B-B7B2-D991B629EC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956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4064-BB62-46B8-9CC2-D029177E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FF1E0-3B14-45A4-A725-D5051F77C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7A2AD-DE0E-4543-BF32-97E616584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8A81F-A3D5-45B8-A8C9-BF8B4345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8AD99-EEEA-444C-A59A-65F3888F1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2A276F-6FEF-4ED3-85CF-E9CF75454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975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77D37-7754-4A9C-BCC6-11C47E92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75442-2125-4972-A200-5E35EC3A2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EFCD3-FF8C-4968-9CED-85E6346B6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DA86E1-83D0-49D4-A54B-9F17BF050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C060A-6098-4350-8720-54C7423C64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82D38-0587-46DF-BC2F-54BCA516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DE6AB-74D5-42F1-A4DE-5A6E0B56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CC785A4D-427F-44CB-8E0A-B101B55E5B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971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9489-85CB-4669-ACBD-78EF5FE99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E259A-9F68-4D64-B695-B05BF20B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55463-B67C-4CFD-B89A-A5AC4049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6" name="Afbeelding 9">
            <a:extLst>
              <a:ext uri="{FF2B5EF4-FFF2-40B4-BE49-F238E27FC236}">
                <a16:creationId xmlns:a16="http://schemas.microsoft.com/office/drawing/2014/main" id="{4E1FECAE-E5B2-4686-BED7-57C4C269E9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788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75913-F874-4ACB-BF38-06993DE4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8B41A-AEDF-4412-BB53-522D256D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5" name="Afbeelding 9">
            <a:extLst>
              <a:ext uri="{FF2B5EF4-FFF2-40B4-BE49-F238E27FC236}">
                <a16:creationId xmlns:a16="http://schemas.microsoft.com/office/drawing/2014/main" id="{003DCD53-61B3-4260-9781-C03ECF355E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999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5079-FBD9-4B6E-93BC-C2C72C3D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FB345-DC72-4009-80DF-ADF36B45C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4BB79-2FE3-4EEC-A47B-F6AA444FC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04493-2A24-4F5A-99BE-DED35B9A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3EAAD-7F90-46F6-8777-C00D5AD3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F5965B39-71B2-49D0-86D7-1658D734E3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0239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C5DE-40EB-400F-BB8C-DD4CE993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676FA-A76F-4435-A2C2-2AD6DBB5C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88418-CE82-4860-B21C-19BC3A38A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901AD-1CEA-40EE-8192-D18DA32C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D7769-3DBE-45F4-9D6C-319778BC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6FBEF1-7C0B-499C-A27C-52802B84C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982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AE8A-1C31-4B80-8E0E-FA8EE7EA7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7039C-9E8F-49C2-A124-D628993DB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C1EB7-C34F-4E92-8B14-28B788637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F4EAA-ABFC-4164-BDD9-D6C18344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AA2390CE-E4A9-42B0-B346-6C3BF875E1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7979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0A7D13-05FB-4F56-9DD4-53C5B300C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630CA-2274-448F-B50F-D48D280FD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17B21-54CC-48E7-894A-27142611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97B17-C995-407A-9DC9-4DE969B4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4359B83E-457B-4A56-97E8-EF80F65107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8894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109B4-6259-4B71-963F-E6EF9091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9CCA7-0EF3-49F7-943E-25DD645B6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F321C-7E99-47F2-9215-9A27ED0A1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2F472-351E-4F7F-B8E9-339BDFCA7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653A4-AF1B-4E4A-ACF4-770CE4B00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71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7D5AF9D-B0DC-43A3-AAC6-1547D97B9220}"/>
              </a:ext>
            </a:extLst>
          </p:cNvPr>
          <p:cNvSpPr txBox="1">
            <a:spLocks/>
          </p:cNvSpPr>
          <p:nvPr/>
        </p:nvSpPr>
        <p:spPr>
          <a:xfrm>
            <a:off x="3578203" y="5316032"/>
            <a:ext cx="5038747" cy="4388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Hakim Qahtan</a:t>
            </a:r>
            <a:endParaRPr lang="nl-NL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jdelijke aanduiding voor tekst 3">
            <a:extLst>
              <a:ext uri="{FF2B5EF4-FFF2-40B4-BE49-F238E27FC236}">
                <a16:creationId xmlns:a16="http://schemas.microsoft.com/office/drawing/2014/main" id="{A0C7FD2C-79F4-4035-B87B-567FCDEE550A}"/>
              </a:ext>
            </a:extLst>
          </p:cNvPr>
          <p:cNvSpPr txBox="1">
            <a:spLocks/>
          </p:cNvSpPr>
          <p:nvPr/>
        </p:nvSpPr>
        <p:spPr>
          <a:xfrm>
            <a:off x="2743201" y="5842400"/>
            <a:ext cx="7376984" cy="867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and Computing Sciences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Utrecht University</a:t>
            </a:r>
            <a:endParaRPr lang="nl-N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5150EB-C963-4057-9C23-EDF2C9EC6773}"/>
              </a:ext>
            </a:extLst>
          </p:cNvPr>
          <p:cNvSpPr/>
          <p:nvPr/>
        </p:nvSpPr>
        <p:spPr>
          <a:xfrm>
            <a:off x="620785" y="1342238"/>
            <a:ext cx="11308360" cy="236069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 and Data Analysis</a:t>
            </a:r>
          </a:p>
          <a:p>
            <a:pPr algn="ctr"/>
            <a:endPara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nl-N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 2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A95B730-DEB8-45EC-95F6-9E624B67ABF0}"/>
              </a:ext>
            </a:extLst>
          </p:cNvPr>
          <p:cNvSpPr txBox="1">
            <a:spLocks noChangeArrowheads="1"/>
          </p:cNvSpPr>
          <p:nvPr/>
        </p:nvSpPr>
        <p:spPr>
          <a:xfrm>
            <a:off x="2897187" y="3702930"/>
            <a:ext cx="6400800" cy="11994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1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10000" indent="-27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Verdana" pitchFamily="34" charset="0"/>
              <a:buChar char="–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altLang="nl-NL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56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36849FCC-587A-D1B3-9A3B-021C2F6191FE}"/>
              </a:ext>
            </a:extLst>
          </p:cNvPr>
          <p:cNvSpPr txBox="1">
            <a:spLocks noChangeArrowheads="1"/>
          </p:cNvSpPr>
          <p:nvPr/>
        </p:nvSpPr>
        <p:spPr>
          <a:xfrm>
            <a:off x="269770" y="4522304"/>
            <a:ext cx="4351013" cy="1569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tabLst>
                <a:tab pos="1820863" algn="l"/>
                <a:tab pos="3659188" algn="l"/>
                <a:tab pos="3943350" algn="l"/>
              </a:tabLst>
              <a:defRPr/>
            </a:pPr>
            <a:r>
              <a:rPr lang="en-US" sz="2400" dirty="0"/>
              <a:t>Python for Data Analysis, 3E</a:t>
            </a:r>
          </a:p>
          <a:p>
            <a:pPr marL="0" indent="0" algn="ctr">
              <a:buFont typeface="Arial" panose="020B0604020202020204" pitchFamily="34" charset="0"/>
              <a:buNone/>
              <a:tabLst>
                <a:tab pos="1820863" algn="l"/>
                <a:tab pos="3659188" algn="l"/>
                <a:tab pos="3943350" algn="l"/>
              </a:tabLst>
              <a:defRPr/>
            </a:pPr>
            <a:r>
              <a:rPr lang="en-US" sz="2400" dirty="0"/>
              <a:t>CH 5, and 6.1.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B10B2257-2676-E44D-2F81-93638E322A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0081" y="2226839"/>
            <a:ext cx="6033726" cy="198587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defRPr/>
            </a:pPr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Reading Material for Today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F86C140-8646-C1DB-D7A3-33C53DD95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772" y="0"/>
            <a:ext cx="52260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515CB0-0ED1-6CDE-A737-D084281A3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16901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Far</a:t>
            </a:r>
            <a:endParaRPr lang="en-US" altLang="en-US" dirty="0"/>
          </a:p>
          <a:p>
            <a:pPr lvl="1"/>
            <a:r>
              <a:rPr lang="en-US" altLang="en-US" dirty="0"/>
              <a:t>Data models and focused on the relational model</a:t>
            </a:r>
          </a:p>
          <a:p>
            <a:pPr lvl="1"/>
            <a:r>
              <a:rPr lang="en-US" altLang="en-US" dirty="0"/>
              <a:t>Creating and querying databases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</a:t>
            </a:r>
            <a:endParaRPr lang="en-US" altLang="en-US" dirty="0"/>
          </a:p>
          <a:p>
            <a:pPr lvl="1"/>
            <a:r>
              <a:rPr lang="en-US" altLang="en-US" dirty="0"/>
              <a:t>Querying Databases to obtain aggregated values </a:t>
            </a:r>
          </a:p>
          <a:p>
            <a:pPr lvl="1"/>
            <a:r>
              <a:rPr lang="en-US" altLang="en-US" dirty="0"/>
              <a:t>Data manipulation in Python</a:t>
            </a:r>
          </a:p>
          <a:p>
            <a:pPr lvl="1"/>
            <a:r>
              <a:rPr lang="en-US" altLang="en-US" dirty="0" err="1"/>
              <a:t>Dataframes</a:t>
            </a:r>
            <a:endParaRPr lang="en-US" altLang="en-US" dirty="0"/>
          </a:p>
          <a:p>
            <a:pPr lvl="1"/>
            <a:r>
              <a:rPr lang="en-US" altLang="en-US" dirty="0"/>
              <a:t>Connecting to databases</a:t>
            </a:r>
          </a:p>
          <a:p>
            <a:pPr lvl="1"/>
            <a:r>
              <a:rPr lang="en-US" altLang="en-US" dirty="0"/>
              <a:t>Data profiling </a:t>
            </a:r>
          </a:p>
          <a:p>
            <a:pPr lvl="1"/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DAABCA-909B-B9DE-C3A6-1FCA44400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26735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Functions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2222500" algn="l"/>
              </a:tabLst>
            </a:pPr>
            <a:r>
              <a:rPr lang="en-US" altLang="en-US" dirty="0"/>
              <a:t>These functions operate on the multiset of values of a column of a relation, and return a value</a:t>
            </a:r>
          </a:p>
          <a:p>
            <a:pPr>
              <a:buFont typeface="Monotype Sorts" pitchFamily="2" charset="2"/>
              <a:buNone/>
              <a:tabLst>
                <a:tab pos="2222500" algn="l"/>
              </a:tabLst>
            </a:pPr>
            <a:r>
              <a:rPr lang="en-US" altLang="en-US" dirty="0"/>
              <a:t>		</a:t>
            </a:r>
            <a:r>
              <a:rPr lang="en-US" altLang="en-US" b="1" dirty="0"/>
              <a:t>avg: </a:t>
            </a:r>
            <a:r>
              <a:rPr lang="en-US" altLang="en-US" dirty="0"/>
              <a:t>average value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min:  </a:t>
            </a:r>
            <a:r>
              <a:rPr lang="en-US" altLang="en-US" dirty="0"/>
              <a:t>minimum value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max:  </a:t>
            </a:r>
            <a:r>
              <a:rPr lang="en-US" altLang="en-US" dirty="0"/>
              <a:t>maximum value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sum:  </a:t>
            </a:r>
            <a:r>
              <a:rPr lang="en-US" altLang="en-US" dirty="0"/>
              <a:t>sum of values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count:  </a:t>
            </a:r>
            <a:r>
              <a:rPr lang="en-US" altLang="en-US" dirty="0"/>
              <a:t>number of values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4E5C369B-628A-C8AC-AA1D-8CA9BF9F5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8D8F54C-053C-4394-9990-70DE256B1A6D}" type="slidenum">
              <a:rPr lang="nl-NL" smtClean="0"/>
              <a:t>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19306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Functions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1711325" algn="l"/>
              </a:tabLst>
            </a:pPr>
            <a:r>
              <a:rPr lang="en-US" altLang="en-US" dirty="0"/>
              <a:t>Find the average salary of instructors in the Computer Science department </a:t>
            </a:r>
          </a:p>
          <a:p>
            <a:pPr marL="457200" lvl="1" indent="0">
              <a:buNone/>
              <a:tabLst>
                <a:tab pos="1711325" algn="l"/>
              </a:tabLst>
            </a:pP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b="1" dirty="0"/>
              <a:t> </a:t>
            </a:r>
            <a:r>
              <a:rPr lang="en-US" altLang="en-US" dirty="0">
                <a:solidFill>
                  <a:srgbClr val="006600"/>
                </a:solidFill>
              </a:rPr>
              <a:t>AVG</a:t>
            </a:r>
            <a:r>
              <a:rPr lang="en-US" altLang="en-US" b="1" dirty="0"/>
              <a:t> </a:t>
            </a:r>
            <a:r>
              <a:rPr lang="en-US" altLang="en-US" dirty="0"/>
              <a:t>(</a:t>
            </a:r>
            <a:r>
              <a:rPr lang="en-US" altLang="en-US" i="1" dirty="0"/>
              <a:t>salary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dirty="0">
                <a:solidFill>
                  <a:srgbClr val="006600"/>
                </a:solidFill>
              </a:rPr>
              <a:t>WHERE</a:t>
            </a:r>
            <a:r>
              <a:rPr lang="en-US" altLang="en-US" b="1" dirty="0"/>
              <a:t> </a:t>
            </a:r>
            <a:r>
              <a:rPr lang="en-US" altLang="en-US" i="1" dirty="0" err="1"/>
              <a:t>dept_name</a:t>
            </a:r>
            <a:r>
              <a:rPr lang="en-US" altLang="en-US" dirty="0"/>
              <a:t>= ’Comp. Sci.’;</a:t>
            </a:r>
          </a:p>
          <a:p>
            <a:pPr>
              <a:tabLst>
                <a:tab pos="1711325" algn="l"/>
              </a:tabLst>
            </a:pPr>
            <a:r>
              <a:rPr kumimoji="0" lang="en-US" altLang="en-US" dirty="0"/>
              <a:t>Find the total number of instructors who taught a course in the Spring 2010 semester</a:t>
            </a:r>
          </a:p>
          <a:p>
            <a:pPr marL="457200" lvl="1" indent="0">
              <a:buNone/>
              <a:tabLst>
                <a:tab pos="1711325" algn="l"/>
              </a:tabLst>
            </a:pP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kumimoji="0" lang="en-US" altLang="en-US" b="1" dirty="0"/>
              <a:t> </a:t>
            </a:r>
            <a:r>
              <a:rPr lang="en-US" altLang="en-US" dirty="0">
                <a:solidFill>
                  <a:srgbClr val="006600"/>
                </a:solidFill>
              </a:rPr>
              <a:t>COUNT</a:t>
            </a:r>
            <a:r>
              <a:rPr kumimoji="0" lang="en-US" altLang="en-US" b="1" dirty="0"/>
              <a:t> </a:t>
            </a:r>
            <a:r>
              <a:rPr kumimoji="0" lang="en-US" altLang="en-US" dirty="0"/>
              <a:t>(</a:t>
            </a:r>
            <a:r>
              <a:rPr lang="en-US" altLang="en-US" dirty="0">
                <a:solidFill>
                  <a:srgbClr val="006600"/>
                </a:solidFill>
              </a:rPr>
              <a:t>DISTINCT</a:t>
            </a:r>
            <a:r>
              <a:rPr kumimoji="0" lang="en-US" altLang="en-US" b="1" dirty="0"/>
              <a:t> </a:t>
            </a:r>
            <a:r>
              <a:rPr kumimoji="0" lang="en-US" altLang="en-US" i="1" dirty="0"/>
              <a:t>ID</a:t>
            </a:r>
            <a:r>
              <a:rPr kumimoji="0" lang="en-US" altLang="en-US" dirty="0"/>
              <a:t>)</a:t>
            </a:r>
            <a:br>
              <a:rPr kumimoji="0" lang="en-US" altLang="en-US" dirty="0"/>
            </a:b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kumimoji="0" lang="en-US" altLang="en-US" b="1" dirty="0"/>
              <a:t> </a:t>
            </a:r>
            <a:r>
              <a:rPr kumimoji="0" lang="en-US" altLang="en-US" i="1" dirty="0"/>
              <a:t>teaches</a:t>
            </a:r>
            <a:br>
              <a:rPr kumimoji="0" lang="en-US" altLang="en-US" i="1" dirty="0"/>
            </a:br>
            <a:r>
              <a:rPr lang="en-US" altLang="en-US" dirty="0">
                <a:solidFill>
                  <a:srgbClr val="006600"/>
                </a:solidFill>
              </a:rPr>
              <a:t>WHERE</a:t>
            </a:r>
            <a:r>
              <a:rPr kumimoji="0" lang="en-US" altLang="en-US" b="1" dirty="0"/>
              <a:t> </a:t>
            </a:r>
            <a:r>
              <a:rPr kumimoji="0" lang="en-US" altLang="en-US" i="1" dirty="0"/>
              <a:t>semester </a:t>
            </a:r>
            <a:r>
              <a:rPr kumimoji="0" lang="en-US" altLang="en-US" dirty="0"/>
              <a:t>= ’Spring’ </a:t>
            </a:r>
            <a:r>
              <a:rPr lang="en-US" altLang="en-US" dirty="0">
                <a:solidFill>
                  <a:srgbClr val="006600"/>
                </a:solidFill>
              </a:rPr>
              <a:t>AND</a:t>
            </a:r>
            <a:r>
              <a:rPr kumimoji="0" lang="en-US" altLang="en-US" b="1" dirty="0"/>
              <a:t> </a:t>
            </a:r>
            <a:r>
              <a:rPr kumimoji="0" lang="en-US" altLang="en-US" i="1" dirty="0"/>
              <a:t>year </a:t>
            </a:r>
            <a:r>
              <a:rPr kumimoji="0" lang="en-US" altLang="en-US" dirty="0"/>
              <a:t>= 2010;</a:t>
            </a:r>
          </a:p>
          <a:p>
            <a:pPr>
              <a:tabLst>
                <a:tab pos="1711325" algn="l"/>
              </a:tabLst>
            </a:pPr>
            <a:r>
              <a:rPr kumimoji="0" lang="en-US" altLang="en-US" dirty="0"/>
              <a:t>Find the number of tuples in the </a:t>
            </a:r>
            <a:r>
              <a:rPr kumimoji="0" lang="en-US" altLang="en-US" i="1" dirty="0"/>
              <a:t>course </a:t>
            </a:r>
            <a:r>
              <a:rPr kumimoji="0" lang="en-US" altLang="en-US" dirty="0"/>
              <a:t>relation</a:t>
            </a:r>
          </a:p>
          <a:p>
            <a:pPr marL="457200" lvl="1" indent="0">
              <a:buNone/>
              <a:tabLst>
                <a:tab pos="1711325" algn="l"/>
              </a:tabLst>
            </a:pP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kumimoji="0" lang="en-US" altLang="en-US" b="1" dirty="0"/>
              <a:t> </a:t>
            </a:r>
            <a:r>
              <a:rPr lang="en-US" altLang="en-US" dirty="0">
                <a:solidFill>
                  <a:srgbClr val="006600"/>
                </a:solidFill>
              </a:rPr>
              <a:t>COUNT</a:t>
            </a:r>
            <a:r>
              <a:rPr kumimoji="0" lang="en-US" altLang="en-US" b="1" dirty="0"/>
              <a:t> </a:t>
            </a:r>
            <a:r>
              <a:rPr kumimoji="0" lang="en-US" altLang="en-US" dirty="0"/>
              <a:t>(*)</a:t>
            </a:r>
            <a:br>
              <a:rPr kumimoji="0" lang="en-US" altLang="en-US" dirty="0"/>
            </a:b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kumimoji="0" lang="en-US" altLang="en-US" b="1" dirty="0"/>
              <a:t> </a:t>
            </a:r>
            <a:r>
              <a:rPr kumimoji="0" lang="en-US" altLang="en-US" i="1" dirty="0"/>
              <a:t>course</a:t>
            </a:r>
            <a:r>
              <a:rPr kumimoji="0" lang="en-US" altLang="en-US" dirty="0"/>
              <a:t>;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5589B8E6-3B19-ED24-319B-6CF6D722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8D8F54C-053C-4394-9990-70DE256B1A6D}" type="slidenum">
              <a:rPr lang="nl-NL" smtClean="0"/>
              <a:t>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64254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Functions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625475" algn="l"/>
              </a:tabLst>
            </a:pPr>
            <a:r>
              <a:rPr lang="en-US" altLang="en-US" dirty="0"/>
              <a:t>Find the average salary of instructors in each department</a:t>
            </a:r>
          </a:p>
          <a:p>
            <a:pPr marL="457200" lvl="1" indent="0">
              <a:buNone/>
              <a:tabLst>
                <a:tab pos="625475" algn="l"/>
              </a:tabLst>
            </a:pP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b="1" dirty="0"/>
              <a:t> </a:t>
            </a:r>
            <a:r>
              <a:rPr lang="en-US" altLang="en-US" i="1" dirty="0" err="1"/>
              <a:t>dept_name</a:t>
            </a:r>
            <a:r>
              <a:rPr lang="en-US" altLang="en-US" dirty="0"/>
              <a:t>, </a:t>
            </a:r>
            <a:r>
              <a:rPr lang="en-US" altLang="en-US" dirty="0">
                <a:solidFill>
                  <a:srgbClr val="006600"/>
                </a:solidFill>
              </a:rPr>
              <a:t>AVG</a:t>
            </a:r>
            <a:r>
              <a:rPr lang="en-US" altLang="en-US" b="1" dirty="0"/>
              <a:t> </a:t>
            </a:r>
            <a:r>
              <a:rPr lang="en-US" altLang="en-US" dirty="0"/>
              <a:t>(</a:t>
            </a:r>
            <a:r>
              <a:rPr lang="en-US" altLang="en-US" i="1" dirty="0"/>
              <a:t>salary</a:t>
            </a:r>
            <a:r>
              <a:rPr lang="en-US" altLang="en-US" dirty="0"/>
              <a:t>) </a:t>
            </a:r>
            <a:r>
              <a:rPr lang="en-US" altLang="en-US" dirty="0">
                <a:solidFill>
                  <a:srgbClr val="006600"/>
                </a:solidFill>
              </a:rPr>
              <a:t>AS</a:t>
            </a:r>
            <a:r>
              <a:rPr lang="en-US" altLang="en-US" dirty="0"/>
              <a:t> </a:t>
            </a:r>
            <a:r>
              <a:rPr lang="en-US" altLang="en-US" i="1" dirty="0" err="1"/>
              <a:t>avg_salary</a:t>
            </a:r>
            <a:br>
              <a:rPr lang="en-US" altLang="en-US" dirty="0"/>
            </a:b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dirty="0">
                <a:solidFill>
                  <a:srgbClr val="006600"/>
                </a:solidFill>
              </a:rPr>
              <a:t>GROUP</a:t>
            </a:r>
            <a:r>
              <a:rPr lang="en-US" altLang="en-US" b="1" dirty="0"/>
              <a:t> </a:t>
            </a:r>
            <a:r>
              <a:rPr lang="en-US" altLang="en-US" dirty="0">
                <a:solidFill>
                  <a:srgbClr val="006600"/>
                </a:solidFill>
              </a:rPr>
              <a:t>BY</a:t>
            </a:r>
            <a:r>
              <a:rPr lang="en-US" altLang="en-US" b="1" dirty="0"/>
              <a:t> </a:t>
            </a:r>
            <a:r>
              <a:rPr lang="en-US" altLang="en-US" i="1" dirty="0" err="1"/>
              <a:t>dept_name</a:t>
            </a:r>
            <a:r>
              <a:rPr lang="en-US" altLang="en-US" dirty="0"/>
              <a:t>;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9C32F616-1AA6-4A8F-AC4C-43472169C270}"/>
              </a:ext>
            </a:extLst>
          </p:cNvPr>
          <p:cNvGraphicFramePr>
            <a:graphicFrameLocks noGrp="1"/>
          </p:cNvGraphicFramePr>
          <p:nvPr/>
        </p:nvGraphicFramePr>
        <p:xfrm>
          <a:off x="1934648" y="2977595"/>
          <a:ext cx="5825720" cy="3708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56430">
                  <a:extLst>
                    <a:ext uri="{9D8B030D-6E8A-4147-A177-3AD203B41FA5}">
                      <a16:colId xmlns:a16="http://schemas.microsoft.com/office/drawing/2014/main" val="2272113162"/>
                    </a:ext>
                  </a:extLst>
                </a:gridCol>
                <a:gridCol w="1456430">
                  <a:extLst>
                    <a:ext uri="{9D8B030D-6E8A-4147-A177-3AD203B41FA5}">
                      <a16:colId xmlns:a16="http://schemas.microsoft.com/office/drawing/2014/main" val="3462723877"/>
                    </a:ext>
                  </a:extLst>
                </a:gridCol>
                <a:gridCol w="1456430">
                  <a:extLst>
                    <a:ext uri="{9D8B030D-6E8A-4147-A177-3AD203B41FA5}">
                      <a16:colId xmlns:a16="http://schemas.microsoft.com/office/drawing/2014/main" val="3806736306"/>
                    </a:ext>
                  </a:extLst>
                </a:gridCol>
                <a:gridCol w="1456430">
                  <a:extLst>
                    <a:ext uri="{9D8B030D-6E8A-4147-A177-3AD203B41FA5}">
                      <a16:colId xmlns:a16="http://schemas.microsoft.com/office/drawing/2014/main" val="38379418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dept_name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556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22322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Einstein 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Physics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95000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168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33452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Gold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Physics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87000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05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21212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Wu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Finance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045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10101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Brandt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Comp. Sci.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934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43521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Katz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Comp. Sci.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436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98531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Kim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Biology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061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58763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Crick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Elec. Eng.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423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52187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Mozart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History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438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32343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 Said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History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460126"/>
                  </a:ext>
                </a:extLst>
              </a:tr>
            </a:tbl>
          </a:graphicData>
        </a:graphic>
      </p:graphicFrame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7E9D1951-3CAE-4544-9DF3-230361767512}"/>
              </a:ext>
            </a:extLst>
          </p:cNvPr>
          <p:cNvGraphicFramePr>
            <a:graphicFrameLocks noGrp="1"/>
          </p:cNvGraphicFramePr>
          <p:nvPr/>
        </p:nvGraphicFramePr>
        <p:xfrm>
          <a:off x="8258891" y="3429000"/>
          <a:ext cx="2912860" cy="25958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56430">
                  <a:extLst>
                    <a:ext uri="{9D8B030D-6E8A-4147-A177-3AD203B41FA5}">
                      <a16:colId xmlns:a16="http://schemas.microsoft.com/office/drawing/2014/main" val="3806736306"/>
                    </a:ext>
                  </a:extLst>
                </a:gridCol>
                <a:gridCol w="1456430">
                  <a:extLst>
                    <a:ext uri="{9D8B030D-6E8A-4147-A177-3AD203B41FA5}">
                      <a16:colId xmlns:a16="http://schemas.microsoft.com/office/drawing/2014/main" val="38379418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dept_name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avg_salary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556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Physics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91000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168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Finance</a:t>
                      </a:r>
                      <a:endParaRPr lang="nl-NL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045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Comp. Sci.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78500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436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Biology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061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Elec. Eng.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423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History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75500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43875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FCBC60-6325-40A1-BF47-0797A6747B94}"/>
              </a:ext>
            </a:extLst>
          </p:cNvPr>
          <p:cNvSpPr txBox="1"/>
          <p:nvPr/>
        </p:nvSpPr>
        <p:spPr>
          <a:xfrm>
            <a:off x="8669183" y="2977595"/>
            <a:ext cx="250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query result</a:t>
            </a:r>
            <a:endParaRPr lang="nl-NL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47478C5B-B7DA-638C-47D9-DE265B5DC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8D8F54C-053C-4394-9990-70DE256B1A6D}" type="slidenum">
              <a:rPr lang="nl-NL" smtClean="0"/>
              <a:t>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12815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Functions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625475" algn="l"/>
              </a:tabLst>
            </a:pPr>
            <a:r>
              <a:rPr lang="en-US" altLang="en-US" sz="2400" dirty="0"/>
              <a:t>Find the average salary of instructors in each department which has average salary greater than 80000 – use </a:t>
            </a:r>
            <a:r>
              <a:rPr lang="en-US" altLang="en-US" sz="2400" dirty="0">
                <a:solidFill>
                  <a:srgbClr val="006600"/>
                </a:solidFill>
              </a:rPr>
              <a:t>HAVING</a:t>
            </a:r>
            <a:r>
              <a:rPr lang="en-US" altLang="en-US" sz="2400" dirty="0"/>
              <a:t> because </a:t>
            </a:r>
            <a:r>
              <a:rPr lang="en-US" altLang="en-US" sz="2400" dirty="0">
                <a:solidFill>
                  <a:srgbClr val="006600"/>
                </a:solidFill>
              </a:rPr>
              <a:t>WHERE</a:t>
            </a:r>
            <a:r>
              <a:rPr lang="en-US" altLang="en-US" sz="2400" dirty="0"/>
              <a:t> cannot be used with aggregate functions </a:t>
            </a:r>
          </a:p>
          <a:p>
            <a:pPr marL="457200" lvl="1" indent="0">
              <a:buNone/>
              <a:tabLst>
                <a:tab pos="625475" algn="l"/>
              </a:tabLst>
            </a:pPr>
            <a:r>
              <a:rPr lang="en-US" altLang="en-US" sz="2000" dirty="0">
                <a:solidFill>
                  <a:srgbClr val="006600"/>
                </a:solidFill>
              </a:rPr>
              <a:t>SELECT</a:t>
            </a:r>
            <a:r>
              <a:rPr lang="en-US" altLang="en-US" sz="2000" b="1" dirty="0"/>
              <a:t> </a:t>
            </a:r>
            <a:r>
              <a:rPr lang="en-US" altLang="en-US" sz="2000" i="1" dirty="0" err="1"/>
              <a:t>dept_name</a:t>
            </a:r>
            <a:r>
              <a:rPr lang="en-US" altLang="en-US" sz="2000" dirty="0"/>
              <a:t>, </a:t>
            </a:r>
            <a:r>
              <a:rPr lang="en-US" altLang="en-US" sz="2000" dirty="0">
                <a:solidFill>
                  <a:srgbClr val="006600"/>
                </a:solidFill>
              </a:rPr>
              <a:t>AVG</a:t>
            </a:r>
            <a:r>
              <a:rPr lang="en-US" altLang="en-US" sz="2000" b="1" dirty="0"/>
              <a:t> </a:t>
            </a:r>
            <a:r>
              <a:rPr lang="en-US" altLang="en-US" sz="2000" dirty="0"/>
              <a:t>(</a:t>
            </a:r>
            <a:r>
              <a:rPr lang="en-US" altLang="en-US" sz="2000" i="1" dirty="0"/>
              <a:t>salary</a:t>
            </a:r>
            <a:r>
              <a:rPr lang="en-US" altLang="en-US" sz="2000" dirty="0"/>
              <a:t>) </a:t>
            </a:r>
            <a:r>
              <a:rPr lang="en-US" altLang="en-US" sz="2000" dirty="0">
                <a:solidFill>
                  <a:srgbClr val="006600"/>
                </a:solidFill>
              </a:rPr>
              <a:t>AS</a:t>
            </a:r>
            <a:r>
              <a:rPr lang="en-US" altLang="en-US" sz="2000" dirty="0"/>
              <a:t> </a:t>
            </a:r>
            <a:r>
              <a:rPr lang="en-US" altLang="en-US" sz="2000" i="1" dirty="0" err="1"/>
              <a:t>avg_salary</a:t>
            </a:r>
            <a:br>
              <a:rPr lang="en-US" altLang="en-US" sz="2000" dirty="0"/>
            </a:br>
            <a:r>
              <a:rPr lang="en-US" altLang="en-US" sz="2000" dirty="0">
                <a:solidFill>
                  <a:srgbClr val="006600"/>
                </a:solidFill>
              </a:rPr>
              <a:t>FROM</a:t>
            </a:r>
            <a:r>
              <a:rPr lang="en-US" altLang="en-US" sz="2000" b="1" dirty="0"/>
              <a:t> </a:t>
            </a:r>
            <a:r>
              <a:rPr lang="en-US" altLang="en-US" sz="2000" i="1" dirty="0"/>
              <a:t>instructor </a:t>
            </a:r>
            <a:r>
              <a:rPr lang="en-US" altLang="en-US" sz="2000" dirty="0">
                <a:solidFill>
                  <a:srgbClr val="006600"/>
                </a:solidFill>
              </a:rPr>
              <a:t>GROUP</a:t>
            </a:r>
            <a:r>
              <a:rPr lang="en-US" altLang="en-US" sz="2000" b="1" dirty="0"/>
              <a:t> </a:t>
            </a:r>
            <a:r>
              <a:rPr lang="en-US" altLang="en-US" sz="2000" dirty="0">
                <a:solidFill>
                  <a:srgbClr val="006600"/>
                </a:solidFill>
              </a:rPr>
              <a:t>BY</a:t>
            </a:r>
            <a:r>
              <a:rPr lang="en-US" altLang="en-US" sz="2000" b="1" dirty="0"/>
              <a:t> </a:t>
            </a:r>
            <a:r>
              <a:rPr lang="en-US" altLang="en-US" sz="2000" i="1" dirty="0" err="1"/>
              <a:t>dept_name</a:t>
            </a:r>
            <a:endParaRPr lang="en-US" altLang="en-US" sz="2000" dirty="0"/>
          </a:p>
          <a:p>
            <a:pPr marL="457200" lvl="1" indent="0">
              <a:buNone/>
              <a:tabLst>
                <a:tab pos="625475" algn="l"/>
              </a:tabLst>
            </a:pPr>
            <a:r>
              <a:rPr lang="en-US" altLang="en-US" sz="2000" dirty="0">
                <a:solidFill>
                  <a:srgbClr val="006600"/>
                </a:solidFill>
              </a:rPr>
              <a:t>HAVING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avg_salary</a:t>
            </a:r>
            <a:r>
              <a:rPr lang="en-US" altLang="en-US" sz="2000" dirty="0"/>
              <a:t> &gt; 80000;</a:t>
            </a:r>
            <a:endParaRPr lang="en-US" altLang="en-US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9C32F616-1AA6-4A8F-AC4C-43472169C270}"/>
              </a:ext>
            </a:extLst>
          </p:cNvPr>
          <p:cNvGraphicFramePr>
            <a:graphicFrameLocks noGrp="1"/>
          </p:cNvGraphicFramePr>
          <p:nvPr/>
        </p:nvGraphicFramePr>
        <p:xfrm>
          <a:off x="5970824" y="2784474"/>
          <a:ext cx="5825720" cy="3708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56430">
                  <a:extLst>
                    <a:ext uri="{9D8B030D-6E8A-4147-A177-3AD203B41FA5}">
                      <a16:colId xmlns:a16="http://schemas.microsoft.com/office/drawing/2014/main" val="2272113162"/>
                    </a:ext>
                  </a:extLst>
                </a:gridCol>
                <a:gridCol w="1456430">
                  <a:extLst>
                    <a:ext uri="{9D8B030D-6E8A-4147-A177-3AD203B41FA5}">
                      <a16:colId xmlns:a16="http://schemas.microsoft.com/office/drawing/2014/main" val="3462723877"/>
                    </a:ext>
                  </a:extLst>
                </a:gridCol>
                <a:gridCol w="1456430">
                  <a:extLst>
                    <a:ext uri="{9D8B030D-6E8A-4147-A177-3AD203B41FA5}">
                      <a16:colId xmlns:a16="http://schemas.microsoft.com/office/drawing/2014/main" val="3806736306"/>
                    </a:ext>
                  </a:extLst>
                </a:gridCol>
                <a:gridCol w="1456430">
                  <a:extLst>
                    <a:ext uri="{9D8B030D-6E8A-4147-A177-3AD203B41FA5}">
                      <a16:colId xmlns:a16="http://schemas.microsoft.com/office/drawing/2014/main" val="38379418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dept_name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556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22322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Einstein 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Physics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95000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168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33452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Gold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Physics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87000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05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21212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Wu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Finance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045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10101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Brandt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Comp. Sci.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934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43521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Katz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Comp. Sci.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436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98531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Kim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Biology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061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58763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Crick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Elec. Eng.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423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52187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Mozart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History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438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32343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 Said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History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460126"/>
                  </a:ext>
                </a:extLst>
              </a:tr>
            </a:tbl>
          </a:graphicData>
        </a:graphic>
      </p:graphicFrame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7E9D1951-3CAE-4544-9DF3-230361767512}"/>
              </a:ext>
            </a:extLst>
          </p:cNvPr>
          <p:cNvGraphicFramePr>
            <a:graphicFrameLocks noGrp="1"/>
          </p:cNvGraphicFramePr>
          <p:nvPr/>
        </p:nvGraphicFramePr>
        <p:xfrm>
          <a:off x="1652817" y="4259424"/>
          <a:ext cx="2912860" cy="11125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56430">
                  <a:extLst>
                    <a:ext uri="{9D8B030D-6E8A-4147-A177-3AD203B41FA5}">
                      <a16:colId xmlns:a16="http://schemas.microsoft.com/office/drawing/2014/main" val="3806736306"/>
                    </a:ext>
                  </a:extLst>
                </a:gridCol>
                <a:gridCol w="1456430">
                  <a:extLst>
                    <a:ext uri="{9D8B030D-6E8A-4147-A177-3AD203B41FA5}">
                      <a16:colId xmlns:a16="http://schemas.microsoft.com/office/drawing/2014/main" val="38379418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dept_name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avg_salary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556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Physics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91000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168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Finance</a:t>
                      </a:r>
                      <a:endParaRPr lang="nl-NL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04557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FCBC60-6325-40A1-BF47-0797A6747B94}"/>
              </a:ext>
            </a:extLst>
          </p:cNvPr>
          <p:cNvSpPr txBox="1"/>
          <p:nvPr/>
        </p:nvSpPr>
        <p:spPr>
          <a:xfrm>
            <a:off x="2063109" y="3808019"/>
            <a:ext cx="250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query result</a:t>
            </a:r>
            <a:endParaRPr lang="nl-NL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5BBFB627-AFD4-888B-C1AB-0657D83DC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8D8F54C-053C-4394-9990-70DE256B1A6D}" type="slidenum">
              <a:rPr lang="nl-NL" smtClean="0"/>
              <a:t>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67571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Subqueries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C45A49BA-F1EE-4748-AA1D-3967F9097D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2562" y="1283369"/>
                <a:ext cx="10515600" cy="500825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en-US" dirty="0"/>
                  <a:t>SQL provides a mechanism for the nesting of subqueries. </a:t>
                </a:r>
              </a:p>
              <a:p>
                <a:r>
                  <a:rPr lang="en-US" altLang="en-US" dirty="0"/>
                  <a:t>A </a:t>
                </a:r>
                <a:r>
                  <a:rPr lang="en-US" altLang="en-US" b="1" dirty="0"/>
                  <a:t>subquery</a:t>
                </a:r>
                <a:r>
                  <a:rPr lang="en-US" altLang="en-US" dirty="0"/>
                  <a:t> is a </a:t>
                </a:r>
                <a:r>
                  <a:rPr lang="en-US" altLang="en-US" b="1" dirty="0"/>
                  <a:t>SELECT-FROM-WHERE</a:t>
                </a:r>
                <a:r>
                  <a:rPr lang="en-US" altLang="en-US" dirty="0"/>
                  <a:t> expression that is nested within another query.</a:t>
                </a:r>
              </a:p>
              <a:p>
                <a:r>
                  <a:rPr lang="en-US" altLang="en-US" dirty="0"/>
                  <a:t>The nesting can be done in the following SQL query</a:t>
                </a:r>
                <a:br>
                  <a:rPr lang="en-US" altLang="en-US" dirty="0"/>
                </a:br>
                <a:br>
                  <a:rPr lang="en-US" altLang="en-US" dirty="0"/>
                </a:br>
                <a:r>
                  <a:rPr lang="en-US" altLang="en-US" dirty="0"/>
                  <a:t>	</a:t>
                </a:r>
                <a:r>
                  <a:rPr lang="en-US" altLang="en-US" dirty="0">
                    <a:solidFill>
                      <a:srgbClr val="006600"/>
                    </a:solidFill>
                  </a:rPr>
                  <a:t>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br>
                  <a:rPr lang="en-US" altLang="en-US" dirty="0"/>
                </a:br>
                <a:r>
                  <a:rPr lang="en-US" altLang="en-US" dirty="0"/>
                  <a:t>	</a:t>
                </a:r>
                <a:r>
                  <a:rPr lang="en-US" altLang="en-US" dirty="0">
                    <a:solidFill>
                      <a:srgbClr val="006600"/>
                    </a:solidFill>
                  </a:rPr>
                  <a:t>FROM</a:t>
                </a:r>
                <a:r>
                  <a:rPr lang="en-US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br>
                  <a:rPr lang="en-US" altLang="en-US" dirty="0"/>
                </a:br>
                <a:r>
                  <a:rPr lang="en-US" altLang="en-US" dirty="0"/>
                  <a:t>	</a:t>
                </a:r>
                <a:r>
                  <a:rPr lang="en-US" altLang="en-US" dirty="0">
                    <a:solidFill>
                      <a:srgbClr val="006600"/>
                    </a:solidFill>
                  </a:rPr>
                  <a:t>WHERE</a:t>
                </a:r>
                <a:r>
                  <a:rPr lang="en-US" altLang="en-US" b="1" dirty="0"/>
                  <a:t> </a:t>
                </a:r>
                <a:r>
                  <a:rPr lang="en-US" altLang="en-US" i="1" dirty="0"/>
                  <a:t>P</a:t>
                </a:r>
              </a:p>
              <a:p>
                <a:pPr>
                  <a:buFont typeface="Monotype Sorts" pitchFamily="2" charset="2"/>
                  <a:buNone/>
                </a:pPr>
                <a:br>
                  <a:rPr lang="en-US" altLang="en-US" i="1" dirty="0"/>
                </a:br>
                <a:r>
                  <a:rPr lang="en-US" altLang="en-US" dirty="0"/>
                  <a:t>as follows: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i="1" baseline="-25000" dirty="0"/>
                  <a:t>   </a:t>
                </a:r>
                <a:r>
                  <a:rPr lang="en-US" altLang="en-US" dirty="0"/>
                  <a:t>can be replaced be a subquery that generates a single value.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i="1" baseline="-25000" dirty="0"/>
                  <a:t> </a:t>
                </a:r>
                <a:r>
                  <a:rPr lang="en-US" altLang="en-US" dirty="0"/>
                  <a:t> can be replaced by any valid subquery</a:t>
                </a:r>
              </a:p>
              <a:p>
                <a:pPr lvl="1"/>
                <a:r>
                  <a:rPr lang="en-US" altLang="en-US" i="1" dirty="0"/>
                  <a:t>P</a:t>
                </a:r>
                <a:r>
                  <a:rPr lang="en-US" altLang="en-US" dirty="0"/>
                  <a:t> can be replaced with an expression of the form:</a:t>
                </a:r>
              </a:p>
              <a:p>
                <a:pPr lvl="1">
                  <a:buFont typeface="Monotype Sorts" pitchFamily="2" charset="2"/>
                  <a:buNone/>
                </a:pPr>
                <a:r>
                  <a:rPr lang="en-US" altLang="en-US" dirty="0"/>
                  <a:t>                </a:t>
                </a:r>
                <a:r>
                  <a:rPr lang="en-US" altLang="en-US" i="1" dirty="0"/>
                  <a:t>B</a:t>
                </a:r>
                <a:r>
                  <a:rPr lang="en-US" altLang="en-US" dirty="0"/>
                  <a:t> &lt;operation&gt; (subquery)</a:t>
                </a:r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C45A49BA-F1EE-4748-AA1D-3967F9097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562" y="1283369"/>
                <a:ext cx="10515600" cy="5008250"/>
              </a:xfrm>
              <a:prstGeom prst="rect">
                <a:avLst/>
              </a:prstGeom>
              <a:blipFill>
                <a:blip r:embed="rId2"/>
                <a:stretch>
                  <a:fillRect l="-870" t="-2558" b="-182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0338E9FF-1E69-E1CA-DF4E-322F39BBC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8D8F54C-053C-4394-9990-70DE256B1A6D}" type="slidenum">
              <a:rPr lang="nl-NL" smtClean="0"/>
              <a:t>8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41587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Subqueries – Examples (Subquery in the WHERE clause)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Find courses offered in Fall 2009 and in Spring 2010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dirty="0">
                <a:solidFill>
                  <a:srgbClr val="006600"/>
                </a:solidFill>
              </a:rPr>
              <a:t>SELECT DISTINCT </a:t>
            </a:r>
            <a:r>
              <a:rPr lang="en-US" altLang="en-US" dirty="0" err="1"/>
              <a:t>course_id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dirty="0">
                <a:solidFill>
                  <a:srgbClr val="006600"/>
                </a:solidFill>
              </a:rPr>
              <a:t>FROM </a:t>
            </a:r>
            <a:r>
              <a:rPr lang="en-US" altLang="en-US" dirty="0"/>
              <a:t>section</a:t>
            </a:r>
            <a:r>
              <a:rPr lang="en-US" altLang="en-US" dirty="0">
                <a:solidFill>
                  <a:srgbClr val="006600"/>
                </a:solidFill>
              </a:rPr>
              <a:t> 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dirty="0">
                <a:solidFill>
                  <a:srgbClr val="006600"/>
                </a:solidFill>
              </a:rPr>
              <a:t>WHERE</a:t>
            </a:r>
            <a:r>
              <a:rPr lang="en-US" altLang="en-US" b="1" dirty="0"/>
              <a:t> </a:t>
            </a:r>
            <a:r>
              <a:rPr lang="en-US" altLang="en-US" i="1" dirty="0"/>
              <a:t>semester </a:t>
            </a:r>
            <a:r>
              <a:rPr lang="en-US" altLang="en-US" dirty="0"/>
              <a:t>= ’Fall’ </a:t>
            </a:r>
            <a:r>
              <a:rPr lang="en-US" altLang="en-US" dirty="0">
                <a:solidFill>
                  <a:srgbClr val="006600"/>
                </a:solidFill>
              </a:rPr>
              <a:t>AND</a:t>
            </a:r>
            <a:r>
              <a:rPr lang="en-US" altLang="en-US" b="1" dirty="0"/>
              <a:t> </a:t>
            </a:r>
            <a:r>
              <a:rPr lang="en-US" altLang="en-US" i="1" dirty="0"/>
              <a:t>year </a:t>
            </a:r>
            <a:r>
              <a:rPr lang="en-US" altLang="en-US" dirty="0"/>
              <a:t>= 2009 </a:t>
            </a:r>
            <a:r>
              <a:rPr lang="en-US" altLang="en-US" dirty="0">
                <a:solidFill>
                  <a:srgbClr val="006600"/>
                </a:solidFill>
              </a:rPr>
              <a:t>AND</a:t>
            </a:r>
            <a:r>
              <a:rPr lang="en-US" altLang="en-US" b="1" dirty="0"/>
              <a:t> </a:t>
            </a:r>
            <a:br>
              <a:rPr lang="en-US" altLang="en-US" b="1" dirty="0"/>
            </a:br>
            <a:r>
              <a:rPr lang="en-US" altLang="en-US" b="1" dirty="0"/>
              <a:t>           </a:t>
            </a:r>
            <a:r>
              <a:rPr lang="en-US" altLang="en-US" i="1" dirty="0" err="1"/>
              <a:t>course_id</a:t>
            </a:r>
            <a:r>
              <a:rPr lang="en-US" altLang="en-US" i="1" dirty="0"/>
              <a:t> </a:t>
            </a:r>
            <a:r>
              <a:rPr lang="en-US" altLang="en-US" dirty="0">
                <a:solidFill>
                  <a:srgbClr val="006600"/>
                </a:solidFill>
              </a:rPr>
              <a:t>IN</a:t>
            </a:r>
            <a:r>
              <a:rPr lang="en-US" altLang="en-US" b="1" dirty="0"/>
              <a:t> </a:t>
            </a:r>
            <a:r>
              <a:rPr lang="en-US" altLang="en-US" dirty="0"/>
              <a:t>(</a:t>
            </a: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b="1" dirty="0"/>
              <a:t> </a:t>
            </a:r>
            <a:r>
              <a:rPr lang="en-US" altLang="en-US" i="1" dirty="0" err="1"/>
              <a:t>course_id</a:t>
            </a:r>
            <a:endParaRPr lang="en-US" altLang="en-US" i="1" dirty="0"/>
          </a:p>
          <a:p>
            <a:pPr marL="0" indent="0">
              <a:buNone/>
            </a:pPr>
            <a:r>
              <a:rPr lang="en-US" altLang="en-US" b="1" dirty="0"/>
              <a:t>                                 </a:t>
            </a: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i="1" dirty="0"/>
              <a:t>section</a:t>
            </a:r>
          </a:p>
          <a:p>
            <a:pPr marL="0" indent="0">
              <a:buNone/>
            </a:pPr>
            <a:r>
              <a:rPr lang="en-US" altLang="en-US" b="1" dirty="0"/>
              <a:t>                                 </a:t>
            </a:r>
            <a:r>
              <a:rPr lang="en-US" altLang="en-US" dirty="0">
                <a:solidFill>
                  <a:srgbClr val="006600"/>
                </a:solidFill>
              </a:rPr>
              <a:t>WHERE</a:t>
            </a:r>
            <a:r>
              <a:rPr lang="en-US" altLang="en-US" b="1" dirty="0"/>
              <a:t> </a:t>
            </a:r>
            <a:r>
              <a:rPr lang="en-GB" i="1" dirty="0"/>
              <a:t>semester = ’Spring’ </a:t>
            </a:r>
            <a:r>
              <a:rPr lang="en-GB" dirty="0">
                <a:solidFill>
                  <a:srgbClr val="006600"/>
                </a:solidFill>
              </a:rPr>
              <a:t>AND</a:t>
            </a:r>
            <a:r>
              <a:rPr lang="en-GB" sz="1800" dirty="0">
                <a:solidFill>
                  <a:srgbClr val="0066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GB" i="1" dirty="0"/>
              <a:t>year= 2010</a:t>
            </a:r>
            <a:r>
              <a:rPr lang="en-US" altLang="en-US" dirty="0"/>
              <a:t>);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87A4C05C-25C7-B1BB-78AB-B79E8594C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8D8F54C-053C-4394-9990-70DE256B1A6D}" type="slidenum">
              <a:rPr lang="nl-NL" smtClean="0"/>
              <a:t>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45900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Subqueries – Examples (Subquery in the FROM clause)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dirty="0"/>
              <a:t>Find the average instructors’ salaries of those departments where the average salary is greater than $42,000.”</a:t>
            </a:r>
          </a:p>
          <a:p>
            <a:pPr lvl="1">
              <a:buFont typeface="Monotype Sorts" pitchFamily="2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b="1" dirty="0"/>
              <a:t> </a:t>
            </a:r>
            <a:r>
              <a:rPr lang="en-US" altLang="en-US" i="1" dirty="0" err="1"/>
              <a:t>dept_name</a:t>
            </a:r>
            <a:r>
              <a:rPr lang="en-US" altLang="en-US" dirty="0"/>
              <a:t>, </a:t>
            </a:r>
            <a:r>
              <a:rPr lang="en-US" altLang="en-US" i="1" dirty="0" err="1"/>
              <a:t>avg_salary</a:t>
            </a:r>
            <a:endParaRPr lang="en-US" altLang="en-US" i="1" dirty="0"/>
          </a:p>
          <a:p>
            <a:pPr lvl="1">
              <a:buFont typeface="Monotype Sorts" pitchFamily="2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dirty="0"/>
              <a:t>(</a:t>
            </a:r>
            <a:r>
              <a:rPr lang="en-US" altLang="en-US" dirty="0">
                <a:solidFill>
                  <a:srgbClr val="006600"/>
                </a:solidFill>
              </a:rPr>
              <a:t>SELECT</a:t>
            </a:r>
            <a:r>
              <a:rPr lang="en-US" altLang="en-US" b="1" dirty="0"/>
              <a:t> </a:t>
            </a:r>
            <a:r>
              <a:rPr lang="en-US" altLang="en-US" i="1" dirty="0" err="1"/>
              <a:t>dept_name</a:t>
            </a:r>
            <a:r>
              <a:rPr lang="en-US" altLang="en-US" dirty="0"/>
              <a:t>, </a:t>
            </a:r>
            <a:r>
              <a:rPr lang="en-US" altLang="en-US" dirty="0">
                <a:solidFill>
                  <a:srgbClr val="006600"/>
                </a:solidFill>
              </a:rPr>
              <a:t>AVG</a:t>
            </a:r>
            <a:r>
              <a:rPr lang="en-US" altLang="en-US" b="1" dirty="0"/>
              <a:t> </a:t>
            </a:r>
            <a:r>
              <a:rPr lang="en-US" altLang="en-US" dirty="0"/>
              <a:t>(</a:t>
            </a:r>
            <a:r>
              <a:rPr lang="en-US" altLang="en-US" i="1" dirty="0"/>
              <a:t>salary</a:t>
            </a:r>
            <a:r>
              <a:rPr lang="en-US" altLang="en-US" dirty="0"/>
              <a:t>) </a:t>
            </a:r>
            <a:r>
              <a:rPr lang="en-US" altLang="en-US" dirty="0">
                <a:solidFill>
                  <a:srgbClr val="006600"/>
                </a:solidFill>
              </a:rPr>
              <a:t>AS</a:t>
            </a:r>
            <a:r>
              <a:rPr lang="en-US" altLang="en-US" b="1" dirty="0"/>
              <a:t> </a:t>
            </a:r>
            <a:r>
              <a:rPr lang="en-US" altLang="en-US" i="1" dirty="0" err="1"/>
              <a:t>avg_salary</a:t>
            </a:r>
            <a:br>
              <a:rPr lang="en-US" altLang="en-US" i="1" dirty="0"/>
            </a:br>
            <a:r>
              <a:rPr lang="en-US" altLang="en-US" i="1" dirty="0"/>
              <a:t>           </a:t>
            </a:r>
            <a:r>
              <a:rPr lang="en-US" altLang="en-US" dirty="0">
                <a:solidFill>
                  <a:srgbClr val="006600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i="1" dirty="0"/>
              <a:t>           </a:t>
            </a:r>
            <a:r>
              <a:rPr lang="en-US" altLang="en-US" dirty="0">
                <a:solidFill>
                  <a:srgbClr val="006600"/>
                </a:solidFill>
              </a:rPr>
              <a:t>GROUP</a:t>
            </a:r>
            <a:r>
              <a:rPr lang="en-US" altLang="en-US" b="1" dirty="0"/>
              <a:t> </a:t>
            </a:r>
            <a:r>
              <a:rPr lang="en-US" altLang="en-US" dirty="0">
                <a:solidFill>
                  <a:srgbClr val="006600"/>
                </a:solidFill>
              </a:rPr>
              <a:t>BY</a:t>
            </a:r>
            <a:r>
              <a:rPr lang="en-US" altLang="en-US" b="1" dirty="0"/>
              <a:t> </a:t>
            </a:r>
            <a:r>
              <a:rPr lang="en-US" altLang="en-US" i="1" dirty="0" err="1"/>
              <a:t>dept_name</a:t>
            </a:r>
            <a:r>
              <a:rPr lang="en-US" altLang="en-US" dirty="0"/>
              <a:t>)</a:t>
            </a:r>
          </a:p>
          <a:p>
            <a:pPr lvl="1">
              <a:buFont typeface="Monotype Sorts" pitchFamily="2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dirty="0">
                <a:solidFill>
                  <a:srgbClr val="006600"/>
                </a:solidFill>
              </a:rPr>
              <a:t>WHERE</a:t>
            </a:r>
            <a:r>
              <a:rPr lang="en-US" altLang="en-US" b="1" dirty="0"/>
              <a:t> </a:t>
            </a:r>
            <a:r>
              <a:rPr lang="en-US" altLang="en-US" i="1" dirty="0" err="1"/>
              <a:t>avg_salary</a:t>
            </a:r>
            <a:r>
              <a:rPr lang="en-US" altLang="en-US" i="1" dirty="0"/>
              <a:t> </a:t>
            </a:r>
            <a:r>
              <a:rPr lang="en-US" altLang="en-US" dirty="0"/>
              <a:t>&gt; 42000;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6644B6E-3495-E3D2-E157-45D5A7CEA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8D8F54C-053C-4394-9990-70DE256B1A6D}" type="slidenum">
              <a:rPr lang="nl-NL" smtClean="0"/>
              <a:t>10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96323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Subqueries – Examples (Subquery in the SELECT clause)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List all departments along with the number of instructors in each department</a:t>
            </a:r>
          </a:p>
          <a:p>
            <a:pPr>
              <a:buFont typeface="Monotype Sorts" pitchFamily="2" charset="2"/>
              <a:buNone/>
            </a:pPr>
            <a:r>
              <a:rPr lang="en-US" altLang="en-US" b="1" dirty="0"/>
              <a:t>	</a:t>
            </a:r>
            <a:r>
              <a:rPr lang="en-US" altLang="en-US" dirty="0">
                <a:solidFill>
                  <a:srgbClr val="006600"/>
                </a:solidFill>
              </a:rPr>
              <a:t> </a:t>
            </a:r>
            <a:r>
              <a:rPr lang="en-US" altLang="en-US" sz="2400" dirty="0">
                <a:solidFill>
                  <a:srgbClr val="006600"/>
                </a:solidFill>
              </a:rPr>
              <a:t>SELECT</a:t>
            </a:r>
            <a:r>
              <a:rPr lang="en-US" altLang="en-US" sz="2400" b="1" dirty="0"/>
              <a:t> </a:t>
            </a:r>
            <a:r>
              <a:rPr lang="en-US" altLang="en-US" sz="2400" i="1" dirty="0" err="1"/>
              <a:t>dept_name</a:t>
            </a:r>
            <a:r>
              <a:rPr lang="en-US" altLang="en-US" sz="2400" dirty="0"/>
              <a:t>, </a:t>
            </a:r>
            <a:br>
              <a:rPr lang="en-US" altLang="en-US" sz="2400" dirty="0"/>
            </a:br>
            <a:r>
              <a:rPr lang="en-US" altLang="en-US" sz="2400" dirty="0"/>
              <a:t>             (</a:t>
            </a:r>
            <a:r>
              <a:rPr lang="en-US" altLang="en-US" sz="2400" dirty="0">
                <a:solidFill>
                  <a:srgbClr val="006600"/>
                </a:solidFill>
              </a:rPr>
              <a:t>SELECT</a:t>
            </a:r>
            <a:r>
              <a:rPr lang="en-US" altLang="en-US" sz="2400" b="1" dirty="0"/>
              <a:t> </a:t>
            </a:r>
            <a:r>
              <a:rPr lang="en-US" altLang="en-US" sz="2400" dirty="0">
                <a:solidFill>
                  <a:srgbClr val="006600"/>
                </a:solidFill>
              </a:rPr>
              <a:t>COUNT</a:t>
            </a:r>
            <a:r>
              <a:rPr lang="en-US" altLang="en-US" sz="2400" dirty="0"/>
              <a:t>(*) </a:t>
            </a:r>
            <a:br>
              <a:rPr lang="en-US" altLang="en-US" sz="2400" dirty="0"/>
            </a:br>
            <a:r>
              <a:rPr lang="en-US" altLang="en-US" sz="2400" dirty="0"/>
              <a:t>                 </a:t>
            </a:r>
            <a:r>
              <a:rPr lang="en-US" altLang="en-US" sz="2400" dirty="0">
                <a:solidFill>
                  <a:srgbClr val="006600"/>
                </a:solidFill>
              </a:rPr>
              <a:t>FROM</a:t>
            </a:r>
            <a:r>
              <a:rPr lang="en-US" altLang="en-US" sz="2400" b="1" dirty="0"/>
              <a:t> </a:t>
            </a:r>
            <a:r>
              <a:rPr lang="en-US" altLang="en-US" sz="2400" i="1" dirty="0"/>
              <a:t>instructor </a:t>
            </a:r>
            <a:br>
              <a:rPr lang="en-US" altLang="en-US" sz="2400" i="1" dirty="0"/>
            </a:br>
            <a:r>
              <a:rPr lang="en-US" altLang="en-US" sz="2400" i="1" dirty="0"/>
              <a:t>                </a:t>
            </a:r>
            <a:r>
              <a:rPr lang="en-US" altLang="en-US" sz="2400" dirty="0">
                <a:solidFill>
                  <a:srgbClr val="006600"/>
                </a:solidFill>
              </a:rPr>
              <a:t>WHERE</a:t>
            </a:r>
            <a:r>
              <a:rPr lang="en-US" altLang="en-US" sz="2400" b="1" dirty="0"/>
              <a:t> </a:t>
            </a:r>
            <a:r>
              <a:rPr lang="en-US" altLang="en-US" sz="2400" i="1" dirty="0" err="1"/>
              <a:t>department</a:t>
            </a:r>
            <a:r>
              <a:rPr lang="en-US" altLang="en-US" sz="2400" dirty="0" err="1"/>
              <a:t>.</a:t>
            </a:r>
            <a:r>
              <a:rPr lang="en-US" altLang="en-US" sz="2400" i="1" dirty="0" err="1"/>
              <a:t>dept_name</a:t>
            </a:r>
            <a:r>
              <a:rPr lang="en-US" altLang="en-US" sz="2400" i="1" dirty="0"/>
              <a:t> </a:t>
            </a:r>
            <a:r>
              <a:rPr lang="en-US" altLang="en-US" sz="2400" dirty="0"/>
              <a:t>= </a:t>
            </a:r>
            <a:r>
              <a:rPr lang="en-US" altLang="en-US" sz="2400" i="1" dirty="0" err="1"/>
              <a:t>instructor</a:t>
            </a:r>
            <a:r>
              <a:rPr lang="en-US" altLang="en-US" sz="2400" dirty="0" err="1"/>
              <a:t>.</a:t>
            </a:r>
            <a:r>
              <a:rPr lang="en-US" altLang="en-US" sz="2400" i="1" dirty="0" err="1"/>
              <a:t>dept_name</a:t>
            </a:r>
            <a:r>
              <a:rPr lang="en-US" altLang="en-US" sz="2400" dirty="0"/>
              <a:t>)</a:t>
            </a:r>
            <a:br>
              <a:rPr lang="en-US" altLang="en-US" sz="2400" dirty="0"/>
            </a:br>
            <a:r>
              <a:rPr lang="en-US" altLang="en-US" sz="2400" dirty="0"/>
              <a:t>             </a:t>
            </a:r>
            <a:r>
              <a:rPr lang="en-US" altLang="en-US" sz="2400" dirty="0">
                <a:solidFill>
                  <a:srgbClr val="006600"/>
                </a:solidFill>
              </a:rPr>
              <a:t>AS</a:t>
            </a:r>
            <a:r>
              <a:rPr lang="en-US" altLang="en-US" sz="2400" b="1" dirty="0"/>
              <a:t> </a:t>
            </a:r>
            <a:r>
              <a:rPr lang="en-US" altLang="en-US" sz="2400" i="1" dirty="0" err="1"/>
              <a:t>num_instructors</a:t>
            </a:r>
            <a:br>
              <a:rPr lang="en-US" altLang="en-US" sz="2400" i="1" dirty="0"/>
            </a:br>
            <a:r>
              <a:rPr lang="en-US" altLang="en-US" sz="2400" dirty="0">
                <a:solidFill>
                  <a:srgbClr val="006600"/>
                </a:solidFill>
              </a:rPr>
              <a:t>FROM</a:t>
            </a:r>
            <a:r>
              <a:rPr lang="en-US" altLang="en-US" sz="2400" b="1" dirty="0"/>
              <a:t> </a:t>
            </a:r>
            <a:r>
              <a:rPr lang="en-US" altLang="en-US" sz="2400" i="1" dirty="0"/>
              <a:t>department</a:t>
            </a:r>
            <a:r>
              <a:rPr lang="en-US" altLang="en-US" sz="2400" dirty="0"/>
              <a:t>;</a:t>
            </a:r>
          </a:p>
          <a:p>
            <a:r>
              <a:rPr lang="en-US" altLang="en-US" dirty="0"/>
              <a:t>Runtime error if subquery returns more than one result tuple</a:t>
            </a:r>
          </a:p>
          <a:p>
            <a:r>
              <a:rPr lang="en-US" altLang="en-US" dirty="0">
                <a:solidFill>
                  <a:srgbClr val="C00000"/>
                </a:solidFill>
              </a:rPr>
              <a:t>Note that:</a:t>
            </a:r>
            <a:r>
              <a:rPr lang="en-US" altLang="en-US" dirty="0"/>
              <a:t> subqueries are </a:t>
            </a:r>
            <a:r>
              <a:rPr lang="en-US" altLang="nl-NL" dirty="0"/>
              <a:t>parenthesized SELECT-FROM-WHERE statements</a:t>
            </a:r>
            <a:endParaRPr lang="en-US" altLang="en-US" dirty="0"/>
          </a:p>
          <a:p>
            <a:pPr lvl="1">
              <a:buFont typeface="Monotype Sorts" pitchFamily="2" charset="2"/>
              <a:buNone/>
              <a:tabLst>
                <a:tab pos="1146175" algn="l"/>
                <a:tab pos="1608138" algn="l"/>
                <a:tab pos="1711325" algn="l"/>
              </a:tabLst>
            </a:pPr>
            <a:endParaRPr lang="en-US" altLang="en-US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2CF7A008-1291-11A1-5E62-CA705FB9E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8D8F54C-053C-4394-9990-70DE256B1A6D}" type="slidenum">
              <a:rPr lang="nl-NL" smtClean="0"/>
              <a:t>11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04341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C69EB3E1-E871-45C9-A72B-712C8DF0293C}"/>
              </a:ext>
            </a:extLst>
          </p:cNvPr>
          <p:cNvSpPr txBox="1">
            <a:spLocks/>
          </p:cNvSpPr>
          <p:nvPr/>
        </p:nvSpPr>
        <p:spPr>
          <a:xfrm>
            <a:off x="1202028" y="2620260"/>
            <a:ext cx="8277726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 </a:t>
            </a:r>
            <a:r>
              <a:rPr lang="en-US" b="1"/>
              <a:t>Extraction with </a:t>
            </a:r>
            <a:r>
              <a:rPr lang="en-US" b="1" dirty="0"/>
              <a:t>Python</a:t>
            </a:r>
            <a:endParaRPr lang="nl-NL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CE2672A-E667-4618-90A7-B6FFFDD25965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135C4E-DA98-1F9D-0FAB-C656DB92F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8434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DBMSs provides effective and efficient access for the data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data analysis is limited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 (such as Python) provides libraries for wide range of data analysis techniques including different ML models</a:t>
            </a:r>
          </a:p>
          <a:p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408E1-A965-A5BA-04B0-4FB1AFDE9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Aren’t DBMSs Enough?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23A342-3F58-1F5A-475E-13FE28A8D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13542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The most popular way to handle data tables in Python is using Pandas </a:t>
            </a:r>
            <a:r>
              <a:rPr lang="en-US" altLang="en-US" dirty="0" err="1"/>
              <a:t>dataframes</a:t>
            </a:r>
            <a:endParaRPr lang="en-US" altLang="en-US" dirty="0"/>
          </a:p>
          <a:p>
            <a:r>
              <a:rPr lang="en-US" altLang="en-US" dirty="0" err="1"/>
              <a:t>DataFrame</a:t>
            </a:r>
            <a:r>
              <a:rPr lang="en-US" altLang="en-US" dirty="0"/>
              <a:t>: a rectangular table of data and contains an ordered collection of columns, each of which can be a different value type (numeric, string, </a:t>
            </a:r>
            <a:r>
              <a:rPr lang="en-US" altLang="en-US" dirty="0" err="1"/>
              <a:t>boolean</a:t>
            </a:r>
            <a:r>
              <a:rPr lang="en-US" altLang="en-US" dirty="0"/>
              <a:t>, etc.)</a:t>
            </a:r>
          </a:p>
          <a:p>
            <a:r>
              <a:rPr lang="en-US" altLang="en-US" dirty="0"/>
              <a:t>Has columns and rows indexes</a:t>
            </a:r>
          </a:p>
          <a:p>
            <a:r>
              <a:rPr lang="en-US" altLang="en-US" dirty="0"/>
              <a:t>Columns are made up of Pandas series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496037C-7271-4878-AC94-5AA65CFEFA9E}"/>
              </a:ext>
            </a:extLst>
          </p:cNvPr>
          <p:cNvGrpSpPr/>
          <p:nvPr/>
        </p:nvGrpSpPr>
        <p:grpSpPr>
          <a:xfrm>
            <a:off x="5755753" y="3543170"/>
            <a:ext cx="4799523" cy="3178305"/>
            <a:chOff x="1651379" y="1760565"/>
            <a:chExt cx="5532732" cy="369405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9E38B69-3BCB-4B4D-8A0E-6FC4AFDF46F7}"/>
                </a:ext>
              </a:extLst>
            </p:cNvPr>
            <p:cNvSpPr/>
            <p:nvPr/>
          </p:nvSpPr>
          <p:spPr>
            <a:xfrm>
              <a:off x="3392906" y="2920623"/>
              <a:ext cx="524002" cy="253058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Series of data</a:t>
              </a:r>
              <a:endParaRPr lang="nl-N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B8DF0C1-E72C-440D-9BB7-BCB03DB2B63D}"/>
                </a:ext>
              </a:extLst>
            </p:cNvPr>
            <p:cNvSpPr/>
            <p:nvPr/>
          </p:nvSpPr>
          <p:spPr>
            <a:xfrm>
              <a:off x="4171128" y="2920623"/>
              <a:ext cx="524002" cy="253058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Series of data</a:t>
              </a:r>
              <a:endParaRPr lang="nl-N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B0B5DF-C43D-4F9E-8DA0-9D2444203CD9}"/>
                </a:ext>
              </a:extLst>
            </p:cNvPr>
            <p:cNvSpPr/>
            <p:nvPr/>
          </p:nvSpPr>
          <p:spPr>
            <a:xfrm>
              <a:off x="5007891" y="2920623"/>
              <a:ext cx="524002" cy="253058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Series of data</a:t>
              </a:r>
              <a:endParaRPr lang="nl-N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A9C4BA-AC0E-4475-A313-B922F9FC6ED3}"/>
                </a:ext>
              </a:extLst>
            </p:cNvPr>
            <p:cNvSpPr/>
            <p:nvPr/>
          </p:nvSpPr>
          <p:spPr>
            <a:xfrm>
              <a:off x="6660109" y="2924035"/>
              <a:ext cx="524002" cy="253058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Series of data</a:t>
              </a:r>
              <a:endParaRPr lang="nl-N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1F41425-866E-4F6C-9212-101BE75BABE6}"/>
                </a:ext>
              </a:extLst>
            </p:cNvPr>
            <p:cNvSpPr/>
            <p:nvPr/>
          </p:nvSpPr>
          <p:spPr>
            <a:xfrm>
              <a:off x="5790901" y="2920623"/>
              <a:ext cx="524002" cy="253058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…</a:t>
              </a:r>
              <a:endParaRPr lang="nl-N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496A989-CFA3-44F4-B522-6BADD7ECDD78}"/>
                </a:ext>
              </a:extLst>
            </p:cNvPr>
            <p:cNvSpPr/>
            <p:nvPr/>
          </p:nvSpPr>
          <p:spPr>
            <a:xfrm>
              <a:off x="1651379" y="2920623"/>
              <a:ext cx="915418" cy="2530582"/>
            </a:xfrm>
            <a:prstGeom prst="rect">
              <a:avLst/>
            </a:prstGeom>
            <a:solidFill>
              <a:srgbClr val="99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22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Row index</a:t>
              </a:r>
            </a:p>
            <a:p>
              <a:pPr algn="ctr"/>
              <a:r>
                <a:rPr lang="en-US" sz="22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(</a:t>
              </a:r>
              <a:r>
                <a:rPr lang="en-US" sz="2200" dirty="0" err="1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df.index</a:t>
              </a:r>
              <a:r>
                <a:rPr lang="en-US" sz="22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)</a:t>
              </a:r>
              <a:endParaRPr lang="nl-NL" sz="2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ACFFFD-AF16-4A04-B031-465F6C4121DF}"/>
                </a:ext>
              </a:extLst>
            </p:cNvPr>
            <p:cNvSpPr/>
            <p:nvPr/>
          </p:nvSpPr>
          <p:spPr>
            <a:xfrm rot="5400000">
              <a:off x="5023560" y="129910"/>
              <a:ext cx="529895" cy="3791206"/>
            </a:xfrm>
            <a:prstGeom prst="rect">
              <a:avLst/>
            </a:prstGeom>
            <a:solidFill>
              <a:srgbClr val="99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22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Column index (</a:t>
              </a:r>
              <a:r>
                <a:rPr lang="en-US" sz="2200" dirty="0" err="1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df.columns</a:t>
              </a:r>
              <a:r>
                <a:rPr lang="en-US" sz="22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)</a:t>
              </a:r>
              <a:endParaRPr lang="nl-NL" sz="2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" name="Arrow: Down 12">
              <a:extLst>
                <a:ext uri="{FF2B5EF4-FFF2-40B4-BE49-F238E27FC236}">
                  <a16:creationId xmlns:a16="http://schemas.microsoft.com/office/drawing/2014/main" id="{F86FA9F9-FD0D-47C7-B3C2-85785EA00B27}"/>
                </a:ext>
              </a:extLst>
            </p:cNvPr>
            <p:cNvSpPr/>
            <p:nvPr/>
          </p:nvSpPr>
          <p:spPr>
            <a:xfrm>
              <a:off x="3481751" y="2400825"/>
              <a:ext cx="346312" cy="382138"/>
            </a:xfrm>
            <a:prstGeom prst="downArrow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747F409E-5D9F-4624-9524-804769E9EA18}"/>
                </a:ext>
              </a:extLst>
            </p:cNvPr>
            <p:cNvSpPr/>
            <p:nvPr/>
          </p:nvSpPr>
          <p:spPr>
            <a:xfrm>
              <a:off x="5096317" y="2400825"/>
              <a:ext cx="346312" cy="382138"/>
            </a:xfrm>
            <a:prstGeom prst="downArrow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Arrow: Down 14">
              <a:extLst>
                <a:ext uri="{FF2B5EF4-FFF2-40B4-BE49-F238E27FC236}">
                  <a16:creationId xmlns:a16="http://schemas.microsoft.com/office/drawing/2014/main" id="{925EA6DF-F46C-4056-80E6-FA6C0F9B49B6}"/>
                </a:ext>
              </a:extLst>
            </p:cNvPr>
            <p:cNvSpPr/>
            <p:nvPr/>
          </p:nvSpPr>
          <p:spPr>
            <a:xfrm>
              <a:off x="4259973" y="2400825"/>
              <a:ext cx="346312" cy="382138"/>
            </a:xfrm>
            <a:prstGeom prst="downArrow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Arrow: Down 15">
              <a:extLst>
                <a:ext uri="{FF2B5EF4-FFF2-40B4-BE49-F238E27FC236}">
                  <a16:creationId xmlns:a16="http://schemas.microsoft.com/office/drawing/2014/main" id="{7FFC3989-856A-4F3D-B4E7-B1B740EFE302}"/>
                </a:ext>
              </a:extLst>
            </p:cNvPr>
            <p:cNvSpPr/>
            <p:nvPr/>
          </p:nvSpPr>
          <p:spPr>
            <a:xfrm>
              <a:off x="6748954" y="2400825"/>
              <a:ext cx="346312" cy="382138"/>
            </a:xfrm>
            <a:prstGeom prst="downArrow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DEA867D1-C09D-433E-BEBB-E8E4ACE755B9}"/>
                </a:ext>
              </a:extLst>
            </p:cNvPr>
            <p:cNvSpPr/>
            <p:nvPr/>
          </p:nvSpPr>
          <p:spPr>
            <a:xfrm>
              <a:off x="5879746" y="2400825"/>
              <a:ext cx="346312" cy="382138"/>
            </a:xfrm>
            <a:prstGeom prst="downArrow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Arrow: Down 17">
              <a:extLst>
                <a:ext uri="{FF2B5EF4-FFF2-40B4-BE49-F238E27FC236}">
                  <a16:creationId xmlns:a16="http://schemas.microsoft.com/office/drawing/2014/main" id="{4E88DAD4-F40C-450F-AB18-DEDA2F98C82B}"/>
                </a:ext>
              </a:extLst>
            </p:cNvPr>
            <p:cNvSpPr/>
            <p:nvPr/>
          </p:nvSpPr>
          <p:spPr>
            <a:xfrm rot="16200000">
              <a:off x="2826717" y="2921713"/>
              <a:ext cx="346312" cy="382138"/>
            </a:xfrm>
            <a:prstGeom prst="downArrow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Arrow: Down 18">
              <a:extLst>
                <a:ext uri="{FF2B5EF4-FFF2-40B4-BE49-F238E27FC236}">
                  <a16:creationId xmlns:a16="http://schemas.microsoft.com/office/drawing/2014/main" id="{35BF60E2-CA91-4EF1-A8BF-638A829205BE}"/>
                </a:ext>
              </a:extLst>
            </p:cNvPr>
            <p:cNvSpPr/>
            <p:nvPr/>
          </p:nvSpPr>
          <p:spPr>
            <a:xfrm rot="16200000">
              <a:off x="2838361" y="3462506"/>
              <a:ext cx="346312" cy="382138"/>
            </a:xfrm>
            <a:prstGeom prst="downArrow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Arrow: Down 19">
              <a:extLst>
                <a:ext uri="{FF2B5EF4-FFF2-40B4-BE49-F238E27FC236}">
                  <a16:creationId xmlns:a16="http://schemas.microsoft.com/office/drawing/2014/main" id="{6AA6B324-8863-43DF-BF40-D7288EAAA092}"/>
                </a:ext>
              </a:extLst>
            </p:cNvPr>
            <p:cNvSpPr/>
            <p:nvPr/>
          </p:nvSpPr>
          <p:spPr>
            <a:xfrm rot="16200000">
              <a:off x="2824414" y="4003298"/>
              <a:ext cx="346312" cy="382138"/>
            </a:xfrm>
            <a:prstGeom prst="downArrow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Arrow: Down 20">
              <a:extLst>
                <a:ext uri="{FF2B5EF4-FFF2-40B4-BE49-F238E27FC236}">
                  <a16:creationId xmlns:a16="http://schemas.microsoft.com/office/drawing/2014/main" id="{9A4EEE59-16F4-401E-8C33-958C184DCFC0}"/>
                </a:ext>
              </a:extLst>
            </p:cNvPr>
            <p:cNvSpPr/>
            <p:nvPr/>
          </p:nvSpPr>
          <p:spPr>
            <a:xfrm rot="16200000">
              <a:off x="2824414" y="4544090"/>
              <a:ext cx="346312" cy="382138"/>
            </a:xfrm>
            <a:prstGeom prst="downArrow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2" name="Arrow: Down 21">
              <a:extLst>
                <a:ext uri="{FF2B5EF4-FFF2-40B4-BE49-F238E27FC236}">
                  <a16:creationId xmlns:a16="http://schemas.microsoft.com/office/drawing/2014/main" id="{641DD01B-8FD8-4AC3-83D9-14DC1FA4D0DA}"/>
                </a:ext>
              </a:extLst>
            </p:cNvPr>
            <p:cNvSpPr/>
            <p:nvPr/>
          </p:nvSpPr>
          <p:spPr>
            <a:xfrm rot="16200000">
              <a:off x="2824414" y="5084882"/>
              <a:ext cx="346312" cy="382138"/>
            </a:xfrm>
            <a:prstGeom prst="downArrow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A387A9-3A48-79DD-AA4D-ABE79A45B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9604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24442944-8E72-4B35-9220-B7CB8FDD6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385" y="1161275"/>
            <a:ext cx="9881229" cy="53315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Creating DataFrame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1DB778-FFF7-4260-AE88-34088D039207}"/>
              </a:ext>
            </a:extLst>
          </p:cNvPr>
          <p:cNvSpPr/>
          <p:nvPr/>
        </p:nvSpPr>
        <p:spPr>
          <a:xfrm>
            <a:off x="5460799" y="3608068"/>
            <a:ext cx="6210186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>
              <a:buFont typeface="Arial" panose="020B0604020202020204" pitchFamily="34" charset="0"/>
              <a:buChar char="•"/>
            </a:pPr>
            <a:r>
              <a:rPr lang="nl-NL" sz="2800" dirty="0" err="1"/>
              <a:t>Similarly</a:t>
            </a:r>
            <a:r>
              <a:rPr lang="nl-NL" sz="2800" dirty="0"/>
              <a:t>: </a:t>
            </a:r>
            <a:r>
              <a:rPr lang="nl-NL" sz="2800" dirty="0" err="1"/>
              <a:t>you</a:t>
            </a:r>
            <a:r>
              <a:rPr lang="nl-NL" sz="2800" dirty="0"/>
              <a:t> </a:t>
            </a:r>
            <a:r>
              <a:rPr lang="nl-NL" sz="2800" dirty="0" err="1"/>
              <a:t>can</a:t>
            </a:r>
            <a:r>
              <a:rPr lang="nl-NL" sz="2800" dirty="0"/>
              <a:t> </a:t>
            </a:r>
            <a:r>
              <a:rPr lang="nl-NL" sz="2800" dirty="0" err="1"/>
              <a:t>use</a:t>
            </a:r>
            <a:r>
              <a:rPr lang="nl-NL" sz="2800" dirty="0"/>
              <a:t> </a:t>
            </a:r>
            <a:r>
              <a:rPr lang="nl-NL" sz="2800" dirty="0" err="1"/>
              <a:t>the</a:t>
            </a:r>
            <a:r>
              <a:rPr lang="nl-NL" sz="2800" dirty="0"/>
              <a:t> </a:t>
            </a:r>
            <a:r>
              <a:rPr lang="nl-NL" sz="2800" dirty="0" err="1"/>
              <a:t>following</a:t>
            </a:r>
            <a:r>
              <a:rPr lang="nl-NL" sz="2800" dirty="0"/>
              <a:t> code</a:t>
            </a:r>
          </a:p>
          <a:p>
            <a:pPr indent="287338"/>
            <a:r>
              <a:rPr lang="nl-NL" sz="2200" dirty="0">
                <a:solidFill>
                  <a:srgbClr val="006600"/>
                </a:solidFill>
              </a:rPr>
              <a:t>import</a:t>
            </a:r>
            <a:r>
              <a:rPr lang="nl-NL" sz="2200" dirty="0"/>
              <a:t> </a:t>
            </a:r>
            <a:r>
              <a:rPr lang="nl-NL" sz="2200" dirty="0" err="1"/>
              <a:t>pandas</a:t>
            </a:r>
            <a:r>
              <a:rPr lang="nl-NL" sz="2200" dirty="0"/>
              <a:t> </a:t>
            </a:r>
            <a:r>
              <a:rPr lang="nl-NL" sz="2200" dirty="0">
                <a:solidFill>
                  <a:srgbClr val="006600"/>
                </a:solidFill>
              </a:rPr>
              <a:t>as</a:t>
            </a:r>
            <a:r>
              <a:rPr lang="nl-NL" sz="2200" dirty="0"/>
              <a:t> </a:t>
            </a:r>
            <a:r>
              <a:rPr lang="nl-NL" sz="2200" dirty="0" err="1"/>
              <a:t>pd</a:t>
            </a:r>
            <a:endParaRPr lang="nl-NL" sz="2200" dirty="0"/>
          </a:p>
          <a:p>
            <a:pPr indent="287338"/>
            <a:r>
              <a:rPr lang="nl-NL" sz="2200" dirty="0"/>
              <a:t>data </a:t>
            </a:r>
            <a:r>
              <a:rPr lang="nl-NL" sz="2200" b="1" dirty="0">
                <a:solidFill>
                  <a:srgbClr val="7030A0"/>
                </a:solidFill>
              </a:rPr>
              <a:t>=</a:t>
            </a:r>
            <a:r>
              <a:rPr lang="nl-NL" sz="2200" dirty="0"/>
              <a:t> [[</a:t>
            </a:r>
            <a:r>
              <a:rPr lang="nl-NL" sz="2200" dirty="0">
                <a:solidFill>
                  <a:srgbClr val="C00000"/>
                </a:solidFill>
              </a:rPr>
              <a:t>'Ohio'</a:t>
            </a:r>
            <a:r>
              <a:rPr lang="nl-NL" sz="2200" dirty="0"/>
              <a:t>, </a:t>
            </a:r>
            <a:r>
              <a:rPr lang="nl-NL" sz="2200" dirty="0">
                <a:solidFill>
                  <a:srgbClr val="006600"/>
                </a:solidFill>
              </a:rPr>
              <a:t>2000</a:t>
            </a:r>
            <a:r>
              <a:rPr lang="nl-NL" sz="2200" dirty="0"/>
              <a:t>, </a:t>
            </a:r>
            <a:r>
              <a:rPr lang="nl-NL" sz="2200" dirty="0">
                <a:solidFill>
                  <a:srgbClr val="006600"/>
                </a:solidFill>
              </a:rPr>
              <a:t>1.5</a:t>
            </a:r>
            <a:r>
              <a:rPr lang="nl-NL" sz="2200" dirty="0"/>
              <a:t>], [</a:t>
            </a:r>
            <a:r>
              <a:rPr lang="nl-NL" sz="2200" dirty="0">
                <a:solidFill>
                  <a:srgbClr val="C00000"/>
                </a:solidFill>
              </a:rPr>
              <a:t>'Ohio'</a:t>
            </a:r>
            <a:r>
              <a:rPr lang="nl-NL" sz="2200" dirty="0"/>
              <a:t>, </a:t>
            </a:r>
            <a:r>
              <a:rPr lang="nl-NL" sz="2200" dirty="0">
                <a:solidFill>
                  <a:srgbClr val="006600"/>
                </a:solidFill>
              </a:rPr>
              <a:t>2001</a:t>
            </a:r>
            <a:r>
              <a:rPr lang="nl-NL" sz="2200" dirty="0"/>
              <a:t>, </a:t>
            </a:r>
            <a:r>
              <a:rPr lang="nl-NL" sz="2200" dirty="0">
                <a:solidFill>
                  <a:srgbClr val="006600"/>
                </a:solidFill>
              </a:rPr>
              <a:t>1.7</a:t>
            </a:r>
            <a:r>
              <a:rPr lang="nl-NL" sz="2200" dirty="0"/>
              <a:t>], </a:t>
            </a:r>
          </a:p>
          <a:p>
            <a:pPr indent="287338"/>
            <a:r>
              <a:rPr lang="nl-NL" sz="2200" dirty="0"/>
              <a:t>             [</a:t>
            </a:r>
            <a:r>
              <a:rPr lang="nl-NL" sz="2200" dirty="0">
                <a:solidFill>
                  <a:srgbClr val="C00000"/>
                </a:solidFill>
              </a:rPr>
              <a:t>'Ohio'</a:t>
            </a:r>
            <a:r>
              <a:rPr lang="nl-NL" sz="2200" dirty="0"/>
              <a:t>, </a:t>
            </a:r>
            <a:r>
              <a:rPr lang="nl-NL" sz="2200" dirty="0">
                <a:solidFill>
                  <a:srgbClr val="006600"/>
                </a:solidFill>
              </a:rPr>
              <a:t>2002</a:t>
            </a:r>
            <a:r>
              <a:rPr lang="nl-NL" sz="2200" dirty="0"/>
              <a:t>, </a:t>
            </a:r>
            <a:r>
              <a:rPr lang="nl-NL" sz="2200" dirty="0">
                <a:solidFill>
                  <a:srgbClr val="006600"/>
                </a:solidFill>
              </a:rPr>
              <a:t>3.6</a:t>
            </a:r>
            <a:r>
              <a:rPr lang="nl-NL" sz="2200" dirty="0"/>
              <a:t>], [</a:t>
            </a:r>
            <a:r>
              <a:rPr lang="nl-NL" sz="2200" dirty="0">
                <a:solidFill>
                  <a:srgbClr val="C00000"/>
                </a:solidFill>
              </a:rPr>
              <a:t>'Nevada'</a:t>
            </a:r>
            <a:r>
              <a:rPr lang="nl-NL" sz="2200" dirty="0"/>
              <a:t>, </a:t>
            </a:r>
            <a:r>
              <a:rPr lang="nl-NL" sz="2200" dirty="0">
                <a:solidFill>
                  <a:srgbClr val="006600"/>
                </a:solidFill>
              </a:rPr>
              <a:t>2001</a:t>
            </a:r>
            <a:r>
              <a:rPr lang="nl-NL" sz="2200" dirty="0"/>
              <a:t>, </a:t>
            </a:r>
            <a:r>
              <a:rPr lang="nl-NL" sz="2200" dirty="0">
                <a:solidFill>
                  <a:srgbClr val="006600"/>
                </a:solidFill>
              </a:rPr>
              <a:t>2.4</a:t>
            </a:r>
            <a:r>
              <a:rPr lang="nl-NL" sz="2200" dirty="0"/>
              <a:t>],</a:t>
            </a:r>
          </a:p>
          <a:p>
            <a:pPr indent="287338"/>
            <a:r>
              <a:rPr lang="nl-NL" sz="2200" dirty="0"/>
              <a:t>             [</a:t>
            </a:r>
            <a:r>
              <a:rPr lang="nl-NL" sz="2200" dirty="0">
                <a:solidFill>
                  <a:srgbClr val="C00000"/>
                </a:solidFill>
              </a:rPr>
              <a:t>'Nevada'</a:t>
            </a:r>
            <a:r>
              <a:rPr lang="nl-NL" sz="2200" dirty="0"/>
              <a:t>, </a:t>
            </a:r>
            <a:r>
              <a:rPr lang="nl-NL" sz="2200" dirty="0">
                <a:solidFill>
                  <a:srgbClr val="006600"/>
                </a:solidFill>
              </a:rPr>
              <a:t>2002</a:t>
            </a:r>
            <a:r>
              <a:rPr lang="nl-NL" sz="2200" dirty="0"/>
              <a:t>, </a:t>
            </a:r>
            <a:r>
              <a:rPr lang="nl-NL" sz="2200" dirty="0">
                <a:solidFill>
                  <a:srgbClr val="006600"/>
                </a:solidFill>
              </a:rPr>
              <a:t>2.9</a:t>
            </a:r>
            <a:r>
              <a:rPr lang="nl-NL" sz="2200" dirty="0"/>
              <a:t>], [</a:t>
            </a:r>
            <a:r>
              <a:rPr lang="nl-NL" sz="2200" dirty="0">
                <a:solidFill>
                  <a:srgbClr val="C00000"/>
                </a:solidFill>
              </a:rPr>
              <a:t>'Nevada'</a:t>
            </a:r>
            <a:r>
              <a:rPr lang="nl-NL" sz="2200" dirty="0"/>
              <a:t>, </a:t>
            </a:r>
            <a:r>
              <a:rPr lang="nl-NL" sz="2200" dirty="0">
                <a:solidFill>
                  <a:srgbClr val="006600"/>
                </a:solidFill>
              </a:rPr>
              <a:t>2003</a:t>
            </a:r>
            <a:r>
              <a:rPr lang="nl-NL" sz="2200" dirty="0"/>
              <a:t>, </a:t>
            </a:r>
            <a:r>
              <a:rPr lang="nl-NL" sz="2200" dirty="0">
                <a:solidFill>
                  <a:srgbClr val="006600"/>
                </a:solidFill>
              </a:rPr>
              <a:t>3.2</a:t>
            </a:r>
            <a:r>
              <a:rPr lang="nl-NL" sz="2200" dirty="0"/>
              <a:t>]]</a:t>
            </a:r>
          </a:p>
          <a:p>
            <a:pPr indent="287338"/>
            <a:r>
              <a:rPr lang="nl-NL" sz="2200" dirty="0"/>
              <a:t>cols </a:t>
            </a:r>
            <a:r>
              <a:rPr lang="nl-NL" sz="2200" b="1" dirty="0">
                <a:solidFill>
                  <a:srgbClr val="7030A0"/>
                </a:solidFill>
              </a:rPr>
              <a:t>=</a:t>
            </a:r>
            <a:r>
              <a:rPr lang="nl-NL" sz="2200" dirty="0"/>
              <a:t> [</a:t>
            </a:r>
            <a:r>
              <a:rPr lang="nl-NL" sz="2200" dirty="0">
                <a:solidFill>
                  <a:srgbClr val="C00000"/>
                </a:solidFill>
              </a:rPr>
              <a:t>'State'</a:t>
            </a:r>
            <a:r>
              <a:rPr lang="nl-NL" sz="2200" dirty="0"/>
              <a:t>, </a:t>
            </a:r>
            <a:r>
              <a:rPr lang="nl-NL" sz="2200" dirty="0">
                <a:solidFill>
                  <a:srgbClr val="C00000"/>
                </a:solidFill>
              </a:rPr>
              <a:t>'</a:t>
            </a:r>
            <a:r>
              <a:rPr lang="nl-NL" sz="2200" dirty="0" err="1">
                <a:solidFill>
                  <a:srgbClr val="C00000"/>
                </a:solidFill>
              </a:rPr>
              <a:t>Year</a:t>
            </a:r>
            <a:r>
              <a:rPr lang="nl-NL" sz="2200" dirty="0">
                <a:solidFill>
                  <a:srgbClr val="C00000"/>
                </a:solidFill>
              </a:rPr>
              <a:t>'</a:t>
            </a:r>
            <a:r>
              <a:rPr lang="nl-NL" sz="2200" dirty="0"/>
              <a:t>, </a:t>
            </a:r>
            <a:r>
              <a:rPr lang="nl-NL" sz="2200" dirty="0">
                <a:solidFill>
                  <a:srgbClr val="C00000"/>
                </a:solidFill>
              </a:rPr>
              <a:t>'</a:t>
            </a:r>
            <a:r>
              <a:rPr lang="nl-NL" sz="2200" dirty="0" err="1">
                <a:solidFill>
                  <a:srgbClr val="C00000"/>
                </a:solidFill>
              </a:rPr>
              <a:t>Population</a:t>
            </a:r>
            <a:r>
              <a:rPr lang="nl-NL" sz="2200" dirty="0">
                <a:solidFill>
                  <a:srgbClr val="C00000"/>
                </a:solidFill>
              </a:rPr>
              <a:t>'</a:t>
            </a:r>
            <a:r>
              <a:rPr lang="nl-NL" sz="2200" dirty="0"/>
              <a:t>]</a:t>
            </a:r>
          </a:p>
          <a:p>
            <a:pPr indent="287338"/>
            <a:r>
              <a:rPr lang="nl-NL" sz="2200" dirty="0" err="1"/>
              <a:t>df</a:t>
            </a:r>
            <a:r>
              <a:rPr lang="nl-NL" sz="2200" dirty="0"/>
              <a:t> </a:t>
            </a:r>
            <a:r>
              <a:rPr lang="nl-NL" sz="2200" b="1" dirty="0">
                <a:solidFill>
                  <a:srgbClr val="7030A0"/>
                </a:solidFill>
              </a:rPr>
              <a:t>=</a:t>
            </a:r>
            <a:r>
              <a:rPr lang="nl-NL" sz="2200" dirty="0"/>
              <a:t> </a:t>
            </a:r>
            <a:r>
              <a:rPr lang="nl-NL" sz="2200" dirty="0" err="1"/>
              <a:t>pd.DataFrame</a:t>
            </a:r>
            <a:r>
              <a:rPr lang="nl-NL" sz="2200" dirty="0"/>
              <a:t>(data, columns </a:t>
            </a:r>
            <a:r>
              <a:rPr lang="nl-NL" sz="2200" b="1" dirty="0">
                <a:solidFill>
                  <a:srgbClr val="C00000"/>
                </a:solidFill>
              </a:rPr>
              <a:t>=</a:t>
            </a:r>
            <a:r>
              <a:rPr lang="nl-NL" sz="2200" dirty="0"/>
              <a:t> cols)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F7CB3E-865E-0516-7C74-4707A57A6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0149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49AF56-1968-46FD-BB47-674D6ECA1C21}"/>
              </a:ext>
            </a:extLst>
          </p:cNvPr>
          <p:cNvSpPr/>
          <p:nvPr/>
        </p:nvSpPr>
        <p:spPr>
          <a:xfrm>
            <a:off x="674913" y="1283368"/>
            <a:ext cx="10853057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>
              <a:buFont typeface="Arial" panose="020B0604020202020204" pitchFamily="34" charset="0"/>
              <a:buChar char="•"/>
            </a:pPr>
            <a:r>
              <a:rPr lang="nl-NL" sz="2800" dirty="0"/>
              <a:t>The </a:t>
            </a:r>
            <a:r>
              <a:rPr lang="nl-NL" sz="2800" dirty="0" err="1"/>
              <a:t>simplest</a:t>
            </a:r>
            <a:r>
              <a:rPr lang="nl-NL" sz="2800" dirty="0"/>
              <a:t> way is:</a:t>
            </a:r>
          </a:p>
          <a:p>
            <a:pPr marL="282575" indent="-282575">
              <a:buFont typeface="Arial" panose="020B0604020202020204" pitchFamily="34" charset="0"/>
              <a:buChar char="•"/>
            </a:pPr>
            <a:endParaRPr lang="nl-NL" sz="2800" dirty="0"/>
          </a:p>
          <a:p>
            <a:pPr marL="282575" indent="-282575">
              <a:buFont typeface="Arial" panose="020B0604020202020204" pitchFamily="34" charset="0"/>
              <a:buChar char="•"/>
            </a:pPr>
            <a:endParaRPr lang="nl-NL" sz="2800" dirty="0"/>
          </a:p>
          <a:p>
            <a:r>
              <a:rPr lang="nl-NL" dirty="0"/>
              <a:t>	</a:t>
            </a:r>
            <a:endParaRPr lang="nl-NL" sz="2200" dirty="0">
              <a:solidFill>
                <a:schemeClr val="bg1"/>
              </a:solidFill>
            </a:endParaRPr>
          </a:p>
          <a:p>
            <a:endParaRPr lang="nl-NL" dirty="0">
              <a:solidFill>
                <a:schemeClr val="bg1"/>
              </a:solidFill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nl-NL" sz="2800" dirty="0"/>
              <a:t>More options </a:t>
            </a:r>
            <a:r>
              <a:rPr lang="nl-NL" sz="2800" dirty="0" err="1"/>
              <a:t>can</a:t>
            </a:r>
            <a:r>
              <a:rPr lang="nl-NL" sz="2800" dirty="0"/>
              <a:t> </a:t>
            </a:r>
            <a:r>
              <a:rPr lang="nl-NL" sz="2800" dirty="0" err="1"/>
              <a:t>be</a:t>
            </a:r>
            <a:r>
              <a:rPr lang="nl-NL" sz="2800" dirty="0"/>
              <a:t> </a:t>
            </a:r>
            <a:r>
              <a:rPr lang="nl-NL" sz="2800" dirty="0" err="1"/>
              <a:t>added</a:t>
            </a:r>
            <a:r>
              <a:rPr lang="nl-NL" sz="2800" dirty="0"/>
              <a:t> </a:t>
            </a:r>
            <a:r>
              <a:rPr lang="nl-NL" sz="2800" dirty="0" err="1"/>
              <a:t>when</a:t>
            </a:r>
            <a:r>
              <a:rPr lang="nl-NL" sz="2800" dirty="0"/>
              <a:t> </a:t>
            </a:r>
            <a:r>
              <a:rPr lang="nl-NL" sz="2800" dirty="0" err="1"/>
              <a:t>loading</a:t>
            </a:r>
            <a:r>
              <a:rPr lang="nl-NL" sz="2800" dirty="0"/>
              <a:t> a </a:t>
            </a:r>
            <a:r>
              <a:rPr lang="nl-NL" sz="2800" dirty="0" err="1"/>
              <a:t>csv</a:t>
            </a:r>
            <a:r>
              <a:rPr lang="nl-NL" sz="2800" dirty="0"/>
              <a:t> file </a:t>
            </a:r>
            <a:r>
              <a:rPr lang="nl-NL" sz="2800" dirty="0" err="1"/>
              <a:t>into</a:t>
            </a:r>
            <a:r>
              <a:rPr lang="nl-NL" sz="2800" dirty="0"/>
              <a:t> a dataframe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nl-NL" sz="2800" dirty="0"/>
          </a:p>
          <a:p>
            <a:pPr lvl="2"/>
            <a:endParaRPr lang="nl-NL" sz="2200" dirty="0"/>
          </a:p>
          <a:p>
            <a:pPr lvl="2"/>
            <a:endParaRPr lang="nl-NL" sz="2200" dirty="0"/>
          </a:p>
          <a:p>
            <a:pPr lvl="2"/>
            <a:endParaRPr lang="nl-NL" sz="2200" dirty="0"/>
          </a:p>
          <a:p>
            <a:pPr lvl="2"/>
            <a:endParaRPr lang="nl-NL" sz="2200" dirty="0"/>
          </a:p>
          <a:p>
            <a:pPr marL="228600" lvl="2" indent="-228600">
              <a:buFont typeface="Arial" panose="020B0604020202020204" pitchFamily="34" charset="0"/>
              <a:buChar char="•"/>
            </a:pPr>
            <a:r>
              <a:rPr lang="nl-NL" sz="2800" dirty="0"/>
              <a:t>More options </a:t>
            </a:r>
            <a:r>
              <a:rPr lang="nl-NL" sz="2800" dirty="0" err="1"/>
              <a:t>can</a:t>
            </a:r>
            <a:r>
              <a:rPr lang="nl-NL" sz="2800" dirty="0"/>
              <a:t> </a:t>
            </a:r>
            <a:r>
              <a:rPr lang="nl-NL" sz="2800" dirty="0" err="1"/>
              <a:t>be</a:t>
            </a:r>
            <a:r>
              <a:rPr lang="nl-NL" sz="2800" dirty="0"/>
              <a:t> found in </a:t>
            </a:r>
            <a:r>
              <a:rPr lang="nl-NL" sz="2800" dirty="0" err="1"/>
              <a:t>Pandas</a:t>
            </a:r>
            <a:r>
              <a:rPr lang="nl-NL" sz="2800" dirty="0"/>
              <a:t> </a:t>
            </a:r>
            <a:r>
              <a:rPr lang="nl-NL" sz="2800" dirty="0" err="1"/>
              <a:t>documentation</a:t>
            </a:r>
            <a:endParaRPr lang="nl-NL" sz="2800" dirty="0"/>
          </a:p>
          <a:p>
            <a:pPr marL="228600" lvl="2" indent="-228600">
              <a:buFont typeface="Arial" panose="020B0604020202020204" pitchFamily="34" charset="0"/>
              <a:buChar char="•"/>
            </a:pPr>
            <a:r>
              <a:rPr lang="nl-NL" sz="2800" dirty="0" err="1"/>
              <a:t>Remeber</a:t>
            </a:r>
            <a:r>
              <a:rPr lang="nl-NL" sz="2800" dirty="0"/>
              <a:t> </a:t>
            </a:r>
            <a:r>
              <a:rPr lang="nl-NL" sz="2800" dirty="0" err="1"/>
              <a:t>to</a:t>
            </a:r>
            <a:r>
              <a:rPr lang="nl-NL" sz="2800" dirty="0"/>
              <a:t> import </a:t>
            </a:r>
            <a:r>
              <a:rPr lang="nl-NL" sz="2800" dirty="0" err="1"/>
              <a:t>the</a:t>
            </a:r>
            <a:r>
              <a:rPr lang="nl-NL" sz="2800" dirty="0"/>
              <a:t> </a:t>
            </a:r>
            <a:r>
              <a:rPr lang="nl-NL" sz="2800" dirty="0" err="1"/>
              <a:t>Pandas</a:t>
            </a:r>
            <a:r>
              <a:rPr lang="nl-NL" sz="2800" dirty="0"/>
              <a:t> </a:t>
            </a:r>
            <a:r>
              <a:rPr lang="nl-NL" sz="2800" dirty="0" err="1"/>
              <a:t>library</a:t>
            </a:r>
            <a:r>
              <a:rPr lang="nl-NL" sz="2800" dirty="0"/>
              <a:t> as </a:t>
            </a:r>
            <a:r>
              <a:rPr lang="nl-NL" sz="2800" dirty="0" err="1"/>
              <a:t>pd</a:t>
            </a:r>
            <a:endParaRPr lang="nl-NL" sz="2800" dirty="0"/>
          </a:p>
          <a:p>
            <a:pPr lvl="2"/>
            <a:endParaRPr lang="nl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CSV Files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65280F4-9B29-481B-84A2-6790DEFCE27F}"/>
              </a:ext>
            </a:extLst>
          </p:cNvPr>
          <p:cNvSpPr/>
          <p:nvPr/>
        </p:nvSpPr>
        <p:spPr>
          <a:xfrm>
            <a:off x="1030924" y="1972244"/>
            <a:ext cx="7982447" cy="82809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9538" lvl="2" indent="354013"/>
            <a:r>
              <a:rPr lang="nl-NL" sz="2200" dirty="0" err="1">
                <a:solidFill>
                  <a:schemeClr val="tx1"/>
                </a:solidFill>
              </a:rPr>
              <a:t>df</a:t>
            </a:r>
            <a:r>
              <a:rPr lang="nl-NL" sz="2200" dirty="0">
                <a:solidFill>
                  <a:schemeClr val="tx1"/>
                </a:solidFill>
              </a:rPr>
              <a:t> = </a:t>
            </a:r>
            <a:r>
              <a:rPr lang="nl-NL" sz="2200" dirty="0" err="1">
                <a:solidFill>
                  <a:schemeClr val="tx1"/>
                </a:solidFill>
              </a:rPr>
              <a:t>pd.read_csv</a:t>
            </a:r>
            <a:r>
              <a:rPr lang="nl-NL" sz="2200" dirty="0">
                <a:solidFill>
                  <a:schemeClr val="tx1"/>
                </a:solidFill>
              </a:rPr>
              <a:t>('file.csv’)	# </a:t>
            </a:r>
            <a:r>
              <a:rPr lang="nl-NL" sz="2200" dirty="0" err="1">
                <a:solidFill>
                  <a:schemeClr val="tx1"/>
                </a:solidFill>
              </a:rPr>
              <a:t>often</a:t>
            </a:r>
            <a:r>
              <a:rPr lang="nl-NL" sz="2200" dirty="0">
                <a:solidFill>
                  <a:schemeClr val="tx1"/>
                </a:solidFill>
              </a:rPr>
              <a:t> </a:t>
            </a:r>
            <a:r>
              <a:rPr lang="nl-NL" sz="2200" dirty="0" err="1">
                <a:solidFill>
                  <a:schemeClr val="tx1"/>
                </a:solidFill>
              </a:rPr>
              <a:t>works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4E7303-01C8-4896-97F0-232D0178D11A}"/>
              </a:ext>
            </a:extLst>
          </p:cNvPr>
          <p:cNvSpPr/>
          <p:nvPr/>
        </p:nvSpPr>
        <p:spPr>
          <a:xfrm>
            <a:off x="1030923" y="3858976"/>
            <a:ext cx="7982448" cy="137400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indent="-450850"/>
            <a:r>
              <a:rPr lang="nl-NL" sz="2200" dirty="0" err="1">
                <a:solidFill>
                  <a:schemeClr val="tx1"/>
                </a:solidFill>
              </a:rPr>
              <a:t>df</a:t>
            </a:r>
            <a:r>
              <a:rPr lang="nl-NL" sz="2200" dirty="0">
                <a:solidFill>
                  <a:schemeClr val="tx1"/>
                </a:solidFill>
              </a:rPr>
              <a:t> = </a:t>
            </a:r>
            <a:r>
              <a:rPr lang="nl-NL" sz="2200" dirty="0" err="1">
                <a:solidFill>
                  <a:schemeClr val="tx1"/>
                </a:solidFill>
              </a:rPr>
              <a:t>pd.read_csv</a:t>
            </a:r>
            <a:r>
              <a:rPr lang="nl-NL" sz="2200" dirty="0">
                <a:solidFill>
                  <a:schemeClr val="tx1"/>
                </a:solidFill>
              </a:rPr>
              <a:t>('movies.csv', header=0,</a:t>
            </a:r>
          </a:p>
          <a:p>
            <a:pPr lvl="2" indent="-450850"/>
            <a:r>
              <a:rPr lang="nl-NL" sz="2200" dirty="0">
                <a:solidFill>
                  <a:schemeClr val="tx1"/>
                </a:solidFill>
              </a:rPr>
              <a:t>    </a:t>
            </a:r>
            <a:r>
              <a:rPr lang="nl-NL" sz="2200" dirty="0" err="1">
                <a:solidFill>
                  <a:schemeClr val="tx1"/>
                </a:solidFill>
              </a:rPr>
              <a:t>index_col</a:t>
            </a:r>
            <a:r>
              <a:rPr lang="nl-NL" sz="2200" dirty="0">
                <a:solidFill>
                  <a:schemeClr val="tx1"/>
                </a:solidFill>
              </a:rPr>
              <a:t>=0, </a:t>
            </a:r>
            <a:r>
              <a:rPr lang="nl-NL" sz="2200" dirty="0" err="1">
                <a:solidFill>
                  <a:schemeClr val="tx1"/>
                </a:solidFill>
              </a:rPr>
              <a:t>quotechar</a:t>
            </a:r>
            <a:r>
              <a:rPr lang="nl-NL" sz="2200" dirty="0">
                <a:solidFill>
                  <a:schemeClr val="tx1"/>
                </a:solidFill>
              </a:rPr>
              <a:t>='"',sep=",",</a:t>
            </a:r>
          </a:p>
          <a:p>
            <a:pPr lvl="2" indent="-450850"/>
            <a:r>
              <a:rPr lang="nl-NL" sz="2200" dirty="0">
                <a:solidFill>
                  <a:schemeClr val="tx1"/>
                </a:solidFill>
              </a:rPr>
              <a:t>    </a:t>
            </a:r>
            <a:r>
              <a:rPr lang="nl-NL" sz="2200" dirty="0" err="1">
                <a:solidFill>
                  <a:schemeClr val="tx1"/>
                </a:solidFill>
              </a:rPr>
              <a:t>na_values</a:t>
            </a:r>
            <a:r>
              <a:rPr lang="nl-NL" sz="2200" dirty="0">
                <a:solidFill>
                  <a:schemeClr val="tx1"/>
                </a:solidFill>
              </a:rPr>
              <a:t> = ['na', '-', '.', ‘’])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EA8834-2C23-E703-1FA3-517D6A8EB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10338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659122" y="1283368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 err="1"/>
              <a:t>Each</a:t>
            </a:r>
            <a:r>
              <a:rPr lang="nl-NL" dirty="0"/>
              <a:t> Excel sheet in a Python </a:t>
            </a:r>
            <a:r>
              <a:rPr lang="nl-NL" dirty="0" err="1"/>
              <a:t>dictionary</a:t>
            </a:r>
            <a:endParaRPr lang="nl-NL" dirty="0"/>
          </a:p>
          <a:p>
            <a:endParaRPr lang="nl-NL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endParaRPr lang="nl-NL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endParaRPr lang="nl-NL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endParaRPr lang="nl-NL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endParaRPr lang="nl-NL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The parse() method takes many arguments like </a:t>
            </a:r>
            <a:r>
              <a:rPr lang="en-US" dirty="0" err="1"/>
              <a:t>read_csv</a:t>
            </a:r>
            <a:r>
              <a:rPr lang="en-US" dirty="0"/>
              <a:t>().</a:t>
            </a:r>
          </a:p>
          <a:p>
            <a:r>
              <a:rPr lang="en-US" dirty="0"/>
              <a:t> Refer to the Pandas documentation for more options</a:t>
            </a:r>
            <a:endParaRPr lang="nl-NL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endParaRPr lang="en-US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127EE7-3677-499D-8B2C-BAC123BE49B7}"/>
              </a:ext>
            </a:extLst>
          </p:cNvPr>
          <p:cNvSpPr/>
          <p:nvPr/>
        </p:nvSpPr>
        <p:spPr>
          <a:xfrm>
            <a:off x="1017278" y="1915103"/>
            <a:ext cx="8411730" cy="217922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3550" lvl="2"/>
            <a:r>
              <a:rPr lang="nl-NL" sz="2200" dirty="0" err="1">
                <a:solidFill>
                  <a:schemeClr val="tx1"/>
                </a:solidFill>
              </a:rPr>
              <a:t>workbook</a:t>
            </a:r>
            <a:r>
              <a:rPr lang="nl-NL" sz="2200" dirty="0">
                <a:solidFill>
                  <a:schemeClr val="tx1"/>
                </a:solidFill>
              </a:rPr>
              <a:t> = </a:t>
            </a:r>
            <a:r>
              <a:rPr lang="nl-NL" sz="2200" dirty="0" err="1">
                <a:solidFill>
                  <a:schemeClr val="tx1"/>
                </a:solidFill>
              </a:rPr>
              <a:t>pd.ExcelFile</a:t>
            </a:r>
            <a:r>
              <a:rPr lang="nl-NL" sz="2200" dirty="0">
                <a:solidFill>
                  <a:schemeClr val="tx1"/>
                </a:solidFill>
              </a:rPr>
              <a:t>('file.xlsx')</a:t>
            </a:r>
          </a:p>
          <a:p>
            <a:pPr marL="463550" lvl="2"/>
            <a:r>
              <a:rPr lang="nl-NL" sz="2200" dirty="0" err="1">
                <a:solidFill>
                  <a:schemeClr val="tx1"/>
                </a:solidFill>
              </a:rPr>
              <a:t>dictionary</a:t>
            </a:r>
            <a:r>
              <a:rPr lang="nl-NL" sz="2200" dirty="0">
                <a:solidFill>
                  <a:schemeClr val="tx1"/>
                </a:solidFill>
              </a:rPr>
              <a:t> = {}</a:t>
            </a:r>
          </a:p>
          <a:p>
            <a:pPr marL="463550" lvl="2"/>
            <a:r>
              <a:rPr lang="nl-NL" sz="2200" dirty="0" err="1">
                <a:solidFill>
                  <a:schemeClr val="tx1"/>
                </a:solidFill>
              </a:rPr>
              <a:t>for</a:t>
            </a:r>
            <a:r>
              <a:rPr lang="nl-NL" sz="2200" dirty="0">
                <a:solidFill>
                  <a:schemeClr val="tx1"/>
                </a:solidFill>
              </a:rPr>
              <a:t> </a:t>
            </a:r>
            <a:r>
              <a:rPr lang="nl-NL" sz="2200" dirty="0" err="1">
                <a:solidFill>
                  <a:schemeClr val="tx1"/>
                </a:solidFill>
              </a:rPr>
              <a:t>sheet_name</a:t>
            </a:r>
            <a:r>
              <a:rPr lang="nl-NL" sz="2200" dirty="0">
                <a:solidFill>
                  <a:schemeClr val="tx1"/>
                </a:solidFill>
              </a:rPr>
              <a:t> in </a:t>
            </a:r>
            <a:r>
              <a:rPr lang="nl-NL" sz="2200" dirty="0" err="1">
                <a:solidFill>
                  <a:schemeClr val="tx1"/>
                </a:solidFill>
              </a:rPr>
              <a:t>workbook.sheet_names</a:t>
            </a:r>
            <a:r>
              <a:rPr lang="nl-NL" sz="2200" dirty="0">
                <a:solidFill>
                  <a:schemeClr val="tx1"/>
                </a:solidFill>
              </a:rPr>
              <a:t>:</a:t>
            </a:r>
          </a:p>
          <a:p>
            <a:pPr marL="463550" lvl="2"/>
            <a:r>
              <a:rPr lang="nl-NL" sz="2200" dirty="0">
                <a:solidFill>
                  <a:schemeClr val="tx1"/>
                </a:solidFill>
              </a:rPr>
              <a:t>	</a:t>
            </a:r>
            <a:r>
              <a:rPr lang="nl-NL" sz="2200" dirty="0" err="1">
                <a:solidFill>
                  <a:schemeClr val="tx1"/>
                </a:solidFill>
              </a:rPr>
              <a:t>df</a:t>
            </a:r>
            <a:r>
              <a:rPr lang="nl-NL" sz="2200" dirty="0">
                <a:solidFill>
                  <a:schemeClr val="tx1"/>
                </a:solidFill>
              </a:rPr>
              <a:t> = </a:t>
            </a:r>
            <a:r>
              <a:rPr lang="nl-NL" sz="2200" dirty="0" err="1">
                <a:solidFill>
                  <a:schemeClr val="tx1"/>
                </a:solidFill>
              </a:rPr>
              <a:t>workbook.parse</a:t>
            </a:r>
            <a:r>
              <a:rPr lang="nl-NL" sz="2200" dirty="0">
                <a:solidFill>
                  <a:schemeClr val="tx1"/>
                </a:solidFill>
              </a:rPr>
              <a:t>(</a:t>
            </a:r>
            <a:r>
              <a:rPr lang="nl-NL" sz="2200" dirty="0" err="1">
                <a:solidFill>
                  <a:schemeClr val="tx1"/>
                </a:solidFill>
              </a:rPr>
              <a:t>sheet_name</a:t>
            </a:r>
            <a:r>
              <a:rPr lang="nl-NL" sz="2200" dirty="0">
                <a:solidFill>
                  <a:schemeClr val="tx1"/>
                </a:solidFill>
              </a:rPr>
              <a:t>)</a:t>
            </a:r>
          </a:p>
          <a:p>
            <a:pPr marL="463550" lvl="2"/>
            <a:r>
              <a:rPr lang="nl-NL" sz="2200" dirty="0">
                <a:solidFill>
                  <a:schemeClr val="tx1"/>
                </a:solidFill>
              </a:rPr>
              <a:t>	</a:t>
            </a:r>
            <a:r>
              <a:rPr lang="nl-NL" sz="2200" dirty="0" err="1">
                <a:solidFill>
                  <a:schemeClr val="tx1"/>
                </a:solidFill>
              </a:rPr>
              <a:t>dictionary</a:t>
            </a:r>
            <a:r>
              <a:rPr lang="nl-NL" sz="2200" dirty="0">
                <a:solidFill>
                  <a:schemeClr val="tx1"/>
                </a:solidFill>
              </a:rPr>
              <a:t>[</a:t>
            </a:r>
            <a:r>
              <a:rPr lang="nl-NL" sz="2200" dirty="0" err="1">
                <a:solidFill>
                  <a:schemeClr val="tx1"/>
                </a:solidFill>
              </a:rPr>
              <a:t>sheet_name</a:t>
            </a:r>
            <a:r>
              <a:rPr lang="nl-NL" sz="2200" dirty="0">
                <a:solidFill>
                  <a:schemeClr val="tx1"/>
                </a:solidFill>
              </a:rPr>
              <a:t>] = </a:t>
            </a:r>
            <a:r>
              <a:rPr lang="nl-NL" sz="2200" dirty="0" err="1">
                <a:solidFill>
                  <a:schemeClr val="tx1"/>
                </a:solidFill>
              </a:rPr>
              <a:t>df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EXCEL Files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44095F-89C9-E3A7-FFDD-CA8FEB08D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52475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F3AEB58D-3347-5241-AD0D-C01C5072C924}"/>
              </a:ext>
            </a:extLst>
          </p:cNvPr>
          <p:cNvGrpSpPr/>
          <p:nvPr/>
        </p:nvGrpSpPr>
        <p:grpSpPr>
          <a:xfrm>
            <a:off x="811659" y="1500025"/>
            <a:ext cx="10109771" cy="4335693"/>
            <a:chOff x="832207" y="986317"/>
            <a:chExt cx="10109771" cy="433569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4B7DF34-C449-5E4F-BBD9-E60ACE02610D}"/>
                </a:ext>
              </a:extLst>
            </p:cNvPr>
            <p:cNvSpPr/>
            <p:nvPr/>
          </p:nvSpPr>
          <p:spPr>
            <a:xfrm>
              <a:off x="8034391" y="2434973"/>
              <a:ext cx="2907587" cy="2887037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" name="Picture 1" descr="A picture containing cup, mug&#10;&#10;Description automatically generated">
              <a:extLst>
                <a:ext uri="{FF2B5EF4-FFF2-40B4-BE49-F238E27FC236}">
                  <a16:creationId xmlns:a16="http://schemas.microsoft.com/office/drawing/2014/main" id="{89AEEF57-F0C2-7B4A-A92C-8A217E1D0B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97" t="12222" r="9140" b="13334"/>
            <a:stretch/>
          </p:blipFill>
          <p:spPr>
            <a:xfrm>
              <a:off x="8744634" y="3781039"/>
              <a:ext cx="593371" cy="736220"/>
            </a:xfrm>
            <a:prstGeom prst="rect">
              <a:avLst/>
            </a:prstGeom>
          </p:spPr>
        </p:pic>
        <p:pic>
          <p:nvPicPr>
            <p:cNvPr id="3" name="Picture 2" descr="A close up of a logo&#10;&#10;Description automatically generated">
              <a:extLst>
                <a:ext uri="{FF2B5EF4-FFF2-40B4-BE49-F238E27FC236}">
                  <a16:creationId xmlns:a16="http://schemas.microsoft.com/office/drawing/2014/main" id="{7966B514-C8EF-5D49-BB78-A21A99E786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17" t="14179" r="20052" b="2239"/>
            <a:stretch/>
          </p:blipFill>
          <p:spPr>
            <a:xfrm>
              <a:off x="8525268" y="2919062"/>
              <a:ext cx="1292181" cy="854870"/>
            </a:xfrm>
            <a:prstGeom prst="rect">
              <a:avLst/>
            </a:prstGeom>
          </p:spPr>
        </p:pic>
        <p:pic>
          <p:nvPicPr>
            <p:cNvPr id="4" name="Picture 3" descr="A picture containing mug, cup, table&#10;&#10;Description automatically generated">
              <a:extLst>
                <a:ext uri="{FF2B5EF4-FFF2-40B4-BE49-F238E27FC236}">
                  <a16:creationId xmlns:a16="http://schemas.microsoft.com/office/drawing/2014/main" id="{148AD1B1-A55A-A441-AA5D-6D111667F0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910" t="10645" r="9205" b="5555"/>
            <a:stretch/>
          </p:blipFill>
          <p:spPr>
            <a:xfrm>
              <a:off x="9557371" y="3530692"/>
              <a:ext cx="1159798" cy="986567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2DAB4F9-75B2-944B-AA48-2EF28AB12BE7}"/>
                </a:ext>
              </a:extLst>
            </p:cNvPr>
            <p:cNvSpPr/>
            <p:nvPr/>
          </p:nvSpPr>
          <p:spPr>
            <a:xfrm>
              <a:off x="4640495" y="3041148"/>
              <a:ext cx="1938390" cy="1808252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59939B3-22AF-8B4F-A6D6-0272D3CD903E}"/>
                </a:ext>
              </a:extLst>
            </p:cNvPr>
            <p:cNvSpPr txBox="1"/>
            <p:nvPr/>
          </p:nvSpPr>
          <p:spPr>
            <a:xfrm>
              <a:off x="4863101" y="3483609"/>
              <a:ext cx="149317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DBMS Connector</a:t>
              </a:r>
            </a:p>
            <a:p>
              <a:pPr algn="ctr"/>
              <a:r>
                <a:rPr lang="en-US" dirty="0"/>
                <a:t>(Python) 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586E61D-EA31-EC4A-B25B-03893CE09BFB}"/>
                </a:ext>
              </a:extLst>
            </p:cNvPr>
            <p:cNvGrpSpPr/>
            <p:nvPr/>
          </p:nvGrpSpPr>
          <p:grpSpPr>
            <a:xfrm>
              <a:off x="4873375" y="986317"/>
              <a:ext cx="1493178" cy="1448657"/>
              <a:chOff x="4976115" y="236306"/>
              <a:chExt cx="1493178" cy="1448657"/>
            </a:xfrm>
          </p:grpSpPr>
          <p:sp>
            <p:nvSpPr>
              <p:cNvPr id="8" name="Can 7">
                <a:extLst>
                  <a:ext uri="{FF2B5EF4-FFF2-40B4-BE49-F238E27FC236}">
                    <a16:creationId xmlns:a16="http://schemas.microsoft.com/office/drawing/2014/main" id="{05807525-EC3A-924A-B8E5-5A804900B110}"/>
                  </a:ext>
                </a:extLst>
              </p:cNvPr>
              <p:cNvSpPr/>
              <p:nvPr/>
            </p:nvSpPr>
            <p:spPr>
              <a:xfrm>
                <a:off x="4976116" y="236306"/>
                <a:ext cx="1493177" cy="1448656"/>
              </a:xfrm>
              <a:prstGeom prst="can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67FE040-A7D5-1B44-A21C-466945CD634B}"/>
                  </a:ext>
                </a:extLst>
              </p:cNvPr>
              <p:cNvSpPr/>
              <p:nvPr/>
            </p:nvSpPr>
            <p:spPr>
              <a:xfrm>
                <a:off x="4976115" y="1366801"/>
                <a:ext cx="1493177" cy="318162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37A3E22-F4B5-234A-9A0A-AADA16377FF4}"/>
                </a:ext>
              </a:extLst>
            </p:cNvPr>
            <p:cNvSpPr txBox="1"/>
            <p:nvPr/>
          </p:nvSpPr>
          <p:spPr>
            <a:xfrm>
              <a:off x="5008650" y="1387479"/>
              <a:ext cx="12226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Python DB  API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3E5CEF1-6806-FE42-B7FC-AF622E53BED8}"/>
                </a:ext>
              </a:extLst>
            </p:cNvPr>
            <p:cNvSpPr/>
            <p:nvPr/>
          </p:nvSpPr>
          <p:spPr>
            <a:xfrm>
              <a:off x="832207" y="3123341"/>
              <a:ext cx="1602768" cy="1393918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F18AA69-0A61-6C40-B159-F3988AAD4439}"/>
                </a:ext>
              </a:extLst>
            </p:cNvPr>
            <p:cNvSpPr txBox="1"/>
            <p:nvPr/>
          </p:nvSpPr>
          <p:spPr>
            <a:xfrm>
              <a:off x="985098" y="3483609"/>
              <a:ext cx="14498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Python Application 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88B7DC6-2A9D-5E4E-A5F8-4818D4894C95}"/>
                </a:ext>
              </a:extLst>
            </p:cNvPr>
            <p:cNvCxnSpPr>
              <a:endCxn id="6" idx="1"/>
            </p:cNvCxnSpPr>
            <p:nvPr/>
          </p:nvCxnSpPr>
          <p:spPr>
            <a:xfrm flipV="1">
              <a:off x="2434975" y="3305960"/>
              <a:ext cx="2489391" cy="4053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D7F2BC2-AE21-F845-B758-565206A4BE9E}"/>
                </a:ext>
              </a:extLst>
            </p:cNvPr>
            <p:cNvSpPr txBox="1"/>
            <p:nvPr/>
          </p:nvSpPr>
          <p:spPr>
            <a:xfrm>
              <a:off x="2524018" y="3010596"/>
              <a:ext cx="23390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/>
                <a:t>DBMSX.connector.connect</a:t>
              </a:r>
              <a:r>
                <a:rPr lang="en-US" sz="1400" dirty="0"/>
                <a:t>()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3DEA2E1-3060-0748-BF31-64A999179BDB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 flipV="1">
              <a:off x="2434975" y="3945274"/>
              <a:ext cx="2205520" cy="73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A357A6C-86F9-C14A-8E4A-FC29E51D8FAA}"/>
                </a:ext>
              </a:extLst>
            </p:cNvPr>
            <p:cNvSpPr txBox="1"/>
            <p:nvPr/>
          </p:nvSpPr>
          <p:spPr>
            <a:xfrm>
              <a:off x="2434976" y="3644894"/>
              <a:ext cx="19383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/>
                <a:t>connection.cursor</a:t>
              </a:r>
              <a:r>
                <a:rPr lang="en-US" sz="1400" dirty="0"/>
                <a:t>()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6C8620E-A567-0640-9B9E-202562B319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6024" y="4428337"/>
              <a:ext cx="2331185" cy="359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554C4A-2B5A-8E4A-9117-0931D8E49A3E}"/>
                </a:ext>
              </a:extLst>
            </p:cNvPr>
            <p:cNvSpPr txBox="1"/>
            <p:nvPr/>
          </p:nvSpPr>
          <p:spPr>
            <a:xfrm>
              <a:off x="2436025" y="4124150"/>
              <a:ext cx="19383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/>
                <a:t>Cursor.execute</a:t>
              </a:r>
              <a:r>
                <a:rPr lang="en-US" sz="1400" dirty="0"/>
                <a:t>()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E279FB4-91C0-3D4E-A6F8-C45DDC7445C3}"/>
                </a:ext>
              </a:extLst>
            </p:cNvPr>
            <p:cNvCxnSpPr>
              <a:cxnSpLocks/>
              <a:endCxn id="9" idx="4"/>
            </p:cNvCxnSpPr>
            <p:nvPr/>
          </p:nvCxnSpPr>
          <p:spPr>
            <a:xfrm flipV="1">
              <a:off x="5609689" y="2434974"/>
              <a:ext cx="10275" cy="58884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7FBE690-BCDB-7441-B7B0-A89CDEF791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4879" y="3125136"/>
              <a:ext cx="2211844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2253D92-224D-6944-95C3-3D753855E354}"/>
                </a:ext>
              </a:extLst>
            </p:cNvPr>
            <p:cNvSpPr txBox="1"/>
            <p:nvPr/>
          </p:nvSpPr>
          <p:spPr>
            <a:xfrm>
              <a:off x="6231275" y="2775365"/>
              <a:ext cx="19383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Connection request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AF10CF5-DA5C-5D4D-8E3A-08014333A498}"/>
                </a:ext>
              </a:extLst>
            </p:cNvPr>
            <p:cNvCxnSpPr>
              <a:cxnSpLocks/>
              <a:stCxn id="6" idx="6"/>
            </p:cNvCxnSpPr>
            <p:nvPr/>
          </p:nvCxnSpPr>
          <p:spPr>
            <a:xfrm>
              <a:off x="6578885" y="3945274"/>
              <a:ext cx="1491593" cy="41305"/>
            </a:xfrm>
            <a:prstGeom prst="straightConnector1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F1DB647-D58E-0F43-B5D7-AC936EF5C75F}"/>
                </a:ext>
              </a:extLst>
            </p:cNvPr>
            <p:cNvSpPr txBox="1"/>
            <p:nvPr/>
          </p:nvSpPr>
          <p:spPr>
            <a:xfrm>
              <a:off x="6711720" y="3652885"/>
              <a:ext cx="13780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Connected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4AE2215-01FC-D74E-9E94-9E3E0EBAEA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8000" y="4739933"/>
              <a:ext cx="2211844" cy="1"/>
            </a:xfrm>
            <a:prstGeom prst="straightConnector1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9DE024B-5D6C-3A4C-B13A-6D53D90272CE}"/>
                </a:ext>
              </a:extLst>
            </p:cNvPr>
            <p:cNvSpPr txBox="1"/>
            <p:nvPr/>
          </p:nvSpPr>
          <p:spPr>
            <a:xfrm>
              <a:off x="6928711" y="4432156"/>
              <a:ext cx="13645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Results</a:t>
              </a:r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26B4F5C-FF7D-871E-6FD1-E7BF721A3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3764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659122" y="1187354"/>
            <a:ext cx="10515600" cy="5104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Create Connector/Python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MySQL</a:t>
            </a:r>
            <a:endParaRPr lang="nl-NL" dirty="0"/>
          </a:p>
          <a:p>
            <a:endParaRPr lang="nl-NL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endParaRPr lang="nl-NL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endParaRPr lang="nl-NL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r>
              <a:rPr lang="nl-NL" altLang="nl-NL" dirty="0"/>
              <a:t>Create SQL query as a string </a:t>
            </a:r>
            <a:r>
              <a:rPr lang="nl-NL" altLang="nl-NL" dirty="0" err="1"/>
              <a:t>and</a:t>
            </a:r>
            <a:r>
              <a:rPr lang="nl-NL" altLang="nl-NL" dirty="0"/>
              <a:t> </a:t>
            </a:r>
            <a:r>
              <a:rPr lang="nl-NL" altLang="nl-NL" dirty="0" err="1"/>
              <a:t>send</a:t>
            </a:r>
            <a:r>
              <a:rPr lang="nl-NL" altLang="nl-NL" dirty="0"/>
              <a:t> </a:t>
            </a:r>
            <a:r>
              <a:rPr lang="nl-NL" altLang="nl-NL" dirty="0" err="1"/>
              <a:t>the</a:t>
            </a:r>
            <a:r>
              <a:rPr lang="nl-NL" altLang="nl-NL" dirty="0"/>
              <a:t> query </a:t>
            </a:r>
            <a:r>
              <a:rPr lang="nl-NL" altLang="nl-NL" dirty="0" err="1"/>
              <a:t>to</a:t>
            </a:r>
            <a:r>
              <a:rPr lang="nl-NL" altLang="nl-NL" dirty="0"/>
              <a:t> </a:t>
            </a:r>
            <a:r>
              <a:rPr lang="nl-NL" altLang="nl-NL" dirty="0" err="1"/>
              <a:t>the</a:t>
            </a:r>
            <a:r>
              <a:rPr lang="nl-NL" altLang="nl-NL" dirty="0"/>
              <a:t> DBMS</a:t>
            </a:r>
          </a:p>
          <a:p>
            <a:endParaRPr lang="en-US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endParaRPr lang="en-US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r>
              <a:rPr lang="en-US" altLang="nl-NL" dirty="0"/>
              <a:t>Process the results of the query and close the connection</a:t>
            </a:r>
          </a:p>
          <a:p>
            <a:endParaRPr lang="en-US" altLang="nl-NL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127EE7-3677-499D-8B2C-BAC123BE49B7}"/>
              </a:ext>
            </a:extLst>
          </p:cNvPr>
          <p:cNvSpPr/>
          <p:nvPr/>
        </p:nvSpPr>
        <p:spPr>
          <a:xfrm>
            <a:off x="1017276" y="1697705"/>
            <a:ext cx="9450555" cy="151796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33463" lvl="2" indent="-569913"/>
            <a:r>
              <a:rPr lang="nl-NL" sz="2200" dirty="0" err="1">
                <a:solidFill>
                  <a:schemeClr val="tx1"/>
                </a:solidFill>
              </a:rPr>
              <a:t>from</a:t>
            </a:r>
            <a:r>
              <a:rPr lang="nl-NL" sz="2200" dirty="0">
                <a:solidFill>
                  <a:schemeClr val="tx1"/>
                </a:solidFill>
              </a:rPr>
              <a:t> </a:t>
            </a:r>
            <a:r>
              <a:rPr lang="nl-NL" sz="2200" dirty="0" err="1">
                <a:solidFill>
                  <a:schemeClr val="tx1"/>
                </a:solidFill>
              </a:rPr>
              <a:t>mysql.connector</a:t>
            </a:r>
            <a:r>
              <a:rPr lang="nl-NL" sz="2200" dirty="0">
                <a:solidFill>
                  <a:schemeClr val="tx1"/>
                </a:solidFill>
              </a:rPr>
              <a:t> import </a:t>
            </a:r>
            <a:r>
              <a:rPr lang="nl-NL" sz="2200" dirty="0" err="1">
                <a:solidFill>
                  <a:schemeClr val="tx1"/>
                </a:solidFill>
              </a:rPr>
              <a:t>connection</a:t>
            </a:r>
            <a:r>
              <a:rPr lang="nl-NL" sz="2200" dirty="0">
                <a:solidFill>
                  <a:schemeClr val="tx1"/>
                </a:solidFill>
              </a:rPr>
              <a:t> </a:t>
            </a:r>
          </a:p>
          <a:p>
            <a:pPr marL="1033463" lvl="2" indent="-569913"/>
            <a:r>
              <a:rPr lang="nl-NL" sz="2200" dirty="0" err="1">
                <a:solidFill>
                  <a:schemeClr val="tx1"/>
                </a:solidFill>
              </a:rPr>
              <a:t>cnx</a:t>
            </a:r>
            <a:r>
              <a:rPr lang="nl-NL" sz="2200" dirty="0">
                <a:solidFill>
                  <a:schemeClr val="tx1"/>
                </a:solidFill>
              </a:rPr>
              <a:t> = </a:t>
            </a:r>
            <a:r>
              <a:rPr lang="nl-NL" sz="2200" dirty="0" err="1">
                <a:solidFill>
                  <a:schemeClr val="tx1"/>
                </a:solidFill>
              </a:rPr>
              <a:t>connection.MySQLConnection</a:t>
            </a:r>
            <a:r>
              <a:rPr lang="nl-NL" sz="2200" dirty="0">
                <a:solidFill>
                  <a:schemeClr val="tx1"/>
                </a:solidFill>
              </a:rPr>
              <a:t>(user=‘</a:t>
            </a:r>
            <a:r>
              <a:rPr lang="nl-NL" sz="2200" dirty="0" err="1">
                <a:solidFill>
                  <a:schemeClr val="tx1"/>
                </a:solidFill>
              </a:rPr>
              <a:t>user_name</a:t>
            </a:r>
            <a:r>
              <a:rPr lang="nl-NL" sz="2200" dirty="0">
                <a:solidFill>
                  <a:schemeClr val="tx1"/>
                </a:solidFill>
              </a:rPr>
              <a:t>’, password='password', host='127.0.0.1', database=‘</a:t>
            </a:r>
            <a:r>
              <a:rPr lang="nl-NL" sz="2200" dirty="0" err="1">
                <a:solidFill>
                  <a:schemeClr val="tx1"/>
                </a:solidFill>
              </a:rPr>
              <a:t>university</a:t>
            </a:r>
            <a:r>
              <a:rPr lang="nl-NL" sz="2200" dirty="0">
                <a:solidFill>
                  <a:schemeClr val="tx1"/>
                </a:solidFill>
              </a:rPr>
              <a:t>’)</a:t>
            </a:r>
          </a:p>
          <a:p>
            <a:pPr marL="1033463" lvl="2" indent="-569913"/>
            <a:r>
              <a:rPr lang="nl-NL" sz="2200" dirty="0">
                <a:solidFill>
                  <a:schemeClr val="tx1"/>
                </a:solidFill>
              </a:rPr>
              <a:t>cursor = </a:t>
            </a:r>
            <a:r>
              <a:rPr lang="nl-NL" sz="2200" dirty="0" err="1">
                <a:solidFill>
                  <a:schemeClr val="tx1"/>
                </a:solidFill>
              </a:rPr>
              <a:t>cnx.cursor</a:t>
            </a:r>
            <a:r>
              <a:rPr lang="nl-NL" sz="22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MySQL Database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94F4F63-FE48-4944-A885-DC469DFB5EDF}"/>
              </a:ext>
            </a:extLst>
          </p:cNvPr>
          <p:cNvSpPr/>
          <p:nvPr/>
        </p:nvSpPr>
        <p:spPr>
          <a:xfrm>
            <a:off x="1017276" y="3787493"/>
            <a:ext cx="9450555" cy="79332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63550">
              <a:buFont typeface="Monotype Sorts" pitchFamily="2" charset="2"/>
              <a:buNone/>
            </a:pPr>
            <a:r>
              <a:rPr lang="en-US" sz="2200" dirty="0">
                <a:solidFill>
                  <a:schemeClr val="tx1"/>
                </a:solidFill>
              </a:rPr>
              <a:t>query = ("SELECT ID, name, </a:t>
            </a:r>
            <a:r>
              <a:rPr lang="en-US" sz="2200" dirty="0" err="1">
                <a:solidFill>
                  <a:schemeClr val="tx1"/>
                </a:solidFill>
              </a:rPr>
              <a:t>tot_cred</a:t>
            </a:r>
            <a:r>
              <a:rPr lang="en-US" sz="2200" dirty="0">
                <a:solidFill>
                  <a:schemeClr val="tx1"/>
                </a:solidFill>
              </a:rPr>
              <a:t>   FROM student WHERE </a:t>
            </a:r>
            <a:r>
              <a:rPr lang="en-US" sz="2200" dirty="0" err="1">
                <a:solidFill>
                  <a:schemeClr val="tx1"/>
                </a:solidFill>
              </a:rPr>
              <a:t>tot_cred</a:t>
            </a:r>
            <a:r>
              <a:rPr lang="en-US" sz="2200" dirty="0">
                <a:solidFill>
                  <a:schemeClr val="tx1"/>
                </a:solidFill>
              </a:rPr>
              <a:t> &gt; 24")</a:t>
            </a:r>
          </a:p>
          <a:p>
            <a:pPr indent="463550">
              <a:buFont typeface="Monotype Sorts" pitchFamily="2" charset="2"/>
              <a:buNone/>
            </a:pPr>
            <a:r>
              <a:rPr lang="en-US" sz="2200" dirty="0" err="1">
                <a:solidFill>
                  <a:schemeClr val="tx1"/>
                </a:solidFill>
              </a:rPr>
              <a:t>cursor.execute</a:t>
            </a:r>
            <a:r>
              <a:rPr lang="en-US" sz="2200" dirty="0">
                <a:solidFill>
                  <a:schemeClr val="tx1"/>
                </a:solidFill>
              </a:rPr>
              <a:t>(query)</a:t>
            </a:r>
            <a:endParaRPr lang="nl-NL" sz="2200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77A2111-D1E9-40CF-BBF8-D743EF2BAA1C}"/>
              </a:ext>
            </a:extLst>
          </p:cNvPr>
          <p:cNvSpPr/>
          <p:nvPr/>
        </p:nvSpPr>
        <p:spPr>
          <a:xfrm>
            <a:off x="1017275" y="5214887"/>
            <a:ext cx="9450555" cy="110532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63550">
              <a:buFont typeface="Monotype Sorts" pitchFamily="2" charset="2"/>
              <a:buNone/>
            </a:pPr>
            <a:r>
              <a:rPr lang="en-US" sz="2200" dirty="0">
                <a:solidFill>
                  <a:schemeClr val="tx1"/>
                </a:solidFill>
              </a:rPr>
              <a:t>df = </a:t>
            </a:r>
            <a:r>
              <a:rPr lang="en-US" sz="2200" dirty="0" err="1">
                <a:solidFill>
                  <a:schemeClr val="tx1"/>
                </a:solidFill>
              </a:rPr>
              <a:t>pd.DataFrame</a:t>
            </a:r>
            <a:r>
              <a:rPr lang="en-US" sz="2200" dirty="0">
                <a:solidFill>
                  <a:schemeClr val="tx1"/>
                </a:solidFill>
              </a:rPr>
              <a:t>(cursor, columns = ["ID", "name", "</a:t>
            </a:r>
            <a:r>
              <a:rPr lang="en-US" sz="2200" dirty="0" err="1">
                <a:solidFill>
                  <a:schemeClr val="tx1"/>
                </a:solidFill>
              </a:rPr>
              <a:t>tot_cred</a:t>
            </a:r>
            <a:r>
              <a:rPr lang="en-US" sz="2200" dirty="0">
                <a:solidFill>
                  <a:schemeClr val="tx1"/>
                </a:solidFill>
              </a:rPr>
              <a:t>"])</a:t>
            </a:r>
          </a:p>
          <a:p>
            <a:pPr indent="463550">
              <a:buFont typeface="Monotype Sorts" pitchFamily="2" charset="2"/>
              <a:buNone/>
            </a:pPr>
            <a:r>
              <a:rPr lang="en-US" sz="2200" dirty="0" err="1">
                <a:solidFill>
                  <a:schemeClr val="tx1"/>
                </a:solidFill>
              </a:rPr>
              <a:t>cursor.close</a:t>
            </a:r>
            <a:r>
              <a:rPr lang="en-US" sz="2200" dirty="0">
                <a:solidFill>
                  <a:schemeClr val="tx1"/>
                </a:solidFill>
              </a:rPr>
              <a:t>()</a:t>
            </a:r>
          </a:p>
          <a:p>
            <a:pPr indent="463550">
              <a:buFont typeface="Monotype Sorts" pitchFamily="2" charset="2"/>
              <a:buNone/>
            </a:pPr>
            <a:r>
              <a:rPr lang="en-US" sz="2200" dirty="0" err="1">
                <a:solidFill>
                  <a:schemeClr val="tx1"/>
                </a:solidFill>
              </a:rPr>
              <a:t>cnx.close</a:t>
            </a:r>
            <a:r>
              <a:rPr lang="en-US" sz="2200" dirty="0">
                <a:solidFill>
                  <a:schemeClr val="tx1"/>
                </a:solidFill>
              </a:rPr>
              <a:t>()</a:t>
            </a:r>
            <a:endParaRPr lang="nl-NL" sz="2200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D6A205-845B-8307-0F26-BEBC11B17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4745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659122" y="1187354"/>
            <a:ext cx="10515600" cy="5104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Create Connector/Python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PostgreSQL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psycopg2 </a:t>
            </a:r>
            <a:r>
              <a:rPr lang="nl-NL" dirty="0" err="1"/>
              <a:t>library</a:t>
            </a:r>
            <a:endParaRPr lang="nl-NL" dirty="0"/>
          </a:p>
          <a:p>
            <a:endParaRPr lang="nl-NL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endParaRPr lang="nl-NL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endParaRPr lang="nl-NL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r>
              <a:rPr lang="nl-NL" altLang="nl-NL" dirty="0"/>
              <a:t>Create SQL query as a string </a:t>
            </a:r>
            <a:r>
              <a:rPr lang="nl-NL" altLang="nl-NL" dirty="0" err="1"/>
              <a:t>and</a:t>
            </a:r>
            <a:r>
              <a:rPr lang="nl-NL" altLang="nl-NL" dirty="0"/>
              <a:t> </a:t>
            </a:r>
            <a:r>
              <a:rPr lang="nl-NL" altLang="nl-NL" dirty="0" err="1"/>
              <a:t>send</a:t>
            </a:r>
            <a:r>
              <a:rPr lang="nl-NL" altLang="nl-NL" dirty="0"/>
              <a:t> </a:t>
            </a:r>
            <a:r>
              <a:rPr lang="nl-NL" altLang="nl-NL" dirty="0" err="1"/>
              <a:t>the</a:t>
            </a:r>
            <a:r>
              <a:rPr lang="nl-NL" altLang="nl-NL" dirty="0"/>
              <a:t> query </a:t>
            </a:r>
            <a:r>
              <a:rPr lang="nl-NL" altLang="nl-NL" dirty="0" err="1"/>
              <a:t>to</a:t>
            </a:r>
            <a:r>
              <a:rPr lang="nl-NL" altLang="nl-NL" dirty="0"/>
              <a:t> </a:t>
            </a:r>
            <a:r>
              <a:rPr lang="nl-NL" altLang="nl-NL" dirty="0" err="1"/>
              <a:t>the</a:t>
            </a:r>
            <a:r>
              <a:rPr lang="nl-NL" altLang="nl-NL" dirty="0"/>
              <a:t> DBMS</a:t>
            </a:r>
          </a:p>
          <a:p>
            <a:endParaRPr lang="en-US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endParaRPr lang="en-US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r>
              <a:rPr lang="en-US" altLang="nl-NL" dirty="0"/>
              <a:t>Process the results of the query and close the connection</a:t>
            </a:r>
          </a:p>
          <a:p>
            <a:endParaRPr lang="en-US" altLang="nl-NL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127EE7-3677-499D-8B2C-BAC123BE49B7}"/>
              </a:ext>
            </a:extLst>
          </p:cNvPr>
          <p:cNvSpPr/>
          <p:nvPr/>
        </p:nvSpPr>
        <p:spPr>
          <a:xfrm>
            <a:off x="1017276" y="1697705"/>
            <a:ext cx="9450555" cy="151796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9538" lvl="2" indent="354013"/>
            <a:r>
              <a:rPr lang="nl-NL" sz="2200" dirty="0">
                <a:solidFill>
                  <a:schemeClr val="tx1"/>
                </a:solidFill>
              </a:rPr>
              <a:t>import psycopg2</a:t>
            </a:r>
          </a:p>
          <a:p>
            <a:pPr marL="109538" lvl="2" indent="354013"/>
            <a:r>
              <a:rPr lang="en-US" sz="2200" dirty="0">
                <a:solidFill>
                  <a:schemeClr val="tx1"/>
                </a:solidFill>
              </a:rPr>
              <a:t>conn = psycopg2.connect(database='</a:t>
            </a:r>
            <a:r>
              <a:rPr lang="en-US" sz="2200" dirty="0" err="1">
                <a:solidFill>
                  <a:schemeClr val="tx1"/>
                </a:solidFill>
              </a:rPr>
              <a:t>db_name</a:t>
            </a:r>
            <a:r>
              <a:rPr lang="en-US" sz="2200" dirty="0">
                <a:solidFill>
                  <a:schemeClr val="tx1"/>
                </a:solidFill>
              </a:rPr>
              <a:t>', user='</a:t>
            </a:r>
            <a:r>
              <a:rPr lang="en-US" sz="2200" dirty="0" err="1">
                <a:solidFill>
                  <a:schemeClr val="tx1"/>
                </a:solidFill>
              </a:rPr>
              <a:t>user_name</a:t>
            </a:r>
            <a:r>
              <a:rPr lang="en-US" sz="2200" dirty="0">
                <a:solidFill>
                  <a:schemeClr val="tx1"/>
                </a:solidFill>
              </a:rPr>
              <a:t>’, </a:t>
            </a:r>
          </a:p>
          <a:p>
            <a:pPr marL="109538" lvl="2" indent="354013"/>
            <a:r>
              <a:rPr lang="en-US" sz="2200" dirty="0">
                <a:solidFill>
                  <a:schemeClr val="tx1"/>
                </a:solidFill>
              </a:rPr>
              <a:t>		password='password', host='127.0.0.1', port=5432) </a:t>
            </a:r>
          </a:p>
          <a:p>
            <a:pPr marL="109538" lvl="2" indent="354013"/>
            <a:r>
              <a:rPr lang="nl-NL" sz="2200" dirty="0">
                <a:solidFill>
                  <a:schemeClr val="tx1"/>
                </a:solidFill>
              </a:rPr>
              <a:t>cursor = </a:t>
            </a:r>
            <a:r>
              <a:rPr lang="en-US" sz="2200" dirty="0">
                <a:solidFill>
                  <a:schemeClr val="tx1"/>
                </a:solidFill>
              </a:rPr>
              <a:t>conn</a:t>
            </a:r>
            <a:r>
              <a:rPr lang="nl-NL" sz="2200" dirty="0">
                <a:solidFill>
                  <a:schemeClr val="tx1"/>
                </a:solidFill>
              </a:rPr>
              <a:t>.cursor()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PostgreSQL Database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94F4F63-FE48-4944-A885-DC469DFB5EDF}"/>
              </a:ext>
            </a:extLst>
          </p:cNvPr>
          <p:cNvSpPr/>
          <p:nvPr/>
        </p:nvSpPr>
        <p:spPr>
          <a:xfrm>
            <a:off x="1017276" y="3787493"/>
            <a:ext cx="9450555" cy="79332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63550">
              <a:buFont typeface="Monotype Sorts" pitchFamily="2" charset="2"/>
              <a:buNone/>
            </a:pPr>
            <a:r>
              <a:rPr lang="en-US" sz="2200" dirty="0">
                <a:solidFill>
                  <a:schemeClr val="tx1"/>
                </a:solidFill>
              </a:rPr>
              <a:t>query = ("SELECT ID, name, </a:t>
            </a:r>
            <a:r>
              <a:rPr lang="en-US" sz="2200" dirty="0" err="1">
                <a:solidFill>
                  <a:schemeClr val="tx1"/>
                </a:solidFill>
              </a:rPr>
              <a:t>tot_cred</a:t>
            </a:r>
            <a:r>
              <a:rPr lang="en-US" sz="2200" dirty="0">
                <a:solidFill>
                  <a:schemeClr val="tx1"/>
                </a:solidFill>
              </a:rPr>
              <a:t>   FROM student WHERE </a:t>
            </a:r>
            <a:r>
              <a:rPr lang="en-US" sz="2200" dirty="0" err="1">
                <a:solidFill>
                  <a:schemeClr val="tx1"/>
                </a:solidFill>
              </a:rPr>
              <a:t>tot_cred</a:t>
            </a:r>
            <a:r>
              <a:rPr lang="en-US" sz="2200" dirty="0">
                <a:solidFill>
                  <a:schemeClr val="tx1"/>
                </a:solidFill>
              </a:rPr>
              <a:t> &gt; 24")</a:t>
            </a:r>
          </a:p>
          <a:p>
            <a:pPr indent="463550">
              <a:buFont typeface="Monotype Sorts" pitchFamily="2" charset="2"/>
              <a:buNone/>
            </a:pPr>
            <a:r>
              <a:rPr lang="en-US" sz="2200" dirty="0" err="1">
                <a:solidFill>
                  <a:schemeClr val="tx1"/>
                </a:solidFill>
              </a:rPr>
              <a:t>cursor.execute</a:t>
            </a:r>
            <a:r>
              <a:rPr lang="en-US" sz="2200" dirty="0">
                <a:solidFill>
                  <a:schemeClr val="tx1"/>
                </a:solidFill>
              </a:rPr>
              <a:t>(query)</a:t>
            </a:r>
            <a:endParaRPr lang="nl-NL" sz="2200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77A2111-D1E9-40CF-BBF8-D743EF2BAA1C}"/>
              </a:ext>
            </a:extLst>
          </p:cNvPr>
          <p:cNvSpPr/>
          <p:nvPr/>
        </p:nvSpPr>
        <p:spPr>
          <a:xfrm>
            <a:off x="1017275" y="5214887"/>
            <a:ext cx="9450555" cy="110532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63550">
              <a:buFont typeface="Monotype Sorts" pitchFamily="2" charset="2"/>
              <a:buNone/>
            </a:pPr>
            <a:r>
              <a:rPr lang="en-US" sz="2200" dirty="0">
                <a:solidFill>
                  <a:schemeClr val="tx1"/>
                </a:solidFill>
              </a:rPr>
              <a:t>df = </a:t>
            </a:r>
            <a:r>
              <a:rPr lang="en-US" sz="2200" dirty="0" err="1">
                <a:solidFill>
                  <a:schemeClr val="tx1"/>
                </a:solidFill>
              </a:rPr>
              <a:t>pd.DataFrame</a:t>
            </a:r>
            <a:r>
              <a:rPr lang="en-US" sz="2200" dirty="0">
                <a:solidFill>
                  <a:schemeClr val="tx1"/>
                </a:solidFill>
              </a:rPr>
              <a:t>(cursor, columns = ["ID", "name", "</a:t>
            </a:r>
            <a:r>
              <a:rPr lang="en-US" sz="2200" dirty="0" err="1">
                <a:solidFill>
                  <a:schemeClr val="tx1"/>
                </a:solidFill>
              </a:rPr>
              <a:t>tot_cred</a:t>
            </a:r>
            <a:r>
              <a:rPr lang="en-US" sz="2200" dirty="0">
                <a:solidFill>
                  <a:schemeClr val="tx1"/>
                </a:solidFill>
              </a:rPr>
              <a:t>"])</a:t>
            </a:r>
          </a:p>
          <a:p>
            <a:pPr indent="463550">
              <a:buFont typeface="Monotype Sorts" pitchFamily="2" charset="2"/>
              <a:buNone/>
            </a:pPr>
            <a:r>
              <a:rPr lang="en-US" sz="2200" dirty="0" err="1">
                <a:solidFill>
                  <a:schemeClr val="tx1"/>
                </a:solidFill>
              </a:rPr>
              <a:t>cursor.close</a:t>
            </a:r>
            <a:r>
              <a:rPr lang="en-US" sz="2200" dirty="0">
                <a:solidFill>
                  <a:schemeClr val="tx1"/>
                </a:solidFill>
              </a:rPr>
              <a:t>()</a:t>
            </a:r>
          </a:p>
          <a:p>
            <a:pPr indent="463550">
              <a:buFont typeface="Monotype Sorts" pitchFamily="2" charset="2"/>
              <a:buNone/>
            </a:pPr>
            <a:r>
              <a:rPr lang="en-US" sz="2200" dirty="0" err="1">
                <a:solidFill>
                  <a:schemeClr val="tx1"/>
                </a:solidFill>
              </a:rPr>
              <a:t>cnx.close</a:t>
            </a:r>
            <a:r>
              <a:rPr lang="en-US" sz="2200" dirty="0">
                <a:solidFill>
                  <a:schemeClr val="tx1"/>
                </a:solidFill>
              </a:rPr>
              <a:t>()</a:t>
            </a:r>
            <a:endParaRPr lang="nl-NL" sz="2200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DAD6D4-7B14-9C4D-8159-8042A9744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62245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659122" y="1187354"/>
            <a:ext cx="10515600" cy="5104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Create Connector/Python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SQLite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sqlite3 </a:t>
            </a:r>
            <a:r>
              <a:rPr lang="nl-NL" dirty="0" err="1"/>
              <a:t>library</a:t>
            </a:r>
            <a:endParaRPr lang="nl-NL" dirty="0"/>
          </a:p>
          <a:p>
            <a:endParaRPr lang="nl-NL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endParaRPr lang="nl-NL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endParaRPr lang="nl-NL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r>
              <a:rPr lang="nl-NL" altLang="nl-NL" dirty="0"/>
              <a:t>Create SQL query as a string </a:t>
            </a:r>
            <a:r>
              <a:rPr lang="nl-NL" altLang="nl-NL" dirty="0" err="1"/>
              <a:t>and</a:t>
            </a:r>
            <a:r>
              <a:rPr lang="nl-NL" altLang="nl-NL" dirty="0"/>
              <a:t> </a:t>
            </a:r>
            <a:r>
              <a:rPr lang="nl-NL" altLang="nl-NL" dirty="0" err="1"/>
              <a:t>send</a:t>
            </a:r>
            <a:r>
              <a:rPr lang="nl-NL" altLang="nl-NL" dirty="0"/>
              <a:t> </a:t>
            </a:r>
            <a:r>
              <a:rPr lang="nl-NL" altLang="nl-NL" dirty="0" err="1"/>
              <a:t>the</a:t>
            </a:r>
            <a:r>
              <a:rPr lang="nl-NL" altLang="nl-NL" dirty="0"/>
              <a:t> query </a:t>
            </a:r>
            <a:r>
              <a:rPr lang="nl-NL" altLang="nl-NL" dirty="0" err="1"/>
              <a:t>to</a:t>
            </a:r>
            <a:r>
              <a:rPr lang="nl-NL" altLang="nl-NL" dirty="0"/>
              <a:t> </a:t>
            </a:r>
            <a:r>
              <a:rPr lang="nl-NL" altLang="nl-NL" dirty="0" err="1"/>
              <a:t>the</a:t>
            </a:r>
            <a:r>
              <a:rPr lang="nl-NL" altLang="nl-NL" dirty="0"/>
              <a:t> DBMS</a:t>
            </a:r>
          </a:p>
          <a:p>
            <a:r>
              <a:rPr lang="en-US" altLang="nl-NL" dirty="0"/>
              <a:t>Process the results of the query and close the connection</a:t>
            </a:r>
          </a:p>
          <a:p>
            <a:r>
              <a:rPr lang="en-US" altLang="nl-NL" dirty="0"/>
              <a:t>Example</a:t>
            </a:r>
          </a:p>
          <a:p>
            <a:endParaRPr lang="en-US" altLang="nl-NL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127EE7-3677-499D-8B2C-BAC123BE49B7}"/>
              </a:ext>
            </a:extLst>
          </p:cNvPr>
          <p:cNvSpPr/>
          <p:nvPr/>
        </p:nvSpPr>
        <p:spPr>
          <a:xfrm>
            <a:off x="1017276" y="1697705"/>
            <a:ext cx="9450555" cy="151796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9538" lvl="2" indent="354013"/>
            <a:r>
              <a:rPr lang="nl-NL" sz="2200" dirty="0">
                <a:solidFill>
                  <a:schemeClr val="tx1"/>
                </a:solidFill>
              </a:rPr>
              <a:t>import sqlite3</a:t>
            </a:r>
          </a:p>
          <a:p>
            <a:pPr marL="109538" lvl="2" indent="354013"/>
            <a:r>
              <a:rPr lang="en-US" sz="2200" dirty="0">
                <a:solidFill>
                  <a:schemeClr val="tx1"/>
                </a:solidFill>
              </a:rPr>
              <a:t>conn = sqlite3.connect(</a:t>
            </a:r>
            <a:r>
              <a:rPr lang="en-US" sz="2200" dirty="0" err="1">
                <a:solidFill>
                  <a:schemeClr val="tx1"/>
                </a:solidFill>
              </a:rPr>
              <a:t>db_file</a:t>
            </a:r>
            <a:r>
              <a:rPr lang="en-US" sz="2200" dirty="0">
                <a:solidFill>
                  <a:schemeClr val="tx1"/>
                </a:solidFill>
              </a:rPr>
              <a:t>) </a:t>
            </a:r>
          </a:p>
          <a:p>
            <a:pPr marL="109538" lvl="2" indent="354013"/>
            <a:r>
              <a:rPr lang="nl-NL" sz="2200" dirty="0">
                <a:solidFill>
                  <a:schemeClr val="tx1"/>
                </a:solidFill>
              </a:rPr>
              <a:t>cursor = </a:t>
            </a:r>
            <a:r>
              <a:rPr lang="en-US" sz="2200" dirty="0">
                <a:solidFill>
                  <a:schemeClr val="tx1"/>
                </a:solidFill>
              </a:rPr>
              <a:t>conn</a:t>
            </a:r>
            <a:r>
              <a:rPr lang="nl-NL" sz="2200" dirty="0">
                <a:solidFill>
                  <a:schemeClr val="tx1"/>
                </a:solidFill>
              </a:rPr>
              <a:t>.cursor()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SQLite Database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77A2111-D1E9-40CF-BBF8-D743EF2BAA1C}"/>
              </a:ext>
            </a:extLst>
          </p:cNvPr>
          <p:cNvSpPr/>
          <p:nvPr/>
        </p:nvSpPr>
        <p:spPr>
          <a:xfrm>
            <a:off x="838200" y="4767208"/>
            <a:ext cx="9805827" cy="172566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63550">
              <a:buFont typeface="Monotype Sorts" pitchFamily="2" charset="2"/>
              <a:buNone/>
            </a:pPr>
            <a:endParaRPr lang="nl-NL" sz="22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F51C71-D89B-EE43-900D-25C3B1A80763}"/>
              </a:ext>
            </a:extLst>
          </p:cNvPr>
          <p:cNvSpPr txBox="1"/>
          <p:nvPr/>
        </p:nvSpPr>
        <p:spPr>
          <a:xfrm>
            <a:off x="926344" y="4989895"/>
            <a:ext cx="49504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538" lvl="2" indent="354013"/>
            <a:r>
              <a:rPr lang="nl-NL" sz="2000" dirty="0"/>
              <a:t>import sqlite3</a:t>
            </a:r>
          </a:p>
          <a:p>
            <a:pPr marL="109538" lvl="2" indent="354013"/>
            <a:r>
              <a:rPr lang="en-US" sz="2000" dirty="0"/>
              <a:t>conn = sqlite3.connect(``</a:t>
            </a:r>
            <a:r>
              <a:rPr lang="en-US" sz="2000" dirty="0" err="1"/>
              <a:t>chinook.db</a:t>
            </a:r>
            <a:r>
              <a:rPr lang="en-US" sz="2000" dirty="0"/>
              <a:t>”) </a:t>
            </a:r>
          </a:p>
          <a:p>
            <a:pPr marL="109538" lvl="2" indent="354013"/>
            <a:r>
              <a:rPr lang="nl-NL" sz="2000" dirty="0"/>
              <a:t>cursor = </a:t>
            </a:r>
            <a:r>
              <a:rPr lang="en-US" sz="2000" dirty="0"/>
              <a:t>conn</a:t>
            </a:r>
            <a:r>
              <a:rPr lang="nl-NL" sz="2000" dirty="0"/>
              <a:t>.cursor()</a:t>
            </a:r>
          </a:p>
          <a:p>
            <a:pPr marL="109538" lvl="2" indent="354013"/>
            <a:r>
              <a:rPr lang="nl-NL" sz="2000" dirty="0" err="1"/>
              <a:t>table</a:t>
            </a:r>
            <a:r>
              <a:rPr lang="nl-NL" sz="2000" dirty="0"/>
              <a:t> = ``albums”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4C7500-88CA-5D4D-A84B-65B92893A144}"/>
              </a:ext>
            </a:extLst>
          </p:cNvPr>
          <p:cNvSpPr txBox="1"/>
          <p:nvPr/>
        </p:nvSpPr>
        <p:spPr>
          <a:xfrm>
            <a:off x="5693553" y="4825644"/>
            <a:ext cx="49504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538" lvl="2" indent="354013"/>
            <a:r>
              <a:rPr lang="en-US" sz="2000" dirty="0"/>
              <a:t>query = ``SELECT * FROM” + table</a:t>
            </a:r>
          </a:p>
          <a:p>
            <a:pPr marL="109538" lvl="2" indent="354013"/>
            <a:r>
              <a:rPr lang="en-US" sz="2000" dirty="0" err="1"/>
              <a:t>cur.execute</a:t>
            </a:r>
            <a:r>
              <a:rPr lang="en-US" sz="2000" dirty="0"/>
              <a:t>(query)</a:t>
            </a:r>
          </a:p>
          <a:p>
            <a:pPr marL="109538" lvl="2" indent="354013"/>
            <a:r>
              <a:rPr lang="en-US" sz="2000" dirty="0"/>
              <a:t>rows = </a:t>
            </a:r>
            <a:r>
              <a:rPr lang="en-US" sz="2000" dirty="0" err="1"/>
              <a:t>cur.fetchall</a:t>
            </a:r>
            <a:r>
              <a:rPr lang="en-US" sz="2000" dirty="0"/>
              <a:t>()</a:t>
            </a:r>
          </a:p>
          <a:p>
            <a:pPr marL="109538" lvl="2" indent="354013"/>
            <a:r>
              <a:rPr lang="en-US" sz="2000" dirty="0"/>
              <a:t>    for row in rows:</a:t>
            </a:r>
          </a:p>
          <a:p>
            <a:pPr marL="109538" lvl="2" indent="354013"/>
            <a:r>
              <a:rPr lang="en-US" sz="2000" dirty="0"/>
              <a:t>        print(row)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CC668-4C07-8FA5-F1AA-FBF70EDE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680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with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17A7612C-8616-4400-8419-A27E889A13C7}"/>
              </a:ext>
            </a:extLst>
          </p:cNvPr>
          <p:cNvSpPr txBox="1">
            <a:spLocks/>
          </p:cNvSpPr>
          <p:nvPr/>
        </p:nvSpPr>
        <p:spPr>
          <a:xfrm>
            <a:off x="964962" y="14357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Consider the movies dataset extracted from </a:t>
            </a:r>
            <a:r>
              <a:rPr lang="en-US" altLang="en-US" dirty="0" err="1"/>
              <a:t>imdb</a:t>
            </a:r>
            <a:r>
              <a:rPr lang="en-US" altLang="en-US" dirty="0"/>
              <a:t> dataset</a:t>
            </a:r>
          </a:p>
          <a:p>
            <a:r>
              <a:rPr lang="en-US" altLang="en-US" dirty="0"/>
              <a:t>Start by reading the csv file</a:t>
            </a:r>
          </a:p>
          <a:p>
            <a:pPr marL="0" indent="0">
              <a:buNone/>
            </a:pPr>
            <a:r>
              <a:rPr lang="nl-NL" sz="2200" dirty="0">
                <a:solidFill>
                  <a:srgbClr val="0070C0"/>
                </a:solidFill>
              </a:rPr>
              <a:t>	</a:t>
            </a:r>
          </a:p>
          <a:p>
            <a:pPr marL="0" indent="0">
              <a:buNone/>
            </a:pPr>
            <a:endParaRPr lang="nl-NL" sz="22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200" dirty="0"/>
          </a:p>
          <a:p>
            <a:r>
              <a:rPr lang="nl-NL" dirty="0"/>
              <a:t>Extract sub-</a:t>
            </a:r>
            <a:r>
              <a:rPr lang="nl-NL" dirty="0" err="1"/>
              <a:t>table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dataframe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A5D178-C78B-4814-B2F4-62500C10EA61}"/>
              </a:ext>
            </a:extLst>
          </p:cNvPr>
          <p:cNvSpPr/>
          <p:nvPr/>
        </p:nvSpPr>
        <p:spPr>
          <a:xfrm>
            <a:off x="1128157" y="4310742"/>
            <a:ext cx="8514607" cy="216347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indent="-450850"/>
            <a:r>
              <a:rPr lang="nl-NL" sz="2200" dirty="0">
                <a:solidFill>
                  <a:schemeClr val="tx1"/>
                </a:solidFill>
              </a:rPr>
              <a:t>df.info()                           # index &amp; data types</a:t>
            </a:r>
          </a:p>
          <a:p>
            <a:pPr lvl="2" indent="-450850"/>
            <a:r>
              <a:rPr lang="nl-NL" sz="2200" dirty="0">
                <a:solidFill>
                  <a:schemeClr val="tx1"/>
                </a:solidFill>
              </a:rPr>
              <a:t>n = 4</a:t>
            </a:r>
          </a:p>
          <a:p>
            <a:pPr lvl="2" indent="-450850"/>
            <a:r>
              <a:rPr lang="nl-NL" sz="2200" dirty="0" err="1">
                <a:solidFill>
                  <a:schemeClr val="tx1"/>
                </a:solidFill>
              </a:rPr>
              <a:t>dfh</a:t>
            </a:r>
            <a:r>
              <a:rPr lang="nl-NL" sz="2200" dirty="0">
                <a:solidFill>
                  <a:schemeClr val="tx1"/>
                </a:solidFill>
              </a:rPr>
              <a:t> = </a:t>
            </a:r>
            <a:r>
              <a:rPr lang="nl-NL" sz="2200" dirty="0" err="1">
                <a:solidFill>
                  <a:schemeClr val="tx1"/>
                </a:solidFill>
              </a:rPr>
              <a:t>df.head</a:t>
            </a:r>
            <a:r>
              <a:rPr lang="nl-NL" sz="2200" dirty="0">
                <a:solidFill>
                  <a:schemeClr val="tx1"/>
                </a:solidFill>
              </a:rPr>
              <a:t>(n)             # get first n </a:t>
            </a:r>
            <a:r>
              <a:rPr lang="nl-NL" sz="2200" dirty="0" err="1">
                <a:solidFill>
                  <a:schemeClr val="tx1"/>
                </a:solidFill>
              </a:rPr>
              <a:t>rows</a:t>
            </a:r>
            <a:endParaRPr lang="nl-NL" sz="2200" dirty="0">
              <a:solidFill>
                <a:schemeClr val="tx1"/>
              </a:solidFill>
            </a:endParaRPr>
          </a:p>
          <a:p>
            <a:pPr lvl="2" indent="-450850"/>
            <a:r>
              <a:rPr lang="nl-NL" sz="2200" dirty="0" err="1">
                <a:solidFill>
                  <a:schemeClr val="tx1"/>
                </a:solidFill>
              </a:rPr>
              <a:t>dft</a:t>
            </a:r>
            <a:r>
              <a:rPr lang="nl-NL" sz="2200" dirty="0">
                <a:solidFill>
                  <a:schemeClr val="tx1"/>
                </a:solidFill>
              </a:rPr>
              <a:t> = </a:t>
            </a:r>
            <a:r>
              <a:rPr lang="nl-NL" sz="2200" dirty="0" err="1">
                <a:solidFill>
                  <a:schemeClr val="tx1"/>
                </a:solidFill>
              </a:rPr>
              <a:t>df.tail</a:t>
            </a:r>
            <a:r>
              <a:rPr lang="nl-NL" sz="2200" dirty="0">
                <a:solidFill>
                  <a:schemeClr val="tx1"/>
                </a:solidFill>
              </a:rPr>
              <a:t>(n)                 # get last n </a:t>
            </a:r>
            <a:r>
              <a:rPr lang="nl-NL" sz="2200" dirty="0" err="1">
                <a:solidFill>
                  <a:schemeClr val="tx1"/>
                </a:solidFill>
              </a:rPr>
              <a:t>rows</a:t>
            </a:r>
            <a:endParaRPr lang="nl-NL" sz="2200" dirty="0">
              <a:solidFill>
                <a:schemeClr val="tx1"/>
              </a:solidFill>
            </a:endParaRPr>
          </a:p>
          <a:p>
            <a:pPr lvl="2" indent="-450850"/>
            <a:r>
              <a:rPr lang="nl-NL" sz="2200" dirty="0" err="1">
                <a:solidFill>
                  <a:schemeClr val="tx1"/>
                </a:solidFill>
              </a:rPr>
              <a:t>dfs</a:t>
            </a:r>
            <a:r>
              <a:rPr lang="nl-NL" sz="2200" dirty="0">
                <a:solidFill>
                  <a:schemeClr val="tx1"/>
                </a:solidFill>
              </a:rPr>
              <a:t> = </a:t>
            </a:r>
            <a:r>
              <a:rPr lang="nl-NL" sz="2200" dirty="0" err="1">
                <a:solidFill>
                  <a:schemeClr val="tx1"/>
                </a:solidFill>
              </a:rPr>
              <a:t>df.describe</a:t>
            </a:r>
            <a:r>
              <a:rPr lang="nl-NL" sz="2200" dirty="0">
                <a:solidFill>
                  <a:schemeClr val="tx1"/>
                </a:solidFill>
              </a:rPr>
              <a:t>()          # summary </a:t>
            </a:r>
            <a:r>
              <a:rPr lang="nl-NL" sz="2200" dirty="0" err="1">
                <a:solidFill>
                  <a:schemeClr val="tx1"/>
                </a:solidFill>
              </a:rPr>
              <a:t>stats</a:t>
            </a:r>
            <a:r>
              <a:rPr lang="nl-NL" sz="2200" dirty="0">
                <a:solidFill>
                  <a:schemeClr val="tx1"/>
                </a:solidFill>
              </a:rPr>
              <a:t> cols</a:t>
            </a:r>
          </a:p>
          <a:p>
            <a:pPr lvl="2" indent="-450850"/>
            <a:r>
              <a:rPr lang="nl-NL" sz="2200" dirty="0" err="1">
                <a:solidFill>
                  <a:schemeClr val="tx1"/>
                </a:solidFill>
              </a:rPr>
              <a:t>top_left_corner_df</a:t>
            </a:r>
            <a:r>
              <a:rPr lang="nl-NL" sz="2200" dirty="0">
                <a:solidFill>
                  <a:schemeClr val="tx1"/>
                </a:solidFill>
              </a:rPr>
              <a:t> = </a:t>
            </a:r>
            <a:r>
              <a:rPr lang="nl-NL" sz="2200" dirty="0" err="1">
                <a:solidFill>
                  <a:schemeClr val="tx1"/>
                </a:solidFill>
              </a:rPr>
              <a:t>df.iloc</a:t>
            </a:r>
            <a:r>
              <a:rPr lang="nl-NL" sz="2200" dirty="0">
                <a:solidFill>
                  <a:schemeClr val="tx1"/>
                </a:solidFill>
              </a:rPr>
              <a:t>[:5, :5]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F1D0C8-41EE-4B62-92D1-B3F1CD2EA72B}"/>
              </a:ext>
            </a:extLst>
          </p:cNvPr>
          <p:cNvSpPr/>
          <p:nvPr/>
        </p:nvSpPr>
        <p:spPr>
          <a:xfrm>
            <a:off x="1128157" y="2472609"/>
            <a:ext cx="8514607" cy="10981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63550"/>
            <a:r>
              <a:rPr lang="nl-NL" sz="2200" dirty="0">
                <a:solidFill>
                  <a:schemeClr val="tx1"/>
                </a:solidFill>
              </a:rPr>
              <a:t> </a:t>
            </a:r>
            <a:r>
              <a:rPr lang="nl-NL" sz="2200" dirty="0" err="1">
                <a:solidFill>
                  <a:schemeClr val="tx1"/>
                </a:solidFill>
              </a:rPr>
              <a:t>df</a:t>
            </a:r>
            <a:r>
              <a:rPr lang="nl-NL" sz="2200" dirty="0">
                <a:solidFill>
                  <a:schemeClr val="tx1"/>
                </a:solidFill>
              </a:rPr>
              <a:t> = </a:t>
            </a:r>
            <a:r>
              <a:rPr lang="nl-NL" sz="2200" dirty="0" err="1">
                <a:solidFill>
                  <a:schemeClr val="tx1"/>
                </a:solidFill>
              </a:rPr>
              <a:t>pd.read_csv</a:t>
            </a:r>
            <a:r>
              <a:rPr lang="nl-NL" sz="2200" dirty="0">
                <a:solidFill>
                  <a:schemeClr val="tx1"/>
                </a:solidFill>
              </a:rPr>
              <a:t>(</a:t>
            </a:r>
            <a:r>
              <a:rPr lang="nl-NL" sz="2200" dirty="0" err="1">
                <a:solidFill>
                  <a:schemeClr val="tx1"/>
                </a:solidFill>
              </a:rPr>
              <a:t>filepath_or_buffer</a:t>
            </a:r>
            <a:r>
              <a:rPr lang="nl-NL" sz="2200" dirty="0">
                <a:solidFill>
                  <a:schemeClr val="tx1"/>
                </a:solidFill>
              </a:rPr>
              <a:t> = 'movies.csv', </a:t>
            </a:r>
            <a:r>
              <a:rPr lang="nl-NL" sz="2200" dirty="0" err="1">
                <a:solidFill>
                  <a:schemeClr val="tx1"/>
                </a:solidFill>
              </a:rPr>
              <a:t>delimiter</a:t>
            </a:r>
            <a:r>
              <a:rPr lang="nl-NL" sz="2200" dirty="0">
                <a:solidFill>
                  <a:schemeClr val="tx1"/>
                </a:solidFill>
              </a:rPr>
              <a:t>=',', </a:t>
            </a:r>
          </a:p>
          <a:p>
            <a:r>
              <a:rPr lang="nl-NL" sz="2200" dirty="0">
                <a:solidFill>
                  <a:schemeClr val="tx1"/>
                </a:solidFill>
              </a:rPr>
              <a:t>                 doublequote=True, </a:t>
            </a:r>
            <a:r>
              <a:rPr lang="nl-NL" sz="2200" dirty="0" err="1">
                <a:solidFill>
                  <a:schemeClr val="tx1"/>
                </a:solidFill>
              </a:rPr>
              <a:t>quotechar</a:t>
            </a:r>
            <a:r>
              <a:rPr lang="nl-NL" sz="2200" dirty="0">
                <a:solidFill>
                  <a:schemeClr val="tx1"/>
                </a:solidFill>
              </a:rPr>
              <a:t>='"',</a:t>
            </a:r>
            <a:r>
              <a:rPr lang="nl-NL" sz="2200" dirty="0" err="1">
                <a:solidFill>
                  <a:schemeClr val="tx1"/>
                </a:solidFill>
              </a:rPr>
              <a:t>na_values</a:t>
            </a:r>
            <a:r>
              <a:rPr lang="nl-NL" sz="2200" dirty="0">
                <a:solidFill>
                  <a:schemeClr val="tx1"/>
                </a:solidFill>
              </a:rPr>
              <a:t> = ['na', '-', '.', ''], </a:t>
            </a:r>
          </a:p>
          <a:p>
            <a:r>
              <a:rPr lang="nl-NL" sz="2200" dirty="0">
                <a:solidFill>
                  <a:schemeClr val="tx1"/>
                </a:solidFill>
              </a:rPr>
              <a:t>                 </a:t>
            </a:r>
            <a:r>
              <a:rPr lang="nl-NL" sz="2200" dirty="0" err="1">
                <a:solidFill>
                  <a:schemeClr val="tx1"/>
                </a:solidFill>
              </a:rPr>
              <a:t>quoting</a:t>
            </a:r>
            <a:r>
              <a:rPr lang="nl-NL" sz="2200" dirty="0">
                <a:solidFill>
                  <a:schemeClr val="tx1"/>
                </a:solidFill>
              </a:rPr>
              <a:t>=</a:t>
            </a:r>
            <a:r>
              <a:rPr lang="nl-NL" sz="2200" dirty="0" err="1">
                <a:solidFill>
                  <a:schemeClr val="tx1"/>
                </a:solidFill>
              </a:rPr>
              <a:t>csv.QUOTE_ALL</a:t>
            </a:r>
            <a:r>
              <a:rPr lang="nl-NL" sz="2200" dirty="0">
                <a:solidFill>
                  <a:schemeClr val="tx1"/>
                </a:solidFill>
              </a:rPr>
              <a:t>, </a:t>
            </a:r>
            <a:r>
              <a:rPr lang="nl-NL" sz="2200" dirty="0" err="1">
                <a:solidFill>
                  <a:schemeClr val="tx1"/>
                </a:solidFill>
              </a:rPr>
              <a:t>encoding</a:t>
            </a:r>
            <a:r>
              <a:rPr lang="nl-NL" sz="2200" dirty="0">
                <a:solidFill>
                  <a:schemeClr val="tx1"/>
                </a:solidFill>
              </a:rPr>
              <a:t> = "ISO-8859-1")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88770A-3247-4C3E-A454-FF675FD48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09760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Data from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17A7612C-8616-4400-8419-A27E889A13C7}"/>
              </a:ext>
            </a:extLst>
          </p:cNvPr>
          <p:cNvSpPr txBox="1">
            <a:spLocks/>
          </p:cNvSpPr>
          <p:nvPr/>
        </p:nvSpPr>
        <p:spPr>
          <a:xfrm>
            <a:off x="964962" y="14357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 err="1"/>
              <a:t>Extarct</a:t>
            </a:r>
            <a:r>
              <a:rPr lang="en-US" altLang="en-US" dirty="0"/>
              <a:t> row number 0</a:t>
            </a:r>
          </a:p>
          <a:p>
            <a:pPr marL="0" indent="0">
              <a:buNone/>
            </a:pPr>
            <a:r>
              <a:rPr lang="nl-NL" sz="2200" dirty="0">
                <a:solidFill>
                  <a:srgbClr val="0070C0"/>
                </a:solidFill>
              </a:rPr>
              <a:t>	</a:t>
            </a:r>
          </a:p>
          <a:p>
            <a:pPr marL="0" indent="0">
              <a:buNone/>
            </a:pPr>
            <a:endParaRPr lang="nl-NL" sz="22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200" dirty="0"/>
          </a:p>
          <a:p>
            <a:endParaRPr lang="nl-NL" dirty="0"/>
          </a:p>
          <a:p>
            <a:r>
              <a:rPr lang="nl-NL" dirty="0"/>
              <a:t>Extract </a:t>
            </a:r>
            <a:r>
              <a:rPr lang="nl-NL" dirty="0" err="1"/>
              <a:t>the</a:t>
            </a:r>
            <a:r>
              <a:rPr lang="nl-NL" dirty="0"/>
              <a:t> column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names</a:t>
            </a:r>
            <a:r>
              <a:rPr lang="nl-NL" dirty="0"/>
              <a:t> of directors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A5D178-C78B-4814-B2F4-62500C10EA61}"/>
              </a:ext>
            </a:extLst>
          </p:cNvPr>
          <p:cNvSpPr/>
          <p:nvPr/>
        </p:nvSpPr>
        <p:spPr>
          <a:xfrm>
            <a:off x="1679750" y="4412111"/>
            <a:ext cx="8304006" cy="89336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indent="-914400"/>
            <a:r>
              <a:rPr lang="nl-NL" sz="2200" dirty="0" err="1">
                <a:solidFill>
                  <a:schemeClr val="tx1"/>
                </a:solidFill>
              </a:rPr>
              <a:t>df.director_name</a:t>
            </a:r>
            <a:r>
              <a:rPr lang="nl-NL" sz="2200" dirty="0">
                <a:solidFill>
                  <a:schemeClr val="tx1"/>
                </a:solidFill>
              </a:rPr>
              <a:t>     #  OR</a:t>
            </a:r>
          </a:p>
          <a:p>
            <a:pPr lvl="2" indent="-914400"/>
            <a:r>
              <a:rPr lang="nl-NL" sz="2200" dirty="0" err="1">
                <a:solidFill>
                  <a:schemeClr val="tx1"/>
                </a:solidFill>
              </a:rPr>
              <a:t>df</a:t>
            </a:r>
            <a:r>
              <a:rPr lang="nl-NL" sz="2200" dirty="0">
                <a:solidFill>
                  <a:schemeClr val="tx1"/>
                </a:solidFill>
              </a:rPr>
              <a:t>["</a:t>
            </a:r>
            <a:r>
              <a:rPr lang="nl-NL" sz="2200" dirty="0" err="1">
                <a:solidFill>
                  <a:schemeClr val="tx1"/>
                </a:solidFill>
              </a:rPr>
              <a:t>director_name</a:t>
            </a:r>
            <a:r>
              <a:rPr lang="nl-NL" sz="2200" dirty="0">
                <a:solidFill>
                  <a:schemeClr val="tx1"/>
                </a:solidFill>
              </a:rPr>
              <a:t>"]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F1D0C8-41EE-4B62-92D1-B3F1CD2EA72B}"/>
              </a:ext>
            </a:extLst>
          </p:cNvPr>
          <p:cNvSpPr/>
          <p:nvPr/>
        </p:nvSpPr>
        <p:spPr>
          <a:xfrm>
            <a:off x="1679750" y="2211953"/>
            <a:ext cx="8304006" cy="10981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2200" dirty="0">
                <a:solidFill>
                  <a:schemeClr val="tx1"/>
                </a:solidFill>
              </a:rPr>
              <a:t>row1 </a:t>
            </a:r>
            <a:r>
              <a:rPr lang="nl-NL" sz="2200" b="1" dirty="0">
                <a:solidFill>
                  <a:schemeClr val="tx1"/>
                </a:solidFill>
              </a:rPr>
              <a:t>=</a:t>
            </a:r>
            <a:r>
              <a:rPr lang="nl-NL" sz="2200" dirty="0">
                <a:solidFill>
                  <a:schemeClr val="tx1"/>
                </a:solidFill>
              </a:rPr>
              <a:t> </a:t>
            </a:r>
            <a:r>
              <a:rPr lang="nl-NL" sz="2200" dirty="0" err="1">
                <a:solidFill>
                  <a:schemeClr val="tx1"/>
                </a:solidFill>
              </a:rPr>
              <a:t>df.iloc</a:t>
            </a:r>
            <a:r>
              <a:rPr lang="nl-NL" sz="2200" dirty="0">
                <a:solidFill>
                  <a:schemeClr val="tx1"/>
                </a:solidFill>
              </a:rPr>
              <a:t>[0,:]     #</a:t>
            </a:r>
            <a:r>
              <a:rPr lang="nl-NL" sz="2200" dirty="0" err="1">
                <a:solidFill>
                  <a:schemeClr val="tx1"/>
                </a:solidFill>
              </a:rPr>
              <a:t>You</a:t>
            </a:r>
            <a:r>
              <a:rPr lang="nl-NL" sz="2200" dirty="0">
                <a:solidFill>
                  <a:schemeClr val="tx1"/>
                </a:solidFill>
              </a:rPr>
              <a:t> </a:t>
            </a:r>
            <a:r>
              <a:rPr lang="nl-NL" sz="2200" dirty="0" err="1">
                <a:solidFill>
                  <a:schemeClr val="tx1"/>
                </a:solidFill>
              </a:rPr>
              <a:t>may</a:t>
            </a:r>
            <a:r>
              <a:rPr lang="nl-NL" sz="2200" dirty="0">
                <a:solidFill>
                  <a:schemeClr val="tx1"/>
                </a:solidFill>
              </a:rPr>
              <a:t> </a:t>
            </a:r>
            <a:r>
              <a:rPr lang="nl-NL" sz="2200" dirty="0" err="1">
                <a:solidFill>
                  <a:schemeClr val="tx1"/>
                </a:solidFill>
              </a:rPr>
              <a:t>ignore</a:t>
            </a:r>
            <a:r>
              <a:rPr lang="nl-NL" sz="2200" dirty="0">
                <a:solidFill>
                  <a:schemeClr val="tx1"/>
                </a:solidFill>
              </a:rPr>
              <a:t> </a:t>
            </a:r>
            <a:r>
              <a:rPr lang="nl-NL" sz="2200" dirty="0" err="1">
                <a:solidFill>
                  <a:schemeClr val="tx1"/>
                </a:solidFill>
              </a:rPr>
              <a:t>adding</a:t>
            </a:r>
            <a:r>
              <a:rPr lang="nl-NL" sz="2200" dirty="0">
                <a:solidFill>
                  <a:schemeClr val="tx1"/>
                </a:solidFill>
              </a:rPr>
              <a:t> </a:t>
            </a:r>
            <a:r>
              <a:rPr lang="nl-NL" sz="2200" dirty="0" err="1">
                <a:solidFill>
                  <a:schemeClr val="tx1"/>
                </a:solidFill>
              </a:rPr>
              <a:t>the</a:t>
            </a:r>
            <a:r>
              <a:rPr lang="nl-NL" sz="2200" dirty="0">
                <a:solidFill>
                  <a:schemeClr val="tx1"/>
                </a:solidFill>
              </a:rPr>
              <a:t> :</a:t>
            </a:r>
          </a:p>
          <a:p>
            <a:r>
              <a:rPr lang="nl-NL" sz="2200" dirty="0">
                <a:solidFill>
                  <a:schemeClr val="tx1"/>
                </a:solidFill>
              </a:rPr>
              <a:t>row1 = </a:t>
            </a:r>
            <a:r>
              <a:rPr lang="nl-NL" sz="2200" dirty="0" err="1">
                <a:solidFill>
                  <a:schemeClr val="tx1"/>
                </a:solidFill>
              </a:rPr>
              <a:t>df.iloc</a:t>
            </a:r>
            <a:r>
              <a:rPr lang="nl-NL" sz="2200" dirty="0">
                <a:solidFill>
                  <a:schemeClr val="tx1"/>
                </a:solidFill>
              </a:rPr>
              <a:t>[0]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E88623-62E2-7AE3-A811-F7AC23238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04531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Data from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17A7612C-8616-4400-8419-A27E889A13C7}"/>
              </a:ext>
            </a:extLst>
          </p:cNvPr>
          <p:cNvSpPr txBox="1">
            <a:spLocks/>
          </p:cNvSpPr>
          <p:nvPr/>
        </p:nvSpPr>
        <p:spPr>
          <a:xfrm>
            <a:off x="964962" y="14357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Extract set of </a:t>
            </a:r>
            <a:r>
              <a:rPr lang="nl-NL" dirty="0" err="1"/>
              <a:t>rows</a:t>
            </a:r>
            <a:r>
              <a:rPr lang="nl-NL" dirty="0"/>
              <a:t> (</a:t>
            </a:r>
            <a:r>
              <a:rPr lang="nl-NL" dirty="0" err="1"/>
              <a:t>corresponds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selection</a:t>
            </a:r>
            <a:r>
              <a:rPr lang="nl-NL" dirty="0"/>
              <a:t> in </a:t>
            </a:r>
            <a:r>
              <a:rPr lang="nl-NL" dirty="0" err="1"/>
              <a:t>relational</a:t>
            </a:r>
            <a:r>
              <a:rPr lang="nl-NL" dirty="0"/>
              <a:t> algebra)</a:t>
            </a:r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Extract set of columns (</a:t>
            </a:r>
            <a:r>
              <a:rPr lang="nl-NL" dirty="0" err="1"/>
              <a:t>corresponds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projection</a:t>
            </a:r>
            <a:r>
              <a:rPr lang="nl-NL" dirty="0"/>
              <a:t> in </a:t>
            </a:r>
            <a:r>
              <a:rPr lang="nl-NL" dirty="0" err="1"/>
              <a:t>relational</a:t>
            </a:r>
            <a:r>
              <a:rPr lang="nl-NL" dirty="0"/>
              <a:t> algebra)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 err="1"/>
              <a:t>Note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: </a:t>
            </a:r>
            <a:r>
              <a:rPr lang="nl-NL" dirty="0" err="1"/>
              <a:t>df.columns</a:t>
            </a:r>
            <a:r>
              <a:rPr lang="nl-NL" dirty="0"/>
              <a:t> is a vector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contains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attributes</a:t>
            </a:r>
            <a:r>
              <a:rPr lang="nl-NL" dirty="0"/>
              <a:t>’ </a:t>
            </a:r>
            <a:r>
              <a:rPr lang="nl-NL" dirty="0" err="1"/>
              <a:t>names</a:t>
            </a:r>
            <a:endParaRPr lang="nl-NL" dirty="0"/>
          </a:p>
          <a:p>
            <a:endParaRPr lang="nl-NL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4BE379-4EB5-46CD-A545-6E1ECD3381D0}"/>
              </a:ext>
            </a:extLst>
          </p:cNvPr>
          <p:cNvSpPr/>
          <p:nvPr/>
        </p:nvSpPr>
        <p:spPr>
          <a:xfrm>
            <a:off x="1370990" y="2005309"/>
            <a:ext cx="9856047" cy="89336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2200" dirty="0">
                <a:solidFill>
                  <a:schemeClr val="tx1"/>
                </a:solidFill>
              </a:rPr>
              <a:t>Rows_set1 = </a:t>
            </a:r>
            <a:r>
              <a:rPr lang="nl-NL" sz="2200" dirty="0" err="1">
                <a:solidFill>
                  <a:schemeClr val="tx1"/>
                </a:solidFill>
              </a:rPr>
              <a:t>df.iloc</a:t>
            </a:r>
            <a:r>
              <a:rPr lang="nl-NL" sz="2200" dirty="0">
                <a:solidFill>
                  <a:schemeClr val="tx1"/>
                </a:solidFill>
              </a:rPr>
              <a:t>[[5:10], ]           # </a:t>
            </a:r>
            <a:r>
              <a:rPr lang="nl-NL" sz="2200" dirty="0" err="1">
                <a:solidFill>
                  <a:schemeClr val="tx1"/>
                </a:solidFill>
              </a:rPr>
              <a:t>Extracts</a:t>
            </a:r>
            <a:r>
              <a:rPr lang="nl-NL" sz="2200" dirty="0">
                <a:solidFill>
                  <a:schemeClr val="tx1"/>
                </a:solidFill>
              </a:rPr>
              <a:t> </a:t>
            </a:r>
            <a:r>
              <a:rPr lang="nl-NL" sz="2200" dirty="0" err="1">
                <a:solidFill>
                  <a:schemeClr val="tx1"/>
                </a:solidFill>
              </a:rPr>
              <a:t>rows</a:t>
            </a:r>
            <a:r>
              <a:rPr lang="nl-NL" sz="2200" dirty="0">
                <a:solidFill>
                  <a:schemeClr val="tx1"/>
                </a:solidFill>
              </a:rPr>
              <a:t> 5,6,7,8, </a:t>
            </a:r>
            <a:r>
              <a:rPr lang="nl-NL" sz="2200" dirty="0" err="1">
                <a:solidFill>
                  <a:schemeClr val="tx1"/>
                </a:solidFill>
              </a:rPr>
              <a:t>and</a:t>
            </a:r>
            <a:r>
              <a:rPr lang="nl-NL" sz="2200" dirty="0">
                <a:solidFill>
                  <a:schemeClr val="tx1"/>
                </a:solidFill>
              </a:rPr>
              <a:t> 9</a:t>
            </a:r>
          </a:p>
          <a:p>
            <a:r>
              <a:rPr lang="nl-NL" sz="2200" dirty="0">
                <a:solidFill>
                  <a:schemeClr val="tx1"/>
                </a:solidFill>
              </a:rPr>
              <a:t>Rows_set2 = </a:t>
            </a:r>
            <a:r>
              <a:rPr lang="nl-NL" sz="2200" dirty="0" err="1">
                <a:solidFill>
                  <a:schemeClr val="tx1"/>
                </a:solidFill>
              </a:rPr>
              <a:t>df.iloc</a:t>
            </a:r>
            <a:r>
              <a:rPr lang="nl-NL" sz="2200" dirty="0">
                <a:solidFill>
                  <a:schemeClr val="tx1"/>
                </a:solidFill>
              </a:rPr>
              <a:t>[[5,6,8,10], ]     # </a:t>
            </a:r>
            <a:r>
              <a:rPr lang="nl-NL" sz="2200" dirty="0" err="1">
                <a:solidFill>
                  <a:schemeClr val="tx1"/>
                </a:solidFill>
              </a:rPr>
              <a:t>Extracts</a:t>
            </a:r>
            <a:r>
              <a:rPr lang="nl-NL" sz="2200" dirty="0">
                <a:solidFill>
                  <a:schemeClr val="tx1"/>
                </a:solidFill>
              </a:rPr>
              <a:t> </a:t>
            </a:r>
            <a:r>
              <a:rPr lang="nl-NL" sz="2200" dirty="0" err="1">
                <a:solidFill>
                  <a:schemeClr val="tx1"/>
                </a:solidFill>
              </a:rPr>
              <a:t>rows</a:t>
            </a:r>
            <a:r>
              <a:rPr lang="nl-NL" sz="2200" dirty="0">
                <a:solidFill>
                  <a:schemeClr val="tx1"/>
                </a:solidFill>
              </a:rPr>
              <a:t> 5,6,8, </a:t>
            </a:r>
            <a:r>
              <a:rPr lang="nl-NL" sz="2200" dirty="0" err="1">
                <a:solidFill>
                  <a:schemeClr val="tx1"/>
                </a:solidFill>
              </a:rPr>
              <a:t>and</a:t>
            </a:r>
            <a:r>
              <a:rPr lang="nl-NL" sz="2200">
                <a:solidFill>
                  <a:schemeClr val="tx1"/>
                </a:solidFill>
              </a:rPr>
              <a:t> 10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8B3D6C-6C5B-4B68-85C4-B3CB8FF61599}"/>
              </a:ext>
            </a:extLst>
          </p:cNvPr>
          <p:cNvSpPr/>
          <p:nvPr/>
        </p:nvSpPr>
        <p:spPr>
          <a:xfrm>
            <a:off x="1370990" y="3939893"/>
            <a:ext cx="9856047" cy="128525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tx1"/>
                </a:solidFill>
              </a:rPr>
              <a:t>cols_set1 = df[</a:t>
            </a:r>
            <a:r>
              <a:rPr lang="en-US" sz="2200" dirty="0" err="1">
                <a:solidFill>
                  <a:schemeClr val="tx1"/>
                </a:solidFill>
              </a:rPr>
              <a:t>df.columns</a:t>
            </a:r>
            <a:r>
              <a:rPr lang="en-US" sz="2200" dirty="0">
                <a:solidFill>
                  <a:schemeClr val="tx1"/>
                </a:solidFill>
              </a:rPr>
              <a:t>[5:10]][:]</a:t>
            </a:r>
            <a:r>
              <a:rPr lang="nl-NL" sz="2200" dirty="0">
                <a:solidFill>
                  <a:schemeClr val="tx1"/>
                </a:solidFill>
              </a:rPr>
              <a:t>           # </a:t>
            </a:r>
            <a:r>
              <a:rPr lang="nl-NL" sz="2200" dirty="0" err="1">
                <a:solidFill>
                  <a:schemeClr val="tx1"/>
                </a:solidFill>
              </a:rPr>
              <a:t>Extracts</a:t>
            </a:r>
            <a:r>
              <a:rPr lang="nl-NL" sz="2200" dirty="0">
                <a:solidFill>
                  <a:schemeClr val="tx1"/>
                </a:solidFill>
              </a:rPr>
              <a:t> columns 5,6,7,8, </a:t>
            </a:r>
            <a:r>
              <a:rPr lang="nl-NL" sz="2200" dirty="0" err="1">
                <a:solidFill>
                  <a:schemeClr val="tx1"/>
                </a:solidFill>
              </a:rPr>
              <a:t>and</a:t>
            </a:r>
            <a:r>
              <a:rPr lang="nl-NL" sz="2200" dirty="0">
                <a:solidFill>
                  <a:schemeClr val="tx1"/>
                </a:solidFill>
              </a:rPr>
              <a:t> 9</a:t>
            </a:r>
          </a:p>
          <a:p>
            <a:r>
              <a:rPr lang="nl-NL" sz="2200" dirty="0">
                <a:solidFill>
                  <a:schemeClr val="tx1"/>
                </a:solidFill>
              </a:rPr>
              <a:t>cols_set2 = </a:t>
            </a:r>
            <a:r>
              <a:rPr lang="nl-NL" sz="2200" dirty="0" err="1">
                <a:solidFill>
                  <a:schemeClr val="tx1"/>
                </a:solidFill>
              </a:rPr>
              <a:t>df</a:t>
            </a:r>
            <a:r>
              <a:rPr lang="nl-NL" sz="2200" dirty="0">
                <a:solidFill>
                  <a:schemeClr val="tx1"/>
                </a:solidFill>
              </a:rPr>
              <a:t>[</a:t>
            </a:r>
            <a:r>
              <a:rPr lang="nl-NL" sz="2200" dirty="0" err="1">
                <a:solidFill>
                  <a:schemeClr val="tx1"/>
                </a:solidFill>
              </a:rPr>
              <a:t>df.columns</a:t>
            </a:r>
            <a:r>
              <a:rPr lang="nl-NL" sz="2200" dirty="0">
                <a:solidFill>
                  <a:schemeClr val="tx1"/>
                </a:solidFill>
              </a:rPr>
              <a:t>[[5,7,9]]][:]     # </a:t>
            </a:r>
            <a:r>
              <a:rPr lang="nl-NL" sz="2200" dirty="0" err="1">
                <a:solidFill>
                  <a:schemeClr val="tx1"/>
                </a:solidFill>
              </a:rPr>
              <a:t>Extracts</a:t>
            </a:r>
            <a:r>
              <a:rPr lang="nl-NL" sz="2200" dirty="0">
                <a:solidFill>
                  <a:schemeClr val="tx1"/>
                </a:solidFill>
              </a:rPr>
              <a:t> </a:t>
            </a:r>
            <a:r>
              <a:rPr lang="nl-NL" sz="2200" dirty="0" err="1">
                <a:solidFill>
                  <a:schemeClr val="tx1"/>
                </a:solidFill>
              </a:rPr>
              <a:t>rows</a:t>
            </a:r>
            <a:r>
              <a:rPr lang="nl-NL" sz="2200" dirty="0">
                <a:solidFill>
                  <a:schemeClr val="tx1"/>
                </a:solidFill>
              </a:rPr>
              <a:t> 5,7, </a:t>
            </a:r>
            <a:r>
              <a:rPr lang="nl-NL" sz="2200" dirty="0" err="1">
                <a:solidFill>
                  <a:schemeClr val="tx1"/>
                </a:solidFill>
              </a:rPr>
              <a:t>and</a:t>
            </a:r>
            <a:r>
              <a:rPr lang="nl-NL" sz="2200" dirty="0">
                <a:solidFill>
                  <a:schemeClr val="tx1"/>
                </a:solidFill>
              </a:rPr>
              <a:t> 9</a:t>
            </a:r>
          </a:p>
          <a:p>
            <a:r>
              <a:rPr lang="en-US" sz="2200" dirty="0">
                <a:solidFill>
                  <a:schemeClr val="tx1"/>
                </a:solidFill>
              </a:rPr>
              <a:t>col_set3 = df[['actor_3_facebook_likes', 'actor_1_facebook_likes', '</a:t>
            </a:r>
            <a:r>
              <a:rPr lang="en-US" sz="2200" dirty="0" err="1">
                <a:solidFill>
                  <a:schemeClr val="tx1"/>
                </a:solidFill>
              </a:rPr>
              <a:t>content_rating</a:t>
            </a:r>
            <a:r>
              <a:rPr lang="en-US" sz="2200" dirty="0">
                <a:solidFill>
                  <a:schemeClr val="tx1"/>
                </a:solidFill>
              </a:rPr>
              <a:t>']]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499417-20AF-50D0-9585-CB22E063B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5527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Data from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17A7612C-8616-4400-8419-A27E889A13C7}"/>
              </a:ext>
            </a:extLst>
          </p:cNvPr>
          <p:cNvSpPr txBox="1">
            <a:spLocks/>
          </p:cNvSpPr>
          <p:nvPr/>
        </p:nvSpPr>
        <p:spPr>
          <a:xfrm>
            <a:off x="964962" y="14357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Extract set of </a:t>
            </a:r>
            <a:r>
              <a:rPr lang="nl-NL" dirty="0" err="1"/>
              <a:t>rows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a </a:t>
            </a:r>
            <a:r>
              <a:rPr lang="nl-NL" dirty="0" err="1"/>
              <a:t>condition</a:t>
            </a:r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do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thing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iloc</a:t>
            </a:r>
            <a:endParaRPr lang="nl-NL" dirty="0"/>
          </a:p>
          <a:p>
            <a:endParaRPr lang="nl-NL" dirty="0"/>
          </a:p>
          <a:p>
            <a:endParaRPr lang="nl-NL" dirty="0"/>
          </a:p>
          <a:p>
            <a:pPr marL="0" indent="0">
              <a:buNone/>
            </a:pPr>
            <a:endParaRPr lang="nl-NL" dirty="0"/>
          </a:p>
          <a:p>
            <a:r>
              <a:rPr lang="nl-NL" dirty="0" err="1"/>
              <a:t>Note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: </a:t>
            </a:r>
            <a:r>
              <a:rPr lang="nl-NL" dirty="0" err="1"/>
              <a:t>iloc</a:t>
            </a:r>
            <a:r>
              <a:rPr lang="nl-NL" dirty="0"/>
              <a:t> </a:t>
            </a:r>
            <a:r>
              <a:rPr lang="nl-NL" dirty="0" err="1"/>
              <a:t>requires</a:t>
            </a:r>
            <a:r>
              <a:rPr lang="nl-NL" dirty="0"/>
              <a:t> </a:t>
            </a:r>
            <a:r>
              <a:rPr lang="nl-NL" dirty="0" err="1"/>
              <a:t>numerical</a:t>
            </a:r>
            <a:r>
              <a:rPr lang="nl-NL" dirty="0"/>
              <a:t> </a:t>
            </a:r>
            <a:r>
              <a:rPr lang="nl-NL" dirty="0" err="1"/>
              <a:t>values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indexes</a:t>
            </a:r>
            <a:endParaRPr lang="nl-NL" dirty="0"/>
          </a:p>
          <a:p>
            <a:endParaRPr lang="nl-NL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4BE379-4EB5-46CD-A545-6E1ECD3381D0}"/>
              </a:ext>
            </a:extLst>
          </p:cNvPr>
          <p:cNvSpPr/>
          <p:nvPr/>
        </p:nvSpPr>
        <p:spPr>
          <a:xfrm>
            <a:off x="1370990" y="2005309"/>
            <a:ext cx="9856047" cy="89336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2200" dirty="0" err="1">
                <a:solidFill>
                  <a:schemeClr val="tx1"/>
                </a:solidFill>
              </a:rPr>
              <a:t>df.loc</a:t>
            </a:r>
            <a:r>
              <a:rPr lang="nl-NL" sz="2200" dirty="0">
                <a:solidFill>
                  <a:schemeClr val="tx1"/>
                </a:solidFill>
              </a:rPr>
              <a:t>[</a:t>
            </a:r>
            <a:r>
              <a:rPr lang="nl-NL" sz="2200" dirty="0" err="1">
                <a:solidFill>
                  <a:schemeClr val="tx1"/>
                </a:solidFill>
              </a:rPr>
              <a:t>df</a:t>
            </a:r>
            <a:r>
              <a:rPr lang="nl-NL" sz="2200" dirty="0">
                <a:solidFill>
                  <a:schemeClr val="tx1"/>
                </a:solidFill>
              </a:rPr>
              <a:t>['</a:t>
            </a:r>
            <a:r>
              <a:rPr lang="nl-NL" sz="2200" dirty="0" err="1">
                <a:solidFill>
                  <a:schemeClr val="tx1"/>
                </a:solidFill>
              </a:rPr>
              <a:t>content_rating</a:t>
            </a:r>
            <a:r>
              <a:rPr lang="nl-NL" sz="2200" dirty="0">
                <a:solidFill>
                  <a:schemeClr val="tx1"/>
                </a:solidFill>
              </a:rPr>
              <a:t>'] == 'PG-13', ['actor_1_facebook_likes', </a:t>
            </a:r>
          </a:p>
          <a:p>
            <a:r>
              <a:rPr lang="nl-NL" sz="2200" dirty="0">
                <a:solidFill>
                  <a:schemeClr val="tx1"/>
                </a:solidFill>
              </a:rPr>
              <a:t>	'actor_3_facebook_likes', 'budget']]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8B3D6C-6C5B-4B68-85C4-B3CB8FF61599}"/>
              </a:ext>
            </a:extLst>
          </p:cNvPr>
          <p:cNvSpPr/>
          <p:nvPr/>
        </p:nvSpPr>
        <p:spPr>
          <a:xfrm>
            <a:off x="1370990" y="3868036"/>
            <a:ext cx="9856047" cy="72711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 err="1">
                <a:solidFill>
                  <a:schemeClr val="tx1"/>
                </a:solidFill>
              </a:rPr>
              <a:t>df.iloc</a:t>
            </a:r>
            <a:r>
              <a:rPr lang="en-US" sz="2200" dirty="0">
                <a:solidFill>
                  <a:schemeClr val="tx1"/>
                </a:solidFill>
              </a:rPr>
              <a:t>[(df['</a:t>
            </a:r>
            <a:r>
              <a:rPr lang="en-US" sz="2200" dirty="0" err="1">
                <a:solidFill>
                  <a:schemeClr val="tx1"/>
                </a:solidFill>
              </a:rPr>
              <a:t>content_rating</a:t>
            </a:r>
            <a:r>
              <a:rPr lang="en-US" sz="2200" dirty="0">
                <a:solidFill>
                  <a:schemeClr val="tx1"/>
                </a:solidFill>
              </a:rPr>
              <a:t>'] == 'PG-13').values, [1, 3]]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B0215B-747E-AC03-DD39-5F38A3FF8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557121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Profiling the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17A7612C-8616-4400-8419-A27E889A13C7}"/>
              </a:ext>
            </a:extLst>
          </p:cNvPr>
          <p:cNvSpPr txBox="1">
            <a:spLocks/>
          </p:cNvSpPr>
          <p:nvPr/>
        </p:nvSpPr>
        <p:spPr>
          <a:xfrm>
            <a:off x="964962" y="14357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Display </a:t>
            </a:r>
            <a:r>
              <a:rPr lang="nl-NL" dirty="0" err="1"/>
              <a:t>number</a:t>
            </a:r>
            <a:r>
              <a:rPr lang="nl-NL" dirty="0"/>
              <a:t> of columns</a:t>
            </a:r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Display </a:t>
            </a:r>
            <a:r>
              <a:rPr lang="nl-NL" dirty="0" err="1"/>
              <a:t>number</a:t>
            </a:r>
            <a:r>
              <a:rPr lang="nl-NL" dirty="0"/>
              <a:t> of </a:t>
            </a:r>
            <a:r>
              <a:rPr lang="nl-NL" dirty="0" err="1"/>
              <a:t>rows</a:t>
            </a:r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number</a:t>
            </a:r>
            <a:r>
              <a:rPr lang="nl-NL" dirty="0"/>
              <a:t> of non-</a:t>
            </a:r>
            <a:r>
              <a:rPr lang="nl-NL" dirty="0" err="1"/>
              <a:t>null</a:t>
            </a:r>
            <a:r>
              <a:rPr lang="nl-NL" dirty="0"/>
              <a:t> </a:t>
            </a:r>
            <a:r>
              <a:rPr lang="nl-NL" dirty="0" err="1"/>
              <a:t>values</a:t>
            </a:r>
            <a:r>
              <a:rPr lang="nl-NL" dirty="0"/>
              <a:t> in </a:t>
            </a:r>
            <a:r>
              <a:rPr lang="nl-NL" dirty="0" err="1"/>
              <a:t>each</a:t>
            </a:r>
            <a:r>
              <a:rPr lang="nl-NL" dirty="0"/>
              <a:t> column (</a:t>
            </a:r>
            <a:r>
              <a:rPr lang="nl-NL" dirty="0" err="1"/>
              <a:t>attribute</a:t>
            </a:r>
            <a:r>
              <a:rPr lang="nl-NL" dirty="0"/>
              <a:t>)</a:t>
            </a:r>
          </a:p>
          <a:p>
            <a:endParaRPr lang="nl-NL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4BE379-4EB5-46CD-A545-6E1ECD3381D0}"/>
              </a:ext>
            </a:extLst>
          </p:cNvPr>
          <p:cNvSpPr/>
          <p:nvPr/>
        </p:nvSpPr>
        <p:spPr>
          <a:xfrm>
            <a:off x="1370989" y="2138720"/>
            <a:ext cx="9856047" cy="72711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2200" dirty="0">
                <a:solidFill>
                  <a:schemeClr val="tx1"/>
                </a:solidFill>
              </a:rPr>
              <a:t>print(</a:t>
            </a:r>
            <a:r>
              <a:rPr lang="nl-NL" sz="2200" dirty="0" err="1">
                <a:solidFill>
                  <a:schemeClr val="tx1"/>
                </a:solidFill>
              </a:rPr>
              <a:t>len</a:t>
            </a:r>
            <a:r>
              <a:rPr lang="nl-NL" sz="2200" dirty="0">
                <a:solidFill>
                  <a:schemeClr val="tx1"/>
                </a:solidFill>
              </a:rPr>
              <a:t>(</a:t>
            </a:r>
            <a:r>
              <a:rPr lang="nl-NL" sz="2200" dirty="0" err="1">
                <a:solidFill>
                  <a:schemeClr val="tx1"/>
                </a:solidFill>
              </a:rPr>
              <a:t>df.columns</a:t>
            </a:r>
            <a:r>
              <a:rPr lang="nl-NL" sz="2200" dirty="0">
                <a:solidFill>
                  <a:schemeClr val="tx1"/>
                </a:solidFill>
              </a:rPr>
              <a:t>))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8B3D6C-6C5B-4B68-85C4-B3CB8FF61599}"/>
              </a:ext>
            </a:extLst>
          </p:cNvPr>
          <p:cNvSpPr/>
          <p:nvPr/>
        </p:nvSpPr>
        <p:spPr>
          <a:xfrm>
            <a:off x="1370990" y="3595773"/>
            <a:ext cx="9856047" cy="72711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tx1"/>
                </a:solidFill>
              </a:rPr>
              <a:t>print(</a:t>
            </a:r>
            <a:r>
              <a:rPr lang="en-US" sz="2200" dirty="0" err="1">
                <a:solidFill>
                  <a:schemeClr val="tx1"/>
                </a:solidFill>
              </a:rPr>
              <a:t>len</a:t>
            </a:r>
            <a:r>
              <a:rPr lang="en-US" sz="2200" dirty="0">
                <a:solidFill>
                  <a:schemeClr val="tx1"/>
                </a:solidFill>
              </a:rPr>
              <a:t>(df))       # OR print(</a:t>
            </a:r>
            <a:r>
              <a:rPr lang="en-US" sz="2200" dirty="0" err="1">
                <a:solidFill>
                  <a:schemeClr val="tx1"/>
                </a:solidFill>
              </a:rPr>
              <a:t>len</a:t>
            </a:r>
            <a:r>
              <a:rPr lang="en-US" sz="2200" dirty="0">
                <a:solidFill>
                  <a:schemeClr val="tx1"/>
                </a:solidFill>
              </a:rPr>
              <a:t>(df[</a:t>
            </a:r>
            <a:r>
              <a:rPr lang="en-US" sz="2200" dirty="0" err="1">
                <a:solidFill>
                  <a:schemeClr val="tx1"/>
                </a:solidFill>
              </a:rPr>
              <a:t>df.columns</a:t>
            </a:r>
            <a:r>
              <a:rPr lang="en-US" sz="2200" dirty="0">
                <a:solidFill>
                  <a:schemeClr val="tx1"/>
                </a:solidFill>
              </a:rPr>
              <a:t>[0]])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3E527C-03C9-44A5-9E87-5B1F496E928B}"/>
              </a:ext>
            </a:extLst>
          </p:cNvPr>
          <p:cNvSpPr/>
          <p:nvPr/>
        </p:nvSpPr>
        <p:spPr>
          <a:xfrm>
            <a:off x="1370989" y="5277154"/>
            <a:ext cx="9856047" cy="72711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 err="1">
                <a:solidFill>
                  <a:schemeClr val="tx1"/>
                </a:solidFill>
              </a:rPr>
              <a:t>df.count</a:t>
            </a:r>
            <a:r>
              <a:rPr lang="en-US" sz="22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D1155E-F0F7-1688-A4E8-966804733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04501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Profiling the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17A7612C-8616-4400-8419-A27E889A13C7}"/>
              </a:ext>
            </a:extLst>
          </p:cNvPr>
          <p:cNvSpPr txBox="1">
            <a:spLocks/>
          </p:cNvSpPr>
          <p:nvPr/>
        </p:nvSpPr>
        <p:spPr>
          <a:xfrm>
            <a:off x="964962" y="14357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Display </a:t>
            </a:r>
            <a:r>
              <a:rPr lang="nl-NL" dirty="0" err="1"/>
              <a:t>number</a:t>
            </a:r>
            <a:r>
              <a:rPr lang="nl-NL" dirty="0"/>
              <a:t> of </a:t>
            </a:r>
            <a:r>
              <a:rPr lang="nl-NL" dirty="0" err="1"/>
              <a:t>distinct</a:t>
            </a:r>
            <a:r>
              <a:rPr lang="nl-NL" dirty="0"/>
              <a:t> </a:t>
            </a:r>
            <a:r>
              <a:rPr lang="nl-NL" dirty="0" err="1"/>
              <a:t>values</a:t>
            </a:r>
            <a:r>
              <a:rPr lang="nl-NL" dirty="0"/>
              <a:t> in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attribute</a:t>
            </a:r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Display </a:t>
            </a:r>
            <a:r>
              <a:rPr lang="nl-NL" dirty="0" err="1"/>
              <a:t>the</a:t>
            </a:r>
            <a:r>
              <a:rPr lang="nl-NL" dirty="0"/>
              <a:t> data type of </a:t>
            </a:r>
            <a:r>
              <a:rPr lang="nl-NL" dirty="0" err="1"/>
              <a:t>each</a:t>
            </a:r>
            <a:r>
              <a:rPr lang="nl-NL" dirty="0"/>
              <a:t> </a:t>
            </a:r>
            <a:r>
              <a:rPr lang="nl-NL" dirty="0" err="1"/>
              <a:t>attribute</a:t>
            </a:r>
            <a:r>
              <a:rPr lang="nl-NL" dirty="0"/>
              <a:t> 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4BE379-4EB5-46CD-A545-6E1ECD3381D0}"/>
              </a:ext>
            </a:extLst>
          </p:cNvPr>
          <p:cNvSpPr/>
          <p:nvPr/>
        </p:nvSpPr>
        <p:spPr>
          <a:xfrm>
            <a:off x="1370989" y="2353324"/>
            <a:ext cx="9856047" cy="72711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tx1"/>
                </a:solidFill>
              </a:rPr>
              <a:t>for col in  </a:t>
            </a:r>
            <a:r>
              <a:rPr lang="en-US" sz="2200" dirty="0" err="1">
                <a:solidFill>
                  <a:schemeClr val="tx1"/>
                </a:solidFill>
              </a:rPr>
              <a:t>df.columns</a:t>
            </a:r>
            <a:r>
              <a:rPr lang="en-US" sz="2200" dirty="0">
                <a:solidFill>
                  <a:schemeClr val="tx1"/>
                </a:solidFill>
              </a:rPr>
              <a:t>:</a:t>
            </a:r>
          </a:p>
          <a:p>
            <a:r>
              <a:rPr lang="en-US" sz="2200" dirty="0">
                <a:solidFill>
                  <a:schemeClr val="tx1"/>
                </a:solidFill>
              </a:rPr>
              <a:t>    print(col, ' has (', </a:t>
            </a:r>
            <a:r>
              <a:rPr lang="en-US" sz="2200" dirty="0" err="1">
                <a:solidFill>
                  <a:schemeClr val="tx1"/>
                </a:solidFill>
              </a:rPr>
              <a:t>len</a:t>
            </a:r>
            <a:r>
              <a:rPr lang="en-US" sz="2200" dirty="0">
                <a:solidFill>
                  <a:schemeClr val="tx1"/>
                </a:solidFill>
              </a:rPr>
              <a:t>(df[col].unique()), ') unique values')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8B3D6C-6C5B-4B68-85C4-B3CB8FF61599}"/>
              </a:ext>
            </a:extLst>
          </p:cNvPr>
          <p:cNvSpPr/>
          <p:nvPr/>
        </p:nvSpPr>
        <p:spPr>
          <a:xfrm>
            <a:off x="1370989" y="4287007"/>
            <a:ext cx="9856047" cy="128762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 err="1">
                <a:solidFill>
                  <a:schemeClr val="tx1"/>
                </a:solidFill>
              </a:rPr>
              <a:t>dataTypeSeries</a:t>
            </a:r>
            <a:r>
              <a:rPr lang="en-US" sz="2200" dirty="0">
                <a:solidFill>
                  <a:schemeClr val="tx1"/>
                </a:solidFill>
              </a:rPr>
              <a:t> = </a:t>
            </a:r>
            <a:r>
              <a:rPr lang="en-US" sz="2200" dirty="0" err="1">
                <a:solidFill>
                  <a:schemeClr val="tx1"/>
                </a:solidFill>
              </a:rPr>
              <a:t>df.dtypes</a:t>
            </a:r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for </a:t>
            </a:r>
            <a:r>
              <a:rPr lang="en-US" sz="2200" dirty="0" err="1">
                <a:solidFill>
                  <a:schemeClr val="tx1"/>
                </a:solidFill>
              </a:rPr>
              <a:t>col_idx</a:t>
            </a:r>
            <a:r>
              <a:rPr lang="en-US" sz="2200" dirty="0">
                <a:solidFill>
                  <a:schemeClr val="tx1"/>
                </a:solidFill>
              </a:rPr>
              <a:t> in range(</a:t>
            </a:r>
            <a:r>
              <a:rPr lang="en-US" sz="2200" dirty="0" err="1">
                <a:solidFill>
                  <a:schemeClr val="tx1"/>
                </a:solidFill>
              </a:rPr>
              <a:t>len</a:t>
            </a:r>
            <a:r>
              <a:rPr lang="en-US" sz="2200" dirty="0">
                <a:solidFill>
                  <a:schemeClr val="tx1"/>
                </a:solidFill>
              </a:rPr>
              <a:t>(</a:t>
            </a:r>
            <a:r>
              <a:rPr lang="en-US" sz="2200" dirty="0" err="1">
                <a:solidFill>
                  <a:schemeClr val="tx1"/>
                </a:solidFill>
              </a:rPr>
              <a:t>df.columns</a:t>
            </a:r>
            <a:r>
              <a:rPr lang="en-US" sz="2200" dirty="0">
                <a:solidFill>
                  <a:schemeClr val="tx1"/>
                </a:solidFill>
              </a:rPr>
              <a:t>)):</a:t>
            </a:r>
          </a:p>
          <a:p>
            <a:r>
              <a:rPr lang="en-US" sz="2200" dirty="0">
                <a:solidFill>
                  <a:schemeClr val="tx1"/>
                </a:solidFill>
              </a:rPr>
              <a:t>    	print(</a:t>
            </a:r>
            <a:r>
              <a:rPr lang="en-US" sz="2200" dirty="0" err="1">
                <a:solidFill>
                  <a:schemeClr val="tx1"/>
                </a:solidFill>
              </a:rPr>
              <a:t>df.columns</a:t>
            </a:r>
            <a:r>
              <a:rPr lang="en-US" sz="2200" dirty="0">
                <a:solidFill>
                  <a:schemeClr val="tx1"/>
                </a:solidFill>
              </a:rPr>
              <a:t>[</a:t>
            </a:r>
            <a:r>
              <a:rPr lang="en-US" sz="2200" dirty="0" err="1">
                <a:solidFill>
                  <a:schemeClr val="tx1"/>
                </a:solidFill>
              </a:rPr>
              <a:t>col_idx</a:t>
            </a:r>
            <a:r>
              <a:rPr lang="en-US" sz="2200" dirty="0">
                <a:solidFill>
                  <a:schemeClr val="tx1"/>
                </a:solidFill>
              </a:rPr>
              <a:t>], 'has type (', </a:t>
            </a:r>
            <a:r>
              <a:rPr lang="en-US" sz="2200" dirty="0" err="1">
                <a:solidFill>
                  <a:schemeClr val="tx1"/>
                </a:solidFill>
              </a:rPr>
              <a:t>dataTypeSeries</a:t>
            </a:r>
            <a:r>
              <a:rPr lang="en-US" sz="2200" dirty="0">
                <a:solidFill>
                  <a:schemeClr val="tx1"/>
                </a:solidFill>
              </a:rPr>
              <a:t>[</a:t>
            </a:r>
            <a:r>
              <a:rPr lang="en-US" sz="2200" dirty="0" err="1">
                <a:solidFill>
                  <a:schemeClr val="tx1"/>
                </a:solidFill>
              </a:rPr>
              <a:t>col_idx</a:t>
            </a:r>
            <a:r>
              <a:rPr lang="en-US" sz="2200" dirty="0">
                <a:solidFill>
                  <a:schemeClr val="tx1"/>
                </a:solidFill>
              </a:rPr>
              <a:t>], ')')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60194B-172E-864A-BEEE-98F1B096E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60070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Profiling the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Aggregate Queries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17A7612C-8616-4400-8419-A27E889A13C7}"/>
              </a:ext>
            </a:extLst>
          </p:cNvPr>
          <p:cNvSpPr txBox="1">
            <a:spLocks/>
          </p:cNvSpPr>
          <p:nvPr/>
        </p:nvSpPr>
        <p:spPr>
          <a:xfrm>
            <a:off x="964962" y="14357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 err="1"/>
              <a:t>Find</a:t>
            </a:r>
            <a:r>
              <a:rPr lang="nl-NL" dirty="0"/>
              <a:t> max, min,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average</a:t>
            </a:r>
            <a:r>
              <a:rPr lang="nl-NL" dirty="0"/>
              <a:t> of </a:t>
            </a:r>
            <a:r>
              <a:rPr lang="nl-NL" dirty="0" err="1"/>
              <a:t>numerical</a:t>
            </a:r>
            <a:r>
              <a:rPr lang="nl-NL" dirty="0"/>
              <a:t> </a:t>
            </a:r>
            <a:r>
              <a:rPr lang="nl-NL" dirty="0" err="1"/>
              <a:t>attributes</a:t>
            </a:r>
            <a:endParaRPr lang="nl-NL" dirty="0"/>
          </a:p>
          <a:p>
            <a:endParaRPr lang="nl-NL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8B3D6C-6C5B-4B68-85C4-B3CB8FF61599}"/>
              </a:ext>
            </a:extLst>
          </p:cNvPr>
          <p:cNvSpPr/>
          <p:nvPr/>
        </p:nvSpPr>
        <p:spPr>
          <a:xfrm>
            <a:off x="1294738" y="2337843"/>
            <a:ext cx="9856047" cy="268665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 err="1">
                <a:solidFill>
                  <a:schemeClr val="tx1"/>
                </a:solidFill>
              </a:rPr>
              <a:t>dataTypeSeries</a:t>
            </a:r>
            <a:r>
              <a:rPr lang="en-US" sz="2200" dirty="0">
                <a:solidFill>
                  <a:schemeClr val="tx1"/>
                </a:solidFill>
              </a:rPr>
              <a:t> = </a:t>
            </a:r>
            <a:r>
              <a:rPr lang="en-US" sz="2200" dirty="0" err="1">
                <a:solidFill>
                  <a:schemeClr val="tx1"/>
                </a:solidFill>
              </a:rPr>
              <a:t>df.dtypes</a:t>
            </a:r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for </a:t>
            </a:r>
            <a:r>
              <a:rPr lang="en-US" sz="2200" dirty="0" err="1">
                <a:solidFill>
                  <a:schemeClr val="tx1"/>
                </a:solidFill>
              </a:rPr>
              <a:t>col_idx</a:t>
            </a:r>
            <a:r>
              <a:rPr lang="en-US" sz="2200" dirty="0">
                <a:solidFill>
                  <a:schemeClr val="tx1"/>
                </a:solidFill>
              </a:rPr>
              <a:t> in range(</a:t>
            </a:r>
            <a:r>
              <a:rPr lang="en-US" sz="2200" dirty="0" err="1">
                <a:solidFill>
                  <a:schemeClr val="tx1"/>
                </a:solidFill>
              </a:rPr>
              <a:t>len</a:t>
            </a:r>
            <a:r>
              <a:rPr lang="en-US" sz="2200" dirty="0">
                <a:solidFill>
                  <a:schemeClr val="tx1"/>
                </a:solidFill>
              </a:rPr>
              <a:t>(</a:t>
            </a:r>
            <a:r>
              <a:rPr lang="en-US" sz="2200" dirty="0" err="1">
                <a:solidFill>
                  <a:schemeClr val="tx1"/>
                </a:solidFill>
              </a:rPr>
              <a:t>df.columns</a:t>
            </a:r>
            <a:r>
              <a:rPr lang="en-US" sz="2200" dirty="0">
                <a:solidFill>
                  <a:schemeClr val="tx1"/>
                </a:solidFill>
              </a:rPr>
              <a:t>)):</a:t>
            </a:r>
          </a:p>
          <a:p>
            <a:r>
              <a:rPr lang="en-US" sz="2200" dirty="0">
                <a:solidFill>
                  <a:schemeClr val="tx1"/>
                </a:solidFill>
              </a:rPr>
              <a:t>       if (not (</a:t>
            </a:r>
            <a:r>
              <a:rPr lang="en-US" sz="2200" dirty="0" err="1">
                <a:solidFill>
                  <a:schemeClr val="tx1"/>
                </a:solidFill>
              </a:rPr>
              <a:t>dataTypeSeries</a:t>
            </a:r>
            <a:r>
              <a:rPr lang="en-US" sz="2200" dirty="0">
                <a:solidFill>
                  <a:schemeClr val="tx1"/>
                </a:solidFill>
              </a:rPr>
              <a:t>[</a:t>
            </a:r>
            <a:r>
              <a:rPr lang="en-US" sz="2200" dirty="0" err="1">
                <a:solidFill>
                  <a:schemeClr val="tx1"/>
                </a:solidFill>
              </a:rPr>
              <a:t>col_idx</a:t>
            </a:r>
            <a:r>
              <a:rPr lang="en-US" sz="2200" dirty="0">
                <a:solidFill>
                  <a:schemeClr val="tx1"/>
                </a:solidFill>
              </a:rPr>
              <a:t>] == 'object')):</a:t>
            </a:r>
          </a:p>
          <a:p>
            <a:r>
              <a:rPr lang="en-US" sz="2200" dirty="0">
                <a:solidFill>
                  <a:schemeClr val="tx1"/>
                </a:solidFill>
              </a:rPr>
              <a:t>            print(</a:t>
            </a:r>
            <a:r>
              <a:rPr lang="en-US" sz="2200" dirty="0" err="1">
                <a:solidFill>
                  <a:schemeClr val="tx1"/>
                </a:solidFill>
              </a:rPr>
              <a:t>df.columns</a:t>
            </a:r>
            <a:r>
              <a:rPr lang="en-US" sz="2200" dirty="0">
                <a:solidFill>
                  <a:schemeClr val="tx1"/>
                </a:solidFill>
              </a:rPr>
              <a:t>[</a:t>
            </a:r>
            <a:r>
              <a:rPr lang="en-US" sz="2200" dirty="0" err="1">
                <a:solidFill>
                  <a:schemeClr val="tx1"/>
                </a:solidFill>
              </a:rPr>
              <a:t>col_idx</a:t>
            </a:r>
            <a:r>
              <a:rPr lang="en-US" sz="2200" dirty="0">
                <a:solidFill>
                  <a:schemeClr val="tx1"/>
                </a:solidFill>
              </a:rPr>
              <a:t>], 'has Min = ', df[</a:t>
            </a:r>
            <a:r>
              <a:rPr lang="en-US" sz="2200" dirty="0" err="1">
                <a:solidFill>
                  <a:schemeClr val="tx1"/>
                </a:solidFill>
              </a:rPr>
              <a:t>df.columns</a:t>
            </a:r>
            <a:r>
              <a:rPr lang="en-US" sz="2200" dirty="0">
                <a:solidFill>
                  <a:schemeClr val="tx1"/>
                </a:solidFill>
              </a:rPr>
              <a:t>[</a:t>
            </a:r>
            <a:r>
              <a:rPr lang="en-US" sz="2200" dirty="0" err="1">
                <a:solidFill>
                  <a:schemeClr val="tx1"/>
                </a:solidFill>
              </a:rPr>
              <a:t>col_idx</a:t>
            </a:r>
            <a:r>
              <a:rPr lang="en-US" sz="2200" dirty="0">
                <a:solidFill>
                  <a:schemeClr val="tx1"/>
                </a:solidFill>
              </a:rPr>
              <a:t>]].min(), </a:t>
            </a:r>
          </a:p>
          <a:p>
            <a:r>
              <a:rPr lang="en-US" sz="2200" dirty="0">
                <a:solidFill>
                  <a:schemeClr val="tx1"/>
                </a:solidFill>
              </a:rPr>
              <a:t>                  'Max = ', df[</a:t>
            </a:r>
            <a:r>
              <a:rPr lang="en-US" sz="2200" dirty="0" err="1">
                <a:solidFill>
                  <a:schemeClr val="tx1"/>
                </a:solidFill>
              </a:rPr>
              <a:t>df.columns</a:t>
            </a:r>
            <a:r>
              <a:rPr lang="en-US" sz="2200" dirty="0">
                <a:solidFill>
                  <a:schemeClr val="tx1"/>
                </a:solidFill>
              </a:rPr>
              <a:t>[</a:t>
            </a:r>
            <a:r>
              <a:rPr lang="en-US" sz="2200" dirty="0" err="1">
                <a:solidFill>
                  <a:schemeClr val="tx1"/>
                </a:solidFill>
              </a:rPr>
              <a:t>col_idx</a:t>
            </a:r>
            <a:r>
              <a:rPr lang="en-US" sz="2200" dirty="0">
                <a:solidFill>
                  <a:schemeClr val="tx1"/>
                </a:solidFill>
              </a:rPr>
              <a:t>]].max(), </a:t>
            </a:r>
          </a:p>
          <a:p>
            <a:r>
              <a:rPr lang="en-US" sz="2200" dirty="0">
                <a:solidFill>
                  <a:schemeClr val="tx1"/>
                </a:solidFill>
              </a:rPr>
              <a:t>                  'Average = ', df[</a:t>
            </a:r>
            <a:r>
              <a:rPr lang="en-US" sz="2200" dirty="0" err="1">
                <a:solidFill>
                  <a:schemeClr val="tx1"/>
                </a:solidFill>
              </a:rPr>
              <a:t>df.columns</a:t>
            </a:r>
            <a:r>
              <a:rPr lang="en-US" sz="2200" dirty="0">
                <a:solidFill>
                  <a:schemeClr val="tx1"/>
                </a:solidFill>
              </a:rPr>
              <a:t>[</a:t>
            </a:r>
            <a:r>
              <a:rPr lang="en-US" sz="2200" dirty="0" err="1">
                <a:solidFill>
                  <a:schemeClr val="tx1"/>
                </a:solidFill>
              </a:rPr>
              <a:t>col_idx</a:t>
            </a:r>
            <a:r>
              <a:rPr lang="en-US" sz="2200" dirty="0">
                <a:solidFill>
                  <a:schemeClr val="tx1"/>
                </a:solidFill>
              </a:rPr>
              <a:t>]].mean())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412A6A-023E-C369-A783-1D08CAB2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90468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Operations on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17A7612C-8616-4400-8419-A27E889A13C7}"/>
              </a:ext>
            </a:extLst>
          </p:cNvPr>
          <p:cNvSpPr txBox="1">
            <a:spLocks/>
          </p:cNvSpPr>
          <p:nvPr/>
        </p:nvSpPr>
        <p:spPr>
          <a:xfrm>
            <a:off x="964962" y="14357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 err="1"/>
              <a:t>Assume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following</a:t>
            </a:r>
            <a:r>
              <a:rPr lang="nl-NL" dirty="0"/>
              <a:t> dataframes 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The </a:t>
            </a:r>
            <a:r>
              <a:rPr lang="nl-NL" i="1" dirty="0" err="1"/>
              <a:t>concat</a:t>
            </a:r>
            <a:r>
              <a:rPr lang="nl-NL" i="1" dirty="0"/>
              <a:t> </a:t>
            </a:r>
            <a:r>
              <a:rPr lang="nl-NL" dirty="0" err="1"/>
              <a:t>function</a:t>
            </a:r>
            <a:r>
              <a:rPr lang="nl-NL" dirty="0"/>
              <a:t> concatenates </a:t>
            </a:r>
            <a:r>
              <a:rPr lang="nl-NL" dirty="0" err="1"/>
              <a:t>the</a:t>
            </a:r>
            <a:r>
              <a:rPr lang="nl-NL" dirty="0"/>
              <a:t> dataframes </a:t>
            </a:r>
            <a:r>
              <a:rPr lang="nl-NL" dirty="0" err="1"/>
              <a:t>allowing</a:t>
            </a:r>
            <a:r>
              <a:rPr lang="nl-NL" dirty="0"/>
              <a:t> repetition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4BE379-4EB5-46CD-A545-6E1ECD3381D0}"/>
              </a:ext>
            </a:extLst>
          </p:cNvPr>
          <p:cNvSpPr/>
          <p:nvPr/>
        </p:nvSpPr>
        <p:spPr>
          <a:xfrm>
            <a:off x="1370989" y="1971304"/>
            <a:ext cx="9856047" cy="89452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2200" dirty="0">
                <a:solidFill>
                  <a:schemeClr val="tx1"/>
                </a:solidFill>
              </a:rPr>
              <a:t>dd1 = </a:t>
            </a:r>
            <a:r>
              <a:rPr lang="nl-NL" sz="2200" dirty="0" err="1">
                <a:solidFill>
                  <a:schemeClr val="tx1"/>
                </a:solidFill>
              </a:rPr>
              <a:t>pd.DataFrame</a:t>
            </a:r>
            <a:r>
              <a:rPr lang="nl-NL" sz="2200" dirty="0">
                <a:solidFill>
                  <a:schemeClr val="tx1"/>
                </a:solidFill>
              </a:rPr>
              <a:t>( { '</a:t>
            </a:r>
            <a:r>
              <a:rPr lang="nl-NL" sz="2200" dirty="0" err="1">
                <a:solidFill>
                  <a:schemeClr val="tx1"/>
                </a:solidFill>
              </a:rPr>
              <a:t>id</a:t>
            </a:r>
            <a:r>
              <a:rPr lang="nl-NL" sz="2200" dirty="0">
                <a:solidFill>
                  <a:schemeClr val="tx1"/>
                </a:solidFill>
              </a:rPr>
              <a:t>': ['1', '2', '3', '4', '5'], 'Feature1': ['A', 'C', 'E', 'G', 'I’], </a:t>
            </a:r>
          </a:p>
          <a:p>
            <a:r>
              <a:rPr lang="nl-NL" sz="2200" dirty="0">
                <a:solidFill>
                  <a:schemeClr val="tx1"/>
                </a:solidFill>
              </a:rPr>
              <a:t>	'Feature2': ['B', 'D', 'F', 'H', 'J’]})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8B3D6C-6C5B-4B68-85C4-B3CB8FF61599}"/>
              </a:ext>
            </a:extLst>
          </p:cNvPr>
          <p:cNvSpPr/>
          <p:nvPr/>
        </p:nvSpPr>
        <p:spPr>
          <a:xfrm>
            <a:off x="1370987" y="3018230"/>
            <a:ext cx="9856047" cy="81956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2200" dirty="0">
                <a:solidFill>
                  <a:schemeClr val="tx1"/>
                </a:solidFill>
              </a:rPr>
              <a:t>dd2 = </a:t>
            </a:r>
            <a:r>
              <a:rPr lang="nl-NL" sz="2200" dirty="0" err="1">
                <a:solidFill>
                  <a:schemeClr val="tx1"/>
                </a:solidFill>
              </a:rPr>
              <a:t>pd.DataFrame</a:t>
            </a:r>
            <a:r>
              <a:rPr lang="nl-NL" sz="2200" dirty="0">
                <a:solidFill>
                  <a:schemeClr val="tx1"/>
                </a:solidFill>
              </a:rPr>
              <a:t>( { '</a:t>
            </a:r>
            <a:r>
              <a:rPr lang="nl-NL" sz="2200" dirty="0" err="1">
                <a:solidFill>
                  <a:schemeClr val="tx1"/>
                </a:solidFill>
              </a:rPr>
              <a:t>id</a:t>
            </a:r>
            <a:r>
              <a:rPr lang="nl-NL" sz="2200" dirty="0">
                <a:solidFill>
                  <a:schemeClr val="tx1"/>
                </a:solidFill>
              </a:rPr>
              <a:t>': ['1', '2', '6', '7', '8'], 'Feature1': [‘A', ‘C', 'O', 'Q', </a:t>
            </a:r>
            <a:r>
              <a:rPr lang="nl-NL" sz="2200" dirty="0" err="1">
                <a:solidFill>
                  <a:schemeClr val="tx1"/>
                </a:solidFill>
              </a:rPr>
              <a:t>'S</a:t>
            </a:r>
            <a:r>
              <a:rPr lang="nl-NL" sz="2200" dirty="0">
                <a:solidFill>
                  <a:schemeClr val="tx1"/>
                </a:solidFill>
              </a:rPr>
              <a:t>’], </a:t>
            </a:r>
          </a:p>
          <a:p>
            <a:r>
              <a:rPr lang="nl-NL" sz="2200" dirty="0">
                <a:solidFill>
                  <a:schemeClr val="tx1"/>
                </a:solidFill>
              </a:rPr>
              <a:t>	'Feature2': [‘B', ‘D', 'P', </a:t>
            </a:r>
            <a:r>
              <a:rPr lang="nl-NL" sz="2200" dirty="0" err="1">
                <a:solidFill>
                  <a:schemeClr val="tx1"/>
                </a:solidFill>
              </a:rPr>
              <a:t>'R</a:t>
            </a:r>
            <a:r>
              <a:rPr lang="nl-NL" sz="2200" dirty="0">
                <a:solidFill>
                  <a:schemeClr val="tx1"/>
                </a:solidFill>
              </a:rPr>
              <a:t>', </a:t>
            </a:r>
            <a:r>
              <a:rPr lang="nl-NL" sz="2200" dirty="0" err="1">
                <a:solidFill>
                  <a:schemeClr val="tx1"/>
                </a:solidFill>
              </a:rPr>
              <a:t>'T</a:t>
            </a:r>
            <a:r>
              <a:rPr lang="nl-NL" sz="2200" dirty="0">
                <a:solidFill>
                  <a:schemeClr val="tx1"/>
                </a:solidFill>
              </a:rPr>
              <a:t>’]})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3E527C-03C9-44A5-9E87-5B1F496E928B}"/>
              </a:ext>
            </a:extLst>
          </p:cNvPr>
          <p:cNvSpPr/>
          <p:nvPr/>
        </p:nvSpPr>
        <p:spPr>
          <a:xfrm>
            <a:off x="1370987" y="4659493"/>
            <a:ext cx="9856047" cy="1010139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2200" dirty="0" err="1">
                <a:solidFill>
                  <a:schemeClr val="tx1"/>
                </a:solidFill>
              </a:rPr>
              <a:t>union_df</a:t>
            </a:r>
            <a:r>
              <a:rPr lang="nl-NL" sz="2200" dirty="0">
                <a:solidFill>
                  <a:schemeClr val="tx1"/>
                </a:solidFill>
              </a:rPr>
              <a:t> = </a:t>
            </a:r>
            <a:r>
              <a:rPr lang="nl-NL" sz="2200" dirty="0" err="1">
                <a:solidFill>
                  <a:schemeClr val="tx1"/>
                </a:solidFill>
              </a:rPr>
              <a:t>pd.concat</a:t>
            </a:r>
            <a:r>
              <a:rPr lang="nl-NL" sz="2200" dirty="0">
                <a:solidFill>
                  <a:schemeClr val="tx1"/>
                </a:solidFill>
              </a:rPr>
              <a:t>([dd1, dd2])               	   # </a:t>
            </a:r>
            <a:r>
              <a:rPr lang="nl-NL" sz="2200" dirty="0" err="1">
                <a:solidFill>
                  <a:schemeClr val="tx1"/>
                </a:solidFill>
              </a:rPr>
              <a:t>concatenate</a:t>
            </a:r>
            <a:r>
              <a:rPr lang="nl-NL" sz="2200" dirty="0">
                <a:solidFill>
                  <a:schemeClr val="tx1"/>
                </a:solidFill>
              </a:rPr>
              <a:t> </a:t>
            </a:r>
            <a:r>
              <a:rPr lang="nl-NL" sz="2200" dirty="0" err="1">
                <a:solidFill>
                  <a:schemeClr val="tx1"/>
                </a:solidFill>
              </a:rPr>
              <a:t>row-wise</a:t>
            </a:r>
            <a:r>
              <a:rPr lang="nl-NL" sz="2200" dirty="0">
                <a:solidFill>
                  <a:schemeClr val="tx1"/>
                </a:solidFill>
              </a:rPr>
              <a:t> (default)</a:t>
            </a:r>
          </a:p>
          <a:p>
            <a:r>
              <a:rPr lang="nl-NL" sz="2200" dirty="0" err="1">
                <a:solidFill>
                  <a:schemeClr val="tx1"/>
                </a:solidFill>
              </a:rPr>
              <a:t>union_df</a:t>
            </a:r>
            <a:r>
              <a:rPr lang="nl-NL" sz="2200" dirty="0">
                <a:solidFill>
                  <a:schemeClr val="tx1"/>
                </a:solidFill>
              </a:rPr>
              <a:t> = </a:t>
            </a:r>
            <a:r>
              <a:rPr lang="nl-NL" sz="2200" dirty="0" err="1">
                <a:solidFill>
                  <a:schemeClr val="tx1"/>
                </a:solidFill>
              </a:rPr>
              <a:t>pd.concat</a:t>
            </a:r>
            <a:r>
              <a:rPr lang="nl-NL" sz="2200" dirty="0">
                <a:solidFill>
                  <a:schemeClr val="tx1"/>
                </a:solidFill>
              </a:rPr>
              <a:t>([dd1, dd2], </a:t>
            </a:r>
            <a:r>
              <a:rPr lang="nl-NL" sz="2200" dirty="0" err="1">
                <a:solidFill>
                  <a:schemeClr val="tx1"/>
                </a:solidFill>
              </a:rPr>
              <a:t>axis</a:t>
            </a:r>
            <a:r>
              <a:rPr lang="nl-NL" sz="2200" dirty="0">
                <a:solidFill>
                  <a:schemeClr val="tx1"/>
                </a:solidFill>
              </a:rPr>
              <a:t> = 1)               # </a:t>
            </a:r>
            <a:r>
              <a:rPr lang="nl-NL" sz="2200" dirty="0" err="1">
                <a:solidFill>
                  <a:schemeClr val="tx1"/>
                </a:solidFill>
              </a:rPr>
              <a:t>concatenate</a:t>
            </a:r>
            <a:r>
              <a:rPr lang="nl-NL" sz="2200" dirty="0">
                <a:solidFill>
                  <a:schemeClr val="tx1"/>
                </a:solidFill>
              </a:rPr>
              <a:t> column-</a:t>
            </a:r>
            <a:r>
              <a:rPr lang="nl-NL" sz="2200" dirty="0" err="1">
                <a:solidFill>
                  <a:schemeClr val="tx1"/>
                </a:solidFill>
              </a:rPr>
              <a:t>wise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E37F34-57DE-72D4-D51F-295F12B84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429435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Operation on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812562" y="12833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nl-NL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17A7612C-8616-4400-8419-A27E889A13C7}"/>
              </a:ext>
            </a:extLst>
          </p:cNvPr>
          <p:cNvSpPr txBox="1">
            <a:spLocks/>
          </p:cNvSpPr>
          <p:nvPr/>
        </p:nvSpPr>
        <p:spPr>
          <a:xfrm>
            <a:off x="964962" y="1435769"/>
            <a:ext cx="10515600" cy="5008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The </a:t>
            </a:r>
            <a:r>
              <a:rPr lang="nl-NL" i="1" dirty="0" err="1"/>
              <a:t>merge</a:t>
            </a:r>
            <a:r>
              <a:rPr lang="nl-NL" i="1" dirty="0"/>
              <a:t>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joins</a:t>
            </a:r>
            <a:r>
              <a:rPr lang="nl-NL" dirty="0"/>
              <a:t> dataframes on </a:t>
            </a:r>
            <a:r>
              <a:rPr lang="nl-NL" dirty="0" err="1"/>
              <a:t>selected</a:t>
            </a:r>
            <a:r>
              <a:rPr lang="nl-NL" dirty="0"/>
              <a:t> </a:t>
            </a:r>
            <a:r>
              <a:rPr lang="nl-NL" dirty="0" err="1"/>
              <a:t>attribute</a:t>
            </a:r>
            <a:r>
              <a:rPr lang="nl-NL" dirty="0"/>
              <a:t> </a:t>
            </a:r>
          </a:p>
          <a:p>
            <a:endParaRPr lang="nl-NL" dirty="0"/>
          </a:p>
          <a:p>
            <a:endParaRPr lang="nl-NL" dirty="0"/>
          </a:p>
          <a:p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joining</a:t>
            </a:r>
            <a:r>
              <a:rPr lang="nl-NL" dirty="0"/>
              <a:t> </a:t>
            </a:r>
            <a:r>
              <a:rPr lang="nl-NL" dirty="0" err="1"/>
              <a:t>attribute</a:t>
            </a:r>
            <a:r>
              <a:rPr lang="nl-NL" dirty="0"/>
              <a:t> has different </a:t>
            </a:r>
            <a:r>
              <a:rPr lang="nl-NL" dirty="0" err="1"/>
              <a:t>names</a:t>
            </a:r>
            <a:r>
              <a:rPr lang="nl-NL" dirty="0"/>
              <a:t> in </a:t>
            </a:r>
            <a:r>
              <a:rPr lang="nl-NL" dirty="0" err="1"/>
              <a:t>both</a:t>
            </a:r>
            <a:r>
              <a:rPr lang="nl-NL" dirty="0"/>
              <a:t> dataframes </a:t>
            </a:r>
          </a:p>
          <a:p>
            <a:endParaRPr lang="en-US" sz="26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3E527C-03C9-44A5-9E87-5B1F496E928B}"/>
              </a:ext>
            </a:extLst>
          </p:cNvPr>
          <p:cNvSpPr/>
          <p:nvPr/>
        </p:nvSpPr>
        <p:spPr>
          <a:xfrm>
            <a:off x="1142338" y="2094424"/>
            <a:ext cx="9856047" cy="74378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/>
            <a:r>
              <a:rPr lang="en-US" sz="2200" dirty="0" err="1">
                <a:solidFill>
                  <a:schemeClr val="tx1"/>
                </a:solidFill>
              </a:rPr>
              <a:t>df_merge_col</a:t>
            </a:r>
            <a:r>
              <a:rPr lang="en-US" sz="2200" dirty="0">
                <a:solidFill>
                  <a:schemeClr val="tx1"/>
                </a:solidFill>
              </a:rPr>
              <a:t> = </a:t>
            </a:r>
            <a:r>
              <a:rPr lang="en-US" sz="2200" dirty="0" err="1">
                <a:solidFill>
                  <a:schemeClr val="tx1"/>
                </a:solidFill>
              </a:rPr>
              <a:t>pd.merge</a:t>
            </a:r>
            <a:r>
              <a:rPr lang="en-US" sz="2200" dirty="0">
                <a:solidFill>
                  <a:schemeClr val="tx1"/>
                </a:solidFill>
              </a:rPr>
              <a:t>(dd1, dd2, on='id')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5E64D2-DAA6-4754-8E8C-AF07E4449C80}"/>
              </a:ext>
            </a:extLst>
          </p:cNvPr>
          <p:cNvSpPr/>
          <p:nvPr/>
        </p:nvSpPr>
        <p:spPr>
          <a:xfrm>
            <a:off x="1142337" y="3647907"/>
            <a:ext cx="9856047" cy="74378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200" dirty="0" err="1">
                <a:solidFill>
                  <a:schemeClr val="tx1"/>
                </a:solidFill>
              </a:rPr>
              <a:t>df_merge_col</a:t>
            </a:r>
            <a:r>
              <a:rPr lang="en-US" sz="2200" dirty="0">
                <a:solidFill>
                  <a:schemeClr val="tx1"/>
                </a:solidFill>
              </a:rPr>
              <a:t> = </a:t>
            </a:r>
            <a:r>
              <a:rPr lang="en-US" sz="2200" dirty="0" err="1">
                <a:solidFill>
                  <a:schemeClr val="tx1"/>
                </a:solidFill>
              </a:rPr>
              <a:t>pd.merge</a:t>
            </a:r>
            <a:r>
              <a:rPr lang="en-US" sz="2200" dirty="0">
                <a:solidFill>
                  <a:schemeClr val="tx1"/>
                </a:solidFill>
              </a:rPr>
              <a:t>(dd1, dd2, </a:t>
            </a:r>
            <a:r>
              <a:rPr lang="en-US" sz="2200" dirty="0" err="1">
                <a:solidFill>
                  <a:schemeClr val="tx1"/>
                </a:solidFill>
              </a:rPr>
              <a:t>left_on</a:t>
            </a:r>
            <a:r>
              <a:rPr lang="en-US" sz="2200" dirty="0">
                <a:solidFill>
                  <a:schemeClr val="tx1"/>
                </a:solidFill>
              </a:rPr>
              <a:t>='att_dd1’, </a:t>
            </a:r>
            <a:r>
              <a:rPr lang="en-US" sz="2200" dirty="0" err="1">
                <a:solidFill>
                  <a:schemeClr val="tx1"/>
                </a:solidFill>
              </a:rPr>
              <a:t>right_on</a:t>
            </a:r>
            <a:r>
              <a:rPr lang="en-US" sz="2200" dirty="0">
                <a:solidFill>
                  <a:schemeClr val="tx1"/>
                </a:solidFill>
              </a:rPr>
              <a:t> = 'att_dd2')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9D3373-0320-5C66-F75D-9D7DE0600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30454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6" name="Rectangle 1032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12.966.784 afbeeldingen voor Inpakken: afbeeldingen, stockfoto's en  vectoren | Shutterstock">
            <a:extLst>
              <a:ext uri="{FF2B5EF4-FFF2-40B4-BE49-F238E27FC236}">
                <a16:creationId xmlns:a16="http://schemas.microsoft.com/office/drawing/2014/main" id="{9558914C-6874-25D6-F6CC-00E5360298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6" b="13785"/>
          <a:stretch/>
        </p:blipFill>
        <p:spPr bwMode="auto">
          <a:xfrm>
            <a:off x="1155556" y="637762"/>
            <a:ext cx="9889765" cy="3579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4650" y="4544112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6734649" y="4750698"/>
            <a:ext cx="4310672" cy="1463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Summarize what you learned today in 2-minutes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7F417C-DB0C-AD6B-BE6A-918581EF4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816913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Next lecture</a:t>
            </a:r>
          </a:p>
        </p:txBody>
      </p:sp>
      <p:sp>
        <p:nvSpPr>
          <p:cNvPr id="2273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Process Discovery</a:t>
            </a:r>
          </a:p>
          <a:p>
            <a:r>
              <a:rPr lang="en-US" altLang="en-US" dirty="0"/>
              <a:t>Conformance Checking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1C2856-CB3D-D34B-9F1D-8E5B8802D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E04EA-A26C-E447-A8E6-CA04C1B6E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B494A-3097-014D-8BD6-D19A16CE616C}" type="slidenum">
              <a:rPr lang="x-none" smtClean="0"/>
              <a:t>32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57177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793235904ECB429D95AFCF930B613A" ma:contentTypeVersion="5" ma:contentTypeDescription="Create a new document." ma:contentTypeScope="" ma:versionID="4c390286563cacde125c37b699801796">
  <xsd:schema xmlns:xsd="http://www.w3.org/2001/XMLSchema" xmlns:xs="http://www.w3.org/2001/XMLSchema" xmlns:p="http://schemas.microsoft.com/office/2006/metadata/properties" xmlns:ns3="5032e021-b0cf-43e6-828a-5b682824f23c" xmlns:ns4="ef284efa-1316-4307-b1a8-b157427e4237" targetNamespace="http://schemas.microsoft.com/office/2006/metadata/properties" ma:root="true" ma:fieldsID="8c9c49ab243af388e89cdf0ba7aaaf48" ns3:_="" ns4:_="">
    <xsd:import namespace="5032e021-b0cf-43e6-828a-5b682824f23c"/>
    <xsd:import namespace="ef284efa-1316-4307-b1a8-b157427e423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32e021-b0cf-43e6-828a-5b682824f2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284efa-1316-4307-b1a8-b157427e423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2473D4E-B70B-4136-B747-E79AAA180FB8}">
  <ds:schemaRefs>
    <ds:schemaRef ds:uri="http://schemas.microsoft.com/office/2006/documentManagement/types"/>
    <ds:schemaRef ds:uri="http://schemas.microsoft.com/office/infopath/2007/PartnerControls"/>
    <ds:schemaRef ds:uri="5032e021-b0cf-43e6-828a-5b682824f23c"/>
    <ds:schemaRef ds:uri="http://purl.org/dc/elements/1.1/"/>
    <ds:schemaRef ds:uri="http://schemas.microsoft.com/office/2006/metadata/properties"/>
    <ds:schemaRef ds:uri="http://purl.org/dc/terms/"/>
    <ds:schemaRef ds:uri="ef284efa-1316-4307-b1a8-b157427e4237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27FB234-31BD-4786-8167-C9B3AC2407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32e021-b0cf-43e6-828a-5b682824f23c"/>
    <ds:schemaRef ds:uri="ef284efa-1316-4307-b1a8-b157427e42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EFE0A5C-9604-4B3E-8F9E-98072B6B9F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10595</TotalTime>
  <Words>2481</Words>
  <Application>Microsoft Macintosh PowerPoint</Application>
  <PresentationFormat>Widescreen</PresentationFormat>
  <Paragraphs>425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Baskerville Old Face</vt:lpstr>
      <vt:lpstr>Calibri</vt:lpstr>
      <vt:lpstr>Calibri Light</vt:lpstr>
      <vt:lpstr>Cambria Math</vt:lpstr>
      <vt:lpstr>Monotype Sorts</vt:lpstr>
      <vt:lpstr>Times New Roman</vt:lpstr>
      <vt:lpstr>Office Theme</vt:lpstr>
      <vt:lpstr>PowerPoint Presentation</vt:lpstr>
      <vt:lpstr>Reading Material for Today</vt:lpstr>
      <vt:lpstr>PowerPoint Presentation</vt:lpstr>
      <vt:lpstr>Aggregate Functions</vt:lpstr>
      <vt:lpstr>Aggregate Functions (Cont.)</vt:lpstr>
      <vt:lpstr>Aggregate Functions (Cont.)</vt:lpstr>
      <vt:lpstr>Aggregate Functions (Cont.)</vt:lpstr>
      <vt:lpstr>Subqueries</vt:lpstr>
      <vt:lpstr>Subqueries – Examples (Subquery in the WHERE clause) </vt:lpstr>
      <vt:lpstr>Subqueries – Examples (Subquery in the FROM clause) </vt:lpstr>
      <vt:lpstr>Subqueries – Examples (Subquery in the SELECT clause)</vt:lpstr>
      <vt:lpstr>PowerPoint Presentation</vt:lpstr>
      <vt:lpstr>Aren’t DBMSs Enough?</vt:lpstr>
      <vt:lpstr>Pandas Dataframes</vt:lpstr>
      <vt:lpstr>Creating DataFrame</vt:lpstr>
      <vt:lpstr>Load DataFrame from CSV Files</vt:lpstr>
      <vt:lpstr>Load DataFrame from EXCEL Files</vt:lpstr>
      <vt:lpstr>PowerPoint Presentation</vt:lpstr>
      <vt:lpstr>Load DataFrame from MySQL Database</vt:lpstr>
      <vt:lpstr>Load DataFrame from PostgreSQL Database</vt:lpstr>
      <vt:lpstr>Load DataFrame from SQLite Database</vt:lpstr>
      <vt:lpstr>Working with Dataframes</vt:lpstr>
      <vt:lpstr>Extracting Data from Dataframes</vt:lpstr>
      <vt:lpstr>Extracting Data from Dataframes (Cont.)</vt:lpstr>
      <vt:lpstr>Extracting Data from Dataframes (Cont.)</vt:lpstr>
      <vt:lpstr>Profiling the Dataframes</vt:lpstr>
      <vt:lpstr>Profiling the Dataframes</vt:lpstr>
      <vt:lpstr>Profiling the Dataframes – Aggregate Queries</vt:lpstr>
      <vt:lpstr>Set Operations on Dataframes</vt:lpstr>
      <vt:lpstr>Join Operation on Dataframes</vt:lpstr>
      <vt:lpstr>PowerPoint Presentation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Qahtan, A.A.A. (Hakim)</dc:creator>
  <cp:lastModifiedBy>Qahtan, A. (Hakim)</cp:lastModifiedBy>
  <cp:revision>46</cp:revision>
  <cp:lastPrinted>2024-09-18T06:39:05Z</cp:lastPrinted>
  <dcterms:created xsi:type="dcterms:W3CDTF">2020-02-17T15:53:26Z</dcterms:created>
  <dcterms:modified xsi:type="dcterms:W3CDTF">2025-09-03T22:29:10Z</dcterms:modified>
</cp:coreProperties>
</file>