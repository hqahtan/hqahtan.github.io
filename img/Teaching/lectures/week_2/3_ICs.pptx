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3"/>
  </p:notesMasterIdLst>
  <p:sldIdLst>
    <p:sldId id="256" r:id="rId5"/>
    <p:sldId id="411" r:id="rId6"/>
    <p:sldId id="379" r:id="rId7"/>
    <p:sldId id="261" r:id="rId8"/>
    <p:sldId id="267" r:id="rId9"/>
    <p:sldId id="274" r:id="rId10"/>
    <p:sldId id="262" r:id="rId11"/>
    <p:sldId id="387" r:id="rId12"/>
    <p:sldId id="421" r:id="rId13"/>
    <p:sldId id="420" r:id="rId14"/>
    <p:sldId id="388" r:id="rId15"/>
    <p:sldId id="268" r:id="rId16"/>
    <p:sldId id="364" r:id="rId17"/>
    <p:sldId id="380" r:id="rId18"/>
    <p:sldId id="269" r:id="rId19"/>
    <p:sldId id="270" r:id="rId20"/>
    <p:sldId id="271" r:id="rId21"/>
    <p:sldId id="372" r:id="rId22"/>
    <p:sldId id="272" r:id="rId23"/>
    <p:sldId id="273" r:id="rId24"/>
    <p:sldId id="377" r:id="rId25"/>
    <p:sldId id="386" r:id="rId26"/>
    <p:sldId id="389" r:id="rId27"/>
    <p:sldId id="390" r:id="rId28"/>
    <p:sldId id="391" r:id="rId29"/>
    <p:sldId id="369" r:id="rId30"/>
    <p:sldId id="392" r:id="rId31"/>
    <p:sldId id="393" r:id="rId32"/>
    <p:sldId id="382" r:id="rId33"/>
    <p:sldId id="412" r:id="rId34"/>
    <p:sldId id="413" r:id="rId35"/>
    <p:sldId id="414" r:id="rId36"/>
    <p:sldId id="415" r:id="rId37"/>
    <p:sldId id="416" r:id="rId38"/>
    <p:sldId id="417" r:id="rId39"/>
    <p:sldId id="277" r:id="rId40"/>
    <p:sldId id="278" r:id="rId41"/>
    <p:sldId id="280" r:id="rId42"/>
    <p:sldId id="419" r:id="rId43"/>
    <p:sldId id="290" r:id="rId44"/>
    <p:sldId id="410" r:id="rId45"/>
    <p:sldId id="286" r:id="rId46"/>
    <p:sldId id="418" r:id="rId47"/>
    <p:sldId id="275" r:id="rId48"/>
    <p:sldId id="276" r:id="rId49"/>
    <p:sldId id="289" r:id="rId50"/>
    <p:sldId id="363" r:id="rId51"/>
    <p:sldId id="910" r:id="rId5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5" autoAdjust="0"/>
    <p:restoredTop sz="95774"/>
  </p:normalViewPr>
  <p:slideViewPr>
    <p:cSldViewPr snapToGrid="0">
      <p:cViewPr varScale="1">
        <p:scale>
          <a:sx n="111" d="100"/>
          <a:sy n="111" d="100"/>
        </p:scale>
        <p:origin x="2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2" d="100"/>
        <a:sy n="112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16-09-2025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1B7BEC7-5220-3745-A4DF-98E77540D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0"/>
            <a:ext cx="297497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E399F5B-578D-D246-9C6F-7A3BC4543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936625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15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69F83645-D497-C74B-BCFB-14F83552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F88EBECF-3541-A14B-8543-426C7CBB3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ADE11B4-F8D7-BC45-8929-158FD804B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1042E50C-ACFE-5544-BF82-8F843E3433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</p:spTree>
    <p:extLst>
      <p:ext uri="{BB962C8B-B14F-4D97-AF65-F5344CB8AC3E}">
        <p14:creationId xmlns:p14="http://schemas.microsoft.com/office/powerpoint/2010/main" val="380744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01F7C08-91EB-BF42-B963-69A45A0C4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A64697B-5DF5-B04A-B432-4E6BA5AA4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37D37B14-31EC-7642-A2E1-BE70B979C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CE97DAD1-4EFC-8944-8081-1C79F8D48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691983CF-E60C-9340-9C72-52FAEBA41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3F9FDEF1-5D07-B945-A446-5178CD8C8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33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1915B6D-E8E6-0149-B471-343020B73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AC88B60-B70B-1140-B888-9C4563EA6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88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0661D7B-1D7A-4E4F-980E-0AE57C5FB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D4D5534-8D35-C74B-85CB-CAB079C3C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6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5BCDFC4D-A69C-2640-8ADE-9CF3F60B7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F7E3A190-1DBB-3041-AEE5-08BF26573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FC21EA69-FB6A-B640-956B-9D0E656443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2F0BB3E2-60F5-1242-AAFF-AAF6B7463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72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2899E1C-0690-A041-86F7-DAE6688B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22640D2-617A-8246-95AC-92203F805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6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0D9F840B-9514-7C4C-996C-22644B849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A884276D-A96B-0647-8538-83F491398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B4FF456A-2788-894F-83D2-036F96B002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DE763EBD-C477-1945-BF3D-6CB9448E5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75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FE40BDA-FEE0-3B44-A345-2EE4B4AF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F3FC142-B1BA-B04F-8B91-D1B4E9735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7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F0F61132-A987-3146-A306-71133A5DF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0F771DB-6C70-574F-91AF-FF454A8A5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62ABE1F9-D3EA-3742-8ADD-E37C29C317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8B38B563-D0BC-5D45-A43C-4B4E6A91F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03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62F5FAD-6E9B-104A-ABB2-0B79D6BE1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15B66B5-B598-7A4B-AEAD-32BF0F2E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7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95818C97-F1D0-174D-B9A9-09B9F0729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CB0BC268-D609-7B4D-9053-2E8278C9E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8023C258-70B3-1B47-86EA-07DEDD6C0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09A4AF7C-AD93-0A42-9DEA-E105F7F18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2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FD46538-E308-3844-AF2B-96F395EC8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293DEFA-B842-3641-8922-53B5DED1C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13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20978441-ED06-924F-B882-813905FF2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9D9CD05B-8681-2B48-8057-8F19665BF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A8A0B3B5-EA0E-1E48-A0DE-D58D5C181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6B078E76-A14A-9C48-99A8-DF94C92DF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54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28EF710-9CC9-F14D-81DB-61DD529AA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8F238BA-80DF-354B-BEE8-501537798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14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313CE8C9-0355-AF4B-9326-2EA4770EC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C5B3608D-B7D0-AD46-B2F2-1A940FC1A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A91C7CD3-45C6-1C48-9E57-A9E96EF6C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113C02F5-559B-5943-9AD8-F2F94AE81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29200" cy="4114800"/>
          </a:xfrm>
          <a:ln/>
        </p:spPr>
        <p:txBody>
          <a:bodyPr lIns="93663" tIns="46038" rIns="93663" bIns="46038"/>
          <a:lstStyle/>
          <a:p>
            <a:pPr defTabSz="936625">
              <a:defRPr/>
            </a:pP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703422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35E3613-0BC9-274C-AF0A-4FE2AC4A1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7E7F15-C2FB-E141-9F45-FEE7453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4925C83-CA07-2B43-8336-5CD83474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A06C6F7-959E-044A-BA8C-A090E199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42277AE4-D62B-184D-94BE-11AA872A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CB159A9-06AE-E644-9F8A-D29F93872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42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35E3613-0BC9-274C-AF0A-4FE2AC4A1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7E7F15-C2FB-E141-9F45-FEE7453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4925C83-CA07-2B43-8336-5CD83474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A06C6F7-959E-044A-BA8C-A090E199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42277AE4-D62B-184D-94BE-11AA872A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CB159A9-06AE-E644-9F8A-D29F93872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20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35E3613-0BC9-274C-AF0A-4FE2AC4A1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7E7F15-C2FB-E141-9F45-FEE7453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4925C83-CA07-2B43-8336-5CD83474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A06C6F7-959E-044A-BA8C-A090E199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42277AE4-D62B-184D-94BE-11AA872A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CB159A9-06AE-E644-9F8A-D29F93872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11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35E3613-0BC9-274C-AF0A-4FE2AC4A1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7E7F15-C2FB-E141-9F45-FEE7453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4925C83-CA07-2B43-8336-5CD83474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A06C6F7-959E-044A-BA8C-A090E199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42277AE4-D62B-184D-94BE-11AA872A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CB159A9-06AE-E644-9F8A-D29F93872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7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35E3613-0BC9-274C-AF0A-4FE2AC4A1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7E7F15-C2FB-E141-9F45-FEE7453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4925C83-CA07-2B43-8336-5CD83474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A06C6F7-959E-044A-BA8C-A090E199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42277AE4-D62B-184D-94BE-11AA872A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CB159A9-06AE-E644-9F8A-D29F93872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10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35E3613-0BC9-274C-AF0A-4FE2AC4A1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7E7F15-C2FB-E141-9F45-FEE7453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4925C83-CA07-2B43-8336-5CD83474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A06C6F7-959E-044A-BA8C-A090E199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42277AE4-D62B-184D-94BE-11AA872A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CB159A9-06AE-E644-9F8A-D29F93872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45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0EA00F1-2615-304C-8E66-1B9D15910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60CE276-3B3B-7A40-94BB-0BE496632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3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00A163FD-48FD-F140-8795-755A59E5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19B50116-7BC7-A34F-9640-0BD4C92EF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C2C6124C-759A-6144-9D5B-576FFD03A3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232C6C56-929A-FD45-8C60-70F6E959A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The slides for this text are organized into several modules. Each lecture contains about enough material for a 1.25 hour class period.  (The time estimate is very approximate--it will vary with the instructor, and lectures also differ in length; so use this as a rough guideline.)  This covers Lectures 1 and 2  (of 6) in Module (5). </a:t>
            </a:r>
          </a:p>
          <a:p>
            <a:endParaRPr lang="en-US" altLang="it-IT">
              <a:latin typeface="Book Antiqua" panose="02040602050305030304" pitchFamily="18" charset="0"/>
              <a:ea typeface="ＭＳ Ｐゴシック" panose="020B0600070205080204" pitchFamily="34" charset="-128"/>
            </a:endParaRPr>
          </a:p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Module (1):  Introduction (DBMS, Relational Model)</a:t>
            </a:r>
          </a:p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Module (2):  Storage and File Organizations (Disks, Buffering, Indexes)</a:t>
            </a:r>
          </a:p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Module (3):  Database Concepts (Relational Queries, DDL/ICs, Views and Security)</a:t>
            </a:r>
          </a:p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Module (4):  Relational Implementation (Query Evaluation, Optimization)</a:t>
            </a:r>
          </a:p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Module (5): Database Design (ER Model, Normalization, Physical Design, Tuning)</a:t>
            </a:r>
          </a:p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Module (6): Transaction Processing (Concurrency Control, Recovery)</a:t>
            </a:r>
          </a:p>
          <a:p>
            <a:r>
              <a:rPr lang="en-US" altLang="it-IT">
                <a:latin typeface="Book Antiqua" panose="02040602050305030304" pitchFamily="18" charset="0"/>
                <a:ea typeface="ＭＳ Ｐゴシック" panose="020B0600070205080204" pitchFamily="34" charset="-128"/>
              </a:rPr>
              <a:t>Module (7): Advanced Topics</a:t>
            </a:r>
          </a:p>
        </p:txBody>
      </p:sp>
    </p:spTree>
    <p:extLst>
      <p:ext uri="{BB962C8B-B14F-4D97-AF65-F5344CB8AC3E}">
        <p14:creationId xmlns:p14="http://schemas.microsoft.com/office/powerpoint/2010/main" val="1176389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35E3613-0BC9-274C-AF0A-4FE2AC4A1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7E7F15-C2FB-E141-9F45-FEE7453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5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4925C83-CA07-2B43-8336-5CD83474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A06C6F7-959E-044A-BA8C-A090E199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42277AE4-D62B-184D-94BE-11AA872A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ACB159A9-06AE-E644-9F8A-D29F93872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86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C2003BF-64DC-CD4A-A1AD-77A65B68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08CFD5C-45EE-684B-AF17-042716207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7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37E59C9A-D66F-084A-A736-AF95DC843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04C4848F-C753-7C4D-98C6-8F8111AFA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98B1B3B4-BC72-AE4F-9B0B-6ED0836A20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23FDE384-DEC9-5245-AD02-21ADFFF57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33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C2003BF-64DC-CD4A-A1AD-77A65B68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08CFD5C-45EE-684B-AF17-042716207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7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37E59C9A-D66F-084A-A736-AF95DC843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04C4848F-C753-7C4D-98C6-8F8111AFA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98B1B3B4-BC72-AE4F-9B0B-6ED0836A20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23FDE384-DEC9-5245-AD02-21ADFFF57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017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450F85E-A625-FB47-A908-164F61594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0A06DED-6995-7442-A46B-98D24E594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12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528D3433-D62E-F64D-B900-79CE06792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650DE90A-0CA6-6345-8239-9AA807AD4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6DEF6C10-B071-0343-BDF3-EAE48FE26B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73A95601-728F-4D40-A4AB-5AD9274A3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29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450F85E-A625-FB47-A908-164F61594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0A06DED-6995-7442-A46B-98D24E594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12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528D3433-D62E-F64D-B900-79CE06792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650DE90A-0CA6-6345-8239-9AA807AD4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6DEF6C10-B071-0343-BDF3-EAE48FE26B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73A95601-728F-4D40-A4AB-5AD9274A3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56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CB4C123-719B-844F-A6E0-DD9910930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9956CE1-7E3D-CB4F-9114-72CC97F51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13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7C038452-3BDB-9B48-99A9-921645923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C192D8E3-5166-F84E-89AC-BFE003F29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857E2A1A-2BAD-074A-9725-4815A7191C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DBE154D7-E952-8B46-B013-3F9D206AA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310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CB4C123-719B-844F-A6E0-DD9910930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9956CE1-7E3D-CB4F-9114-72CC97F51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13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7C038452-3BDB-9B48-99A9-921645923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C192D8E3-5166-F84E-89AC-BFE003F29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857E2A1A-2BAD-074A-9725-4815A7191C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DBE154D7-E952-8B46-B013-3F9D206AA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3213"/>
          </a:xfrm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9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5A60E88-5A19-A34E-9E4A-5127FEFC0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0"/>
            <a:ext cx="297497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232FA26-6A87-E649-AB81-BC71FBC25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936625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18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61FD1BF6-0C4B-944D-8321-80700A89A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78F7D835-73C8-D34F-B4C4-84A58F286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7270C8E4-8AFA-DE48-99AD-CA4758014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58435C8B-CE7B-4C4F-8EBC-367A9B09CD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29200" cy="4114800"/>
          </a:xfrm>
          <a:ln/>
        </p:spPr>
        <p:txBody>
          <a:bodyPr lIns="93663" tIns="46038" rIns="93663" bIns="46038"/>
          <a:lstStyle/>
          <a:p>
            <a:pPr defTabSz="936625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266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DA9EE3B3-07E9-7E4C-B74A-266155063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0"/>
            <a:ext cx="297497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88E63F7-82D9-DD44-AA38-6F25AA738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936625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22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3DD39D6A-66D8-DC4B-8924-B2B6E5870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9FF64168-2EF8-7C42-A8FF-2176B6EBB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49D9BDA1-894B-A442-BDEB-4D8D9FAC5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3CA03292-6602-CD48-A1A4-D368E013C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29200" cy="4114800"/>
          </a:xfrm>
          <a:ln/>
        </p:spPr>
        <p:txBody>
          <a:bodyPr lIns="93663" tIns="46038" rIns="93663" bIns="46038"/>
          <a:lstStyle/>
          <a:p>
            <a:pPr defTabSz="936625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78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377A5E54-14F9-374E-8102-4C3743FD9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390C818-8B71-FF46-BA46-CF7EAA44F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15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B3B29DB6-DB3E-4441-8175-C0D6EC4FE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42AF83D4-B23C-F54D-9453-4D2164114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71686" name="Rectangle 6">
            <a:extLst>
              <a:ext uri="{FF2B5EF4-FFF2-40B4-BE49-F238E27FC236}">
                <a16:creationId xmlns:a16="http://schemas.microsoft.com/office/drawing/2014/main" id="{9224C412-4609-644C-9625-C22F899E92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687" name="Rectangle 7">
            <a:extLst>
              <a:ext uri="{FF2B5EF4-FFF2-40B4-BE49-F238E27FC236}">
                <a16:creationId xmlns:a16="http://schemas.microsoft.com/office/drawing/2014/main" id="{F57C4C07-D6C5-5B4D-BEAD-5C7A464AF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153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48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93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419100"/>
            <a:ext cx="10363200" cy="110490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81200"/>
            <a:ext cx="5080000" cy="40767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400800" y="1981200"/>
            <a:ext cx="5080000" cy="40767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8203" y="4340647"/>
            <a:ext cx="5038747" cy="14142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Qahtan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the slides were prepared by</a:t>
            </a: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Yannis Velegrakis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 + Database Design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>
            <a:extLst>
              <a:ext uri="{FF2B5EF4-FFF2-40B4-BE49-F238E27FC236}">
                <a16:creationId xmlns:a16="http://schemas.microsoft.com/office/drawing/2014/main" id="{5AC15444-50D3-D040-9FD9-5084AEF42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081" y="2226839"/>
            <a:ext cx="6033726" cy="198587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defRPr/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Reading Material for Today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91D2F4E6-A343-5048-AE5D-2A119E9C5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0080" y="4631161"/>
            <a:ext cx="6692827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 System Concepts (7</a:t>
            </a:r>
            <a:r>
              <a:rPr lang="en-US" sz="24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Edition)</a:t>
            </a:r>
          </a:p>
          <a:p>
            <a:pPr marL="0" indent="0"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	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 3.2.1</a:t>
            </a: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4.4, 6.1, 6.2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A1EFC6CA-4EEB-4343-B4D5-9718DD73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36B74E60-2803-7740-98DE-01CA10117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572000"/>
            <a:ext cx="7772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D3D67C82-F8AA-EB46-BE00-66DBD91F9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800600"/>
            <a:ext cx="7772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5B37DD2-4E5A-DBAC-BFE3-9F531F3BD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522354"/>
              </p:ext>
            </p:extLst>
          </p:nvPr>
        </p:nvGraphicFramePr>
        <p:xfrm>
          <a:off x="6892160" y="65173"/>
          <a:ext cx="4997404" cy="6183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5057764" imgH="6257805" progId="Acrobat.Document.DC">
                  <p:embed/>
                </p:oleObj>
              </mc:Choice>
              <mc:Fallback>
                <p:oleObj name="Acrobat Document" r:id="rId3" imgW="5057764" imgH="6257805" progId="Acrobat.Document.DC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5B37DD2-4E5A-DBAC-BFE3-9F531F3BD6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92160" y="65173"/>
                        <a:ext cx="4997404" cy="6183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29A1D-8C74-3E76-06B4-5CA15FDB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9476369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Integrity Constraints 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CCE20-C7EC-E1FE-21AA-2C10C9E5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9026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A constraint is a relationship among data elements that the DBMS is required to enforce</a:t>
            </a:r>
          </a:p>
          <a:p>
            <a:r>
              <a:rPr lang="en-US" altLang="nl-NL" dirty="0"/>
              <a:t>Integrity constraints guard against accidental damage to the database, by ensuring that authorized changes to the database do not result in a loss of data consistency. </a:t>
            </a:r>
          </a:p>
          <a:p>
            <a:r>
              <a:rPr lang="en-US" altLang="nl-NL" dirty="0"/>
              <a:t>Examples: 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Checking that an account must have a balance greater than $1.00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A salary of a bank employee must be at least $4.00 an hour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A customer must have a (non-null) phone number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38A04-D743-1562-7A08-28D337EE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952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293A427-C9A7-8F4C-BC6C-325A6045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B11AC40-DB6A-DC4C-9927-B896AF688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B7469F7F-EDCF-0940-B175-C46D70BDD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 (ICs)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56D5C45D-68F1-3E44-90C6-CC41A7C7E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399"/>
            <a:ext cx="10515600" cy="440167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IC:</a:t>
            </a:r>
            <a:r>
              <a:rPr lang="en-US" dirty="0"/>
              <a:t> condition that must be true for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any</a:t>
            </a: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dirty="0"/>
              <a:t>instance of the database; e.g., </a:t>
            </a:r>
            <a:r>
              <a:rPr lang="en-US" i="1" u="sng" dirty="0">
                <a:solidFill>
                  <a:schemeClr val="accent6">
                    <a:lumMod val="75000"/>
                  </a:schemeClr>
                </a:solidFill>
              </a:rPr>
              <a:t>domain constraints.</a:t>
            </a:r>
          </a:p>
          <a:p>
            <a:pPr lvl="1">
              <a:buSzPct val="75000"/>
              <a:defRPr/>
            </a:pPr>
            <a:r>
              <a:rPr lang="en-US" dirty="0"/>
              <a:t>ICs are specified when schema is defined.</a:t>
            </a:r>
          </a:p>
          <a:p>
            <a:pPr lvl="1">
              <a:buSzPct val="75000"/>
              <a:defRPr/>
            </a:pPr>
            <a:r>
              <a:rPr lang="en-US" dirty="0"/>
              <a:t>ICs are checked when relations are modified.</a:t>
            </a:r>
          </a:p>
          <a:p>
            <a:pPr>
              <a:defRPr/>
            </a:pPr>
            <a:r>
              <a:rPr lang="en-US" dirty="0"/>
              <a:t>A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legal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instance of a relation is one that satisfies all specified ICs.  </a:t>
            </a:r>
          </a:p>
          <a:p>
            <a:pPr lvl="1">
              <a:buSzPct val="75000"/>
              <a:defRPr/>
            </a:pPr>
            <a:r>
              <a:rPr lang="en-US" dirty="0"/>
              <a:t>DBMS should not allow illegal instances.</a:t>
            </a:r>
          </a:p>
          <a:p>
            <a:pPr>
              <a:defRPr/>
            </a:pPr>
            <a:r>
              <a:rPr lang="en-US" dirty="0"/>
              <a:t>If the DBMS checks ICs, stored data is more faithful to real-world meaning.</a:t>
            </a:r>
          </a:p>
          <a:p>
            <a:pPr lvl="1">
              <a:buSzPct val="75000"/>
              <a:defRPr/>
            </a:pPr>
            <a:r>
              <a:rPr lang="en-US" dirty="0"/>
              <a:t>Avoids data entry errors, too!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C86E3-FD27-C896-E312-CE9365BF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020372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347520E-5551-D84D-958E-5AACA5D5A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do ICs Come From?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A22C2F3-9F2E-5C4F-BB6D-167B86311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2165" y="1524000"/>
            <a:ext cx="10236819" cy="40767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ICs are based upon the semantics of the real-world enterprise that is being described in the database relations.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 can check a database instance to see if an IC is violated, but we can </a:t>
            </a:r>
            <a:r>
              <a:rPr lang="en-US" dirty="0">
                <a:solidFill>
                  <a:srgbClr val="CF0E30"/>
                </a:solidFill>
              </a:rPr>
              <a:t>NEVER</a:t>
            </a:r>
            <a:r>
              <a:rPr lang="en-US" dirty="0"/>
              <a:t> infer that an IC is true by looking at an instance.</a:t>
            </a:r>
          </a:p>
          <a:p>
            <a:pPr lvl="1">
              <a:buSzPct val="75000"/>
              <a:defRPr/>
            </a:pPr>
            <a:r>
              <a:rPr lang="en-US" dirty="0"/>
              <a:t>An IC is a statement about </a:t>
            </a:r>
            <a:r>
              <a:rPr lang="en-US" i="1" dirty="0"/>
              <a:t>all possible </a:t>
            </a:r>
            <a:r>
              <a:rPr lang="en-US" dirty="0"/>
              <a:t>instances!</a:t>
            </a:r>
          </a:p>
          <a:p>
            <a:pPr lvl="1">
              <a:buSzPct val="75000"/>
              <a:defRPr/>
            </a:pPr>
            <a:r>
              <a:rPr lang="en-US" dirty="0"/>
              <a:t>From example, we know </a:t>
            </a:r>
            <a:r>
              <a:rPr lang="en-US" i="1" dirty="0"/>
              <a:t>name</a:t>
            </a:r>
            <a:r>
              <a:rPr lang="en-US" dirty="0"/>
              <a:t> is not a key, but the assertion that </a:t>
            </a:r>
            <a:r>
              <a:rPr lang="en-US" i="1" dirty="0"/>
              <a:t>id</a:t>
            </a:r>
            <a:r>
              <a:rPr lang="en-US" dirty="0"/>
              <a:t> is a key is given to us.</a:t>
            </a:r>
          </a:p>
          <a:p>
            <a:pPr lvl="1">
              <a:buSzPct val="75000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Key and foreign key ICs are the most common; more general ICs supported too.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3953CF-425F-7458-D830-701BD4CA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309269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2200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Kinds of Integrity Constraints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Value-based </a:t>
            </a:r>
          </a:p>
          <a:p>
            <a:r>
              <a:rPr lang="en-US" altLang="nl-NL" dirty="0"/>
              <a:t>Primary key</a:t>
            </a:r>
          </a:p>
          <a:p>
            <a:r>
              <a:rPr lang="en-US" altLang="nl-NL" dirty="0"/>
              <a:t>Foreign-key, or referential-integrity</a:t>
            </a:r>
          </a:p>
          <a:p>
            <a:r>
              <a:rPr lang="en-US" altLang="nl-NL" dirty="0"/>
              <a:t>Tuple-based</a:t>
            </a:r>
          </a:p>
          <a:p>
            <a:endParaRPr lang="en-US" alt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7AFC2-945C-1E2B-C020-CBAD10EC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557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Value-Based Constraints – Data Types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10109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Specify the type of the data that can be entered in a specific field</a:t>
            </a:r>
          </a:p>
          <a:p>
            <a:pPr marL="0" indent="457200">
              <a:buNone/>
            </a:pPr>
            <a:r>
              <a:rPr lang="en-US" sz="2400" dirty="0">
                <a:solidFill>
                  <a:srgbClr val="006600"/>
                </a:solidFill>
              </a:rPr>
              <a:t>CREATE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TABLE</a:t>
            </a:r>
            <a:r>
              <a:rPr lang="en-US" sz="2400" dirty="0"/>
              <a:t> test ( </a:t>
            </a:r>
          </a:p>
          <a:p>
            <a:pPr marL="0" indent="690563">
              <a:buNone/>
            </a:pPr>
            <a:r>
              <a:rPr lang="en-US" sz="2400" dirty="0"/>
              <a:t>id </a:t>
            </a:r>
            <a:r>
              <a:rPr lang="en-US" sz="2400" dirty="0">
                <a:solidFill>
                  <a:srgbClr val="006600"/>
                </a:solidFill>
              </a:rPr>
              <a:t>INTEGER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PRIMARY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KEY</a:t>
            </a:r>
            <a:r>
              <a:rPr lang="en-US" sz="2400" dirty="0"/>
              <a:t>, </a:t>
            </a:r>
          </a:p>
          <a:p>
            <a:pPr marL="0" indent="690563">
              <a:buNone/>
            </a:pPr>
            <a:r>
              <a:rPr lang="en-US" sz="2400" dirty="0" err="1"/>
              <a:t>full_name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VARCHAR(30),	 </a:t>
            </a:r>
            <a:r>
              <a:rPr lang="en-US" sz="2400" dirty="0"/>
              <a:t>-- allocates a space for up to 30 characters </a:t>
            </a:r>
            <a:endParaRPr lang="en-US" sz="2400" dirty="0">
              <a:solidFill>
                <a:srgbClr val="006600"/>
              </a:solidFill>
            </a:endParaRPr>
          </a:p>
          <a:p>
            <a:pPr marL="0" indent="690563">
              <a:buNone/>
            </a:pPr>
            <a:r>
              <a:rPr lang="en-US" sz="2400" dirty="0" err="1"/>
              <a:t>dept_code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CHAR(3)</a:t>
            </a:r>
            <a:r>
              <a:rPr lang="en-US" sz="2400" dirty="0"/>
              <a:t>,                     -- allocates a space for exactly 3 characters</a:t>
            </a:r>
          </a:p>
          <a:p>
            <a:pPr marL="0" indent="690563">
              <a:buNone/>
            </a:pPr>
            <a:r>
              <a:rPr lang="en-US" sz="2400" dirty="0" err="1"/>
              <a:t>dept_name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VARCHAR(100) </a:t>
            </a:r>
            <a:r>
              <a:rPr lang="en-US" sz="2400" dirty="0"/>
              <a:t>        -- allocates up to 100 characters </a:t>
            </a:r>
          </a:p>
          <a:p>
            <a:pPr marL="0" indent="457200">
              <a:buNone/>
            </a:pPr>
            <a:r>
              <a:rPr lang="en-US" sz="2400" dirty="0"/>
              <a:t>);</a:t>
            </a:r>
            <a:endParaRPr lang="en-US" sz="2400" dirty="0">
              <a:ea typeface="ＭＳ Ｐゴシック" panose="020B0600070205080204" pitchFamily="34" charset="-128"/>
            </a:endParaRPr>
          </a:p>
          <a:p>
            <a:pPr marL="0" indent="457200">
              <a:buNone/>
            </a:pPr>
            <a:r>
              <a:rPr lang="en-US" sz="2400" dirty="0">
                <a:ea typeface="ＭＳ Ｐゴシック" panose="020B0600070205080204" pitchFamily="34" charset="-128"/>
              </a:rPr>
              <a:t>Test the database with the following queries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02D96-BF59-F1C0-7D77-94A314F4B062}"/>
              </a:ext>
            </a:extLst>
          </p:cNvPr>
          <p:cNvSpPr txBox="1"/>
          <p:nvPr/>
        </p:nvSpPr>
        <p:spPr>
          <a:xfrm>
            <a:off x="673100" y="5313405"/>
            <a:ext cx="607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457200">
              <a:buNone/>
            </a:pPr>
            <a:r>
              <a:rPr lang="en-US" sz="2200" dirty="0">
                <a:solidFill>
                  <a:srgbClr val="006600"/>
                </a:solidFill>
              </a:rPr>
              <a:t>INSERT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6600"/>
                </a:solidFill>
              </a:rPr>
              <a:t>INTO</a:t>
            </a:r>
            <a:r>
              <a:rPr lang="en-US" sz="2200" dirty="0"/>
              <a:t> test </a:t>
            </a:r>
          </a:p>
          <a:p>
            <a:pPr marL="0" indent="457200">
              <a:buNone/>
            </a:pPr>
            <a:r>
              <a:rPr lang="en-US" sz="2200" dirty="0">
                <a:solidFill>
                  <a:srgbClr val="006600"/>
                </a:solidFill>
              </a:rPr>
              <a:t>VALUES</a:t>
            </a:r>
            <a:r>
              <a:rPr lang="en-US" sz="2200" dirty="0"/>
              <a:t> ('kk', 'JH', 'CS', 'Computer Science')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4728B-9F5C-F591-2D43-1AEEE930C6CD}"/>
              </a:ext>
            </a:extLst>
          </p:cNvPr>
          <p:cNvSpPr txBox="1"/>
          <p:nvPr/>
        </p:nvSpPr>
        <p:spPr>
          <a:xfrm>
            <a:off x="6235700" y="5313405"/>
            <a:ext cx="607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457200">
              <a:buNone/>
            </a:pPr>
            <a:r>
              <a:rPr lang="en-US" sz="2200" dirty="0">
                <a:solidFill>
                  <a:srgbClr val="006600"/>
                </a:solidFill>
              </a:rPr>
              <a:t>INSERT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6600"/>
                </a:solidFill>
              </a:rPr>
              <a:t>INTO</a:t>
            </a:r>
            <a:r>
              <a:rPr lang="en-US" sz="2200" dirty="0"/>
              <a:t> test </a:t>
            </a:r>
          </a:p>
          <a:p>
            <a:pPr marL="0" indent="457200">
              <a:buNone/>
            </a:pPr>
            <a:r>
              <a:rPr lang="en-US" sz="2200" dirty="0">
                <a:solidFill>
                  <a:srgbClr val="006600"/>
                </a:solidFill>
              </a:rPr>
              <a:t>VALUES</a:t>
            </a:r>
            <a:r>
              <a:rPr lang="en-US" sz="2200" dirty="0"/>
              <a:t> (123, 'JH', 'CS', 'Computer Science')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B2743-E9F6-E056-2974-47E53D0C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2957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Types in SQL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6600"/>
                </a:solidFill>
              </a:rPr>
              <a:t>CHAR(n) </a:t>
            </a:r>
            <a:r>
              <a:rPr lang="en-US" sz="2800" dirty="0"/>
              <a:t>allocates a space for exactly X characters</a:t>
            </a:r>
          </a:p>
          <a:p>
            <a:r>
              <a:rPr lang="en-US" sz="2800" dirty="0">
                <a:solidFill>
                  <a:srgbClr val="006600"/>
                </a:solidFill>
              </a:rPr>
              <a:t>VARCHAR(n) </a:t>
            </a:r>
            <a:r>
              <a:rPr lang="en-US" sz="2800" dirty="0"/>
              <a:t>allocates a space for up to X characters </a:t>
            </a:r>
          </a:p>
          <a:p>
            <a:r>
              <a:rPr lang="en-US" sz="2800" dirty="0">
                <a:solidFill>
                  <a:srgbClr val="006600"/>
                </a:solidFill>
              </a:rPr>
              <a:t>INT or INTEGER </a:t>
            </a:r>
            <a:r>
              <a:rPr lang="en-US" dirty="0"/>
              <a:t>stores integer values</a:t>
            </a:r>
          </a:p>
          <a:p>
            <a:r>
              <a:rPr lang="en-US" sz="2800" dirty="0">
                <a:solidFill>
                  <a:srgbClr val="006600"/>
                </a:solidFill>
              </a:rPr>
              <a:t>SMALLINT </a:t>
            </a:r>
            <a:r>
              <a:rPr lang="en-US" dirty="0"/>
              <a:t>stores integer values</a:t>
            </a:r>
          </a:p>
          <a:p>
            <a:r>
              <a:rPr lang="en-US" sz="2800" dirty="0">
                <a:solidFill>
                  <a:srgbClr val="006600"/>
                </a:solidFill>
              </a:rPr>
              <a:t>NUMERIC(</a:t>
            </a:r>
            <a:r>
              <a:rPr lang="en-US" sz="2800" dirty="0" err="1">
                <a:solidFill>
                  <a:srgbClr val="006600"/>
                </a:solidFill>
              </a:rPr>
              <a:t>p,d</a:t>
            </a:r>
            <a:r>
              <a:rPr lang="en-US" sz="2800" dirty="0">
                <a:solidFill>
                  <a:srgbClr val="006600"/>
                </a:solidFill>
              </a:rPr>
              <a:t>) </a:t>
            </a:r>
            <a:r>
              <a:rPr lang="en-US" dirty="0"/>
              <a:t>numerical values with total p digits (plus a sign) </a:t>
            </a:r>
          </a:p>
          <a:p>
            <a:pPr lvl="1"/>
            <a:r>
              <a:rPr lang="en-US" dirty="0"/>
              <a:t>Out of the p digits, d are after the decimal point</a:t>
            </a:r>
          </a:p>
          <a:p>
            <a:r>
              <a:rPr lang="en-US" sz="2800" dirty="0">
                <a:solidFill>
                  <a:srgbClr val="006600"/>
                </a:solidFill>
              </a:rPr>
              <a:t>REAL </a:t>
            </a:r>
            <a:r>
              <a:rPr lang="en-US" dirty="0"/>
              <a:t>stores floating point numbers with double precision</a:t>
            </a:r>
          </a:p>
          <a:p>
            <a:r>
              <a:rPr lang="en-US" sz="2800" dirty="0">
                <a:solidFill>
                  <a:srgbClr val="006600"/>
                </a:solidFill>
              </a:rPr>
              <a:t>FLOAT(n) </a:t>
            </a:r>
            <a:r>
              <a:rPr lang="en-US" dirty="0"/>
              <a:t>stores floating point numbers with double precision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5485A-68A1-00ED-1F1F-67BF2F51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676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Types in SQL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1010900" cy="494828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6600"/>
                </a:solidFill>
              </a:rPr>
              <a:t>CHAR(n) and VARCHAR(n)</a:t>
            </a:r>
          </a:p>
          <a:p>
            <a:pPr lvl="1"/>
            <a:r>
              <a:rPr lang="en-US" sz="2400" dirty="0">
                <a:solidFill>
                  <a:srgbClr val="006600"/>
                </a:solidFill>
              </a:rPr>
              <a:t>CHAR(n) </a:t>
            </a:r>
            <a:r>
              <a:rPr lang="en-US" sz="2400" dirty="0"/>
              <a:t>allocates a space for exactly `n’ characters – if the value is shorter, the remaining spaces are filled with the `space’ character</a:t>
            </a:r>
          </a:p>
          <a:p>
            <a:pPr lvl="1"/>
            <a:r>
              <a:rPr lang="en-US" sz="2400" dirty="0">
                <a:solidFill>
                  <a:srgbClr val="006600"/>
                </a:solidFill>
              </a:rPr>
              <a:t>VARCHAR(n) </a:t>
            </a:r>
            <a:r>
              <a:rPr lang="en-US" sz="2400" dirty="0"/>
              <a:t>allocates a space for up to `n’ characters – allocation is done during the runtime.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5BF0D-54E7-9C4E-EEDA-1A672AD0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293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Value-Based Constraints – Data Types (Cont.)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Most DBMSs use dynamic typing</a:t>
            </a:r>
          </a:p>
          <a:p>
            <a:pPr lvl="1"/>
            <a:r>
              <a:rPr lang="en-US" dirty="0"/>
              <a:t>Data of any type can (usually) be inserted into any column</a:t>
            </a:r>
          </a:p>
          <a:p>
            <a:pPr lvl="1"/>
            <a:r>
              <a:rPr lang="en-US" dirty="0"/>
              <a:t>You can put arbitrary length strings into integer columns, floating point numbers in Boolean columns, or dates in character columns</a:t>
            </a:r>
            <a:endParaRPr lang="en-US" sz="2000" dirty="0"/>
          </a:p>
          <a:p>
            <a:r>
              <a:rPr lang="en-US" dirty="0"/>
              <a:t>Columns of type INTEGER/NUMERIC PRIMARY KEY cannot accept string</a:t>
            </a:r>
          </a:p>
          <a:p>
            <a:pPr lvl="1"/>
            <a:r>
              <a:rPr lang="en-US" dirty="0"/>
              <a:t>Error message will be printed if you try to put string into an INTEGER PRIMARY KEY column</a:t>
            </a:r>
          </a:p>
          <a:p>
            <a:pPr lvl="1"/>
            <a:r>
              <a:rPr lang="en-US" dirty="0"/>
              <a:t>If you put floating point value, some DBMSs store the integer part</a:t>
            </a:r>
          </a:p>
          <a:p>
            <a:pPr marL="0" indent="457200">
              <a:buNone/>
            </a:pPr>
            <a:r>
              <a:rPr lang="en-US" sz="2400" dirty="0">
                <a:ea typeface="ＭＳ Ｐゴシック" panose="020B0600070205080204" pitchFamily="34" charset="-128"/>
              </a:rPr>
              <a:t>Test the database with the following query </a:t>
            </a:r>
          </a:p>
          <a:p>
            <a:pPr marL="0" indent="457200">
              <a:buNone/>
            </a:pPr>
            <a:r>
              <a:rPr lang="en-US" sz="2400" dirty="0">
                <a:solidFill>
                  <a:srgbClr val="006600"/>
                </a:solidFill>
              </a:rPr>
              <a:t>INSERT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INTO</a:t>
            </a:r>
            <a:r>
              <a:rPr lang="en-US" sz="2400" dirty="0"/>
              <a:t> test </a:t>
            </a:r>
          </a:p>
          <a:p>
            <a:pPr marL="0" indent="457200">
              <a:buNone/>
            </a:pPr>
            <a:r>
              <a:rPr lang="en-US" sz="2400" dirty="0">
                <a:solidFill>
                  <a:srgbClr val="006600"/>
                </a:solidFill>
              </a:rPr>
              <a:t>VALUES</a:t>
            </a:r>
            <a:r>
              <a:rPr lang="en-US" sz="2400" dirty="0"/>
              <a:t> (3.14, 'JH', 'CS', ‘Computer Science')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EDAB9-CC00-A727-BF9F-5102D24C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96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9DC5B00-5E50-1C4F-88CA-CF62FBFAA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EBEB55B-2A7B-0A4D-831B-6E6A5C48E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90B8D0A2-5980-5B40-8F18-BB3A9A01E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Constraints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059C0513-F9F6-864F-B81E-696F83789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dirty="0"/>
              <a:t>A set of fields is a key for a relation if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it-IT" dirty="0"/>
              <a:t>No two distinct tuples can have same values in all key fields,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it-IT" dirty="0"/>
              <a:t>This is not true for any subset of the key.</a:t>
            </a:r>
          </a:p>
          <a:p>
            <a:pPr lvl="1">
              <a:buSzPct val="75000"/>
            </a:pPr>
            <a:r>
              <a:rPr lang="en-US" altLang="it-IT" sz="2200" dirty="0"/>
              <a:t>Part 2 false? A </a:t>
            </a:r>
            <a:r>
              <a:rPr lang="en-US" altLang="it-IT" sz="2200" dirty="0" err="1"/>
              <a:t>superkey</a:t>
            </a:r>
            <a:r>
              <a:rPr lang="en-US" altLang="it-IT" sz="2200" dirty="0"/>
              <a:t>.</a:t>
            </a:r>
          </a:p>
          <a:p>
            <a:pPr lvl="1">
              <a:buSzPct val="75000"/>
            </a:pPr>
            <a:r>
              <a:rPr lang="en-US" altLang="it-IT" sz="2200" dirty="0"/>
              <a:t>If there</a:t>
            </a:r>
            <a:r>
              <a:rPr lang="ja-JP" altLang="en-US" sz="2200"/>
              <a:t>’</a:t>
            </a:r>
            <a:r>
              <a:rPr lang="en-US" altLang="ja-JP" sz="2200" dirty="0"/>
              <a:t>s &gt;1 key for a relation, one of the keys is chosen (by DBA) to be the primary key.</a:t>
            </a:r>
          </a:p>
          <a:p>
            <a:r>
              <a:rPr lang="en-US" altLang="it-IT" dirty="0"/>
              <a:t>E.g., </a:t>
            </a:r>
            <a:r>
              <a:rPr lang="en-US" altLang="it-IT" dirty="0" err="1"/>
              <a:t>sid</a:t>
            </a:r>
            <a:r>
              <a:rPr lang="en-US" altLang="it-IT" dirty="0"/>
              <a:t> is a key for Students.  (What about name?)  The set {</a:t>
            </a:r>
            <a:r>
              <a:rPr lang="en-US" altLang="it-IT" dirty="0" err="1"/>
              <a:t>sid</a:t>
            </a:r>
            <a:r>
              <a:rPr lang="en-US" altLang="it-IT" dirty="0"/>
              <a:t>, </a:t>
            </a:r>
            <a:r>
              <a:rPr lang="en-US" altLang="it-IT" dirty="0" err="1"/>
              <a:t>gpa</a:t>
            </a:r>
            <a:r>
              <a:rPr lang="en-US" altLang="it-IT" dirty="0"/>
              <a:t>} is a </a:t>
            </a:r>
            <a:r>
              <a:rPr lang="en-US" altLang="it-IT" dirty="0" err="1"/>
              <a:t>superkey</a:t>
            </a:r>
            <a:r>
              <a:rPr lang="en-US" altLang="it-IT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5D916-7A87-D771-156B-449A89FB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7338956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attribute key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Use the </a:t>
            </a:r>
            <a:r>
              <a:rPr lang="en-US" altLang="nl-NL" dirty="0">
                <a:solidFill>
                  <a:srgbClr val="006600"/>
                </a:solidFill>
              </a:rPr>
              <a:t>PRIMARY KEY</a:t>
            </a:r>
            <a:r>
              <a:rPr lang="en-US" altLang="nl-NL" dirty="0"/>
              <a:t> key or </a:t>
            </a:r>
            <a:r>
              <a:rPr lang="en-US" altLang="nl-NL" dirty="0">
                <a:solidFill>
                  <a:srgbClr val="006600"/>
                </a:solidFill>
              </a:rPr>
              <a:t>UNIQUE </a:t>
            </a:r>
            <a:r>
              <a:rPr lang="en-US" altLang="nl-NL" dirty="0"/>
              <a:t>after the type in the declaration of the attribute</a:t>
            </a:r>
          </a:p>
          <a:p>
            <a:r>
              <a:rPr lang="en-US" altLang="nl-NL" dirty="0"/>
              <a:t>Example:</a:t>
            </a:r>
          </a:p>
          <a:p>
            <a:pPr>
              <a:buFont typeface="Monotype Sorts" charset="2"/>
              <a:buNone/>
            </a:pPr>
            <a:r>
              <a:rPr lang="en-US" altLang="nl-NL" sz="2400" dirty="0">
                <a:solidFill>
                  <a:srgbClr val="006600"/>
                </a:solidFill>
              </a:rPr>
              <a:t>CREATE TABLE </a:t>
            </a:r>
            <a:r>
              <a:rPr lang="en-US" altLang="nl-NL" sz="2400" dirty="0"/>
              <a:t>test (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	</a:t>
            </a:r>
            <a:r>
              <a:rPr lang="en-US" altLang="nl-NL" sz="2400" dirty="0" err="1"/>
              <a:t>sid</a:t>
            </a:r>
            <a:r>
              <a:rPr lang="en-US" altLang="nl-NL" sz="2400" dirty="0"/>
              <a:t>	</a:t>
            </a:r>
            <a:r>
              <a:rPr lang="en-US" altLang="nl-NL" sz="2400" dirty="0">
                <a:solidFill>
                  <a:srgbClr val="006600"/>
                </a:solidFill>
              </a:rPr>
              <a:t>INTEGER</a:t>
            </a:r>
            <a:r>
              <a:rPr lang="en-US" altLang="nl-NL" sz="2400" dirty="0"/>
              <a:t> </a:t>
            </a:r>
            <a:r>
              <a:rPr lang="en-US" altLang="nl-NL" sz="2400" dirty="0">
                <a:solidFill>
                  <a:srgbClr val="006600"/>
                </a:solidFill>
              </a:rPr>
              <a:t>UNIQUE</a:t>
            </a:r>
            <a:r>
              <a:rPr lang="en-US" altLang="nl-NL" sz="2400" dirty="0"/>
              <a:t>,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	name	</a:t>
            </a:r>
            <a:r>
              <a:rPr lang="en-US" altLang="nl-NL" sz="2400" dirty="0">
                <a:solidFill>
                  <a:srgbClr val="006600"/>
                </a:solidFill>
              </a:rPr>
              <a:t>VARCHAR </a:t>
            </a:r>
            <a:r>
              <a:rPr lang="en-US" altLang="nl-NL" sz="2400" dirty="0"/>
              <a:t>(30),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	major </a:t>
            </a:r>
            <a:r>
              <a:rPr lang="en-US" altLang="nl-NL" sz="2400" dirty="0">
                <a:solidFill>
                  <a:srgbClr val="006600"/>
                </a:solidFill>
              </a:rPr>
              <a:t>VARCHAR</a:t>
            </a:r>
            <a:r>
              <a:rPr lang="en-US" altLang="nl-NL" sz="2400" dirty="0"/>
              <a:t> (30)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);</a:t>
            </a:r>
          </a:p>
          <a:p>
            <a:pPr lvl="1"/>
            <a:endParaRPr lang="en-US" altLang="nl-NL" dirty="0"/>
          </a:p>
          <a:p>
            <a:r>
              <a:rPr lang="en-US" altLang="nl-NL" dirty="0"/>
              <a:t>You may also use </a:t>
            </a:r>
            <a:r>
              <a:rPr lang="en-US" altLang="nl-NL" dirty="0" err="1"/>
              <a:t>sid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INTEGER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PRIMARY KEY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090E5-4409-76FA-DCE7-94A300EE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1566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Multiattribute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You can also specify multiple attributes to be </a:t>
            </a:r>
            <a:r>
              <a:rPr lang="en-US" altLang="nl-NL" dirty="0">
                <a:solidFill>
                  <a:srgbClr val="006600"/>
                </a:solidFill>
              </a:rPr>
              <a:t>PRIMARY KEY</a:t>
            </a:r>
          </a:p>
          <a:p>
            <a:r>
              <a:rPr lang="en-US" altLang="nl-NL" dirty="0" err="1"/>
              <a:t>product_name</a:t>
            </a:r>
            <a:r>
              <a:rPr lang="en-US" altLang="nl-NL" dirty="0"/>
              <a:t> and country of origin are the key for the sells relation</a:t>
            </a:r>
          </a:p>
          <a:p>
            <a:r>
              <a:rPr lang="en-US" altLang="nl-NL" dirty="0"/>
              <a:t>Example:</a:t>
            </a:r>
          </a:p>
          <a:p>
            <a:pPr>
              <a:buFont typeface="Monotype Sorts" charset="2"/>
              <a:buNone/>
            </a:pPr>
            <a:r>
              <a:rPr lang="en-US" altLang="nl-NL" sz="2400" dirty="0">
                <a:solidFill>
                  <a:srgbClr val="006600"/>
                </a:solidFill>
              </a:rPr>
              <a:t>CREATE TABLE </a:t>
            </a:r>
            <a:r>
              <a:rPr lang="en-US" altLang="nl-NL" sz="2400" dirty="0"/>
              <a:t>sells (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	</a:t>
            </a:r>
            <a:r>
              <a:rPr lang="en-US" altLang="nl-NL" sz="2400" dirty="0" err="1"/>
              <a:t>product_name</a:t>
            </a:r>
            <a:r>
              <a:rPr lang="en-US" altLang="nl-NL" sz="2400" dirty="0"/>
              <a:t> </a:t>
            </a:r>
            <a:r>
              <a:rPr lang="en-US" altLang="nl-NL" sz="2400" dirty="0">
                <a:solidFill>
                  <a:srgbClr val="006600"/>
                </a:solidFill>
              </a:rPr>
              <a:t>CHAR(20)</a:t>
            </a:r>
            <a:r>
              <a:rPr lang="en-US" altLang="nl-NL" sz="2400" dirty="0"/>
              <a:t>,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	price </a:t>
            </a:r>
            <a:r>
              <a:rPr lang="en-US" altLang="nl-NL" sz="2400" dirty="0">
                <a:solidFill>
                  <a:srgbClr val="006600"/>
                </a:solidFill>
              </a:rPr>
              <a:t>REAL</a:t>
            </a:r>
            <a:r>
              <a:rPr lang="en-US" altLang="nl-NL" sz="2400" dirty="0"/>
              <a:t>,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	</a:t>
            </a:r>
            <a:r>
              <a:rPr lang="en-US" altLang="nl-NL" sz="2400" dirty="0" err="1"/>
              <a:t>country_of_origin</a:t>
            </a:r>
            <a:r>
              <a:rPr lang="en-US" altLang="nl-NL" sz="2400" dirty="0"/>
              <a:t> </a:t>
            </a:r>
            <a:r>
              <a:rPr lang="en-US" altLang="nl-NL" sz="2400" dirty="0">
                <a:solidFill>
                  <a:srgbClr val="006600"/>
                </a:solidFill>
              </a:rPr>
              <a:t>VARCHAR</a:t>
            </a:r>
            <a:r>
              <a:rPr lang="en-US" altLang="nl-NL" sz="2400" dirty="0"/>
              <a:t> (30),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	PRIMARY KEY (</a:t>
            </a:r>
            <a:r>
              <a:rPr lang="en-US" altLang="nl-NL" sz="2400" dirty="0" err="1"/>
              <a:t>product_name</a:t>
            </a:r>
            <a:r>
              <a:rPr lang="en-US" altLang="nl-NL" sz="2400" dirty="0"/>
              <a:t>, </a:t>
            </a:r>
            <a:r>
              <a:rPr lang="en-US" altLang="nl-NL" sz="2400" dirty="0" err="1"/>
              <a:t>country_of_origin</a:t>
            </a:r>
            <a:r>
              <a:rPr lang="en-US" altLang="nl-NL" sz="2400" dirty="0"/>
              <a:t>)</a:t>
            </a:r>
          </a:p>
          <a:p>
            <a:pPr>
              <a:buFont typeface="Monotype Sorts" charset="2"/>
              <a:buNone/>
            </a:pPr>
            <a:r>
              <a:rPr lang="en-US" altLang="nl-NL" sz="2400" dirty="0"/>
              <a:t>		);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8A1CC-B5FC-6F7D-EB6C-06A6F753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4158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C9CA339-0F31-2D4C-A3A7-AF7F6F52F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2585F78-9149-9F47-A1EE-496BED2DC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DB5EC6B0-ABA1-E64E-AB95-72B26EE18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and Candidate Keys in SQL – What Could Go Wrong?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E80A31F4-C2D9-A944-AE3A-541758F3F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10464"/>
            <a:ext cx="8763000" cy="15240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altLang="it-IT" dirty="0">
                <a:latin typeface="Book Antiqua" panose="02040602050305030304" pitchFamily="18" charset="0"/>
              </a:rPr>
              <a:t>If used carelessly, an IC can prevent the storage of database instances that arise in practice!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56CDC90C-36AB-3247-A487-5E234043A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526" y="2100821"/>
            <a:ext cx="3316935" cy="1936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6600"/>
                </a:solidFill>
              </a:rPr>
              <a:t>CREATE TABLE </a:t>
            </a:r>
            <a:r>
              <a:rPr lang="en-US" dirty="0">
                <a:latin typeface="Book Antiqua" charset="0"/>
                <a:ea typeface="ＭＳ Ｐゴシック" charset="0"/>
              </a:rPr>
              <a:t>Enrolled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(</a:t>
            </a:r>
            <a:r>
              <a:rPr lang="en-US" dirty="0" err="1">
                <a:latin typeface="Book Antiqua" charset="0"/>
                <a:ea typeface="ＭＳ Ｐゴシック" charset="0"/>
              </a:rPr>
              <a:t>sid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CHAR(20)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</a:t>
            </a:r>
            <a:r>
              <a:rPr lang="en-US" dirty="0" err="1">
                <a:latin typeface="Book Antiqua" charset="0"/>
                <a:ea typeface="ＭＳ Ｐゴシック" charset="0"/>
              </a:rPr>
              <a:t>cid</a:t>
            </a:r>
            <a:r>
              <a:rPr lang="en-US" dirty="0">
                <a:latin typeface="Book Antiqua" charset="0"/>
                <a:ea typeface="ＭＳ Ｐゴシック" charset="0"/>
              </a:rPr>
              <a:t>  </a:t>
            </a:r>
            <a:r>
              <a:rPr lang="en-US" sz="2400" dirty="0">
                <a:solidFill>
                  <a:srgbClr val="006600"/>
                </a:solidFill>
              </a:rPr>
              <a:t>CHAR(20),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grade </a:t>
            </a:r>
            <a:r>
              <a:rPr lang="en-US" sz="2400" dirty="0">
                <a:solidFill>
                  <a:srgbClr val="006600"/>
                </a:solidFill>
              </a:rPr>
              <a:t>CHAR(2),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</a:t>
            </a:r>
            <a:r>
              <a:rPr lang="en-US" sz="2400" dirty="0">
                <a:solidFill>
                  <a:srgbClr val="006600"/>
                </a:solidFill>
              </a:rPr>
              <a:t>PRIMARY KEY  </a:t>
            </a:r>
            <a:r>
              <a:rPr lang="en-US" dirty="0">
                <a:latin typeface="Book Antiqua" charset="0"/>
                <a:ea typeface="ＭＳ Ｐゴシック" charset="0"/>
              </a:rPr>
              <a:t>(</a:t>
            </a:r>
            <a:r>
              <a:rPr lang="en-US" dirty="0" err="1">
                <a:latin typeface="Book Antiqua" charset="0"/>
                <a:ea typeface="ＭＳ Ｐゴシック" charset="0"/>
              </a:rPr>
              <a:t>sid</a:t>
            </a:r>
            <a:r>
              <a:rPr lang="en-US" dirty="0">
                <a:latin typeface="Book Antiqua" charset="0"/>
                <a:ea typeface="ＭＳ Ｐゴシック" charset="0"/>
              </a:rPr>
              <a:t>, </a:t>
            </a:r>
            <a:r>
              <a:rPr lang="en-US" dirty="0" err="1">
                <a:latin typeface="Book Antiqua" charset="0"/>
                <a:ea typeface="ＭＳ Ｐゴシック" charset="0"/>
              </a:rPr>
              <a:t>cid</a:t>
            </a:r>
            <a:r>
              <a:rPr lang="en-US" dirty="0">
                <a:latin typeface="Book Antiqua" charset="0"/>
                <a:ea typeface="ＭＳ Ｐゴシック" charset="0"/>
              </a:rPr>
              <a:t>) )</a:t>
            </a: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A1B3546E-C91A-884C-8CE9-3E4842097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627" y="2708476"/>
            <a:ext cx="5091546" cy="3768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altLang="ja-JP" dirty="0">
                <a:latin typeface="Book Antiqua" panose="02040602050305030304" pitchFamily="18" charset="0"/>
              </a:rPr>
              <a:t>CASE 1: for a given student and a course, there is a single grade.</a:t>
            </a:r>
          </a:p>
          <a:p>
            <a:pPr marL="0" indent="0">
              <a:spcBef>
                <a:spcPct val="20000"/>
              </a:spcBef>
              <a:buClr>
                <a:schemeClr val="tx1"/>
              </a:buClr>
              <a:buSzPct val="75000"/>
            </a:pPr>
            <a:endParaRPr lang="en-US" altLang="ja-JP" dirty="0">
              <a:latin typeface="Book Antiqua" panose="02040602050305030304" pitchFamily="18" charset="0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altLang="ja-JP" dirty="0">
                <a:latin typeface="Book Antiqua" panose="02040602050305030304" pitchFamily="18" charset="0"/>
              </a:rPr>
              <a:t>CASE2: students can take only one course and receive a single grade for that course; further, no two students in a course receive the same grade.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endParaRPr lang="en-US" altLang="ja-JP" dirty="0">
              <a:latin typeface="Book Antiqua" panose="02040602050305030304" pitchFamily="18" charset="0"/>
            </a:endParaRPr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E67EAFBA-4F7D-C641-956E-242F05A62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561" y="4233153"/>
            <a:ext cx="2885278" cy="2305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6600"/>
                </a:solidFill>
              </a:rPr>
              <a:t>CREATE TABLE </a:t>
            </a:r>
            <a:r>
              <a:rPr lang="en-US" dirty="0">
                <a:latin typeface="Book Antiqua" charset="0"/>
                <a:ea typeface="ＭＳ Ｐゴシック" charset="0"/>
              </a:rPr>
              <a:t>Enrolled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(</a:t>
            </a:r>
            <a:r>
              <a:rPr lang="en-US" dirty="0" err="1">
                <a:latin typeface="Book Antiqua" charset="0"/>
                <a:ea typeface="ＭＳ Ｐゴシック" charset="0"/>
              </a:rPr>
              <a:t>sid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CHAR(20)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</a:t>
            </a:r>
            <a:r>
              <a:rPr lang="en-US" dirty="0" err="1">
                <a:latin typeface="Book Antiqua" charset="0"/>
                <a:ea typeface="ＭＳ Ｐゴシック" charset="0"/>
              </a:rPr>
              <a:t>cid</a:t>
            </a:r>
            <a:r>
              <a:rPr lang="en-US" dirty="0">
                <a:latin typeface="Book Antiqua" charset="0"/>
                <a:ea typeface="ＭＳ Ｐゴシック" charset="0"/>
              </a:rPr>
              <a:t>  </a:t>
            </a:r>
            <a:r>
              <a:rPr lang="en-US" sz="2400" dirty="0">
                <a:solidFill>
                  <a:srgbClr val="006600"/>
                </a:solidFill>
              </a:rPr>
              <a:t>CHAR(20),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grade </a:t>
            </a:r>
            <a:r>
              <a:rPr lang="en-US" sz="2400" dirty="0">
                <a:solidFill>
                  <a:srgbClr val="006600"/>
                </a:solidFill>
              </a:rPr>
              <a:t>CHAR(2),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</a:t>
            </a:r>
            <a:r>
              <a:rPr lang="en-US" sz="2400" dirty="0">
                <a:solidFill>
                  <a:srgbClr val="006600"/>
                </a:solidFill>
              </a:rPr>
              <a:t>PRIMARY KEY  </a:t>
            </a:r>
            <a:r>
              <a:rPr lang="en-US" dirty="0">
                <a:latin typeface="Book Antiqua" charset="0"/>
                <a:ea typeface="ＭＳ Ｐゴシック" charset="0"/>
              </a:rPr>
              <a:t>(</a:t>
            </a:r>
            <a:r>
              <a:rPr lang="en-US" dirty="0" err="1">
                <a:latin typeface="Book Antiqua" charset="0"/>
                <a:ea typeface="ＭＳ Ｐゴシック" charset="0"/>
              </a:rPr>
              <a:t>sid</a:t>
            </a:r>
            <a:r>
              <a:rPr lang="en-US" dirty="0">
                <a:latin typeface="Book Antiqua" charset="0"/>
                <a:ea typeface="ＭＳ Ｐゴシック" charset="0"/>
              </a:rPr>
              <a:t>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</a:t>
            </a:r>
            <a:r>
              <a:rPr lang="en-US" sz="2400" dirty="0">
                <a:solidFill>
                  <a:srgbClr val="006600"/>
                </a:solidFill>
              </a:rPr>
              <a:t>UNIQUE</a:t>
            </a:r>
            <a:r>
              <a:rPr lang="en-US" dirty="0">
                <a:latin typeface="Book Antiqua" charset="0"/>
                <a:ea typeface="ＭＳ Ｐゴシック" charset="0"/>
              </a:rPr>
              <a:t> (</a:t>
            </a:r>
            <a:r>
              <a:rPr lang="en-US" dirty="0" err="1">
                <a:latin typeface="Book Antiqua" charset="0"/>
                <a:ea typeface="ＭＳ Ｐゴシック" charset="0"/>
              </a:rPr>
              <a:t>cid</a:t>
            </a:r>
            <a:r>
              <a:rPr lang="en-US" dirty="0">
                <a:latin typeface="Book Antiqua" charset="0"/>
                <a:ea typeface="ＭＳ Ｐゴシック" charset="0"/>
              </a:rPr>
              <a:t>, grade)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2A34F-022E-8D13-981B-5C271E88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15</a:t>
            </a:fld>
            <a:endParaRPr lang="nl-NL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205127-36FB-054A-ECE0-44C3B53F4996}"/>
              </a:ext>
            </a:extLst>
          </p:cNvPr>
          <p:cNvCxnSpPr>
            <a:cxnSpLocks/>
          </p:cNvCxnSpPr>
          <p:nvPr/>
        </p:nvCxnSpPr>
        <p:spPr>
          <a:xfrm flipV="1">
            <a:off x="5856790" y="2922974"/>
            <a:ext cx="2243736" cy="325988"/>
          </a:xfrm>
          <a:prstGeom prst="straightConnector1">
            <a:avLst/>
          </a:prstGeom>
          <a:ln w="57150"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231FF-19D3-8A6E-D680-DCC1C252BED6}"/>
              </a:ext>
            </a:extLst>
          </p:cNvPr>
          <p:cNvCxnSpPr>
            <a:cxnSpLocks/>
          </p:cNvCxnSpPr>
          <p:nvPr/>
        </p:nvCxnSpPr>
        <p:spPr>
          <a:xfrm>
            <a:off x="5856790" y="4755732"/>
            <a:ext cx="2301771" cy="278073"/>
          </a:xfrm>
          <a:prstGeom prst="straightConnector1">
            <a:avLst/>
          </a:prstGeom>
          <a:ln w="57150"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49140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30B65F1-8560-AB4C-AC6D-30E423BDE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314C9C5-7817-7D48-B9C3-CF2907686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2D630C7F-8E26-9447-A908-EB252B2AF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Keys, Referential Integrity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1A3C2F54-AB2D-8841-9BCA-2D1BD988EC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3677" y="1828799"/>
            <a:ext cx="10953389" cy="4664075"/>
          </a:xfrm>
        </p:spPr>
        <p:txBody>
          <a:bodyPr>
            <a:normAutofit/>
          </a:bodyPr>
          <a:lstStyle/>
          <a:p>
            <a:r>
              <a:rPr lang="en-US" altLang="it-IT" i="1" u="sng" dirty="0">
                <a:solidFill>
                  <a:schemeClr val="accent6">
                    <a:lumMod val="75000"/>
                  </a:schemeClr>
                </a:solidFill>
              </a:rPr>
              <a:t>Foreign key</a:t>
            </a:r>
            <a:r>
              <a:rPr lang="en-US" altLang="it-IT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altLang="it-IT" dirty="0"/>
              <a:t>Set of fields in one relation that is used to `refer</a:t>
            </a:r>
            <a:r>
              <a:rPr lang="ja-JP" altLang="en-US" dirty="0">
                <a:latin typeface="Arial" panose="020B0604020202020204" pitchFamily="34" charset="0"/>
              </a:rPr>
              <a:t>’</a:t>
            </a:r>
            <a:r>
              <a:rPr lang="en-US" altLang="ja-JP" dirty="0"/>
              <a:t> to a tuple in another relation.  (Must correspond to primary key of the second relation.)  Like a `logical pointer</a:t>
            </a:r>
            <a:r>
              <a:rPr lang="ja-JP" altLang="en-US">
                <a:latin typeface="Arial" panose="020B0604020202020204" pitchFamily="34" charset="0"/>
              </a:rPr>
              <a:t>’</a:t>
            </a:r>
            <a:r>
              <a:rPr lang="en-US" altLang="ja-JP" dirty="0"/>
              <a:t>.</a:t>
            </a:r>
          </a:p>
          <a:p>
            <a:pPr lvl="1"/>
            <a:r>
              <a:rPr lang="en-US" altLang="nl-NL" dirty="0"/>
              <a:t>Let A be a set of attributes (could be one attribute).  </a:t>
            </a:r>
          </a:p>
          <a:p>
            <a:pPr lvl="1"/>
            <a:r>
              <a:rPr lang="en-US" altLang="nl-NL" dirty="0"/>
              <a:t>Let R and S be two relations that contain attributes A</a:t>
            </a:r>
          </a:p>
          <a:p>
            <a:pPr lvl="1"/>
            <a:r>
              <a:rPr lang="en-US" altLang="nl-NL" dirty="0"/>
              <a:t>A is the primary key of S. </a:t>
            </a:r>
          </a:p>
          <a:p>
            <a:pPr lvl="1"/>
            <a:r>
              <a:rPr lang="en-US" altLang="nl-NL" dirty="0"/>
              <a:t>A is said to be a  </a:t>
            </a:r>
            <a:r>
              <a:rPr lang="en-US" altLang="nl-NL" b="1" dirty="0"/>
              <a:t>foreign key</a:t>
            </a:r>
            <a:r>
              <a:rPr lang="en-US" altLang="nl-NL" dirty="0"/>
              <a:t> in R if for any r in R, r(A) in S.</a:t>
            </a:r>
            <a:endParaRPr lang="en-US" altLang="ja-JP" dirty="0"/>
          </a:p>
          <a:p>
            <a:r>
              <a:rPr lang="en-US" altLang="it-IT" dirty="0"/>
              <a:t>E.g. </a:t>
            </a:r>
            <a:r>
              <a:rPr lang="en-US" altLang="it-IT" i="1" dirty="0" err="1">
                <a:solidFill>
                  <a:srgbClr val="CF0E30"/>
                </a:solidFill>
              </a:rPr>
              <a:t>sid</a:t>
            </a:r>
            <a:r>
              <a:rPr lang="en-US" altLang="it-IT" dirty="0"/>
              <a:t> is a foreign key referring to </a:t>
            </a:r>
            <a:r>
              <a:rPr lang="en-US" altLang="it-IT" dirty="0">
                <a:solidFill>
                  <a:srgbClr val="CF0E30"/>
                </a:solidFill>
              </a:rPr>
              <a:t>Students</a:t>
            </a:r>
            <a:r>
              <a:rPr lang="en-US" altLang="it-IT" dirty="0"/>
              <a:t>:</a:t>
            </a:r>
          </a:p>
          <a:p>
            <a:pPr lvl="1">
              <a:buSzPct val="75000"/>
            </a:pPr>
            <a:r>
              <a:rPr lang="en-US" altLang="it-IT" dirty="0"/>
              <a:t>Enrolled(</a:t>
            </a:r>
            <a:r>
              <a:rPr lang="en-US" altLang="it-IT" i="1" dirty="0" err="1">
                <a:solidFill>
                  <a:srgbClr val="CF0E30"/>
                </a:solidFill>
              </a:rPr>
              <a:t>sid</a:t>
            </a:r>
            <a:r>
              <a:rPr lang="en-US" altLang="it-IT" dirty="0">
                <a:solidFill>
                  <a:srgbClr val="CF0E30"/>
                </a:solidFill>
              </a:rPr>
              <a:t>: </a:t>
            </a:r>
            <a:r>
              <a:rPr lang="en-US" altLang="it-IT" dirty="0"/>
              <a:t>string, </a:t>
            </a:r>
            <a:r>
              <a:rPr lang="en-US" altLang="it-IT" i="1" dirty="0" err="1"/>
              <a:t>cid</a:t>
            </a:r>
            <a:r>
              <a:rPr lang="en-US" altLang="it-IT" dirty="0"/>
              <a:t>: string, </a:t>
            </a:r>
            <a:r>
              <a:rPr lang="en-US" altLang="it-IT" i="1" dirty="0"/>
              <a:t>grade</a:t>
            </a:r>
            <a:r>
              <a:rPr lang="en-US" altLang="it-IT" dirty="0"/>
              <a:t>: string)</a:t>
            </a:r>
          </a:p>
          <a:p>
            <a:pPr lvl="1">
              <a:buSzPct val="75000"/>
            </a:pPr>
            <a:r>
              <a:rPr lang="en-US" altLang="it-IT" dirty="0"/>
              <a:t>If all foreign key constraints are enforced,  </a:t>
            </a:r>
            <a:r>
              <a:rPr lang="en-US" altLang="it-IT" i="1" u="sng" dirty="0">
                <a:solidFill>
                  <a:schemeClr val="accent6">
                    <a:lumMod val="75000"/>
                  </a:schemeClr>
                </a:solidFill>
              </a:rPr>
              <a:t>referential integrity</a:t>
            </a:r>
            <a:r>
              <a:rPr lang="en-US" altLang="it-IT" dirty="0"/>
              <a:t> is achieved, i.e., no dangling references.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05717F-A947-80F7-0BF5-B8E54172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277125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590C639-7211-274F-BF3A-9F52F2E3F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9A6F0A3-6467-1746-A331-21CDD4982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406C9456-8F71-E64D-9D3D-FED3E8BF8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91253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in SQL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FA888B1A-DD42-724D-84D0-602F8C51E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9677400" cy="990600"/>
          </a:xfrm>
        </p:spPr>
        <p:txBody>
          <a:bodyPr/>
          <a:lstStyle/>
          <a:p>
            <a:pPr>
              <a:defRPr/>
            </a:pPr>
            <a:r>
              <a:rPr lang="en-US" dirty="0"/>
              <a:t>Only students listed in the Students relation should be allowed to enroll for courses.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B7C8CC53-0E7E-DF4D-962C-14A2ABD85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4" y="2578100"/>
            <a:ext cx="5698677" cy="1443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Book Antiqua" charset="0"/>
                <a:ea typeface="ＭＳ Ｐゴシック" charset="0"/>
              </a:rPr>
              <a:t>CREATE TABLE</a:t>
            </a:r>
            <a:r>
              <a:rPr lang="en-US" dirty="0">
                <a:latin typeface="Book Antiqua" charset="0"/>
                <a:ea typeface="ＭＳ Ｐゴシック" charset="0"/>
              </a:rPr>
              <a:t> Enrolled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(</a:t>
            </a:r>
            <a:r>
              <a:rPr lang="en-US" dirty="0" err="1">
                <a:latin typeface="Book Antiqua" charset="0"/>
                <a:ea typeface="ＭＳ Ｐゴシック" charset="0"/>
              </a:rPr>
              <a:t>esid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2000" dirty="0">
                <a:latin typeface="Book Antiqua" charset="0"/>
                <a:ea typeface="ＭＳ Ｐゴシック" charset="0"/>
              </a:rPr>
              <a:t>CHAR</a:t>
            </a:r>
            <a:r>
              <a:rPr lang="en-US" dirty="0">
                <a:latin typeface="Book Antiqua" charset="0"/>
                <a:ea typeface="ＭＳ Ｐゴシック" charset="0"/>
              </a:rPr>
              <a:t>(20),  </a:t>
            </a:r>
            <a:r>
              <a:rPr lang="en-US" dirty="0" err="1">
                <a:latin typeface="Book Antiqua" charset="0"/>
                <a:ea typeface="ＭＳ Ｐゴシック" charset="0"/>
              </a:rPr>
              <a:t>cid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2000" dirty="0">
                <a:latin typeface="Book Antiqua" charset="0"/>
                <a:ea typeface="ＭＳ Ｐゴシック" charset="0"/>
              </a:rPr>
              <a:t>CHAR(20)</a:t>
            </a:r>
            <a:r>
              <a:rPr lang="en-US" dirty="0">
                <a:latin typeface="Book Antiqua" charset="0"/>
                <a:ea typeface="ＭＳ Ｐゴシック" charset="0"/>
              </a:rPr>
              <a:t>,  grade </a:t>
            </a:r>
            <a:r>
              <a:rPr lang="en-US" sz="2000" dirty="0">
                <a:latin typeface="Book Antiqua" charset="0"/>
                <a:ea typeface="ＭＳ Ｐゴシック" charset="0"/>
              </a:rPr>
              <a:t>CHAR</a:t>
            </a:r>
            <a:r>
              <a:rPr lang="en-US" dirty="0">
                <a:latin typeface="Book Antiqua" charset="0"/>
                <a:ea typeface="ＭＳ Ｐゴシック" charset="0"/>
              </a:rPr>
              <a:t>(2),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</a:t>
            </a:r>
            <a:r>
              <a:rPr lang="en-US" sz="2400" dirty="0">
                <a:solidFill>
                  <a:srgbClr val="006600"/>
                </a:solidFill>
              </a:rPr>
              <a:t>PRIMARY KEY  </a:t>
            </a:r>
            <a:r>
              <a:rPr lang="en-US" dirty="0">
                <a:latin typeface="Book Antiqua" charset="0"/>
                <a:ea typeface="ＭＳ Ｐゴシック" charset="0"/>
              </a:rPr>
              <a:t>(</a:t>
            </a:r>
            <a:r>
              <a:rPr lang="en-US" dirty="0" err="1">
                <a:latin typeface="Book Antiqua" charset="0"/>
                <a:ea typeface="ＭＳ Ｐゴシック" charset="0"/>
              </a:rPr>
              <a:t>esid,cid</a:t>
            </a:r>
            <a:r>
              <a:rPr lang="en-US" dirty="0">
                <a:latin typeface="Book Antiqua" charset="0"/>
                <a:ea typeface="ＭＳ Ｐゴシック" charset="0"/>
              </a:rPr>
              <a:t>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</a:t>
            </a:r>
            <a:r>
              <a:rPr lang="en-US" sz="2400" dirty="0">
                <a:solidFill>
                  <a:srgbClr val="006600"/>
                </a:solidFill>
              </a:rPr>
              <a:t>FOREIGN KEY </a:t>
            </a:r>
            <a:r>
              <a:rPr lang="en-US" dirty="0">
                <a:latin typeface="Book Antiqua" charset="0"/>
                <a:ea typeface="ＭＳ Ｐゴシック" charset="0"/>
              </a:rPr>
              <a:t>(</a:t>
            </a:r>
            <a:r>
              <a:rPr lang="en-US" dirty="0" err="1">
                <a:latin typeface="Book Antiqua" charset="0"/>
                <a:ea typeface="ＭＳ Ｐゴシック" charset="0"/>
              </a:rPr>
              <a:t>esid</a:t>
            </a:r>
            <a:r>
              <a:rPr lang="en-US" dirty="0">
                <a:latin typeface="Book Antiqua" charset="0"/>
                <a:ea typeface="ＭＳ Ｐゴシック" charset="0"/>
              </a:rPr>
              <a:t>) </a:t>
            </a:r>
            <a:r>
              <a:rPr lang="en-US" sz="2400" dirty="0">
                <a:solidFill>
                  <a:srgbClr val="006600"/>
                </a:solidFill>
              </a:rPr>
              <a:t>REFERENCES</a:t>
            </a:r>
            <a:r>
              <a:rPr lang="en-US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dirty="0">
                <a:latin typeface="Book Antiqua" charset="0"/>
                <a:ea typeface="ＭＳ Ｐゴシック" charset="0"/>
              </a:rPr>
              <a:t>Students )</a:t>
            </a:r>
          </a:p>
        </p:txBody>
      </p:sp>
      <p:graphicFrame>
        <p:nvGraphicFramePr>
          <p:cNvPr id="34822" name="Object 7">
            <a:hlinkClick r:id="" action="ppaction://ole?verb=0"/>
            <a:extLst>
              <a:ext uri="{FF2B5EF4-FFF2-40B4-BE49-F238E27FC236}">
                <a16:creationId xmlns:a16="http://schemas.microsoft.com/office/drawing/2014/main" id="{74446134-EB71-5349-9764-A3BC61B01924}"/>
              </a:ext>
            </a:extLst>
          </p:cNvPr>
          <p:cNvGraphicFramePr>
            <a:graphicFrameLocks/>
          </p:cNvGraphicFramePr>
          <p:nvPr/>
        </p:nvGraphicFramePr>
        <p:xfrm>
          <a:off x="4307395" y="4756579"/>
          <a:ext cx="4583113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3201650" imgH="5067300" progId="Word.Document.8">
                  <p:embed/>
                </p:oleObj>
              </mc:Choice>
              <mc:Fallback>
                <p:oleObj name="Document" r:id="rId3" imgW="13201650" imgH="5067300" progId="Word.Document.8">
                  <p:embed/>
                  <p:pic>
                    <p:nvPicPr>
                      <p:cNvPr id="34822" name="Object 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74446134-EB71-5349-9764-A3BC61B019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395" y="4756579"/>
                        <a:ext cx="4583113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8">
            <a:hlinkClick r:id="" action="ppaction://ole?verb=0"/>
            <a:extLst>
              <a:ext uri="{FF2B5EF4-FFF2-40B4-BE49-F238E27FC236}">
                <a16:creationId xmlns:a16="http://schemas.microsoft.com/office/drawing/2014/main" id="{0F3BB786-F496-E04B-AF3B-A7F17790590F}"/>
              </a:ext>
            </a:extLst>
          </p:cNvPr>
          <p:cNvGraphicFramePr>
            <a:graphicFrameLocks/>
          </p:cNvGraphicFramePr>
          <p:nvPr/>
        </p:nvGraphicFramePr>
        <p:xfrm>
          <a:off x="266906" y="4371765"/>
          <a:ext cx="4057651" cy="210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2438400" imgH="1219200" progId="Word.Document.8">
                  <p:embed/>
                </p:oleObj>
              </mc:Choice>
              <mc:Fallback>
                <p:oleObj name="Document" r:id="rId5" imgW="2438400" imgH="1219200" progId="Word.Document.8">
                  <p:embed/>
                  <p:pic>
                    <p:nvPicPr>
                      <p:cNvPr id="34823" name="Object 8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0F3BB786-F496-E04B-AF3B-A7F1779059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06" y="4371765"/>
                        <a:ext cx="4057651" cy="210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Rectangle 13">
            <a:extLst>
              <a:ext uri="{FF2B5EF4-FFF2-40B4-BE49-F238E27FC236}">
                <a16:creationId xmlns:a16="http://schemas.microsoft.com/office/drawing/2014/main" id="{5D23AF2E-845A-8648-96D2-20D3F0696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01" y="4004998"/>
            <a:ext cx="106279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CF0E30"/>
                </a:solidFill>
                <a:latin typeface="Book Antiqua" charset="0"/>
                <a:ea typeface="ＭＳ Ｐゴシック" charset="0"/>
              </a:rPr>
              <a:t>Enrolled</a:t>
            </a:r>
          </a:p>
        </p:txBody>
      </p:sp>
      <p:sp>
        <p:nvSpPr>
          <p:cNvPr id="33806" name="Rectangle 14">
            <a:extLst>
              <a:ext uri="{FF2B5EF4-FFF2-40B4-BE49-F238E27FC236}">
                <a16:creationId xmlns:a16="http://schemas.microsoft.com/office/drawing/2014/main" id="{46CB69C3-8A1A-324E-933F-CF0264F6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395" y="4371765"/>
            <a:ext cx="107882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CF0E30"/>
                </a:solidFill>
                <a:latin typeface="Book Antiqua" charset="0"/>
                <a:ea typeface="ＭＳ Ｐゴシック" charset="0"/>
              </a:rPr>
              <a:t>Students</a:t>
            </a:r>
          </a:p>
        </p:txBody>
      </p:sp>
      <p:sp>
        <p:nvSpPr>
          <p:cNvPr id="11" name="Speech Bubble: Oval 4">
            <a:extLst>
              <a:ext uri="{FF2B5EF4-FFF2-40B4-BE49-F238E27FC236}">
                <a16:creationId xmlns:a16="http://schemas.microsoft.com/office/drawing/2014/main" id="{288EA3A6-418B-E144-B3C9-51BC894C1025}"/>
              </a:ext>
            </a:extLst>
          </p:cNvPr>
          <p:cNvSpPr/>
          <p:nvPr/>
        </p:nvSpPr>
        <p:spPr>
          <a:xfrm>
            <a:off x="8988589" y="3489699"/>
            <a:ext cx="3051011" cy="2866651"/>
          </a:xfrm>
          <a:prstGeom prst="wedgeEllipseCallout">
            <a:avLst>
              <a:gd name="adj1" fmla="val -117950"/>
              <a:gd name="adj2" fmla="val -34363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nl-NL" sz="2400" dirty="0">
                <a:solidFill>
                  <a:schemeClr val="tx1"/>
                </a:solidFill>
              </a:rPr>
              <a:t>Referenced attributes must be PRIMARY KEY or UNIQUE in the original table (relation)</a:t>
            </a:r>
            <a:endParaRPr lang="nl-NL" sz="2400" dirty="0">
              <a:solidFill>
                <a:schemeClr val="tx1"/>
              </a:solidFill>
            </a:endParaRPr>
          </a:p>
          <a:p>
            <a:pPr algn="ctr"/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AB4A53-3489-D4F0-5A3B-E4AE8371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7258174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– The University Database Example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157" y="5973287"/>
            <a:ext cx="8388927" cy="5195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nl-NL" sz="2000" dirty="0" err="1"/>
              <a:t>dept_name</a:t>
            </a:r>
            <a:r>
              <a:rPr lang="en-US" altLang="nl-NL" sz="2000" dirty="0"/>
              <a:t> is a foreign key in each of the course, student and instructor relations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5FD29-DD5F-467D-B9F6-8CB1626F5D67}"/>
              </a:ext>
            </a:extLst>
          </p:cNvPr>
          <p:cNvSpPr/>
          <p:nvPr/>
        </p:nvSpPr>
        <p:spPr>
          <a:xfrm>
            <a:off x="4137218" y="3152813"/>
            <a:ext cx="1052973" cy="102481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17F856-2ABF-1348-8E06-933A03CEE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482" y="1304198"/>
            <a:ext cx="8655485" cy="46952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AE159-2B2F-B2FC-E790-0837EF2F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0271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A35D263-58D7-364D-AA91-F02368215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B811908-D890-EE4A-842F-D8FFBB323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8DD47AF0-FD0A-1F47-8399-DCD002D8E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Referential Integrity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97F1F4EC-AD75-D543-879F-4B40F1560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599" y="1676400"/>
            <a:ext cx="10955867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dirty="0"/>
              <a:t>Consider Students and Enrolled;  </a:t>
            </a:r>
            <a:r>
              <a:rPr lang="en-US" altLang="it-IT" i="1" dirty="0" err="1"/>
              <a:t>sid</a:t>
            </a:r>
            <a:r>
              <a:rPr lang="en-US" altLang="it-IT" dirty="0"/>
              <a:t> in Enrolled is a foreign key that references Students.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What should be done if an Enrolled tuple with a non-existent student id is inserted?  </a:t>
            </a:r>
            <a:r>
              <a:rPr lang="en-US" altLang="it-IT" dirty="0">
                <a:solidFill>
                  <a:srgbClr val="C00000"/>
                </a:solidFill>
              </a:rPr>
              <a:t>(</a:t>
            </a:r>
            <a:r>
              <a:rPr lang="en-US" altLang="it-IT" i="1" dirty="0">
                <a:solidFill>
                  <a:srgbClr val="C00000"/>
                </a:solidFill>
              </a:rPr>
              <a:t>Reject it!</a:t>
            </a:r>
            <a:r>
              <a:rPr lang="en-US" altLang="it-IT" dirty="0">
                <a:solidFill>
                  <a:srgbClr val="C00000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What should be done if a Students tuple is deleted?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Similar if primary key of Students tuple is updated.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4E58F4-3A92-909A-39CA-ECFA61E5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557429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FF96122-B70F-7D4D-96F8-3511C3589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46046FD-8C2F-A04E-914F-076B55ACE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7D1AE444-5B3B-3E48-93BC-BBAF719941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 in SQL</a:t>
            </a:r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AD3404C7-6660-0A40-AE5E-7E1F88C7F6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50487" y="1773044"/>
            <a:ext cx="6664713" cy="45720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SQL/92 and SQL:1999 support all 4 options on deletes and updates.</a:t>
            </a:r>
          </a:p>
          <a:p>
            <a:pPr lvl="1">
              <a:buSzPct val="75000"/>
              <a:defRPr/>
            </a:pPr>
            <a:r>
              <a:rPr lang="en-US" dirty="0"/>
              <a:t>Default is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NO ACTION</a:t>
            </a:r>
            <a:r>
              <a:rPr lang="en-US" sz="2000" dirty="0">
                <a:solidFill>
                  <a:schemeClr val="accent2"/>
                </a:solidFill>
              </a:rPr>
              <a:t>   </a:t>
            </a:r>
            <a:r>
              <a:rPr lang="en-US" dirty="0"/>
              <a:t>(</a:t>
            </a:r>
            <a:r>
              <a:rPr lang="en-US" i="1" dirty="0"/>
              <a:t>delete/update is rejected</a:t>
            </a:r>
            <a:r>
              <a:rPr lang="en-US" dirty="0"/>
              <a:t>)</a:t>
            </a:r>
          </a:p>
          <a:p>
            <a:pPr lvl="1">
              <a:buSzPct val="75000"/>
              <a:defRPr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CASCADE</a:t>
            </a:r>
            <a:r>
              <a:rPr lang="en-US" dirty="0"/>
              <a:t>  (</a:t>
            </a:r>
            <a:r>
              <a:rPr lang="en-US" altLang="nl-NL" dirty="0"/>
              <a:t>Make the same changes to</a:t>
            </a:r>
            <a:r>
              <a:rPr lang="en-US" dirty="0"/>
              <a:t> all tuples that refer to the updated/deleted tuple)</a:t>
            </a:r>
          </a:p>
          <a:p>
            <a:pPr lvl="1">
              <a:buSzPct val="75000"/>
              <a:defRPr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SET NULL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SET DEFAULT</a:t>
            </a:r>
            <a:r>
              <a:rPr lang="en-US" sz="2000" dirty="0"/>
              <a:t>  </a:t>
            </a:r>
            <a:r>
              <a:rPr lang="en-US" dirty="0"/>
              <a:t>(sets foreign key value of referencing tuple to NULL or a default value)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FB390481-E02F-9248-A181-891F5E1F3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773044"/>
            <a:ext cx="4386330" cy="3167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Book Antiqua" charset="0"/>
                <a:ea typeface="ＭＳ Ｐゴシック" charset="0"/>
              </a:rPr>
              <a:t>CREATE TABLE</a:t>
            </a:r>
            <a:r>
              <a:rPr lang="en-US" dirty="0">
                <a:latin typeface="Book Antiqua" charset="0"/>
                <a:ea typeface="ＭＳ Ｐゴシック" charset="0"/>
              </a:rPr>
              <a:t> Enrolled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(</a:t>
            </a:r>
            <a:r>
              <a:rPr lang="en-US" dirty="0" err="1">
                <a:latin typeface="Book Antiqua" charset="0"/>
                <a:ea typeface="ＭＳ Ｐゴシック" charset="0"/>
              </a:rPr>
              <a:t>sid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2000" dirty="0">
                <a:latin typeface="Book Antiqua" charset="0"/>
                <a:ea typeface="ＭＳ Ｐゴシック" charset="0"/>
              </a:rPr>
              <a:t>CHAR</a:t>
            </a:r>
            <a:r>
              <a:rPr lang="en-US" dirty="0">
                <a:latin typeface="Book Antiqua" charset="0"/>
                <a:ea typeface="ＭＳ Ｐゴシック" charset="0"/>
              </a:rPr>
              <a:t>(20),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</a:t>
            </a:r>
            <a:r>
              <a:rPr lang="en-US" dirty="0" err="1">
                <a:latin typeface="Book Antiqua" charset="0"/>
                <a:ea typeface="ＭＳ Ｐゴシック" charset="0"/>
              </a:rPr>
              <a:t>cid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2000" dirty="0">
                <a:latin typeface="Book Antiqua" charset="0"/>
                <a:ea typeface="ＭＳ Ｐゴシック" charset="0"/>
              </a:rPr>
              <a:t>CHAR(20)</a:t>
            </a:r>
            <a:r>
              <a:rPr lang="en-US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grade </a:t>
            </a:r>
            <a:r>
              <a:rPr lang="en-US" sz="2000" dirty="0">
                <a:latin typeface="Book Antiqua" charset="0"/>
                <a:ea typeface="ＭＳ Ｐゴシック" charset="0"/>
              </a:rPr>
              <a:t>CHAR</a:t>
            </a:r>
            <a:r>
              <a:rPr lang="en-US" dirty="0">
                <a:latin typeface="Book Antiqua" charset="0"/>
                <a:ea typeface="ＭＳ Ｐゴシック" charset="0"/>
              </a:rPr>
              <a:t>(2),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</a:t>
            </a:r>
            <a:r>
              <a:rPr lang="en-US" sz="2400" dirty="0">
                <a:solidFill>
                  <a:srgbClr val="006600"/>
                </a:solidFill>
              </a:rPr>
              <a:t>PRIMARY KEY  </a:t>
            </a:r>
            <a:r>
              <a:rPr lang="en-US" dirty="0">
                <a:latin typeface="Book Antiqua" charset="0"/>
                <a:ea typeface="ＭＳ Ｐゴシック" charset="0"/>
              </a:rPr>
              <a:t>(</a:t>
            </a:r>
            <a:r>
              <a:rPr lang="en-US" dirty="0" err="1">
                <a:latin typeface="Book Antiqua" charset="0"/>
                <a:ea typeface="ＭＳ Ｐゴシック" charset="0"/>
              </a:rPr>
              <a:t>sid,cid</a:t>
            </a:r>
            <a:r>
              <a:rPr lang="en-US" dirty="0">
                <a:latin typeface="Book Antiqua" charset="0"/>
                <a:ea typeface="ＭＳ Ｐゴシック" charset="0"/>
              </a:rPr>
              <a:t>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</a:t>
            </a:r>
            <a:r>
              <a:rPr lang="en-US" sz="2400" dirty="0">
                <a:solidFill>
                  <a:srgbClr val="006600"/>
                </a:solidFill>
              </a:rPr>
              <a:t>FOREIGN KEY </a:t>
            </a:r>
            <a:r>
              <a:rPr lang="en-US" dirty="0">
                <a:latin typeface="Book Antiqua" charset="0"/>
                <a:ea typeface="ＭＳ Ｐゴシック" charset="0"/>
              </a:rPr>
              <a:t>(</a:t>
            </a:r>
            <a:r>
              <a:rPr lang="en-US" dirty="0" err="1">
                <a:latin typeface="Book Antiqua" charset="0"/>
                <a:ea typeface="ＭＳ Ｐゴシック" charset="0"/>
              </a:rPr>
              <a:t>sid</a:t>
            </a:r>
            <a:r>
              <a:rPr lang="en-US" dirty="0">
                <a:latin typeface="Book Antiqua" charset="0"/>
                <a:ea typeface="ＭＳ Ｐゴシック" charset="0"/>
              </a:rPr>
              <a:t>)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 </a:t>
            </a:r>
            <a:r>
              <a:rPr lang="en-US" sz="2400" dirty="0">
                <a:solidFill>
                  <a:srgbClr val="006600"/>
                </a:solidFill>
              </a:rPr>
              <a:t>REFERENCES</a:t>
            </a:r>
            <a:r>
              <a:rPr lang="en-US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dirty="0">
                <a:latin typeface="Book Antiqua" charset="0"/>
                <a:ea typeface="ＭＳ Ｐゴシック" charset="0"/>
              </a:rPr>
              <a:t>Students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	</a:t>
            </a:r>
            <a:r>
              <a:rPr lang="en-US" sz="2400" dirty="0">
                <a:solidFill>
                  <a:srgbClr val="006600"/>
                </a:solidFill>
              </a:rPr>
              <a:t>ON DELETE CASCADE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	</a:t>
            </a:r>
            <a:r>
              <a:rPr lang="en-US" sz="2400" dirty="0">
                <a:solidFill>
                  <a:srgbClr val="006600"/>
                </a:solidFill>
              </a:rPr>
              <a:t>ON UPDATE SET DEFAULT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dirty="0">
                <a:latin typeface="Book Antiqua" charset="0"/>
                <a:ea typeface="ＭＳ Ｐゴシック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53414-6AF3-0EB6-DD25-7BEE85A55C6C}"/>
              </a:ext>
            </a:extLst>
          </p:cNvPr>
          <p:cNvSpPr txBox="1">
            <a:spLocks/>
          </p:cNvSpPr>
          <p:nvPr/>
        </p:nvSpPr>
        <p:spPr>
          <a:xfrm>
            <a:off x="10994697" y="6362860"/>
            <a:ext cx="486103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D8F54C-053C-4394-9990-70DE256B1A6D}" type="slidenum">
              <a:rPr lang="nl-NL" sz="1200" smtClean="0">
                <a:solidFill>
                  <a:schemeClr val="accent3">
                    <a:lumMod val="75000"/>
                  </a:schemeClr>
                </a:solidFill>
              </a:rPr>
              <a:pPr/>
              <a:t>20</a:t>
            </a:fld>
            <a:endParaRPr lang="nl-NL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907453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Violations – Actions to Consider – Cascade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sz="2800" dirty="0"/>
              <a:t>Delete the Mathematics department from department</a:t>
            </a:r>
          </a:p>
          <a:p>
            <a:pPr lvl="1"/>
            <a:r>
              <a:rPr lang="en-US" altLang="nl-NL" dirty="0"/>
              <a:t>Then delete all tuples from course that have </a:t>
            </a:r>
            <a:r>
              <a:rPr lang="en-US" altLang="nl-NL" dirty="0" err="1"/>
              <a:t>dept_name</a:t>
            </a:r>
            <a:r>
              <a:rPr lang="en-US" altLang="nl-NL" dirty="0"/>
              <a:t> = ‘Mathematics’</a:t>
            </a:r>
          </a:p>
          <a:p>
            <a:r>
              <a:rPr lang="en-US" altLang="nl-NL" dirty="0"/>
              <a:t>Update the Mathematics tuple by changing the ‘Mathematics’ to ‘Math’</a:t>
            </a:r>
          </a:p>
          <a:p>
            <a:pPr lvl="1"/>
            <a:r>
              <a:rPr lang="en-US" altLang="nl-NL" dirty="0"/>
              <a:t>Then change all records in course with </a:t>
            </a:r>
            <a:r>
              <a:rPr lang="en-US" altLang="nl-NL" dirty="0" err="1"/>
              <a:t>dept_name</a:t>
            </a:r>
            <a:r>
              <a:rPr lang="en-US" altLang="nl-NL" dirty="0"/>
              <a:t> = ‘Mathematics’ to </a:t>
            </a:r>
            <a:r>
              <a:rPr lang="en-US" altLang="nl-NL" dirty="0" err="1"/>
              <a:t>dept_name</a:t>
            </a:r>
            <a:r>
              <a:rPr lang="en-US" altLang="nl-NL" dirty="0"/>
              <a:t> = ‘Math’</a:t>
            </a:r>
          </a:p>
          <a:p>
            <a:r>
              <a:rPr lang="en-US" altLang="nl-NL" dirty="0"/>
              <a:t>Example:</a:t>
            </a:r>
          </a:p>
          <a:p>
            <a:pPr marL="914400" lvl="2" indent="0">
              <a:buNone/>
            </a:pPr>
            <a:endParaRPr lang="en-US" altLang="nl-N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8CC4D7-9B70-4599-983A-58E6BD00ADF1}"/>
              </a:ext>
            </a:extLst>
          </p:cNvPr>
          <p:cNvSpPr/>
          <p:nvPr/>
        </p:nvSpPr>
        <p:spPr>
          <a:xfrm>
            <a:off x="6519554" y="4593269"/>
            <a:ext cx="3990108" cy="1014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5425" lvl="2"/>
            <a:r>
              <a:rPr lang="en-US" altLang="nl-NL" dirty="0">
                <a:solidFill>
                  <a:schemeClr val="tx1"/>
                </a:solidFill>
              </a:rPr>
              <a:t>UPDATE course </a:t>
            </a:r>
          </a:p>
          <a:p>
            <a:pPr marL="225425" lvl="2"/>
            <a:r>
              <a:rPr lang="en-US" altLang="nl-NL" dirty="0">
                <a:solidFill>
                  <a:schemeClr val="tx1"/>
                </a:solidFill>
              </a:rPr>
              <a:t>SET </a:t>
            </a:r>
            <a:r>
              <a:rPr lang="en-US" altLang="nl-NL" dirty="0" err="1">
                <a:solidFill>
                  <a:schemeClr val="tx1"/>
                </a:solidFill>
              </a:rPr>
              <a:t>dept_name</a:t>
            </a:r>
            <a:r>
              <a:rPr lang="en-US" altLang="nl-NL" dirty="0">
                <a:solidFill>
                  <a:schemeClr val="tx1"/>
                </a:solidFill>
              </a:rPr>
              <a:t> = 'Math'</a:t>
            </a:r>
          </a:p>
          <a:p>
            <a:pPr marL="225425" lvl="2"/>
            <a:r>
              <a:rPr lang="en-US" altLang="nl-NL" dirty="0">
                <a:solidFill>
                  <a:schemeClr val="tx1"/>
                </a:solidFill>
              </a:rPr>
              <a:t>WHERE </a:t>
            </a:r>
            <a:r>
              <a:rPr lang="en-US" altLang="nl-NL" dirty="0" err="1">
                <a:solidFill>
                  <a:schemeClr val="tx1"/>
                </a:solidFill>
              </a:rPr>
              <a:t>dept_name</a:t>
            </a:r>
            <a:r>
              <a:rPr lang="en-US" altLang="nl-NL" dirty="0">
                <a:solidFill>
                  <a:schemeClr val="tx1"/>
                </a:solidFill>
              </a:rPr>
              <a:t> = ‘Mathematics';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A804CA-1F65-4A3F-92B9-F2F55D016CE9}"/>
              </a:ext>
            </a:extLst>
          </p:cNvPr>
          <p:cNvSpPr/>
          <p:nvPr/>
        </p:nvSpPr>
        <p:spPr>
          <a:xfrm>
            <a:off x="1124198" y="4593269"/>
            <a:ext cx="3990108" cy="1014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5425"/>
            <a:r>
              <a:rPr lang="en-US" dirty="0">
                <a:solidFill>
                  <a:schemeClr val="tx1"/>
                </a:solidFill>
              </a:rPr>
              <a:t>UPDATE department </a:t>
            </a:r>
          </a:p>
          <a:p>
            <a:pPr marL="225425"/>
            <a:r>
              <a:rPr lang="en-US" dirty="0">
                <a:solidFill>
                  <a:schemeClr val="tx1"/>
                </a:solidFill>
              </a:rPr>
              <a:t>SET </a:t>
            </a:r>
            <a:r>
              <a:rPr lang="en-US" dirty="0" err="1">
                <a:solidFill>
                  <a:schemeClr val="tx1"/>
                </a:solidFill>
              </a:rPr>
              <a:t>dept_name</a:t>
            </a:r>
            <a:r>
              <a:rPr lang="en-US" dirty="0">
                <a:solidFill>
                  <a:schemeClr val="tx1"/>
                </a:solidFill>
              </a:rPr>
              <a:t> = 'Math'</a:t>
            </a:r>
          </a:p>
          <a:p>
            <a:pPr marL="225425"/>
            <a:r>
              <a:rPr lang="en-US" dirty="0">
                <a:solidFill>
                  <a:schemeClr val="tx1"/>
                </a:solidFill>
              </a:rPr>
              <a:t>WHERE </a:t>
            </a:r>
            <a:r>
              <a:rPr lang="en-US" dirty="0" err="1">
                <a:solidFill>
                  <a:schemeClr val="tx1"/>
                </a:solidFill>
              </a:rPr>
              <a:t>dept_name</a:t>
            </a:r>
            <a:r>
              <a:rPr lang="en-US" dirty="0">
                <a:solidFill>
                  <a:schemeClr val="tx1"/>
                </a:solidFill>
              </a:rPr>
              <a:t> = 'Mathematics';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2E2D6-104C-D8F4-06D3-AE0D7D3A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0034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Violations – Actions to Consider – Set NULL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dirty="0"/>
              <a:t>Delete the Mathematics tuple from department:</a:t>
            </a:r>
          </a:p>
          <a:p>
            <a:pPr lvl="1"/>
            <a:r>
              <a:rPr lang="en-US" altLang="nl-NL" dirty="0"/>
              <a:t>Change all tuples of course that have </a:t>
            </a:r>
            <a:r>
              <a:rPr lang="en-US" altLang="nl-NL" dirty="0" err="1"/>
              <a:t>dept_name</a:t>
            </a:r>
            <a:r>
              <a:rPr lang="en-US" altLang="nl-NL" dirty="0"/>
              <a:t> = ’Mathematics’ to have </a:t>
            </a:r>
            <a:r>
              <a:rPr lang="en-US" altLang="nl-NL" dirty="0" err="1"/>
              <a:t>dept_name</a:t>
            </a:r>
            <a:r>
              <a:rPr lang="en-US" altLang="nl-NL" dirty="0"/>
              <a:t> = NULL.</a:t>
            </a:r>
          </a:p>
          <a:p>
            <a:r>
              <a:rPr lang="en-US" altLang="nl-NL" dirty="0"/>
              <a:t>Update the Mathematics tuple by changing Mathematics’ to ‘Math’:</a:t>
            </a:r>
          </a:p>
          <a:p>
            <a:pPr lvl="1"/>
            <a:r>
              <a:rPr lang="en-US" altLang="nl-NL" dirty="0"/>
              <a:t>Same change as for deletion.	</a:t>
            </a:r>
          </a:p>
          <a:p>
            <a:r>
              <a:rPr lang="en-US" altLang="nl-NL" dirty="0"/>
              <a:t>Example:</a:t>
            </a:r>
          </a:p>
          <a:p>
            <a:pPr marL="914400" lvl="2" indent="0">
              <a:buNone/>
            </a:pPr>
            <a:endParaRPr lang="en-US" altLang="nl-N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8CC4D7-9B70-4599-983A-58E6BD00ADF1}"/>
              </a:ext>
            </a:extLst>
          </p:cNvPr>
          <p:cNvSpPr/>
          <p:nvPr/>
        </p:nvSpPr>
        <p:spPr>
          <a:xfrm>
            <a:off x="7030193" y="4700147"/>
            <a:ext cx="3990108" cy="1014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5425" lvl="2"/>
            <a:r>
              <a:rPr lang="en-US" altLang="nl-NL" dirty="0">
                <a:solidFill>
                  <a:schemeClr val="tx1"/>
                </a:solidFill>
              </a:rPr>
              <a:t>UPDATE course </a:t>
            </a:r>
          </a:p>
          <a:p>
            <a:pPr marL="225425" lvl="2"/>
            <a:r>
              <a:rPr lang="en-US" altLang="nl-NL" dirty="0">
                <a:solidFill>
                  <a:schemeClr val="tx1"/>
                </a:solidFill>
              </a:rPr>
              <a:t>SET </a:t>
            </a:r>
            <a:r>
              <a:rPr lang="en-US" altLang="nl-NL" dirty="0" err="1">
                <a:solidFill>
                  <a:schemeClr val="tx1"/>
                </a:solidFill>
              </a:rPr>
              <a:t>dept_name</a:t>
            </a:r>
            <a:r>
              <a:rPr lang="en-US" altLang="nl-NL" dirty="0">
                <a:solidFill>
                  <a:schemeClr val="tx1"/>
                </a:solidFill>
              </a:rPr>
              <a:t> = NULL</a:t>
            </a:r>
          </a:p>
          <a:p>
            <a:pPr marL="225425" lvl="2"/>
            <a:r>
              <a:rPr lang="en-US" altLang="nl-NL" dirty="0">
                <a:solidFill>
                  <a:schemeClr val="tx1"/>
                </a:solidFill>
              </a:rPr>
              <a:t>WHERE </a:t>
            </a:r>
            <a:r>
              <a:rPr lang="en-US" altLang="nl-NL" dirty="0" err="1">
                <a:solidFill>
                  <a:schemeClr val="tx1"/>
                </a:solidFill>
              </a:rPr>
              <a:t>dept_name</a:t>
            </a:r>
            <a:r>
              <a:rPr lang="en-US" altLang="nl-NL" dirty="0">
                <a:solidFill>
                  <a:schemeClr val="tx1"/>
                </a:solidFill>
              </a:rPr>
              <a:t> = ‘Mathematics';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A804CA-1F65-4A3F-92B9-F2F55D016CE9}"/>
              </a:ext>
            </a:extLst>
          </p:cNvPr>
          <p:cNvSpPr/>
          <p:nvPr/>
        </p:nvSpPr>
        <p:spPr>
          <a:xfrm>
            <a:off x="1088572" y="4086021"/>
            <a:ext cx="3990108" cy="1014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5425"/>
            <a:r>
              <a:rPr lang="en-US">
                <a:solidFill>
                  <a:schemeClr val="tx1"/>
                </a:solidFill>
              </a:rPr>
              <a:t>DELETE FROM department </a:t>
            </a:r>
            <a:endParaRPr lang="en-US" dirty="0">
              <a:solidFill>
                <a:schemeClr val="tx1"/>
              </a:solidFill>
            </a:endParaRPr>
          </a:p>
          <a:p>
            <a:pPr marL="225425"/>
            <a:r>
              <a:rPr lang="en-US" dirty="0">
                <a:solidFill>
                  <a:schemeClr val="tx1"/>
                </a:solidFill>
              </a:rPr>
              <a:t>WHERE </a:t>
            </a:r>
            <a:r>
              <a:rPr lang="en-US" dirty="0" err="1">
                <a:solidFill>
                  <a:schemeClr val="tx1"/>
                </a:solidFill>
              </a:rPr>
              <a:t>dept_name</a:t>
            </a:r>
            <a:r>
              <a:rPr lang="en-US" dirty="0">
                <a:solidFill>
                  <a:schemeClr val="tx1"/>
                </a:solidFill>
              </a:rPr>
              <a:t> = 'Mathematics';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7FE769-DC6C-42DC-9A2C-A667A7090477}"/>
              </a:ext>
            </a:extLst>
          </p:cNvPr>
          <p:cNvSpPr/>
          <p:nvPr/>
        </p:nvSpPr>
        <p:spPr>
          <a:xfrm>
            <a:off x="1171700" y="5289448"/>
            <a:ext cx="3990108" cy="1014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5425"/>
            <a:r>
              <a:rPr lang="en-US" dirty="0">
                <a:solidFill>
                  <a:schemeClr val="tx1"/>
                </a:solidFill>
              </a:rPr>
              <a:t>UPDATE department </a:t>
            </a:r>
          </a:p>
          <a:p>
            <a:pPr marL="225425"/>
            <a:r>
              <a:rPr lang="en-US" dirty="0">
                <a:solidFill>
                  <a:schemeClr val="tx1"/>
                </a:solidFill>
              </a:rPr>
              <a:t>SET </a:t>
            </a:r>
            <a:r>
              <a:rPr lang="en-US" dirty="0" err="1">
                <a:solidFill>
                  <a:schemeClr val="tx1"/>
                </a:solidFill>
              </a:rPr>
              <a:t>dept_name</a:t>
            </a:r>
            <a:r>
              <a:rPr lang="en-US" dirty="0">
                <a:solidFill>
                  <a:schemeClr val="tx1"/>
                </a:solidFill>
              </a:rPr>
              <a:t> = 'Math'</a:t>
            </a:r>
          </a:p>
          <a:p>
            <a:pPr marL="225425"/>
            <a:r>
              <a:rPr lang="en-US" dirty="0">
                <a:solidFill>
                  <a:schemeClr val="tx1"/>
                </a:solidFill>
              </a:rPr>
              <a:t>WHERE </a:t>
            </a:r>
            <a:r>
              <a:rPr lang="en-US" dirty="0" err="1">
                <a:solidFill>
                  <a:schemeClr val="tx1"/>
                </a:solidFill>
              </a:rPr>
              <a:t>dept_name</a:t>
            </a:r>
            <a:r>
              <a:rPr lang="en-US" dirty="0">
                <a:solidFill>
                  <a:schemeClr val="tx1"/>
                </a:solidFill>
              </a:rPr>
              <a:t> = 'Mathematics';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B59F28-B9D4-22D6-D890-D7D5AE9D5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4297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check clause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dirty="0"/>
              <a:t>Defines constraints on the values of a particular attribute.</a:t>
            </a:r>
          </a:p>
          <a:p>
            <a:r>
              <a:rPr lang="en-US" altLang="nl-NL" dirty="0"/>
              <a:t>Syntax:  </a:t>
            </a:r>
            <a:r>
              <a:rPr lang="en-US" altLang="nl-NL" dirty="0">
                <a:solidFill>
                  <a:srgbClr val="006600"/>
                </a:solidFill>
              </a:rPr>
              <a:t>CHECK</a:t>
            </a:r>
            <a:r>
              <a:rPr lang="en-US" altLang="nl-NL" dirty="0"/>
              <a:t>(&lt;condition&gt;) </a:t>
            </a:r>
          </a:p>
          <a:p>
            <a:r>
              <a:rPr lang="en-US" altLang="nl-NL" dirty="0"/>
              <a:t>The condition may use the name of the attribute, but any other relation or attribute name must be in a subquery.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5E042-6D2D-755B-348A-40159C9E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6732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check clause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 fontScale="92500" lnSpcReduction="20000"/>
          </a:bodyPr>
          <a:lstStyle/>
          <a:p>
            <a:r>
              <a:rPr lang="en-US" altLang="nl-NL" sz="3300" dirty="0"/>
              <a:t>Example:  ensure that semester is one of Fall, Winter, Spring or Summer and year is greater than 1990:</a:t>
            </a:r>
            <a:endParaRPr lang="en-US" altLang="nl-NL" sz="3300" b="1" dirty="0"/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CREATE TABLE </a:t>
            </a:r>
            <a:r>
              <a:rPr lang="en-US" altLang="nl-NL" dirty="0"/>
              <a:t>section</a:t>
            </a:r>
            <a:r>
              <a:rPr lang="en-US" altLang="nl-NL" dirty="0">
                <a:solidFill>
                  <a:srgbClr val="006600"/>
                </a:solidFill>
              </a:rPr>
              <a:t> (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course_id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(8),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sec_id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(8) NOT NULL,</a:t>
            </a:r>
          </a:p>
          <a:p>
            <a:pPr marL="1425575" indent="-73660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/>
              <a:t>semester</a:t>
            </a:r>
            <a:r>
              <a:rPr lang="en-US" altLang="nl-NL" dirty="0">
                <a:solidFill>
                  <a:srgbClr val="006600"/>
                </a:solidFill>
              </a:rPr>
              <a:t> VARCHAR (6) CHECK </a:t>
            </a:r>
            <a:r>
              <a:rPr lang="en-US" altLang="nl-NL" dirty="0"/>
              <a:t>(semester IN ('Fall', 'Winter', 'Spring', 'Summer'))</a:t>
            </a:r>
            <a:r>
              <a:rPr lang="en-US" altLang="nl-NL" dirty="0">
                <a:solidFill>
                  <a:srgbClr val="006600"/>
                </a:solidFill>
              </a:rPr>
              <a:t>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/>
              <a:t>year</a:t>
            </a:r>
            <a:r>
              <a:rPr lang="en-US" altLang="nl-NL" dirty="0">
                <a:solidFill>
                  <a:srgbClr val="006600"/>
                </a:solidFill>
              </a:rPr>
              <a:t> NUMERIC (4,0) CHECK </a:t>
            </a:r>
            <a:r>
              <a:rPr lang="en-US" altLang="nl-NL" dirty="0"/>
              <a:t>(year &gt; 1990)</a:t>
            </a:r>
            <a:r>
              <a:rPr lang="en-US" altLang="nl-NL" dirty="0">
                <a:solidFill>
                  <a:srgbClr val="006600"/>
                </a:solidFill>
              </a:rPr>
              <a:t>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/>
              <a:t>building</a:t>
            </a:r>
            <a:r>
              <a:rPr lang="en-US" altLang="nl-NL" dirty="0">
                <a:solidFill>
                  <a:srgbClr val="006600"/>
                </a:solidFill>
              </a:rPr>
              <a:t> VARCHAR (15),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room_number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(7),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time_slot_id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(4), 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PRIMARY KEY </a:t>
            </a:r>
            <a:r>
              <a:rPr lang="en-US" altLang="nl-NL" dirty="0"/>
              <a:t>(</a:t>
            </a:r>
            <a:r>
              <a:rPr lang="en-US" altLang="nl-NL" dirty="0" err="1"/>
              <a:t>course_id</a:t>
            </a:r>
            <a:r>
              <a:rPr lang="en-US" altLang="nl-NL" dirty="0"/>
              <a:t>, </a:t>
            </a:r>
            <a:r>
              <a:rPr lang="en-US" altLang="nl-NL" dirty="0" err="1"/>
              <a:t>sec_id</a:t>
            </a:r>
            <a:r>
              <a:rPr lang="en-US" altLang="nl-NL" dirty="0"/>
              <a:t>, semester, year)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);</a:t>
            </a:r>
            <a:endParaRPr lang="en-US" altLang="nl-NL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8F7F5-B6A2-2A42-6F20-C3941509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0726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Tuple-Based Check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 fontScale="70000" lnSpcReduction="20000"/>
          </a:bodyPr>
          <a:lstStyle/>
          <a:p>
            <a:r>
              <a:rPr lang="en-US" altLang="nl-NL" dirty="0"/>
              <a:t>CHECK (&lt;condition&gt;) may be added as a relation-schema element.</a:t>
            </a:r>
          </a:p>
          <a:p>
            <a:r>
              <a:rPr lang="en-US" altLang="nl-NL" dirty="0"/>
              <a:t>The condition may refer to any attribute of the relation.</a:t>
            </a:r>
          </a:p>
          <a:p>
            <a:pPr lvl="1"/>
            <a:r>
              <a:rPr lang="en-US" altLang="nl-NL" dirty="0"/>
              <a:t>But other attributes or relations require a subquery.</a:t>
            </a:r>
          </a:p>
          <a:p>
            <a:r>
              <a:rPr lang="en-US" altLang="nl-NL" dirty="0"/>
              <a:t>Checked on insert or update only.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CREATE TABLE </a:t>
            </a:r>
            <a:r>
              <a:rPr lang="en-US" altLang="nl-NL" dirty="0"/>
              <a:t>section</a:t>
            </a:r>
            <a:r>
              <a:rPr lang="en-US" altLang="nl-NL" dirty="0">
                <a:solidFill>
                  <a:srgbClr val="006600"/>
                </a:solidFill>
              </a:rPr>
              <a:t> (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course_id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(8),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sec_id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(8) NOT NULL,</a:t>
            </a:r>
          </a:p>
          <a:p>
            <a:pPr marL="1425575" indent="-73660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/>
              <a:t>semester</a:t>
            </a:r>
            <a:r>
              <a:rPr lang="en-US" altLang="nl-NL" dirty="0">
                <a:solidFill>
                  <a:srgbClr val="006600"/>
                </a:solidFill>
              </a:rPr>
              <a:t> VARCHAR (6),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/>
              <a:t>year</a:t>
            </a:r>
            <a:r>
              <a:rPr lang="en-US" altLang="nl-NL" dirty="0">
                <a:solidFill>
                  <a:srgbClr val="006600"/>
                </a:solidFill>
              </a:rPr>
              <a:t> NUMERIC (4,0),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/>
              <a:t>building</a:t>
            </a:r>
            <a:r>
              <a:rPr lang="en-US" altLang="nl-NL" dirty="0">
                <a:solidFill>
                  <a:srgbClr val="006600"/>
                </a:solidFill>
              </a:rPr>
              <a:t> VARCHAR (15),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room_number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(7),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</a:t>
            </a:r>
            <a:r>
              <a:rPr lang="en-US" altLang="nl-NL" dirty="0" err="1"/>
              <a:t>time_slot_id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VARCHAR (4), 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PRIMARY KEY </a:t>
            </a:r>
            <a:r>
              <a:rPr lang="en-US" altLang="nl-NL" dirty="0"/>
              <a:t>(</a:t>
            </a:r>
            <a:r>
              <a:rPr lang="en-US" altLang="nl-NL" dirty="0" err="1"/>
              <a:t>course_id</a:t>
            </a:r>
            <a:r>
              <a:rPr lang="en-US" altLang="nl-NL" dirty="0"/>
              <a:t>, </a:t>
            </a:r>
            <a:r>
              <a:rPr lang="en-US" altLang="nl-NL" dirty="0" err="1"/>
              <a:t>sec_id</a:t>
            </a:r>
            <a:r>
              <a:rPr lang="en-US" altLang="nl-NL" dirty="0"/>
              <a:t>, semester, year), </a:t>
            </a:r>
          </a:p>
          <a:p>
            <a:pPr marL="688975" indent="225425">
              <a:buNone/>
            </a:pPr>
            <a:r>
              <a:rPr lang="en-US" altLang="nl-NL" dirty="0">
                <a:solidFill>
                  <a:srgbClr val="006600"/>
                </a:solidFill>
              </a:rPr>
              <a:t>CHECK </a:t>
            </a:r>
            <a:r>
              <a:rPr lang="en-US" altLang="nl-NL" dirty="0"/>
              <a:t>(semester </a:t>
            </a:r>
            <a:r>
              <a:rPr lang="en-US" altLang="nl-NL" sz="2900" dirty="0">
                <a:solidFill>
                  <a:srgbClr val="006600"/>
                </a:solidFill>
              </a:rPr>
              <a:t>IN</a:t>
            </a:r>
            <a:r>
              <a:rPr lang="en-US" altLang="nl-NL" dirty="0"/>
              <a:t> ('Fall', 'Winter', 'Spring', 'Summer') </a:t>
            </a:r>
            <a:r>
              <a:rPr lang="en-US" altLang="nl-NL" sz="2900" dirty="0">
                <a:solidFill>
                  <a:srgbClr val="006600"/>
                </a:solidFill>
              </a:rPr>
              <a:t>AND</a:t>
            </a:r>
            <a:r>
              <a:rPr lang="en-US" altLang="nl-NL" dirty="0"/>
              <a:t> (year &gt; 1990))</a:t>
            </a:r>
          </a:p>
          <a:p>
            <a:pPr marL="688975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);</a:t>
            </a:r>
            <a:endParaRPr lang="en-US" altLang="nl-NL" sz="2400" dirty="0"/>
          </a:p>
          <a:p>
            <a:endParaRPr lang="en-US" alt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BB7F9-7169-7731-3D57-AFD521B9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402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of Checks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dirty="0"/>
              <a:t>Attribute-based checks are performed only when a value for that attribute is inserted or updated.</a:t>
            </a:r>
          </a:p>
          <a:p>
            <a:pPr lvl="1"/>
            <a:r>
              <a:rPr lang="en-US" altLang="nl-NL" dirty="0"/>
              <a:t>Example: CHECK (year &gt;= 1990) checks every new year and rejects the modification (for that tuple) if the year is before 1990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283A2-E444-099B-9E59-8BB8BB92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4882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Check Clauses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3"/>
            <a:ext cx="10515600" cy="5113252"/>
          </a:xfrm>
        </p:spPr>
        <p:txBody>
          <a:bodyPr>
            <a:normAutofit/>
          </a:bodyPr>
          <a:lstStyle/>
          <a:p>
            <a:r>
              <a:rPr lang="en-US" altLang="nl-NL" dirty="0"/>
              <a:t>CHECK (</a:t>
            </a:r>
            <a:r>
              <a:rPr lang="en-US" altLang="nl-NL" i="1" dirty="0" err="1"/>
              <a:t>time_slot_id</a:t>
            </a:r>
            <a:r>
              <a:rPr lang="en-US" altLang="nl-NL" i="1" dirty="0"/>
              <a:t> </a:t>
            </a:r>
            <a:r>
              <a:rPr lang="en-US" altLang="nl-NL" dirty="0"/>
              <a:t>IN (SELECT </a:t>
            </a:r>
            <a:r>
              <a:rPr lang="en-US" altLang="nl-NL" i="1" dirty="0" err="1"/>
              <a:t>time_slot_id</a:t>
            </a:r>
            <a:r>
              <a:rPr lang="en-US" altLang="nl-NL" i="1" dirty="0"/>
              <a:t> </a:t>
            </a:r>
            <a:r>
              <a:rPr lang="en-US" altLang="nl-NL" dirty="0"/>
              <a:t>FROM </a:t>
            </a:r>
            <a:r>
              <a:rPr lang="en-US" altLang="nl-NL" i="1" dirty="0" err="1"/>
              <a:t>time_slot</a:t>
            </a:r>
            <a:r>
              <a:rPr lang="en-US" altLang="nl-NL" dirty="0"/>
              <a:t>))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why not use a foreign key here?</a:t>
            </a:r>
          </a:p>
          <a:p>
            <a:r>
              <a:rPr lang="en-US" altLang="nl-NL" dirty="0"/>
              <a:t>Every section has at least one instructor teaching the section.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how to write this?</a:t>
            </a:r>
          </a:p>
          <a:p>
            <a:r>
              <a:rPr lang="en-US" altLang="nl-NL" dirty="0"/>
              <a:t>Unfortunately:  subquery in check clause not supported by a lot of database management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542D1-B7A8-7DB2-DE7C-B2B21E42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6100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b="1" dirty="0"/>
              <a:t>NOT NULL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Declare </a:t>
            </a:r>
            <a:r>
              <a:rPr lang="en-US" altLang="nl-NL" i="1" dirty="0">
                <a:ea typeface="ＭＳ Ｐゴシック" panose="020B0600070205080204" pitchFamily="34" charset="-128"/>
              </a:rPr>
              <a:t>name</a:t>
            </a:r>
            <a:r>
              <a:rPr lang="en-US" altLang="nl-NL" dirty="0">
                <a:ea typeface="ＭＳ Ｐゴシック" panose="020B0600070205080204" pitchFamily="34" charset="-128"/>
              </a:rPr>
              <a:t> and </a:t>
            </a:r>
            <a:r>
              <a:rPr lang="en-US" altLang="nl-NL" i="1" dirty="0">
                <a:ea typeface="ＭＳ Ｐゴシック" panose="020B0600070205080204" pitchFamily="34" charset="-128"/>
              </a:rPr>
              <a:t>budget</a:t>
            </a:r>
            <a:r>
              <a:rPr lang="en-US" altLang="nl-NL" dirty="0">
                <a:ea typeface="ＭＳ Ｐゴシック" panose="020B0600070205080204" pitchFamily="34" charset="-128"/>
              </a:rPr>
              <a:t> to be </a:t>
            </a:r>
            <a:r>
              <a:rPr lang="en-US" altLang="nl-NL" sz="2800" dirty="0">
                <a:solidFill>
                  <a:srgbClr val="006600"/>
                </a:solidFill>
              </a:rPr>
              <a:t>NOT NULL</a:t>
            </a:r>
          </a:p>
          <a:p>
            <a:pPr>
              <a:buFont typeface="Monotype Sorts" charset="2"/>
              <a:buNone/>
            </a:pPr>
            <a:r>
              <a:rPr lang="en-US" altLang="nl-NL" i="1" dirty="0"/>
              <a:t>	          name </a:t>
            </a:r>
            <a:r>
              <a:rPr lang="en-US" altLang="nl-NL" dirty="0">
                <a:solidFill>
                  <a:srgbClr val="006600"/>
                </a:solidFill>
              </a:rPr>
              <a:t>VARCHAR</a:t>
            </a:r>
            <a:r>
              <a:rPr lang="en-US" altLang="nl-NL" dirty="0"/>
              <a:t>(20) </a:t>
            </a:r>
            <a:r>
              <a:rPr lang="en-US" altLang="nl-NL" dirty="0">
                <a:solidFill>
                  <a:srgbClr val="006600"/>
                </a:solidFill>
              </a:rPr>
              <a:t>NOT NULL</a:t>
            </a:r>
            <a:br>
              <a:rPr lang="en-US" altLang="nl-NL" b="1" dirty="0"/>
            </a:br>
            <a:r>
              <a:rPr lang="en-US" altLang="nl-NL" b="1" dirty="0"/>
              <a:t>          </a:t>
            </a:r>
            <a:r>
              <a:rPr lang="en-US" altLang="nl-NL" i="1" dirty="0"/>
              <a:t>budget </a:t>
            </a:r>
            <a:r>
              <a:rPr lang="en-US" altLang="nl-NL" dirty="0">
                <a:solidFill>
                  <a:srgbClr val="006600"/>
                </a:solidFill>
              </a:rPr>
              <a:t>NUMERIC</a:t>
            </a:r>
            <a:r>
              <a:rPr lang="en-US" altLang="nl-NL" dirty="0"/>
              <a:t>(12,2) </a:t>
            </a:r>
            <a:r>
              <a:rPr lang="en-US" altLang="nl-NL" dirty="0">
                <a:solidFill>
                  <a:srgbClr val="006600"/>
                </a:solidFill>
              </a:rPr>
              <a:t>NOT NULL</a:t>
            </a:r>
          </a:p>
          <a:p>
            <a:endParaRPr lang="en-US" altLang="nl-NL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0AF79-1EE6-FA38-1CDC-4F28ED69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0873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Logical Database Design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D2CC0-8DA9-E905-0D09-B3BB71D3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238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A5F6ACA-A3AA-7B4E-B962-DAFB01DE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88BFD-C383-E04B-8E3D-7E7B1D26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AA6FFBA-3750-0644-97A2-0895CDF57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Design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AE53FB4F-A11E-5A44-89F8-4E8A330DCFF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1012" y="1690688"/>
            <a:ext cx="10707688" cy="45577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 mechanism (methodology) for ensuring that each relation in the database is good. </a:t>
            </a:r>
          </a:p>
          <a:p>
            <a:pPr lvl="1">
              <a:defRPr/>
            </a:pPr>
            <a:r>
              <a:rPr lang="en-US" dirty="0"/>
              <a:t>Entity-Relationship model</a:t>
            </a:r>
          </a:p>
          <a:p>
            <a:pPr lvl="2">
              <a:defRPr/>
            </a:pPr>
            <a:r>
              <a:rPr lang="en-US" dirty="0"/>
              <a:t>Models an organization (enterprise) as a set of entities and relationships </a:t>
            </a:r>
          </a:p>
          <a:p>
            <a:pPr lvl="2">
              <a:defRPr/>
            </a:pPr>
            <a:r>
              <a:rPr lang="en-US" dirty="0"/>
              <a:t>Represented using ER-diagram</a:t>
            </a:r>
          </a:p>
          <a:p>
            <a:pPr lvl="1">
              <a:defRPr/>
            </a:pPr>
            <a:r>
              <a:rPr lang="en-US" dirty="0"/>
              <a:t>Normalization theory</a:t>
            </a:r>
          </a:p>
          <a:p>
            <a:pPr lvl="2">
              <a:defRPr/>
            </a:pPr>
            <a:r>
              <a:rPr lang="en-US" dirty="0"/>
              <a:t>Formalize what is a bad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6E59C-47F0-54D7-F076-71ADA1E7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1963519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A5F6ACA-A3AA-7B4E-B962-DAFB01DE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88BFD-C383-E04B-8E3D-7E7B1D26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AA6FFBA-3750-0644-97A2-0895CDF57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AE53FB4F-A11E-5A44-89F8-4E8A330DCFF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1012" y="1690688"/>
            <a:ext cx="11037888" cy="45577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An entity: an existing “object” that is distinguishable from other objects</a:t>
            </a:r>
          </a:p>
          <a:p>
            <a:pPr lvl="1">
              <a:defRPr/>
            </a:pPr>
            <a:r>
              <a:rPr lang="en-US" dirty="0"/>
              <a:t>Example: Specific person, product, event, plant </a:t>
            </a:r>
          </a:p>
          <a:p>
            <a:pPr>
              <a:defRPr/>
            </a:pPr>
            <a:r>
              <a:rPr lang="en-US" dirty="0"/>
              <a:t>Entity set: a set of entities that share the same properties</a:t>
            </a:r>
          </a:p>
          <a:p>
            <a:pPr lvl="1">
              <a:defRPr/>
            </a:pPr>
            <a:r>
              <a:rPr lang="en-US" dirty="0"/>
              <a:t>Set of students, plants, activities, trees</a:t>
            </a:r>
          </a:p>
          <a:p>
            <a:pPr>
              <a:defRPr/>
            </a:pPr>
            <a:r>
              <a:rPr lang="en-US" dirty="0"/>
              <a:t>An entity is represented by a set of attributes</a:t>
            </a:r>
          </a:p>
          <a:p>
            <a:pPr lvl="1">
              <a:defRPr/>
            </a:pPr>
            <a:r>
              <a:rPr lang="en-US" dirty="0"/>
              <a:t>students = (ID, name, </a:t>
            </a:r>
            <a:r>
              <a:rPr lang="en-US" dirty="0" err="1"/>
              <a:t>dept_name</a:t>
            </a:r>
            <a:r>
              <a:rPr lang="en-US" dirty="0"/>
              <a:t>, </a:t>
            </a:r>
            <a:r>
              <a:rPr lang="en-US" dirty="0" err="1"/>
              <a:t>tot_cred</a:t>
            </a:r>
            <a:r>
              <a:rPr lang="en-US" dirty="0"/>
              <a:t>).</a:t>
            </a:r>
          </a:p>
          <a:p>
            <a:pPr>
              <a:defRPr/>
            </a:pPr>
            <a:r>
              <a:rPr lang="en-US" dirty="0"/>
              <a:t>Each entity should differ from the others in at least a value of one attribute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F7C1E1-72E2-C7BB-6DA4-3BD43B91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6026433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88BFD-C383-E04B-8E3D-7E7B1D26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AA6FFBA-3750-0644-97A2-0895CDF57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AE53FB4F-A11E-5A44-89F8-4E8A330DCFF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1012" y="1690688"/>
            <a:ext cx="11037888" cy="46720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 relationship: an association between several entities</a:t>
            </a:r>
          </a:p>
          <a:p>
            <a:pPr lvl="1">
              <a:defRPr/>
            </a:pPr>
            <a:r>
              <a:rPr lang="en-US" dirty="0"/>
              <a:t>Robin </a:t>
            </a:r>
            <a:r>
              <a:rPr lang="en-US" dirty="0">
                <a:solidFill>
                  <a:srgbClr val="C00000"/>
                </a:solidFill>
              </a:rPr>
              <a:t>is an Advisor</a:t>
            </a:r>
            <a:r>
              <a:rPr lang="en-US" dirty="0"/>
              <a:t> of Mark </a:t>
            </a:r>
          </a:p>
          <a:p>
            <a:pPr lvl="1">
              <a:defRPr/>
            </a:pPr>
            <a:r>
              <a:rPr lang="en-US" dirty="0"/>
              <a:t>Tom </a:t>
            </a:r>
            <a:r>
              <a:rPr lang="en-US" dirty="0">
                <a:solidFill>
                  <a:srgbClr val="C00000"/>
                </a:solidFill>
              </a:rPr>
              <a:t>works in</a:t>
            </a:r>
            <a:r>
              <a:rPr lang="en-US" dirty="0"/>
              <a:t> the ICS department</a:t>
            </a:r>
          </a:p>
          <a:p>
            <a:pPr lvl="1">
              <a:defRPr/>
            </a:pPr>
            <a:r>
              <a:rPr lang="en-US" dirty="0"/>
              <a:t>Fred </a:t>
            </a:r>
            <a:r>
              <a:rPr lang="en-US" dirty="0">
                <a:solidFill>
                  <a:srgbClr val="C00000"/>
                </a:solidFill>
              </a:rPr>
              <a:t>is enrolled in</a:t>
            </a:r>
            <a:r>
              <a:rPr lang="en-US" dirty="0"/>
              <a:t> INFOMDWR</a:t>
            </a:r>
          </a:p>
          <a:p>
            <a:pPr>
              <a:defRPr/>
            </a:pPr>
            <a:r>
              <a:rPr lang="en-US" dirty="0"/>
              <a:t>A relationship set is a set of relationships of the same type</a:t>
            </a:r>
          </a:p>
          <a:p>
            <a:pPr lvl="1">
              <a:defRPr/>
            </a:pPr>
            <a:r>
              <a:rPr lang="en-US" dirty="0"/>
              <a:t>Advisor = {(Robin, Advisor of, Mark), (Katz, advisor of, Shankar), (Lola, advisor of, Tim)}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8FADE7-3230-58A5-2791-2FA7F277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3761706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88BFD-C383-E04B-8E3D-7E7B1D26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AA6FFBA-3750-0644-97A2-0895CDF57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AE53FB4F-A11E-5A44-89F8-4E8A330DCFF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1012" y="1690688"/>
            <a:ext cx="11037888" cy="46720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An entity is represented as a </a:t>
            </a:r>
            <a:r>
              <a:rPr lang="en-US" b="1" dirty="0"/>
              <a:t>rectangle</a:t>
            </a:r>
          </a:p>
          <a:p>
            <a:pPr>
              <a:defRPr/>
            </a:pPr>
            <a:r>
              <a:rPr lang="en-US" dirty="0"/>
              <a:t>A relationship is represented as a </a:t>
            </a:r>
            <a:r>
              <a:rPr lang="en-US" b="1" dirty="0"/>
              <a:t>diamond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902D3A6-4E4A-BACA-B344-95226D64E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644345"/>
              </p:ext>
            </p:extLst>
          </p:nvPr>
        </p:nvGraphicFramePr>
        <p:xfrm>
          <a:off x="5118100" y="3448050"/>
          <a:ext cx="1955800" cy="2286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dept_name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tot_cred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67402C-2C94-70A8-324A-11818FC8F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022584"/>
              </p:ext>
            </p:extLst>
          </p:nvPr>
        </p:nvGraphicFramePr>
        <p:xfrm>
          <a:off x="485776" y="3429000"/>
          <a:ext cx="2068512" cy="2286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68512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dept_name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8D9BCD09-0AD4-E5D1-1831-0C965DBB367E}"/>
              </a:ext>
            </a:extLst>
          </p:cNvPr>
          <p:cNvGrpSpPr/>
          <p:nvPr/>
        </p:nvGrpSpPr>
        <p:grpSpPr>
          <a:xfrm>
            <a:off x="2554288" y="3644899"/>
            <a:ext cx="2563812" cy="1422400"/>
            <a:chOff x="2554288" y="3644899"/>
            <a:chExt cx="2563812" cy="14224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DF96F76-4843-B345-7ABE-6CF3799CB833}"/>
                </a:ext>
              </a:extLst>
            </p:cNvPr>
            <p:cNvGrpSpPr/>
            <p:nvPr/>
          </p:nvGrpSpPr>
          <p:grpSpPr>
            <a:xfrm>
              <a:off x="3055144" y="3644899"/>
              <a:ext cx="1333500" cy="1422400"/>
              <a:chOff x="3055144" y="3644899"/>
              <a:chExt cx="1333500" cy="1422400"/>
            </a:xfrm>
          </p:grpSpPr>
          <p:sp>
            <p:nvSpPr>
              <p:cNvPr id="4" name="Diamond 3">
                <a:extLst>
                  <a:ext uri="{FF2B5EF4-FFF2-40B4-BE49-F238E27FC236}">
                    <a16:creationId xmlns:a16="http://schemas.microsoft.com/office/drawing/2014/main" id="{A69E62E8-F7A6-19B6-9DF3-EE851FCA9EA5}"/>
                  </a:ext>
                </a:extLst>
              </p:cNvPr>
              <p:cNvSpPr/>
              <p:nvPr/>
            </p:nvSpPr>
            <p:spPr>
              <a:xfrm>
                <a:off x="3055144" y="3644899"/>
                <a:ext cx="1333500" cy="1422400"/>
              </a:xfrm>
              <a:prstGeom prst="diamond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95FEBF-C6BC-130A-4ED9-C618C6649F66}"/>
                  </a:ext>
                </a:extLst>
              </p:cNvPr>
              <p:cNvSpPr txBox="1"/>
              <p:nvPr/>
            </p:nvSpPr>
            <p:spPr>
              <a:xfrm>
                <a:off x="3146426" y="4110335"/>
                <a:ext cx="11985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Advisor</a:t>
                </a:r>
                <a:endParaRPr lang="en-US" sz="2400" dirty="0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D56F146-C69E-1B55-43DE-97C170FE6A24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4388644" y="4356098"/>
              <a:ext cx="729456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8640A45-1514-10C9-DE78-AE84F9FAC3D1}"/>
                </a:ext>
              </a:extLst>
            </p:cNvPr>
            <p:cNvCxnSpPr>
              <a:cxnSpLocks/>
            </p:cNvCxnSpPr>
            <p:nvPr/>
          </p:nvCxnSpPr>
          <p:spPr>
            <a:xfrm>
              <a:off x="2554288" y="4356099"/>
              <a:ext cx="4953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D6C1673-496D-E730-1E3A-D991EBB0E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014712"/>
              </p:ext>
            </p:extLst>
          </p:nvPr>
        </p:nvGraphicFramePr>
        <p:xfrm>
          <a:off x="9189050" y="3283743"/>
          <a:ext cx="2068512" cy="2286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68512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u="sng" dirty="0" err="1"/>
                        <a:t>Course_id</a:t>
                      </a:r>
                      <a:endParaRPr lang="en-US" sz="2400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dept_name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credits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900547E3-2F3A-9558-E989-7401CF35EA66}"/>
              </a:ext>
            </a:extLst>
          </p:cNvPr>
          <p:cNvGrpSpPr/>
          <p:nvPr/>
        </p:nvGrpSpPr>
        <p:grpSpPr>
          <a:xfrm>
            <a:off x="9454162" y="1316038"/>
            <a:ext cx="1333500" cy="1967705"/>
            <a:chOff x="10020300" y="1245393"/>
            <a:chExt cx="1333500" cy="1967705"/>
          </a:xfrm>
        </p:grpSpPr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C5F4CE60-035E-C864-979D-332EEEDB3E01}"/>
                </a:ext>
              </a:extLst>
            </p:cNvPr>
            <p:cNvSpPr/>
            <p:nvPr/>
          </p:nvSpPr>
          <p:spPr>
            <a:xfrm>
              <a:off x="10020300" y="1245393"/>
              <a:ext cx="1333500" cy="1422400"/>
            </a:xfrm>
            <a:prstGeom prst="diamond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EB5492B-5CE7-A15A-AA7B-CD02F5C1C4D5}"/>
                </a:ext>
              </a:extLst>
            </p:cNvPr>
            <p:cNvSpPr txBox="1"/>
            <p:nvPr/>
          </p:nvSpPr>
          <p:spPr>
            <a:xfrm>
              <a:off x="10155238" y="1690688"/>
              <a:ext cx="1198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solidFill>
                    <a:schemeClr val="tx1"/>
                  </a:solidFill>
                </a:rPr>
                <a:t>prereq</a:t>
              </a:r>
              <a:endParaRPr lang="en-US" sz="2400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71127FF-87B4-E925-C6FB-1B942B123636}"/>
                </a:ext>
              </a:extLst>
            </p:cNvPr>
            <p:cNvCxnSpPr>
              <a:cxnSpLocks/>
            </p:cNvCxnSpPr>
            <p:nvPr/>
          </p:nvCxnSpPr>
          <p:spPr>
            <a:xfrm>
              <a:off x="11154172" y="2152353"/>
              <a:ext cx="0" cy="1060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3939ADE-9BCB-F006-1E5C-096D7D37ABB4}"/>
                </a:ext>
              </a:extLst>
            </p:cNvPr>
            <p:cNvCxnSpPr>
              <a:cxnSpLocks/>
            </p:cNvCxnSpPr>
            <p:nvPr/>
          </p:nvCxnSpPr>
          <p:spPr>
            <a:xfrm>
              <a:off x="10171510" y="2137420"/>
              <a:ext cx="0" cy="1060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45A8731-56FE-B4E0-2F80-FFD2BF048FA6}"/>
              </a:ext>
            </a:extLst>
          </p:cNvPr>
          <p:cNvSpPr txBox="1"/>
          <p:nvPr/>
        </p:nvSpPr>
        <p:spPr>
          <a:xfrm>
            <a:off x="8102012" y="2390129"/>
            <a:ext cx="150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prereq_id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ACE54C-5EFF-F1DE-3BE7-5520B9FB1763}"/>
              </a:ext>
            </a:extLst>
          </p:cNvPr>
          <p:cNvSpPr txBox="1"/>
          <p:nvPr/>
        </p:nvSpPr>
        <p:spPr>
          <a:xfrm>
            <a:off x="10557573" y="2591245"/>
            <a:ext cx="150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course_id</a:t>
            </a:r>
            <a:endParaRPr 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BE63A-0FC4-32FA-159C-1757119F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848440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88BFD-C383-E04B-8E3D-7E7B1D26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AA6FFBA-3750-0644-97A2-0895CDF57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1549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Cardinality 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902D3A6-4E4A-BACA-B344-95226D64E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890152"/>
              </p:ext>
            </p:extLst>
          </p:nvPr>
        </p:nvGraphicFramePr>
        <p:xfrm>
          <a:off x="4274344" y="1518444"/>
          <a:ext cx="1612900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tot_cred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67402C-2C94-70A8-324A-11818FC8F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80855"/>
              </p:ext>
            </p:extLst>
          </p:nvPr>
        </p:nvGraphicFramePr>
        <p:xfrm>
          <a:off x="577653" y="1518444"/>
          <a:ext cx="1635124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35124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8D9BCD09-0AD4-E5D1-1831-0C965DBB367E}"/>
              </a:ext>
            </a:extLst>
          </p:cNvPr>
          <p:cNvGrpSpPr/>
          <p:nvPr/>
        </p:nvGrpSpPr>
        <p:grpSpPr>
          <a:xfrm>
            <a:off x="2197100" y="1878012"/>
            <a:ext cx="2070100" cy="1422400"/>
            <a:chOff x="2667993" y="3644899"/>
            <a:chExt cx="2070100" cy="14224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DF96F76-4843-B345-7ABE-6CF3799CB833}"/>
                </a:ext>
              </a:extLst>
            </p:cNvPr>
            <p:cNvGrpSpPr/>
            <p:nvPr/>
          </p:nvGrpSpPr>
          <p:grpSpPr>
            <a:xfrm>
              <a:off x="3055144" y="3644899"/>
              <a:ext cx="1333500" cy="1422400"/>
              <a:chOff x="3055144" y="3644899"/>
              <a:chExt cx="1333500" cy="1422400"/>
            </a:xfrm>
          </p:grpSpPr>
          <p:sp>
            <p:nvSpPr>
              <p:cNvPr id="4" name="Diamond 3">
                <a:extLst>
                  <a:ext uri="{FF2B5EF4-FFF2-40B4-BE49-F238E27FC236}">
                    <a16:creationId xmlns:a16="http://schemas.microsoft.com/office/drawing/2014/main" id="{A69E62E8-F7A6-19B6-9DF3-EE851FCA9EA5}"/>
                  </a:ext>
                </a:extLst>
              </p:cNvPr>
              <p:cNvSpPr/>
              <p:nvPr/>
            </p:nvSpPr>
            <p:spPr>
              <a:xfrm>
                <a:off x="3055144" y="3644899"/>
                <a:ext cx="1333500" cy="1422400"/>
              </a:xfrm>
              <a:prstGeom prst="diamond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95FEBF-C6BC-130A-4ED9-C618C6649F66}"/>
                  </a:ext>
                </a:extLst>
              </p:cNvPr>
              <p:cNvSpPr txBox="1"/>
              <p:nvPr/>
            </p:nvSpPr>
            <p:spPr>
              <a:xfrm>
                <a:off x="3184526" y="4110335"/>
                <a:ext cx="119856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Advisor</a:t>
                </a:r>
                <a:endParaRPr lang="en-US" sz="2200" dirty="0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D56F146-C69E-1B55-43DE-97C170FE6A24}"/>
                </a:ext>
              </a:extLst>
            </p:cNvPr>
            <p:cNvCxnSpPr>
              <a:cxnSpLocks/>
            </p:cNvCxnSpPr>
            <p:nvPr/>
          </p:nvCxnSpPr>
          <p:spPr>
            <a:xfrm>
              <a:off x="4378722" y="4356099"/>
              <a:ext cx="35937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8640A45-1514-10C9-DE78-AE84F9FAC3D1}"/>
                </a:ext>
              </a:extLst>
            </p:cNvPr>
            <p:cNvCxnSpPr>
              <a:cxnSpLocks/>
            </p:cNvCxnSpPr>
            <p:nvPr/>
          </p:nvCxnSpPr>
          <p:spPr>
            <a:xfrm>
              <a:off x="2667993" y="4356099"/>
              <a:ext cx="38159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7" name="Table 2">
            <a:extLst>
              <a:ext uri="{FF2B5EF4-FFF2-40B4-BE49-F238E27FC236}">
                <a16:creationId xmlns:a16="http://schemas.microsoft.com/office/drawing/2014/main" id="{45F66437-F60C-F008-1987-3AE014B85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716463"/>
              </p:ext>
            </p:extLst>
          </p:nvPr>
        </p:nvGraphicFramePr>
        <p:xfrm>
          <a:off x="10395744" y="1518444"/>
          <a:ext cx="1612900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tot_cred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548D323-11DF-2716-79A9-41618D82E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542359"/>
              </p:ext>
            </p:extLst>
          </p:nvPr>
        </p:nvGraphicFramePr>
        <p:xfrm>
          <a:off x="6699053" y="1518444"/>
          <a:ext cx="1635124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35124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907E7273-D4A2-1F0B-DE3F-B6E6EFF65994}"/>
              </a:ext>
            </a:extLst>
          </p:cNvPr>
          <p:cNvGrpSpPr/>
          <p:nvPr/>
        </p:nvGrpSpPr>
        <p:grpSpPr>
          <a:xfrm>
            <a:off x="8318500" y="1878012"/>
            <a:ext cx="2070100" cy="1422400"/>
            <a:chOff x="2667993" y="3644899"/>
            <a:chExt cx="2070100" cy="14224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DC2EFA4-BF45-0204-015C-AA159551B10E}"/>
                </a:ext>
              </a:extLst>
            </p:cNvPr>
            <p:cNvGrpSpPr/>
            <p:nvPr/>
          </p:nvGrpSpPr>
          <p:grpSpPr>
            <a:xfrm>
              <a:off x="3055144" y="3644899"/>
              <a:ext cx="1333500" cy="1422400"/>
              <a:chOff x="3055144" y="3644899"/>
              <a:chExt cx="1333500" cy="1422400"/>
            </a:xfrm>
          </p:grpSpPr>
          <p:sp>
            <p:nvSpPr>
              <p:cNvPr id="43" name="Diamond 42">
                <a:extLst>
                  <a:ext uri="{FF2B5EF4-FFF2-40B4-BE49-F238E27FC236}">
                    <a16:creationId xmlns:a16="http://schemas.microsoft.com/office/drawing/2014/main" id="{DB409B57-5C6A-A9C3-5F7D-081BF5C0A4BF}"/>
                  </a:ext>
                </a:extLst>
              </p:cNvPr>
              <p:cNvSpPr/>
              <p:nvPr/>
            </p:nvSpPr>
            <p:spPr>
              <a:xfrm>
                <a:off x="3055144" y="3644899"/>
                <a:ext cx="1333500" cy="1422400"/>
              </a:xfrm>
              <a:prstGeom prst="diamond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1D3FB6F-23E3-8A04-9162-78C906149179}"/>
                  </a:ext>
                </a:extLst>
              </p:cNvPr>
              <p:cNvSpPr txBox="1"/>
              <p:nvPr/>
            </p:nvSpPr>
            <p:spPr>
              <a:xfrm>
                <a:off x="3184526" y="4110335"/>
                <a:ext cx="119856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Advisor</a:t>
                </a:r>
                <a:endParaRPr lang="en-US" sz="2200" dirty="0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B387796-1980-0E4D-03CB-0CF1705D69D2}"/>
                </a:ext>
              </a:extLst>
            </p:cNvPr>
            <p:cNvCxnSpPr>
              <a:cxnSpLocks/>
            </p:cNvCxnSpPr>
            <p:nvPr/>
          </p:nvCxnSpPr>
          <p:spPr>
            <a:xfrm>
              <a:off x="4378722" y="4356099"/>
              <a:ext cx="35937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54A9115-09D1-7122-3BBC-F940539885B3}"/>
                </a:ext>
              </a:extLst>
            </p:cNvPr>
            <p:cNvCxnSpPr>
              <a:cxnSpLocks/>
            </p:cNvCxnSpPr>
            <p:nvPr/>
          </p:nvCxnSpPr>
          <p:spPr>
            <a:xfrm>
              <a:off x="2667993" y="4356099"/>
              <a:ext cx="381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AD445FC-5EF3-E948-2DFD-51EC97655F0B}"/>
              </a:ext>
            </a:extLst>
          </p:cNvPr>
          <p:cNvSpPr txBox="1"/>
          <p:nvPr/>
        </p:nvSpPr>
        <p:spPr>
          <a:xfrm>
            <a:off x="444500" y="3876974"/>
            <a:ext cx="54427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Arrows represent </a:t>
            </a:r>
            <a:r>
              <a:rPr lang="en-US" sz="2400" dirty="0">
                <a:solidFill>
                  <a:srgbClr val="C00000"/>
                </a:solidFill>
              </a:rPr>
              <a:t>1-1</a:t>
            </a:r>
            <a:r>
              <a:rPr lang="en-US" sz="2400" dirty="0">
                <a:solidFill>
                  <a:schemeClr val="tx1"/>
                </a:solidFill>
              </a:rPr>
              <a:t>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student can have at most one advisor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instructor can supervise at most one student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B21702-69EA-55A2-1C8C-854B20C6CF09}"/>
              </a:ext>
            </a:extLst>
          </p:cNvPr>
          <p:cNvSpPr txBox="1"/>
          <p:nvPr/>
        </p:nvSpPr>
        <p:spPr>
          <a:xfrm>
            <a:off x="6413500" y="3804505"/>
            <a:ext cx="57282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Line-Arrow represent </a:t>
            </a:r>
            <a:r>
              <a:rPr lang="en-US" sz="2400" dirty="0">
                <a:solidFill>
                  <a:srgbClr val="C00000"/>
                </a:solidFill>
              </a:rPr>
              <a:t>many-1</a:t>
            </a:r>
            <a:r>
              <a:rPr lang="en-US" sz="2400" dirty="0">
                <a:solidFill>
                  <a:schemeClr val="tx1"/>
                </a:solidFill>
              </a:rPr>
              <a:t>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student can have zero or more advisors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instructor can supervise at most one student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BDB53-862A-5869-D7A7-6B4A386D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1445974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88BFD-C383-E04B-8E3D-7E7B1D26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AA6FFBA-3750-0644-97A2-0895CDF57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1549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Cardinality</a:t>
            </a:r>
          </a:p>
        </p:txBody>
      </p:sp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11A8D239-9790-D68E-B511-A5388AA0E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613684"/>
              </p:ext>
            </p:extLst>
          </p:nvPr>
        </p:nvGraphicFramePr>
        <p:xfrm>
          <a:off x="4077295" y="1501776"/>
          <a:ext cx="1612900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tot_cred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13659DD-5729-3975-0A69-E014976A3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532385"/>
              </p:ext>
            </p:extLst>
          </p:nvPr>
        </p:nvGraphicFramePr>
        <p:xfrm>
          <a:off x="380604" y="1501776"/>
          <a:ext cx="1635124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35124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C552E3E3-86B5-EB3A-14DD-5AF148491029}"/>
              </a:ext>
            </a:extLst>
          </p:cNvPr>
          <p:cNvGrpSpPr/>
          <p:nvPr/>
        </p:nvGrpSpPr>
        <p:grpSpPr>
          <a:xfrm>
            <a:off x="2000051" y="1861344"/>
            <a:ext cx="2070100" cy="1422400"/>
            <a:chOff x="2667993" y="3644899"/>
            <a:chExt cx="2070100" cy="14224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27BBB47-0819-BE9C-3322-5D40A32460CB}"/>
                </a:ext>
              </a:extLst>
            </p:cNvPr>
            <p:cNvGrpSpPr/>
            <p:nvPr/>
          </p:nvGrpSpPr>
          <p:grpSpPr>
            <a:xfrm>
              <a:off x="3055144" y="3644899"/>
              <a:ext cx="1333500" cy="1422400"/>
              <a:chOff x="3055144" y="3644899"/>
              <a:chExt cx="1333500" cy="1422400"/>
            </a:xfrm>
          </p:grpSpPr>
          <p:sp>
            <p:nvSpPr>
              <p:cNvPr id="35" name="Diamond 34">
                <a:extLst>
                  <a:ext uri="{FF2B5EF4-FFF2-40B4-BE49-F238E27FC236}">
                    <a16:creationId xmlns:a16="http://schemas.microsoft.com/office/drawing/2014/main" id="{2D81EE27-50CA-8FEB-1C2D-C796E1416FAC}"/>
                  </a:ext>
                </a:extLst>
              </p:cNvPr>
              <p:cNvSpPr/>
              <p:nvPr/>
            </p:nvSpPr>
            <p:spPr>
              <a:xfrm>
                <a:off x="3055144" y="3644899"/>
                <a:ext cx="1333500" cy="1422400"/>
              </a:xfrm>
              <a:prstGeom prst="diamond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0BE4DF-2C27-4434-D697-E1E30F41BC01}"/>
                  </a:ext>
                </a:extLst>
              </p:cNvPr>
              <p:cNvSpPr txBox="1"/>
              <p:nvPr/>
            </p:nvSpPr>
            <p:spPr>
              <a:xfrm>
                <a:off x="3184526" y="4110335"/>
                <a:ext cx="119856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Advisor</a:t>
                </a:r>
                <a:endParaRPr lang="en-US" sz="2200" dirty="0"/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B6A4699-B279-71B2-5CCF-7D2B81B0170A}"/>
                </a:ext>
              </a:extLst>
            </p:cNvPr>
            <p:cNvCxnSpPr>
              <a:cxnSpLocks/>
            </p:cNvCxnSpPr>
            <p:nvPr/>
          </p:nvCxnSpPr>
          <p:spPr>
            <a:xfrm>
              <a:off x="4378722" y="4356099"/>
              <a:ext cx="3593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415DE82-C938-A17B-C001-2A7DA75A4829}"/>
                </a:ext>
              </a:extLst>
            </p:cNvPr>
            <p:cNvCxnSpPr>
              <a:cxnSpLocks/>
            </p:cNvCxnSpPr>
            <p:nvPr/>
          </p:nvCxnSpPr>
          <p:spPr>
            <a:xfrm>
              <a:off x="2667993" y="4356099"/>
              <a:ext cx="38159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5" name="Table 2">
            <a:extLst>
              <a:ext uri="{FF2B5EF4-FFF2-40B4-BE49-F238E27FC236}">
                <a16:creationId xmlns:a16="http://schemas.microsoft.com/office/drawing/2014/main" id="{38D415A3-1A66-241A-B35D-3D30EF819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93853"/>
              </p:ext>
            </p:extLst>
          </p:nvPr>
        </p:nvGraphicFramePr>
        <p:xfrm>
          <a:off x="10198695" y="1501776"/>
          <a:ext cx="1612900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tot_cred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8F4F9B5C-3C81-9C7C-B59C-B2890CED9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467236"/>
              </p:ext>
            </p:extLst>
          </p:nvPr>
        </p:nvGraphicFramePr>
        <p:xfrm>
          <a:off x="6502004" y="1501776"/>
          <a:ext cx="1635124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35124">
                  <a:extLst>
                    <a:ext uri="{9D8B030D-6E8A-4147-A177-3AD203B41FA5}">
                      <a16:colId xmlns:a16="http://schemas.microsoft.com/office/drawing/2014/main" val="3372485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31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5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57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dept_name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98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106074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22FD30AE-06AA-7357-5BF6-CD96D394D9A7}"/>
              </a:ext>
            </a:extLst>
          </p:cNvPr>
          <p:cNvGrpSpPr/>
          <p:nvPr/>
        </p:nvGrpSpPr>
        <p:grpSpPr>
          <a:xfrm>
            <a:off x="8121451" y="1861344"/>
            <a:ext cx="2070100" cy="1422400"/>
            <a:chOff x="2667993" y="3644899"/>
            <a:chExt cx="2070100" cy="14224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A81AF74-F9D3-20C1-B632-0E34E6D79154}"/>
                </a:ext>
              </a:extLst>
            </p:cNvPr>
            <p:cNvGrpSpPr/>
            <p:nvPr/>
          </p:nvGrpSpPr>
          <p:grpSpPr>
            <a:xfrm>
              <a:off x="3055144" y="3644899"/>
              <a:ext cx="1333500" cy="1422400"/>
              <a:chOff x="3055144" y="3644899"/>
              <a:chExt cx="1333500" cy="1422400"/>
            </a:xfrm>
          </p:grpSpPr>
          <p:sp>
            <p:nvSpPr>
              <p:cNvPr id="51" name="Diamond 50">
                <a:extLst>
                  <a:ext uri="{FF2B5EF4-FFF2-40B4-BE49-F238E27FC236}">
                    <a16:creationId xmlns:a16="http://schemas.microsoft.com/office/drawing/2014/main" id="{8A7AF1DC-6DBC-F5E7-21A1-1C79421225C4}"/>
                  </a:ext>
                </a:extLst>
              </p:cNvPr>
              <p:cNvSpPr/>
              <p:nvPr/>
            </p:nvSpPr>
            <p:spPr>
              <a:xfrm>
                <a:off x="3055144" y="3644899"/>
                <a:ext cx="1333500" cy="1422400"/>
              </a:xfrm>
              <a:prstGeom prst="diamond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7C7721-294C-F821-8926-F56CBC9022BD}"/>
                  </a:ext>
                </a:extLst>
              </p:cNvPr>
              <p:cNvSpPr txBox="1"/>
              <p:nvPr/>
            </p:nvSpPr>
            <p:spPr>
              <a:xfrm>
                <a:off x="3184526" y="4110335"/>
                <a:ext cx="119856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Advisor</a:t>
                </a:r>
                <a:endParaRPr lang="en-US" sz="2200" dirty="0"/>
              </a:p>
            </p:txBody>
          </p: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0CF57E2-6603-EBE2-9965-F96B3F5F2940}"/>
                </a:ext>
              </a:extLst>
            </p:cNvPr>
            <p:cNvCxnSpPr>
              <a:cxnSpLocks/>
            </p:cNvCxnSpPr>
            <p:nvPr/>
          </p:nvCxnSpPr>
          <p:spPr>
            <a:xfrm>
              <a:off x="4378722" y="4356099"/>
              <a:ext cx="3593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8C55DD-3BEE-7784-3FED-EECE68A949A9}"/>
                </a:ext>
              </a:extLst>
            </p:cNvPr>
            <p:cNvCxnSpPr>
              <a:cxnSpLocks/>
            </p:cNvCxnSpPr>
            <p:nvPr/>
          </p:nvCxnSpPr>
          <p:spPr>
            <a:xfrm>
              <a:off x="2667993" y="4356099"/>
              <a:ext cx="3815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491CE33-4B90-2ACB-39CC-37825F3B831D}"/>
              </a:ext>
            </a:extLst>
          </p:cNvPr>
          <p:cNvSpPr txBox="1"/>
          <p:nvPr/>
        </p:nvSpPr>
        <p:spPr>
          <a:xfrm>
            <a:off x="444500" y="3876974"/>
            <a:ext cx="54427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Arrow-Line represent </a:t>
            </a:r>
            <a:r>
              <a:rPr lang="en-US" sz="2400" dirty="0">
                <a:solidFill>
                  <a:srgbClr val="C00000"/>
                </a:solidFill>
              </a:rPr>
              <a:t>1-many</a:t>
            </a:r>
            <a:r>
              <a:rPr lang="en-US" sz="2400" dirty="0">
                <a:solidFill>
                  <a:schemeClr val="tx1"/>
                </a:solidFill>
              </a:rPr>
              <a:t>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student can have at most one advisor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instructor can supervise zero or more students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B65E2-9B59-ACFB-C05E-B048F6A9FF2D}"/>
              </a:ext>
            </a:extLst>
          </p:cNvPr>
          <p:cNvSpPr txBox="1"/>
          <p:nvPr/>
        </p:nvSpPr>
        <p:spPr>
          <a:xfrm>
            <a:off x="6413500" y="3804505"/>
            <a:ext cx="57282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Lines represent </a:t>
            </a:r>
            <a:r>
              <a:rPr lang="en-US" sz="2400" dirty="0">
                <a:solidFill>
                  <a:srgbClr val="C00000"/>
                </a:solidFill>
              </a:rPr>
              <a:t>many-many</a:t>
            </a:r>
            <a:r>
              <a:rPr lang="en-US" sz="2400" dirty="0">
                <a:solidFill>
                  <a:schemeClr val="tx1"/>
                </a:solidFill>
              </a:rPr>
              <a:t>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student can have zero or more advisors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instructor can supervise zero or more students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D338AD-CA13-6D68-5D39-6335316A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6523868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BB21E09-7E43-B74A-8FEE-324F258F0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748D83E-E8F4-6A4D-88BE-C63855DB1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C71FDE75-1A87-D34F-A224-0041DA52E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DB Design: Entities as Tables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FBE86A39-8E27-A547-91D2-16F82D549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851" y="2421618"/>
            <a:ext cx="4795249" cy="249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latin typeface="Book Antiqua" charset="0"/>
                <a:ea typeface="ＭＳ Ｐゴシック" charset="0"/>
              </a:rPr>
              <a:t>            </a:t>
            </a:r>
            <a:r>
              <a:rPr lang="en-US" sz="2400" dirty="0">
                <a:solidFill>
                  <a:srgbClr val="006600"/>
                </a:solidFill>
              </a:rPr>
              <a:t>CREATE</a:t>
            </a:r>
            <a:r>
              <a:rPr lang="en-US" sz="20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TABLE</a:t>
            </a:r>
            <a:r>
              <a:rPr lang="en-US" sz="2000" dirty="0">
                <a:latin typeface="Book Antiqua" charset="0"/>
                <a:ea typeface="ＭＳ Ｐゴシック" charset="0"/>
              </a:rPr>
              <a:t> </a:t>
            </a:r>
            <a:r>
              <a:rPr lang="en-US" dirty="0">
                <a:latin typeface="Book Antiqua" charset="0"/>
                <a:ea typeface="ＭＳ Ｐゴシック" charset="0"/>
              </a:rPr>
              <a:t>Student 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             (id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dirty="0">
                <a:latin typeface="Book Antiqua" charset="0"/>
                <a:ea typeface="ＭＳ Ｐゴシック" charset="0"/>
              </a:rPr>
              <a:t>(20),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             name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dirty="0">
                <a:latin typeface="Book Antiqua" charset="0"/>
                <a:ea typeface="ＭＳ Ｐゴシック" charset="0"/>
              </a:rPr>
              <a:t>(20),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             </a:t>
            </a:r>
            <a:r>
              <a:rPr lang="en-US" dirty="0" err="1">
                <a:latin typeface="Book Antiqua" charset="0"/>
                <a:ea typeface="ＭＳ Ｐゴシック" charset="0"/>
              </a:rPr>
              <a:t>dept_name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1800" dirty="0">
                <a:solidFill>
                  <a:srgbClr val="006600"/>
                </a:solidFill>
              </a:rPr>
              <a:t>CHAR</a:t>
            </a:r>
            <a:r>
              <a:rPr lang="en-US" dirty="0">
                <a:latin typeface="Book Antiqua" charset="0"/>
                <a:ea typeface="ＭＳ Ｐゴシック" charset="0"/>
              </a:rPr>
              <a:t>(20),</a:t>
            </a:r>
          </a:p>
          <a:p>
            <a:pPr lvl="2">
              <a:defRPr/>
            </a:pPr>
            <a:r>
              <a:rPr lang="en-US" sz="2400" dirty="0">
                <a:solidFill>
                  <a:srgbClr val="006600"/>
                </a:solidFill>
              </a:rPr>
              <a:t>  </a:t>
            </a:r>
            <a:r>
              <a:rPr lang="en-US" dirty="0" err="1">
                <a:latin typeface="Book Antiqua" charset="0"/>
                <a:ea typeface="ＭＳ Ｐゴシック" charset="0"/>
              </a:rPr>
              <a:t>tot_cred</a:t>
            </a:r>
            <a:r>
              <a:rPr lang="en-US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INTEGER</a:t>
            </a:r>
            <a:r>
              <a:rPr lang="en-US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                  </a:t>
            </a:r>
            <a:r>
              <a:rPr lang="en-US" sz="2400" dirty="0">
                <a:solidFill>
                  <a:srgbClr val="006600"/>
                </a:solidFill>
              </a:rPr>
              <a:t>PRIMARY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KEY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dirty="0">
                <a:latin typeface="Book Antiqua" charset="0"/>
                <a:ea typeface="ＭＳ Ｐゴシック" charset="0"/>
              </a:rPr>
              <a:t>(id)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	);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AA441-A8DB-AEEB-DA5C-7EBD248C1A49}"/>
              </a:ext>
            </a:extLst>
          </p:cNvPr>
          <p:cNvGrpSpPr/>
          <p:nvPr/>
        </p:nvGrpSpPr>
        <p:grpSpPr>
          <a:xfrm>
            <a:off x="596900" y="2223632"/>
            <a:ext cx="5664254" cy="2475362"/>
            <a:chOff x="596900" y="2223632"/>
            <a:chExt cx="5664254" cy="2475362"/>
          </a:xfrm>
        </p:grpSpPr>
        <p:grpSp>
          <p:nvGrpSpPr>
            <p:cNvPr id="43014" name="Group 19">
              <a:extLst>
                <a:ext uri="{FF2B5EF4-FFF2-40B4-BE49-F238E27FC236}">
                  <a16:creationId xmlns:a16="http://schemas.microsoft.com/office/drawing/2014/main" id="{CC7B2701-6A91-7F4C-9638-6D33E6F5F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900" y="2223632"/>
              <a:ext cx="4535309" cy="2475362"/>
              <a:chOff x="240" y="2076"/>
              <a:chExt cx="2555" cy="1084"/>
            </a:xfrm>
          </p:grpSpPr>
          <p:grpSp>
            <p:nvGrpSpPr>
              <p:cNvPr id="43015" name="Group 9">
                <a:extLst>
                  <a:ext uri="{FF2B5EF4-FFF2-40B4-BE49-F238E27FC236}">
                    <a16:creationId xmlns:a16="http://schemas.microsoft.com/office/drawing/2014/main" id="{C165A54D-B2C7-8F44-A4EA-93958587A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2832"/>
                <a:ext cx="1144" cy="328"/>
                <a:chOff x="1104" y="2832"/>
                <a:chExt cx="1144" cy="328"/>
              </a:xfrm>
            </p:grpSpPr>
            <p:sp>
              <p:nvSpPr>
                <p:cNvPr id="41991" name="Rectangle 7">
                  <a:extLst>
                    <a:ext uri="{FF2B5EF4-FFF2-40B4-BE49-F238E27FC236}">
                      <a16:creationId xmlns:a16="http://schemas.microsoft.com/office/drawing/2014/main" id="{3ABD3B05-53B5-ED42-9BBE-403BB8DE65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832"/>
                  <a:ext cx="1144" cy="328"/>
                </a:xfrm>
                <a:prstGeom prst="rect">
                  <a:avLst/>
                </a:prstGeom>
                <a:noFill/>
                <a:ln w="1270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41992" name="Rectangle 8">
                  <a:extLst>
                    <a:ext uri="{FF2B5EF4-FFF2-40B4-BE49-F238E27FC236}">
                      <a16:creationId xmlns:a16="http://schemas.microsoft.com/office/drawing/2014/main" id="{622234C7-E518-E04B-9EA8-8BC0497653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1" y="2909"/>
                  <a:ext cx="641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>
                    <a:defRPr/>
                  </a:pPr>
                  <a:r>
                    <a:rPr lang="en-US" sz="2000" b="1" dirty="0">
                      <a:latin typeface="Arial" charset="0"/>
                      <a:ea typeface="ＭＳ Ｐゴシック" charset="0"/>
                    </a:rPr>
                    <a:t>Student</a:t>
                  </a:r>
                </a:p>
              </p:txBody>
            </p:sp>
          </p:grpSp>
          <p:sp>
            <p:nvSpPr>
              <p:cNvPr id="41994" name="Oval 10">
                <a:extLst>
                  <a:ext uri="{FF2B5EF4-FFF2-40B4-BE49-F238E27FC236}">
                    <a16:creationId xmlns:a16="http://schemas.microsoft.com/office/drawing/2014/main" id="{C092906B-FC9E-4E43-AA19-18EC8BF68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256"/>
                <a:ext cx="712" cy="328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41995" name="Rectangle 11">
                <a:extLst>
                  <a:ext uri="{FF2B5EF4-FFF2-40B4-BE49-F238E27FC236}">
                    <a16:creationId xmlns:a16="http://schemas.microsoft.com/office/drawing/2014/main" id="{F04E9CB5-C94F-DB4A-BB1B-6F06EE109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" y="2323"/>
                <a:ext cx="231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defRPr/>
                </a:pPr>
                <a:r>
                  <a:rPr lang="en-US" sz="2000" b="1" u="sng" dirty="0">
                    <a:latin typeface="Arial" charset="0"/>
                    <a:ea typeface="ＭＳ Ｐゴシック" charset="0"/>
                  </a:rPr>
                  <a:t>id</a:t>
                </a:r>
              </a:p>
            </p:txBody>
          </p:sp>
          <p:sp>
            <p:nvSpPr>
              <p:cNvPr id="41996" name="Oval 12">
                <a:extLst>
                  <a:ext uri="{FF2B5EF4-FFF2-40B4-BE49-F238E27FC236}">
                    <a16:creationId xmlns:a16="http://schemas.microsoft.com/office/drawing/2014/main" id="{0AA83887-D9DB-C142-B96F-F9CFC3041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" y="2076"/>
                <a:ext cx="712" cy="328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41997" name="Oval 13">
                <a:extLst>
                  <a:ext uri="{FF2B5EF4-FFF2-40B4-BE49-F238E27FC236}">
                    <a16:creationId xmlns:a16="http://schemas.microsoft.com/office/drawing/2014/main" id="{B63D1C8C-B3CB-EC41-B755-18CF7FF2E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1" y="2144"/>
                <a:ext cx="964" cy="328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41998" name="Rectangle 14">
                <a:extLst>
                  <a:ext uri="{FF2B5EF4-FFF2-40B4-BE49-F238E27FC236}">
                    <a16:creationId xmlns:a16="http://schemas.microsoft.com/office/drawing/2014/main" id="{AC95C3B5-810A-3E45-8F75-8A5D6329B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" y="2154"/>
                <a:ext cx="480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defRPr/>
                </a:pPr>
                <a:r>
                  <a:rPr lang="en-US" sz="2000" b="1" dirty="0">
                    <a:latin typeface="Arial" charset="0"/>
                    <a:ea typeface="ＭＳ Ｐゴシック" charset="0"/>
                  </a:rPr>
                  <a:t>name</a:t>
                </a:r>
              </a:p>
            </p:txBody>
          </p:sp>
          <p:sp>
            <p:nvSpPr>
              <p:cNvPr id="42000" name="Line 16">
                <a:extLst>
                  <a:ext uri="{FF2B5EF4-FFF2-40B4-BE49-F238E27FC236}">
                    <a16:creationId xmlns:a16="http://schemas.microsoft.com/office/drawing/2014/main" id="{80C60AE8-7E54-5B4E-8DD5-E317C0FE4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" y="2584"/>
                <a:ext cx="434" cy="24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42001" name="Line 17">
                <a:extLst>
                  <a:ext uri="{FF2B5EF4-FFF2-40B4-BE49-F238E27FC236}">
                    <a16:creationId xmlns:a16="http://schemas.microsoft.com/office/drawing/2014/main" id="{F4B39DE9-3968-0948-B1B2-504B84B71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1" y="2404"/>
                <a:ext cx="345" cy="42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42002" name="Line 18">
                <a:extLst>
                  <a:ext uri="{FF2B5EF4-FFF2-40B4-BE49-F238E27FC236}">
                    <a16:creationId xmlns:a16="http://schemas.microsoft.com/office/drawing/2014/main" id="{14FA7156-F6A6-794D-9CAE-028691AE4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2472"/>
                <a:ext cx="465" cy="3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ＭＳ Ｐゴシック" charset="0"/>
                </a:endParaRPr>
              </a:p>
            </p:txBody>
          </p:sp>
        </p:grpSp>
        <p:sp>
          <p:nvSpPr>
            <p:cNvPr id="3" name="Rectangle 14">
              <a:extLst>
                <a:ext uri="{FF2B5EF4-FFF2-40B4-BE49-F238E27FC236}">
                  <a16:creationId xmlns:a16="http://schemas.microsoft.com/office/drawing/2014/main" id="{FDD329F3-C3A4-3E92-C812-1AEDD2CBF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893" y="2519130"/>
              <a:ext cx="1566135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b="1" dirty="0" err="1">
                  <a:latin typeface="Arial" charset="0"/>
                  <a:ea typeface="ＭＳ Ｐゴシック" charset="0"/>
                </a:rPr>
                <a:t>dept_name</a:t>
              </a:r>
              <a:endParaRPr lang="en-US" sz="2000" b="1" dirty="0">
                <a:latin typeface="Arial" charset="0"/>
                <a:ea typeface="ＭＳ Ｐゴシック" charset="0"/>
              </a:endParaRPr>
            </a:p>
          </p:txBody>
        </p:sp>
        <p:sp>
          <p:nvSpPr>
            <p:cNvPr id="4" name="Oval 13">
              <a:extLst>
                <a:ext uri="{FF2B5EF4-FFF2-40B4-BE49-F238E27FC236}">
                  <a16:creationId xmlns:a16="http://schemas.microsoft.com/office/drawing/2014/main" id="{094C4EBA-07D2-54D7-ABCD-EE027345E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985" y="3067138"/>
              <a:ext cx="1711169" cy="749003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A6FDE490-71EC-3649-E872-119634FC20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1243" y="3666831"/>
              <a:ext cx="553823" cy="28315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E76C28A4-06E8-AA0E-82A1-D1C704EF0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449" y="3230227"/>
              <a:ext cx="1194239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2000" b="1" dirty="0" err="1">
                  <a:latin typeface="Arial" charset="0"/>
                  <a:ea typeface="ＭＳ Ｐゴシック" charset="0"/>
                </a:rPr>
                <a:t>tot_cred</a:t>
              </a:r>
              <a:endParaRPr lang="en-US" sz="2000" b="1" dirty="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EE451B-097B-80B7-4FDE-A3960E2F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9878328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A5F6ACA-A3AA-7B4E-B962-DAFB01DE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88BFD-C383-E04B-8E3D-7E7B1D26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AA6FFBA-3750-0644-97A2-0895CDF57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DB Design: Relationships as Tables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AE53FB4F-A11E-5A44-89F8-4E8A330DCFF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1012" y="1690688"/>
            <a:ext cx="5614988" cy="45577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many-many</a:t>
            </a:r>
            <a:r>
              <a:rPr lang="en-US" sz="2400" dirty="0"/>
              <a:t> relationship between two entities is expressed as a stand-alone table that is linked to the entities through foreign keys. 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That table has a Foreign Key referencing each PK in the tables of the entities to which it is linked, plus some additional descriptive attributes. </a:t>
            </a:r>
          </a:p>
          <a:p>
            <a:pPr>
              <a:defRPr/>
            </a:pPr>
            <a:r>
              <a:rPr lang="en-US" sz="2400" dirty="0"/>
              <a:t>The Primary Key of the table is the union of the Primary Keys in the participating entities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FE84E9C7-38B4-4A47-878C-C372E957F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12" y="1357317"/>
            <a:ext cx="5919788" cy="489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6600"/>
                </a:solidFill>
              </a:rPr>
              <a:t>CREATE TABLE </a:t>
            </a:r>
            <a:r>
              <a:rPr lang="en-US" sz="2400" dirty="0">
                <a:latin typeface="Book Antiqua" charset="0"/>
                <a:ea typeface="ＭＳ Ｐゴシック" charset="0"/>
              </a:rPr>
              <a:t>takes(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 id 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(20),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 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course_id</a:t>
            </a:r>
            <a:r>
              <a:rPr lang="en-US" sz="2400" dirty="0">
                <a:latin typeface="Book Antiqua" charset="0"/>
                <a:ea typeface="ＭＳ Ｐゴシック" charset="0"/>
              </a:rPr>
              <a:t>  </a:t>
            </a:r>
            <a:r>
              <a:rPr lang="en-US" sz="2400" dirty="0">
                <a:solidFill>
                  <a:srgbClr val="006600"/>
                </a:solidFill>
              </a:rPr>
              <a:t>VARCHAR(7)</a:t>
            </a:r>
            <a:r>
              <a:rPr lang="en-US" sz="2400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 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sec_id</a:t>
            </a:r>
            <a:r>
              <a:rPr lang="en-US" sz="24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VARCHAR(8)</a:t>
            </a:r>
            <a:r>
              <a:rPr lang="en-US" sz="2400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 semester </a:t>
            </a:r>
            <a:r>
              <a:rPr lang="en-US" sz="2400" dirty="0">
                <a:solidFill>
                  <a:srgbClr val="006600"/>
                </a:solidFill>
              </a:rPr>
              <a:t>VARCHAR(6)</a:t>
            </a:r>
            <a:r>
              <a:rPr lang="en-US" sz="2400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 year </a:t>
            </a:r>
            <a:r>
              <a:rPr lang="en-US" sz="2400" dirty="0">
                <a:solidFill>
                  <a:srgbClr val="006600"/>
                </a:solidFill>
              </a:rPr>
              <a:t>numeric(4,0)</a:t>
            </a:r>
            <a:r>
              <a:rPr lang="en-US" sz="2400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 Grade </a:t>
            </a:r>
            <a:r>
              <a:rPr lang="en-US" sz="2400" dirty="0">
                <a:solidFill>
                  <a:srgbClr val="006600"/>
                </a:solidFill>
              </a:rPr>
              <a:t>numeric(2,1)</a:t>
            </a:r>
            <a:r>
              <a:rPr lang="en-US" sz="2400" dirty="0">
                <a:latin typeface="Book Antiqua" charset="0"/>
                <a:ea typeface="ＭＳ Ｐゴシック" charset="0"/>
              </a:rPr>
              <a:t>,</a:t>
            </a:r>
          </a:p>
          <a:p>
            <a:pPr marL="533400" indent="-533400"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 </a:t>
            </a:r>
            <a:r>
              <a:rPr lang="en-US" sz="2400" dirty="0">
                <a:solidFill>
                  <a:srgbClr val="006600"/>
                </a:solidFill>
              </a:rPr>
              <a:t>PRIMARY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KEY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latin typeface="Book Antiqua" charset="0"/>
                <a:ea typeface="ＭＳ Ｐゴシック" charset="0"/>
              </a:rPr>
              <a:t>(id, 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course_id</a:t>
            </a:r>
            <a:r>
              <a:rPr lang="en-US" sz="2400" dirty="0">
                <a:latin typeface="Book Antiqua" charset="0"/>
                <a:ea typeface="ＭＳ Ｐゴシック" charset="0"/>
              </a:rPr>
              <a:t>, 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sec_id</a:t>
            </a:r>
            <a:r>
              <a:rPr lang="en-US" sz="2400" dirty="0">
                <a:latin typeface="Book Antiqua" charset="0"/>
                <a:ea typeface="ＭＳ Ｐゴシック" charset="0"/>
              </a:rPr>
              <a:t>, semester, year),</a:t>
            </a:r>
          </a:p>
          <a:p>
            <a:pPr>
              <a:defRPr/>
            </a:pP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400" dirty="0">
                <a:solidFill>
                  <a:srgbClr val="006600"/>
                </a:solidFill>
              </a:rPr>
              <a:t>FOREIGN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KEY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latin typeface="Book Antiqua" charset="0"/>
                <a:ea typeface="ＭＳ Ｐゴシック" charset="0"/>
              </a:rPr>
              <a:t>(id) </a:t>
            </a:r>
            <a:r>
              <a:rPr lang="en-US" sz="2400" dirty="0">
                <a:solidFill>
                  <a:srgbClr val="006600"/>
                </a:solidFill>
              </a:rPr>
              <a:t>REFERENCES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latin typeface="Book Antiqua" charset="0"/>
                <a:ea typeface="ＭＳ Ｐゴシック" charset="0"/>
              </a:rPr>
              <a:t>student,</a:t>
            </a:r>
          </a:p>
          <a:p>
            <a:pPr marL="533400" indent="-533400">
              <a:defRPr/>
            </a:pP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400" dirty="0">
                <a:solidFill>
                  <a:srgbClr val="006600"/>
                </a:solidFill>
              </a:rPr>
              <a:t>FOREIGN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KEY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latin typeface="Book Antiqua" charset="0"/>
                <a:ea typeface="ＭＳ Ｐゴシック" charset="0"/>
              </a:rPr>
              <a:t>(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course_id</a:t>
            </a:r>
            <a:r>
              <a:rPr lang="en-US" sz="2400" dirty="0">
                <a:latin typeface="Book Antiqua" charset="0"/>
                <a:ea typeface="ＭＳ Ｐゴシック" charset="0"/>
              </a:rPr>
              <a:t>, 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sec_id</a:t>
            </a:r>
            <a:r>
              <a:rPr lang="en-US" sz="2400" dirty="0">
                <a:latin typeface="Book Antiqua" charset="0"/>
                <a:ea typeface="ＭＳ Ｐゴシック" charset="0"/>
              </a:rPr>
              <a:t>, semester, year) </a:t>
            </a:r>
            <a:r>
              <a:rPr lang="en-US" sz="2400" dirty="0">
                <a:solidFill>
                  <a:srgbClr val="006600"/>
                </a:solidFill>
              </a:rPr>
              <a:t>REFERENCES</a:t>
            </a:r>
            <a:r>
              <a:rPr lang="en-US" sz="24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latin typeface="Book Antiqua" charset="0"/>
                <a:ea typeface="ＭＳ Ｐゴシック" charset="0"/>
              </a:rPr>
              <a:t>section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);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0117F6-5260-94F0-699D-F5BF85B5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8501097"/>
      </p:ext>
    </p:extLst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645897E-6D4D-9841-A989-F8B4A6504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C83C475-8C54-DE4E-9B55-9CF28DA02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0E6834B4-77DD-3047-8A31-20886F345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Relationships as Tables</a:t>
            </a: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3FFC4B86-04EF-1F43-90A9-1B3E74FB967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3886" y="4071257"/>
            <a:ext cx="4598988" cy="206601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/>
              <a:t>Since each department has a unique manager, we could instead combine Manages and Departments.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767CC4D8-794A-6049-8B1C-F36732C8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138" y="1409688"/>
            <a:ext cx="6613976" cy="245964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CREATE TABLE  Manages(</a:t>
            </a:r>
          </a:p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   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i_id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200" dirty="0">
                <a:solidFill>
                  <a:srgbClr val="006600"/>
                </a:solidFill>
              </a:rPr>
              <a:t>CHAR</a:t>
            </a:r>
            <a:r>
              <a:rPr lang="en-US" sz="2200" dirty="0">
                <a:latin typeface="Book Antiqua" charset="0"/>
                <a:ea typeface="ＭＳ Ｐゴシック" charset="0"/>
              </a:rPr>
              <a:t>(11),</a:t>
            </a:r>
          </a:p>
          <a:p>
            <a:pPr>
              <a:defRPr/>
            </a:pP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 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dept_name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CHAR</a:t>
            </a:r>
            <a:r>
              <a:rPr lang="en-US" sz="2200" dirty="0">
                <a:latin typeface="Book Antiqua" charset="0"/>
                <a:ea typeface="ＭＳ Ｐゴシック" charset="0"/>
              </a:rPr>
              <a:t>(20),</a:t>
            </a:r>
          </a:p>
          <a:p>
            <a:pPr>
              <a:defRPr/>
            </a:pP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 </a:t>
            </a:r>
            <a:r>
              <a:rPr lang="en-US" sz="2200" dirty="0">
                <a:latin typeface="Book Antiqua" charset="0"/>
                <a:ea typeface="ＭＳ Ｐゴシック" charset="0"/>
              </a:rPr>
              <a:t>since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200" dirty="0">
                <a:solidFill>
                  <a:srgbClr val="006600"/>
                </a:solidFill>
              </a:rPr>
              <a:t>DATE</a:t>
            </a:r>
            <a:r>
              <a:rPr lang="en-US" sz="2200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  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d_id</a:t>
            </a:r>
            <a:r>
              <a:rPr lang="en-US" sz="2200" dirty="0"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CHAR</a:t>
            </a:r>
            <a:r>
              <a:rPr lang="en-US" sz="2200" dirty="0">
                <a:latin typeface="Book Antiqua" charset="0"/>
                <a:ea typeface="ＭＳ Ｐゴシック" charset="0"/>
              </a:rPr>
              <a:t> (11) </a:t>
            </a:r>
            <a:r>
              <a:rPr lang="en-US" sz="2200" dirty="0">
                <a:solidFill>
                  <a:srgbClr val="006600"/>
                </a:solidFill>
              </a:rPr>
              <a:t>PRIMARY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KEY</a:t>
            </a:r>
            <a:r>
              <a:rPr lang="en-US" sz="2200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 </a:t>
            </a:r>
            <a:r>
              <a:rPr lang="en-US" sz="2200" dirty="0">
                <a:solidFill>
                  <a:srgbClr val="006600"/>
                </a:solidFill>
              </a:rPr>
              <a:t>FOREIGN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KEY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latin typeface="Book Antiqua" charset="0"/>
                <a:ea typeface="ＭＳ Ｐゴシック" charset="0"/>
              </a:rPr>
              <a:t>(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i_id</a:t>
            </a:r>
            <a:r>
              <a:rPr lang="en-US" sz="2200" dirty="0">
                <a:latin typeface="Book Antiqua" charset="0"/>
                <a:ea typeface="ＭＳ Ｐゴシック" charset="0"/>
              </a:rPr>
              <a:t>)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REFERENCES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latin typeface="Book Antiqua" charset="0"/>
                <a:ea typeface="ＭＳ Ｐゴシック" charset="0"/>
              </a:rPr>
              <a:t>instructor,</a:t>
            </a:r>
          </a:p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 </a:t>
            </a:r>
            <a:r>
              <a:rPr lang="en-US" sz="2200" dirty="0">
                <a:solidFill>
                  <a:srgbClr val="006600"/>
                </a:solidFill>
              </a:rPr>
              <a:t>FOREIGN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KEY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latin typeface="Book Antiqua" charset="0"/>
                <a:ea typeface="ＭＳ Ｐゴシック" charset="0"/>
              </a:rPr>
              <a:t>(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d_id</a:t>
            </a:r>
            <a:r>
              <a:rPr lang="en-US" sz="2200" dirty="0">
                <a:latin typeface="Book Antiqua" charset="0"/>
                <a:ea typeface="ＭＳ Ｐゴシック" charset="0"/>
              </a:rPr>
              <a:t>) </a:t>
            </a:r>
            <a:r>
              <a:rPr lang="en-US" sz="2200" dirty="0">
                <a:solidFill>
                  <a:srgbClr val="006600"/>
                </a:solidFill>
              </a:rPr>
              <a:t>REFERENCES</a:t>
            </a:r>
            <a:r>
              <a:rPr lang="en-US" sz="2200" dirty="0">
                <a:latin typeface="Book Antiqua" charset="0"/>
                <a:ea typeface="ＭＳ Ｐゴシック" charset="0"/>
              </a:rPr>
              <a:t> department)</a:t>
            </a:r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6DE5E314-860D-5549-A474-ACDAF577A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138" y="3980461"/>
            <a:ext cx="5720670" cy="279820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200" dirty="0">
                <a:solidFill>
                  <a:srgbClr val="006600"/>
                </a:solidFill>
              </a:rPr>
              <a:t>CREATE</a:t>
            </a:r>
            <a:r>
              <a:rPr lang="en-US" sz="2200" dirty="0"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TABLE</a:t>
            </a:r>
            <a:r>
              <a:rPr lang="en-US" sz="2200" dirty="0">
                <a:latin typeface="Book Antiqua" charset="0"/>
                <a:ea typeface="ＭＳ Ｐゴシック" charset="0"/>
              </a:rPr>
              <a:t>  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Dept_Mgr</a:t>
            </a:r>
            <a:r>
              <a:rPr lang="en-US" sz="2200" dirty="0">
                <a:latin typeface="Book Antiqua" charset="0"/>
                <a:ea typeface="ＭＳ Ｐゴシック" charset="0"/>
              </a:rPr>
              <a:t>(</a:t>
            </a:r>
          </a:p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   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d_id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CHAR</a:t>
            </a:r>
            <a:r>
              <a:rPr lang="en-US" sz="2200" dirty="0">
                <a:latin typeface="Book Antiqua" charset="0"/>
                <a:ea typeface="ＭＳ Ｐゴシック" charset="0"/>
              </a:rPr>
              <a:t>(11),</a:t>
            </a:r>
          </a:p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   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dept_name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200" dirty="0">
                <a:solidFill>
                  <a:srgbClr val="006600"/>
                </a:solidFill>
              </a:rPr>
              <a:t>CHAR</a:t>
            </a:r>
            <a:r>
              <a:rPr lang="en-US" sz="2200" dirty="0">
                <a:latin typeface="Book Antiqua" charset="0"/>
                <a:ea typeface="ＭＳ Ｐゴシック" charset="0"/>
              </a:rPr>
              <a:t>(20),</a:t>
            </a:r>
          </a:p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 </a:t>
            </a:r>
            <a:r>
              <a:rPr lang="en-US" sz="2200" dirty="0">
                <a:latin typeface="Book Antiqua" charset="0"/>
                <a:ea typeface="ＭＳ Ｐゴシック" charset="0"/>
              </a:rPr>
              <a:t>budget</a:t>
            </a:r>
            <a:r>
              <a:rPr lang="en-US" sz="22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200" dirty="0">
                <a:solidFill>
                  <a:srgbClr val="006600"/>
                </a:solidFill>
              </a:rPr>
              <a:t>REAL</a:t>
            </a:r>
            <a:r>
              <a:rPr lang="en-US" sz="2200" dirty="0">
                <a:latin typeface="Book Antiqua" charset="0"/>
                <a:ea typeface="ＭＳ Ｐゴシック" charset="0"/>
              </a:rPr>
              <a:t>,</a:t>
            </a:r>
          </a:p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   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i_id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200" dirty="0">
                <a:solidFill>
                  <a:srgbClr val="006600"/>
                </a:solidFill>
              </a:rPr>
              <a:t>CHAR</a:t>
            </a:r>
            <a:r>
              <a:rPr lang="en-US" sz="2200" dirty="0">
                <a:latin typeface="Book Antiqua" charset="0"/>
                <a:ea typeface="ＭＳ Ｐゴシック" charset="0"/>
              </a:rPr>
              <a:t>(11),</a:t>
            </a:r>
          </a:p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   since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200" dirty="0">
                <a:solidFill>
                  <a:srgbClr val="006600"/>
                </a:solidFill>
              </a:rPr>
              <a:t>DATE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,</a:t>
            </a:r>
            <a:endParaRPr lang="en-US" sz="2200" dirty="0">
              <a:latin typeface="Book Antiqua" charset="0"/>
              <a:ea typeface="ＭＳ Ｐゴシック" charset="0"/>
            </a:endParaRPr>
          </a:p>
          <a:p>
            <a:pPr>
              <a:defRPr/>
            </a:pPr>
            <a:r>
              <a:rPr lang="en-US" sz="2200" dirty="0">
                <a:latin typeface="Book Antiqua" charset="0"/>
                <a:ea typeface="ＭＳ Ｐゴシック" charset="0"/>
              </a:rPr>
              <a:t>   </a:t>
            </a:r>
            <a:r>
              <a:rPr lang="en-US" sz="2200" dirty="0">
                <a:solidFill>
                  <a:srgbClr val="006600"/>
                </a:solidFill>
              </a:rPr>
              <a:t>PRIMARY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KEY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sz="2200" dirty="0">
                <a:latin typeface="Book Antiqua" charset="0"/>
                <a:ea typeface="ＭＳ Ｐゴシック" charset="0"/>
              </a:rPr>
              <a:t>(did),</a:t>
            </a:r>
          </a:p>
          <a:p>
            <a:pPr>
              <a:defRPr/>
            </a:pP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  </a:t>
            </a:r>
            <a:r>
              <a:rPr lang="en-US" sz="2200" dirty="0">
                <a:solidFill>
                  <a:srgbClr val="006600"/>
                </a:solidFill>
              </a:rPr>
              <a:t>FOREIGN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KEY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latin typeface="Book Antiqua" charset="0"/>
                <a:ea typeface="ＭＳ Ｐゴシック" charset="0"/>
              </a:rPr>
              <a:t>(</a:t>
            </a:r>
            <a:r>
              <a:rPr lang="en-US" sz="2200" dirty="0" err="1">
                <a:latin typeface="Book Antiqua" charset="0"/>
                <a:ea typeface="ＭＳ Ｐゴシック" charset="0"/>
              </a:rPr>
              <a:t>i_id</a:t>
            </a:r>
            <a:r>
              <a:rPr lang="en-US" sz="2200" dirty="0">
                <a:latin typeface="Book Antiqua" charset="0"/>
                <a:ea typeface="ＭＳ Ｐゴシック" charset="0"/>
              </a:rPr>
              <a:t>)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6600"/>
                </a:solidFill>
              </a:rPr>
              <a:t>REFERENCES</a:t>
            </a:r>
            <a:r>
              <a:rPr lang="en-US" sz="2200" dirty="0">
                <a:solidFill>
                  <a:srgbClr val="434FD6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200" dirty="0">
                <a:latin typeface="Book Antiqua" charset="0"/>
                <a:ea typeface="ＭＳ Ｐゴシック" charset="0"/>
              </a:rPr>
              <a:t>instructor)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EE2D02B-3AA8-FB0F-1FAF-435B18C15879}"/>
              </a:ext>
            </a:extLst>
          </p:cNvPr>
          <p:cNvSpPr txBox="1">
            <a:spLocks noChangeArrowheads="1"/>
          </p:cNvSpPr>
          <p:nvPr/>
        </p:nvSpPr>
        <p:spPr>
          <a:xfrm>
            <a:off x="413886" y="1409688"/>
            <a:ext cx="4598988" cy="2066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Manage relationship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C5E13-A805-8CAE-4D6B-BEABE0A2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9634021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>
            <a:extLst>
              <a:ext uri="{FF2B5EF4-FFF2-40B4-BE49-F238E27FC236}">
                <a16:creationId xmlns:a16="http://schemas.microsoft.com/office/drawing/2014/main" id="{0E6834B4-77DD-3047-8A31-20886F345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for Relationships in the Relational Models</a:t>
            </a: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3FFC4B86-04EF-1F43-90A9-1B3E74FB967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574799"/>
            <a:ext cx="10515600" cy="3886201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dirty="0"/>
              <a:t>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1-1</a:t>
            </a:r>
            <a:r>
              <a:rPr lang="en-US" dirty="0"/>
              <a:t> relationship, one of the primary keys of the participating entities can be considered as the primary key of the relationship</a:t>
            </a:r>
          </a:p>
          <a:p>
            <a:pPr>
              <a:lnSpc>
                <a:spcPct val="130000"/>
              </a:lnSpc>
              <a:defRPr/>
            </a:pPr>
            <a:r>
              <a:rPr lang="en-US" dirty="0"/>
              <a:t>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1-many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many-1</a:t>
            </a:r>
            <a:r>
              <a:rPr lang="en-US" dirty="0"/>
              <a:t> relationships, the primary of many entity is considered as the primary key of the relationship</a:t>
            </a:r>
          </a:p>
          <a:p>
            <a:pPr>
              <a:lnSpc>
                <a:spcPct val="130000"/>
              </a:lnSpc>
              <a:defRPr/>
            </a:pPr>
            <a:r>
              <a:rPr lang="en-US" dirty="0"/>
              <a:t>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many-many</a:t>
            </a:r>
            <a:r>
              <a:rPr lang="en-US" dirty="0"/>
              <a:t>, the primary key of the relationship is the union of the attributes in the primary keys of the participating entities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49A26E-27C0-B411-8598-3279DEAD149A}"/>
              </a:ext>
            </a:extLst>
          </p:cNvPr>
          <p:cNvSpPr txBox="1"/>
          <p:nvPr/>
        </p:nvSpPr>
        <p:spPr>
          <a:xfrm>
            <a:off x="1714500" y="5460999"/>
            <a:ext cx="847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What are the options to define these kinds of relationships?  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81B-483E-4C78-2DA5-47457624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553374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D90FAB0-CF26-AB4E-9DDB-1A76D825A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574FE5C-EF0C-BE4E-9796-9D69E3011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8CC70F23-CF38-544C-9A06-0A633D456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ISA Hierarchy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9C9F72-6C88-9B42-8E9E-799A0CBA24B1}"/>
              </a:ext>
            </a:extLst>
          </p:cNvPr>
          <p:cNvSpPr/>
          <p:nvPr/>
        </p:nvSpPr>
        <p:spPr>
          <a:xfrm>
            <a:off x="6161174" y="1520469"/>
            <a:ext cx="5980609" cy="4563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rgbClr val="C00000"/>
                </a:solidFill>
              </a:rPr>
              <a:t>Entity hierarchies:</a:t>
            </a:r>
            <a:r>
              <a:rPr lang="en-GB" sz="2600" dirty="0"/>
              <a:t> called class hierarchies organize a group of entity sets into a parent/child hierarchy using as criterion their generality/specificity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C00000"/>
                </a:solidFill>
              </a:rPr>
              <a:t>Overlap Constraints: </a:t>
            </a:r>
            <a:r>
              <a:rPr lang="en-GB" sz="2800" dirty="0"/>
              <a:t>specify that the children of an entity do/don’t overlap e.g. </a:t>
            </a:r>
            <a:r>
              <a:rPr lang="en-GB" sz="2800" dirty="0" err="1"/>
              <a:t>Hourly_Inst</a:t>
            </a:r>
            <a:r>
              <a:rPr lang="en-GB" sz="2800" dirty="0"/>
              <a:t>/</a:t>
            </a:r>
            <a:r>
              <a:rPr lang="en-GB" sz="2800" dirty="0" err="1"/>
              <a:t>Contract_Inst</a:t>
            </a:r>
            <a:r>
              <a:rPr lang="en-GB" sz="2800" dirty="0"/>
              <a:t> don’t overlap whereas cartoons and drama overlap in movies database</a:t>
            </a:r>
            <a:endParaRPr lang="en-US" sz="2600" dirty="0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9D35F130-51BE-F94D-B3A1-9D041BD54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11" y="4501258"/>
            <a:ext cx="133530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Contract_Inst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F88D2FF4-64E6-7F41-8BB0-D620BE71DF96}"/>
              </a:ext>
            </a:extLst>
          </p:cNvPr>
          <p:cNvSpPr>
            <a:spLocks/>
          </p:cNvSpPr>
          <p:nvPr/>
        </p:nvSpPr>
        <p:spPr bwMode="auto">
          <a:xfrm>
            <a:off x="2319337" y="2106721"/>
            <a:ext cx="1055688" cy="390525"/>
          </a:xfrm>
          <a:custGeom>
            <a:avLst/>
            <a:gdLst>
              <a:gd name="T0" fmla="*/ 1050925 w 665"/>
              <a:gd name="T1" fmla="*/ 176213 h 246"/>
              <a:gd name="T2" fmla="*/ 1036638 w 665"/>
              <a:gd name="T3" fmla="*/ 142875 h 246"/>
              <a:gd name="T4" fmla="*/ 1004888 w 665"/>
              <a:gd name="T5" fmla="*/ 111125 h 246"/>
              <a:gd name="T6" fmla="*/ 958850 w 665"/>
              <a:gd name="T7" fmla="*/ 82550 h 246"/>
              <a:gd name="T8" fmla="*/ 900113 w 665"/>
              <a:gd name="T9" fmla="*/ 55563 h 246"/>
              <a:gd name="T10" fmla="*/ 828675 w 665"/>
              <a:gd name="T11" fmla="*/ 36513 h 246"/>
              <a:gd name="T12" fmla="*/ 750888 w 665"/>
              <a:gd name="T13" fmla="*/ 17463 h 246"/>
              <a:gd name="T14" fmla="*/ 663575 w 665"/>
              <a:gd name="T15" fmla="*/ 6350 h 246"/>
              <a:gd name="T16" fmla="*/ 573088 w 665"/>
              <a:gd name="T17" fmla="*/ 1588 h 246"/>
              <a:gd name="T18" fmla="*/ 481013 w 665"/>
              <a:gd name="T19" fmla="*/ 1588 h 246"/>
              <a:gd name="T20" fmla="*/ 390525 w 665"/>
              <a:gd name="T21" fmla="*/ 6350 h 246"/>
              <a:gd name="T22" fmla="*/ 304800 w 665"/>
              <a:gd name="T23" fmla="*/ 17463 h 246"/>
              <a:gd name="T24" fmla="*/ 223838 w 665"/>
              <a:gd name="T25" fmla="*/ 36513 h 246"/>
              <a:gd name="T26" fmla="*/ 155575 w 665"/>
              <a:gd name="T27" fmla="*/ 55563 h 246"/>
              <a:gd name="T28" fmla="*/ 95250 w 665"/>
              <a:gd name="T29" fmla="*/ 82550 h 246"/>
              <a:gd name="T30" fmla="*/ 49213 w 665"/>
              <a:gd name="T31" fmla="*/ 111125 h 246"/>
              <a:gd name="T32" fmla="*/ 17463 w 665"/>
              <a:gd name="T33" fmla="*/ 142875 h 246"/>
              <a:gd name="T34" fmla="*/ 1588 w 665"/>
              <a:gd name="T35" fmla="*/ 176213 h 246"/>
              <a:gd name="T36" fmla="*/ 1588 w 665"/>
              <a:gd name="T37" fmla="*/ 211138 h 246"/>
              <a:gd name="T38" fmla="*/ 17463 w 665"/>
              <a:gd name="T39" fmla="*/ 244475 h 246"/>
              <a:gd name="T40" fmla="*/ 49213 w 665"/>
              <a:gd name="T41" fmla="*/ 276225 h 246"/>
              <a:gd name="T42" fmla="*/ 95250 w 665"/>
              <a:gd name="T43" fmla="*/ 306388 h 246"/>
              <a:gd name="T44" fmla="*/ 155575 w 665"/>
              <a:gd name="T45" fmla="*/ 331788 h 246"/>
              <a:gd name="T46" fmla="*/ 223838 w 665"/>
              <a:gd name="T47" fmla="*/ 354013 h 246"/>
              <a:gd name="T48" fmla="*/ 304800 w 665"/>
              <a:gd name="T49" fmla="*/ 369888 h 246"/>
              <a:gd name="T50" fmla="*/ 390525 w 665"/>
              <a:gd name="T51" fmla="*/ 381000 h 246"/>
              <a:gd name="T52" fmla="*/ 481013 w 665"/>
              <a:gd name="T53" fmla="*/ 388938 h 246"/>
              <a:gd name="T54" fmla="*/ 573088 w 665"/>
              <a:gd name="T55" fmla="*/ 388938 h 246"/>
              <a:gd name="T56" fmla="*/ 663575 w 665"/>
              <a:gd name="T57" fmla="*/ 381000 h 246"/>
              <a:gd name="T58" fmla="*/ 750888 w 665"/>
              <a:gd name="T59" fmla="*/ 369888 h 246"/>
              <a:gd name="T60" fmla="*/ 828675 w 665"/>
              <a:gd name="T61" fmla="*/ 354013 h 246"/>
              <a:gd name="T62" fmla="*/ 900113 w 665"/>
              <a:gd name="T63" fmla="*/ 331788 h 246"/>
              <a:gd name="T64" fmla="*/ 958850 w 665"/>
              <a:gd name="T65" fmla="*/ 306388 h 246"/>
              <a:gd name="T66" fmla="*/ 1004888 w 665"/>
              <a:gd name="T67" fmla="*/ 276225 h 246"/>
              <a:gd name="T68" fmla="*/ 1036638 w 665"/>
              <a:gd name="T69" fmla="*/ 244475 h 246"/>
              <a:gd name="T70" fmla="*/ 1050925 w 665"/>
              <a:gd name="T71" fmla="*/ 211138 h 24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65" h="246">
                <a:moveTo>
                  <a:pt x="664" y="123"/>
                </a:moveTo>
                <a:lnTo>
                  <a:pt x="662" y="111"/>
                </a:lnTo>
                <a:lnTo>
                  <a:pt x="658" y="101"/>
                </a:lnTo>
                <a:lnTo>
                  <a:pt x="653" y="90"/>
                </a:lnTo>
                <a:lnTo>
                  <a:pt x="644" y="80"/>
                </a:lnTo>
                <a:lnTo>
                  <a:pt x="633" y="70"/>
                </a:lnTo>
                <a:lnTo>
                  <a:pt x="620" y="62"/>
                </a:lnTo>
                <a:lnTo>
                  <a:pt x="604" y="52"/>
                </a:lnTo>
                <a:lnTo>
                  <a:pt x="587" y="43"/>
                </a:lnTo>
                <a:lnTo>
                  <a:pt x="567" y="35"/>
                </a:lnTo>
                <a:lnTo>
                  <a:pt x="546" y="28"/>
                </a:lnTo>
                <a:lnTo>
                  <a:pt x="522" y="23"/>
                </a:lnTo>
                <a:lnTo>
                  <a:pt x="498" y="17"/>
                </a:lnTo>
                <a:lnTo>
                  <a:pt x="473" y="11"/>
                </a:lnTo>
                <a:lnTo>
                  <a:pt x="446" y="8"/>
                </a:lnTo>
                <a:lnTo>
                  <a:pt x="418" y="4"/>
                </a:lnTo>
                <a:lnTo>
                  <a:pt x="389" y="2"/>
                </a:lnTo>
                <a:lnTo>
                  <a:pt x="361" y="1"/>
                </a:lnTo>
                <a:lnTo>
                  <a:pt x="332" y="0"/>
                </a:lnTo>
                <a:lnTo>
                  <a:pt x="303" y="1"/>
                </a:lnTo>
                <a:lnTo>
                  <a:pt x="275" y="2"/>
                </a:lnTo>
                <a:lnTo>
                  <a:pt x="246" y="4"/>
                </a:lnTo>
                <a:lnTo>
                  <a:pt x="218" y="8"/>
                </a:lnTo>
                <a:lnTo>
                  <a:pt x="192" y="11"/>
                </a:lnTo>
                <a:lnTo>
                  <a:pt x="166" y="17"/>
                </a:lnTo>
                <a:lnTo>
                  <a:pt x="141" y="23"/>
                </a:lnTo>
                <a:lnTo>
                  <a:pt x="119" y="28"/>
                </a:lnTo>
                <a:lnTo>
                  <a:pt x="98" y="35"/>
                </a:lnTo>
                <a:lnTo>
                  <a:pt x="78" y="43"/>
                </a:lnTo>
                <a:lnTo>
                  <a:pt x="60" y="52"/>
                </a:lnTo>
                <a:lnTo>
                  <a:pt x="45" y="62"/>
                </a:lnTo>
                <a:lnTo>
                  <a:pt x="31" y="70"/>
                </a:lnTo>
                <a:lnTo>
                  <a:pt x="21" y="80"/>
                </a:lnTo>
                <a:lnTo>
                  <a:pt x="11" y="90"/>
                </a:lnTo>
                <a:lnTo>
                  <a:pt x="5" y="101"/>
                </a:lnTo>
                <a:lnTo>
                  <a:pt x="1" y="111"/>
                </a:lnTo>
                <a:lnTo>
                  <a:pt x="0" y="123"/>
                </a:lnTo>
                <a:lnTo>
                  <a:pt x="1" y="133"/>
                </a:lnTo>
                <a:lnTo>
                  <a:pt x="5" y="143"/>
                </a:lnTo>
                <a:lnTo>
                  <a:pt x="11" y="154"/>
                </a:lnTo>
                <a:lnTo>
                  <a:pt x="21" y="164"/>
                </a:lnTo>
                <a:lnTo>
                  <a:pt x="31" y="174"/>
                </a:lnTo>
                <a:lnTo>
                  <a:pt x="45" y="184"/>
                </a:lnTo>
                <a:lnTo>
                  <a:pt x="60" y="193"/>
                </a:lnTo>
                <a:lnTo>
                  <a:pt x="78" y="201"/>
                </a:lnTo>
                <a:lnTo>
                  <a:pt x="98" y="209"/>
                </a:lnTo>
                <a:lnTo>
                  <a:pt x="119" y="216"/>
                </a:lnTo>
                <a:lnTo>
                  <a:pt x="141" y="223"/>
                </a:lnTo>
                <a:lnTo>
                  <a:pt x="166" y="228"/>
                </a:lnTo>
                <a:lnTo>
                  <a:pt x="192" y="233"/>
                </a:lnTo>
                <a:lnTo>
                  <a:pt x="218" y="238"/>
                </a:lnTo>
                <a:lnTo>
                  <a:pt x="246" y="240"/>
                </a:lnTo>
                <a:lnTo>
                  <a:pt x="275" y="242"/>
                </a:lnTo>
                <a:lnTo>
                  <a:pt x="303" y="245"/>
                </a:lnTo>
                <a:lnTo>
                  <a:pt x="332" y="245"/>
                </a:lnTo>
                <a:lnTo>
                  <a:pt x="361" y="245"/>
                </a:lnTo>
                <a:lnTo>
                  <a:pt x="389" y="242"/>
                </a:lnTo>
                <a:lnTo>
                  <a:pt x="418" y="240"/>
                </a:lnTo>
                <a:lnTo>
                  <a:pt x="446" y="238"/>
                </a:lnTo>
                <a:lnTo>
                  <a:pt x="473" y="233"/>
                </a:lnTo>
                <a:lnTo>
                  <a:pt x="498" y="228"/>
                </a:lnTo>
                <a:lnTo>
                  <a:pt x="522" y="223"/>
                </a:lnTo>
                <a:lnTo>
                  <a:pt x="546" y="216"/>
                </a:lnTo>
                <a:lnTo>
                  <a:pt x="567" y="209"/>
                </a:lnTo>
                <a:lnTo>
                  <a:pt x="587" y="201"/>
                </a:lnTo>
                <a:lnTo>
                  <a:pt x="604" y="193"/>
                </a:lnTo>
                <a:lnTo>
                  <a:pt x="620" y="184"/>
                </a:lnTo>
                <a:lnTo>
                  <a:pt x="633" y="174"/>
                </a:lnTo>
                <a:lnTo>
                  <a:pt x="644" y="164"/>
                </a:lnTo>
                <a:lnTo>
                  <a:pt x="653" y="154"/>
                </a:lnTo>
                <a:lnTo>
                  <a:pt x="658" y="143"/>
                </a:lnTo>
                <a:lnTo>
                  <a:pt x="662" y="133"/>
                </a:lnTo>
                <a:lnTo>
                  <a:pt x="664" y="1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Freeform 8">
            <a:extLst>
              <a:ext uri="{FF2B5EF4-FFF2-40B4-BE49-F238E27FC236}">
                <a16:creationId xmlns:a16="http://schemas.microsoft.com/office/drawing/2014/main" id="{798F36E0-15E7-EE47-BD64-35C85D86A317}"/>
              </a:ext>
            </a:extLst>
          </p:cNvPr>
          <p:cNvSpPr>
            <a:spLocks/>
          </p:cNvSpPr>
          <p:nvPr/>
        </p:nvSpPr>
        <p:spPr bwMode="auto">
          <a:xfrm>
            <a:off x="3270250" y="1822559"/>
            <a:ext cx="1054100" cy="390525"/>
          </a:xfrm>
          <a:custGeom>
            <a:avLst/>
            <a:gdLst>
              <a:gd name="T0" fmla="*/ 1049338 w 664"/>
              <a:gd name="T1" fmla="*/ 176213 h 246"/>
              <a:gd name="T2" fmla="*/ 1033463 w 664"/>
              <a:gd name="T3" fmla="*/ 142875 h 246"/>
              <a:gd name="T4" fmla="*/ 1003300 w 664"/>
              <a:gd name="T5" fmla="*/ 111125 h 246"/>
              <a:gd name="T6" fmla="*/ 957263 w 664"/>
              <a:gd name="T7" fmla="*/ 80963 h 246"/>
              <a:gd name="T8" fmla="*/ 898525 w 664"/>
              <a:gd name="T9" fmla="*/ 55563 h 246"/>
              <a:gd name="T10" fmla="*/ 827088 w 664"/>
              <a:gd name="T11" fmla="*/ 33338 h 246"/>
              <a:gd name="T12" fmla="*/ 747713 w 664"/>
              <a:gd name="T13" fmla="*/ 17463 h 246"/>
              <a:gd name="T14" fmla="*/ 660400 w 664"/>
              <a:gd name="T15" fmla="*/ 6350 h 246"/>
              <a:gd name="T16" fmla="*/ 573088 w 664"/>
              <a:gd name="T17" fmla="*/ 0 h 246"/>
              <a:gd name="T18" fmla="*/ 481013 w 664"/>
              <a:gd name="T19" fmla="*/ 0 h 246"/>
              <a:gd name="T20" fmla="*/ 390525 w 664"/>
              <a:gd name="T21" fmla="*/ 6350 h 246"/>
              <a:gd name="T22" fmla="*/ 303213 w 664"/>
              <a:gd name="T23" fmla="*/ 17463 h 246"/>
              <a:gd name="T24" fmla="*/ 223838 w 664"/>
              <a:gd name="T25" fmla="*/ 33338 h 246"/>
              <a:gd name="T26" fmla="*/ 152400 w 664"/>
              <a:gd name="T27" fmla="*/ 55563 h 246"/>
              <a:gd name="T28" fmla="*/ 93663 w 664"/>
              <a:gd name="T29" fmla="*/ 80963 h 246"/>
              <a:gd name="T30" fmla="*/ 49213 w 664"/>
              <a:gd name="T31" fmla="*/ 111125 h 246"/>
              <a:gd name="T32" fmla="*/ 17463 w 664"/>
              <a:gd name="T33" fmla="*/ 142875 h 246"/>
              <a:gd name="T34" fmla="*/ 1588 w 664"/>
              <a:gd name="T35" fmla="*/ 176213 h 246"/>
              <a:gd name="T36" fmla="*/ 1588 w 664"/>
              <a:gd name="T37" fmla="*/ 211138 h 246"/>
              <a:gd name="T38" fmla="*/ 17463 w 664"/>
              <a:gd name="T39" fmla="*/ 244475 h 246"/>
              <a:gd name="T40" fmla="*/ 49213 w 664"/>
              <a:gd name="T41" fmla="*/ 274638 h 246"/>
              <a:gd name="T42" fmla="*/ 93663 w 664"/>
              <a:gd name="T43" fmla="*/ 304800 h 246"/>
              <a:gd name="T44" fmla="*/ 152400 w 664"/>
              <a:gd name="T45" fmla="*/ 331788 h 246"/>
              <a:gd name="T46" fmla="*/ 223838 w 664"/>
              <a:gd name="T47" fmla="*/ 350838 h 246"/>
              <a:gd name="T48" fmla="*/ 303213 w 664"/>
              <a:gd name="T49" fmla="*/ 369888 h 246"/>
              <a:gd name="T50" fmla="*/ 390525 w 664"/>
              <a:gd name="T51" fmla="*/ 381000 h 246"/>
              <a:gd name="T52" fmla="*/ 481013 w 664"/>
              <a:gd name="T53" fmla="*/ 385763 h 246"/>
              <a:gd name="T54" fmla="*/ 573088 w 664"/>
              <a:gd name="T55" fmla="*/ 385763 h 246"/>
              <a:gd name="T56" fmla="*/ 660400 w 664"/>
              <a:gd name="T57" fmla="*/ 381000 h 246"/>
              <a:gd name="T58" fmla="*/ 747713 w 664"/>
              <a:gd name="T59" fmla="*/ 369888 h 246"/>
              <a:gd name="T60" fmla="*/ 827088 w 664"/>
              <a:gd name="T61" fmla="*/ 350838 h 246"/>
              <a:gd name="T62" fmla="*/ 898525 w 664"/>
              <a:gd name="T63" fmla="*/ 331788 h 246"/>
              <a:gd name="T64" fmla="*/ 957263 w 664"/>
              <a:gd name="T65" fmla="*/ 304800 h 246"/>
              <a:gd name="T66" fmla="*/ 1003300 w 664"/>
              <a:gd name="T67" fmla="*/ 274638 h 246"/>
              <a:gd name="T68" fmla="*/ 1033463 w 664"/>
              <a:gd name="T69" fmla="*/ 244475 h 246"/>
              <a:gd name="T70" fmla="*/ 1049338 w 664"/>
              <a:gd name="T71" fmla="*/ 211138 h 24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64" h="246">
                <a:moveTo>
                  <a:pt x="663" y="121"/>
                </a:moveTo>
                <a:lnTo>
                  <a:pt x="661" y="111"/>
                </a:lnTo>
                <a:lnTo>
                  <a:pt x="657" y="101"/>
                </a:lnTo>
                <a:lnTo>
                  <a:pt x="651" y="90"/>
                </a:lnTo>
                <a:lnTo>
                  <a:pt x="643" y="80"/>
                </a:lnTo>
                <a:lnTo>
                  <a:pt x="632" y="70"/>
                </a:lnTo>
                <a:lnTo>
                  <a:pt x="618" y="60"/>
                </a:lnTo>
                <a:lnTo>
                  <a:pt x="603" y="51"/>
                </a:lnTo>
                <a:lnTo>
                  <a:pt x="586" y="43"/>
                </a:lnTo>
                <a:lnTo>
                  <a:pt x="566" y="35"/>
                </a:lnTo>
                <a:lnTo>
                  <a:pt x="545" y="28"/>
                </a:lnTo>
                <a:lnTo>
                  <a:pt x="521" y="21"/>
                </a:lnTo>
                <a:lnTo>
                  <a:pt x="497" y="16"/>
                </a:lnTo>
                <a:lnTo>
                  <a:pt x="471" y="11"/>
                </a:lnTo>
                <a:lnTo>
                  <a:pt x="444" y="6"/>
                </a:lnTo>
                <a:lnTo>
                  <a:pt x="416" y="4"/>
                </a:lnTo>
                <a:lnTo>
                  <a:pt x="389" y="2"/>
                </a:lnTo>
                <a:lnTo>
                  <a:pt x="361" y="0"/>
                </a:lnTo>
                <a:lnTo>
                  <a:pt x="330" y="0"/>
                </a:lnTo>
                <a:lnTo>
                  <a:pt x="303" y="0"/>
                </a:lnTo>
                <a:lnTo>
                  <a:pt x="273" y="2"/>
                </a:lnTo>
                <a:lnTo>
                  <a:pt x="246" y="4"/>
                </a:lnTo>
                <a:lnTo>
                  <a:pt x="218" y="6"/>
                </a:lnTo>
                <a:lnTo>
                  <a:pt x="191" y="11"/>
                </a:lnTo>
                <a:lnTo>
                  <a:pt x="165" y="16"/>
                </a:lnTo>
                <a:lnTo>
                  <a:pt x="141" y="21"/>
                </a:lnTo>
                <a:lnTo>
                  <a:pt x="119" y="28"/>
                </a:lnTo>
                <a:lnTo>
                  <a:pt x="96" y="35"/>
                </a:lnTo>
                <a:lnTo>
                  <a:pt x="78" y="43"/>
                </a:lnTo>
                <a:lnTo>
                  <a:pt x="59" y="51"/>
                </a:lnTo>
                <a:lnTo>
                  <a:pt x="44" y="60"/>
                </a:lnTo>
                <a:lnTo>
                  <a:pt x="31" y="70"/>
                </a:lnTo>
                <a:lnTo>
                  <a:pt x="19" y="80"/>
                </a:lnTo>
                <a:lnTo>
                  <a:pt x="11" y="90"/>
                </a:lnTo>
                <a:lnTo>
                  <a:pt x="5" y="101"/>
                </a:lnTo>
                <a:lnTo>
                  <a:pt x="1" y="111"/>
                </a:lnTo>
                <a:lnTo>
                  <a:pt x="0" y="121"/>
                </a:lnTo>
                <a:lnTo>
                  <a:pt x="1" y="133"/>
                </a:lnTo>
                <a:lnTo>
                  <a:pt x="5" y="143"/>
                </a:lnTo>
                <a:lnTo>
                  <a:pt x="11" y="154"/>
                </a:lnTo>
                <a:lnTo>
                  <a:pt x="19" y="164"/>
                </a:lnTo>
                <a:lnTo>
                  <a:pt x="31" y="173"/>
                </a:lnTo>
                <a:lnTo>
                  <a:pt x="44" y="182"/>
                </a:lnTo>
                <a:lnTo>
                  <a:pt x="59" y="192"/>
                </a:lnTo>
                <a:lnTo>
                  <a:pt x="78" y="201"/>
                </a:lnTo>
                <a:lnTo>
                  <a:pt x="96" y="209"/>
                </a:lnTo>
                <a:lnTo>
                  <a:pt x="119" y="216"/>
                </a:lnTo>
                <a:lnTo>
                  <a:pt x="141" y="221"/>
                </a:lnTo>
                <a:lnTo>
                  <a:pt x="165" y="227"/>
                </a:lnTo>
                <a:lnTo>
                  <a:pt x="191" y="233"/>
                </a:lnTo>
                <a:lnTo>
                  <a:pt x="218" y="236"/>
                </a:lnTo>
                <a:lnTo>
                  <a:pt x="246" y="240"/>
                </a:lnTo>
                <a:lnTo>
                  <a:pt x="273" y="242"/>
                </a:lnTo>
                <a:lnTo>
                  <a:pt x="303" y="243"/>
                </a:lnTo>
                <a:lnTo>
                  <a:pt x="330" y="245"/>
                </a:lnTo>
                <a:lnTo>
                  <a:pt x="361" y="243"/>
                </a:lnTo>
                <a:lnTo>
                  <a:pt x="389" y="242"/>
                </a:lnTo>
                <a:lnTo>
                  <a:pt x="416" y="240"/>
                </a:lnTo>
                <a:lnTo>
                  <a:pt x="444" y="236"/>
                </a:lnTo>
                <a:lnTo>
                  <a:pt x="471" y="233"/>
                </a:lnTo>
                <a:lnTo>
                  <a:pt x="497" y="227"/>
                </a:lnTo>
                <a:lnTo>
                  <a:pt x="521" y="221"/>
                </a:lnTo>
                <a:lnTo>
                  <a:pt x="545" y="216"/>
                </a:lnTo>
                <a:lnTo>
                  <a:pt x="566" y="209"/>
                </a:lnTo>
                <a:lnTo>
                  <a:pt x="586" y="201"/>
                </a:lnTo>
                <a:lnTo>
                  <a:pt x="603" y="192"/>
                </a:lnTo>
                <a:lnTo>
                  <a:pt x="618" y="182"/>
                </a:lnTo>
                <a:lnTo>
                  <a:pt x="632" y="173"/>
                </a:lnTo>
                <a:lnTo>
                  <a:pt x="643" y="164"/>
                </a:lnTo>
                <a:lnTo>
                  <a:pt x="651" y="154"/>
                </a:lnTo>
                <a:lnTo>
                  <a:pt x="657" y="143"/>
                </a:lnTo>
                <a:lnTo>
                  <a:pt x="661" y="133"/>
                </a:lnTo>
                <a:lnTo>
                  <a:pt x="663" y="1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Freeform 9">
            <a:extLst>
              <a:ext uri="{FF2B5EF4-FFF2-40B4-BE49-F238E27FC236}">
                <a16:creationId xmlns:a16="http://schemas.microsoft.com/office/drawing/2014/main" id="{B435D8AE-EE6F-D94E-8635-C72DE2AC87D4}"/>
              </a:ext>
            </a:extLst>
          </p:cNvPr>
          <p:cNvSpPr>
            <a:spLocks/>
          </p:cNvSpPr>
          <p:nvPr/>
        </p:nvSpPr>
        <p:spPr bwMode="auto">
          <a:xfrm>
            <a:off x="3270251" y="2733783"/>
            <a:ext cx="1196975" cy="425450"/>
          </a:xfrm>
          <a:custGeom>
            <a:avLst/>
            <a:gdLst>
              <a:gd name="T0" fmla="*/ 1195388 w 754"/>
              <a:gd name="T1" fmla="*/ 423863 h 268"/>
              <a:gd name="T2" fmla="*/ 1195388 w 754"/>
              <a:gd name="T3" fmla="*/ 0 h 268"/>
              <a:gd name="T4" fmla="*/ 0 w 754"/>
              <a:gd name="T5" fmla="*/ 0 h 268"/>
              <a:gd name="T6" fmla="*/ 0 w 754"/>
              <a:gd name="T7" fmla="*/ 423863 h 268"/>
              <a:gd name="T8" fmla="*/ 1195388 w 754"/>
              <a:gd name="T9" fmla="*/ 423863 h 2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54" h="268">
                <a:moveTo>
                  <a:pt x="753" y="267"/>
                </a:moveTo>
                <a:lnTo>
                  <a:pt x="753" y="0"/>
                </a:lnTo>
                <a:lnTo>
                  <a:pt x="0" y="0"/>
                </a:lnTo>
                <a:lnTo>
                  <a:pt x="0" y="267"/>
                </a:lnTo>
                <a:lnTo>
                  <a:pt x="753" y="26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Rectangle 10">
            <a:extLst>
              <a:ext uri="{FF2B5EF4-FFF2-40B4-BE49-F238E27FC236}">
                <a16:creationId xmlns:a16="http://schemas.microsoft.com/office/drawing/2014/main" id="{4C4E210D-7BF3-AC4D-8637-946F50A4C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5" y="1882883"/>
            <a:ext cx="65082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name</a:t>
            </a:r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C2DA859A-8B86-3047-9F72-E7943757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2103545"/>
            <a:ext cx="34144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u="sng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id</a:t>
            </a: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1151F7FA-BA2A-3049-B168-4B04EDD08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225" y="2785964"/>
            <a:ext cx="101790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Instructor</a:t>
            </a:r>
          </a:p>
        </p:txBody>
      </p:sp>
      <p:sp>
        <p:nvSpPr>
          <p:cNvPr id="36" name="Line 14">
            <a:extLst>
              <a:ext uri="{FF2B5EF4-FFF2-40B4-BE49-F238E27FC236}">
                <a16:creationId xmlns:a16="http://schemas.microsoft.com/office/drawing/2014/main" id="{2C9F7082-F5ED-0044-A7FA-DF5DCE6B8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8451" y="2487721"/>
            <a:ext cx="644525" cy="2444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7" name="Line 15">
            <a:extLst>
              <a:ext uri="{FF2B5EF4-FFF2-40B4-BE49-F238E27FC236}">
                <a16:creationId xmlns:a16="http://schemas.microsoft.com/office/drawing/2014/main" id="{D6BA63DF-C0D4-6E43-8E31-B7F152A85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4612" y="2230545"/>
            <a:ext cx="0" cy="5016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8" name="Freeform 17">
            <a:extLst>
              <a:ext uri="{FF2B5EF4-FFF2-40B4-BE49-F238E27FC236}">
                <a16:creationId xmlns:a16="http://schemas.microsoft.com/office/drawing/2014/main" id="{57BD69AC-B2EF-E940-A168-D5667E5EADAF}"/>
              </a:ext>
            </a:extLst>
          </p:cNvPr>
          <p:cNvSpPr>
            <a:spLocks/>
          </p:cNvSpPr>
          <p:nvPr/>
        </p:nvSpPr>
        <p:spPr bwMode="auto">
          <a:xfrm>
            <a:off x="360916" y="3306870"/>
            <a:ext cx="1417638" cy="468313"/>
          </a:xfrm>
          <a:custGeom>
            <a:avLst/>
            <a:gdLst>
              <a:gd name="T0" fmla="*/ 0 w 893"/>
              <a:gd name="T1" fmla="*/ 252413 h 295"/>
              <a:gd name="T2" fmla="*/ 22225 w 893"/>
              <a:gd name="T3" fmla="*/ 292100 h 295"/>
              <a:gd name="T4" fmla="*/ 65088 w 893"/>
              <a:gd name="T5" fmla="*/ 330200 h 295"/>
              <a:gd name="T6" fmla="*/ 127000 w 893"/>
              <a:gd name="T7" fmla="*/ 363538 h 295"/>
              <a:gd name="T8" fmla="*/ 204788 w 893"/>
              <a:gd name="T9" fmla="*/ 398463 h 295"/>
              <a:gd name="T10" fmla="*/ 300038 w 893"/>
              <a:gd name="T11" fmla="*/ 420688 h 295"/>
              <a:gd name="T12" fmla="*/ 407988 w 893"/>
              <a:gd name="T13" fmla="*/ 444500 h 295"/>
              <a:gd name="T14" fmla="*/ 522288 w 893"/>
              <a:gd name="T15" fmla="*/ 457200 h 295"/>
              <a:gd name="T16" fmla="*/ 646113 w 893"/>
              <a:gd name="T17" fmla="*/ 463550 h 295"/>
              <a:gd name="T18" fmla="*/ 768350 w 893"/>
              <a:gd name="T19" fmla="*/ 463550 h 295"/>
              <a:gd name="T20" fmla="*/ 892175 w 893"/>
              <a:gd name="T21" fmla="*/ 457200 h 295"/>
              <a:gd name="T22" fmla="*/ 1006475 w 893"/>
              <a:gd name="T23" fmla="*/ 441325 h 295"/>
              <a:gd name="T24" fmla="*/ 1114425 w 893"/>
              <a:gd name="T25" fmla="*/ 420688 h 295"/>
              <a:gd name="T26" fmla="*/ 1208088 w 893"/>
              <a:gd name="T27" fmla="*/ 396875 h 295"/>
              <a:gd name="T28" fmla="*/ 1287463 w 893"/>
              <a:gd name="T29" fmla="*/ 363538 h 295"/>
              <a:gd name="T30" fmla="*/ 1349375 w 893"/>
              <a:gd name="T31" fmla="*/ 330200 h 295"/>
              <a:gd name="T32" fmla="*/ 1392238 w 893"/>
              <a:gd name="T33" fmla="*/ 292100 h 295"/>
              <a:gd name="T34" fmla="*/ 1412875 w 893"/>
              <a:gd name="T35" fmla="*/ 252413 h 295"/>
              <a:gd name="T36" fmla="*/ 1412875 w 893"/>
              <a:gd name="T37" fmla="*/ 212725 h 295"/>
              <a:gd name="T38" fmla="*/ 1392238 w 893"/>
              <a:gd name="T39" fmla="*/ 173038 h 295"/>
              <a:gd name="T40" fmla="*/ 1349375 w 893"/>
              <a:gd name="T41" fmla="*/ 133350 h 295"/>
              <a:gd name="T42" fmla="*/ 1287463 w 893"/>
              <a:gd name="T43" fmla="*/ 96838 h 295"/>
              <a:gd name="T44" fmla="*/ 1208088 w 893"/>
              <a:gd name="T45" fmla="*/ 66675 h 295"/>
              <a:gd name="T46" fmla="*/ 1112838 w 893"/>
              <a:gd name="T47" fmla="*/ 39688 h 295"/>
              <a:gd name="T48" fmla="*/ 1006475 w 893"/>
              <a:gd name="T49" fmla="*/ 20638 h 295"/>
              <a:gd name="T50" fmla="*/ 889000 w 893"/>
              <a:gd name="T51" fmla="*/ 6350 h 295"/>
              <a:gd name="T52" fmla="*/ 768350 w 893"/>
              <a:gd name="T53" fmla="*/ 0 h 295"/>
              <a:gd name="T54" fmla="*/ 646113 w 893"/>
              <a:gd name="T55" fmla="*/ 0 h 295"/>
              <a:gd name="T56" fmla="*/ 522288 w 893"/>
              <a:gd name="T57" fmla="*/ 6350 h 295"/>
              <a:gd name="T58" fmla="*/ 407988 w 893"/>
              <a:gd name="T59" fmla="*/ 20638 h 295"/>
              <a:gd name="T60" fmla="*/ 300038 w 893"/>
              <a:gd name="T61" fmla="*/ 39688 h 295"/>
              <a:gd name="T62" fmla="*/ 204788 w 893"/>
              <a:gd name="T63" fmla="*/ 66675 h 295"/>
              <a:gd name="T64" fmla="*/ 127000 w 893"/>
              <a:gd name="T65" fmla="*/ 96838 h 295"/>
              <a:gd name="T66" fmla="*/ 65088 w 893"/>
              <a:gd name="T67" fmla="*/ 133350 h 295"/>
              <a:gd name="T68" fmla="*/ 22225 w 893"/>
              <a:gd name="T69" fmla="*/ 173038 h 295"/>
              <a:gd name="T70" fmla="*/ 0 w 893"/>
              <a:gd name="T71" fmla="*/ 212725 h 2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93" h="295">
                <a:moveTo>
                  <a:pt x="0" y="146"/>
                </a:moveTo>
                <a:lnTo>
                  <a:pt x="0" y="159"/>
                </a:lnTo>
                <a:lnTo>
                  <a:pt x="4" y="172"/>
                </a:lnTo>
                <a:lnTo>
                  <a:pt x="14" y="184"/>
                </a:lnTo>
                <a:lnTo>
                  <a:pt x="26" y="197"/>
                </a:lnTo>
                <a:lnTo>
                  <a:pt x="41" y="208"/>
                </a:lnTo>
                <a:lnTo>
                  <a:pt x="58" y="219"/>
                </a:lnTo>
                <a:lnTo>
                  <a:pt x="80" y="229"/>
                </a:lnTo>
                <a:lnTo>
                  <a:pt x="102" y="241"/>
                </a:lnTo>
                <a:lnTo>
                  <a:pt x="129" y="251"/>
                </a:lnTo>
                <a:lnTo>
                  <a:pt x="159" y="259"/>
                </a:lnTo>
                <a:lnTo>
                  <a:pt x="189" y="265"/>
                </a:lnTo>
                <a:lnTo>
                  <a:pt x="222" y="272"/>
                </a:lnTo>
                <a:lnTo>
                  <a:pt x="257" y="280"/>
                </a:lnTo>
                <a:lnTo>
                  <a:pt x="292" y="283"/>
                </a:lnTo>
                <a:lnTo>
                  <a:pt x="329" y="288"/>
                </a:lnTo>
                <a:lnTo>
                  <a:pt x="369" y="290"/>
                </a:lnTo>
                <a:lnTo>
                  <a:pt x="407" y="292"/>
                </a:lnTo>
                <a:lnTo>
                  <a:pt x="445" y="294"/>
                </a:lnTo>
                <a:lnTo>
                  <a:pt x="484" y="292"/>
                </a:lnTo>
                <a:lnTo>
                  <a:pt x="522" y="290"/>
                </a:lnTo>
                <a:lnTo>
                  <a:pt x="562" y="288"/>
                </a:lnTo>
                <a:lnTo>
                  <a:pt x="599" y="283"/>
                </a:lnTo>
                <a:lnTo>
                  <a:pt x="634" y="278"/>
                </a:lnTo>
                <a:lnTo>
                  <a:pt x="669" y="272"/>
                </a:lnTo>
                <a:lnTo>
                  <a:pt x="702" y="265"/>
                </a:lnTo>
                <a:lnTo>
                  <a:pt x="732" y="259"/>
                </a:lnTo>
                <a:lnTo>
                  <a:pt x="761" y="250"/>
                </a:lnTo>
                <a:lnTo>
                  <a:pt x="788" y="241"/>
                </a:lnTo>
                <a:lnTo>
                  <a:pt x="811" y="229"/>
                </a:lnTo>
                <a:lnTo>
                  <a:pt x="833" y="219"/>
                </a:lnTo>
                <a:lnTo>
                  <a:pt x="850" y="208"/>
                </a:lnTo>
                <a:lnTo>
                  <a:pt x="866" y="197"/>
                </a:lnTo>
                <a:lnTo>
                  <a:pt x="877" y="184"/>
                </a:lnTo>
                <a:lnTo>
                  <a:pt x="884" y="171"/>
                </a:lnTo>
                <a:lnTo>
                  <a:pt x="890" y="159"/>
                </a:lnTo>
                <a:lnTo>
                  <a:pt x="892" y="146"/>
                </a:lnTo>
                <a:lnTo>
                  <a:pt x="890" y="134"/>
                </a:lnTo>
                <a:lnTo>
                  <a:pt x="884" y="121"/>
                </a:lnTo>
                <a:lnTo>
                  <a:pt x="877" y="109"/>
                </a:lnTo>
                <a:lnTo>
                  <a:pt x="865" y="96"/>
                </a:lnTo>
                <a:lnTo>
                  <a:pt x="850" y="84"/>
                </a:lnTo>
                <a:lnTo>
                  <a:pt x="833" y="73"/>
                </a:lnTo>
                <a:lnTo>
                  <a:pt x="811" y="61"/>
                </a:lnTo>
                <a:lnTo>
                  <a:pt x="788" y="51"/>
                </a:lnTo>
                <a:lnTo>
                  <a:pt x="761" y="42"/>
                </a:lnTo>
                <a:lnTo>
                  <a:pt x="732" y="32"/>
                </a:lnTo>
                <a:lnTo>
                  <a:pt x="701" y="25"/>
                </a:lnTo>
                <a:lnTo>
                  <a:pt x="669" y="19"/>
                </a:lnTo>
                <a:lnTo>
                  <a:pt x="634" y="13"/>
                </a:lnTo>
                <a:lnTo>
                  <a:pt x="599" y="7"/>
                </a:lnTo>
                <a:lnTo>
                  <a:pt x="560" y="4"/>
                </a:lnTo>
                <a:lnTo>
                  <a:pt x="522" y="1"/>
                </a:lnTo>
                <a:lnTo>
                  <a:pt x="484" y="0"/>
                </a:lnTo>
                <a:lnTo>
                  <a:pt x="445" y="0"/>
                </a:lnTo>
                <a:lnTo>
                  <a:pt x="407" y="0"/>
                </a:lnTo>
                <a:lnTo>
                  <a:pt x="369" y="1"/>
                </a:lnTo>
                <a:lnTo>
                  <a:pt x="329" y="4"/>
                </a:lnTo>
                <a:lnTo>
                  <a:pt x="292" y="7"/>
                </a:lnTo>
                <a:lnTo>
                  <a:pt x="257" y="13"/>
                </a:lnTo>
                <a:lnTo>
                  <a:pt x="222" y="19"/>
                </a:lnTo>
                <a:lnTo>
                  <a:pt x="189" y="25"/>
                </a:lnTo>
                <a:lnTo>
                  <a:pt x="159" y="33"/>
                </a:lnTo>
                <a:lnTo>
                  <a:pt x="129" y="42"/>
                </a:lnTo>
                <a:lnTo>
                  <a:pt x="102" y="51"/>
                </a:lnTo>
                <a:lnTo>
                  <a:pt x="80" y="61"/>
                </a:lnTo>
                <a:lnTo>
                  <a:pt x="58" y="73"/>
                </a:lnTo>
                <a:lnTo>
                  <a:pt x="41" y="84"/>
                </a:lnTo>
                <a:lnTo>
                  <a:pt x="26" y="96"/>
                </a:lnTo>
                <a:lnTo>
                  <a:pt x="14" y="109"/>
                </a:lnTo>
                <a:lnTo>
                  <a:pt x="4" y="121"/>
                </a:lnTo>
                <a:lnTo>
                  <a:pt x="0" y="134"/>
                </a:lnTo>
                <a:lnTo>
                  <a:pt x="0" y="14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Rectangle 18">
            <a:extLst>
              <a:ext uri="{FF2B5EF4-FFF2-40B4-BE49-F238E27FC236}">
                <a16:creationId xmlns:a16="http://schemas.microsoft.com/office/drawing/2014/main" id="{B36635D0-CF50-814A-B736-E927884DD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19" y="3388420"/>
            <a:ext cx="129683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Hourly_wage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66525675-AD03-5040-83FE-97A2E9413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8737" y="3783120"/>
            <a:ext cx="931941" cy="873234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9E200FB4-9506-0244-BBF9-AEAD310006D4}"/>
              </a:ext>
            </a:extLst>
          </p:cNvPr>
          <p:cNvSpPr>
            <a:spLocks/>
          </p:cNvSpPr>
          <p:nvPr/>
        </p:nvSpPr>
        <p:spPr bwMode="auto">
          <a:xfrm>
            <a:off x="4442138" y="3726795"/>
            <a:ext cx="1085850" cy="431800"/>
          </a:xfrm>
          <a:custGeom>
            <a:avLst/>
            <a:gdLst>
              <a:gd name="T0" fmla="*/ 1588 w 684"/>
              <a:gd name="T1" fmla="*/ 233363 h 272"/>
              <a:gd name="T2" fmla="*/ 15875 w 684"/>
              <a:gd name="T3" fmla="*/ 269875 h 272"/>
              <a:gd name="T4" fmla="*/ 49213 w 684"/>
              <a:gd name="T5" fmla="*/ 304800 h 272"/>
              <a:gd name="T6" fmla="*/ 96838 w 684"/>
              <a:gd name="T7" fmla="*/ 338138 h 272"/>
              <a:gd name="T8" fmla="*/ 155575 w 684"/>
              <a:gd name="T9" fmla="*/ 366713 h 272"/>
              <a:gd name="T10" fmla="*/ 228600 w 684"/>
              <a:gd name="T11" fmla="*/ 392113 h 272"/>
              <a:gd name="T12" fmla="*/ 311150 w 684"/>
              <a:gd name="T13" fmla="*/ 409575 h 272"/>
              <a:gd name="T14" fmla="*/ 398463 w 684"/>
              <a:gd name="T15" fmla="*/ 423863 h 272"/>
              <a:gd name="T16" fmla="*/ 492125 w 684"/>
              <a:gd name="T17" fmla="*/ 430213 h 272"/>
              <a:gd name="T18" fmla="*/ 585788 w 684"/>
              <a:gd name="T19" fmla="*/ 430213 h 272"/>
              <a:gd name="T20" fmla="*/ 679450 w 684"/>
              <a:gd name="T21" fmla="*/ 420688 h 272"/>
              <a:gd name="T22" fmla="*/ 769938 w 684"/>
              <a:gd name="T23" fmla="*/ 409575 h 272"/>
              <a:gd name="T24" fmla="*/ 850900 w 684"/>
              <a:gd name="T25" fmla="*/ 392113 h 272"/>
              <a:gd name="T26" fmla="*/ 923925 w 684"/>
              <a:gd name="T27" fmla="*/ 366713 h 272"/>
              <a:gd name="T28" fmla="*/ 985838 w 684"/>
              <a:gd name="T29" fmla="*/ 338138 h 272"/>
              <a:gd name="T30" fmla="*/ 1031875 w 684"/>
              <a:gd name="T31" fmla="*/ 304800 h 272"/>
              <a:gd name="T32" fmla="*/ 1065213 w 684"/>
              <a:gd name="T33" fmla="*/ 269875 h 272"/>
              <a:gd name="T34" fmla="*/ 1081088 w 684"/>
              <a:gd name="T35" fmla="*/ 233363 h 272"/>
              <a:gd name="T36" fmla="*/ 1081088 w 684"/>
              <a:gd name="T37" fmla="*/ 195263 h 272"/>
              <a:gd name="T38" fmla="*/ 1065213 w 684"/>
              <a:gd name="T39" fmla="*/ 158750 h 272"/>
              <a:gd name="T40" fmla="*/ 1031875 w 684"/>
              <a:gd name="T41" fmla="*/ 125413 h 272"/>
              <a:gd name="T42" fmla="*/ 985838 w 684"/>
              <a:gd name="T43" fmla="*/ 92075 h 272"/>
              <a:gd name="T44" fmla="*/ 923925 w 684"/>
              <a:gd name="T45" fmla="*/ 61913 h 272"/>
              <a:gd name="T46" fmla="*/ 850900 w 684"/>
              <a:gd name="T47" fmla="*/ 39688 h 272"/>
              <a:gd name="T48" fmla="*/ 769938 w 684"/>
              <a:gd name="T49" fmla="*/ 19050 h 272"/>
              <a:gd name="T50" fmla="*/ 679450 w 684"/>
              <a:gd name="T51" fmla="*/ 6350 h 272"/>
              <a:gd name="T52" fmla="*/ 585788 w 684"/>
              <a:gd name="T53" fmla="*/ 1588 h 272"/>
              <a:gd name="T54" fmla="*/ 492125 w 684"/>
              <a:gd name="T55" fmla="*/ 1588 h 272"/>
              <a:gd name="T56" fmla="*/ 398463 w 684"/>
              <a:gd name="T57" fmla="*/ 6350 h 272"/>
              <a:gd name="T58" fmla="*/ 311150 w 684"/>
              <a:gd name="T59" fmla="*/ 19050 h 272"/>
              <a:gd name="T60" fmla="*/ 228600 w 684"/>
              <a:gd name="T61" fmla="*/ 39688 h 272"/>
              <a:gd name="T62" fmla="*/ 155575 w 684"/>
              <a:gd name="T63" fmla="*/ 63500 h 272"/>
              <a:gd name="T64" fmla="*/ 95250 w 684"/>
              <a:gd name="T65" fmla="*/ 92075 h 272"/>
              <a:gd name="T66" fmla="*/ 49213 w 684"/>
              <a:gd name="T67" fmla="*/ 125413 h 272"/>
              <a:gd name="T68" fmla="*/ 15875 w 684"/>
              <a:gd name="T69" fmla="*/ 158750 h 272"/>
              <a:gd name="T70" fmla="*/ 1588 w 684"/>
              <a:gd name="T71" fmla="*/ 195263 h 27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84" h="272">
                <a:moveTo>
                  <a:pt x="0" y="136"/>
                </a:moveTo>
                <a:lnTo>
                  <a:pt x="1" y="147"/>
                </a:lnTo>
                <a:lnTo>
                  <a:pt x="3" y="158"/>
                </a:lnTo>
                <a:lnTo>
                  <a:pt x="10" y="170"/>
                </a:lnTo>
                <a:lnTo>
                  <a:pt x="19" y="181"/>
                </a:lnTo>
                <a:lnTo>
                  <a:pt x="31" y="192"/>
                </a:lnTo>
                <a:lnTo>
                  <a:pt x="44" y="204"/>
                </a:lnTo>
                <a:lnTo>
                  <a:pt x="61" y="213"/>
                </a:lnTo>
                <a:lnTo>
                  <a:pt x="77" y="222"/>
                </a:lnTo>
                <a:lnTo>
                  <a:pt x="98" y="231"/>
                </a:lnTo>
                <a:lnTo>
                  <a:pt x="120" y="239"/>
                </a:lnTo>
                <a:lnTo>
                  <a:pt x="144" y="247"/>
                </a:lnTo>
                <a:lnTo>
                  <a:pt x="169" y="252"/>
                </a:lnTo>
                <a:lnTo>
                  <a:pt x="196" y="258"/>
                </a:lnTo>
                <a:lnTo>
                  <a:pt x="224" y="263"/>
                </a:lnTo>
                <a:lnTo>
                  <a:pt x="251" y="267"/>
                </a:lnTo>
                <a:lnTo>
                  <a:pt x="281" y="269"/>
                </a:lnTo>
                <a:lnTo>
                  <a:pt x="310" y="271"/>
                </a:lnTo>
                <a:lnTo>
                  <a:pt x="339" y="271"/>
                </a:lnTo>
                <a:lnTo>
                  <a:pt x="369" y="271"/>
                </a:lnTo>
                <a:lnTo>
                  <a:pt x="399" y="269"/>
                </a:lnTo>
                <a:lnTo>
                  <a:pt x="428" y="265"/>
                </a:lnTo>
                <a:lnTo>
                  <a:pt x="457" y="263"/>
                </a:lnTo>
                <a:lnTo>
                  <a:pt x="485" y="258"/>
                </a:lnTo>
                <a:lnTo>
                  <a:pt x="512" y="252"/>
                </a:lnTo>
                <a:lnTo>
                  <a:pt x="536" y="247"/>
                </a:lnTo>
                <a:lnTo>
                  <a:pt x="559" y="239"/>
                </a:lnTo>
                <a:lnTo>
                  <a:pt x="582" y="231"/>
                </a:lnTo>
                <a:lnTo>
                  <a:pt x="601" y="222"/>
                </a:lnTo>
                <a:lnTo>
                  <a:pt x="621" y="213"/>
                </a:lnTo>
                <a:lnTo>
                  <a:pt x="636" y="204"/>
                </a:lnTo>
                <a:lnTo>
                  <a:pt x="650" y="192"/>
                </a:lnTo>
                <a:lnTo>
                  <a:pt x="662" y="181"/>
                </a:lnTo>
                <a:lnTo>
                  <a:pt x="671" y="170"/>
                </a:lnTo>
                <a:lnTo>
                  <a:pt x="677" y="158"/>
                </a:lnTo>
                <a:lnTo>
                  <a:pt x="681" y="147"/>
                </a:lnTo>
                <a:lnTo>
                  <a:pt x="683" y="136"/>
                </a:lnTo>
                <a:lnTo>
                  <a:pt x="681" y="123"/>
                </a:lnTo>
                <a:lnTo>
                  <a:pt x="677" y="112"/>
                </a:lnTo>
                <a:lnTo>
                  <a:pt x="671" y="100"/>
                </a:lnTo>
                <a:lnTo>
                  <a:pt x="662" y="88"/>
                </a:lnTo>
                <a:lnTo>
                  <a:pt x="650" y="79"/>
                </a:lnTo>
                <a:lnTo>
                  <a:pt x="636" y="69"/>
                </a:lnTo>
                <a:lnTo>
                  <a:pt x="621" y="58"/>
                </a:lnTo>
                <a:lnTo>
                  <a:pt x="601" y="48"/>
                </a:lnTo>
                <a:lnTo>
                  <a:pt x="582" y="39"/>
                </a:lnTo>
                <a:lnTo>
                  <a:pt x="559" y="31"/>
                </a:lnTo>
                <a:lnTo>
                  <a:pt x="536" y="25"/>
                </a:lnTo>
                <a:lnTo>
                  <a:pt x="511" y="19"/>
                </a:lnTo>
                <a:lnTo>
                  <a:pt x="485" y="12"/>
                </a:lnTo>
                <a:lnTo>
                  <a:pt x="457" y="9"/>
                </a:lnTo>
                <a:lnTo>
                  <a:pt x="428" y="4"/>
                </a:lnTo>
                <a:lnTo>
                  <a:pt x="399" y="2"/>
                </a:lnTo>
                <a:lnTo>
                  <a:pt x="369" y="1"/>
                </a:lnTo>
                <a:lnTo>
                  <a:pt x="339" y="0"/>
                </a:lnTo>
                <a:lnTo>
                  <a:pt x="310" y="1"/>
                </a:lnTo>
                <a:lnTo>
                  <a:pt x="281" y="2"/>
                </a:lnTo>
                <a:lnTo>
                  <a:pt x="251" y="4"/>
                </a:lnTo>
                <a:lnTo>
                  <a:pt x="224" y="9"/>
                </a:lnTo>
                <a:lnTo>
                  <a:pt x="196" y="12"/>
                </a:lnTo>
                <a:lnTo>
                  <a:pt x="169" y="19"/>
                </a:lnTo>
                <a:lnTo>
                  <a:pt x="144" y="25"/>
                </a:lnTo>
                <a:lnTo>
                  <a:pt x="120" y="31"/>
                </a:lnTo>
                <a:lnTo>
                  <a:pt x="98" y="40"/>
                </a:lnTo>
                <a:lnTo>
                  <a:pt x="77" y="48"/>
                </a:lnTo>
                <a:lnTo>
                  <a:pt x="60" y="58"/>
                </a:lnTo>
                <a:lnTo>
                  <a:pt x="44" y="69"/>
                </a:lnTo>
                <a:lnTo>
                  <a:pt x="31" y="79"/>
                </a:lnTo>
                <a:lnTo>
                  <a:pt x="19" y="88"/>
                </a:lnTo>
                <a:lnTo>
                  <a:pt x="10" y="100"/>
                </a:lnTo>
                <a:lnTo>
                  <a:pt x="3" y="113"/>
                </a:lnTo>
                <a:lnTo>
                  <a:pt x="1" y="123"/>
                </a:lnTo>
                <a:lnTo>
                  <a:pt x="0" y="1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Freeform 22">
            <a:extLst>
              <a:ext uri="{FF2B5EF4-FFF2-40B4-BE49-F238E27FC236}">
                <a16:creationId xmlns:a16="http://schemas.microsoft.com/office/drawing/2014/main" id="{CAB83272-8667-E745-9C67-3021F9771F75}"/>
              </a:ext>
            </a:extLst>
          </p:cNvPr>
          <p:cNvSpPr>
            <a:spLocks/>
          </p:cNvSpPr>
          <p:nvPr/>
        </p:nvSpPr>
        <p:spPr bwMode="auto">
          <a:xfrm>
            <a:off x="2271712" y="4446695"/>
            <a:ext cx="1284288" cy="431800"/>
          </a:xfrm>
          <a:custGeom>
            <a:avLst/>
            <a:gdLst>
              <a:gd name="T0" fmla="*/ 1282700 w 809"/>
              <a:gd name="T1" fmla="*/ 430213 h 272"/>
              <a:gd name="T2" fmla="*/ 1282700 w 809"/>
              <a:gd name="T3" fmla="*/ 0 h 272"/>
              <a:gd name="T4" fmla="*/ 0 w 809"/>
              <a:gd name="T5" fmla="*/ 0 h 272"/>
              <a:gd name="T6" fmla="*/ 0 w 809"/>
              <a:gd name="T7" fmla="*/ 430213 h 272"/>
              <a:gd name="T8" fmla="*/ 1282700 w 809"/>
              <a:gd name="T9" fmla="*/ 430213 h 2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9" h="272">
                <a:moveTo>
                  <a:pt x="808" y="271"/>
                </a:moveTo>
                <a:lnTo>
                  <a:pt x="808" y="0"/>
                </a:lnTo>
                <a:lnTo>
                  <a:pt x="0" y="0"/>
                </a:lnTo>
                <a:lnTo>
                  <a:pt x="0" y="271"/>
                </a:lnTo>
                <a:lnTo>
                  <a:pt x="808" y="27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Freeform 23">
            <a:extLst>
              <a:ext uri="{FF2B5EF4-FFF2-40B4-BE49-F238E27FC236}">
                <a16:creationId xmlns:a16="http://schemas.microsoft.com/office/drawing/2014/main" id="{62049F22-863A-344B-BF5D-B0AD7A5B66A3}"/>
              </a:ext>
            </a:extLst>
          </p:cNvPr>
          <p:cNvSpPr>
            <a:spLocks/>
          </p:cNvSpPr>
          <p:nvPr/>
        </p:nvSpPr>
        <p:spPr bwMode="auto">
          <a:xfrm>
            <a:off x="4114800" y="4446695"/>
            <a:ext cx="1413188" cy="414338"/>
          </a:xfrm>
          <a:custGeom>
            <a:avLst/>
            <a:gdLst>
              <a:gd name="T0" fmla="*/ 1444625 w 911"/>
              <a:gd name="T1" fmla="*/ 412750 h 261"/>
              <a:gd name="T2" fmla="*/ 1444625 w 911"/>
              <a:gd name="T3" fmla="*/ 0 h 261"/>
              <a:gd name="T4" fmla="*/ 0 w 911"/>
              <a:gd name="T5" fmla="*/ 0 h 261"/>
              <a:gd name="T6" fmla="*/ 0 w 911"/>
              <a:gd name="T7" fmla="*/ 412750 h 261"/>
              <a:gd name="T8" fmla="*/ 1444625 w 911"/>
              <a:gd name="T9" fmla="*/ 412750 h 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1" h="261">
                <a:moveTo>
                  <a:pt x="910" y="260"/>
                </a:moveTo>
                <a:lnTo>
                  <a:pt x="910" y="0"/>
                </a:lnTo>
                <a:lnTo>
                  <a:pt x="0" y="0"/>
                </a:lnTo>
                <a:lnTo>
                  <a:pt x="0" y="260"/>
                </a:lnTo>
                <a:lnTo>
                  <a:pt x="910" y="26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Freeform 24">
            <a:extLst>
              <a:ext uri="{FF2B5EF4-FFF2-40B4-BE49-F238E27FC236}">
                <a16:creationId xmlns:a16="http://schemas.microsoft.com/office/drawing/2014/main" id="{8379F177-3187-6F48-8A46-8CEE6D07702A}"/>
              </a:ext>
            </a:extLst>
          </p:cNvPr>
          <p:cNvSpPr>
            <a:spLocks/>
          </p:cNvSpPr>
          <p:nvPr/>
        </p:nvSpPr>
        <p:spPr bwMode="auto">
          <a:xfrm>
            <a:off x="3513138" y="3433870"/>
            <a:ext cx="722313" cy="484188"/>
          </a:xfrm>
          <a:custGeom>
            <a:avLst/>
            <a:gdLst>
              <a:gd name="T0" fmla="*/ 358775 w 455"/>
              <a:gd name="T1" fmla="*/ 0 h 305"/>
              <a:gd name="T2" fmla="*/ 720725 w 455"/>
              <a:gd name="T3" fmla="*/ 482600 h 305"/>
              <a:gd name="T4" fmla="*/ 0 w 455"/>
              <a:gd name="T5" fmla="*/ 482600 h 305"/>
              <a:gd name="T6" fmla="*/ 358775 w 455"/>
              <a:gd name="T7" fmla="*/ 0 h 30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55" h="305">
                <a:moveTo>
                  <a:pt x="226" y="0"/>
                </a:moveTo>
                <a:lnTo>
                  <a:pt x="454" y="304"/>
                </a:lnTo>
                <a:lnTo>
                  <a:pt x="0" y="304"/>
                </a:lnTo>
                <a:lnTo>
                  <a:pt x="226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Rectangle 25">
            <a:extLst>
              <a:ext uri="{FF2B5EF4-FFF2-40B4-BE49-F238E27FC236}">
                <a16:creationId xmlns:a16="http://schemas.microsoft.com/office/drawing/2014/main" id="{A3C8337C-AC7A-974B-9BD0-D32F4268A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59" y="3596972"/>
            <a:ext cx="48250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Arial" charset="0"/>
                <a:ea typeface="ＭＳ Ｐゴシック" charset="0"/>
              </a:rPr>
              <a:t>ISA</a:t>
            </a:r>
          </a:p>
        </p:txBody>
      </p:sp>
      <p:sp>
        <p:nvSpPr>
          <p:cNvPr id="46" name="Rectangle 26">
            <a:extLst>
              <a:ext uri="{FF2B5EF4-FFF2-40B4-BE49-F238E27FC236}">
                <a16:creationId xmlns:a16="http://schemas.microsoft.com/office/drawing/2014/main" id="{0131248A-50B1-9D40-8909-BAC795FEC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07" y="4501258"/>
            <a:ext cx="116698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Hourly_Inst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96C2EB7F-0C20-AD4F-ABF2-5F4B2B895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155" y="3802312"/>
            <a:ext cx="721352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Salary</a:t>
            </a:r>
          </a:p>
        </p:txBody>
      </p:sp>
      <p:sp>
        <p:nvSpPr>
          <p:cNvPr id="48" name="Line 29">
            <a:extLst>
              <a:ext uri="{FF2B5EF4-FFF2-40B4-BE49-F238E27FC236}">
                <a16:creationId xmlns:a16="http://schemas.microsoft.com/office/drawing/2014/main" id="{C93E8D02-6414-A741-A7B0-6C8D345760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7350" y="3902184"/>
            <a:ext cx="774700" cy="5349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9" name="Line 30">
            <a:extLst>
              <a:ext uri="{FF2B5EF4-FFF2-40B4-BE49-F238E27FC236}">
                <a16:creationId xmlns:a16="http://schemas.microsoft.com/office/drawing/2014/main" id="{215DEB14-0B06-8544-B6FE-E157A6BA2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3902184"/>
            <a:ext cx="785812" cy="5349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0" name="Line 31">
            <a:extLst>
              <a:ext uri="{FF2B5EF4-FFF2-40B4-BE49-F238E27FC236}">
                <a16:creationId xmlns:a16="http://schemas.microsoft.com/office/drawing/2014/main" id="{6832A348-E272-CD4B-9708-09109D084E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1250" y="4158595"/>
            <a:ext cx="24124" cy="2928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1" name="Line 35">
            <a:extLst>
              <a:ext uri="{FF2B5EF4-FFF2-40B4-BE49-F238E27FC236}">
                <a16:creationId xmlns:a16="http://schemas.microsoft.com/office/drawing/2014/main" id="{499DF0CC-FD0C-1D40-AE07-DD7D5134D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2" y="3148120"/>
            <a:ext cx="0" cy="3175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2" name="Freeform 17">
            <a:extLst>
              <a:ext uri="{FF2B5EF4-FFF2-40B4-BE49-F238E27FC236}">
                <a16:creationId xmlns:a16="http://schemas.microsoft.com/office/drawing/2014/main" id="{C4D52C24-DA81-0F48-AACF-F39AD9EBAAAA}"/>
              </a:ext>
            </a:extLst>
          </p:cNvPr>
          <p:cNvSpPr>
            <a:spLocks/>
          </p:cNvSpPr>
          <p:nvPr/>
        </p:nvSpPr>
        <p:spPr bwMode="auto">
          <a:xfrm>
            <a:off x="1615604" y="2945704"/>
            <a:ext cx="1417638" cy="468313"/>
          </a:xfrm>
          <a:custGeom>
            <a:avLst/>
            <a:gdLst>
              <a:gd name="T0" fmla="*/ 0 w 893"/>
              <a:gd name="T1" fmla="*/ 252413 h 295"/>
              <a:gd name="T2" fmla="*/ 22225 w 893"/>
              <a:gd name="T3" fmla="*/ 292100 h 295"/>
              <a:gd name="T4" fmla="*/ 65088 w 893"/>
              <a:gd name="T5" fmla="*/ 330200 h 295"/>
              <a:gd name="T6" fmla="*/ 127000 w 893"/>
              <a:gd name="T7" fmla="*/ 363538 h 295"/>
              <a:gd name="T8" fmla="*/ 204788 w 893"/>
              <a:gd name="T9" fmla="*/ 398463 h 295"/>
              <a:gd name="T10" fmla="*/ 300038 w 893"/>
              <a:gd name="T11" fmla="*/ 420688 h 295"/>
              <a:gd name="T12" fmla="*/ 407988 w 893"/>
              <a:gd name="T13" fmla="*/ 444500 h 295"/>
              <a:gd name="T14" fmla="*/ 522288 w 893"/>
              <a:gd name="T15" fmla="*/ 457200 h 295"/>
              <a:gd name="T16" fmla="*/ 646113 w 893"/>
              <a:gd name="T17" fmla="*/ 463550 h 295"/>
              <a:gd name="T18" fmla="*/ 768350 w 893"/>
              <a:gd name="T19" fmla="*/ 463550 h 295"/>
              <a:gd name="T20" fmla="*/ 892175 w 893"/>
              <a:gd name="T21" fmla="*/ 457200 h 295"/>
              <a:gd name="T22" fmla="*/ 1006475 w 893"/>
              <a:gd name="T23" fmla="*/ 441325 h 295"/>
              <a:gd name="T24" fmla="*/ 1114425 w 893"/>
              <a:gd name="T25" fmla="*/ 420688 h 295"/>
              <a:gd name="T26" fmla="*/ 1208088 w 893"/>
              <a:gd name="T27" fmla="*/ 396875 h 295"/>
              <a:gd name="T28" fmla="*/ 1287463 w 893"/>
              <a:gd name="T29" fmla="*/ 363538 h 295"/>
              <a:gd name="T30" fmla="*/ 1349375 w 893"/>
              <a:gd name="T31" fmla="*/ 330200 h 295"/>
              <a:gd name="T32" fmla="*/ 1392238 w 893"/>
              <a:gd name="T33" fmla="*/ 292100 h 295"/>
              <a:gd name="T34" fmla="*/ 1412875 w 893"/>
              <a:gd name="T35" fmla="*/ 252413 h 295"/>
              <a:gd name="T36" fmla="*/ 1412875 w 893"/>
              <a:gd name="T37" fmla="*/ 212725 h 295"/>
              <a:gd name="T38" fmla="*/ 1392238 w 893"/>
              <a:gd name="T39" fmla="*/ 173038 h 295"/>
              <a:gd name="T40" fmla="*/ 1349375 w 893"/>
              <a:gd name="T41" fmla="*/ 133350 h 295"/>
              <a:gd name="T42" fmla="*/ 1287463 w 893"/>
              <a:gd name="T43" fmla="*/ 96838 h 295"/>
              <a:gd name="T44" fmla="*/ 1208088 w 893"/>
              <a:gd name="T45" fmla="*/ 66675 h 295"/>
              <a:gd name="T46" fmla="*/ 1112838 w 893"/>
              <a:gd name="T47" fmla="*/ 39688 h 295"/>
              <a:gd name="T48" fmla="*/ 1006475 w 893"/>
              <a:gd name="T49" fmla="*/ 20638 h 295"/>
              <a:gd name="T50" fmla="*/ 889000 w 893"/>
              <a:gd name="T51" fmla="*/ 6350 h 295"/>
              <a:gd name="T52" fmla="*/ 768350 w 893"/>
              <a:gd name="T53" fmla="*/ 0 h 295"/>
              <a:gd name="T54" fmla="*/ 646113 w 893"/>
              <a:gd name="T55" fmla="*/ 0 h 295"/>
              <a:gd name="T56" fmla="*/ 522288 w 893"/>
              <a:gd name="T57" fmla="*/ 6350 h 295"/>
              <a:gd name="T58" fmla="*/ 407988 w 893"/>
              <a:gd name="T59" fmla="*/ 20638 h 295"/>
              <a:gd name="T60" fmla="*/ 300038 w 893"/>
              <a:gd name="T61" fmla="*/ 39688 h 295"/>
              <a:gd name="T62" fmla="*/ 204788 w 893"/>
              <a:gd name="T63" fmla="*/ 66675 h 295"/>
              <a:gd name="T64" fmla="*/ 127000 w 893"/>
              <a:gd name="T65" fmla="*/ 96838 h 295"/>
              <a:gd name="T66" fmla="*/ 65088 w 893"/>
              <a:gd name="T67" fmla="*/ 133350 h 295"/>
              <a:gd name="T68" fmla="*/ 22225 w 893"/>
              <a:gd name="T69" fmla="*/ 173038 h 295"/>
              <a:gd name="T70" fmla="*/ 0 w 893"/>
              <a:gd name="T71" fmla="*/ 212725 h 2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93" h="295">
                <a:moveTo>
                  <a:pt x="0" y="146"/>
                </a:moveTo>
                <a:lnTo>
                  <a:pt x="0" y="159"/>
                </a:lnTo>
                <a:lnTo>
                  <a:pt x="4" y="172"/>
                </a:lnTo>
                <a:lnTo>
                  <a:pt x="14" y="184"/>
                </a:lnTo>
                <a:lnTo>
                  <a:pt x="26" y="197"/>
                </a:lnTo>
                <a:lnTo>
                  <a:pt x="41" y="208"/>
                </a:lnTo>
                <a:lnTo>
                  <a:pt x="58" y="219"/>
                </a:lnTo>
                <a:lnTo>
                  <a:pt x="80" y="229"/>
                </a:lnTo>
                <a:lnTo>
                  <a:pt x="102" y="241"/>
                </a:lnTo>
                <a:lnTo>
                  <a:pt x="129" y="251"/>
                </a:lnTo>
                <a:lnTo>
                  <a:pt x="159" y="259"/>
                </a:lnTo>
                <a:lnTo>
                  <a:pt x="189" y="265"/>
                </a:lnTo>
                <a:lnTo>
                  <a:pt x="222" y="272"/>
                </a:lnTo>
                <a:lnTo>
                  <a:pt x="257" y="280"/>
                </a:lnTo>
                <a:lnTo>
                  <a:pt x="292" y="283"/>
                </a:lnTo>
                <a:lnTo>
                  <a:pt x="329" y="288"/>
                </a:lnTo>
                <a:lnTo>
                  <a:pt x="369" y="290"/>
                </a:lnTo>
                <a:lnTo>
                  <a:pt x="407" y="292"/>
                </a:lnTo>
                <a:lnTo>
                  <a:pt x="445" y="294"/>
                </a:lnTo>
                <a:lnTo>
                  <a:pt x="484" y="292"/>
                </a:lnTo>
                <a:lnTo>
                  <a:pt x="522" y="290"/>
                </a:lnTo>
                <a:lnTo>
                  <a:pt x="562" y="288"/>
                </a:lnTo>
                <a:lnTo>
                  <a:pt x="599" y="283"/>
                </a:lnTo>
                <a:lnTo>
                  <a:pt x="634" y="278"/>
                </a:lnTo>
                <a:lnTo>
                  <a:pt x="669" y="272"/>
                </a:lnTo>
                <a:lnTo>
                  <a:pt x="702" y="265"/>
                </a:lnTo>
                <a:lnTo>
                  <a:pt x="732" y="259"/>
                </a:lnTo>
                <a:lnTo>
                  <a:pt x="761" y="250"/>
                </a:lnTo>
                <a:lnTo>
                  <a:pt x="788" y="241"/>
                </a:lnTo>
                <a:lnTo>
                  <a:pt x="811" y="229"/>
                </a:lnTo>
                <a:lnTo>
                  <a:pt x="833" y="219"/>
                </a:lnTo>
                <a:lnTo>
                  <a:pt x="850" y="208"/>
                </a:lnTo>
                <a:lnTo>
                  <a:pt x="866" y="197"/>
                </a:lnTo>
                <a:lnTo>
                  <a:pt x="877" y="184"/>
                </a:lnTo>
                <a:lnTo>
                  <a:pt x="884" y="171"/>
                </a:lnTo>
                <a:lnTo>
                  <a:pt x="890" y="159"/>
                </a:lnTo>
                <a:lnTo>
                  <a:pt x="892" y="146"/>
                </a:lnTo>
                <a:lnTo>
                  <a:pt x="890" y="134"/>
                </a:lnTo>
                <a:lnTo>
                  <a:pt x="884" y="121"/>
                </a:lnTo>
                <a:lnTo>
                  <a:pt x="877" y="109"/>
                </a:lnTo>
                <a:lnTo>
                  <a:pt x="865" y="96"/>
                </a:lnTo>
                <a:lnTo>
                  <a:pt x="850" y="84"/>
                </a:lnTo>
                <a:lnTo>
                  <a:pt x="833" y="73"/>
                </a:lnTo>
                <a:lnTo>
                  <a:pt x="811" y="61"/>
                </a:lnTo>
                <a:lnTo>
                  <a:pt x="788" y="51"/>
                </a:lnTo>
                <a:lnTo>
                  <a:pt x="761" y="42"/>
                </a:lnTo>
                <a:lnTo>
                  <a:pt x="732" y="32"/>
                </a:lnTo>
                <a:lnTo>
                  <a:pt x="701" y="25"/>
                </a:lnTo>
                <a:lnTo>
                  <a:pt x="669" y="19"/>
                </a:lnTo>
                <a:lnTo>
                  <a:pt x="634" y="13"/>
                </a:lnTo>
                <a:lnTo>
                  <a:pt x="599" y="7"/>
                </a:lnTo>
                <a:lnTo>
                  <a:pt x="560" y="4"/>
                </a:lnTo>
                <a:lnTo>
                  <a:pt x="522" y="1"/>
                </a:lnTo>
                <a:lnTo>
                  <a:pt x="484" y="0"/>
                </a:lnTo>
                <a:lnTo>
                  <a:pt x="445" y="0"/>
                </a:lnTo>
                <a:lnTo>
                  <a:pt x="407" y="0"/>
                </a:lnTo>
                <a:lnTo>
                  <a:pt x="369" y="1"/>
                </a:lnTo>
                <a:lnTo>
                  <a:pt x="329" y="4"/>
                </a:lnTo>
                <a:lnTo>
                  <a:pt x="292" y="7"/>
                </a:lnTo>
                <a:lnTo>
                  <a:pt x="257" y="13"/>
                </a:lnTo>
                <a:lnTo>
                  <a:pt x="222" y="19"/>
                </a:lnTo>
                <a:lnTo>
                  <a:pt x="189" y="25"/>
                </a:lnTo>
                <a:lnTo>
                  <a:pt x="159" y="33"/>
                </a:lnTo>
                <a:lnTo>
                  <a:pt x="129" y="42"/>
                </a:lnTo>
                <a:lnTo>
                  <a:pt x="102" y="51"/>
                </a:lnTo>
                <a:lnTo>
                  <a:pt x="80" y="61"/>
                </a:lnTo>
                <a:lnTo>
                  <a:pt x="58" y="73"/>
                </a:lnTo>
                <a:lnTo>
                  <a:pt x="41" y="84"/>
                </a:lnTo>
                <a:lnTo>
                  <a:pt x="26" y="96"/>
                </a:lnTo>
                <a:lnTo>
                  <a:pt x="14" y="109"/>
                </a:lnTo>
                <a:lnTo>
                  <a:pt x="4" y="121"/>
                </a:lnTo>
                <a:lnTo>
                  <a:pt x="0" y="134"/>
                </a:lnTo>
                <a:lnTo>
                  <a:pt x="0" y="14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Rectangle 18">
            <a:extLst>
              <a:ext uri="{FF2B5EF4-FFF2-40B4-BE49-F238E27FC236}">
                <a16:creationId xmlns:a16="http://schemas.microsoft.com/office/drawing/2014/main" id="{11618CD3-B095-454A-9D50-9F589EC6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377" y="3027254"/>
            <a:ext cx="142667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Hours_worked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4" name="Line 19">
            <a:extLst>
              <a:ext uri="{FF2B5EF4-FFF2-40B4-BE49-F238E27FC236}">
                <a16:creationId xmlns:a16="http://schemas.microsoft.com/office/drawing/2014/main" id="{4351FF37-A09D-4041-BF5D-E6A187958C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4821" y="3421953"/>
            <a:ext cx="198603" cy="102474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5" name="Freeform 8">
            <a:extLst>
              <a:ext uri="{FF2B5EF4-FFF2-40B4-BE49-F238E27FC236}">
                <a16:creationId xmlns:a16="http://schemas.microsoft.com/office/drawing/2014/main" id="{0FAEE07C-F7C9-EB4A-B9A1-AACF4D2E0DD1}"/>
              </a:ext>
            </a:extLst>
          </p:cNvPr>
          <p:cNvSpPr>
            <a:spLocks/>
          </p:cNvSpPr>
          <p:nvPr/>
        </p:nvSpPr>
        <p:spPr bwMode="auto">
          <a:xfrm>
            <a:off x="4450515" y="1838435"/>
            <a:ext cx="1054100" cy="390525"/>
          </a:xfrm>
          <a:custGeom>
            <a:avLst/>
            <a:gdLst>
              <a:gd name="T0" fmla="*/ 1049338 w 664"/>
              <a:gd name="T1" fmla="*/ 176213 h 246"/>
              <a:gd name="T2" fmla="*/ 1033463 w 664"/>
              <a:gd name="T3" fmla="*/ 142875 h 246"/>
              <a:gd name="T4" fmla="*/ 1003300 w 664"/>
              <a:gd name="T5" fmla="*/ 111125 h 246"/>
              <a:gd name="T6" fmla="*/ 957263 w 664"/>
              <a:gd name="T7" fmla="*/ 80963 h 246"/>
              <a:gd name="T8" fmla="*/ 898525 w 664"/>
              <a:gd name="T9" fmla="*/ 55563 h 246"/>
              <a:gd name="T10" fmla="*/ 827088 w 664"/>
              <a:gd name="T11" fmla="*/ 33338 h 246"/>
              <a:gd name="T12" fmla="*/ 747713 w 664"/>
              <a:gd name="T13" fmla="*/ 17463 h 246"/>
              <a:gd name="T14" fmla="*/ 660400 w 664"/>
              <a:gd name="T15" fmla="*/ 6350 h 246"/>
              <a:gd name="T16" fmla="*/ 573088 w 664"/>
              <a:gd name="T17" fmla="*/ 0 h 246"/>
              <a:gd name="T18" fmla="*/ 481013 w 664"/>
              <a:gd name="T19" fmla="*/ 0 h 246"/>
              <a:gd name="T20" fmla="*/ 390525 w 664"/>
              <a:gd name="T21" fmla="*/ 6350 h 246"/>
              <a:gd name="T22" fmla="*/ 303213 w 664"/>
              <a:gd name="T23" fmla="*/ 17463 h 246"/>
              <a:gd name="T24" fmla="*/ 223838 w 664"/>
              <a:gd name="T25" fmla="*/ 33338 h 246"/>
              <a:gd name="T26" fmla="*/ 152400 w 664"/>
              <a:gd name="T27" fmla="*/ 55563 h 246"/>
              <a:gd name="T28" fmla="*/ 93663 w 664"/>
              <a:gd name="T29" fmla="*/ 80963 h 246"/>
              <a:gd name="T30" fmla="*/ 49213 w 664"/>
              <a:gd name="T31" fmla="*/ 111125 h 246"/>
              <a:gd name="T32" fmla="*/ 17463 w 664"/>
              <a:gd name="T33" fmla="*/ 142875 h 246"/>
              <a:gd name="T34" fmla="*/ 1588 w 664"/>
              <a:gd name="T35" fmla="*/ 176213 h 246"/>
              <a:gd name="T36" fmla="*/ 1588 w 664"/>
              <a:gd name="T37" fmla="*/ 211138 h 246"/>
              <a:gd name="T38" fmla="*/ 17463 w 664"/>
              <a:gd name="T39" fmla="*/ 244475 h 246"/>
              <a:gd name="T40" fmla="*/ 49213 w 664"/>
              <a:gd name="T41" fmla="*/ 274638 h 246"/>
              <a:gd name="T42" fmla="*/ 93663 w 664"/>
              <a:gd name="T43" fmla="*/ 304800 h 246"/>
              <a:gd name="T44" fmla="*/ 152400 w 664"/>
              <a:gd name="T45" fmla="*/ 331788 h 246"/>
              <a:gd name="T46" fmla="*/ 223838 w 664"/>
              <a:gd name="T47" fmla="*/ 350838 h 246"/>
              <a:gd name="T48" fmla="*/ 303213 w 664"/>
              <a:gd name="T49" fmla="*/ 369888 h 246"/>
              <a:gd name="T50" fmla="*/ 390525 w 664"/>
              <a:gd name="T51" fmla="*/ 381000 h 246"/>
              <a:gd name="T52" fmla="*/ 481013 w 664"/>
              <a:gd name="T53" fmla="*/ 385763 h 246"/>
              <a:gd name="T54" fmla="*/ 573088 w 664"/>
              <a:gd name="T55" fmla="*/ 385763 h 246"/>
              <a:gd name="T56" fmla="*/ 660400 w 664"/>
              <a:gd name="T57" fmla="*/ 381000 h 246"/>
              <a:gd name="T58" fmla="*/ 747713 w 664"/>
              <a:gd name="T59" fmla="*/ 369888 h 246"/>
              <a:gd name="T60" fmla="*/ 827088 w 664"/>
              <a:gd name="T61" fmla="*/ 350838 h 246"/>
              <a:gd name="T62" fmla="*/ 898525 w 664"/>
              <a:gd name="T63" fmla="*/ 331788 h 246"/>
              <a:gd name="T64" fmla="*/ 957263 w 664"/>
              <a:gd name="T65" fmla="*/ 304800 h 246"/>
              <a:gd name="T66" fmla="*/ 1003300 w 664"/>
              <a:gd name="T67" fmla="*/ 274638 h 246"/>
              <a:gd name="T68" fmla="*/ 1033463 w 664"/>
              <a:gd name="T69" fmla="*/ 244475 h 246"/>
              <a:gd name="T70" fmla="*/ 1049338 w 664"/>
              <a:gd name="T71" fmla="*/ 211138 h 24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64" h="246">
                <a:moveTo>
                  <a:pt x="663" y="121"/>
                </a:moveTo>
                <a:lnTo>
                  <a:pt x="661" y="111"/>
                </a:lnTo>
                <a:lnTo>
                  <a:pt x="657" y="101"/>
                </a:lnTo>
                <a:lnTo>
                  <a:pt x="651" y="90"/>
                </a:lnTo>
                <a:lnTo>
                  <a:pt x="643" y="80"/>
                </a:lnTo>
                <a:lnTo>
                  <a:pt x="632" y="70"/>
                </a:lnTo>
                <a:lnTo>
                  <a:pt x="618" y="60"/>
                </a:lnTo>
                <a:lnTo>
                  <a:pt x="603" y="51"/>
                </a:lnTo>
                <a:lnTo>
                  <a:pt x="586" y="43"/>
                </a:lnTo>
                <a:lnTo>
                  <a:pt x="566" y="35"/>
                </a:lnTo>
                <a:lnTo>
                  <a:pt x="545" y="28"/>
                </a:lnTo>
                <a:lnTo>
                  <a:pt x="521" y="21"/>
                </a:lnTo>
                <a:lnTo>
                  <a:pt x="497" y="16"/>
                </a:lnTo>
                <a:lnTo>
                  <a:pt x="471" y="11"/>
                </a:lnTo>
                <a:lnTo>
                  <a:pt x="444" y="6"/>
                </a:lnTo>
                <a:lnTo>
                  <a:pt x="416" y="4"/>
                </a:lnTo>
                <a:lnTo>
                  <a:pt x="389" y="2"/>
                </a:lnTo>
                <a:lnTo>
                  <a:pt x="361" y="0"/>
                </a:lnTo>
                <a:lnTo>
                  <a:pt x="330" y="0"/>
                </a:lnTo>
                <a:lnTo>
                  <a:pt x="303" y="0"/>
                </a:lnTo>
                <a:lnTo>
                  <a:pt x="273" y="2"/>
                </a:lnTo>
                <a:lnTo>
                  <a:pt x="246" y="4"/>
                </a:lnTo>
                <a:lnTo>
                  <a:pt x="218" y="6"/>
                </a:lnTo>
                <a:lnTo>
                  <a:pt x="191" y="11"/>
                </a:lnTo>
                <a:lnTo>
                  <a:pt x="165" y="16"/>
                </a:lnTo>
                <a:lnTo>
                  <a:pt x="141" y="21"/>
                </a:lnTo>
                <a:lnTo>
                  <a:pt x="119" y="28"/>
                </a:lnTo>
                <a:lnTo>
                  <a:pt x="96" y="35"/>
                </a:lnTo>
                <a:lnTo>
                  <a:pt x="78" y="43"/>
                </a:lnTo>
                <a:lnTo>
                  <a:pt x="59" y="51"/>
                </a:lnTo>
                <a:lnTo>
                  <a:pt x="44" y="60"/>
                </a:lnTo>
                <a:lnTo>
                  <a:pt x="31" y="70"/>
                </a:lnTo>
                <a:lnTo>
                  <a:pt x="19" y="80"/>
                </a:lnTo>
                <a:lnTo>
                  <a:pt x="11" y="90"/>
                </a:lnTo>
                <a:lnTo>
                  <a:pt x="5" y="101"/>
                </a:lnTo>
                <a:lnTo>
                  <a:pt x="1" y="111"/>
                </a:lnTo>
                <a:lnTo>
                  <a:pt x="0" y="121"/>
                </a:lnTo>
                <a:lnTo>
                  <a:pt x="1" y="133"/>
                </a:lnTo>
                <a:lnTo>
                  <a:pt x="5" y="143"/>
                </a:lnTo>
                <a:lnTo>
                  <a:pt x="11" y="154"/>
                </a:lnTo>
                <a:lnTo>
                  <a:pt x="19" y="164"/>
                </a:lnTo>
                <a:lnTo>
                  <a:pt x="31" y="173"/>
                </a:lnTo>
                <a:lnTo>
                  <a:pt x="44" y="182"/>
                </a:lnTo>
                <a:lnTo>
                  <a:pt x="59" y="192"/>
                </a:lnTo>
                <a:lnTo>
                  <a:pt x="78" y="201"/>
                </a:lnTo>
                <a:lnTo>
                  <a:pt x="96" y="209"/>
                </a:lnTo>
                <a:lnTo>
                  <a:pt x="119" y="216"/>
                </a:lnTo>
                <a:lnTo>
                  <a:pt x="141" y="221"/>
                </a:lnTo>
                <a:lnTo>
                  <a:pt x="165" y="227"/>
                </a:lnTo>
                <a:lnTo>
                  <a:pt x="191" y="233"/>
                </a:lnTo>
                <a:lnTo>
                  <a:pt x="218" y="236"/>
                </a:lnTo>
                <a:lnTo>
                  <a:pt x="246" y="240"/>
                </a:lnTo>
                <a:lnTo>
                  <a:pt x="273" y="242"/>
                </a:lnTo>
                <a:lnTo>
                  <a:pt x="303" y="243"/>
                </a:lnTo>
                <a:lnTo>
                  <a:pt x="330" y="245"/>
                </a:lnTo>
                <a:lnTo>
                  <a:pt x="361" y="243"/>
                </a:lnTo>
                <a:lnTo>
                  <a:pt x="389" y="242"/>
                </a:lnTo>
                <a:lnTo>
                  <a:pt x="416" y="240"/>
                </a:lnTo>
                <a:lnTo>
                  <a:pt x="444" y="236"/>
                </a:lnTo>
                <a:lnTo>
                  <a:pt x="471" y="233"/>
                </a:lnTo>
                <a:lnTo>
                  <a:pt x="497" y="227"/>
                </a:lnTo>
                <a:lnTo>
                  <a:pt x="521" y="221"/>
                </a:lnTo>
                <a:lnTo>
                  <a:pt x="545" y="216"/>
                </a:lnTo>
                <a:lnTo>
                  <a:pt x="566" y="209"/>
                </a:lnTo>
                <a:lnTo>
                  <a:pt x="586" y="201"/>
                </a:lnTo>
                <a:lnTo>
                  <a:pt x="603" y="192"/>
                </a:lnTo>
                <a:lnTo>
                  <a:pt x="618" y="182"/>
                </a:lnTo>
                <a:lnTo>
                  <a:pt x="632" y="173"/>
                </a:lnTo>
                <a:lnTo>
                  <a:pt x="643" y="164"/>
                </a:lnTo>
                <a:lnTo>
                  <a:pt x="651" y="154"/>
                </a:lnTo>
                <a:lnTo>
                  <a:pt x="657" y="143"/>
                </a:lnTo>
                <a:lnTo>
                  <a:pt x="661" y="133"/>
                </a:lnTo>
                <a:lnTo>
                  <a:pt x="663" y="1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89B6E036-AEC6-A74A-921E-4C3F04F04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2084" y="1873466"/>
            <a:ext cx="114775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dept_name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" name="Line 15">
            <a:extLst>
              <a:ext uri="{FF2B5EF4-FFF2-40B4-BE49-F238E27FC236}">
                <a16:creationId xmlns:a16="http://schemas.microsoft.com/office/drawing/2014/main" id="{049EA0EF-6317-8C40-B53A-0DDEABD04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8639" y="2246421"/>
            <a:ext cx="726238" cy="471486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D4992-8F0C-0EE9-695F-9C901379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818259"/>
      </p:ext>
    </p:extLst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D90FAB0-CF26-AB4E-9DDB-1A76D825A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574FE5C-EF0C-BE4E-9796-9D69E3011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8CC70F23-CF38-544C-9A06-0A633D456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ISA Hierarchy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9C9F72-6C88-9B42-8E9E-799A0CBA24B1}"/>
              </a:ext>
            </a:extLst>
          </p:cNvPr>
          <p:cNvSpPr/>
          <p:nvPr/>
        </p:nvSpPr>
        <p:spPr>
          <a:xfrm>
            <a:off x="5814178" y="2213084"/>
            <a:ext cx="6145600" cy="3160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C00000"/>
                </a:solidFill>
              </a:rPr>
              <a:t>Covering Constraints: </a:t>
            </a:r>
            <a:r>
              <a:rPr lang="en-GB" sz="2800" dirty="0"/>
              <a:t>instances of the children of an entity include all instances of their parent (i.e., cover it). 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2800" dirty="0" err="1"/>
              <a:t>Hourly_Inst</a:t>
            </a:r>
            <a:r>
              <a:rPr lang="en-GB" sz="2800" dirty="0"/>
              <a:t> and </a:t>
            </a:r>
            <a:r>
              <a:rPr lang="en-GB" sz="2800" dirty="0" err="1"/>
              <a:t>Contract_Inst</a:t>
            </a:r>
            <a:r>
              <a:rPr lang="en-GB" sz="2800" dirty="0"/>
              <a:t> cover all instances from the super class Instructor</a:t>
            </a:r>
            <a:endParaRPr lang="en-US" sz="2600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D8C7AF-0C8E-3B8C-AD51-7A5325711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11" y="4501258"/>
            <a:ext cx="133530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Contract_Inst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321024F1-084F-A85C-64F0-8DB6F82B4E45}"/>
              </a:ext>
            </a:extLst>
          </p:cNvPr>
          <p:cNvSpPr>
            <a:spLocks/>
          </p:cNvSpPr>
          <p:nvPr/>
        </p:nvSpPr>
        <p:spPr bwMode="auto">
          <a:xfrm>
            <a:off x="2319337" y="2106721"/>
            <a:ext cx="1055688" cy="390525"/>
          </a:xfrm>
          <a:custGeom>
            <a:avLst/>
            <a:gdLst>
              <a:gd name="T0" fmla="*/ 1050925 w 665"/>
              <a:gd name="T1" fmla="*/ 176213 h 246"/>
              <a:gd name="T2" fmla="*/ 1036638 w 665"/>
              <a:gd name="T3" fmla="*/ 142875 h 246"/>
              <a:gd name="T4" fmla="*/ 1004888 w 665"/>
              <a:gd name="T5" fmla="*/ 111125 h 246"/>
              <a:gd name="T6" fmla="*/ 958850 w 665"/>
              <a:gd name="T7" fmla="*/ 82550 h 246"/>
              <a:gd name="T8" fmla="*/ 900113 w 665"/>
              <a:gd name="T9" fmla="*/ 55563 h 246"/>
              <a:gd name="T10" fmla="*/ 828675 w 665"/>
              <a:gd name="T11" fmla="*/ 36513 h 246"/>
              <a:gd name="T12" fmla="*/ 750888 w 665"/>
              <a:gd name="T13" fmla="*/ 17463 h 246"/>
              <a:gd name="T14" fmla="*/ 663575 w 665"/>
              <a:gd name="T15" fmla="*/ 6350 h 246"/>
              <a:gd name="T16" fmla="*/ 573088 w 665"/>
              <a:gd name="T17" fmla="*/ 1588 h 246"/>
              <a:gd name="T18" fmla="*/ 481013 w 665"/>
              <a:gd name="T19" fmla="*/ 1588 h 246"/>
              <a:gd name="T20" fmla="*/ 390525 w 665"/>
              <a:gd name="T21" fmla="*/ 6350 h 246"/>
              <a:gd name="T22" fmla="*/ 304800 w 665"/>
              <a:gd name="T23" fmla="*/ 17463 h 246"/>
              <a:gd name="T24" fmla="*/ 223838 w 665"/>
              <a:gd name="T25" fmla="*/ 36513 h 246"/>
              <a:gd name="T26" fmla="*/ 155575 w 665"/>
              <a:gd name="T27" fmla="*/ 55563 h 246"/>
              <a:gd name="T28" fmla="*/ 95250 w 665"/>
              <a:gd name="T29" fmla="*/ 82550 h 246"/>
              <a:gd name="T30" fmla="*/ 49213 w 665"/>
              <a:gd name="T31" fmla="*/ 111125 h 246"/>
              <a:gd name="T32" fmla="*/ 17463 w 665"/>
              <a:gd name="T33" fmla="*/ 142875 h 246"/>
              <a:gd name="T34" fmla="*/ 1588 w 665"/>
              <a:gd name="T35" fmla="*/ 176213 h 246"/>
              <a:gd name="T36" fmla="*/ 1588 w 665"/>
              <a:gd name="T37" fmla="*/ 211138 h 246"/>
              <a:gd name="T38" fmla="*/ 17463 w 665"/>
              <a:gd name="T39" fmla="*/ 244475 h 246"/>
              <a:gd name="T40" fmla="*/ 49213 w 665"/>
              <a:gd name="T41" fmla="*/ 276225 h 246"/>
              <a:gd name="T42" fmla="*/ 95250 w 665"/>
              <a:gd name="T43" fmla="*/ 306388 h 246"/>
              <a:gd name="T44" fmla="*/ 155575 w 665"/>
              <a:gd name="T45" fmla="*/ 331788 h 246"/>
              <a:gd name="T46" fmla="*/ 223838 w 665"/>
              <a:gd name="T47" fmla="*/ 354013 h 246"/>
              <a:gd name="T48" fmla="*/ 304800 w 665"/>
              <a:gd name="T49" fmla="*/ 369888 h 246"/>
              <a:gd name="T50" fmla="*/ 390525 w 665"/>
              <a:gd name="T51" fmla="*/ 381000 h 246"/>
              <a:gd name="T52" fmla="*/ 481013 w 665"/>
              <a:gd name="T53" fmla="*/ 388938 h 246"/>
              <a:gd name="T54" fmla="*/ 573088 w 665"/>
              <a:gd name="T55" fmla="*/ 388938 h 246"/>
              <a:gd name="T56" fmla="*/ 663575 w 665"/>
              <a:gd name="T57" fmla="*/ 381000 h 246"/>
              <a:gd name="T58" fmla="*/ 750888 w 665"/>
              <a:gd name="T59" fmla="*/ 369888 h 246"/>
              <a:gd name="T60" fmla="*/ 828675 w 665"/>
              <a:gd name="T61" fmla="*/ 354013 h 246"/>
              <a:gd name="T62" fmla="*/ 900113 w 665"/>
              <a:gd name="T63" fmla="*/ 331788 h 246"/>
              <a:gd name="T64" fmla="*/ 958850 w 665"/>
              <a:gd name="T65" fmla="*/ 306388 h 246"/>
              <a:gd name="T66" fmla="*/ 1004888 w 665"/>
              <a:gd name="T67" fmla="*/ 276225 h 246"/>
              <a:gd name="T68" fmla="*/ 1036638 w 665"/>
              <a:gd name="T69" fmla="*/ 244475 h 246"/>
              <a:gd name="T70" fmla="*/ 1050925 w 665"/>
              <a:gd name="T71" fmla="*/ 211138 h 24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65" h="246">
                <a:moveTo>
                  <a:pt x="664" y="123"/>
                </a:moveTo>
                <a:lnTo>
                  <a:pt x="662" y="111"/>
                </a:lnTo>
                <a:lnTo>
                  <a:pt x="658" y="101"/>
                </a:lnTo>
                <a:lnTo>
                  <a:pt x="653" y="90"/>
                </a:lnTo>
                <a:lnTo>
                  <a:pt x="644" y="80"/>
                </a:lnTo>
                <a:lnTo>
                  <a:pt x="633" y="70"/>
                </a:lnTo>
                <a:lnTo>
                  <a:pt x="620" y="62"/>
                </a:lnTo>
                <a:lnTo>
                  <a:pt x="604" y="52"/>
                </a:lnTo>
                <a:lnTo>
                  <a:pt x="587" y="43"/>
                </a:lnTo>
                <a:lnTo>
                  <a:pt x="567" y="35"/>
                </a:lnTo>
                <a:lnTo>
                  <a:pt x="546" y="28"/>
                </a:lnTo>
                <a:lnTo>
                  <a:pt x="522" y="23"/>
                </a:lnTo>
                <a:lnTo>
                  <a:pt x="498" y="17"/>
                </a:lnTo>
                <a:lnTo>
                  <a:pt x="473" y="11"/>
                </a:lnTo>
                <a:lnTo>
                  <a:pt x="446" y="8"/>
                </a:lnTo>
                <a:lnTo>
                  <a:pt x="418" y="4"/>
                </a:lnTo>
                <a:lnTo>
                  <a:pt x="389" y="2"/>
                </a:lnTo>
                <a:lnTo>
                  <a:pt x="361" y="1"/>
                </a:lnTo>
                <a:lnTo>
                  <a:pt x="332" y="0"/>
                </a:lnTo>
                <a:lnTo>
                  <a:pt x="303" y="1"/>
                </a:lnTo>
                <a:lnTo>
                  <a:pt x="275" y="2"/>
                </a:lnTo>
                <a:lnTo>
                  <a:pt x="246" y="4"/>
                </a:lnTo>
                <a:lnTo>
                  <a:pt x="218" y="8"/>
                </a:lnTo>
                <a:lnTo>
                  <a:pt x="192" y="11"/>
                </a:lnTo>
                <a:lnTo>
                  <a:pt x="166" y="17"/>
                </a:lnTo>
                <a:lnTo>
                  <a:pt x="141" y="23"/>
                </a:lnTo>
                <a:lnTo>
                  <a:pt x="119" y="28"/>
                </a:lnTo>
                <a:lnTo>
                  <a:pt x="98" y="35"/>
                </a:lnTo>
                <a:lnTo>
                  <a:pt x="78" y="43"/>
                </a:lnTo>
                <a:lnTo>
                  <a:pt x="60" y="52"/>
                </a:lnTo>
                <a:lnTo>
                  <a:pt x="45" y="62"/>
                </a:lnTo>
                <a:lnTo>
                  <a:pt x="31" y="70"/>
                </a:lnTo>
                <a:lnTo>
                  <a:pt x="21" y="80"/>
                </a:lnTo>
                <a:lnTo>
                  <a:pt x="11" y="90"/>
                </a:lnTo>
                <a:lnTo>
                  <a:pt x="5" y="101"/>
                </a:lnTo>
                <a:lnTo>
                  <a:pt x="1" y="111"/>
                </a:lnTo>
                <a:lnTo>
                  <a:pt x="0" y="123"/>
                </a:lnTo>
                <a:lnTo>
                  <a:pt x="1" y="133"/>
                </a:lnTo>
                <a:lnTo>
                  <a:pt x="5" y="143"/>
                </a:lnTo>
                <a:lnTo>
                  <a:pt x="11" y="154"/>
                </a:lnTo>
                <a:lnTo>
                  <a:pt x="21" y="164"/>
                </a:lnTo>
                <a:lnTo>
                  <a:pt x="31" y="174"/>
                </a:lnTo>
                <a:lnTo>
                  <a:pt x="45" y="184"/>
                </a:lnTo>
                <a:lnTo>
                  <a:pt x="60" y="193"/>
                </a:lnTo>
                <a:lnTo>
                  <a:pt x="78" y="201"/>
                </a:lnTo>
                <a:lnTo>
                  <a:pt x="98" y="209"/>
                </a:lnTo>
                <a:lnTo>
                  <a:pt x="119" y="216"/>
                </a:lnTo>
                <a:lnTo>
                  <a:pt x="141" y="223"/>
                </a:lnTo>
                <a:lnTo>
                  <a:pt x="166" y="228"/>
                </a:lnTo>
                <a:lnTo>
                  <a:pt x="192" y="233"/>
                </a:lnTo>
                <a:lnTo>
                  <a:pt x="218" y="238"/>
                </a:lnTo>
                <a:lnTo>
                  <a:pt x="246" y="240"/>
                </a:lnTo>
                <a:lnTo>
                  <a:pt x="275" y="242"/>
                </a:lnTo>
                <a:lnTo>
                  <a:pt x="303" y="245"/>
                </a:lnTo>
                <a:lnTo>
                  <a:pt x="332" y="245"/>
                </a:lnTo>
                <a:lnTo>
                  <a:pt x="361" y="245"/>
                </a:lnTo>
                <a:lnTo>
                  <a:pt x="389" y="242"/>
                </a:lnTo>
                <a:lnTo>
                  <a:pt x="418" y="240"/>
                </a:lnTo>
                <a:lnTo>
                  <a:pt x="446" y="238"/>
                </a:lnTo>
                <a:lnTo>
                  <a:pt x="473" y="233"/>
                </a:lnTo>
                <a:lnTo>
                  <a:pt x="498" y="228"/>
                </a:lnTo>
                <a:lnTo>
                  <a:pt x="522" y="223"/>
                </a:lnTo>
                <a:lnTo>
                  <a:pt x="546" y="216"/>
                </a:lnTo>
                <a:lnTo>
                  <a:pt x="567" y="209"/>
                </a:lnTo>
                <a:lnTo>
                  <a:pt x="587" y="201"/>
                </a:lnTo>
                <a:lnTo>
                  <a:pt x="604" y="193"/>
                </a:lnTo>
                <a:lnTo>
                  <a:pt x="620" y="184"/>
                </a:lnTo>
                <a:lnTo>
                  <a:pt x="633" y="174"/>
                </a:lnTo>
                <a:lnTo>
                  <a:pt x="644" y="164"/>
                </a:lnTo>
                <a:lnTo>
                  <a:pt x="653" y="154"/>
                </a:lnTo>
                <a:lnTo>
                  <a:pt x="658" y="143"/>
                </a:lnTo>
                <a:lnTo>
                  <a:pt x="662" y="133"/>
                </a:lnTo>
                <a:lnTo>
                  <a:pt x="664" y="1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80AF7B6-B0F9-293F-A888-5C7E4ED2565B}"/>
              </a:ext>
            </a:extLst>
          </p:cNvPr>
          <p:cNvSpPr>
            <a:spLocks/>
          </p:cNvSpPr>
          <p:nvPr/>
        </p:nvSpPr>
        <p:spPr bwMode="auto">
          <a:xfrm>
            <a:off x="3270250" y="1822559"/>
            <a:ext cx="1054100" cy="390525"/>
          </a:xfrm>
          <a:custGeom>
            <a:avLst/>
            <a:gdLst>
              <a:gd name="T0" fmla="*/ 1049338 w 664"/>
              <a:gd name="T1" fmla="*/ 176213 h 246"/>
              <a:gd name="T2" fmla="*/ 1033463 w 664"/>
              <a:gd name="T3" fmla="*/ 142875 h 246"/>
              <a:gd name="T4" fmla="*/ 1003300 w 664"/>
              <a:gd name="T5" fmla="*/ 111125 h 246"/>
              <a:gd name="T6" fmla="*/ 957263 w 664"/>
              <a:gd name="T7" fmla="*/ 80963 h 246"/>
              <a:gd name="T8" fmla="*/ 898525 w 664"/>
              <a:gd name="T9" fmla="*/ 55563 h 246"/>
              <a:gd name="T10" fmla="*/ 827088 w 664"/>
              <a:gd name="T11" fmla="*/ 33338 h 246"/>
              <a:gd name="T12" fmla="*/ 747713 w 664"/>
              <a:gd name="T13" fmla="*/ 17463 h 246"/>
              <a:gd name="T14" fmla="*/ 660400 w 664"/>
              <a:gd name="T15" fmla="*/ 6350 h 246"/>
              <a:gd name="T16" fmla="*/ 573088 w 664"/>
              <a:gd name="T17" fmla="*/ 0 h 246"/>
              <a:gd name="T18" fmla="*/ 481013 w 664"/>
              <a:gd name="T19" fmla="*/ 0 h 246"/>
              <a:gd name="T20" fmla="*/ 390525 w 664"/>
              <a:gd name="T21" fmla="*/ 6350 h 246"/>
              <a:gd name="T22" fmla="*/ 303213 w 664"/>
              <a:gd name="T23" fmla="*/ 17463 h 246"/>
              <a:gd name="T24" fmla="*/ 223838 w 664"/>
              <a:gd name="T25" fmla="*/ 33338 h 246"/>
              <a:gd name="T26" fmla="*/ 152400 w 664"/>
              <a:gd name="T27" fmla="*/ 55563 h 246"/>
              <a:gd name="T28" fmla="*/ 93663 w 664"/>
              <a:gd name="T29" fmla="*/ 80963 h 246"/>
              <a:gd name="T30" fmla="*/ 49213 w 664"/>
              <a:gd name="T31" fmla="*/ 111125 h 246"/>
              <a:gd name="T32" fmla="*/ 17463 w 664"/>
              <a:gd name="T33" fmla="*/ 142875 h 246"/>
              <a:gd name="T34" fmla="*/ 1588 w 664"/>
              <a:gd name="T35" fmla="*/ 176213 h 246"/>
              <a:gd name="T36" fmla="*/ 1588 w 664"/>
              <a:gd name="T37" fmla="*/ 211138 h 246"/>
              <a:gd name="T38" fmla="*/ 17463 w 664"/>
              <a:gd name="T39" fmla="*/ 244475 h 246"/>
              <a:gd name="T40" fmla="*/ 49213 w 664"/>
              <a:gd name="T41" fmla="*/ 274638 h 246"/>
              <a:gd name="T42" fmla="*/ 93663 w 664"/>
              <a:gd name="T43" fmla="*/ 304800 h 246"/>
              <a:gd name="T44" fmla="*/ 152400 w 664"/>
              <a:gd name="T45" fmla="*/ 331788 h 246"/>
              <a:gd name="T46" fmla="*/ 223838 w 664"/>
              <a:gd name="T47" fmla="*/ 350838 h 246"/>
              <a:gd name="T48" fmla="*/ 303213 w 664"/>
              <a:gd name="T49" fmla="*/ 369888 h 246"/>
              <a:gd name="T50" fmla="*/ 390525 w 664"/>
              <a:gd name="T51" fmla="*/ 381000 h 246"/>
              <a:gd name="T52" fmla="*/ 481013 w 664"/>
              <a:gd name="T53" fmla="*/ 385763 h 246"/>
              <a:gd name="T54" fmla="*/ 573088 w 664"/>
              <a:gd name="T55" fmla="*/ 385763 h 246"/>
              <a:gd name="T56" fmla="*/ 660400 w 664"/>
              <a:gd name="T57" fmla="*/ 381000 h 246"/>
              <a:gd name="T58" fmla="*/ 747713 w 664"/>
              <a:gd name="T59" fmla="*/ 369888 h 246"/>
              <a:gd name="T60" fmla="*/ 827088 w 664"/>
              <a:gd name="T61" fmla="*/ 350838 h 246"/>
              <a:gd name="T62" fmla="*/ 898525 w 664"/>
              <a:gd name="T63" fmla="*/ 331788 h 246"/>
              <a:gd name="T64" fmla="*/ 957263 w 664"/>
              <a:gd name="T65" fmla="*/ 304800 h 246"/>
              <a:gd name="T66" fmla="*/ 1003300 w 664"/>
              <a:gd name="T67" fmla="*/ 274638 h 246"/>
              <a:gd name="T68" fmla="*/ 1033463 w 664"/>
              <a:gd name="T69" fmla="*/ 244475 h 246"/>
              <a:gd name="T70" fmla="*/ 1049338 w 664"/>
              <a:gd name="T71" fmla="*/ 211138 h 24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64" h="246">
                <a:moveTo>
                  <a:pt x="663" y="121"/>
                </a:moveTo>
                <a:lnTo>
                  <a:pt x="661" y="111"/>
                </a:lnTo>
                <a:lnTo>
                  <a:pt x="657" y="101"/>
                </a:lnTo>
                <a:lnTo>
                  <a:pt x="651" y="90"/>
                </a:lnTo>
                <a:lnTo>
                  <a:pt x="643" y="80"/>
                </a:lnTo>
                <a:lnTo>
                  <a:pt x="632" y="70"/>
                </a:lnTo>
                <a:lnTo>
                  <a:pt x="618" y="60"/>
                </a:lnTo>
                <a:lnTo>
                  <a:pt x="603" y="51"/>
                </a:lnTo>
                <a:lnTo>
                  <a:pt x="586" y="43"/>
                </a:lnTo>
                <a:lnTo>
                  <a:pt x="566" y="35"/>
                </a:lnTo>
                <a:lnTo>
                  <a:pt x="545" y="28"/>
                </a:lnTo>
                <a:lnTo>
                  <a:pt x="521" y="21"/>
                </a:lnTo>
                <a:lnTo>
                  <a:pt x="497" y="16"/>
                </a:lnTo>
                <a:lnTo>
                  <a:pt x="471" y="11"/>
                </a:lnTo>
                <a:lnTo>
                  <a:pt x="444" y="6"/>
                </a:lnTo>
                <a:lnTo>
                  <a:pt x="416" y="4"/>
                </a:lnTo>
                <a:lnTo>
                  <a:pt x="389" y="2"/>
                </a:lnTo>
                <a:lnTo>
                  <a:pt x="361" y="0"/>
                </a:lnTo>
                <a:lnTo>
                  <a:pt x="330" y="0"/>
                </a:lnTo>
                <a:lnTo>
                  <a:pt x="303" y="0"/>
                </a:lnTo>
                <a:lnTo>
                  <a:pt x="273" y="2"/>
                </a:lnTo>
                <a:lnTo>
                  <a:pt x="246" y="4"/>
                </a:lnTo>
                <a:lnTo>
                  <a:pt x="218" y="6"/>
                </a:lnTo>
                <a:lnTo>
                  <a:pt x="191" y="11"/>
                </a:lnTo>
                <a:lnTo>
                  <a:pt x="165" y="16"/>
                </a:lnTo>
                <a:lnTo>
                  <a:pt x="141" y="21"/>
                </a:lnTo>
                <a:lnTo>
                  <a:pt x="119" y="28"/>
                </a:lnTo>
                <a:lnTo>
                  <a:pt x="96" y="35"/>
                </a:lnTo>
                <a:lnTo>
                  <a:pt x="78" y="43"/>
                </a:lnTo>
                <a:lnTo>
                  <a:pt x="59" y="51"/>
                </a:lnTo>
                <a:lnTo>
                  <a:pt x="44" y="60"/>
                </a:lnTo>
                <a:lnTo>
                  <a:pt x="31" y="70"/>
                </a:lnTo>
                <a:lnTo>
                  <a:pt x="19" y="80"/>
                </a:lnTo>
                <a:lnTo>
                  <a:pt x="11" y="90"/>
                </a:lnTo>
                <a:lnTo>
                  <a:pt x="5" y="101"/>
                </a:lnTo>
                <a:lnTo>
                  <a:pt x="1" y="111"/>
                </a:lnTo>
                <a:lnTo>
                  <a:pt x="0" y="121"/>
                </a:lnTo>
                <a:lnTo>
                  <a:pt x="1" y="133"/>
                </a:lnTo>
                <a:lnTo>
                  <a:pt x="5" y="143"/>
                </a:lnTo>
                <a:lnTo>
                  <a:pt x="11" y="154"/>
                </a:lnTo>
                <a:lnTo>
                  <a:pt x="19" y="164"/>
                </a:lnTo>
                <a:lnTo>
                  <a:pt x="31" y="173"/>
                </a:lnTo>
                <a:lnTo>
                  <a:pt x="44" y="182"/>
                </a:lnTo>
                <a:lnTo>
                  <a:pt x="59" y="192"/>
                </a:lnTo>
                <a:lnTo>
                  <a:pt x="78" y="201"/>
                </a:lnTo>
                <a:lnTo>
                  <a:pt x="96" y="209"/>
                </a:lnTo>
                <a:lnTo>
                  <a:pt x="119" y="216"/>
                </a:lnTo>
                <a:lnTo>
                  <a:pt x="141" y="221"/>
                </a:lnTo>
                <a:lnTo>
                  <a:pt x="165" y="227"/>
                </a:lnTo>
                <a:lnTo>
                  <a:pt x="191" y="233"/>
                </a:lnTo>
                <a:lnTo>
                  <a:pt x="218" y="236"/>
                </a:lnTo>
                <a:lnTo>
                  <a:pt x="246" y="240"/>
                </a:lnTo>
                <a:lnTo>
                  <a:pt x="273" y="242"/>
                </a:lnTo>
                <a:lnTo>
                  <a:pt x="303" y="243"/>
                </a:lnTo>
                <a:lnTo>
                  <a:pt x="330" y="245"/>
                </a:lnTo>
                <a:lnTo>
                  <a:pt x="361" y="243"/>
                </a:lnTo>
                <a:lnTo>
                  <a:pt x="389" y="242"/>
                </a:lnTo>
                <a:lnTo>
                  <a:pt x="416" y="240"/>
                </a:lnTo>
                <a:lnTo>
                  <a:pt x="444" y="236"/>
                </a:lnTo>
                <a:lnTo>
                  <a:pt x="471" y="233"/>
                </a:lnTo>
                <a:lnTo>
                  <a:pt x="497" y="227"/>
                </a:lnTo>
                <a:lnTo>
                  <a:pt x="521" y="221"/>
                </a:lnTo>
                <a:lnTo>
                  <a:pt x="545" y="216"/>
                </a:lnTo>
                <a:lnTo>
                  <a:pt x="566" y="209"/>
                </a:lnTo>
                <a:lnTo>
                  <a:pt x="586" y="201"/>
                </a:lnTo>
                <a:lnTo>
                  <a:pt x="603" y="192"/>
                </a:lnTo>
                <a:lnTo>
                  <a:pt x="618" y="182"/>
                </a:lnTo>
                <a:lnTo>
                  <a:pt x="632" y="173"/>
                </a:lnTo>
                <a:lnTo>
                  <a:pt x="643" y="164"/>
                </a:lnTo>
                <a:lnTo>
                  <a:pt x="651" y="154"/>
                </a:lnTo>
                <a:lnTo>
                  <a:pt x="657" y="143"/>
                </a:lnTo>
                <a:lnTo>
                  <a:pt x="661" y="133"/>
                </a:lnTo>
                <a:lnTo>
                  <a:pt x="663" y="1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28A65579-EA3B-AE7F-6ACC-D164B4618CC8}"/>
              </a:ext>
            </a:extLst>
          </p:cNvPr>
          <p:cNvSpPr>
            <a:spLocks/>
          </p:cNvSpPr>
          <p:nvPr/>
        </p:nvSpPr>
        <p:spPr bwMode="auto">
          <a:xfrm>
            <a:off x="3270251" y="2733783"/>
            <a:ext cx="1196975" cy="425450"/>
          </a:xfrm>
          <a:custGeom>
            <a:avLst/>
            <a:gdLst>
              <a:gd name="T0" fmla="*/ 1195388 w 754"/>
              <a:gd name="T1" fmla="*/ 423863 h 268"/>
              <a:gd name="T2" fmla="*/ 1195388 w 754"/>
              <a:gd name="T3" fmla="*/ 0 h 268"/>
              <a:gd name="T4" fmla="*/ 0 w 754"/>
              <a:gd name="T5" fmla="*/ 0 h 268"/>
              <a:gd name="T6" fmla="*/ 0 w 754"/>
              <a:gd name="T7" fmla="*/ 423863 h 268"/>
              <a:gd name="T8" fmla="*/ 1195388 w 754"/>
              <a:gd name="T9" fmla="*/ 423863 h 2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54" h="268">
                <a:moveTo>
                  <a:pt x="753" y="267"/>
                </a:moveTo>
                <a:lnTo>
                  <a:pt x="753" y="0"/>
                </a:lnTo>
                <a:lnTo>
                  <a:pt x="0" y="0"/>
                </a:lnTo>
                <a:lnTo>
                  <a:pt x="0" y="267"/>
                </a:lnTo>
                <a:lnTo>
                  <a:pt x="753" y="26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167042F-5B9C-C253-0C5A-83C9FE8EE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5" y="1882883"/>
            <a:ext cx="65082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name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D48E3FA-B4E1-EE90-1D8B-CD3B80706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2103545"/>
            <a:ext cx="34144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u="sng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id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4F68DB54-CAFA-8B9F-29CC-24F10281E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225" y="2785964"/>
            <a:ext cx="101790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Instructor</a:t>
            </a: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01D54A97-1DA5-6959-4D71-E4968A33B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8451" y="2487721"/>
            <a:ext cx="644525" cy="2444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1" name="Line 15">
            <a:extLst>
              <a:ext uri="{FF2B5EF4-FFF2-40B4-BE49-F238E27FC236}">
                <a16:creationId xmlns:a16="http://schemas.microsoft.com/office/drawing/2014/main" id="{8343DF93-1EA4-70AF-9241-EACC959A6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4612" y="2230545"/>
            <a:ext cx="0" cy="5016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98913A24-CC29-EA57-07B7-94C42506BF08}"/>
              </a:ext>
            </a:extLst>
          </p:cNvPr>
          <p:cNvSpPr>
            <a:spLocks/>
          </p:cNvSpPr>
          <p:nvPr/>
        </p:nvSpPr>
        <p:spPr bwMode="auto">
          <a:xfrm>
            <a:off x="360916" y="3306870"/>
            <a:ext cx="1417638" cy="468313"/>
          </a:xfrm>
          <a:custGeom>
            <a:avLst/>
            <a:gdLst>
              <a:gd name="T0" fmla="*/ 0 w 893"/>
              <a:gd name="T1" fmla="*/ 252413 h 295"/>
              <a:gd name="T2" fmla="*/ 22225 w 893"/>
              <a:gd name="T3" fmla="*/ 292100 h 295"/>
              <a:gd name="T4" fmla="*/ 65088 w 893"/>
              <a:gd name="T5" fmla="*/ 330200 h 295"/>
              <a:gd name="T6" fmla="*/ 127000 w 893"/>
              <a:gd name="T7" fmla="*/ 363538 h 295"/>
              <a:gd name="T8" fmla="*/ 204788 w 893"/>
              <a:gd name="T9" fmla="*/ 398463 h 295"/>
              <a:gd name="T10" fmla="*/ 300038 w 893"/>
              <a:gd name="T11" fmla="*/ 420688 h 295"/>
              <a:gd name="T12" fmla="*/ 407988 w 893"/>
              <a:gd name="T13" fmla="*/ 444500 h 295"/>
              <a:gd name="T14" fmla="*/ 522288 w 893"/>
              <a:gd name="T15" fmla="*/ 457200 h 295"/>
              <a:gd name="T16" fmla="*/ 646113 w 893"/>
              <a:gd name="T17" fmla="*/ 463550 h 295"/>
              <a:gd name="T18" fmla="*/ 768350 w 893"/>
              <a:gd name="T19" fmla="*/ 463550 h 295"/>
              <a:gd name="T20" fmla="*/ 892175 w 893"/>
              <a:gd name="T21" fmla="*/ 457200 h 295"/>
              <a:gd name="T22" fmla="*/ 1006475 w 893"/>
              <a:gd name="T23" fmla="*/ 441325 h 295"/>
              <a:gd name="T24" fmla="*/ 1114425 w 893"/>
              <a:gd name="T25" fmla="*/ 420688 h 295"/>
              <a:gd name="T26" fmla="*/ 1208088 w 893"/>
              <a:gd name="T27" fmla="*/ 396875 h 295"/>
              <a:gd name="T28" fmla="*/ 1287463 w 893"/>
              <a:gd name="T29" fmla="*/ 363538 h 295"/>
              <a:gd name="T30" fmla="*/ 1349375 w 893"/>
              <a:gd name="T31" fmla="*/ 330200 h 295"/>
              <a:gd name="T32" fmla="*/ 1392238 w 893"/>
              <a:gd name="T33" fmla="*/ 292100 h 295"/>
              <a:gd name="T34" fmla="*/ 1412875 w 893"/>
              <a:gd name="T35" fmla="*/ 252413 h 295"/>
              <a:gd name="T36" fmla="*/ 1412875 w 893"/>
              <a:gd name="T37" fmla="*/ 212725 h 295"/>
              <a:gd name="T38" fmla="*/ 1392238 w 893"/>
              <a:gd name="T39" fmla="*/ 173038 h 295"/>
              <a:gd name="T40" fmla="*/ 1349375 w 893"/>
              <a:gd name="T41" fmla="*/ 133350 h 295"/>
              <a:gd name="T42" fmla="*/ 1287463 w 893"/>
              <a:gd name="T43" fmla="*/ 96838 h 295"/>
              <a:gd name="T44" fmla="*/ 1208088 w 893"/>
              <a:gd name="T45" fmla="*/ 66675 h 295"/>
              <a:gd name="T46" fmla="*/ 1112838 w 893"/>
              <a:gd name="T47" fmla="*/ 39688 h 295"/>
              <a:gd name="T48" fmla="*/ 1006475 w 893"/>
              <a:gd name="T49" fmla="*/ 20638 h 295"/>
              <a:gd name="T50" fmla="*/ 889000 w 893"/>
              <a:gd name="T51" fmla="*/ 6350 h 295"/>
              <a:gd name="T52" fmla="*/ 768350 w 893"/>
              <a:gd name="T53" fmla="*/ 0 h 295"/>
              <a:gd name="T54" fmla="*/ 646113 w 893"/>
              <a:gd name="T55" fmla="*/ 0 h 295"/>
              <a:gd name="T56" fmla="*/ 522288 w 893"/>
              <a:gd name="T57" fmla="*/ 6350 h 295"/>
              <a:gd name="T58" fmla="*/ 407988 w 893"/>
              <a:gd name="T59" fmla="*/ 20638 h 295"/>
              <a:gd name="T60" fmla="*/ 300038 w 893"/>
              <a:gd name="T61" fmla="*/ 39688 h 295"/>
              <a:gd name="T62" fmla="*/ 204788 w 893"/>
              <a:gd name="T63" fmla="*/ 66675 h 295"/>
              <a:gd name="T64" fmla="*/ 127000 w 893"/>
              <a:gd name="T65" fmla="*/ 96838 h 295"/>
              <a:gd name="T66" fmla="*/ 65088 w 893"/>
              <a:gd name="T67" fmla="*/ 133350 h 295"/>
              <a:gd name="T68" fmla="*/ 22225 w 893"/>
              <a:gd name="T69" fmla="*/ 173038 h 295"/>
              <a:gd name="T70" fmla="*/ 0 w 893"/>
              <a:gd name="T71" fmla="*/ 212725 h 2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93" h="295">
                <a:moveTo>
                  <a:pt x="0" y="146"/>
                </a:moveTo>
                <a:lnTo>
                  <a:pt x="0" y="159"/>
                </a:lnTo>
                <a:lnTo>
                  <a:pt x="4" y="172"/>
                </a:lnTo>
                <a:lnTo>
                  <a:pt x="14" y="184"/>
                </a:lnTo>
                <a:lnTo>
                  <a:pt x="26" y="197"/>
                </a:lnTo>
                <a:lnTo>
                  <a:pt x="41" y="208"/>
                </a:lnTo>
                <a:lnTo>
                  <a:pt x="58" y="219"/>
                </a:lnTo>
                <a:lnTo>
                  <a:pt x="80" y="229"/>
                </a:lnTo>
                <a:lnTo>
                  <a:pt x="102" y="241"/>
                </a:lnTo>
                <a:lnTo>
                  <a:pt x="129" y="251"/>
                </a:lnTo>
                <a:lnTo>
                  <a:pt x="159" y="259"/>
                </a:lnTo>
                <a:lnTo>
                  <a:pt x="189" y="265"/>
                </a:lnTo>
                <a:lnTo>
                  <a:pt x="222" y="272"/>
                </a:lnTo>
                <a:lnTo>
                  <a:pt x="257" y="280"/>
                </a:lnTo>
                <a:lnTo>
                  <a:pt x="292" y="283"/>
                </a:lnTo>
                <a:lnTo>
                  <a:pt x="329" y="288"/>
                </a:lnTo>
                <a:lnTo>
                  <a:pt x="369" y="290"/>
                </a:lnTo>
                <a:lnTo>
                  <a:pt x="407" y="292"/>
                </a:lnTo>
                <a:lnTo>
                  <a:pt x="445" y="294"/>
                </a:lnTo>
                <a:lnTo>
                  <a:pt x="484" y="292"/>
                </a:lnTo>
                <a:lnTo>
                  <a:pt x="522" y="290"/>
                </a:lnTo>
                <a:lnTo>
                  <a:pt x="562" y="288"/>
                </a:lnTo>
                <a:lnTo>
                  <a:pt x="599" y="283"/>
                </a:lnTo>
                <a:lnTo>
                  <a:pt x="634" y="278"/>
                </a:lnTo>
                <a:lnTo>
                  <a:pt x="669" y="272"/>
                </a:lnTo>
                <a:lnTo>
                  <a:pt x="702" y="265"/>
                </a:lnTo>
                <a:lnTo>
                  <a:pt x="732" y="259"/>
                </a:lnTo>
                <a:lnTo>
                  <a:pt x="761" y="250"/>
                </a:lnTo>
                <a:lnTo>
                  <a:pt x="788" y="241"/>
                </a:lnTo>
                <a:lnTo>
                  <a:pt x="811" y="229"/>
                </a:lnTo>
                <a:lnTo>
                  <a:pt x="833" y="219"/>
                </a:lnTo>
                <a:lnTo>
                  <a:pt x="850" y="208"/>
                </a:lnTo>
                <a:lnTo>
                  <a:pt x="866" y="197"/>
                </a:lnTo>
                <a:lnTo>
                  <a:pt x="877" y="184"/>
                </a:lnTo>
                <a:lnTo>
                  <a:pt x="884" y="171"/>
                </a:lnTo>
                <a:lnTo>
                  <a:pt x="890" y="159"/>
                </a:lnTo>
                <a:lnTo>
                  <a:pt x="892" y="146"/>
                </a:lnTo>
                <a:lnTo>
                  <a:pt x="890" y="134"/>
                </a:lnTo>
                <a:lnTo>
                  <a:pt x="884" y="121"/>
                </a:lnTo>
                <a:lnTo>
                  <a:pt x="877" y="109"/>
                </a:lnTo>
                <a:lnTo>
                  <a:pt x="865" y="96"/>
                </a:lnTo>
                <a:lnTo>
                  <a:pt x="850" y="84"/>
                </a:lnTo>
                <a:lnTo>
                  <a:pt x="833" y="73"/>
                </a:lnTo>
                <a:lnTo>
                  <a:pt x="811" y="61"/>
                </a:lnTo>
                <a:lnTo>
                  <a:pt x="788" y="51"/>
                </a:lnTo>
                <a:lnTo>
                  <a:pt x="761" y="42"/>
                </a:lnTo>
                <a:lnTo>
                  <a:pt x="732" y="32"/>
                </a:lnTo>
                <a:lnTo>
                  <a:pt x="701" y="25"/>
                </a:lnTo>
                <a:lnTo>
                  <a:pt x="669" y="19"/>
                </a:lnTo>
                <a:lnTo>
                  <a:pt x="634" y="13"/>
                </a:lnTo>
                <a:lnTo>
                  <a:pt x="599" y="7"/>
                </a:lnTo>
                <a:lnTo>
                  <a:pt x="560" y="4"/>
                </a:lnTo>
                <a:lnTo>
                  <a:pt x="522" y="1"/>
                </a:lnTo>
                <a:lnTo>
                  <a:pt x="484" y="0"/>
                </a:lnTo>
                <a:lnTo>
                  <a:pt x="445" y="0"/>
                </a:lnTo>
                <a:lnTo>
                  <a:pt x="407" y="0"/>
                </a:lnTo>
                <a:lnTo>
                  <a:pt x="369" y="1"/>
                </a:lnTo>
                <a:lnTo>
                  <a:pt x="329" y="4"/>
                </a:lnTo>
                <a:lnTo>
                  <a:pt x="292" y="7"/>
                </a:lnTo>
                <a:lnTo>
                  <a:pt x="257" y="13"/>
                </a:lnTo>
                <a:lnTo>
                  <a:pt x="222" y="19"/>
                </a:lnTo>
                <a:lnTo>
                  <a:pt x="189" y="25"/>
                </a:lnTo>
                <a:lnTo>
                  <a:pt x="159" y="33"/>
                </a:lnTo>
                <a:lnTo>
                  <a:pt x="129" y="42"/>
                </a:lnTo>
                <a:lnTo>
                  <a:pt x="102" y="51"/>
                </a:lnTo>
                <a:lnTo>
                  <a:pt x="80" y="61"/>
                </a:lnTo>
                <a:lnTo>
                  <a:pt x="58" y="73"/>
                </a:lnTo>
                <a:lnTo>
                  <a:pt x="41" y="84"/>
                </a:lnTo>
                <a:lnTo>
                  <a:pt x="26" y="96"/>
                </a:lnTo>
                <a:lnTo>
                  <a:pt x="14" y="109"/>
                </a:lnTo>
                <a:lnTo>
                  <a:pt x="4" y="121"/>
                </a:lnTo>
                <a:lnTo>
                  <a:pt x="0" y="134"/>
                </a:lnTo>
                <a:lnTo>
                  <a:pt x="0" y="14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7CB8AD9F-675D-7089-AB68-487FE2343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19" y="3388420"/>
            <a:ext cx="129683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Hourly_wage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" name="Line 19">
            <a:extLst>
              <a:ext uri="{FF2B5EF4-FFF2-40B4-BE49-F238E27FC236}">
                <a16:creationId xmlns:a16="http://schemas.microsoft.com/office/drawing/2014/main" id="{DEEEB2C2-CC1F-BB52-7D7B-CDE9AC0F8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8737" y="3783120"/>
            <a:ext cx="931941" cy="873234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5" name="Freeform 20">
            <a:extLst>
              <a:ext uri="{FF2B5EF4-FFF2-40B4-BE49-F238E27FC236}">
                <a16:creationId xmlns:a16="http://schemas.microsoft.com/office/drawing/2014/main" id="{BD82F2B5-F711-32BB-397F-D6B04E3778CB}"/>
              </a:ext>
            </a:extLst>
          </p:cNvPr>
          <p:cNvSpPr>
            <a:spLocks/>
          </p:cNvSpPr>
          <p:nvPr/>
        </p:nvSpPr>
        <p:spPr bwMode="auto">
          <a:xfrm>
            <a:off x="4442138" y="3726795"/>
            <a:ext cx="1085850" cy="431800"/>
          </a:xfrm>
          <a:custGeom>
            <a:avLst/>
            <a:gdLst>
              <a:gd name="T0" fmla="*/ 1588 w 684"/>
              <a:gd name="T1" fmla="*/ 233363 h 272"/>
              <a:gd name="T2" fmla="*/ 15875 w 684"/>
              <a:gd name="T3" fmla="*/ 269875 h 272"/>
              <a:gd name="T4" fmla="*/ 49213 w 684"/>
              <a:gd name="T5" fmla="*/ 304800 h 272"/>
              <a:gd name="T6" fmla="*/ 96838 w 684"/>
              <a:gd name="T7" fmla="*/ 338138 h 272"/>
              <a:gd name="T8" fmla="*/ 155575 w 684"/>
              <a:gd name="T9" fmla="*/ 366713 h 272"/>
              <a:gd name="T10" fmla="*/ 228600 w 684"/>
              <a:gd name="T11" fmla="*/ 392113 h 272"/>
              <a:gd name="T12" fmla="*/ 311150 w 684"/>
              <a:gd name="T13" fmla="*/ 409575 h 272"/>
              <a:gd name="T14" fmla="*/ 398463 w 684"/>
              <a:gd name="T15" fmla="*/ 423863 h 272"/>
              <a:gd name="T16" fmla="*/ 492125 w 684"/>
              <a:gd name="T17" fmla="*/ 430213 h 272"/>
              <a:gd name="T18" fmla="*/ 585788 w 684"/>
              <a:gd name="T19" fmla="*/ 430213 h 272"/>
              <a:gd name="T20" fmla="*/ 679450 w 684"/>
              <a:gd name="T21" fmla="*/ 420688 h 272"/>
              <a:gd name="T22" fmla="*/ 769938 w 684"/>
              <a:gd name="T23" fmla="*/ 409575 h 272"/>
              <a:gd name="T24" fmla="*/ 850900 w 684"/>
              <a:gd name="T25" fmla="*/ 392113 h 272"/>
              <a:gd name="T26" fmla="*/ 923925 w 684"/>
              <a:gd name="T27" fmla="*/ 366713 h 272"/>
              <a:gd name="T28" fmla="*/ 985838 w 684"/>
              <a:gd name="T29" fmla="*/ 338138 h 272"/>
              <a:gd name="T30" fmla="*/ 1031875 w 684"/>
              <a:gd name="T31" fmla="*/ 304800 h 272"/>
              <a:gd name="T32" fmla="*/ 1065213 w 684"/>
              <a:gd name="T33" fmla="*/ 269875 h 272"/>
              <a:gd name="T34" fmla="*/ 1081088 w 684"/>
              <a:gd name="T35" fmla="*/ 233363 h 272"/>
              <a:gd name="T36" fmla="*/ 1081088 w 684"/>
              <a:gd name="T37" fmla="*/ 195263 h 272"/>
              <a:gd name="T38" fmla="*/ 1065213 w 684"/>
              <a:gd name="T39" fmla="*/ 158750 h 272"/>
              <a:gd name="T40" fmla="*/ 1031875 w 684"/>
              <a:gd name="T41" fmla="*/ 125413 h 272"/>
              <a:gd name="T42" fmla="*/ 985838 w 684"/>
              <a:gd name="T43" fmla="*/ 92075 h 272"/>
              <a:gd name="T44" fmla="*/ 923925 w 684"/>
              <a:gd name="T45" fmla="*/ 61913 h 272"/>
              <a:gd name="T46" fmla="*/ 850900 w 684"/>
              <a:gd name="T47" fmla="*/ 39688 h 272"/>
              <a:gd name="T48" fmla="*/ 769938 w 684"/>
              <a:gd name="T49" fmla="*/ 19050 h 272"/>
              <a:gd name="T50" fmla="*/ 679450 w 684"/>
              <a:gd name="T51" fmla="*/ 6350 h 272"/>
              <a:gd name="T52" fmla="*/ 585788 w 684"/>
              <a:gd name="T53" fmla="*/ 1588 h 272"/>
              <a:gd name="T54" fmla="*/ 492125 w 684"/>
              <a:gd name="T55" fmla="*/ 1588 h 272"/>
              <a:gd name="T56" fmla="*/ 398463 w 684"/>
              <a:gd name="T57" fmla="*/ 6350 h 272"/>
              <a:gd name="T58" fmla="*/ 311150 w 684"/>
              <a:gd name="T59" fmla="*/ 19050 h 272"/>
              <a:gd name="T60" fmla="*/ 228600 w 684"/>
              <a:gd name="T61" fmla="*/ 39688 h 272"/>
              <a:gd name="T62" fmla="*/ 155575 w 684"/>
              <a:gd name="T63" fmla="*/ 63500 h 272"/>
              <a:gd name="T64" fmla="*/ 95250 w 684"/>
              <a:gd name="T65" fmla="*/ 92075 h 272"/>
              <a:gd name="T66" fmla="*/ 49213 w 684"/>
              <a:gd name="T67" fmla="*/ 125413 h 272"/>
              <a:gd name="T68" fmla="*/ 15875 w 684"/>
              <a:gd name="T69" fmla="*/ 158750 h 272"/>
              <a:gd name="T70" fmla="*/ 1588 w 684"/>
              <a:gd name="T71" fmla="*/ 195263 h 27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84" h="272">
                <a:moveTo>
                  <a:pt x="0" y="136"/>
                </a:moveTo>
                <a:lnTo>
                  <a:pt x="1" y="147"/>
                </a:lnTo>
                <a:lnTo>
                  <a:pt x="3" y="158"/>
                </a:lnTo>
                <a:lnTo>
                  <a:pt x="10" y="170"/>
                </a:lnTo>
                <a:lnTo>
                  <a:pt x="19" y="181"/>
                </a:lnTo>
                <a:lnTo>
                  <a:pt x="31" y="192"/>
                </a:lnTo>
                <a:lnTo>
                  <a:pt x="44" y="204"/>
                </a:lnTo>
                <a:lnTo>
                  <a:pt x="61" y="213"/>
                </a:lnTo>
                <a:lnTo>
                  <a:pt x="77" y="222"/>
                </a:lnTo>
                <a:lnTo>
                  <a:pt x="98" y="231"/>
                </a:lnTo>
                <a:lnTo>
                  <a:pt x="120" y="239"/>
                </a:lnTo>
                <a:lnTo>
                  <a:pt x="144" y="247"/>
                </a:lnTo>
                <a:lnTo>
                  <a:pt x="169" y="252"/>
                </a:lnTo>
                <a:lnTo>
                  <a:pt x="196" y="258"/>
                </a:lnTo>
                <a:lnTo>
                  <a:pt x="224" y="263"/>
                </a:lnTo>
                <a:lnTo>
                  <a:pt x="251" y="267"/>
                </a:lnTo>
                <a:lnTo>
                  <a:pt x="281" y="269"/>
                </a:lnTo>
                <a:lnTo>
                  <a:pt x="310" y="271"/>
                </a:lnTo>
                <a:lnTo>
                  <a:pt x="339" y="271"/>
                </a:lnTo>
                <a:lnTo>
                  <a:pt x="369" y="271"/>
                </a:lnTo>
                <a:lnTo>
                  <a:pt x="399" y="269"/>
                </a:lnTo>
                <a:lnTo>
                  <a:pt x="428" y="265"/>
                </a:lnTo>
                <a:lnTo>
                  <a:pt x="457" y="263"/>
                </a:lnTo>
                <a:lnTo>
                  <a:pt x="485" y="258"/>
                </a:lnTo>
                <a:lnTo>
                  <a:pt x="512" y="252"/>
                </a:lnTo>
                <a:lnTo>
                  <a:pt x="536" y="247"/>
                </a:lnTo>
                <a:lnTo>
                  <a:pt x="559" y="239"/>
                </a:lnTo>
                <a:lnTo>
                  <a:pt x="582" y="231"/>
                </a:lnTo>
                <a:lnTo>
                  <a:pt x="601" y="222"/>
                </a:lnTo>
                <a:lnTo>
                  <a:pt x="621" y="213"/>
                </a:lnTo>
                <a:lnTo>
                  <a:pt x="636" y="204"/>
                </a:lnTo>
                <a:lnTo>
                  <a:pt x="650" y="192"/>
                </a:lnTo>
                <a:lnTo>
                  <a:pt x="662" y="181"/>
                </a:lnTo>
                <a:lnTo>
                  <a:pt x="671" y="170"/>
                </a:lnTo>
                <a:lnTo>
                  <a:pt x="677" y="158"/>
                </a:lnTo>
                <a:lnTo>
                  <a:pt x="681" y="147"/>
                </a:lnTo>
                <a:lnTo>
                  <a:pt x="683" y="136"/>
                </a:lnTo>
                <a:lnTo>
                  <a:pt x="681" y="123"/>
                </a:lnTo>
                <a:lnTo>
                  <a:pt x="677" y="112"/>
                </a:lnTo>
                <a:lnTo>
                  <a:pt x="671" y="100"/>
                </a:lnTo>
                <a:lnTo>
                  <a:pt x="662" y="88"/>
                </a:lnTo>
                <a:lnTo>
                  <a:pt x="650" y="79"/>
                </a:lnTo>
                <a:lnTo>
                  <a:pt x="636" y="69"/>
                </a:lnTo>
                <a:lnTo>
                  <a:pt x="621" y="58"/>
                </a:lnTo>
                <a:lnTo>
                  <a:pt x="601" y="48"/>
                </a:lnTo>
                <a:lnTo>
                  <a:pt x="582" y="39"/>
                </a:lnTo>
                <a:lnTo>
                  <a:pt x="559" y="31"/>
                </a:lnTo>
                <a:lnTo>
                  <a:pt x="536" y="25"/>
                </a:lnTo>
                <a:lnTo>
                  <a:pt x="511" y="19"/>
                </a:lnTo>
                <a:lnTo>
                  <a:pt x="485" y="12"/>
                </a:lnTo>
                <a:lnTo>
                  <a:pt x="457" y="9"/>
                </a:lnTo>
                <a:lnTo>
                  <a:pt x="428" y="4"/>
                </a:lnTo>
                <a:lnTo>
                  <a:pt x="399" y="2"/>
                </a:lnTo>
                <a:lnTo>
                  <a:pt x="369" y="1"/>
                </a:lnTo>
                <a:lnTo>
                  <a:pt x="339" y="0"/>
                </a:lnTo>
                <a:lnTo>
                  <a:pt x="310" y="1"/>
                </a:lnTo>
                <a:lnTo>
                  <a:pt x="281" y="2"/>
                </a:lnTo>
                <a:lnTo>
                  <a:pt x="251" y="4"/>
                </a:lnTo>
                <a:lnTo>
                  <a:pt x="224" y="9"/>
                </a:lnTo>
                <a:lnTo>
                  <a:pt x="196" y="12"/>
                </a:lnTo>
                <a:lnTo>
                  <a:pt x="169" y="19"/>
                </a:lnTo>
                <a:lnTo>
                  <a:pt x="144" y="25"/>
                </a:lnTo>
                <a:lnTo>
                  <a:pt x="120" y="31"/>
                </a:lnTo>
                <a:lnTo>
                  <a:pt x="98" y="40"/>
                </a:lnTo>
                <a:lnTo>
                  <a:pt x="77" y="48"/>
                </a:lnTo>
                <a:lnTo>
                  <a:pt x="60" y="58"/>
                </a:lnTo>
                <a:lnTo>
                  <a:pt x="44" y="69"/>
                </a:lnTo>
                <a:lnTo>
                  <a:pt x="31" y="79"/>
                </a:lnTo>
                <a:lnTo>
                  <a:pt x="19" y="88"/>
                </a:lnTo>
                <a:lnTo>
                  <a:pt x="10" y="100"/>
                </a:lnTo>
                <a:lnTo>
                  <a:pt x="3" y="113"/>
                </a:lnTo>
                <a:lnTo>
                  <a:pt x="1" y="123"/>
                </a:lnTo>
                <a:lnTo>
                  <a:pt x="0" y="1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22">
            <a:extLst>
              <a:ext uri="{FF2B5EF4-FFF2-40B4-BE49-F238E27FC236}">
                <a16:creationId xmlns:a16="http://schemas.microsoft.com/office/drawing/2014/main" id="{E0509ED9-8CC5-0901-99B9-FEAAC2076A31}"/>
              </a:ext>
            </a:extLst>
          </p:cNvPr>
          <p:cNvSpPr>
            <a:spLocks/>
          </p:cNvSpPr>
          <p:nvPr/>
        </p:nvSpPr>
        <p:spPr bwMode="auto">
          <a:xfrm>
            <a:off x="2271712" y="4446695"/>
            <a:ext cx="1284288" cy="431800"/>
          </a:xfrm>
          <a:custGeom>
            <a:avLst/>
            <a:gdLst>
              <a:gd name="T0" fmla="*/ 1282700 w 809"/>
              <a:gd name="T1" fmla="*/ 430213 h 272"/>
              <a:gd name="T2" fmla="*/ 1282700 w 809"/>
              <a:gd name="T3" fmla="*/ 0 h 272"/>
              <a:gd name="T4" fmla="*/ 0 w 809"/>
              <a:gd name="T5" fmla="*/ 0 h 272"/>
              <a:gd name="T6" fmla="*/ 0 w 809"/>
              <a:gd name="T7" fmla="*/ 430213 h 272"/>
              <a:gd name="T8" fmla="*/ 1282700 w 809"/>
              <a:gd name="T9" fmla="*/ 430213 h 2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9" h="272">
                <a:moveTo>
                  <a:pt x="808" y="271"/>
                </a:moveTo>
                <a:lnTo>
                  <a:pt x="808" y="0"/>
                </a:lnTo>
                <a:lnTo>
                  <a:pt x="0" y="0"/>
                </a:lnTo>
                <a:lnTo>
                  <a:pt x="0" y="271"/>
                </a:lnTo>
                <a:lnTo>
                  <a:pt x="808" y="27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23">
            <a:extLst>
              <a:ext uri="{FF2B5EF4-FFF2-40B4-BE49-F238E27FC236}">
                <a16:creationId xmlns:a16="http://schemas.microsoft.com/office/drawing/2014/main" id="{DD03CD5F-11E6-8935-6E7E-41C76137B33F}"/>
              </a:ext>
            </a:extLst>
          </p:cNvPr>
          <p:cNvSpPr>
            <a:spLocks/>
          </p:cNvSpPr>
          <p:nvPr/>
        </p:nvSpPr>
        <p:spPr bwMode="auto">
          <a:xfrm>
            <a:off x="4114800" y="4446695"/>
            <a:ext cx="1413188" cy="414338"/>
          </a:xfrm>
          <a:custGeom>
            <a:avLst/>
            <a:gdLst>
              <a:gd name="T0" fmla="*/ 1444625 w 911"/>
              <a:gd name="T1" fmla="*/ 412750 h 261"/>
              <a:gd name="T2" fmla="*/ 1444625 w 911"/>
              <a:gd name="T3" fmla="*/ 0 h 261"/>
              <a:gd name="T4" fmla="*/ 0 w 911"/>
              <a:gd name="T5" fmla="*/ 0 h 261"/>
              <a:gd name="T6" fmla="*/ 0 w 911"/>
              <a:gd name="T7" fmla="*/ 412750 h 261"/>
              <a:gd name="T8" fmla="*/ 1444625 w 911"/>
              <a:gd name="T9" fmla="*/ 412750 h 2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1" h="261">
                <a:moveTo>
                  <a:pt x="910" y="260"/>
                </a:moveTo>
                <a:lnTo>
                  <a:pt x="910" y="0"/>
                </a:lnTo>
                <a:lnTo>
                  <a:pt x="0" y="0"/>
                </a:lnTo>
                <a:lnTo>
                  <a:pt x="0" y="260"/>
                </a:lnTo>
                <a:lnTo>
                  <a:pt x="910" y="26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4">
            <a:extLst>
              <a:ext uri="{FF2B5EF4-FFF2-40B4-BE49-F238E27FC236}">
                <a16:creationId xmlns:a16="http://schemas.microsoft.com/office/drawing/2014/main" id="{68E0E331-EBE9-597C-EAD2-4C3866CB1601}"/>
              </a:ext>
            </a:extLst>
          </p:cNvPr>
          <p:cNvSpPr>
            <a:spLocks/>
          </p:cNvSpPr>
          <p:nvPr/>
        </p:nvSpPr>
        <p:spPr bwMode="auto">
          <a:xfrm>
            <a:off x="3513138" y="3433870"/>
            <a:ext cx="722313" cy="484188"/>
          </a:xfrm>
          <a:custGeom>
            <a:avLst/>
            <a:gdLst>
              <a:gd name="T0" fmla="*/ 358775 w 455"/>
              <a:gd name="T1" fmla="*/ 0 h 305"/>
              <a:gd name="T2" fmla="*/ 720725 w 455"/>
              <a:gd name="T3" fmla="*/ 482600 h 305"/>
              <a:gd name="T4" fmla="*/ 0 w 455"/>
              <a:gd name="T5" fmla="*/ 482600 h 305"/>
              <a:gd name="T6" fmla="*/ 358775 w 455"/>
              <a:gd name="T7" fmla="*/ 0 h 30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55" h="305">
                <a:moveTo>
                  <a:pt x="226" y="0"/>
                </a:moveTo>
                <a:lnTo>
                  <a:pt x="454" y="304"/>
                </a:lnTo>
                <a:lnTo>
                  <a:pt x="0" y="304"/>
                </a:lnTo>
                <a:lnTo>
                  <a:pt x="226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2069377A-9332-0CB6-BF23-6F08E47BB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59" y="3596972"/>
            <a:ext cx="48250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Arial" charset="0"/>
                <a:ea typeface="ＭＳ Ｐゴシック" charset="0"/>
              </a:rPr>
              <a:t>ISA</a:t>
            </a:r>
          </a:p>
        </p:txBody>
      </p:sp>
      <p:sp>
        <p:nvSpPr>
          <p:cNvPr id="20" name="Rectangle 26">
            <a:extLst>
              <a:ext uri="{FF2B5EF4-FFF2-40B4-BE49-F238E27FC236}">
                <a16:creationId xmlns:a16="http://schemas.microsoft.com/office/drawing/2014/main" id="{79574E92-CBC8-4C35-6FC0-4B4DC77A8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07" y="4501258"/>
            <a:ext cx="116698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Hourly_Inst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EF0B0C01-4580-C201-508F-B8D08F6D9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155" y="3802312"/>
            <a:ext cx="721352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Salary</a:t>
            </a:r>
          </a:p>
        </p:txBody>
      </p:sp>
      <p:sp>
        <p:nvSpPr>
          <p:cNvPr id="22" name="Line 29">
            <a:extLst>
              <a:ext uri="{FF2B5EF4-FFF2-40B4-BE49-F238E27FC236}">
                <a16:creationId xmlns:a16="http://schemas.microsoft.com/office/drawing/2014/main" id="{B71C16C0-0454-11F4-2017-B6BEF58A71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7350" y="3902184"/>
            <a:ext cx="774700" cy="5349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3" name="Line 30">
            <a:extLst>
              <a:ext uri="{FF2B5EF4-FFF2-40B4-BE49-F238E27FC236}">
                <a16:creationId xmlns:a16="http://schemas.microsoft.com/office/drawing/2014/main" id="{86313777-1C5A-3092-8DB0-3603A7D81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3902184"/>
            <a:ext cx="785812" cy="5349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21F30A0C-0D45-B55B-B4C6-84D23B8FC4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1250" y="4158595"/>
            <a:ext cx="24124" cy="2928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5" name="Line 35">
            <a:extLst>
              <a:ext uri="{FF2B5EF4-FFF2-40B4-BE49-F238E27FC236}">
                <a16:creationId xmlns:a16="http://schemas.microsoft.com/office/drawing/2014/main" id="{BC562822-BB80-8A05-23A5-001211F41D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2" y="3148120"/>
            <a:ext cx="0" cy="3175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4E65DDE4-521C-026F-C5C8-8FDB557BE73F}"/>
              </a:ext>
            </a:extLst>
          </p:cNvPr>
          <p:cNvSpPr>
            <a:spLocks/>
          </p:cNvSpPr>
          <p:nvPr/>
        </p:nvSpPr>
        <p:spPr bwMode="auto">
          <a:xfrm>
            <a:off x="1615604" y="2945704"/>
            <a:ext cx="1417638" cy="468313"/>
          </a:xfrm>
          <a:custGeom>
            <a:avLst/>
            <a:gdLst>
              <a:gd name="T0" fmla="*/ 0 w 893"/>
              <a:gd name="T1" fmla="*/ 252413 h 295"/>
              <a:gd name="T2" fmla="*/ 22225 w 893"/>
              <a:gd name="T3" fmla="*/ 292100 h 295"/>
              <a:gd name="T4" fmla="*/ 65088 w 893"/>
              <a:gd name="T5" fmla="*/ 330200 h 295"/>
              <a:gd name="T6" fmla="*/ 127000 w 893"/>
              <a:gd name="T7" fmla="*/ 363538 h 295"/>
              <a:gd name="T8" fmla="*/ 204788 w 893"/>
              <a:gd name="T9" fmla="*/ 398463 h 295"/>
              <a:gd name="T10" fmla="*/ 300038 w 893"/>
              <a:gd name="T11" fmla="*/ 420688 h 295"/>
              <a:gd name="T12" fmla="*/ 407988 w 893"/>
              <a:gd name="T13" fmla="*/ 444500 h 295"/>
              <a:gd name="T14" fmla="*/ 522288 w 893"/>
              <a:gd name="T15" fmla="*/ 457200 h 295"/>
              <a:gd name="T16" fmla="*/ 646113 w 893"/>
              <a:gd name="T17" fmla="*/ 463550 h 295"/>
              <a:gd name="T18" fmla="*/ 768350 w 893"/>
              <a:gd name="T19" fmla="*/ 463550 h 295"/>
              <a:gd name="T20" fmla="*/ 892175 w 893"/>
              <a:gd name="T21" fmla="*/ 457200 h 295"/>
              <a:gd name="T22" fmla="*/ 1006475 w 893"/>
              <a:gd name="T23" fmla="*/ 441325 h 295"/>
              <a:gd name="T24" fmla="*/ 1114425 w 893"/>
              <a:gd name="T25" fmla="*/ 420688 h 295"/>
              <a:gd name="T26" fmla="*/ 1208088 w 893"/>
              <a:gd name="T27" fmla="*/ 396875 h 295"/>
              <a:gd name="T28" fmla="*/ 1287463 w 893"/>
              <a:gd name="T29" fmla="*/ 363538 h 295"/>
              <a:gd name="T30" fmla="*/ 1349375 w 893"/>
              <a:gd name="T31" fmla="*/ 330200 h 295"/>
              <a:gd name="T32" fmla="*/ 1392238 w 893"/>
              <a:gd name="T33" fmla="*/ 292100 h 295"/>
              <a:gd name="T34" fmla="*/ 1412875 w 893"/>
              <a:gd name="T35" fmla="*/ 252413 h 295"/>
              <a:gd name="T36" fmla="*/ 1412875 w 893"/>
              <a:gd name="T37" fmla="*/ 212725 h 295"/>
              <a:gd name="T38" fmla="*/ 1392238 w 893"/>
              <a:gd name="T39" fmla="*/ 173038 h 295"/>
              <a:gd name="T40" fmla="*/ 1349375 w 893"/>
              <a:gd name="T41" fmla="*/ 133350 h 295"/>
              <a:gd name="T42" fmla="*/ 1287463 w 893"/>
              <a:gd name="T43" fmla="*/ 96838 h 295"/>
              <a:gd name="T44" fmla="*/ 1208088 w 893"/>
              <a:gd name="T45" fmla="*/ 66675 h 295"/>
              <a:gd name="T46" fmla="*/ 1112838 w 893"/>
              <a:gd name="T47" fmla="*/ 39688 h 295"/>
              <a:gd name="T48" fmla="*/ 1006475 w 893"/>
              <a:gd name="T49" fmla="*/ 20638 h 295"/>
              <a:gd name="T50" fmla="*/ 889000 w 893"/>
              <a:gd name="T51" fmla="*/ 6350 h 295"/>
              <a:gd name="T52" fmla="*/ 768350 w 893"/>
              <a:gd name="T53" fmla="*/ 0 h 295"/>
              <a:gd name="T54" fmla="*/ 646113 w 893"/>
              <a:gd name="T55" fmla="*/ 0 h 295"/>
              <a:gd name="T56" fmla="*/ 522288 w 893"/>
              <a:gd name="T57" fmla="*/ 6350 h 295"/>
              <a:gd name="T58" fmla="*/ 407988 w 893"/>
              <a:gd name="T59" fmla="*/ 20638 h 295"/>
              <a:gd name="T60" fmla="*/ 300038 w 893"/>
              <a:gd name="T61" fmla="*/ 39688 h 295"/>
              <a:gd name="T62" fmla="*/ 204788 w 893"/>
              <a:gd name="T63" fmla="*/ 66675 h 295"/>
              <a:gd name="T64" fmla="*/ 127000 w 893"/>
              <a:gd name="T65" fmla="*/ 96838 h 295"/>
              <a:gd name="T66" fmla="*/ 65088 w 893"/>
              <a:gd name="T67" fmla="*/ 133350 h 295"/>
              <a:gd name="T68" fmla="*/ 22225 w 893"/>
              <a:gd name="T69" fmla="*/ 173038 h 295"/>
              <a:gd name="T70" fmla="*/ 0 w 893"/>
              <a:gd name="T71" fmla="*/ 212725 h 2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93" h="295">
                <a:moveTo>
                  <a:pt x="0" y="146"/>
                </a:moveTo>
                <a:lnTo>
                  <a:pt x="0" y="159"/>
                </a:lnTo>
                <a:lnTo>
                  <a:pt x="4" y="172"/>
                </a:lnTo>
                <a:lnTo>
                  <a:pt x="14" y="184"/>
                </a:lnTo>
                <a:lnTo>
                  <a:pt x="26" y="197"/>
                </a:lnTo>
                <a:lnTo>
                  <a:pt x="41" y="208"/>
                </a:lnTo>
                <a:lnTo>
                  <a:pt x="58" y="219"/>
                </a:lnTo>
                <a:lnTo>
                  <a:pt x="80" y="229"/>
                </a:lnTo>
                <a:lnTo>
                  <a:pt x="102" y="241"/>
                </a:lnTo>
                <a:lnTo>
                  <a:pt x="129" y="251"/>
                </a:lnTo>
                <a:lnTo>
                  <a:pt x="159" y="259"/>
                </a:lnTo>
                <a:lnTo>
                  <a:pt x="189" y="265"/>
                </a:lnTo>
                <a:lnTo>
                  <a:pt x="222" y="272"/>
                </a:lnTo>
                <a:lnTo>
                  <a:pt x="257" y="280"/>
                </a:lnTo>
                <a:lnTo>
                  <a:pt x="292" y="283"/>
                </a:lnTo>
                <a:lnTo>
                  <a:pt x="329" y="288"/>
                </a:lnTo>
                <a:lnTo>
                  <a:pt x="369" y="290"/>
                </a:lnTo>
                <a:lnTo>
                  <a:pt x="407" y="292"/>
                </a:lnTo>
                <a:lnTo>
                  <a:pt x="445" y="294"/>
                </a:lnTo>
                <a:lnTo>
                  <a:pt x="484" y="292"/>
                </a:lnTo>
                <a:lnTo>
                  <a:pt x="522" y="290"/>
                </a:lnTo>
                <a:lnTo>
                  <a:pt x="562" y="288"/>
                </a:lnTo>
                <a:lnTo>
                  <a:pt x="599" y="283"/>
                </a:lnTo>
                <a:lnTo>
                  <a:pt x="634" y="278"/>
                </a:lnTo>
                <a:lnTo>
                  <a:pt x="669" y="272"/>
                </a:lnTo>
                <a:lnTo>
                  <a:pt x="702" y="265"/>
                </a:lnTo>
                <a:lnTo>
                  <a:pt x="732" y="259"/>
                </a:lnTo>
                <a:lnTo>
                  <a:pt x="761" y="250"/>
                </a:lnTo>
                <a:lnTo>
                  <a:pt x="788" y="241"/>
                </a:lnTo>
                <a:lnTo>
                  <a:pt x="811" y="229"/>
                </a:lnTo>
                <a:lnTo>
                  <a:pt x="833" y="219"/>
                </a:lnTo>
                <a:lnTo>
                  <a:pt x="850" y="208"/>
                </a:lnTo>
                <a:lnTo>
                  <a:pt x="866" y="197"/>
                </a:lnTo>
                <a:lnTo>
                  <a:pt x="877" y="184"/>
                </a:lnTo>
                <a:lnTo>
                  <a:pt x="884" y="171"/>
                </a:lnTo>
                <a:lnTo>
                  <a:pt x="890" y="159"/>
                </a:lnTo>
                <a:lnTo>
                  <a:pt x="892" y="146"/>
                </a:lnTo>
                <a:lnTo>
                  <a:pt x="890" y="134"/>
                </a:lnTo>
                <a:lnTo>
                  <a:pt x="884" y="121"/>
                </a:lnTo>
                <a:lnTo>
                  <a:pt x="877" y="109"/>
                </a:lnTo>
                <a:lnTo>
                  <a:pt x="865" y="96"/>
                </a:lnTo>
                <a:lnTo>
                  <a:pt x="850" y="84"/>
                </a:lnTo>
                <a:lnTo>
                  <a:pt x="833" y="73"/>
                </a:lnTo>
                <a:lnTo>
                  <a:pt x="811" y="61"/>
                </a:lnTo>
                <a:lnTo>
                  <a:pt x="788" y="51"/>
                </a:lnTo>
                <a:lnTo>
                  <a:pt x="761" y="42"/>
                </a:lnTo>
                <a:lnTo>
                  <a:pt x="732" y="32"/>
                </a:lnTo>
                <a:lnTo>
                  <a:pt x="701" y="25"/>
                </a:lnTo>
                <a:lnTo>
                  <a:pt x="669" y="19"/>
                </a:lnTo>
                <a:lnTo>
                  <a:pt x="634" y="13"/>
                </a:lnTo>
                <a:lnTo>
                  <a:pt x="599" y="7"/>
                </a:lnTo>
                <a:lnTo>
                  <a:pt x="560" y="4"/>
                </a:lnTo>
                <a:lnTo>
                  <a:pt x="522" y="1"/>
                </a:lnTo>
                <a:lnTo>
                  <a:pt x="484" y="0"/>
                </a:lnTo>
                <a:lnTo>
                  <a:pt x="445" y="0"/>
                </a:lnTo>
                <a:lnTo>
                  <a:pt x="407" y="0"/>
                </a:lnTo>
                <a:lnTo>
                  <a:pt x="369" y="1"/>
                </a:lnTo>
                <a:lnTo>
                  <a:pt x="329" y="4"/>
                </a:lnTo>
                <a:lnTo>
                  <a:pt x="292" y="7"/>
                </a:lnTo>
                <a:lnTo>
                  <a:pt x="257" y="13"/>
                </a:lnTo>
                <a:lnTo>
                  <a:pt x="222" y="19"/>
                </a:lnTo>
                <a:lnTo>
                  <a:pt x="189" y="25"/>
                </a:lnTo>
                <a:lnTo>
                  <a:pt x="159" y="33"/>
                </a:lnTo>
                <a:lnTo>
                  <a:pt x="129" y="42"/>
                </a:lnTo>
                <a:lnTo>
                  <a:pt x="102" y="51"/>
                </a:lnTo>
                <a:lnTo>
                  <a:pt x="80" y="61"/>
                </a:lnTo>
                <a:lnTo>
                  <a:pt x="58" y="73"/>
                </a:lnTo>
                <a:lnTo>
                  <a:pt x="41" y="84"/>
                </a:lnTo>
                <a:lnTo>
                  <a:pt x="26" y="96"/>
                </a:lnTo>
                <a:lnTo>
                  <a:pt x="14" y="109"/>
                </a:lnTo>
                <a:lnTo>
                  <a:pt x="4" y="121"/>
                </a:lnTo>
                <a:lnTo>
                  <a:pt x="0" y="134"/>
                </a:lnTo>
                <a:lnTo>
                  <a:pt x="0" y="14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FCBDAB1A-C9CF-330F-7130-47B911007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377" y="3027254"/>
            <a:ext cx="142667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Hours_worked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8" name="Line 19">
            <a:extLst>
              <a:ext uri="{FF2B5EF4-FFF2-40B4-BE49-F238E27FC236}">
                <a16:creationId xmlns:a16="http://schemas.microsoft.com/office/drawing/2014/main" id="{4F7B7A92-D4C4-192C-ED02-67F0C9DD1E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4821" y="3421953"/>
            <a:ext cx="198603" cy="102474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183AA073-2281-D751-2E98-F04113C5656E}"/>
              </a:ext>
            </a:extLst>
          </p:cNvPr>
          <p:cNvSpPr>
            <a:spLocks/>
          </p:cNvSpPr>
          <p:nvPr/>
        </p:nvSpPr>
        <p:spPr bwMode="auto">
          <a:xfrm>
            <a:off x="4450515" y="1838435"/>
            <a:ext cx="1054100" cy="390525"/>
          </a:xfrm>
          <a:custGeom>
            <a:avLst/>
            <a:gdLst>
              <a:gd name="T0" fmla="*/ 1049338 w 664"/>
              <a:gd name="T1" fmla="*/ 176213 h 246"/>
              <a:gd name="T2" fmla="*/ 1033463 w 664"/>
              <a:gd name="T3" fmla="*/ 142875 h 246"/>
              <a:gd name="T4" fmla="*/ 1003300 w 664"/>
              <a:gd name="T5" fmla="*/ 111125 h 246"/>
              <a:gd name="T6" fmla="*/ 957263 w 664"/>
              <a:gd name="T7" fmla="*/ 80963 h 246"/>
              <a:gd name="T8" fmla="*/ 898525 w 664"/>
              <a:gd name="T9" fmla="*/ 55563 h 246"/>
              <a:gd name="T10" fmla="*/ 827088 w 664"/>
              <a:gd name="T11" fmla="*/ 33338 h 246"/>
              <a:gd name="T12" fmla="*/ 747713 w 664"/>
              <a:gd name="T13" fmla="*/ 17463 h 246"/>
              <a:gd name="T14" fmla="*/ 660400 w 664"/>
              <a:gd name="T15" fmla="*/ 6350 h 246"/>
              <a:gd name="T16" fmla="*/ 573088 w 664"/>
              <a:gd name="T17" fmla="*/ 0 h 246"/>
              <a:gd name="T18" fmla="*/ 481013 w 664"/>
              <a:gd name="T19" fmla="*/ 0 h 246"/>
              <a:gd name="T20" fmla="*/ 390525 w 664"/>
              <a:gd name="T21" fmla="*/ 6350 h 246"/>
              <a:gd name="T22" fmla="*/ 303213 w 664"/>
              <a:gd name="T23" fmla="*/ 17463 h 246"/>
              <a:gd name="T24" fmla="*/ 223838 w 664"/>
              <a:gd name="T25" fmla="*/ 33338 h 246"/>
              <a:gd name="T26" fmla="*/ 152400 w 664"/>
              <a:gd name="T27" fmla="*/ 55563 h 246"/>
              <a:gd name="T28" fmla="*/ 93663 w 664"/>
              <a:gd name="T29" fmla="*/ 80963 h 246"/>
              <a:gd name="T30" fmla="*/ 49213 w 664"/>
              <a:gd name="T31" fmla="*/ 111125 h 246"/>
              <a:gd name="T32" fmla="*/ 17463 w 664"/>
              <a:gd name="T33" fmla="*/ 142875 h 246"/>
              <a:gd name="T34" fmla="*/ 1588 w 664"/>
              <a:gd name="T35" fmla="*/ 176213 h 246"/>
              <a:gd name="T36" fmla="*/ 1588 w 664"/>
              <a:gd name="T37" fmla="*/ 211138 h 246"/>
              <a:gd name="T38" fmla="*/ 17463 w 664"/>
              <a:gd name="T39" fmla="*/ 244475 h 246"/>
              <a:gd name="T40" fmla="*/ 49213 w 664"/>
              <a:gd name="T41" fmla="*/ 274638 h 246"/>
              <a:gd name="T42" fmla="*/ 93663 w 664"/>
              <a:gd name="T43" fmla="*/ 304800 h 246"/>
              <a:gd name="T44" fmla="*/ 152400 w 664"/>
              <a:gd name="T45" fmla="*/ 331788 h 246"/>
              <a:gd name="T46" fmla="*/ 223838 w 664"/>
              <a:gd name="T47" fmla="*/ 350838 h 246"/>
              <a:gd name="T48" fmla="*/ 303213 w 664"/>
              <a:gd name="T49" fmla="*/ 369888 h 246"/>
              <a:gd name="T50" fmla="*/ 390525 w 664"/>
              <a:gd name="T51" fmla="*/ 381000 h 246"/>
              <a:gd name="T52" fmla="*/ 481013 w 664"/>
              <a:gd name="T53" fmla="*/ 385763 h 246"/>
              <a:gd name="T54" fmla="*/ 573088 w 664"/>
              <a:gd name="T55" fmla="*/ 385763 h 246"/>
              <a:gd name="T56" fmla="*/ 660400 w 664"/>
              <a:gd name="T57" fmla="*/ 381000 h 246"/>
              <a:gd name="T58" fmla="*/ 747713 w 664"/>
              <a:gd name="T59" fmla="*/ 369888 h 246"/>
              <a:gd name="T60" fmla="*/ 827088 w 664"/>
              <a:gd name="T61" fmla="*/ 350838 h 246"/>
              <a:gd name="T62" fmla="*/ 898525 w 664"/>
              <a:gd name="T63" fmla="*/ 331788 h 246"/>
              <a:gd name="T64" fmla="*/ 957263 w 664"/>
              <a:gd name="T65" fmla="*/ 304800 h 246"/>
              <a:gd name="T66" fmla="*/ 1003300 w 664"/>
              <a:gd name="T67" fmla="*/ 274638 h 246"/>
              <a:gd name="T68" fmla="*/ 1033463 w 664"/>
              <a:gd name="T69" fmla="*/ 244475 h 246"/>
              <a:gd name="T70" fmla="*/ 1049338 w 664"/>
              <a:gd name="T71" fmla="*/ 211138 h 24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64" h="246">
                <a:moveTo>
                  <a:pt x="663" y="121"/>
                </a:moveTo>
                <a:lnTo>
                  <a:pt x="661" y="111"/>
                </a:lnTo>
                <a:lnTo>
                  <a:pt x="657" y="101"/>
                </a:lnTo>
                <a:lnTo>
                  <a:pt x="651" y="90"/>
                </a:lnTo>
                <a:lnTo>
                  <a:pt x="643" y="80"/>
                </a:lnTo>
                <a:lnTo>
                  <a:pt x="632" y="70"/>
                </a:lnTo>
                <a:lnTo>
                  <a:pt x="618" y="60"/>
                </a:lnTo>
                <a:lnTo>
                  <a:pt x="603" y="51"/>
                </a:lnTo>
                <a:lnTo>
                  <a:pt x="586" y="43"/>
                </a:lnTo>
                <a:lnTo>
                  <a:pt x="566" y="35"/>
                </a:lnTo>
                <a:lnTo>
                  <a:pt x="545" y="28"/>
                </a:lnTo>
                <a:lnTo>
                  <a:pt x="521" y="21"/>
                </a:lnTo>
                <a:lnTo>
                  <a:pt x="497" y="16"/>
                </a:lnTo>
                <a:lnTo>
                  <a:pt x="471" y="11"/>
                </a:lnTo>
                <a:lnTo>
                  <a:pt x="444" y="6"/>
                </a:lnTo>
                <a:lnTo>
                  <a:pt x="416" y="4"/>
                </a:lnTo>
                <a:lnTo>
                  <a:pt x="389" y="2"/>
                </a:lnTo>
                <a:lnTo>
                  <a:pt x="361" y="0"/>
                </a:lnTo>
                <a:lnTo>
                  <a:pt x="330" y="0"/>
                </a:lnTo>
                <a:lnTo>
                  <a:pt x="303" y="0"/>
                </a:lnTo>
                <a:lnTo>
                  <a:pt x="273" y="2"/>
                </a:lnTo>
                <a:lnTo>
                  <a:pt x="246" y="4"/>
                </a:lnTo>
                <a:lnTo>
                  <a:pt x="218" y="6"/>
                </a:lnTo>
                <a:lnTo>
                  <a:pt x="191" y="11"/>
                </a:lnTo>
                <a:lnTo>
                  <a:pt x="165" y="16"/>
                </a:lnTo>
                <a:lnTo>
                  <a:pt x="141" y="21"/>
                </a:lnTo>
                <a:lnTo>
                  <a:pt x="119" y="28"/>
                </a:lnTo>
                <a:lnTo>
                  <a:pt x="96" y="35"/>
                </a:lnTo>
                <a:lnTo>
                  <a:pt x="78" y="43"/>
                </a:lnTo>
                <a:lnTo>
                  <a:pt x="59" y="51"/>
                </a:lnTo>
                <a:lnTo>
                  <a:pt x="44" y="60"/>
                </a:lnTo>
                <a:lnTo>
                  <a:pt x="31" y="70"/>
                </a:lnTo>
                <a:lnTo>
                  <a:pt x="19" y="80"/>
                </a:lnTo>
                <a:lnTo>
                  <a:pt x="11" y="90"/>
                </a:lnTo>
                <a:lnTo>
                  <a:pt x="5" y="101"/>
                </a:lnTo>
                <a:lnTo>
                  <a:pt x="1" y="111"/>
                </a:lnTo>
                <a:lnTo>
                  <a:pt x="0" y="121"/>
                </a:lnTo>
                <a:lnTo>
                  <a:pt x="1" y="133"/>
                </a:lnTo>
                <a:lnTo>
                  <a:pt x="5" y="143"/>
                </a:lnTo>
                <a:lnTo>
                  <a:pt x="11" y="154"/>
                </a:lnTo>
                <a:lnTo>
                  <a:pt x="19" y="164"/>
                </a:lnTo>
                <a:lnTo>
                  <a:pt x="31" y="173"/>
                </a:lnTo>
                <a:lnTo>
                  <a:pt x="44" y="182"/>
                </a:lnTo>
                <a:lnTo>
                  <a:pt x="59" y="192"/>
                </a:lnTo>
                <a:lnTo>
                  <a:pt x="78" y="201"/>
                </a:lnTo>
                <a:lnTo>
                  <a:pt x="96" y="209"/>
                </a:lnTo>
                <a:lnTo>
                  <a:pt x="119" y="216"/>
                </a:lnTo>
                <a:lnTo>
                  <a:pt x="141" y="221"/>
                </a:lnTo>
                <a:lnTo>
                  <a:pt x="165" y="227"/>
                </a:lnTo>
                <a:lnTo>
                  <a:pt x="191" y="233"/>
                </a:lnTo>
                <a:lnTo>
                  <a:pt x="218" y="236"/>
                </a:lnTo>
                <a:lnTo>
                  <a:pt x="246" y="240"/>
                </a:lnTo>
                <a:lnTo>
                  <a:pt x="273" y="242"/>
                </a:lnTo>
                <a:lnTo>
                  <a:pt x="303" y="243"/>
                </a:lnTo>
                <a:lnTo>
                  <a:pt x="330" y="245"/>
                </a:lnTo>
                <a:lnTo>
                  <a:pt x="361" y="243"/>
                </a:lnTo>
                <a:lnTo>
                  <a:pt x="389" y="242"/>
                </a:lnTo>
                <a:lnTo>
                  <a:pt x="416" y="240"/>
                </a:lnTo>
                <a:lnTo>
                  <a:pt x="444" y="236"/>
                </a:lnTo>
                <a:lnTo>
                  <a:pt x="471" y="233"/>
                </a:lnTo>
                <a:lnTo>
                  <a:pt x="497" y="227"/>
                </a:lnTo>
                <a:lnTo>
                  <a:pt x="521" y="221"/>
                </a:lnTo>
                <a:lnTo>
                  <a:pt x="545" y="216"/>
                </a:lnTo>
                <a:lnTo>
                  <a:pt x="566" y="209"/>
                </a:lnTo>
                <a:lnTo>
                  <a:pt x="586" y="201"/>
                </a:lnTo>
                <a:lnTo>
                  <a:pt x="603" y="192"/>
                </a:lnTo>
                <a:lnTo>
                  <a:pt x="618" y="182"/>
                </a:lnTo>
                <a:lnTo>
                  <a:pt x="632" y="173"/>
                </a:lnTo>
                <a:lnTo>
                  <a:pt x="643" y="164"/>
                </a:lnTo>
                <a:lnTo>
                  <a:pt x="651" y="154"/>
                </a:lnTo>
                <a:lnTo>
                  <a:pt x="657" y="143"/>
                </a:lnTo>
                <a:lnTo>
                  <a:pt x="661" y="133"/>
                </a:lnTo>
                <a:lnTo>
                  <a:pt x="663" y="1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02812325-6AAE-FFFD-317F-C3D7CD5D2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2084" y="1873466"/>
            <a:ext cx="114775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 charset="0"/>
                <a:ea typeface="ＭＳ Ｐゴシック" charset="0"/>
              </a:rPr>
              <a:t>dept_name</a:t>
            </a:r>
            <a:endParaRPr lang="en-US" sz="1400" b="1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7" name="Line 15">
            <a:extLst>
              <a:ext uri="{FF2B5EF4-FFF2-40B4-BE49-F238E27FC236}">
                <a16:creationId xmlns:a16="http://schemas.microsoft.com/office/drawing/2014/main" id="{B7731CAC-3042-ABCD-E9DE-2881A93AC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8639" y="2246421"/>
            <a:ext cx="726238" cy="471486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FB891C38-6248-B277-D9B0-C6FDC38E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3473868"/>
      </p:ext>
    </p:extLst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FBB06C46-143F-5848-BBD6-8FBD8C737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97D0226-F8EE-C345-9CD4-145A95816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A829E822-C097-7340-A100-D9F7B33C5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ISA Hierarchies to Relations</a:t>
            </a:r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D69CB609-7BBF-024B-98BA-5BE5D3D22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0"/>
            <a:ext cx="89916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General approach:</a:t>
            </a:r>
            <a:endParaRPr lang="en-US" sz="2400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90000"/>
              </a:lnSpc>
              <a:buSzPct val="75000"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 relations: Instructor,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Hourly_Inst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Contract_inst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lvl="2">
              <a:lnSpc>
                <a:spcPct val="120000"/>
              </a:lnSpc>
              <a:defRPr/>
            </a:pPr>
            <a:r>
              <a:rPr lang="en-US" sz="2400" i="1" dirty="0" err="1"/>
              <a:t>Hourly_Inst</a:t>
            </a:r>
            <a:r>
              <a:rPr lang="en-US" sz="2400" dirty="0"/>
              <a:t>:  Every employee is recorded in Instructor.  </a:t>
            </a:r>
          </a:p>
          <a:p>
            <a:pPr lvl="2">
              <a:lnSpc>
                <a:spcPct val="120000"/>
              </a:lnSpc>
              <a:defRPr/>
            </a:pPr>
            <a:r>
              <a:rPr lang="en-US" sz="2400" dirty="0"/>
              <a:t>For hourly instructors, extra info recorded in </a:t>
            </a:r>
            <a:r>
              <a:rPr lang="en-US" sz="2400" dirty="0" err="1"/>
              <a:t>Hourly_Inst</a:t>
            </a:r>
            <a:r>
              <a:rPr lang="en-US" sz="2400" dirty="0"/>
              <a:t> (</a:t>
            </a:r>
            <a:r>
              <a:rPr lang="en-US" sz="2400" i="1" dirty="0" err="1"/>
              <a:t>hourly_wages</a:t>
            </a:r>
            <a:r>
              <a:rPr lang="en-US" sz="2400" dirty="0"/>
              <a:t>, </a:t>
            </a:r>
            <a:r>
              <a:rPr lang="en-US" sz="2400" i="1" dirty="0" err="1"/>
              <a:t>hours_worked</a:t>
            </a:r>
            <a:r>
              <a:rPr lang="en-US" sz="2400" dirty="0"/>
              <a:t>, </a:t>
            </a:r>
            <a:r>
              <a:rPr lang="en-US" sz="2400" i="1" u="sng" dirty="0"/>
              <a:t>id</a:t>
            </a:r>
            <a:r>
              <a:rPr lang="en-US" sz="2400" i="1" dirty="0"/>
              <a:t>)</a:t>
            </a:r>
            <a:r>
              <a:rPr lang="en-US" sz="2400" dirty="0"/>
              <a:t>; must delete </a:t>
            </a:r>
            <a:r>
              <a:rPr lang="en-US" sz="2400" dirty="0" err="1"/>
              <a:t>Hourly_Inst</a:t>
            </a:r>
            <a:r>
              <a:rPr lang="en-US" sz="2400" dirty="0"/>
              <a:t> tuple if referenced Instructor tuple is deleted).</a:t>
            </a:r>
          </a:p>
          <a:p>
            <a:pPr lvl="2">
              <a:lnSpc>
                <a:spcPct val="120000"/>
              </a:lnSpc>
              <a:defRPr/>
            </a:pPr>
            <a:r>
              <a:rPr lang="en-US" sz="2400" dirty="0"/>
              <a:t>Queries involving all instructors easy, those involving just </a:t>
            </a:r>
            <a:r>
              <a:rPr lang="en-US" sz="2400" dirty="0" err="1"/>
              <a:t>Hourly_Inst</a:t>
            </a:r>
            <a:r>
              <a:rPr lang="en-US" sz="2400" dirty="0"/>
              <a:t> require a join to get some attributes.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EAFC3E-E0DC-E599-4C7B-A989A9D3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0995651"/>
      </p:ext>
    </p:extLst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FBB06C46-143F-5848-BBD6-8FBD8C737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97D0226-F8EE-C345-9CD4-145A95816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A829E822-C097-7340-A100-D9F7B33C5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ISA Hierarchies to Relations</a:t>
            </a:r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D69CB609-7BBF-024B-98BA-5BE5D3D22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0300" y="1524000"/>
            <a:ext cx="93853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Alternative:  Just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Hourly_Inst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Contract_Inst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lvl="1">
              <a:lnSpc>
                <a:spcPct val="120000"/>
              </a:lnSpc>
              <a:buSzPct val="75000"/>
              <a:defRPr/>
            </a:pPr>
            <a:r>
              <a:rPr lang="en-US" i="1" dirty="0" err="1"/>
              <a:t>Hourly_Inst</a:t>
            </a:r>
            <a:r>
              <a:rPr lang="en-US" dirty="0"/>
              <a:t>:  </a:t>
            </a:r>
            <a:r>
              <a:rPr lang="en-US" i="1" u="sng" dirty="0"/>
              <a:t>id</a:t>
            </a:r>
            <a:r>
              <a:rPr lang="en-US" dirty="0"/>
              <a:t>, </a:t>
            </a:r>
            <a:r>
              <a:rPr lang="en-US" i="1" dirty="0"/>
              <a:t>name, </a:t>
            </a:r>
            <a:r>
              <a:rPr lang="en-US" i="1" dirty="0" err="1"/>
              <a:t>dept_name</a:t>
            </a:r>
            <a:r>
              <a:rPr lang="en-US" i="1" dirty="0"/>
              <a:t>, </a:t>
            </a:r>
            <a:r>
              <a:rPr lang="en-US" i="1" dirty="0" err="1"/>
              <a:t>hourly_wages</a:t>
            </a:r>
            <a:r>
              <a:rPr lang="en-US" i="1" dirty="0"/>
              <a:t>, </a:t>
            </a:r>
            <a:r>
              <a:rPr lang="en-US" i="1" dirty="0" err="1"/>
              <a:t>hours_worked</a:t>
            </a:r>
            <a:r>
              <a:rPr lang="en-US" i="1" dirty="0"/>
              <a:t>.</a:t>
            </a:r>
          </a:p>
          <a:p>
            <a:pPr lvl="1">
              <a:lnSpc>
                <a:spcPct val="120000"/>
              </a:lnSpc>
              <a:buSzPct val="75000"/>
              <a:defRPr/>
            </a:pPr>
            <a:r>
              <a:rPr lang="en-US" i="1" dirty="0" err="1"/>
              <a:t>Contract_Inst</a:t>
            </a:r>
            <a:r>
              <a:rPr lang="en-US" dirty="0"/>
              <a:t>:  </a:t>
            </a:r>
            <a:r>
              <a:rPr lang="en-US" i="1" u="sng" dirty="0"/>
              <a:t>id</a:t>
            </a:r>
            <a:r>
              <a:rPr lang="en-US" dirty="0"/>
              <a:t>, </a:t>
            </a:r>
            <a:r>
              <a:rPr lang="en-US" i="1" dirty="0"/>
              <a:t>name, </a:t>
            </a:r>
            <a:r>
              <a:rPr lang="en-US" i="1" dirty="0" err="1"/>
              <a:t>dept_name</a:t>
            </a:r>
            <a:r>
              <a:rPr lang="en-US" i="1" dirty="0"/>
              <a:t>, salary.</a:t>
            </a:r>
          </a:p>
          <a:p>
            <a:pPr lvl="1">
              <a:lnSpc>
                <a:spcPct val="120000"/>
              </a:lnSpc>
              <a:buSzPct val="75000"/>
              <a:defRPr/>
            </a:pPr>
            <a:r>
              <a:rPr lang="en-US" dirty="0"/>
              <a:t>Each instructor must be in one of these two subclasses (Coverage)</a:t>
            </a:r>
            <a:r>
              <a:rPr lang="en-US" i="1" dirty="0"/>
              <a:t>.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D1A7B-3977-2EC3-B9D2-C59F23B8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4211193"/>
      </p:ext>
    </p:extLst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F9E5F06-18BD-FE4C-896B-72A1F771D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F040F7F-367D-BA46-8FFC-A8EB06BB6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1A203D01-145B-9444-800E-04D387CAF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1EDDBCBA-ED8E-4E43-BACF-E202FC76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1752600"/>
            <a:ext cx="7772400" cy="4076700"/>
          </a:xfrm>
        </p:spPr>
        <p:txBody>
          <a:bodyPr/>
          <a:lstStyle/>
          <a:p>
            <a:pPr>
              <a:defRPr/>
            </a:pPr>
            <a:r>
              <a:rPr lang="en-US" dirty="0"/>
              <a:t>A </a:t>
            </a:r>
            <a:r>
              <a:rPr lang="en-US" i="1" u="sng" dirty="0">
                <a:solidFill>
                  <a:schemeClr val="accent6">
                    <a:lumMod val="75000"/>
                  </a:schemeClr>
                </a:solidFill>
              </a:rPr>
              <a:t>view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is just a relation, but we store a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  <a:r>
              <a:rPr lang="en-US" dirty="0"/>
              <a:t>, rather than a set of tuples.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4A44748D-B229-5F45-8051-4868BA9DB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2881313"/>
            <a:ext cx="5237012" cy="1320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Book Antiqua" charset="0"/>
                <a:ea typeface="ＭＳ Ｐゴシック" charset="0"/>
              </a:rPr>
              <a:t>CREATE  VIEW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dirty="0" err="1">
                <a:latin typeface="Book Antiqua" charset="0"/>
                <a:ea typeface="ＭＳ Ｐゴシック" charset="0"/>
              </a:rPr>
              <a:t>ActiveStudents</a:t>
            </a:r>
            <a:r>
              <a:rPr lang="en-US" dirty="0">
                <a:latin typeface="Book Antiqua" charset="0"/>
                <a:ea typeface="ＭＳ Ｐゴシック" charset="0"/>
              </a:rPr>
              <a:t> (name, grade)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	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Book Antiqua" charset="0"/>
                <a:ea typeface="ＭＳ Ｐゴシック" charset="0"/>
              </a:rPr>
              <a:t>AS</a:t>
            </a:r>
            <a:r>
              <a:rPr lang="en-US" sz="2000" dirty="0">
                <a:latin typeface="Book Antiqua" charset="0"/>
                <a:ea typeface="ＭＳ Ｐゴシック" charset="0"/>
              </a:rPr>
              <a:t>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Book Antiqua" charset="0"/>
                <a:ea typeface="ＭＳ Ｐゴシック" charset="0"/>
              </a:rPr>
              <a:t>SELECT</a:t>
            </a:r>
            <a:r>
              <a:rPr lang="en-US" sz="2000" dirty="0">
                <a:latin typeface="Book Antiqua" charset="0"/>
                <a:ea typeface="ＭＳ Ｐゴシック" charset="0"/>
              </a:rPr>
              <a:t>   </a:t>
            </a:r>
            <a:r>
              <a:rPr lang="en-US" dirty="0">
                <a:latin typeface="Book Antiqua" charset="0"/>
                <a:ea typeface="ＭＳ Ｐゴシック" charset="0"/>
              </a:rPr>
              <a:t>S.name, </a:t>
            </a:r>
            <a:r>
              <a:rPr lang="en-US" dirty="0" err="1">
                <a:latin typeface="Book Antiqua" charset="0"/>
                <a:ea typeface="ＭＳ Ｐゴシック" charset="0"/>
              </a:rPr>
              <a:t>T.grade</a:t>
            </a:r>
            <a:endParaRPr lang="en-US" dirty="0">
              <a:latin typeface="Book Antiqua" charset="0"/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	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Book Antiqua" charset="0"/>
                <a:ea typeface="ＭＳ Ｐゴシック" charset="0"/>
              </a:rPr>
              <a:t>FROM</a:t>
            </a:r>
            <a:r>
              <a:rPr lang="en-US" dirty="0">
                <a:latin typeface="Book Antiqua" charset="0"/>
                <a:ea typeface="ＭＳ Ｐゴシック" charset="0"/>
              </a:rPr>
              <a:t>  Students S, takes T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	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Book Antiqua" charset="0"/>
                <a:ea typeface="ＭＳ Ｐゴシック" charset="0"/>
              </a:rPr>
              <a:t>WHERE</a:t>
            </a:r>
            <a:r>
              <a:rPr lang="en-US" dirty="0">
                <a:latin typeface="Book Antiqua" charset="0"/>
                <a:ea typeface="ＭＳ Ｐゴシック" charset="0"/>
              </a:rPr>
              <a:t>  </a:t>
            </a:r>
            <a:r>
              <a:rPr lang="en-US" dirty="0" err="1">
                <a:latin typeface="Book Antiqua" charset="0"/>
                <a:ea typeface="ＭＳ Ｐゴシック" charset="0"/>
              </a:rPr>
              <a:t>S.id</a:t>
            </a:r>
            <a:r>
              <a:rPr lang="en-US" dirty="0">
                <a:latin typeface="Book Antiqua" charset="0"/>
                <a:ea typeface="ＭＳ Ｐゴシック" charset="0"/>
              </a:rPr>
              <a:t> = </a:t>
            </a:r>
            <a:r>
              <a:rPr lang="en-US" dirty="0" err="1">
                <a:latin typeface="Book Antiqua" charset="0"/>
                <a:ea typeface="ＭＳ Ｐゴシック" charset="0"/>
              </a:rPr>
              <a:t>T.id</a:t>
            </a:r>
            <a:r>
              <a:rPr lang="en-US" dirty="0">
                <a:latin typeface="Book Antiqua" charset="0"/>
                <a:ea typeface="ＭＳ Ｐゴシック" charset="0"/>
              </a:rPr>
              <a:t> and </a:t>
            </a:r>
            <a:r>
              <a:rPr lang="en-US" dirty="0" err="1">
                <a:latin typeface="Book Antiqua" charset="0"/>
                <a:ea typeface="ＭＳ Ｐゴシック" charset="0"/>
              </a:rPr>
              <a:t>S.tot_cred</a:t>
            </a:r>
            <a:r>
              <a:rPr lang="en-US" dirty="0">
                <a:latin typeface="Book Antiqua" charset="0"/>
                <a:ea typeface="ＭＳ Ｐゴシック" charset="0"/>
              </a:rPr>
              <a:t> &lt; 31</a:t>
            </a:r>
          </a:p>
        </p:txBody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20BEA10B-AE51-694A-A500-AA32F5F18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572000"/>
            <a:ext cx="89916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457200" indent="-45720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it-IT" sz="2800" dirty="0">
                <a:latin typeface="+mn-lt"/>
              </a:rPr>
              <a:t>Views can be dropped using the </a:t>
            </a:r>
            <a:r>
              <a:rPr lang="en-US" altLang="it-IT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DROP VIEW </a:t>
            </a:r>
            <a:r>
              <a:rPr lang="en-US" altLang="it-IT" dirty="0">
                <a:latin typeface="+mn-lt"/>
              </a:rPr>
              <a:t>command.</a:t>
            </a: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it-IT" dirty="0">
                <a:latin typeface="+mn-lt"/>
              </a:rPr>
              <a:t>How to handle </a:t>
            </a:r>
            <a:r>
              <a:rPr lang="en-US" altLang="it-IT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DROP TABLE</a:t>
            </a:r>
            <a:r>
              <a:rPr lang="en-US" altLang="it-IT" sz="200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altLang="it-IT" dirty="0">
                <a:latin typeface="+mn-lt"/>
              </a:rPr>
              <a:t>if there</a:t>
            </a:r>
            <a:r>
              <a:rPr lang="ja-JP" altLang="en-US">
                <a:latin typeface="+mn-lt"/>
              </a:rPr>
              <a:t>’</a:t>
            </a:r>
            <a:r>
              <a:rPr lang="en-US" altLang="ja-JP" dirty="0">
                <a:latin typeface="+mn-lt"/>
              </a:rPr>
              <a:t>s a view on the table?</a:t>
            </a:r>
          </a:p>
          <a:p>
            <a:pPr marL="1257300" lvl="2" indent="-34290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it-IT" sz="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DROP TABLE</a:t>
            </a:r>
            <a:r>
              <a:rPr lang="en-US" altLang="it-IT" sz="2000" dirty="0">
                <a:latin typeface="+mn-lt"/>
              </a:rPr>
              <a:t> </a:t>
            </a:r>
            <a:r>
              <a:rPr lang="en-US" altLang="it-IT" dirty="0">
                <a:latin typeface="+mn-lt"/>
              </a:rPr>
              <a:t>command has options to let the user specify this.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39F251-2138-4D69-9E7E-12BA9710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6399130"/>
      </p:ext>
    </p:extLst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31D5329-55CF-CB4B-BEB4-D44244E1B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0A00B063-B41E-464A-AECA-6C8A86B03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717E4DEA-0361-834E-8208-F6A4D511F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and Security</a:t>
            </a: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FDCB2C7E-1E8F-464C-826E-1992FBE9D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0235" y="1828800"/>
            <a:ext cx="8924365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it-IT" dirty="0"/>
              <a:t>Views can be used to present necessary information (or a summary), while hiding details in underlying relation(s).</a:t>
            </a:r>
          </a:p>
          <a:p>
            <a:pPr lvl="1">
              <a:lnSpc>
                <a:spcPct val="150000"/>
              </a:lnSpc>
              <a:buSzPct val="75000"/>
            </a:pPr>
            <a:r>
              <a:rPr lang="en-US" altLang="it-IT" dirty="0"/>
              <a:t>Given `</a:t>
            </a:r>
            <a:r>
              <a:rPr lang="en-US" altLang="it-IT" dirty="0" err="1"/>
              <a:t>ActiveStudents</a:t>
            </a:r>
            <a:r>
              <a:rPr lang="en-US" altLang="it-IT" dirty="0"/>
              <a:t>’, but not `student’ or `takes’, we can find students who are enrolled, but not the </a:t>
            </a:r>
            <a:r>
              <a:rPr lang="en-US" altLang="it-IT" i="1" dirty="0" err="1"/>
              <a:t>course_id</a:t>
            </a:r>
            <a:r>
              <a:rPr lang="ja-JP" altLang="en-US" i="1" dirty="0">
                <a:latin typeface="Arial" panose="020B0604020202020204" pitchFamily="34" charset="0"/>
              </a:rPr>
              <a:t>’</a:t>
            </a:r>
            <a:r>
              <a:rPr lang="en-US" altLang="ja-JP" i="1" dirty="0"/>
              <a:t>s </a:t>
            </a:r>
            <a:r>
              <a:rPr lang="en-US" altLang="ja-JP" dirty="0"/>
              <a:t>of the courses they are taking.</a:t>
            </a:r>
            <a:endParaRPr lang="en-US" altLang="it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B1733C-5A0E-9E01-22FD-54274E58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5811309"/>
      </p:ext>
    </p:extLst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02E317B-98AA-6D47-A904-98D9A3671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82749E4-672E-1449-8A3C-9DD3415A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4CBEC8F5-071A-AA49-AF66-2493C9721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Model: Summary</a:t>
            </a:r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991D286D-063F-1E42-AFE9-D76A25C92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tabular representation of data.</a:t>
            </a:r>
          </a:p>
          <a:p>
            <a:pPr>
              <a:defRPr/>
            </a:pPr>
            <a:r>
              <a:rPr lang="en-US" dirty="0"/>
              <a:t>Simple and intuitive, currently the most widely used.</a:t>
            </a:r>
          </a:p>
          <a:p>
            <a:pPr>
              <a:defRPr/>
            </a:pPr>
            <a:r>
              <a:rPr lang="en-US" dirty="0"/>
              <a:t>Integrity constraints can be specified by the DBA, based on application semantics.  DBMS checks for violations.  </a:t>
            </a:r>
          </a:p>
          <a:p>
            <a:pPr lvl="1">
              <a:buSzPct val="75000"/>
              <a:defRPr/>
            </a:pPr>
            <a:r>
              <a:rPr lang="en-US" dirty="0"/>
              <a:t>Two important ICs: primary and foreign keys</a:t>
            </a:r>
          </a:p>
          <a:p>
            <a:pPr lvl="1">
              <a:buSzPct val="75000"/>
              <a:defRPr/>
            </a:pPr>
            <a:r>
              <a:rPr lang="en-US" dirty="0"/>
              <a:t>In addition, we </a:t>
            </a:r>
            <a:r>
              <a:rPr lang="en-US" i="1" dirty="0"/>
              <a:t>always</a:t>
            </a:r>
            <a:r>
              <a:rPr lang="en-US" dirty="0"/>
              <a:t> have domain constraints.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2B37A8-75CD-101A-A572-6E4BD09C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966892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rap gifts sustainably | Official HÖGL Webshop">
            <a:extLst>
              <a:ext uri="{FF2B5EF4-FFF2-40B4-BE49-F238E27FC236}">
                <a16:creationId xmlns:a16="http://schemas.microsoft.com/office/drawing/2014/main" id="{22BD9D60-C944-FD4F-9D3A-B57BB3D54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 bwMode="auto">
          <a:xfrm>
            <a:off x="-1" y="10"/>
            <a:ext cx="12192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9211"/>
            <a:ext cx="4204137" cy="13427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Thank You 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-1" y="2540243"/>
            <a:ext cx="3188043" cy="2619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Summarize what you learned today in 2-minutes</a:t>
            </a:r>
            <a:endParaRPr lang="en-US" alt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82B38-DD90-2AC7-DD8C-05162DBF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169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48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5717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73D4E-B70B-4136-B747-E79AAA180FB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36783</TotalTime>
  <Words>3757</Words>
  <Application>Microsoft Macintosh PowerPoint</Application>
  <PresentationFormat>Widescreen</PresentationFormat>
  <Paragraphs>527</Paragraphs>
  <Slides>48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ＭＳ Ｐゴシック</vt:lpstr>
      <vt:lpstr>Arial</vt:lpstr>
      <vt:lpstr>Book Antiqua</vt:lpstr>
      <vt:lpstr>Calibri</vt:lpstr>
      <vt:lpstr>Calibri Light</vt:lpstr>
      <vt:lpstr>Courier New</vt:lpstr>
      <vt:lpstr>Monotype Sorts</vt:lpstr>
      <vt:lpstr>Times New Roman</vt:lpstr>
      <vt:lpstr>Office Theme</vt:lpstr>
      <vt:lpstr>Acrobat Document</vt:lpstr>
      <vt:lpstr>Document</vt:lpstr>
      <vt:lpstr>PowerPoint Presentation</vt:lpstr>
      <vt:lpstr>Reading Material for Today</vt:lpstr>
      <vt:lpstr>PowerPoint Presentation</vt:lpstr>
      <vt:lpstr>Integrity Constraints </vt:lpstr>
      <vt:lpstr>Integrity Constraints (ICs)</vt:lpstr>
      <vt:lpstr>Where do ICs Come From?</vt:lpstr>
      <vt:lpstr>Kinds of Integrity Constraints</vt:lpstr>
      <vt:lpstr>Value-Based Constraints – Data Types</vt:lpstr>
      <vt:lpstr>Basic Data Types in SQL </vt:lpstr>
      <vt:lpstr>Basic Data Types in SQL</vt:lpstr>
      <vt:lpstr>Value-Based Constraints – Data Types (Cont.) </vt:lpstr>
      <vt:lpstr>Primary Key Constraints</vt:lpstr>
      <vt:lpstr>Single attribute key </vt:lpstr>
      <vt:lpstr>Multiattribute key </vt:lpstr>
      <vt:lpstr>Primary and Candidate Keys in SQL – What Could Go Wrong?</vt:lpstr>
      <vt:lpstr>Foreign Keys, Referential Integrity</vt:lpstr>
      <vt:lpstr>Foreign Keys in SQL</vt:lpstr>
      <vt:lpstr>Foreign Keys – The University Database Example</vt:lpstr>
      <vt:lpstr>Enforcing Referential Integrity</vt:lpstr>
      <vt:lpstr>Referential Integrity in SQL</vt:lpstr>
      <vt:lpstr>Foreign Keys Violations – Actions to Consider – Cascade </vt:lpstr>
      <vt:lpstr>Foreign Keys Violations – Actions to Consider – Set NULL</vt:lpstr>
      <vt:lpstr>The check clause</vt:lpstr>
      <vt:lpstr>The check clause</vt:lpstr>
      <vt:lpstr>Tuple-Based Check</vt:lpstr>
      <vt:lpstr>Timing of Checks</vt:lpstr>
      <vt:lpstr>Complex Check Clauses</vt:lpstr>
      <vt:lpstr>NOT NULL</vt:lpstr>
      <vt:lpstr>PowerPoint Presentation</vt:lpstr>
      <vt:lpstr>DB Design</vt:lpstr>
      <vt:lpstr>Entities</vt:lpstr>
      <vt:lpstr>Relationships</vt:lpstr>
      <vt:lpstr>ER-Diagram</vt:lpstr>
      <vt:lpstr>Mapping Cardinality </vt:lpstr>
      <vt:lpstr>Mapping Cardinality</vt:lpstr>
      <vt:lpstr>Logical DB Design: Entities as Tables</vt:lpstr>
      <vt:lpstr>Logical DB Design: Relationships as Tables</vt:lpstr>
      <vt:lpstr>Examples of Relationships as Tables</vt:lpstr>
      <vt:lpstr>Primary Keys for Relationships in the Relational Models</vt:lpstr>
      <vt:lpstr>The ISA Hierarchy example</vt:lpstr>
      <vt:lpstr>The ISA Hierarchy example</vt:lpstr>
      <vt:lpstr>Translating ISA Hierarchies to Relations</vt:lpstr>
      <vt:lpstr>Translating ISA Hierarchies to Relations</vt:lpstr>
      <vt:lpstr>Views</vt:lpstr>
      <vt:lpstr>Views and Security</vt:lpstr>
      <vt:lpstr>Relational Model: Summary</vt:lpstr>
      <vt:lpstr>Thank You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84</cp:revision>
  <cp:lastPrinted>2025-09-17T05:55:08Z</cp:lastPrinted>
  <dcterms:created xsi:type="dcterms:W3CDTF">2020-02-17T15:53:26Z</dcterms:created>
  <dcterms:modified xsi:type="dcterms:W3CDTF">2025-09-17T21:19:00Z</dcterms:modified>
</cp:coreProperties>
</file>