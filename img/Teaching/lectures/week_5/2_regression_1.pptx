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98" r:id="rId2"/>
    <p:sldId id="262" r:id="rId3"/>
    <p:sldId id="291" r:id="rId4"/>
    <p:sldId id="299" r:id="rId5"/>
    <p:sldId id="300" r:id="rId6"/>
    <p:sldId id="301" r:id="rId7"/>
    <p:sldId id="304" r:id="rId8"/>
    <p:sldId id="302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67" r:id="rId19"/>
    <p:sldId id="323" r:id="rId20"/>
    <p:sldId id="324" r:id="rId21"/>
    <p:sldId id="368" r:id="rId22"/>
    <p:sldId id="314" r:id="rId23"/>
    <p:sldId id="316" r:id="rId24"/>
    <p:sldId id="317" r:id="rId25"/>
    <p:sldId id="318" r:id="rId26"/>
    <p:sldId id="320" r:id="rId27"/>
    <p:sldId id="321" r:id="rId28"/>
    <p:sldId id="322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4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64" r:id="rId51"/>
    <p:sldId id="351" r:id="rId52"/>
    <p:sldId id="345" r:id="rId53"/>
    <p:sldId id="352" r:id="rId54"/>
    <p:sldId id="353" r:id="rId55"/>
    <p:sldId id="354" r:id="rId56"/>
    <p:sldId id="347" r:id="rId57"/>
    <p:sldId id="348" r:id="rId58"/>
    <p:sldId id="349" r:id="rId59"/>
    <p:sldId id="361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15BF26-EBFD-6D46-AA66-5E3EFC19A793}">
          <p14:sldIdLst>
            <p14:sldId id="298"/>
            <p14:sldId id="262"/>
            <p14:sldId id="291"/>
          </p14:sldIdLst>
        </p14:section>
        <p14:section name="Bird's eye view" id="{2159C908-95B0-8847-9415-0D322266CBDC}">
          <p14:sldIdLst>
            <p14:sldId id="299"/>
            <p14:sldId id="300"/>
            <p14:sldId id="301"/>
            <p14:sldId id="304"/>
            <p14:sldId id="302"/>
            <p14:sldId id="305"/>
            <p14:sldId id="306"/>
            <p14:sldId id="307"/>
            <p14:sldId id="308"/>
            <p14:sldId id="309"/>
          </p14:sldIdLst>
        </p14:section>
        <p14:section name="Regression" id="{E17B1263-FD32-1849-957A-B68DC4EA7446}">
          <p14:sldIdLst>
            <p14:sldId id="310"/>
            <p14:sldId id="311"/>
            <p14:sldId id="312"/>
            <p14:sldId id="313"/>
            <p14:sldId id="367"/>
            <p14:sldId id="323"/>
            <p14:sldId id="324"/>
            <p14:sldId id="368"/>
            <p14:sldId id="314"/>
            <p14:sldId id="316"/>
            <p14:sldId id="317"/>
          </p14:sldIdLst>
        </p14:section>
        <p14:section name="prediction exercise" id="{D130C527-3B01-B84B-AC4E-5A13876C6C3B}">
          <p14:sldIdLst>
            <p14:sldId id="318"/>
            <p14:sldId id="320"/>
            <p14:sldId id="321"/>
            <p14:sldId id="322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  <p14:section name="bias-variance" id="{214C413F-8057-AE47-A4F0-D7B187A5E8BC}">
          <p14:sldIdLst>
            <p14:sldId id="34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64"/>
          </p14:sldIdLst>
        </p14:section>
        <p14:section name="back to reality" id="{EC40581B-F329-8F47-A30E-CEFAC0E43CFF}">
          <p14:sldIdLst>
            <p14:sldId id="351"/>
            <p14:sldId id="345"/>
            <p14:sldId id="352"/>
            <p14:sldId id="353"/>
            <p14:sldId id="354"/>
            <p14:sldId id="347"/>
            <p14:sldId id="348"/>
            <p14:sldId id="349"/>
          </p14:sldIdLst>
        </p14:section>
        <p14:section name="Conclusion" id="{95A6686D-93B8-074B-8A45-8EA1CBBAB260}">
          <p14:sldIdLst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2ABF"/>
    <a:srgbClr val="FFD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88522"/>
  </p:normalViewPr>
  <p:slideViewPr>
    <p:cSldViewPr snapToGrid="0" snapToObjects="1">
      <p:cViewPr varScale="1">
        <p:scale>
          <a:sx n="96" d="100"/>
          <a:sy n="96" d="100"/>
        </p:scale>
        <p:origin x="1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15673-2FFB-A743-8FB0-62D49EB18BD5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0FAE5-F8F5-2C4C-A101-836A1F844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9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standard </a:t>
            </a:r>
            <a:r>
              <a:rPr lang="en-US" dirty="0" err="1"/>
              <a:t>algoritms</a:t>
            </a:r>
            <a:r>
              <a:rPr lang="en-US" dirty="0"/>
              <a:t> can do both</a:t>
            </a:r>
          </a:p>
          <a:p>
            <a:r>
              <a:rPr lang="en-US" dirty="0"/>
              <a:t>Uncertainty quant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1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standard </a:t>
            </a:r>
            <a:r>
              <a:rPr lang="en-US" dirty="0" err="1"/>
              <a:t>algoritms</a:t>
            </a:r>
            <a:r>
              <a:rPr lang="en-US" dirty="0"/>
              <a:t> can do both</a:t>
            </a:r>
          </a:p>
          <a:p>
            <a:r>
              <a:rPr lang="en-US" dirty="0"/>
              <a:t>Uncertainty quant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54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93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33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68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50FAE5-F8F5-2C4C-A101-836A1F84458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9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76FE-68BF-7F45-B567-2A03CA78D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22D0C-5251-2F46-92DD-CA249AE75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01B3-5306-4648-A2D2-BB033F18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F5B11-EF43-D944-8DAE-4BACBCA7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65FEA-7A86-E44F-92C5-89CBB833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9040-A7B1-754B-ACF3-4FE726DB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C9A0-B5CE-1F43-81C6-3E3820E5F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2B57B-0CBF-BA44-8E5A-A1849967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55552-6AED-D44C-B734-70D6B8E9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CF53F-41FA-7543-AC50-751A0770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8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A628-19B6-D949-8B9E-34403663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B186C-9455-5645-822C-8693DEBD4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A0BC-A2A0-ED47-9E02-6B64081B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284DD-0110-064F-9763-2596B870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443B-5147-954D-8D78-65FDE55E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0BDA-D5C4-124A-9CA0-9EC3D27A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7504-14DE-CC4D-9498-ED9235305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48717-D27C-DC4C-A36A-D2B303C57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1A3C5-4512-1044-A4CC-D5D7EDBC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F6587-4C8B-1042-B395-CF5BDEBD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FF56E-13F6-AB42-A1E5-AD313B98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7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A57B-B9DF-734D-A59E-B570DED7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14ED-95AF-DE46-AEB9-A624830B7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4C67-442F-2F49-A65F-FA7CE1EBD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23741-4776-934B-A8F8-5CE61F818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C5EDC-7F17-8C46-8A21-1026A7E6B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D691A-B084-184B-89C8-0A131AD1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7BFED-F77A-374D-8D06-9AE556E8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715C0-73AB-2D47-B8FC-07778BDC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4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468-E361-C649-86D7-8DAA4E3F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AF73B-BA54-104A-AED2-75D99CD8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26DA5-7AE1-5D40-BA4F-E0C33873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EF61C-D518-B542-9434-19928E76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5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578B9-0868-4647-9527-B5DE1709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090FF-B347-334A-A8E1-151B784F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E2E9E-959E-1C48-AC1F-0EB41F81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2BCB-070F-A547-8CBD-BA40C44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FF92-8808-5B4E-97F1-910261EC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E132E-3695-D645-999C-3FA2F77A6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DBCC1-B367-E248-ACA9-8C676E50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32A0-766C-1D4E-BEBD-E629A312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E8F35-3310-D64E-9DB0-A3574C78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001D-5D69-2847-8402-F325AB93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8B711-E856-0349-92B4-DFFED5CB7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321D1-A5D0-A544-901D-6CF2D2240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A2E0E-519D-9A4B-8302-7048C5F0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F381A-EFC0-D745-B375-B87A98EF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ED620-7E7D-F240-8B0F-9AA90353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5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0631-639C-724B-93AA-C65FB12B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3DD95-21EC-EC46-890B-2A0A8AEDD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2BB9-E26E-174F-A112-66ABEFFA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EC20-D798-2E47-8BDB-6B06CED6B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6EB8-D4B0-0A4C-AE1A-78310E40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7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E9365-6EE4-8D47-A8CC-ABC8CAE9F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80537-BFA8-2B46-9400-C22B6B2AF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1F2E0-4981-E84B-AF71-A24A23242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43B4-ABBD-3F4F-ABBF-571D1C04B152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64DE8-BBD0-B64A-B78F-37DA8195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F9F9-51C0-3F41-9E98-B6A3E229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FAB1C-9E21-544A-AC94-1FD108BE1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CE6B2-F391-4540-8264-87341E2A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B78C5-1C07-D44D-AB1C-32156DCCC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5406-9F49-5044-8FCE-DD0F147FB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B9143B4-ABBD-3F4F-ABBF-571D1C04B152}" type="datetimeFigureOut">
              <a:rPr lang="en-US" smtClean="0"/>
              <a:pPr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B19B-6D59-1749-B687-2781D52D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78E9E-8DE7-744A-A640-44ADDE88D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0CFAB1C-9E21-544A-AC94-1FD108BE1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tatlearning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geogebra.org/m/UxJQorB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arxiv.org/pdf/2103.1094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275597" y="5316032"/>
            <a:ext cx="5643960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Oberski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learning!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BF607D-33F4-3B42-956B-9399AB3EE085}"/>
              </a:ext>
            </a:extLst>
          </p:cNvPr>
          <p:cNvSpPr txBox="1"/>
          <p:nvPr/>
        </p:nvSpPr>
        <p:spPr>
          <a:xfrm>
            <a:off x="9931253" y="6488668"/>
            <a:ext cx="220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VERSION: 2025-09-28</a:t>
            </a: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week: </a:t>
            </a:r>
            <a:br>
              <a:rPr lang="en-GB" dirty="0"/>
            </a:br>
            <a:r>
              <a:rPr lang="en-GB" dirty="0"/>
              <a:t>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GB" sz="3400" b="1" dirty="0"/>
          </a:p>
          <a:p>
            <a:pPr marL="514350" indent="-514350">
              <a:buFont typeface="+mj-lt"/>
              <a:buAutoNum type="arabicPeriod"/>
            </a:pPr>
            <a:r>
              <a:rPr lang="en-GB" sz="3400" b="1" dirty="0"/>
              <a:t>Regression (predicting continuous outcomes)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More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/>
              <a:t>Classification (predicting discrete outcomes)</a:t>
            </a:r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  <a:p>
            <a:pPr marL="514350" indent="-514350">
              <a:buFont typeface="+mj-lt"/>
              <a:buAutoNum type="arabicPeriod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3AE8-F9A2-614F-8715-68EB5093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F3318-BC49-9846-88B3-F1902E44C298}"/>
              </a:ext>
            </a:extLst>
          </p:cNvPr>
          <p:cNvSpPr txBox="1"/>
          <p:nvPr/>
        </p:nvSpPr>
        <p:spPr>
          <a:xfrm>
            <a:off x="838199" y="5569545"/>
            <a:ext cx="5670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Online free version:</a:t>
            </a:r>
          </a:p>
          <a:p>
            <a:r>
              <a:rPr lang="en-US" sz="2400" dirty="0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https://www.statlearning.com/</a:t>
            </a:r>
            <a:endParaRPr lang="en-US" sz="240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C7146F-A727-4649-8868-452CFB8D43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2949" y="365125"/>
            <a:ext cx="3670852" cy="617112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7A3235A-BCB7-9E4D-8707-B09A244699CE}"/>
              </a:ext>
            </a:extLst>
          </p:cNvPr>
          <p:cNvSpPr/>
          <p:nvPr/>
        </p:nvSpPr>
        <p:spPr>
          <a:xfrm>
            <a:off x="7464287" y="4462670"/>
            <a:ext cx="1779104" cy="556591"/>
          </a:xfrm>
          <a:prstGeom prst="ellipse">
            <a:avLst/>
          </a:prstGeom>
          <a:noFill/>
          <a:ln w="155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0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FDCE-3F98-A444-A575-226BBF52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47A9-B9EF-A846-B2D7-1A5C148C3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Bird’s eye (high-level) view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4410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564D-9179-A04F-848E-8157B35A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ML definition </a:t>
            </a:r>
            <a:r>
              <a:rPr lang="en-IE" sz="3000" b="0" dirty="0"/>
              <a:t>(Samuel/Mitchell, 1959)</a:t>
            </a:r>
            <a:endParaRPr lang="en-US" sz="3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ED47-9449-3243-B5D3-88FD7EB89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”A computer program is said to learn from </a:t>
            </a:r>
            <a:r>
              <a:rPr lang="en-US" b="1" dirty="0">
                <a:solidFill>
                  <a:schemeClr val="accent2"/>
                </a:solidFill>
              </a:rPr>
              <a:t>experience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 with respect to some class of </a:t>
            </a:r>
            <a:r>
              <a:rPr lang="en-US" b="1" dirty="0">
                <a:solidFill>
                  <a:schemeClr val="accent6"/>
                </a:solidFill>
              </a:rPr>
              <a:t>tasks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performance measure </a:t>
            </a:r>
            <a:r>
              <a:rPr lang="en-US" i="1" dirty="0"/>
              <a:t>P</a:t>
            </a:r>
            <a:r>
              <a:rPr lang="en-US" dirty="0"/>
              <a:t> if its performance at tasks in </a:t>
            </a:r>
            <a:r>
              <a:rPr lang="en-US" i="1" dirty="0"/>
              <a:t>T</a:t>
            </a:r>
            <a:r>
              <a:rPr lang="en-US" dirty="0"/>
              <a:t>, as measured by </a:t>
            </a:r>
            <a:r>
              <a:rPr lang="en-US" i="1" dirty="0"/>
              <a:t>P</a:t>
            </a:r>
            <a:r>
              <a:rPr lang="en-US" dirty="0"/>
              <a:t>, improves with experience </a:t>
            </a:r>
            <a:r>
              <a:rPr lang="en-US" i="1" dirty="0"/>
              <a:t>E</a:t>
            </a:r>
            <a:r>
              <a:rPr lang="en-US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27549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77AC-3102-CC43-83E8-BA94330C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i="1" dirty="0"/>
              <a:t>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59213-DAEF-2046-92A0-D34B5E55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”A computer program is said to learn from </a:t>
            </a:r>
            <a:r>
              <a:rPr lang="en-US" b="1" dirty="0">
                <a:solidFill>
                  <a:schemeClr val="accent2"/>
                </a:solidFill>
              </a:rPr>
              <a:t>experience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dirty="0"/>
              <a:t> with respect to some class of </a:t>
            </a:r>
            <a:r>
              <a:rPr lang="en-US" b="1" dirty="0">
                <a:solidFill>
                  <a:schemeClr val="accent6"/>
                </a:solidFill>
              </a:rPr>
              <a:t>tasks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performance measure </a:t>
            </a:r>
            <a:r>
              <a:rPr lang="en-US" i="1" dirty="0"/>
              <a:t>P</a:t>
            </a:r>
            <a:r>
              <a:rPr lang="en-US" dirty="0"/>
              <a:t> if its performance at tasks in </a:t>
            </a:r>
            <a:r>
              <a:rPr lang="en-US" i="1" dirty="0"/>
              <a:t>T</a:t>
            </a:r>
            <a:r>
              <a:rPr lang="en-US" dirty="0"/>
              <a:t>, as measured by </a:t>
            </a:r>
            <a:r>
              <a:rPr lang="en-US" i="1" dirty="0"/>
              <a:t>P</a:t>
            </a:r>
            <a:r>
              <a:rPr lang="en-US" dirty="0"/>
              <a:t>, improves with experience </a:t>
            </a:r>
            <a:r>
              <a:rPr lang="en-US" i="1" dirty="0"/>
              <a:t>E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7121EC-CB34-A246-AC35-4B7AB1DAE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636033"/>
              </p:ext>
            </p:extLst>
          </p:nvPr>
        </p:nvGraphicFramePr>
        <p:xfrm>
          <a:off x="838199" y="3880310"/>
          <a:ext cx="10515600" cy="2560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159804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26417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(Loose) translations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76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accent2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Experience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accent2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Data; Example; Observation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54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accent6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Task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accent6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(Analysis) Purpose; Goal; Aim; Reason; Inference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4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Performance measure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accent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Error; Loss; Cost; Risk;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25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2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8C1C-C22F-CB4A-A340-CB2F1C55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>
                <a:solidFill>
                  <a:schemeClr val="accent6"/>
                </a:solidFill>
              </a:rPr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A2B5B-092A-FE4E-9959-5B44A813B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Identifying customer segments and demographics to help build targeted advertising campaigns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Understanding sentiment of Twitter comments as either "positive" or "negative"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Identifying financial transactions that are potentially fraudulent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Ranking hotels you might like on hotel booking website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Recommending a book you might want to buy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Detecting brain lesions on an MRI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Predicting house prices based on house attributes such as number of bedrooms, location, and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15BD4-3D12-5945-9A04-B64A88007F25}"/>
              </a:ext>
            </a:extLst>
          </p:cNvPr>
          <p:cNvSpPr txBox="1"/>
          <p:nvPr/>
        </p:nvSpPr>
        <p:spPr>
          <a:xfrm>
            <a:off x="838200" y="6357938"/>
            <a:ext cx="11400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could be the </a:t>
            </a:r>
            <a:r>
              <a:rPr lang="en-US" sz="2400" b="1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experience </a:t>
            </a:r>
            <a:r>
              <a:rPr lang="en-US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the </a:t>
            </a:r>
            <a:r>
              <a:rPr lang="en-US" sz="2400" b="1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performance measure </a:t>
            </a:r>
            <a:r>
              <a:rPr lang="en-US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each of these?</a:t>
            </a:r>
          </a:p>
        </p:txBody>
      </p:sp>
    </p:spTree>
    <p:extLst>
      <p:ext uri="{BB962C8B-B14F-4D97-AF65-F5344CB8AC3E}">
        <p14:creationId xmlns:p14="http://schemas.microsoft.com/office/powerpoint/2010/main" val="112780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9DAF-21B7-2744-A203-6821F02B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definition revisited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8A8AF-9E7B-AB44-B3D9-27185B3B3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/>
              <a:t>What it </a:t>
            </a:r>
            <a:r>
              <a:rPr lang="en-US" sz="3000" b="1" i="1"/>
              <a:t>says </a:t>
            </a:r>
            <a:r>
              <a:rPr lang="en-US" sz="3000" b="1"/>
              <a:t>:</a:t>
            </a:r>
          </a:p>
          <a:p>
            <a:pPr marL="457200" lvl="1" indent="0">
              <a:buNone/>
            </a:pPr>
            <a:r>
              <a:rPr lang="en-US" sz="3000"/>
              <a:t>Define your goal (</a:t>
            </a:r>
            <a:r>
              <a:rPr lang="en-US" sz="3000" b="1"/>
              <a:t>task</a:t>
            </a:r>
            <a:r>
              <a:rPr lang="en-US" sz="3000"/>
              <a:t>), and let me know when you think I’m doing well at that goal (</a:t>
            </a:r>
            <a:r>
              <a:rPr lang="en-US" sz="3000" b="1"/>
              <a:t>performance metric</a:t>
            </a:r>
            <a:r>
              <a:rPr lang="en-US" sz="3000"/>
              <a:t>). Then give me some data (</a:t>
            </a:r>
            <a:r>
              <a:rPr lang="en-US" sz="3000" b="1"/>
              <a:t>experience</a:t>
            </a:r>
            <a:r>
              <a:rPr lang="en-US" sz="3000"/>
              <a:t>) and I will figure out how to get you closer to your goal (learn)</a:t>
            </a:r>
          </a:p>
          <a:p>
            <a:endParaRPr lang="en-US" sz="3000"/>
          </a:p>
          <a:p>
            <a:pPr marL="0" indent="0">
              <a:buNone/>
            </a:pPr>
            <a:r>
              <a:rPr lang="en-US" sz="3000" b="1"/>
              <a:t>What it </a:t>
            </a:r>
            <a:r>
              <a:rPr lang="en-US" sz="3000" b="1" i="1"/>
              <a:t>does not say </a:t>
            </a:r>
            <a:r>
              <a:rPr lang="en-US" sz="3000" b="1"/>
              <a:t>:</a:t>
            </a:r>
          </a:p>
          <a:p>
            <a:pPr marL="457200" lvl="1" indent="0">
              <a:buNone/>
            </a:pPr>
            <a:r>
              <a:rPr lang="en-US" sz="3000"/>
              <a:t>You must always do/have &lt;unattainable ideal&gt; when analyzing data. Otherwise your analysis is worthless.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9625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90DAD9C2-3DEE-F747-8C7C-62714C989E1C}"/>
              </a:ext>
            </a:extLst>
          </p:cNvPr>
          <p:cNvSpPr txBox="1"/>
          <p:nvPr/>
        </p:nvSpPr>
        <p:spPr>
          <a:xfrm>
            <a:off x="766193" y="55964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C98B95-CA47-5741-BF67-4940897457FC}"/>
              </a:ext>
            </a:extLst>
          </p:cNvPr>
          <p:cNvSpPr txBox="1"/>
          <p:nvPr/>
        </p:nvSpPr>
        <p:spPr>
          <a:xfrm>
            <a:off x="639985" y="5157840"/>
            <a:ext cx="1134189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good model. /</a:t>
            </a:r>
            <a:r>
              <a:rPr lang="en-IE" sz="33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gʊd</a:t>
            </a:r>
            <a:r>
              <a:rPr lang="en-IE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ˈ</a:t>
            </a:r>
            <a:r>
              <a:rPr lang="en-IE" sz="33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mɒdl</a:t>
            </a:r>
            <a:r>
              <a:rPr lang="en-IE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 </a:t>
            </a:r>
            <a:r>
              <a:rPr lang="en-IE" sz="33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concept. </a:t>
            </a:r>
            <a:r>
              <a:rPr lang="en-IE" sz="33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r>
              <a:rPr lang="en-IE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en-IE" sz="33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statistics</a:t>
            </a:r>
            <a:r>
              <a:rPr lang="en-IE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a model with perfect input. </a:t>
            </a:r>
            <a:r>
              <a:rPr lang="en-IE" sz="33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lang="en-IE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en-IE" sz="33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machine learning</a:t>
            </a:r>
            <a:r>
              <a:rPr lang="en-IE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a model with good output, as measured by the performance metric.</a:t>
            </a:r>
            <a:endParaRPr lang="en-US" sz="33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0EE7E92-BAB7-AF4B-9303-16EAC7BCE798}"/>
              </a:ext>
            </a:extLst>
          </p:cNvPr>
          <p:cNvGrpSpPr/>
          <p:nvPr/>
        </p:nvGrpSpPr>
        <p:grpSpPr>
          <a:xfrm>
            <a:off x="639985" y="803867"/>
            <a:ext cx="9658354" cy="3829055"/>
            <a:chOff x="639985" y="595789"/>
            <a:chExt cx="9658354" cy="38290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D86D95-A38F-EB4F-A45D-A29B63A7DAD2}"/>
                </a:ext>
              </a:extLst>
            </p:cNvPr>
            <p:cNvSpPr/>
            <p:nvPr/>
          </p:nvSpPr>
          <p:spPr>
            <a:xfrm>
              <a:off x="639985" y="2796068"/>
              <a:ext cx="1831181" cy="1628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2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Training</a:t>
              </a:r>
            </a:p>
            <a:p>
              <a:pPr algn="ctr"/>
              <a:r>
                <a:rPr lang="en-US" sz="3600" dirty="0">
                  <a:solidFill>
                    <a:schemeClr val="accent2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data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2B2921-28DB-5846-8302-6FF57078AC8F}"/>
                </a:ext>
              </a:extLst>
            </p:cNvPr>
            <p:cNvSpPr/>
            <p:nvPr/>
          </p:nvSpPr>
          <p:spPr>
            <a:xfrm>
              <a:off x="3392714" y="2796068"/>
              <a:ext cx="1831181" cy="1628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Model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2FB529-60EF-A54C-B0FB-28C90AE390E9}"/>
                </a:ext>
              </a:extLst>
            </p:cNvPr>
            <p:cNvSpPr/>
            <p:nvPr/>
          </p:nvSpPr>
          <p:spPr>
            <a:xfrm>
              <a:off x="8467158" y="2796068"/>
              <a:ext cx="1831181" cy="1628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 err="1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Perfor-mance</a:t>
              </a:r>
              <a:endParaRPr lang="en-US" sz="3600" dirty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36F1DE0-A6F5-1848-B2B5-D07A4E0F2B5D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5223895" y="3610456"/>
              <a:ext cx="1685927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165597D-24B8-9F42-BAF4-0843E4A2346D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2471166" y="3610456"/>
              <a:ext cx="921548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E22493-9189-8B42-B7AB-C874DB73B449}"/>
                </a:ext>
              </a:extLst>
            </p:cNvPr>
            <p:cNvSpPr/>
            <p:nvPr/>
          </p:nvSpPr>
          <p:spPr>
            <a:xfrm>
              <a:off x="5851357" y="595789"/>
              <a:ext cx="1831181" cy="1628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Testing data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6EF7053-8513-C64A-BB49-40B129F9FC9A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6766948" y="2224565"/>
              <a:ext cx="0" cy="1395413"/>
            </a:xfrm>
            <a:prstGeom prst="straightConnector1">
              <a:avLst/>
            </a:prstGeom>
            <a:ln w="1270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77B7678-2062-4947-A14F-DEDD0C4AD3EC}"/>
                </a:ext>
              </a:extLst>
            </p:cNvPr>
            <p:cNvCxnSpPr>
              <a:cxnSpLocks/>
            </p:cNvCxnSpPr>
            <p:nvPr/>
          </p:nvCxnSpPr>
          <p:spPr>
            <a:xfrm>
              <a:off x="6909822" y="3610456"/>
              <a:ext cx="1557336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09B47E-C736-C34E-B564-F910B3FB8A55}"/>
                </a:ext>
              </a:extLst>
            </p:cNvPr>
            <p:cNvSpPr/>
            <p:nvPr/>
          </p:nvSpPr>
          <p:spPr>
            <a:xfrm>
              <a:off x="639985" y="774378"/>
              <a:ext cx="1831181" cy="16287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6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Task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C692E86-2612-4C4F-9987-E67E606C00C3}"/>
                </a:ext>
              </a:extLst>
            </p:cNvPr>
            <p:cNvCxnSpPr>
              <a:cxnSpLocks/>
              <a:stCxn id="29" idx="3"/>
              <a:endCxn id="6" idx="0"/>
            </p:cNvCxnSpPr>
            <p:nvPr/>
          </p:nvCxnSpPr>
          <p:spPr>
            <a:xfrm>
              <a:off x="2471166" y="1588766"/>
              <a:ext cx="1837139" cy="1207302"/>
            </a:xfrm>
            <a:prstGeom prst="straightConnector1">
              <a:avLst/>
            </a:prstGeom>
            <a:ln w="1270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C228706-1B8E-DD4D-B78C-B2744A5BB7B3}"/>
              </a:ext>
            </a:extLst>
          </p:cNvPr>
          <p:cNvSpPr txBox="1"/>
          <p:nvPr/>
        </p:nvSpPr>
        <p:spPr>
          <a:xfrm>
            <a:off x="766193" y="198557"/>
            <a:ext cx="14830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DFDE10-EA9B-5845-83C7-B7CC2305BD99}"/>
              </a:ext>
            </a:extLst>
          </p:cNvPr>
          <p:cNvSpPr txBox="1"/>
          <p:nvPr/>
        </p:nvSpPr>
        <p:spPr>
          <a:xfrm>
            <a:off x="8467158" y="194182"/>
            <a:ext cx="17427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3475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A718-AD71-6941-9CFF-F2D784FB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F31A-85A6-E44E-BCBD-16AD2B3F3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We often distinguish </a:t>
            </a:r>
            <a:r>
              <a:rPr lang="en-IE" b="1" dirty="0"/>
              <a:t>3 types </a:t>
            </a:r>
            <a:r>
              <a:rPr lang="en-IE" dirty="0"/>
              <a:t>of machine learning: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b="1" dirty="0"/>
              <a:t>Supervised Learning</a:t>
            </a:r>
            <a:r>
              <a:rPr lang="en-IE" dirty="0"/>
              <a:t>: learn a model from </a:t>
            </a:r>
            <a:r>
              <a:rPr lang="en-IE" dirty="0" err="1"/>
              <a:t>labeled</a:t>
            </a:r>
            <a:r>
              <a:rPr lang="en-IE" dirty="0"/>
              <a:t> training data, then make predictions</a:t>
            </a:r>
          </a:p>
          <a:p>
            <a:r>
              <a:rPr lang="en-IE" b="1" dirty="0"/>
              <a:t>Unsupervised Learning</a:t>
            </a:r>
            <a:r>
              <a:rPr lang="en-IE" dirty="0"/>
              <a:t>: explore the structure of the data to extract meaningful information</a:t>
            </a:r>
          </a:p>
          <a:p>
            <a:r>
              <a:rPr lang="en-IE" b="1" dirty="0"/>
              <a:t>Reinforcement Learning</a:t>
            </a:r>
            <a:r>
              <a:rPr lang="en-IE" dirty="0"/>
              <a:t>: develop an agent that improves its performance based on interactions with the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5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Chart, scatter chart&#10;&#10;Description automatically generated">
            <a:extLst>
              <a:ext uri="{FF2B5EF4-FFF2-40B4-BE49-F238E27FC236}">
                <a16:creationId xmlns:a16="http://schemas.microsoft.com/office/drawing/2014/main" id="{B8514EAB-2C1B-E345-AB73-E7AB8755E1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8250" y="3102766"/>
            <a:ext cx="3420000" cy="3426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303187-E9EA-2A4A-A64F-6BF0A3FA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</a:t>
            </a:r>
            <a:br>
              <a:rPr lang="en-US" dirty="0"/>
            </a:br>
            <a:r>
              <a:rPr lang="en-US" dirty="0"/>
              <a:t>classification vs. regression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E60B8874-DA8F-4343-8108-46BE2C3F819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3102766"/>
            <a:ext cx="3348000" cy="34263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646E03-9D50-CB46-8646-6C2D873C33B8}"/>
              </a:ext>
            </a:extLst>
          </p:cNvPr>
          <p:cNvSpPr/>
          <p:nvPr/>
        </p:nvSpPr>
        <p:spPr>
          <a:xfrm>
            <a:off x="838200" y="2091670"/>
            <a:ext cx="56197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Classification</a:t>
            </a:r>
            <a:r>
              <a:rPr lang="en-IE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predict a class label (discrete category)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339E8A-F115-3E4A-8000-45936D009080}"/>
              </a:ext>
            </a:extLst>
          </p:cNvPr>
          <p:cNvSpPr/>
          <p:nvPr/>
        </p:nvSpPr>
        <p:spPr>
          <a:xfrm>
            <a:off x="6318250" y="2070928"/>
            <a:ext cx="56197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Regression: </a:t>
            </a:r>
          </a:p>
          <a:p>
            <a:r>
              <a:rPr lang="en-IE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 a continuous value</a:t>
            </a:r>
          </a:p>
        </p:txBody>
      </p:sp>
    </p:spTree>
    <p:extLst>
      <p:ext uri="{BB962C8B-B14F-4D97-AF65-F5344CB8AC3E}">
        <p14:creationId xmlns:p14="http://schemas.microsoft.com/office/powerpoint/2010/main" val="238860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3187-E9EA-2A4A-A64F-6BF0A3FA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D9838A-FAD4-BF4B-94F5-E42447EBF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67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Learn a model from </a:t>
            </a:r>
            <a:r>
              <a:rPr lang="en-IE" b="1" dirty="0" err="1"/>
              <a:t>unlabeled</a:t>
            </a:r>
            <a:r>
              <a:rPr lang="en-IE" b="1" dirty="0"/>
              <a:t> </a:t>
            </a:r>
            <a:r>
              <a:rPr lang="en-IE" dirty="0"/>
              <a:t>training data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Predict “labels” from </a:t>
            </a:r>
            <a:r>
              <a:rPr lang="en-IE" dirty="0" err="1"/>
              <a:t>unlabeled</a:t>
            </a:r>
            <a:r>
              <a:rPr lang="en-IE" dirty="0"/>
              <a:t> data, or predict new data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E.g.: PCA, clustering, VAE, GANs, …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82FF8-67B5-6B42-8595-15A27BE4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05484"/>
            <a:ext cx="6557730" cy="19899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537D98-DAA2-5148-BFD4-71C1E026B578}"/>
              </a:ext>
            </a:extLst>
          </p:cNvPr>
          <p:cNvSpPr txBox="1"/>
          <p:nvPr/>
        </p:nvSpPr>
        <p:spPr>
          <a:xfrm>
            <a:off x="7634469" y="5657670"/>
            <a:ext cx="4796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i="1"/>
              <a:t>Generate a photo of students in the Master Applied Data Science at Utrecht University.</a:t>
            </a:r>
            <a:endParaRPr lang="en-US" sz="2200" i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90E58-B334-B7AD-2ABD-9B70099639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4755" y="2225081"/>
            <a:ext cx="3486829" cy="343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481D-810D-0F4D-8835-2439DF20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br>
              <a:rPr lang="en-US" dirty="0"/>
            </a:br>
            <a:r>
              <a:rPr lang="en-US" sz="3300" b="0" dirty="0"/>
              <a:t>(not in this course)</a:t>
            </a:r>
          </a:p>
        </p:txBody>
      </p:sp>
      <p:pic>
        <p:nvPicPr>
          <p:cNvPr id="5" name="Content Placeholder 4" descr="Diagram, text&#10;&#10;Description automatically generated">
            <a:extLst>
              <a:ext uri="{FF2B5EF4-FFF2-40B4-BE49-F238E27FC236}">
                <a16:creationId xmlns:a16="http://schemas.microsoft.com/office/drawing/2014/main" id="{0DFDECED-B187-C74E-B18F-A4050E75EF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2000" y="3000375"/>
            <a:ext cx="6350000" cy="34925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1ACEBD-7C7E-F646-9C32-FDAD7D70C069}"/>
              </a:ext>
            </a:extLst>
          </p:cNvPr>
          <p:cNvSpPr txBox="1"/>
          <p:nvPr/>
        </p:nvSpPr>
        <p:spPr>
          <a:xfrm>
            <a:off x="838201" y="2062300"/>
            <a:ext cx="460533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 agent that improves performance based on interactions with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Chess, Go, ¿healthcare?…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Reward function defines how well actions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actions that maximize reward through exploration</a:t>
            </a:r>
          </a:p>
        </p:txBody>
      </p:sp>
    </p:spTree>
    <p:extLst>
      <p:ext uri="{BB962C8B-B14F-4D97-AF65-F5344CB8AC3E}">
        <p14:creationId xmlns:p14="http://schemas.microsoft.com/office/powerpoint/2010/main" val="175963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3FA9-21EC-6C48-8CC0-33962BFA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4C6A3-0FB6-FF40-B11E-040B6C12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980570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BA01-59C3-8744-9C0B-45AEF9C9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E9400-71AC-8B46-89F8-9B0260480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5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5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E" sz="3000" dirty="0"/>
                  <a:t>There are usually a bunch of x’s. We keep notation legible by</a:t>
                </a:r>
              </a:p>
              <a:p>
                <a:pPr marL="0" indent="0">
                  <a:buNone/>
                </a:pPr>
                <a:r>
                  <a:rPr lang="en-IE" sz="3000" dirty="0"/>
                  <a:t>saying </a:t>
                </a:r>
                <a:r>
                  <a:rPr lang="en-IE" sz="3000" b="1" dirty="0"/>
                  <a:t>x</a:t>
                </a:r>
                <a:r>
                  <a:rPr lang="en-IE" sz="3000" dirty="0"/>
                  <a:t> might be a vector of </a:t>
                </a:r>
                <a:r>
                  <a:rPr lang="en-IE" sz="3000" i="1" dirty="0"/>
                  <a:t>p</a:t>
                </a:r>
                <a:r>
                  <a:rPr lang="en-IE" sz="3000" dirty="0"/>
                  <a:t> predictors.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E9400-71AC-8B46-89F8-9B0260480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844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12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BA01-59C3-8744-9C0B-45AEF9C9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E9400-71AC-8B46-89F8-9B0260480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5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5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dirty="0"/>
                  <a:t>: Observed outcome;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dirty="0"/>
                  <a:t>: Observed predictor(s);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dirty="0"/>
                  <a:t>: </a:t>
                </a:r>
                <a:r>
                  <a:rPr lang="en-IE" i="1" dirty="0"/>
                  <a:t>True*</a:t>
                </a:r>
                <a:r>
                  <a:rPr lang="en-IE" dirty="0"/>
                  <a:t> prediction function, to be estimated (so </a:t>
                </a:r>
                <a:r>
                  <a:rPr lang="en-IE" b="1" dirty="0"/>
                  <a:t>unknown</a:t>
                </a:r>
                <a:r>
                  <a:rPr lang="en-IE" dirty="0"/>
                  <a:t>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/>
                  <a:t>: </a:t>
                </a:r>
                <a:r>
                  <a:rPr lang="en-IE" dirty="0"/>
                  <a:t>Unobserved residuals, just </a:t>
                </a:r>
                <a:r>
                  <a:rPr lang="en-IE" i="1" dirty="0"/>
                  <a:t>defined</a:t>
                </a:r>
                <a:r>
                  <a:rPr lang="en-IE" dirty="0"/>
                  <a:t> as the “irreducible error”,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IE" dirty="0"/>
                  <a:t>The higher the variance of the irreducible error, var(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IE" dirty="0"/>
                  <a:t>)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dirty="0"/>
                  <a:t>, </a:t>
                </a:r>
                <a:r>
                  <a:rPr lang="en-IE" dirty="0"/>
                  <a:t>the less we can hope to explain with the data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E" dirty="0"/>
                  <a:t>) at hand.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0E9400-71AC-8B46-89F8-9B0260480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0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3705-B08B-D841-AF3B-CE56A8AC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goals of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91D6-0F61-8448-9119-35DE286CE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IE" b="1" dirty="0"/>
              </a:p>
              <a:p>
                <a:pPr marL="0" indent="0">
                  <a:buNone/>
                </a:pPr>
                <a:r>
                  <a:rPr lang="en-IE" b="1" dirty="0"/>
                  <a:t>Prediction</a:t>
                </a:r>
                <a:r>
                  <a:rPr lang="en-IE" dirty="0"/>
                  <a:t>:</a:t>
                </a:r>
              </a:p>
              <a:p>
                <a:r>
                  <a:rPr lang="en-IE" dirty="0"/>
                  <a:t>Given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E" b="1" dirty="0"/>
                  <a:t> </a:t>
                </a:r>
                <a:r>
                  <a:rPr lang="en-IE" dirty="0"/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, work 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dirty="0"/>
                  <a:t> as closely as possible.</a:t>
                </a:r>
              </a:p>
              <a:p>
                <a:pPr marL="0" indent="0">
                  <a:buNone/>
                </a:pPr>
                <a:endParaRPr lang="en-IE" dirty="0"/>
              </a:p>
              <a:p>
                <a:pPr marL="0" indent="0">
                  <a:buNone/>
                </a:pPr>
                <a:r>
                  <a:rPr lang="en-IE" b="1" dirty="0"/>
                  <a:t>Inference</a:t>
                </a:r>
                <a:r>
                  <a:rPr lang="en-IE" dirty="0"/>
                  <a:t>:</a:t>
                </a:r>
              </a:p>
              <a:p>
                <a:r>
                  <a:rPr lang="en-IE" dirty="0"/>
                  <a:t>“Is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E" dirty="0"/>
                  <a:t> related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?”</a:t>
                </a:r>
              </a:p>
              <a:p>
                <a:r>
                  <a:rPr lang="en-IE" dirty="0"/>
                  <a:t>“How is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E" dirty="0"/>
                  <a:t> related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?”</a:t>
                </a:r>
              </a:p>
              <a:p>
                <a:r>
                  <a:rPr lang="en-IE" dirty="0"/>
                  <a:t>“How precise are parameters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dirty="0"/>
                  <a:t> estimated from the data?”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291D6-0F61-8448-9119-35DE286CE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872201A-B8C9-9A4A-A44C-3587A196CAE6}"/>
              </a:ext>
            </a:extLst>
          </p:cNvPr>
          <p:cNvSpPr txBox="1"/>
          <p:nvPr/>
        </p:nvSpPr>
        <p:spPr>
          <a:xfrm>
            <a:off x="838200" y="6351587"/>
            <a:ext cx="7089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Galit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Schmueli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(2010). </a:t>
            </a:r>
            <a:r>
              <a:rPr lang="en-US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Explain or to Predict?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Statistical Science.</a:t>
            </a:r>
            <a:endParaRPr lang="en-US" i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076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810C-C59D-E711-CFCC-BA1899E0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regression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AAAC-F3FD-B93B-CE3F-22DCB33AE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i="1"/>
              <a:t>Least-squares based:</a:t>
            </a:r>
          </a:p>
          <a:p>
            <a:r>
              <a:rPr lang="en-US"/>
              <a:t>Linear regression</a:t>
            </a:r>
          </a:p>
          <a:p>
            <a:r>
              <a:rPr lang="en-US"/>
              <a:t>Polynomial regression</a:t>
            </a:r>
          </a:p>
          <a:p>
            <a:r>
              <a:rPr lang="en-US"/>
              <a:t>Basis functions, Splines  </a:t>
            </a:r>
          </a:p>
          <a:p>
            <a:endParaRPr lang="en-US"/>
          </a:p>
          <a:p>
            <a:pPr marL="0" indent="0">
              <a:buNone/>
            </a:pPr>
            <a:r>
              <a:rPr lang="en-US" i="1"/>
              <a:t>Tree-based:</a:t>
            </a:r>
          </a:p>
          <a:p>
            <a:r>
              <a:rPr lang="en-US"/>
              <a:t>Regression trees</a:t>
            </a:r>
          </a:p>
          <a:p>
            <a:r>
              <a:rPr lang="en-US"/>
              <a:t>Random forests </a:t>
            </a:r>
          </a:p>
          <a:p>
            <a:r>
              <a:rPr lang="en-US"/>
              <a:t>Gradient boosting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i="1"/>
              <a:t>Other:</a:t>
            </a:r>
          </a:p>
          <a:p>
            <a:r>
              <a:rPr lang="en-US"/>
              <a:t>Neural networks, deep learning, k-NN</a:t>
            </a:r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2D46D4-8733-A42F-C755-F87C749CFAEE}"/>
                  </a:ext>
                </a:extLst>
              </p:cNvPr>
              <p:cNvSpPr txBox="1"/>
              <p:nvPr/>
            </p:nvSpPr>
            <p:spPr>
              <a:xfrm>
                <a:off x="2323581" y="2084197"/>
                <a:ext cx="6094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2D46D4-8733-A42F-C755-F87C749CF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581" y="2084197"/>
                <a:ext cx="6094428" cy="369332"/>
              </a:xfrm>
              <a:prstGeom prst="rect">
                <a:avLst/>
              </a:prstGeom>
              <a:blipFill>
                <a:blip r:embed="rId2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804804-3AB2-F4A8-5347-ACEAFF0EB214}"/>
                  </a:ext>
                </a:extLst>
              </p:cNvPr>
              <p:cNvSpPr txBox="1"/>
              <p:nvPr/>
            </p:nvSpPr>
            <p:spPr>
              <a:xfrm>
                <a:off x="3048786" y="2459602"/>
                <a:ext cx="6094428" cy="384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804804-3AB2-F4A8-5347-ACEAFF0EB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86" y="2459602"/>
                <a:ext cx="6094428" cy="384336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FF451-A738-BE58-F9BA-23FAF21152EB}"/>
                  </a:ext>
                </a:extLst>
              </p:cNvPr>
              <p:cNvSpPr txBox="1"/>
              <p:nvPr/>
            </p:nvSpPr>
            <p:spPr>
              <a:xfrm>
                <a:off x="3769937" y="2826437"/>
                <a:ext cx="6094428" cy="384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FF451-A738-BE58-F9BA-23FAF2115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937" y="2826437"/>
                <a:ext cx="6094428" cy="384336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black line drawing of a cat&#10;&#10;AI-generated content may be incorrect.">
            <a:extLst>
              <a:ext uri="{FF2B5EF4-FFF2-40B4-BE49-F238E27FC236}">
                <a16:creationId xmlns:a16="http://schemas.microsoft.com/office/drawing/2014/main" id="{398CF62F-EFF3-416B-0E6B-AA798100543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9328" y="2774259"/>
            <a:ext cx="521871" cy="521871"/>
          </a:xfrm>
          <a:prstGeom prst="rect">
            <a:avLst/>
          </a:prstGeom>
        </p:spPr>
      </p:pic>
      <p:pic>
        <p:nvPicPr>
          <p:cNvPr id="13" name="Picture 12" descr="A black line on a white background&#10;&#10;AI-generated content may be incorrect.">
            <a:extLst>
              <a:ext uri="{FF2B5EF4-FFF2-40B4-BE49-F238E27FC236}">
                <a16:creationId xmlns:a16="http://schemas.microsoft.com/office/drawing/2014/main" id="{4AB90DD7-EA63-A9C5-F503-E154288069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9328" y="2297413"/>
            <a:ext cx="521871" cy="521871"/>
          </a:xfrm>
          <a:prstGeom prst="rect">
            <a:avLst/>
          </a:prstGeom>
        </p:spPr>
      </p:pic>
      <p:pic>
        <p:nvPicPr>
          <p:cNvPr id="15" name="Picture 14" descr="A black and white square with a diagonal line&#10;&#10;AI-generated content may be incorrect.">
            <a:extLst>
              <a:ext uri="{FF2B5EF4-FFF2-40B4-BE49-F238E27FC236}">
                <a16:creationId xmlns:a16="http://schemas.microsoft.com/office/drawing/2014/main" id="{FC2002BF-3E99-F4BA-8706-CBC28B5C2DE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9328" y="1825625"/>
            <a:ext cx="521871" cy="52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4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8A93-8BF0-3D48-AA92-D2D4990A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reminder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409A82-386C-6349-A561-A387A3A9CC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Linear regression</a:t>
                </a:r>
                <a:r>
                  <a:rPr lang="en-US" dirty="0"/>
                  <a:t> says that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-th</a:t>
                </a:r>
                <a:r>
                  <a:rPr lang="en-US" dirty="0"/>
                  <a:t>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“Linear” regression</a:t>
                </a:r>
                <a:r>
                  <a:rPr lang="en-US" dirty="0"/>
                  <a:t> confusingly allows higher-order terms, e.g.: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“</a:t>
                </a:r>
                <a:r>
                  <a:rPr lang="en-US" b="1" dirty="0"/>
                  <a:t>Parametric</a:t>
                </a:r>
                <a:r>
                  <a:rPr lang="en-US" dirty="0"/>
                  <a:t>” technique: number of parameters = number of terms</a:t>
                </a:r>
              </a:p>
              <a:p>
                <a:pPr marL="0" indent="0">
                  <a:buNone/>
                </a:pPr>
                <a:r>
                  <a:rPr lang="en-US" sz="3600" baseline="-25000" dirty="0"/>
                  <a:t>OLS demo:  </a:t>
                </a:r>
                <a:r>
                  <a:rPr lang="en-US" sz="3600" baseline="-25000" dirty="0">
                    <a:latin typeface="Fira Code" panose="020B0809050000020004" pitchFamily="49" charset="0"/>
                    <a:ea typeface="Fira Code" panose="020B0809050000020004" pitchFamily="49" charset="0"/>
                    <a:hlinkClick r:id="rId2"/>
                  </a:rPr>
                  <a:t>https://www.geogebra.org/m/UxJQorBl</a:t>
                </a:r>
                <a:r>
                  <a:rPr lang="en-US" sz="3600" baseline="-25000" dirty="0">
                    <a:latin typeface="Fira Code" panose="020B0809050000020004" pitchFamily="49" charset="0"/>
                    <a:ea typeface="Fira Code" panose="020B0809050000020004" pitchFamily="49" charset="0"/>
                  </a:rPr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409A82-386C-6349-A561-A387A3A9CC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531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D7A7-E37C-0344-9D44-741812D3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“Nonparametric”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0A883-4433-AF45-A10F-91D5FC468A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5422"/>
                <a:ext cx="10515600" cy="317768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E" dirty="0"/>
                  <a:t>Most modern regression techniques are ”nonparametric”</a:t>
                </a:r>
                <a:endParaRPr lang="en-IE" b="1" dirty="0"/>
              </a:p>
              <a:p>
                <a:r>
                  <a:rPr lang="en-IE" b="1" dirty="0"/>
                  <a:t>Nonparametric </a:t>
                </a:r>
                <a:r>
                  <a:rPr lang="en-IE" dirty="0"/>
                  <a:t>means the </a:t>
                </a:r>
                <a:r>
                  <a:rPr lang="en-IE" i="1" dirty="0"/>
                  <a:t>effective number of parameters increases with the sample size: </a:t>
                </a:r>
              </a:p>
              <a:p>
                <a:r>
                  <a:rPr lang="en-IE" dirty="0"/>
                  <a:t>Model capacity grows with the amount of data</a:t>
                </a:r>
              </a:p>
              <a:p>
                <a:r>
                  <a:rPr lang="en-IE" dirty="0"/>
                  <a:t>Simplest example: k-nearest neighbors (ISLR Section 3.5)</a:t>
                </a:r>
              </a:p>
              <a:p>
                <a:pPr marL="0" indent="0">
                  <a:buNone/>
                </a:pPr>
                <a:endParaRPr lang="en-IE" i="1" dirty="0"/>
              </a:p>
              <a:p>
                <a:r>
                  <a:rPr lang="en-IE" sz="2400" i="1" dirty="0">
                    <a:solidFill>
                      <a:schemeClr val="bg2">
                        <a:lumMod val="75000"/>
                      </a:schemeClr>
                    </a:solidFill>
                  </a:rPr>
                  <a:t>Effective number of parameters for k-NN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E" sz="24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IE" sz="2400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10A883-4433-AF45-A10F-91D5FC468A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5422"/>
                <a:ext cx="10515600" cy="3177681"/>
              </a:xfrm>
              <a:blipFill>
                <a:blip r:embed="rId3"/>
                <a:stretch>
                  <a:fillRect l="-965" t="-4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3DA3BD-D5F4-15EF-370E-3A458698A123}"/>
                  </a:ext>
                </a:extLst>
              </p:cNvPr>
              <p:cNvSpPr txBox="1"/>
              <p:nvPr/>
            </p:nvSpPr>
            <p:spPr>
              <a:xfrm>
                <a:off x="1275403" y="4708778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3DA3BD-D5F4-15EF-370E-3A458698A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403" y="4708778"/>
                <a:ext cx="8005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324523D-98C2-9C88-AAA9-DA4A19662841}"/>
                  </a:ext>
                </a:extLst>
              </p:cNvPr>
              <p:cNvSpPr txBox="1"/>
              <p:nvPr/>
            </p:nvSpPr>
            <p:spPr>
              <a:xfrm>
                <a:off x="2564334" y="4708401"/>
                <a:ext cx="800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324523D-98C2-9C88-AAA9-DA4A19662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334" y="4708401"/>
                <a:ext cx="8005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85198E0-4F41-AB3B-E802-4C31BAE1D6D3}"/>
                  </a:ext>
                </a:extLst>
              </p:cNvPr>
              <p:cNvSpPr txBox="1"/>
              <p:nvPr/>
            </p:nvSpPr>
            <p:spPr>
              <a:xfrm>
                <a:off x="3795961" y="4708401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85198E0-4F41-AB3B-E802-4C31BAE1D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961" y="4708401"/>
                <a:ext cx="8005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8E9FE5-E412-685C-4093-F65713F65D13}"/>
                  </a:ext>
                </a:extLst>
              </p:cNvPr>
              <p:cNvSpPr txBox="1"/>
              <p:nvPr/>
            </p:nvSpPr>
            <p:spPr>
              <a:xfrm>
                <a:off x="5142196" y="470802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8E9FE5-E412-685C-4093-F65713F65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196" y="4708024"/>
                <a:ext cx="8005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3AB0F6-CB2F-E699-736B-8B150C41C4B3}"/>
                  </a:ext>
                </a:extLst>
              </p:cNvPr>
              <p:cNvSpPr txBox="1"/>
              <p:nvPr/>
            </p:nvSpPr>
            <p:spPr>
              <a:xfrm>
                <a:off x="6367007" y="4733104"/>
                <a:ext cx="928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3AB0F6-CB2F-E699-736B-8B150C41C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007" y="4733104"/>
                <a:ext cx="9287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825607-D32A-242E-76B6-C094EE02B797}"/>
                  </a:ext>
                </a:extLst>
              </p:cNvPr>
              <p:cNvSpPr txBox="1"/>
              <p:nvPr/>
            </p:nvSpPr>
            <p:spPr>
              <a:xfrm>
                <a:off x="7591817" y="4733104"/>
                <a:ext cx="1057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825607-D32A-242E-76B6-C094EE02B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817" y="4733104"/>
                <a:ext cx="105702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6849C6-C208-E098-6F18-ED781707A9DD}"/>
                  </a:ext>
                </a:extLst>
              </p:cNvPr>
              <p:cNvSpPr txBox="1"/>
              <p:nvPr/>
            </p:nvSpPr>
            <p:spPr>
              <a:xfrm>
                <a:off x="9004596" y="4733104"/>
                <a:ext cx="8093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6849C6-C208-E098-6F18-ED781707A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596" y="4733104"/>
                <a:ext cx="80932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 descr="A close-up of a red line&#10;&#10;AI-generated content may be incorrect.">
            <a:extLst>
              <a:ext uri="{FF2B5EF4-FFF2-40B4-BE49-F238E27FC236}">
                <a16:creationId xmlns:a16="http://schemas.microsoft.com/office/drawing/2014/main" id="{A8AA5469-D502-3978-A407-B3A3F385D0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4258" y="5100457"/>
            <a:ext cx="1270000" cy="1270000"/>
          </a:xfrm>
          <a:prstGeom prst="rect">
            <a:avLst/>
          </a:prstGeom>
        </p:spPr>
      </p:pic>
      <p:pic>
        <p:nvPicPr>
          <p:cNvPr id="43" name="Picture 42" descr="A graph showing a line going up&#10;&#10;AI-generated content may be incorrect.">
            <a:extLst>
              <a:ext uri="{FF2B5EF4-FFF2-40B4-BE49-F238E27FC236}">
                <a16:creationId xmlns:a16="http://schemas.microsoft.com/office/drawing/2014/main" id="{D9C61CF5-0723-EDB9-020C-6F51AA9E3D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5328" y="5100457"/>
            <a:ext cx="1270000" cy="1270000"/>
          </a:xfrm>
          <a:prstGeom prst="rect">
            <a:avLst/>
          </a:prstGeom>
        </p:spPr>
      </p:pic>
      <p:pic>
        <p:nvPicPr>
          <p:cNvPr id="45" name="Picture 44" descr="A graph showing a line and dots&#10;&#10;AI-generated content may be incorrect.">
            <a:extLst>
              <a:ext uri="{FF2B5EF4-FFF2-40B4-BE49-F238E27FC236}">
                <a16:creationId xmlns:a16="http://schemas.microsoft.com/office/drawing/2014/main" id="{7718453C-211F-4857-D5A3-0E50C3718B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6397" y="5100457"/>
            <a:ext cx="1270000" cy="1270000"/>
          </a:xfrm>
          <a:prstGeom prst="rect">
            <a:avLst/>
          </a:prstGeom>
        </p:spPr>
      </p:pic>
      <p:pic>
        <p:nvPicPr>
          <p:cNvPr id="47" name="Picture 46" descr="A graph showing a line and a line&#10;&#10;AI-generated content may be incorrect.">
            <a:extLst>
              <a:ext uri="{FF2B5EF4-FFF2-40B4-BE49-F238E27FC236}">
                <a16:creationId xmlns:a16="http://schemas.microsoft.com/office/drawing/2014/main" id="{A1716460-E833-B11E-DFC6-8B4CBCDE05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7466" y="5100457"/>
            <a:ext cx="1270000" cy="1270000"/>
          </a:xfrm>
          <a:prstGeom prst="rect">
            <a:avLst/>
          </a:prstGeom>
        </p:spPr>
      </p:pic>
      <p:pic>
        <p:nvPicPr>
          <p:cNvPr id="49" name="Picture 48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C373756E-65DA-D1E5-69DF-9C514D9AA1F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8535" y="5100457"/>
            <a:ext cx="1270000" cy="1270000"/>
          </a:xfrm>
          <a:prstGeom prst="rect">
            <a:avLst/>
          </a:prstGeom>
        </p:spPr>
      </p:pic>
      <p:pic>
        <p:nvPicPr>
          <p:cNvPr id="51" name="Picture 50" descr="A graph of a graph showing a graph&#10;&#10;AI-generated content may be incorrect.">
            <a:extLst>
              <a:ext uri="{FF2B5EF4-FFF2-40B4-BE49-F238E27FC236}">
                <a16:creationId xmlns:a16="http://schemas.microsoft.com/office/drawing/2014/main" id="{33CE3EC4-17C6-EF6D-012B-54825EFAB5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29604" y="5100457"/>
            <a:ext cx="1270000" cy="1270000"/>
          </a:xfrm>
          <a:prstGeom prst="rect">
            <a:avLst/>
          </a:prstGeom>
        </p:spPr>
      </p:pic>
      <p:pic>
        <p:nvPicPr>
          <p:cNvPr id="53" name="Picture 52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7B4A37D2-ADBE-50C4-E646-C4D54B2EE80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0673" y="5100457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05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3C02-DD4A-C10A-BB5B-CF2370A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nonparametrics.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1C4EB8-B1F1-7F4C-E223-A7497A519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174076"/>
              </p:ext>
            </p:extLst>
          </p:nvPr>
        </p:nvGraphicFramePr>
        <p:xfrm>
          <a:off x="838200" y="3815348"/>
          <a:ext cx="11058428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29214">
                  <a:extLst>
                    <a:ext uri="{9D8B030D-6E8A-4147-A177-3AD203B41FA5}">
                      <a16:colId xmlns:a16="http://schemas.microsoft.com/office/drawing/2014/main" val="2786887397"/>
                    </a:ext>
                  </a:extLst>
                </a:gridCol>
                <a:gridCol w="5529214">
                  <a:extLst>
                    <a:ext uri="{9D8B030D-6E8A-4147-A177-3AD203B41FA5}">
                      <a16:colId xmlns:a16="http://schemas.microsoft.com/office/drawing/2014/main" val="196680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“Bottom-up”: complexity increases with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“Top-down”: complexity decreases down to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261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K-nearest neighbors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Random forests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3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Kernel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Deep learning / Neural nets / Transformers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33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Support vector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259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Boosting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90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Gaussian process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348458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248DFF-96E5-EE79-3742-077D2596E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59298"/>
          </a:xfrm>
        </p:spPr>
        <p:txBody>
          <a:bodyPr>
            <a:normAutofit/>
          </a:bodyPr>
          <a:lstStyle/>
          <a:p>
            <a:r>
              <a:rPr lang="en-US" sz="3000" dirty="0"/>
              <a:t>k-NN is not so great at controlling complexity when the number of features is more than ~5.</a:t>
            </a:r>
          </a:p>
          <a:p>
            <a:r>
              <a:rPr lang="en-IE" sz="3000" dirty="0"/>
              <a:t>Hence the rest of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104701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BBDADD-5AED-E14F-890F-FC0ECE9A8CC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E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IE" dirty="0"/>
                  <a:t> </a:t>
                </a:r>
                <a:br>
                  <a:rPr lang="en-IE" dirty="0"/>
                </a:br>
                <a:r>
                  <a:rPr lang="en-IE" dirty="0"/>
                  <a:t>with k-nearest </a:t>
                </a:r>
                <a:r>
                  <a:rPr lang="en-IE" dirty="0" err="1"/>
                  <a:t>neighbors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BBDADD-5AED-E14F-890F-FC0ECE9A8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2FE9-6967-6948-B0A9-854A3650A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Typically we have no data points with </a:t>
            </a:r>
            <a:r>
              <a:rPr lang="en-IE" i="1" dirty="0"/>
              <a:t>x </a:t>
            </a:r>
            <a:r>
              <a:rPr lang="en-IE" dirty="0"/>
              <a:t>= 4 exactly.</a:t>
            </a:r>
          </a:p>
          <a:p>
            <a:r>
              <a:rPr lang="en-IE" dirty="0"/>
              <a:t>Take “</a:t>
            </a:r>
            <a:r>
              <a:rPr lang="en-IE" dirty="0" err="1"/>
              <a:t>neighborhood</a:t>
            </a:r>
            <a:r>
              <a:rPr lang="en-IE" dirty="0"/>
              <a:t>” of points around 4 and predict average:</a:t>
            </a:r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AB4E833-5868-2145-80F0-3CDF5D731C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914650"/>
            <a:ext cx="8554526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33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6177FA-DA68-914F-805A-5C2BFF33F6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3118" y="3765921"/>
            <a:ext cx="6825764" cy="30920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C1A19-6E9E-8949-99A1-5D808E38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</a:t>
            </a:r>
            <a:r>
              <a:rPr lang="en-IE" dirty="0">
                <a:solidFill>
                  <a:srgbClr val="FF0000"/>
                </a:solidFill>
              </a:rPr>
              <a:t>not</a:t>
            </a:r>
            <a:r>
              <a:rPr lang="en-IE" dirty="0"/>
              <a:t> </a:t>
            </a:r>
            <a:r>
              <a:rPr lang="en-IE" dirty="0" err="1"/>
              <a:t>kNN</a:t>
            </a:r>
            <a:r>
              <a:rPr lang="en-IE" dirty="0"/>
              <a:t>: </a:t>
            </a:r>
            <a:br>
              <a:rPr lang="en-IE" dirty="0"/>
            </a:br>
            <a:r>
              <a:rPr lang="en-IE" dirty="0"/>
              <a:t>“Curse of dimensionality”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A93B-4331-E645-AEB8-CFA298195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kNN</a:t>
            </a:r>
            <a:r>
              <a:rPr lang="en-IE" dirty="0"/>
              <a:t> is intuitive and can work well with few predictors;</a:t>
            </a:r>
          </a:p>
          <a:p>
            <a:r>
              <a:rPr lang="en-IE" dirty="0"/>
              <a:t>With “many” (say, 5 or more) predictors, </a:t>
            </a:r>
            <a:r>
              <a:rPr lang="en-IE" dirty="0" err="1"/>
              <a:t>kNN</a:t>
            </a:r>
            <a:r>
              <a:rPr lang="en-IE" dirty="0"/>
              <a:t> breaks down:</a:t>
            </a:r>
          </a:p>
          <a:p>
            <a:r>
              <a:rPr lang="en-IE" b="1" dirty="0"/>
              <a:t>Closest</a:t>
            </a:r>
            <a:r>
              <a:rPr lang="en-IE" dirty="0"/>
              <a:t> points on many predictors simultaneously are actually  </a:t>
            </a:r>
            <a:r>
              <a:rPr lang="en-IE" b="1" dirty="0"/>
              <a:t>far away!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6D160-2091-9446-BBF1-93E3266E6464}"/>
              </a:ext>
            </a:extLst>
          </p:cNvPr>
          <p:cNvSpPr txBox="1"/>
          <p:nvPr/>
        </p:nvSpPr>
        <p:spPr>
          <a:xfrm>
            <a:off x="9527036" y="5934670"/>
            <a:ext cx="26581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Bishop (2006). </a:t>
            </a:r>
          </a:p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Pattern recognition and </a:t>
            </a:r>
          </a:p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709034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49EB-D600-2740-B25D-DAA7C42AE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2E392-2AEC-5440-BDCC-C1A1321567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825625"/>
            <a:ext cx="10515600" cy="4763579"/>
          </a:xfrm>
          <a:prstGeom prst="rect">
            <a:avLst/>
          </a:prstGeom>
        </p:spPr>
      </p:pic>
      <p:sp>
        <p:nvSpPr>
          <p:cNvPr id="5" name="Cube 4">
            <a:extLst>
              <a:ext uri="{FF2B5EF4-FFF2-40B4-BE49-F238E27FC236}">
                <a16:creationId xmlns:a16="http://schemas.microsoft.com/office/drawing/2014/main" id="{21A901FC-83E6-944B-8A29-286990CD58CD}"/>
              </a:ext>
            </a:extLst>
          </p:cNvPr>
          <p:cNvSpPr/>
          <p:nvPr/>
        </p:nvSpPr>
        <p:spPr>
          <a:xfrm>
            <a:off x="2343912" y="4828032"/>
            <a:ext cx="847344" cy="87782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2C20FE20-5915-5847-9E46-997150D5ED19}"/>
              </a:ext>
            </a:extLst>
          </p:cNvPr>
          <p:cNvSpPr/>
          <p:nvPr/>
        </p:nvSpPr>
        <p:spPr>
          <a:xfrm>
            <a:off x="5544312" y="4828032"/>
            <a:ext cx="847344" cy="87782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44B5BE8D-4EC1-3E4F-A3A9-7CEF0DFAE2F9}"/>
              </a:ext>
            </a:extLst>
          </p:cNvPr>
          <p:cNvSpPr/>
          <p:nvPr/>
        </p:nvSpPr>
        <p:spPr>
          <a:xfrm>
            <a:off x="9595104" y="3913632"/>
            <a:ext cx="847344" cy="87782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DCEC4C-8162-4F46-BCD8-BB0E770D431B}"/>
                  </a:ext>
                </a:extLst>
              </p:cNvPr>
              <p:cNvSpPr txBox="1"/>
              <p:nvPr/>
            </p:nvSpPr>
            <p:spPr>
              <a:xfrm>
                <a:off x="2343912" y="3558961"/>
                <a:ext cx="973856" cy="8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DCEC4C-8162-4F46-BCD8-BB0E770D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912" y="3558961"/>
                <a:ext cx="973856" cy="884666"/>
              </a:xfrm>
              <a:prstGeom prst="rect">
                <a:avLst/>
              </a:prstGeom>
              <a:blipFill>
                <a:blip r:embed="rId3"/>
                <a:stretch>
                  <a:fillRect l="-94872" t="-160000" r="-64103" b="-24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D3C902-3560-584F-9E6A-60B4772F45DD}"/>
                  </a:ext>
                </a:extLst>
              </p:cNvPr>
              <p:cNvSpPr txBox="1"/>
              <p:nvPr/>
            </p:nvSpPr>
            <p:spPr>
              <a:xfrm>
                <a:off x="5481056" y="2442163"/>
                <a:ext cx="973856" cy="8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D3C902-3560-584F-9E6A-60B4772F4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056" y="2442163"/>
                <a:ext cx="973856" cy="884666"/>
              </a:xfrm>
              <a:prstGeom prst="rect">
                <a:avLst/>
              </a:prstGeom>
              <a:blipFill>
                <a:blip r:embed="rId4"/>
                <a:stretch>
                  <a:fillRect l="-94872" t="-157746" r="-64103" b="-236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39DC40-6651-994A-ADCE-8EAE8316C881}"/>
                  </a:ext>
                </a:extLst>
              </p:cNvPr>
              <p:cNvSpPr txBox="1"/>
              <p:nvPr/>
            </p:nvSpPr>
            <p:spPr>
              <a:xfrm>
                <a:off x="9595104" y="1557497"/>
                <a:ext cx="1286442" cy="882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39DC40-6651-994A-ADCE-8EAE8316C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104" y="1557497"/>
                <a:ext cx="1286442" cy="882165"/>
              </a:xfrm>
              <a:prstGeom prst="rect">
                <a:avLst/>
              </a:prstGeom>
              <a:blipFill>
                <a:blip r:embed="rId5"/>
                <a:stretch>
                  <a:fillRect l="-72549" t="-160000" r="-25490" b="-24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69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F7C8-FD11-0C4A-94CC-AE94ADC3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81C6-F631-EA44-850A-34309384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sz="3000" b="1" dirty="0"/>
              <a:t>An exercise in prediction</a:t>
            </a:r>
          </a:p>
        </p:txBody>
      </p:sp>
    </p:spTree>
    <p:extLst>
      <p:ext uri="{BB962C8B-B14F-4D97-AF65-F5344CB8AC3E}">
        <p14:creationId xmlns:p14="http://schemas.microsoft.com/office/powerpoint/2010/main" val="1277760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9147-BE38-B346-90A4-DD3FDDAF0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056EC-72F8-4A4A-91AD-7E9DD1AFF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E" sz="4000" dirty="0"/>
                  <a:t>I am going to show you a data set, and we (i.e. you)  are going to try to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E" sz="4000" dirty="0"/>
                  <a:t> and predict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sz="4000" dirty="0"/>
                  <a:t>;</a:t>
                </a:r>
              </a:p>
              <a:p>
                <a:r>
                  <a:rPr lang="en-IE" sz="4000" dirty="0"/>
                  <a:t>I generated this data set myself using </a:t>
                </a:r>
                <a:r>
                  <a:rPr lang="en-IE" sz="4000" dirty="0">
                    <a:latin typeface="Fira Code" panose="020B0809050000020004" pitchFamily="49" charset="0"/>
                    <a:ea typeface="Fira Code" panose="020B0809050000020004" pitchFamily="49" charset="0"/>
                  </a:rPr>
                  <a:t>R</a:t>
                </a:r>
                <a:r>
                  <a:rPr lang="en-IE" sz="4000" dirty="0"/>
                  <a:t>, so I know the true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E" sz="4000" dirty="0"/>
                  <a:t> and distribution of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l-GR" sz="4000" dirty="0"/>
                  <a:t>.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056EC-72F8-4A4A-91AD-7E9DD1AFF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0" t="-3779" r="-2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375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8DBA-AC24-FC47-AAF2-0B0CBC45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AEAD8-A269-8346-A3E5-9D34114DE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0"/>
            <a:ext cx="9277350" cy="579834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/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300" b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Task</a:t>
                </a:r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predict </a:t>
                </a:r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(however you want):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=0.6, 1.6, 2.0</m:t>
                    </m:r>
                  </m:oMath>
                </a14:m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l-GR" sz="33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  <a:blipFill>
                <a:blip r:embed="rId3"/>
                <a:stretch>
                  <a:fillRect l="-1689" t="-14583" r="-9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468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8DBA-AC24-FC47-AAF2-0B0CBC45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AEAD8-A269-8346-A3E5-9D34114DE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0"/>
            <a:ext cx="9277350" cy="579834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/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300" b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Task</a:t>
                </a:r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predict </a:t>
                </a:r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(however you want):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=0.6, 1.6, 2.0</m:t>
                    </m:r>
                  </m:oMath>
                </a14:m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l-GR" sz="33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  <a:blipFill>
                <a:blip r:embed="rId3"/>
                <a:stretch>
                  <a:fillRect l="-1689" t="-14583" r="-9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719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8DBA-AC24-FC47-AAF2-0B0CBC45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AEAD8-A269-8346-A3E5-9D34114DE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0"/>
            <a:ext cx="9277350" cy="579834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/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300" b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Task</a:t>
                </a:r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predict </a:t>
                </a:r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(however you want):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=0.6, 1.6, 2.0</m:t>
                    </m:r>
                  </m:oMath>
                </a14:m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l-GR" sz="33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  <a:blipFill>
                <a:blip r:embed="rId3"/>
                <a:stretch>
                  <a:fillRect l="-1689" t="-14583" r="-9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565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8DBA-AC24-FC47-AAF2-0B0CBC45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AEAD8-A269-8346-A3E5-9D34114DE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1" y="0"/>
            <a:ext cx="9277348" cy="579834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/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300" b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Task</a:t>
                </a:r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predict </a:t>
                </a:r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(however you want):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IE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𝑥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=0.6, 1.6, 2.0</m:t>
                    </m:r>
                  </m:oMath>
                </a14:m>
                <a:r>
                  <a:rPr lang="en-US" sz="33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l-GR" sz="33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5EC951-4A5F-A64C-8056-9FF0E933F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895666"/>
                <a:ext cx="10515599" cy="600164"/>
              </a:xfrm>
              <a:prstGeom prst="rect">
                <a:avLst/>
              </a:prstGeom>
              <a:blipFill>
                <a:blip r:embed="rId3"/>
                <a:stretch>
                  <a:fillRect l="-1689" t="-14583" r="-9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754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BF49774-CA84-4143-8E8E-5913B909A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8201" y="136525"/>
            <a:ext cx="3824426" cy="2390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8DF8FFD-4F08-7C4D-9C3F-DCCA7C595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764246"/>
                  </p:ext>
                </p:extLst>
              </p:nvPr>
            </p:nvGraphicFramePr>
            <p:xfrm>
              <a:off x="838201" y="2696534"/>
              <a:ext cx="9646920" cy="32693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39664">
                      <a:extLst>
                        <a:ext uri="{9D8B030D-6E8A-4147-A177-3AD203B41FA5}">
                          <a16:colId xmlns:a16="http://schemas.microsoft.com/office/drawing/2014/main" val="203922259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3005851264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87934216"/>
                        </a:ext>
                      </a:extLst>
                    </a:gridCol>
                    <a:gridCol w="1368170">
                      <a:extLst>
                        <a:ext uri="{9D8B030D-6E8A-4147-A177-3AD203B41FA5}">
                          <a16:colId xmlns:a16="http://schemas.microsoft.com/office/drawing/2014/main" val="3598721778"/>
                        </a:ext>
                      </a:extLst>
                    </a:gridCol>
                  </a:tblGrid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Model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en-US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(0.6)</m:t>
                                </m:r>
                              </m:oMath>
                            </m:oMathPara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en-US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(1.6)</m:t>
                                </m:r>
                              </m:oMath>
                            </m:oMathPara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en-US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(2.0)</m:t>
                                </m:r>
                              </m:oMath>
                            </m:oMathPara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4722858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Eyeballing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569491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b="0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0.166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9450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 w/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0.315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0.084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-0.959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8884743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Nonparametric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1.368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0.076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52650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8DF8FFD-4F08-7C4D-9C3F-DCCA7C595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764246"/>
                  </p:ext>
                </p:extLst>
              </p:nvPr>
            </p:nvGraphicFramePr>
            <p:xfrm>
              <a:off x="838201" y="2696534"/>
              <a:ext cx="9646920" cy="32693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39664">
                      <a:extLst>
                        <a:ext uri="{9D8B030D-6E8A-4147-A177-3AD203B41FA5}">
                          <a16:colId xmlns:a16="http://schemas.microsoft.com/office/drawing/2014/main" val="203922259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3005851264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87934216"/>
                        </a:ext>
                      </a:extLst>
                    </a:gridCol>
                    <a:gridCol w="1368170">
                      <a:extLst>
                        <a:ext uri="{9D8B030D-6E8A-4147-A177-3AD203B41FA5}">
                          <a16:colId xmlns:a16="http://schemas.microsoft.com/office/drawing/2014/main" val="3598721778"/>
                        </a:ext>
                      </a:extLst>
                    </a:gridCol>
                  </a:tblGrid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Model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7387" t="-11538" r="-200000" b="-4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3036" t="-11538" r="-98214" b="-4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4630" t="-11538" r="-1852" b="-4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722858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Eyeballing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569491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b="0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0.166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9450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 w/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0.315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0.084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-0.959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8884743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Nonparametric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1.368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0.076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52650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5702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09C03C-3BCC-6C43-A18B-45D11FBD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047" y="643466"/>
            <a:ext cx="8923905" cy="55710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9AF36B-F6C5-F64C-BA4B-424205F8ED00}"/>
              </a:ext>
            </a:extLst>
          </p:cNvPr>
          <p:cNvSpPr/>
          <p:nvPr/>
        </p:nvSpPr>
        <p:spPr>
          <a:xfrm>
            <a:off x="7906211" y="274134"/>
            <a:ext cx="42857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truth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(normally we don’t know this!)</a:t>
            </a:r>
          </a:p>
        </p:txBody>
      </p:sp>
    </p:spTree>
    <p:extLst>
      <p:ext uri="{BB962C8B-B14F-4D97-AF65-F5344CB8AC3E}">
        <p14:creationId xmlns:p14="http://schemas.microsoft.com/office/powerpoint/2010/main" val="3266492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BF49774-CA84-4143-8E8E-5913B909A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1" y="136525"/>
            <a:ext cx="3824426" cy="2390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8DF8FFD-4F08-7C4D-9C3F-DCCA7C595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4836053"/>
                  </p:ext>
                </p:extLst>
              </p:nvPr>
            </p:nvGraphicFramePr>
            <p:xfrm>
              <a:off x="838201" y="2696534"/>
              <a:ext cx="9646920" cy="3923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39664">
                      <a:extLst>
                        <a:ext uri="{9D8B030D-6E8A-4147-A177-3AD203B41FA5}">
                          <a16:colId xmlns:a16="http://schemas.microsoft.com/office/drawing/2014/main" val="203922259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3005851264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87934216"/>
                        </a:ext>
                      </a:extLst>
                    </a:gridCol>
                    <a:gridCol w="1368170">
                      <a:extLst>
                        <a:ext uri="{9D8B030D-6E8A-4147-A177-3AD203B41FA5}">
                          <a16:colId xmlns:a16="http://schemas.microsoft.com/office/drawing/2014/main" val="3598721778"/>
                        </a:ext>
                      </a:extLst>
                    </a:gridCol>
                  </a:tblGrid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Model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en-US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(0.6)</m:t>
                                </m:r>
                              </m:oMath>
                            </m:oMathPara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en-US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(1.6)</m:t>
                                </m:r>
                              </m:oMath>
                            </m:oMathPara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en-US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(2.0)</m:t>
                                </m:r>
                              </m:oMath>
                            </m:oMathPara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4722858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Eyeballing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569491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b="0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0.166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9450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 w/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0.315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0.084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-0.959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8884743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Nonparametric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1.368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0.076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5265072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b="1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THE REAL TRUTH!</a:t>
                          </a:r>
                          <a:r>
                            <a:rPr lang="en-US" sz="3000" b="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</a:t>
                          </a:r>
                          <a:r>
                            <a:rPr lang="en-US" sz="3000" b="1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𝑓</m:t>
                              </m:r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</m:t>
                              </m:r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𝑥</m:t>
                              </m:r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)</m:t>
                              </m:r>
                            </m:oMath>
                          </a14:m>
                          <a:endParaRPr lang="en-US" sz="3000" b="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0.775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1.265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1.414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3859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8DF8FFD-4F08-7C4D-9C3F-DCCA7C595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4836053"/>
                  </p:ext>
                </p:extLst>
              </p:nvPr>
            </p:nvGraphicFramePr>
            <p:xfrm>
              <a:off x="838201" y="2696534"/>
              <a:ext cx="9646920" cy="3923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39664">
                      <a:extLst>
                        <a:ext uri="{9D8B030D-6E8A-4147-A177-3AD203B41FA5}">
                          <a16:colId xmlns:a16="http://schemas.microsoft.com/office/drawing/2014/main" val="203922259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3005851264"/>
                        </a:ext>
                      </a:extLst>
                    </a:gridCol>
                    <a:gridCol w="1419543">
                      <a:extLst>
                        <a:ext uri="{9D8B030D-6E8A-4147-A177-3AD203B41FA5}">
                          <a16:colId xmlns:a16="http://schemas.microsoft.com/office/drawing/2014/main" val="87934216"/>
                        </a:ext>
                      </a:extLst>
                    </a:gridCol>
                    <a:gridCol w="1368170">
                      <a:extLst>
                        <a:ext uri="{9D8B030D-6E8A-4147-A177-3AD203B41FA5}">
                          <a16:colId xmlns:a16="http://schemas.microsoft.com/office/drawing/2014/main" val="3598721778"/>
                        </a:ext>
                      </a:extLst>
                    </a:gridCol>
                  </a:tblGrid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Model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7387" t="-11538" r="-200000" b="-5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3036" t="-11538" r="-98214" b="-5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630" t="-11538" r="-1852" b="-5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722858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Eyeballing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?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569491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b="0" dirty="0">
                              <a:solidFill>
                                <a:srgbClr val="000000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0.192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b="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0.166</a:t>
                          </a:r>
                          <a:endParaRPr lang="en-IE" sz="2800" b="0" dirty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94507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Linear regression w/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0.315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0.084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-0.959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8884743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r>
                            <a:rPr lang="en-US" sz="30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Nonparametric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1.368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0.076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-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5265072"/>
                      </a:ext>
                    </a:extLst>
                  </a:tr>
                  <a:tr h="653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3" t="-507692" r="-77622" b="-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0.775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E" sz="2800" kern="1200" dirty="0">
                              <a:solidFill>
                                <a:schemeClr val="dk1"/>
                              </a:solidFill>
                              <a:effectLst/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1.265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1.414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38594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0662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F7C8-FD11-0C4A-94CC-AE94ADC3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81C6-F631-EA44-850A-34309384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sz="3000" b="1" dirty="0"/>
              <a:t>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3962588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8080-200C-CE4E-94B9-AFFEFFD8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7D512-CF7C-6B41-93CB-0D6478FB0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E" dirty="0"/>
                  <a:t>The predictions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 differ from the true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;</a:t>
                </a:r>
              </a:p>
              <a:p>
                <a:r>
                  <a:rPr lang="en-IE" dirty="0"/>
                  <a:t>We can evaluate how much this happens “on average”.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7D512-CF7C-6B41-93CB-0D6478FB0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841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8218-E81D-1844-A622-7E7CEF21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few model evaluation metrics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9042E7-5A38-B949-854F-32F32A8CB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99" y="1570982"/>
            <a:ext cx="5504727" cy="5285512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1E6573F-40E4-6547-BAD8-8A1FC9B4D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71190" y="2288965"/>
            <a:ext cx="5420810" cy="361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988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7328-F9EF-C145-BEFA-7D56F5DD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loss functions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4EC3CC-1469-0643-A879-C8B166EE7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76" y="1690688"/>
            <a:ext cx="10550224" cy="24072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2152EF-D967-E44B-89DC-3F60F75CA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03712"/>
            <a:ext cx="6372244" cy="240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62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F9E5-D423-8847-ACCC-4D14BF94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who won…?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2E13-7A61-194C-B38D-28EBE9ED0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300" dirty="0"/>
              <a:t>Which model appears to fit best to the training data?</a:t>
            </a:r>
          </a:p>
          <a:p>
            <a:r>
              <a:rPr lang="en-IE" sz="3300" dirty="0"/>
              <a:t>Calculate MSE for one model, relative to truth.</a:t>
            </a:r>
          </a:p>
          <a:p>
            <a:r>
              <a:rPr lang="en-IE" sz="3300" dirty="0"/>
              <a:t>Which is the best model in terms of MSE?</a:t>
            </a:r>
          </a:p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130163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BE06-F9CE-3342-8CFA-9BDEF235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 winner is…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AE4DFF-6002-FA45-9B1B-78A883EED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240008"/>
              </p:ext>
            </p:extLst>
          </p:nvPr>
        </p:nvGraphicFramePr>
        <p:xfrm>
          <a:off x="838200" y="1825625"/>
          <a:ext cx="10515601" cy="36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3623">
                  <a:extLst>
                    <a:ext uri="{9D8B030D-6E8A-4147-A177-3AD203B41FA5}">
                      <a16:colId xmlns:a16="http://schemas.microsoft.com/office/drawing/2014/main" val="1148506032"/>
                    </a:ext>
                  </a:extLst>
                </a:gridCol>
                <a:gridCol w="1794076">
                  <a:extLst>
                    <a:ext uri="{9D8B030D-6E8A-4147-A177-3AD203B41FA5}">
                      <a16:colId xmlns:a16="http://schemas.microsoft.com/office/drawing/2014/main" val="1426666234"/>
                    </a:ext>
                  </a:extLst>
                </a:gridCol>
                <a:gridCol w="3077902">
                  <a:extLst>
                    <a:ext uri="{9D8B030D-6E8A-4147-A177-3AD203B41FA5}">
                      <a16:colId xmlns:a16="http://schemas.microsoft.com/office/drawing/2014/main" val="3998710661"/>
                    </a:ext>
                  </a:extLst>
                </a:gridCol>
              </a:tblGrid>
              <a:tr h="65387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30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MSE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30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MSE</a:t>
                      </a:r>
                    </a:p>
                    <a:p>
                      <a:pPr algn="r"/>
                      <a:r>
                        <a:rPr lang="en-US" sz="30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(interpolation)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548458"/>
                  </a:ext>
                </a:extLst>
              </a:tr>
              <a:tr h="65387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Eyeballing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0542"/>
                  </a:ext>
                </a:extLst>
              </a:tr>
              <a:tr h="65387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Linear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E" sz="2800" b="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0.992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b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0.709</a:t>
                      </a:r>
                      <a:endParaRPr lang="en-IE" sz="2800" b="0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48203"/>
                  </a:ext>
                </a:extLst>
              </a:tr>
              <a:tr h="65387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Linear regression w/ quadratic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2.410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E" sz="28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0.883</a:t>
                      </a:r>
                      <a:endParaRPr lang="en-US" sz="28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95221"/>
                  </a:ext>
                </a:extLst>
              </a:tr>
              <a:tr h="65387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Nonparametric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0.883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87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0EEA15-D8ED-A742-98F3-1D78F3278881}"/>
                  </a:ext>
                </a:extLst>
              </p:cNvPr>
              <p:cNvSpPr txBox="1"/>
              <p:nvPr/>
            </p:nvSpPr>
            <p:spPr>
              <a:xfrm>
                <a:off x="838200" y="5933683"/>
                <a:ext cx="7383753" cy="5591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Truth</a:t>
                </a:r>
                <a:r>
                  <a:rPr lang="en-US" sz="30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0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nor/>
                      </m:rPr>
                      <a:rPr lang="en-US" sz="3000" b="0" i="0" smtClean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Normal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0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0EEA15-D8ED-A742-98F3-1D78F3278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33683"/>
                <a:ext cx="7383753" cy="559192"/>
              </a:xfrm>
              <a:prstGeom prst="rect">
                <a:avLst/>
              </a:prstGeom>
              <a:blipFill>
                <a:blip r:embed="rId2"/>
                <a:stretch>
                  <a:fillRect l="-1890" t="-1111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0438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623C-8311-D647-B8BF-76E38682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A629D-1618-2047-84A0-840EBF22BA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IE" dirty="0"/>
                  <a:t>There were few observations, relative to the complexity of most models (except perhaps linear regression);</a:t>
                </a:r>
              </a:p>
              <a:p>
                <a:r>
                  <a:rPr lang="en-IE" dirty="0"/>
                  <a:t>The observed data </a:t>
                </a:r>
                <a:r>
                  <a:rPr lang="en-IE" i="1" dirty="0"/>
                  <a:t>were</a:t>
                </a:r>
                <a:r>
                  <a:rPr lang="en-IE" dirty="0"/>
                  <a:t> a random sample from the true “data-generating process”,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l-GR" dirty="0"/>
                  <a:t>;</a:t>
                </a:r>
              </a:p>
              <a:p>
                <a:pPr marL="0" indent="0">
                  <a:buNone/>
                </a:pPr>
                <a:endParaRPr lang="en-IE" dirty="0"/>
              </a:p>
              <a:p>
                <a:pPr marL="0" indent="0">
                  <a:buNone/>
                </a:pPr>
                <a:r>
                  <a:rPr lang="en-IE" dirty="0"/>
                  <a:t>BUT</a:t>
                </a:r>
              </a:p>
              <a:p>
                <a:pPr marL="0" indent="0">
                  <a:buNone/>
                </a:pPr>
                <a:endParaRPr lang="en-IE" dirty="0"/>
              </a:p>
              <a:p>
                <a:r>
                  <a:rPr lang="en-IE" dirty="0"/>
                  <a:t>By chance, patterns appeared that are </a:t>
                </a:r>
                <a:r>
                  <a:rPr lang="en-IE" i="1" dirty="0"/>
                  <a:t>not </a:t>
                </a:r>
                <a:r>
                  <a:rPr lang="en-IE" dirty="0"/>
                  <a:t>in the true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;</a:t>
                </a:r>
              </a:p>
              <a:p>
                <a:r>
                  <a:rPr lang="en-IE" dirty="0"/>
                  <a:t>The more flexible models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 </a:t>
                </a:r>
                <a:r>
                  <a:rPr lang="en-IE" sz="3300" b="1" dirty="0"/>
                  <a:t>overfitted</a:t>
                </a:r>
                <a:r>
                  <a:rPr lang="en-IE" b="1" dirty="0"/>
                  <a:t> </a:t>
                </a:r>
                <a:r>
                  <a:rPr lang="en-IE" dirty="0"/>
                  <a:t>these patterns.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A629D-1618-2047-84A0-840EBF22BA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168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132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6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tatue of two people&#10;&#10;Description automatically generated with low confidence">
            <a:extLst>
              <a:ext uri="{FF2B5EF4-FFF2-40B4-BE49-F238E27FC236}">
                <a16:creationId xmlns:a16="http://schemas.microsoft.com/office/drawing/2014/main" id="{EB612E22-5C66-494F-A7A8-75333234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1501" y="643466"/>
            <a:ext cx="442899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17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4A75-CA82-2140-954A-8986BC5A4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32ABF"/>
                </a:solidFill>
              </a:rPr>
              <a:t>Thought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21CC-C7AC-EC43-B895-B75DC72B1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542"/>
          </a:xfrm>
        </p:spPr>
        <p:txBody>
          <a:bodyPr>
            <a:normAutofit/>
          </a:bodyPr>
          <a:lstStyle/>
          <a:p>
            <a:r>
              <a:rPr lang="en-IE" dirty="0"/>
              <a:t>Imagine we had sampled another 5 observations, re-trained all of our models, and predicted again. </a:t>
            </a:r>
          </a:p>
          <a:p>
            <a:r>
              <a:rPr lang="en-IE" dirty="0"/>
              <a:t>Each time we remember the predictions given. </a:t>
            </a:r>
          </a:p>
          <a:p>
            <a:r>
              <a:rPr lang="en-IE" dirty="0"/>
              <a:t>We do this a large number of (say, 1,000,000,000) times, and then take the average for the predictions over all samples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Which model(s) would give the right prediction </a:t>
            </a:r>
            <a:r>
              <a:rPr lang="en-US" b="1" dirty="0"/>
              <a:t>on average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Which model(s) would give wildly varying predictions?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Which model(s) would you </a:t>
            </a:r>
            <a:r>
              <a:rPr lang="en-IE" i="1" dirty="0"/>
              <a:t>guess</a:t>
            </a:r>
            <a:r>
              <a:rPr lang="en-IE" dirty="0"/>
              <a:t> have the lowest MSE overall?</a:t>
            </a:r>
          </a:p>
        </p:txBody>
      </p:sp>
    </p:spTree>
    <p:extLst>
      <p:ext uri="{BB962C8B-B14F-4D97-AF65-F5344CB8AC3E}">
        <p14:creationId xmlns:p14="http://schemas.microsoft.com/office/powerpoint/2010/main" val="150378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D93871-CF2C-1142-AEA9-4B5F12B84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E32ABF"/>
                </a:solidFill>
              </a:rPr>
              <a:t>Unbiased</a:t>
            </a:r>
          </a:p>
          <a:p>
            <a:pPr marL="0" indent="0">
              <a:buNone/>
            </a:pPr>
            <a:r>
              <a:rPr lang="en-IE" i="1" dirty="0"/>
              <a:t>Model that gives the correct prediction, on average over samples from the target population</a:t>
            </a:r>
          </a:p>
          <a:p>
            <a:r>
              <a:rPr lang="en-IE" dirty="0"/>
              <a:t>Unbiased in our example: nonparametric, square-root</a:t>
            </a:r>
          </a:p>
          <a:p>
            <a:r>
              <a:rPr lang="en-IE" dirty="0"/>
              <a:t>Biased in our example: all others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b="1" dirty="0">
                <a:solidFill>
                  <a:srgbClr val="E32ABF"/>
                </a:solidFill>
              </a:rPr>
              <a:t>High variance:</a:t>
            </a:r>
          </a:p>
          <a:p>
            <a:pPr marL="0" indent="0">
              <a:buNone/>
            </a:pPr>
            <a:r>
              <a:rPr lang="en-IE" i="1" dirty="0"/>
              <a:t>Model that easily overfits accidental patterns.</a:t>
            </a:r>
          </a:p>
          <a:p>
            <a:r>
              <a:rPr lang="en-IE" dirty="0"/>
              <a:t>High variance in our example: </a:t>
            </a:r>
            <a:r>
              <a:rPr lang="en-IE" dirty="0" err="1"/>
              <a:t>nonparam</a:t>
            </a:r>
            <a:r>
              <a:rPr lang="en-IE" dirty="0"/>
              <a:t>., quadratic, </a:t>
            </a:r>
            <a:r>
              <a:rPr lang="en-IE" dirty="0" err="1"/>
              <a:t>sq</a:t>
            </a:r>
            <a:r>
              <a:rPr lang="en-IE" dirty="0"/>
              <a:t>-root</a:t>
            </a:r>
          </a:p>
          <a:p>
            <a:r>
              <a:rPr lang="en-IE" dirty="0"/>
              <a:t>Low variance in our example: linear regression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11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013F-E12F-0B4E-8823-E29E696B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32ABF"/>
                </a:solidFill>
              </a:rPr>
              <a:t>Bias and variance in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B7C8-6A8A-C748-A433-6AFB61DA1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Some, possibly surprising, conclusions: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The </a:t>
            </a:r>
            <a:r>
              <a:rPr lang="en-US" b="1" dirty="0"/>
              <a:t>best</a:t>
            </a:r>
            <a:r>
              <a:rPr lang="en-US" dirty="0"/>
              <a:t> model in one sense is the </a:t>
            </a:r>
            <a:r>
              <a:rPr lang="en-US" b="1" dirty="0"/>
              <a:t>worst</a:t>
            </a:r>
            <a:r>
              <a:rPr lang="en-US" dirty="0"/>
              <a:t> model in the other!</a:t>
            </a:r>
          </a:p>
          <a:p>
            <a:r>
              <a:rPr lang="en-US" dirty="0"/>
              <a:t>The “correct” model is not the best model!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588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F4EE-B651-AC4F-AE17-75B41B13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32ABF"/>
                </a:solidFill>
              </a:rPr>
              <a:t>Bias-variance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B617A-4E48-DF46-B3FA-C08AAF243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Flexibility ➞ less bias</a:t>
            </a:r>
          </a:p>
          <a:p>
            <a:r>
              <a:rPr lang="en-US" dirty="0"/>
              <a:t>Flexibility ➞ more variance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IE" i="1" dirty="0"/>
              <a:t>Bias and variance are implicitly linked because they are both affected by </a:t>
            </a:r>
            <a:r>
              <a:rPr lang="en-IE" b="1" dirty="0"/>
              <a:t>model complexity </a:t>
            </a:r>
            <a:r>
              <a:rPr lang="en-IE" sz="1800" dirty="0"/>
              <a:t>(“flexibility”, “capacity”, “effective number of parameters”)</a:t>
            </a:r>
          </a:p>
          <a:p>
            <a:pPr marL="0" indent="0">
              <a:buNone/>
            </a:pPr>
            <a:endParaRPr lang="en-IE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52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388A-8618-2E4E-BA35-0966C3AB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32ABF"/>
                </a:solidFill>
              </a:rPr>
              <a:t>What do you mean by “complexity”?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8337E-CA53-3D43-8FC5-0BB4A937B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E" dirty="0"/>
                  <a:t>Amount of information in data absorbed into model;</a:t>
                </a:r>
              </a:p>
              <a:p>
                <a:r>
                  <a:rPr lang="en-IE" dirty="0"/>
                  <a:t>Amount of compression performed on data by model;</a:t>
                </a:r>
              </a:p>
              <a:p>
                <a:r>
                  <a:rPr lang="en-IE" dirty="0"/>
                  <a:t>Effective number of parameters</a:t>
                </a:r>
              </a:p>
              <a:p>
                <a:pPr marL="0" indent="0">
                  <a:buNone/>
                </a:pPr>
                <a:endParaRPr lang="en-IE" dirty="0"/>
              </a:p>
              <a:p>
                <a:pPr marL="0" indent="0">
                  <a:buNone/>
                </a:pPr>
                <a:r>
                  <a:rPr lang="en-IE" dirty="0"/>
                  <a:t>Examples of things that make model </a:t>
                </a:r>
                <a:r>
                  <a:rPr lang="en-IE" b="1" dirty="0"/>
                  <a:t>more “complex”</a:t>
                </a:r>
                <a:r>
                  <a:rPr lang="en-IE" dirty="0"/>
                  <a:t>:</a:t>
                </a:r>
              </a:p>
              <a:p>
                <a:r>
                  <a:rPr lang="en-IE" dirty="0"/>
                  <a:t>More predictors in linear regression</a:t>
                </a:r>
              </a:p>
              <a:p>
                <a:r>
                  <a:rPr lang="en-IE" dirty="0"/>
                  <a:t>Higher-order polynomial in linear regression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E" dirty="0"/>
                  <a:t> etc.);</a:t>
                </a:r>
              </a:p>
              <a:p>
                <a:r>
                  <a:rPr lang="en-IE" dirty="0"/>
                  <a:t>Smaller k in </a:t>
                </a:r>
                <a:r>
                  <a:rPr lang="en-IE" dirty="0" err="1"/>
                  <a:t>kNN</a:t>
                </a:r>
                <a:endParaRPr lang="en-IE" dirty="0"/>
              </a:p>
              <a:p>
                <a:r>
                  <a:rPr lang="en-IE" dirty="0"/>
                  <a:t>...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8337E-CA53-3D43-8FC5-0BB4A937B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346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E32B-A82C-C345-9E49-25674F15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A194-A3CE-F647-9929-D91F15BA0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</a:t>
            </a:r>
            <a:r>
              <a:rPr lang="en-US" dirty="0"/>
              <a:t>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Does the bias-variance tradeoff occur with n = 5?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Does the bias-variance tradeoff occur with n = 5,000,000,000?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115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4440782C-47EE-5E42-9D08-16CD3C1FA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2938" y="0"/>
            <a:ext cx="10904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36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F9">
            <a:alpha val="518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ADA1-16BA-7D4D-95DD-D49DFDBD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91F4DC-6428-7C44-8401-19D5068AB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b="0" i="1" smtClean="0">
                          <a:solidFill>
                            <a:srgbClr val="E32AB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5000" b="0" i="1" smtClean="0">
                              <a:solidFill>
                                <a:srgbClr val="E32AB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5000" b="0" i="0" smtClean="0">
                              <a:solidFill>
                                <a:srgbClr val="E32ABF"/>
                              </a:solidFill>
                              <a:latin typeface="Cambria Math" panose="02040503050406030204" pitchFamily="18" charset="0"/>
                            </a:rPr>
                            <m:t>MSE</m:t>
                          </m:r>
                        </m:e>
                      </m:d>
                      <m:r>
                        <a:rPr lang="en-US" sz="5000" b="0" i="1" smtClean="0">
                          <a:solidFill>
                            <a:srgbClr val="E32AB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5000" b="0" i="1" smtClean="0">
                              <a:solidFill>
                                <a:srgbClr val="E32AB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5000" b="0" i="0" smtClean="0">
                              <a:solidFill>
                                <a:srgbClr val="E32ABF"/>
                              </a:solidFill>
                              <a:latin typeface="Cambria Math" panose="02040503050406030204" pitchFamily="18" charset="0"/>
                            </a:rPr>
                            <m:t>Bias</m:t>
                          </m:r>
                        </m:e>
                        <m:sup>
                          <m:r>
                            <a:rPr lang="en-US" sz="5000" b="0" i="1" smtClean="0">
                              <a:solidFill>
                                <a:srgbClr val="E32AB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000" b="0" i="1" smtClean="0">
                          <a:solidFill>
                            <a:srgbClr val="E32AB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5000" b="0" i="0" smtClean="0">
                          <a:solidFill>
                            <a:srgbClr val="E32ABF"/>
                          </a:solidFill>
                          <a:latin typeface="Cambria Math" panose="02040503050406030204" pitchFamily="18" charset="0"/>
                        </a:rPr>
                        <m:t>Variance</m:t>
                      </m:r>
                      <m:r>
                        <a:rPr lang="en-US" sz="5000" b="0" i="1" smtClean="0">
                          <a:solidFill>
                            <a:srgbClr val="E32AB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000" b="0" i="1" smtClean="0">
                          <a:solidFill>
                            <a:srgbClr val="E32AB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sz="5000" dirty="0">
                  <a:solidFill>
                    <a:srgbClr val="E32ABF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E" dirty="0"/>
                  <a:t>Population mean squared error is squared bias PLUS model variance PLUS irreducible variance.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E" dirty="0">
                    <a:solidFill>
                      <a:schemeClr val="bg2">
                        <a:lumMod val="75000"/>
                      </a:schemeClr>
                    </a:solidFill>
                  </a:rPr>
                  <a:t>(The E means “on average over samples from the target population”).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91F4DC-6428-7C44-8401-19D5068AB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7986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2043-E8B4-3E4A-B3A0-7F298906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69BF-1A02-5F4E-81A9-EA2AAB5F5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8249F-35FE-EF46-8BDD-70A0C07B4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293" y="1027906"/>
            <a:ext cx="13945674" cy="498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10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7893-08BF-1B4F-B087-B8A79ECB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5E235-6A84-4F4A-B2A0-9DD46E4D8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In </a:t>
            </a:r>
            <a:r>
              <a:rPr lang="en-IE" dirty="0">
                <a:solidFill>
                  <a:srgbClr val="E32ABF"/>
                </a:solidFill>
              </a:rPr>
              <a:t>thought experiment-land</a:t>
            </a:r>
            <a:r>
              <a:rPr lang="en-IE" dirty="0"/>
              <a:t>, I knew the true f(x) so you could calculate exactly what E(MSE) was;</a:t>
            </a:r>
          </a:p>
          <a:p>
            <a:r>
              <a:rPr lang="en-IE" dirty="0"/>
              <a:t>This is sometimes called the “</a:t>
            </a:r>
            <a:r>
              <a:rPr lang="en-IE" dirty="0">
                <a:solidFill>
                  <a:srgbClr val="E32ABF"/>
                </a:solidFill>
              </a:rPr>
              <a:t>Bayes error</a:t>
            </a:r>
            <a:r>
              <a:rPr lang="en-IE" dirty="0"/>
              <a:t>”.</a:t>
            </a:r>
          </a:p>
          <a:p>
            <a:r>
              <a:rPr lang="en-IE" dirty="0"/>
              <a:t>In practice we do not </a:t>
            </a:r>
            <a:r>
              <a:rPr lang="en-IE" i="1" dirty="0"/>
              <a:t>know </a:t>
            </a:r>
            <a:r>
              <a:rPr lang="en-IE" dirty="0"/>
              <a:t>the truth;</a:t>
            </a:r>
          </a:p>
          <a:p>
            <a:r>
              <a:rPr lang="en-IE" dirty="0"/>
              <a:t>How can we </a:t>
            </a:r>
            <a:r>
              <a:rPr lang="en-IE" b="1" i="1" dirty="0"/>
              <a:t>estimate</a:t>
            </a:r>
            <a:r>
              <a:rPr lang="en-IE" dirty="0"/>
              <a:t> E(MSE)?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608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16D2-18B9-754E-8DD4-2A9C4DE2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reality!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A83735-AEF1-F849-AA1A-1800FC995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Problem</a:t>
            </a:r>
            <a:r>
              <a:rPr lang="en-US" dirty="0"/>
              <a:t>:</a:t>
            </a:r>
          </a:p>
          <a:p>
            <a:r>
              <a:rPr lang="en-US" dirty="0"/>
              <a:t>Wait, we don’t actually have the population!</a:t>
            </a:r>
          </a:p>
          <a:p>
            <a:r>
              <a:rPr lang="en-US" dirty="0"/>
              <a:t>And our training data were already used to train the model…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Solution</a:t>
            </a:r>
            <a:r>
              <a:rPr lang="en-US" dirty="0"/>
              <a:t>:</a:t>
            </a:r>
          </a:p>
          <a:p>
            <a:r>
              <a:rPr lang="en-US" dirty="0"/>
              <a:t>Instead, we will take a new, pristine, sample from population:</a:t>
            </a:r>
          </a:p>
          <a:p>
            <a:r>
              <a:rPr lang="en-US" dirty="0"/>
              <a:t>The </a:t>
            </a:r>
            <a:r>
              <a:rPr lang="en-US" b="1" dirty="0"/>
              <a:t>test data</a:t>
            </a:r>
          </a:p>
        </p:txBody>
      </p:sp>
    </p:spTree>
    <p:extLst>
      <p:ext uri="{BB962C8B-B14F-4D97-AF65-F5344CB8AC3E}">
        <p14:creationId xmlns:p14="http://schemas.microsoft.com/office/powerpoint/2010/main" val="4804143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D422-C24E-6F49-98D6-1C08BA5F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7EBB-A8A3-2B47-B213-A8E0179F0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b="1" dirty="0"/>
              <a:t>The train-</a:t>
            </a:r>
            <a:r>
              <a:rPr lang="en-US" sz="3300" b="1" dirty="0" err="1"/>
              <a:t>val</a:t>
            </a:r>
            <a:r>
              <a:rPr lang="en-US" sz="3300" b="1" dirty="0"/>
              <a:t>-test paradigm</a:t>
            </a:r>
          </a:p>
        </p:txBody>
      </p:sp>
    </p:spTree>
    <p:extLst>
      <p:ext uri="{BB962C8B-B14F-4D97-AF65-F5344CB8AC3E}">
        <p14:creationId xmlns:p14="http://schemas.microsoft.com/office/powerpoint/2010/main" val="38160637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6CC1-1932-034F-8415-2484EB07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A41F5F-2DB5-2D49-BAC5-ED4BFA8DDE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E" b="1" dirty="0"/>
                  <a:t>Question</a:t>
                </a:r>
                <a:r>
                  <a:rPr lang="en-IE" dirty="0"/>
                  <a:t>: What observations are we supposed to take the “average” over when calculating metrics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?</a:t>
                </a:r>
              </a:p>
              <a:p>
                <a:pPr marL="0" indent="0">
                  <a:buNone/>
                </a:pPr>
                <a:endParaRPr lang="en-IE" dirty="0"/>
              </a:p>
              <a:p>
                <a:pPr marL="0" indent="0">
                  <a:buNone/>
                </a:pPr>
                <a:r>
                  <a:rPr lang="en-IE" dirty="0"/>
                  <a:t>A. Observations used to fit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dirty="0"/>
                  <a:t>.</a:t>
                </a:r>
              </a:p>
              <a:p>
                <a:pPr marL="0" indent="0">
                  <a:buNone/>
                </a:pPr>
                <a:r>
                  <a:rPr lang="en-IE" dirty="0"/>
                  <a:t>B. New observations from the same source.</a:t>
                </a:r>
              </a:p>
              <a:p>
                <a:pPr marL="0" indent="0">
                  <a:buNone/>
                </a:pPr>
                <a:r>
                  <a:rPr lang="en-IE" dirty="0"/>
                  <a:t>C. New observations from the intended prediction situation.</a:t>
                </a:r>
              </a:p>
              <a:p>
                <a:pPr marL="0" indent="0">
                  <a:buNone/>
                </a:pPr>
                <a:r>
                  <a:rPr lang="en-IE" dirty="0"/>
                  <a:t>D. Other.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A41F5F-2DB5-2D49-BAC5-ED4BFA8DD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81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C89B-C034-C14F-B980-007007F8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Train/dev/test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0F3F0-1FCA-5F42-88DF-D2F6C9855D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E" b="1" dirty="0"/>
                  <a:t>Training data:</a:t>
                </a:r>
              </a:p>
              <a:p>
                <a:pPr marL="0" indent="0">
                  <a:buNone/>
                </a:pPr>
                <a:r>
                  <a:rPr lang="en-IE" dirty="0"/>
                  <a:t>	Observations used to train (“fit”, ”estimate”)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E" dirty="0"/>
              </a:p>
              <a:p>
                <a:pPr marL="0" indent="0">
                  <a:buNone/>
                </a:pPr>
                <a:endParaRPr lang="en-IE" dirty="0"/>
              </a:p>
              <a:p>
                <a:pPr marL="0" indent="0">
                  <a:buNone/>
                </a:pPr>
                <a:r>
                  <a:rPr lang="en-IE" b="1" dirty="0"/>
                  <a:t>Validation data</a:t>
                </a:r>
                <a:r>
                  <a:rPr lang="en-IE" dirty="0"/>
                  <a:t> (or “dev” data):</a:t>
                </a:r>
              </a:p>
              <a:p>
                <a:pPr marL="0" indent="0">
                  <a:buNone/>
                </a:pPr>
                <a:r>
                  <a:rPr lang="en-IE" dirty="0"/>
                  <a:t>	New observations from the same source as training data</a:t>
                </a:r>
              </a:p>
              <a:p>
                <a:pPr marL="0" indent="0">
                  <a:buNone/>
                </a:pPr>
                <a:r>
                  <a:rPr lang="en-IE" dirty="0"/>
                  <a:t>	Used several times to select model complexity)</a:t>
                </a:r>
              </a:p>
              <a:p>
                <a:pPr marL="0" indent="0">
                  <a:buNone/>
                </a:pPr>
                <a:endParaRPr lang="en-IE" b="1" dirty="0"/>
              </a:p>
              <a:p>
                <a:pPr marL="0" indent="0">
                  <a:buNone/>
                </a:pPr>
                <a:r>
                  <a:rPr lang="en-IE" b="1" dirty="0"/>
                  <a:t>Test data:</a:t>
                </a:r>
              </a:p>
              <a:p>
                <a:pPr marL="0" indent="0">
                  <a:buNone/>
                </a:pPr>
                <a:r>
                  <a:rPr lang="en-IE" dirty="0"/>
                  <a:t>	New observations from the intended prediction situation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0F3F0-1FCA-5F42-88DF-D2F6C9855D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BF4285A-47F4-1649-89E7-D388AB3A86E4}"/>
              </a:ext>
            </a:extLst>
          </p:cNvPr>
          <p:cNvSpPr txBox="1"/>
          <p:nvPr/>
        </p:nvSpPr>
        <p:spPr>
          <a:xfrm>
            <a:off x="838200" y="6311900"/>
            <a:ext cx="6585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0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Question: Why don’t these give the same average MSE?</a:t>
            </a:r>
          </a:p>
        </p:txBody>
      </p:sp>
    </p:spTree>
    <p:extLst>
      <p:ext uri="{BB962C8B-B14F-4D97-AF65-F5344CB8AC3E}">
        <p14:creationId xmlns:p14="http://schemas.microsoft.com/office/powerpoint/2010/main" val="28364272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55D9-EDD4-E241-A6CD-6F780775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6CEB-E7CC-9340-B9F1-9E806080B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6A30DE60-22D6-1A4A-8A15-8DBA12F981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7231" y="365125"/>
            <a:ext cx="7877537" cy="63124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BE37BE-B1B1-0941-A5AE-14FAB1CE61D4}"/>
              </a:ext>
            </a:extLst>
          </p:cNvPr>
          <p:cNvSpPr/>
          <p:nvPr/>
        </p:nvSpPr>
        <p:spPr>
          <a:xfrm>
            <a:off x="7002684" y="3784922"/>
            <a:ext cx="2465407" cy="6944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REDACTED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1AC5A-7173-FA47-88D5-75D56D530333}"/>
              </a:ext>
            </a:extLst>
          </p:cNvPr>
          <p:cNvSpPr/>
          <p:nvPr/>
        </p:nvSpPr>
        <p:spPr>
          <a:xfrm>
            <a:off x="6668947" y="4793849"/>
            <a:ext cx="2465407" cy="6944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REDACTED</a:t>
            </a:r>
          </a:p>
        </p:txBody>
      </p:sp>
    </p:spTree>
    <p:extLst>
      <p:ext uri="{BB962C8B-B14F-4D97-AF65-F5344CB8AC3E}">
        <p14:creationId xmlns:p14="http://schemas.microsoft.com/office/powerpoint/2010/main" val="335634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DF27-1544-1544-B966-737998EF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curves: </a:t>
            </a:r>
            <a:r>
              <a:rPr lang="en-US" b="0" i="1" dirty="0"/>
              <a:t>n</a:t>
            </a:r>
            <a:r>
              <a:rPr lang="en-US" b="0" dirty="0"/>
              <a:t> vs. performance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6DDE8C-7771-C44C-891F-A46142711E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875883"/>
            <a:ext cx="8812645" cy="421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41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DF27-1544-1544-B966-737998EF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curves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06DB2-8ABF-704E-B359-5A2CB172D297}"/>
              </a:ext>
            </a:extLst>
          </p:cNvPr>
          <p:cNvSpPr txBox="1"/>
          <p:nvPr/>
        </p:nvSpPr>
        <p:spPr>
          <a:xfrm>
            <a:off x="805078" y="6441847"/>
            <a:ext cx="1054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Viering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Loog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(2021). </a:t>
            </a:r>
            <a:r>
              <a:rPr lang="en-IE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Shape of Learning Curves: a Review</a:t>
            </a:r>
            <a:r>
              <a:rPr lang="en-IE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r>
              <a:rPr lang="en-IE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2"/>
              </a:rPr>
              <a:t>https://arxiv.org/pdf/2103.10948.pdf</a:t>
            </a:r>
            <a:r>
              <a:rPr lang="en-IE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72CBB-6585-7944-9EB5-52A9CE29FE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078" y="1955571"/>
            <a:ext cx="7216844" cy="4221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72BD62-29BE-E44B-8ADF-24290295DB61}"/>
              </a:ext>
            </a:extLst>
          </p:cNvPr>
          <p:cNvSpPr txBox="1"/>
          <p:nvPr/>
        </p:nvSpPr>
        <p:spPr>
          <a:xfrm>
            <a:off x="7847636" y="4155312"/>
            <a:ext cx="194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Linear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2E3DD-E68F-5A4E-A20F-E29CA3AABFED}"/>
              </a:ext>
            </a:extLst>
          </p:cNvPr>
          <p:cNvSpPr txBox="1"/>
          <p:nvPr/>
        </p:nvSpPr>
        <p:spPr>
          <a:xfrm>
            <a:off x="7847636" y="4789527"/>
            <a:ext cx="161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Deep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CDD7AF-422D-1CEF-D721-4CE4F95DB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58" y="1794080"/>
            <a:ext cx="7313934" cy="43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226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AF8F-8C28-2C48-B028-BCB941D12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458AA-75D9-5043-9911-F8861030B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Choose your </a:t>
            </a:r>
            <a:r>
              <a:rPr lang="en-IE" b="1" dirty="0">
                <a:solidFill>
                  <a:schemeClr val="accent2"/>
                </a:solidFill>
              </a:rPr>
              <a:t>data</a:t>
            </a:r>
            <a:r>
              <a:rPr lang="en-IE" dirty="0"/>
              <a:t>, </a:t>
            </a:r>
            <a:r>
              <a:rPr lang="en-IE" b="1" dirty="0">
                <a:solidFill>
                  <a:schemeClr val="accent6"/>
                </a:solidFill>
              </a:rPr>
              <a:t>goal</a:t>
            </a:r>
            <a:r>
              <a:rPr lang="en-IE" dirty="0"/>
              <a:t>, and </a:t>
            </a:r>
            <a:r>
              <a:rPr lang="en-IE" b="1" dirty="0">
                <a:solidFill>
                  <a:schemeClr val="accent1"/>
                </a:solidFill>
              </a:rPr>
              <a:t>performance metric</a:t>
            </a:r>
            <a:r>
              <a:rPr lang="en-IE" dirty="0">
                <a:solidFill>
                  <a:schemeClr val="accent1"/>
                </a:solidFill>
              </a:rPr>
              <a:t> </a:t>
            </a:r>
            <a:r>
              <a:rPr lang="en-IE" dirty="0"/>
              <a:t>with care</a:t>
            </a:r>
          </a:p>
          <a:p>
            <a:r>
              <a:rPr lang="en-IE" dirty="0"/>
              <a:t>Bias and variance trade off, in </a:t>
            </a:r>
            <a:r>
              <a:rPr lang="en-IE" b="1" dirty="0">
                <a:solidFill>
                  <a:srgbClr val="E32ABF"/>
                </a:solidFill>
              </a:rPr>
              <a:t>theory </a:t>
            </a:r>
            <a:r>
              <a:rPr lang="en-IE" dirty="0"/>
              <a:t>and </a:t>
            </a:r>
            <a:r>
              <a:rPr lang="en-IE" b="1" dirty="0"/>
              <a:t>practice</a:t>
            </a:r>
            <a:r>
              <a:rPr lang="en-IE" dirty="0"/>
              <a:t>;</a:t>
            </a:r>
          </a:p>
          <a:p>
            <a:r>
              <a:rPr lang="en-IE" dirty="0"/>
              <a:t>We try to estimate this using </a:t>
            </a:r>
            <a:r>
              <a:rPr lang="en-IE" b="1" dirty="0"/>
              <a:t>train/dev/test</a:t>
            </a:r>
            <a:r>
              <a:rPr lang="en-IE" dirty="0"/>
              <a:t> paradigm;</a:t>
            </a:r>
          </a:p>
          <a:p>
            <a:r>
              <a:rPr lang="en-IE" dirty="0"/>
              <a:t>Getting good test data is difficult problem;</a:t>
            </a:r>
          </a:p>
          <a:p>
            <a:r>
              <a:rPr lang="en-IE" b="1" dirty="0"/>
              <a:t>Cross-validation </a:t>
            </a:r>
            <a:r>
              <a:rPr lang="en-IE" dirty="0"/>
              <a:t>is a useful alternative to separate dev set;</a:t>
            </a:r>
          </a:p>
          <a:p>
            <a:r>
              <a:rPr lang="en-IE" dirty="0"/>
              <a:t>Beware that </a:t>
            </a:r>
            <a:r>
              <a:rPr lang="en-IE" i="1" dirty="0"/>
              <a:t>any</a:t>
            </a:r>
            <a:r>
              <a:rPr lang="en-IE" dirty="0"/>
              <a:t> procedure that makes decisions based on the data requires validation!</a:t>
            </a:r>
          </a:p>
          <a:p>
            <a:r>
              <a:rPr lang="en-IE" b="1" dirty="0"/>
              <a:t>Machine learning is not (only) about models/algorithms. It is just as much about </a:t>
            </a:r>
            <a:r>
              <a:rPr lang="en-IE" b="1" dirty="0">
                <a:solidFill>
                  <a:schemeClr val="accent2"/>
                </a:solidFill>
              </a:rPr>
              <a:t>data</a:t>
            </a:r>
            <a:r>
              <a:rPr lang="en-IE" b="1" dirty="0"/>
              <a:t>, the reality of your </a:t>
            </a:r>
            <a:r>
              <a:rPr lang="en-IE" b="1" dirty="0">
                <a:solidFill>
                  <a:schemeClr val="accent6"/>
                </a:solidFill>
              </a:rPr>
              <a:t>task</a:t>
            </a:r>
            <a:r>
              <a:rPr lang="en-IE" b="1" dirty="0"/>
              <a:t>, etc. </a:t>
            </a:r>
          </a:p>
        </p:txBody>
      </p:sp>
    </p:spTree>
    <p:extLst>
      <p:ext uri="{BB962C8B-B14F-4D97-AF65-F5344CB8AC3E}">
        <p14:creationId xmlns:p14="http://schemas.microsoft.com/office/powerpoint/2010/main" val="68687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6910</TotalTime>
  <Words>2284</Words>
  <Application>Microsoft Macintosh PowerPoint</Application>
  <PresentationFormat>Widescreen</PresentationFormat>
  <Paragraphs>369</Paragraphs>
  <Slides>59</Slides>
  <Notes>7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Cambria Math</vt:lpstr>
      <vt:lpstr>Fira Code</vt:lpstr>
      <vt:lpstr>Helvetica Neue</vt:lpstr>
      <vt:lpstr>Times New Roman</vt:lpstr>
      <vt:lpstr>Office Theme</vt:lpstr>
      <vt:lpstr>PowerPoint Presentation</vt:lpstr>
      <vt:lpstr>This week:  supervised machine learning</vt:lpstr>
      <vt:lpstr>PowerPoint Presentation</vt:lpstr>
      <vt:lpstr>PowerPoint Presentation</vt:lpstr>
      <vt:lpstr>ML definition (Samuel/Mitchell, 1959)</vt:lpstr>
      <vt:lpstr>Some translation</vt:lpstr>
      <vt:lpstr>Example tasks</vt:lpstr>
      <vt:lpstr>Machine learning definition revisited</vt:lpstr>
      <vt:lpstr>PowerPoint Presentation</vt:lpstr>
      <vt:lpstr>Types of machine learning</vt:lpstr>
      <vt:lpstr>Supervised  classification vs. regression</vt:lpstr>
      <vt:lpstr>Unsupervised learning</vt:lpstr>
      <vt:lpstr>Reinforcement learning (not in this course)</vt:lpstr>
      <vt:lpstr>PowerPoint Presentation</vt:lpstr>
      <vt:lpstr>Regression</vt:lpstr>
      <vt:lpstr>Regression</vt:lpstr>
      <vt:lpstr>Different goals of regression</vt:lpstr>
      <vt:lpstr>Example regression techniques</vt:lpstr>
      <vt:lpstr>Linear regression reminder</vt:lpstr>
      <vt:lpstr>“Nonparametric” regression</vt:lpstr>
      <vt:lpstr>More nonparametrics.</vt:lpstr>
      <vt:lpstr>Estimating f(x)  with k-nearest neighbors</vt:lpstr>
      <vt:lpstr>Why not kNN:  “Curse of dimensionality”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performance</vt:lpstr>
      <vt:lpstr>A few model evaluation metrics</vt:lpstr>
      <vt:lpstr>Thinking about loss functions</vt:lpstr>
      <vt:lpstr>So, who won…?</vt:lpstr>
      <vt:lpstr>And the winner is…</vt:lpstr>
      <vt:lpstr>What happened?</vt:lpstr>
      <vt:lpstr>PowerPoint Presentation</vt:lpstr>
      <vt:lpstr>Thought experiment</vt:lpstr>
      <vt:lpstr>PowerPoint Presentation</vt:lpstr>
      <vt:lpstr>Bias and variance in our example</vt:lpstr>
      <vt:lpstr>Bias-variance tradeoff</vt:lpstr>
      <vt:lpstr>What do you mean by “complexity”?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to reality!</vt:lpstr>
      <vt:lpstr>PowerPoint Presentation</vt:lpstr>
      <vt:lpstr>PowerPoint Presentation</vt:lpstr>
      <vt:lpstr>Train/dev/test</vt:lpstr>
      <vt:lpstr>PowerPoint Presentation</vt:lpstr>
      <vt:lpstr>Learning curves: n vs. performance</vt:lpstr>
      <vt:lpstr>Learning curves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Oberski, D.L. (Daniel)</dc:creator>
  <cp:lastModifiedBy>Oberski, D.L. (Daniel)</cp:lastModifiedBy>
  <cp:revision>403</cp:revision>
  <dcterms:created xsi:type="dcterms:W3CDTF">2021-10-10T09:46:48Z</dcterms:created>
  <dcterms:modified xsi:type="dcterms:W3CDTF">2025-10-03T10:02:38Z</dcterms:modified>
</cp:coreProperties>
</file>