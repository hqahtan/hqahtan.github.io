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7" r:id="rId2"/>
    <p:sldId id="266" r:id="rId3"/>
    <p:sldId id="322" r:id="rId4"/>
    <p:sldId id="323" r:id="rId5"/>
    <p:sldId id="258" r:id="rId6"/>
    <p:sldId id="324" r:id="rId7"/>
    <p:sldId id="262" r:id="rId8"/>
    <p:sldId id="263" r:id="rId9"/>
    <p:sldId id="264" r:id="rId10"/>
    <p:sldId id="265" r:id="rId11"/>
    <p:sldId id="325" r:id="rId12"/>
    <p:sldId id="299" r:id="rId13"/>
    <p:sldId id="319" r:id="rId14"/>
    <p:sldId id="321" r:id="rId15"/>
    <p:sldId id="320" r:id="rId16"/>
    <p:sldId id="300" r:id="rId17"/>
    <p:sldId id="326" r:id="rId18"/>
    <p:sldId id="301" r:id="rId19"/>
    <p:sldId id="305" r:id="rId20"/>
    <p:sldId id="302" r:id="rId21"/>
    <p:sldId id="303" r:id="rId22"/>
    <p:sldId id="306" r:id="rId23"/>
    <p:sldId id="304" r:id="rId24"/>
    <p:sldId id="307" r:id="rId25"/>
    <p:sldId id="327" r:id="rId26"/>
    <p:sldId id="328" r:id="rId27"/>
    <p:sldId id="308" r:id="rId28"/>
    <p:sldId id="309" r:id="rId29"/>
    <p:sldId id="310" r:id="rId30"/>
    <p:sldId id="311" r:id="rId31"/>
    <p:sldId id="312" r:id="rId32"/>
    <p:sldId id="313" r:id="rId33"/>
    <p:sldId id="314" r:id="rId34"/>
    <p:sldId id="315" r:id="rId35"/>
    <p:sldId id="316" r:id="rId36"/>
    <p:sldId id="317" r:id="rId37"/>
    <p:sldId id="318" r:id="rId38"/>
    <p:sldId id="329" r:id="rId39"/>
    <p:sldId id="330" r:id="rId40"/>
    <p:sldId id="331" r:id="rId41"/>
    <p:sldId id="340" r:id="rId42"/>
    <p:sldId id="332" r:id="rId43"/>
    <p:sldId id="333" r:id="rId44"/>
    <p:sldId id="335" r:id="rId45"/>
    <p:sldId id="336" r:id="rId46"/>
    <p:sldId id="337" r:id="rId47"/>
    <p:sldId id="338" r:id="rId48"/>
    <p:sldId id="339" r:id="rId49"/>
    <p:sldId id="298"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46"/>
    <p:restoredTop sz="94728"/>
  </p:normalViewPr>
  <p:slideViewPr>
    <p:cSldViewPr snapToGrid="0">
      <p:cViewPr varScale="1">
        <p:scale>
          <a:sx n="198" d="100"/>
          <a:sy n="198" d="100"/>
        </p:scale>
        <p:origin x="165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09B35C-0650-4C4F-8AD6-FAE3ECCEE337}" type="datetimeFigureOut">
              <a:t>9/29/25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3A8172-C10E-9644-821D-A03A62F47105}" type="slidenum">
              <a:t>‹#›</a:t>
            </a:fld>
            <a:endParaRPr lang="en-US"/>
          </a:p>
        </p:txBody>
      </p:sp>
    </p:spTree>
    <p:extLst>
      <p:ext uri="{BB962C8B-B14F-4D97-AF65-F5344CB8AC3E}">
        <p14:creationId xmlns:p14="http://schemas.microsoft.com/office/powerpoint/2010/main" val="1440690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63D9404-EDAC-3648-9457-C5D8B83E75DC}" type="slidenum">
              <a:rPr lang="en-US" smtClean="0"/>
              <a:t>1</a:t>
            </a:fld>
            <a:endParaRPr lang="en-US"/>
          </a:p>
        </p:txBody>
      </p:sp>
    </p:spTree>
    <p:extLst>
      <p:ext uri="{BB962C8B-B14F-4D97-AF65-F5344CB8AC3E}">
        <p14:creationId xmlns:p14="http://schemas.microsoft.com/office/powerpoint/2010/main" val="9406299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“straightening”</a:t>
            </a:r>
          </a:p>
        </p:txBody>
      </p:sp>
      <p:sp>
        <p:nvSpPr>
          <p:cNvPr id="4" name="Slide Number Placeholder 3"/>
          <p:cNvSpPr>
            <a:spLocks noGrp="1"/>
          </p:cNvSpPr>
          <p:nvPr>
            <p:ph type="sldNum" sz="quarter" idx="5"/>
          </p:nvPr>
        </p:nvSpPr>
        <p:spPr/>
        <p:txBody>
          <a:bodyPr/>
          <a:lstStyle/>
          <a:p>
            <a:fld id="{363D9404-EDAC-3648-9457-C5D8B83E75DC}" type="slidenum">
              <a:rPr lang="en-US" smtClean="0"/>
              <a:t>32</a:t>
            </a:fld>
            <a:endParaRPr lang="en-US"/>
          </a:p>
        </p:txBody>
      </p:sp>
    </p:spTree>
    <p:extLst>
      <p:ext uri="{BB962C8B-B14F-4D97-AF65-F5344CB8AC3E}">
        <p14:creationId xmlns:p14="http://schemas.microsoft.com/office/powerpoint/2010/main" val="3297892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3D9404-EDAC-3648-9457-C5D8B83E75DC}" type="slidenum">
              <a:rPr lang="en-US" smtClean="0"/>
              <a:t>49</a:t>
            </a:fld>
            <a:endParaRPr lang="en-US"/>
          </a:p>
        </p:txBody>
      </p:sp>
    </p:spTree>
    <p:extLst>
      <p:ext uri="{BB962C8B-B14F-4D97-AF65-F5344CB8AC3E}">
        <p14:creationId xmlns:p14="http://schemas.microsoft.com/office/powerpoint/2010/main" val="1633467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43EA9-00F7-C744-A11D-FC5A624C6B0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838F581-38E5-5EFE-50EF-CED7BCB065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83D2270-3A6F-BB1B-778B-7B30C0F64124}"/>
              </a:ext>
            </a:extLst>
          </p:cNvPr>
          <p:cNvSpPr>
            <a:spLocks noGrp="1"/>
          </p:cNvSpPr>
          <p:nvPr>
            <p:ph type="dt" sz="half" idx="10"/>
          </p:nvPr>
        </p:nvSpPr>
        <p:spPr>
          <a:xfrm>
            <a:off x="838200" y="6356350"/>
            <a:ext cx="2743200" cy="365125"/>
          </a:xfrm>
          <a:prstGeom prst="rect">
            <a:avLst/>
          </a:prstGeom>
        </p:spPr>
        <p:txBody>
          <a:bodyPr/>
          <a:lstStyle/>
          <a:p>
            <a:fld id="{19192133-3368-9744-B4BD-50A4393B2043}" type="datetimeFigureOut">
              <a:t>9/29/25</a:t>
            </a:fld>
            <a:endParaRPr lang="en-US"/>
          </a:p>
        </p:txBody>
      </p:sp>
      <p:sp>
        <p:nvSpPr>
          <p:cNvPr id="5" name="Footer Placeholder 4">
            <a:extLst>
              <a:ext uri="{FF2B5EF4-FFF2-40B4-BE49-F238E27FC236}">
                <a16:creationId xmlns:a16="http://schemas.microsoft.com/office/drawing/2014/main" id="{28112EBE-6CE4-96E0-4C06-989893E0256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3A28169-3C19-6223-0B9E-BFB19352722E}"/>
              </a:ext>
            </a:extLst>
          </p:cNvPr>
          <p:cNvSpPr>
            <a:spLocks noGrp="1"/>
          </p:cNvSpPr>
          <p:nvPr>
            <p:ph type="sldNum" sz="quarter" idx="12"/>
          </p:nvPr>
        </p:nvSpPr>
        <p:spPr>
          <a:xfrm>
            <a:off x="8610600" y="6356350"/>
            <a:ext cx="2743200" cy="365125"/>
          </a:xfrm>
          <a:prstGeom prst="rect">
            <a:avLst/>
          </a:prstGeom>
        </p:spPr>
        <p:txBody>
          <a:bodyPr/>
          <a:lstStyle/>
          <a:p>
            <a:fld id="{8FD0DB74-AAF5-5445-A5E2-C516933EFF20}" type="slidenum">
              <a:t>‹#›</a:t>
            </a:fld>
            <a:endParaRPr lang="en-US"/>
          </a:p>
        </p:txBody>
      </p:sp>
    </p:spTree>
    <p:extLst>
      <p:ext uri="{BB962C8B-B14F-4D97-AF65-F5344CB8AC3E}">
        <p14:creationId xmlns:p14="http://schemas.microsoft.com/office/powerpoint/2010/main" val="3644520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9F128-B1A7-357B-FF28-D7FC7D21792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1B1B391-EDD0-190E-306C-059003A39CD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85AFB37-D3AD-1331-E369-8A865275855F}"/>
              </a:ext>
            </a:extLst>
          </p:cNvPr>
          <p:cNvSpPr>
            <a:spLocks noGrp="1"/>
          </p:cNvSpPr>
          <p:nvPr>
            <p:ph type="dt" sz="half" idx="10"/>
          </p:nvPr>
        </p:nvSpPr>
        <p:spPr>
          <a:xfrm>
            <a:off x="838200" y="6356350"/>
            <a:ext cx="2743200" cy="365125"/>
          </a:xfrm>
          <a:prstGeom prst="rect">
            <a:avLst/>
          </a:prstGeom>
        </p:spPr>
        <p:txBody>
          <a:bodyPr/>
          <a:lstStyle/>
          <a:p>
            <a:fld id="{19192133-3368-9744-B4BD-50A4393B2043}" type="datetimeFigureOut">
              <a:t>9/29/25</a:t>
            </a:fld>
            <a:endParaRPr lang="en-US"/>
          </a:p>
        </p:txBody>
      </p:sp>
      <p:sp>
        <p:nvSpPr>
          <p:cNvPr id="5" name="Footer Placeholder 4">
            <a:extLst>
              <a:ext uri="{FF2B5EF4-FFF2-40B4-BE49-F238E27FC236}">
                <a16:creationId xmlns:a16="http://schemas.microsoft.com/office/drawing/2014/main" id="{52EDA8C7-BD83-BBC8-2061-B342ADA642E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83300EB-5634-593D-0BFA-852513196E6C}"/>
              </a:ext>
            </a:extLst>
          </p:cNvPr>
          <p:cNvSpPr>
            <a:spLocks noGrp="1"/>
          </p:cNvSpPr>
          <p:nvPr>
            <p:ph type="sldNum" sz="quarter" idx="12"/>
          </p:nvPr>
        </p:nvSpPr>
        <p:spPr>
          <a:xfrm>
            <a:off x="8610600" y="6356350"/>
            <a:ext cx="2743200" cy="365125"/>
          </a:xfrm>
          <a:prstGeom prst="rect">
            <a:avLst/>
          </a:prstGeom>
        </p:spPr>
        <p:txBody>
          <a:bodyPr/>
          <a:lstStyle/>
          <a:p>
            <a:fld id="{8FD0DB74-AAF5-5445-A5E2-C516933EFF20}" type="slidenum">
              <a:t>‹#›</a:t>
            </a:fld>
            <a:endParaRPr lang="en-US"/>
          </a:p>
        </p:txBody>
      </p:sp>
    </p:spTree>
    <p:extLst>
      <p:ext uri="{BB962C8B-B14F-4D97-AF65-F5344CB8AC3E}">
        <p14:creationId xmlns:p14="http://schemas.microsoft.com/office/powerpoint/2010/main" val="179663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C4637-EE00-54E1-302B-BFBDBFCA52C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5A5F559-4EFE-1CE4-E7B0-6DB0D042A9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FD2333D-EB7C-3182-D4EB-FE9F3367EBE4}"/>
              </a:ext>
            </a:extLst>
          </p:cNvPr>
          <p:cNvSpPr>
            <a:spLocks noGrp="1"/>
          </p:cNvSpPr>
          <p:nvPr>
            <p:ph type="dt" sz="half" idx="10"/>
          </p:nvPr>
        </p:nvSpPr>
        <p:spPr>
          <a:xfrm>
            <a:off x="838200" y="6356350"/>
            <a:ext cx="2743200" cy="365125"/>
          </a:xfrm>
          <a:prstGeom prst="rect">
            <a:avLst/>
          </a:prstGeom>
        </p:spPr>
        <p:txBody>
          <a:bodyPr/>
          <a:lstStyle/>
          <a:p>
            <a:fld id="{19192133-3368-9744-B4BD-50A4393B2043}" type="datetimeFigureOut">
              <a:t>9/29/25</a:t>
            </a:fld>
            <a:endParaRPr lang="en-US"/>
          </a:p>
        </p:txBody>
      </p:sp>
      <p:sp>
        <p:nvSpPr>
          <p:cNvPr id="5" name="Footer Placeholder 4">
            <a:extLst>
              <a:ext uri="{FF2B5EF4-FFF2-40B4-BE49-F238E27FC236}">
                <a16:creationId xmlns:a16="http://schemas.microsoft.com/office/drawing/2014/main" id="{9FE5D863-DE11-E133-5C91-63432FC567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FEC25BD-E75E-5685-50B7-6810A0C1E91E}"/>
              </a:ext>
            </a:extLst>
          </p:cNvPr>
          <p:cNvSpPr>
            <a:spLocks noGrp="1"/>
          </p:cNvSpPr>
          <p:nvPr>
            <p:ph type="sldNum" sz="quarter" idx="12"/>
          </p:nvPr>
        </p:nvSpPr>
        <p:spPr>
          <a:xfrm>
            <a:off x="8610600" y="6356350"/>
            <a:ext cx="2743200" cy="365125"/>
          </a:xfrm>
          <a:prstGeom prst="rect">
            <a:avLst/>
          </a:prstGeom>
        </p:spPr>
        <p:txBody>
          <a:bodyPr/>
          <a:lstStyle/>
          <a:p>
            <a:fld id="{8FD0DB74-AAF5-5445-A5E2-C516933EFF20}" type="slidenum">
              <a:t>‹#›</a:t>
            </a:fld>
            <a:endParaRPr lang="en-US"/>
          </a:p>
        </p:txBody>
      </p:sp>
    </p:spTree>
    <p:extLst>
      <p:ext uri="{BB962C8B-B14F-4D97-AF65-F5344CB8AC3E}">
        <p14:creationId xmlns:p14="http://schemas.microsoft.com/office/powerpoint/2010/main" val="3212562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F3DA3-7629-FB75-CA2B-F1B8E9B6A8B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07713FC-E01B-32CE-878F-7C67EF31611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FFB23B5-FE94-FA77-8118-0023A5A20CF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3E136489-CD36-5358-18E8-4E5CDD018F73}"/>
              </a:ext>
            </a:extLst>
          </p:cNvPr>
          <p:cNvSpPr>
            <a:spLocks noGrp="1"/>
          </p:cNvSpPr>
          <p:nvPr>
            <p:ph type="dt" sz="half" idx="10"/>
          </p:nvPr>
        </p:nvSpPr>
        <p:spPr>
          <a:xfrm>
            <a:off x="838200" y="6356350"/>
            <a:ext cx="2743200" cy="365125"/>
          </a:xfrm>
          <a:prstGeom prst="rect">
            <a:avLst/>
          </a:prstGeom>
        </p:spPr>
        <p:txBody>
          <a:bodyPr/>
          <a:lstStyle/>
          <a:p>
            <a:fld id="{19192133-3368-9744-B4BD-50A4393B2043}" type="datetimeFigureOut">
              <a:t>9/29/25</a:t>
            </a:fld>
            <a:endParaRPr lang="en-US"/>
          </a:p>
        </p:txBody>
      </p:sp>
      <p:sp>
        <p:nvSpPr>
          <p:cNvPr id="6" name="Footer Placeholder 5">
            <a:extLst>
              <a:ext uri="{FF2B5EF4-FFF2-40B4-BE49-F238E27FC236}">
                <a16:creationId xmlns:a16="http://schemas.microsoft.com/office/drawing/2014/main" id="{3CCDDCB2-0F51-8D99-FDD5-D55642BA84C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00BBFD0-AB44-DCB0-3CAF-EE2D58769DF9}"/>
              </a:ext>
            </a:extLst>
          </p:cNvPr>
          <p:cNvSpPr>
            <a:spLocks noGrp="1"/>
          </p:cNvSpPr>
          <p:nvPr>
            <p:ph type="sldNum" sz="quarter" idx="12"/>
          </p:nvPr>
        </p:nvSpPr>
        <p:spPr>
          <a:xfrm>
            <a:off x="8610600" y="6356350"/>
            <a:ext cx="2743200" cy="365125"/>
          </a:xfrm>
          <a:prstGeom prst="rect">
            <a:avLst/>
          </a:prstGeom>
        </p:spPr>
        <p:txBody>
          <a:bodyPr/>
          <a:lstStyle/>
          <a:p>
            <a:fld id="{8FD0DB74-AAF5-5445-A5E2-C516933EFF20}" type="slidenum">
              <a:t>‹#›</a:t>
            </a:fld>
            <a:endParaRPr lang="en-US"/>
          </a:p>
        </p:txBody>
      </p:sp>
    </p:spTree>
    <p:extLst>
      <p:ext uri="{BB962C8B-B14F-4D97-AF65-F5344CB8AC3E}">
        <p14:creationId xmlns:p14="http://schemas.microsoft.com/office/powerpoint/2010/main" val="32951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E0D83-BEDA-B4C1-5592-4AE0CBFAB02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BB828FA-FA60-5B9F-ACFB-CC63FCAA14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17DE89F-4B33-4D33-926D-B137D45B1DB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6239BC5-29FD-0AC5-D354-7A923C9E81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D6B620E-FF14-9E9F-0556-7E8C1FCC545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47456FB-A006-79D3-5B39-AE931B5EF513}"/>
              </a:ext>
            </a:extLst>
          </p:cNvPr>
          <p:cNvSpPr>
            <a:spLocks noGrp="1"/>
          </p:cNvSpPr>
          <p:nvPr>
            <p:ph type="dt" sz="half" idx="10"/>
          </p:nvPr>
        </p:nvSpPr>
        <p:spPr>
          <a:xfrm>
            <a:off x="838200" y="6356350"/>
            <a:ext cx="2743200" cy="365125"/>
          </a:xfrm>
          <a:prstGeom prst="rect">
            <a:avLst/>
          </a:prstGeom>
        </p:spPr>
        <p:txBody>
          <a:bodyPr/>
          <a:lstStyle/>
          <a:p>
            <a:fld id="{19192133-3368-9744-B4BD-50A4393B2043}" type="datetimeFigureOut">
              <a:t>9/29/25</a:t>
            </a:fld>
            <a:endParaRPr lang="en-US"/>
          </a:p>
        </p:txBody>
      </p:sp>
      <p:sp>
        <p:nvSpPr>
          <p:cNvPr id="8" name="Footer Placeholder 7">
            <a:extLst>
              <a:ext uri="{FF2B5EF4-FFF2-40B4-BE49-F238E27FC236}">
                <a16:creationId xmlns:a16="http://schemas.microsoft.com/office/drawing/2014/main" id="{E8815BB8-3042-0BAD-14E9-84D26B33EBD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527629E-016D-CF85-FB9E-75E9F90D22BA}"/>
              </a:ext>
            </a:extLst>
          </p:cNvPr>
          <p:cNvSpPr>
            <a:spLocks noGrp="1"/>
          </p:cNvSpPr>
          <p:nvPr>
            <p:ph type="sldNum" sz="quarter" idx="12"/>
          </p:nvPr>
        </p:nvSpPr>
        <p:spPr>
          <a:xfrm>
            <a:off x="8610600" y="6356350"/>
            <a:ext cx="2743200" cy="365125"/>
          </a:xfrm>
          <a:prstGeom prst="rect">
            <a:avLst/>
          </a:prstGeom>
        </p:spPr>
        <p:txBody>
          <a:bodyPr/>
          <a:lstStyle/>
          <a:p>
            <a:fld id="{8FD0DB74-AAF5-5445-A5E2-C516933EFF20}" type="slidenum">
              <a:t>‹#›</a:t>
            </a:fld>
            <a:endParaRPr lang="en-US"/>
          </a:p>
        </p:txBody>
      </p:sp>
    </p:spTree>
    <p:extLst>
      <p:ext uri="{BB962C8B-B14F-4D97-AF65-F5344CB8AC3E}">
        <p14:creationId xmlns:p14="http://schemas.microsoft.com/office/powerpoint/2010/main" val="2026272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D0AF8-BC9F-F9B8-A4F4-A35C42FE5A4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106C49A-572F-EBF9-1514-D94AC9BC9C5B}"/>
              </a:ext>
            </a:extLst>
          </p:cNvPr>
          <p:cNvSpPr>
            <a:spLocks noGrp="1"/>
          </p:cNvSpPr>
          <p:nvPr>
            <p:ph type="dt" sz="half" idx="10"/>
          </p:nvPr>
        </p:nvSpPr>
        <p:spPr>
          <a:xfrm>
            <a:off x="838200" y="6356350"/>
            <a:ext cx="2743200" cy="365125"/>
          </a:xfrm>
          <a:prstGeom prst="rect">
            <a:avLst/>
          </a:prstGeom>
        </p:spPr>
        <p:txBody>
          <a:bodyPr/>
          <a:lstStyle/>
          <a:p>
            <a:fld id="{19192133-3368-9744-B4BD-50A4393B2043}" type="datetimeFigureOut">
              <a:t>9/29/25</a:t>
            </a:fld>
            <a:endParaRPr lang="en-US"/>
          </a:p>
        </p:txBody>
      </p:sp>
      <p:sp>
        <p:nvSpPr>
          <p:cNvPr id="4" name="Footer Placeholder 3">
            <a:extLst>
              <a:ext uri="{FF2B5EF4-FFF2-40B4-BE49-F238E27FC236}">
                <a16:creationId xmlns:a16="http://schemas.microsoft.com/office/drawing/2014/main" id="{6865744B-5E7E-8EC6-BE6C-C361544B36B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72754B44-2E2D-1428-CE76-B53AD5B0B901}"/>
              </a:ext>
            </a:extLst>
          </p:cNvPr>
          <p:cNvSpPr>
            <a:spLocks noGrp="1"/>
          </p:cNvSpPr>
          <p:nvPr>
            <p:ph type="sldNum" sz="quarter" idx="12"/>
          </p:nvPr>
        </p:nvSpPr>
        <p:spPr>
          <a:xfrm>
            <a:off x="8610600" y="6356350"/>
            <a:ext cx="2743200" cy="365125"/>
          </a:xfrm>
          <a:prstGeom prst="rect">
            <a:avLst/>
          </a:prstGeom>
        </p:spPr>
        <p:txBody>
          <a:bodyPr/>
          <a:lstStyle/>
          <a:p>
            <a:fld id="{8FD0DB74-AAF5-5445-A5E2-C516933EFF20}" type="slidenum">
              <a:t>‹#›</a:t>
            </a:fld>
            <a:endParaRPr lang="en-US"/>
          </a:p>
        </p:txBody>
      </p:sp>
    </p:spTree>
    <p:extLst>
      <p:ext uri="{BB962C8B-B14F-4D97-AF65-F5344CB8AC3E}">
        <p14:creationId xmlns:p14="http://schemas.microsoft.com/office/powerpoint/2010/main" val="3531231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58A161-7B7E-83A5-6331-AD07FE9683AA}"/>
              </a:ext>
            </a:extLst>
          </p:cNvPr>
          <p:cNvSpPr>
            <a:spLocks noGrp="1"/>
          </p:cNvSpPr>
          <p:nvPr>
            <p:ph type="dt" sz="half" idx="10"/>
          </p:nvPr>
        </p:nvSpPr>
        <p:spPr>
          <a:xfrm>
            <a:off x="838200" y="6356350"/>
            <a:ext cx="2743200" cy="365125"/>
          </a:xfrm>
          <a:prstGeom prst="rect">
            <a:avLst/>
          </a:prstGeom>
        </p:spPr>
        <p:txBody>
          <a:bodyPr/>
          <a:lstStyle/>
          <a:p>
            <a:fld id="{19192133-3368-9744-B4BD-50A4393B2043}" type="datetimeFigureOut">
              <a:t>9/29/25</a:t>
            </a:fld>
            <a:endParaRPr lang="en-US"/>
          </a:p>
        </p:txBody>
      </p:sp>
      <p:sp>
        <p:nvSpPr>
          <p:cNvPr id="3" name="Footer Placeholder 2">
            <a:extLst>
              <a:ext uri="{FF2B5EF4-FFF2-40B4-BE49-F238E27FC236}">
                <a16:creationId xmlns:a16="http://schemas.microsoft.com/office/drawing/2014/main" id="{99928D29-D198-2C75-C154-C5D07738A38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A07F6474-4393-8101-627D-86B317B32A84}"/>
              </a:ext>
            </a:extLst>
          </p:cNvPr>
          <p:cNvSpPr>
            <a:spLocks noGrp="1"/>
          </p:cNvSpPr>
          <p:nvPr>
            <p:ph type="sldNum" sz="quarter" idx="12"/>
          </p:nvPr>
        </p:nvSpPr>
        <p:spPr>
          <a:xfrm>
            <a:off x="8610600" y="6356350"/>
            <a:ext cx="2743200" cy="365125"/>
          </a:xfrm>
          <a:prstGeom prst="rect">
            <a:avLst/>
          </a:prstGeom>
        </p:spPr>
        <p:txBody>
          <a:bodyPr/>
          <a:lstStyle/>
          <a:p>
            <a:fld id="{8FD0DB74-AAF5-5445-A5E2-C516933EFF20}" type="slidenum">
              <a:t>‹#›</a:t>
            </a:fld>
            <a:endParaRPr lang="en-US"/>
          </a:p>
        </p:txBody>
      </p:sp>
    </p:spTree>
    <p:extLst>
      <p:ext uri="{BB962C8B-B14F-4D97-AF65-F5344CB8AC3E}">
        <p14:creationId xmlns:p14="http://schemas.microsoft.com/office/powerpoint/2010/main" val="253391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76BE1-8AFA-21E1-ED64-6B11AD766F4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AECB136-AEB5-6B88-78C1-07E759B87D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7DA53EF-FF14-945E-5C6E-C9EECD7647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FC6BE57-CA20-8E85-A30F-3921BEE6DD6A}"/>
              </a:ext>
            </a:extLst>
          </p:cNvPr>
          <p:cNvSpPr>
            <a:spLocks noGrp="1"/>
          </p:cNvSpPr>
          <p:nvPr>
            <p:ph type="dt" sz="half" idx="10"/>
          </p:nvPr>
        </p:nvSpPr>
        <p:spPr>
          <a:xfrm>
            <a:off x="838200" y="6356350"/>
            <a:ext cx="2743200" cy="365125"/>
          </a:xfrm>
          <a:prstGeom prst="rect">
            <a:avLst/>
          </a:prstGeom>
        </p:spPr>
        <p:txBody>
          <a:bodyPr/>
          <a:lstStyle/>
          <a:p>
            <a:fld id="{19192133-3368-9744-B4BD-50A4393B2043}" type="datetimeFigureOut">
              <a:t>9/29/25</a:t>
            </a:fld>
            <a:endParaRPr lang="en-US"/>
          </a:p>
        </p:txBody>
      </p:sp>
      <p:sp>
        <p:nvSpPr>
          <p:cNvPr id="6" name="Footer Placeholder 5">
            <a:extLst>
              <a:ext uri="{FF2B5EF4-FFF2-40B4-BE49-F238E27FC236}">
                <a16:creationId xmlns:a16="http://schemas.microsoft.com/office/drawing/2014/main" id="{41912165-4FA4-1E4F-4320-FA4CA3DF872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D8BE31-2FD5-A7E8-1818-EC726179B4DB}"/>
              </a:ext>
            </a:extLst>
          </p:cNvPr>
          <p:cNvSpPr>
            <a:spLocks noGrp="1"/>
          </p:cNvSpPr>
          <p:nvPr>
            <p:ph type="sldNum" sz="quarter" idx="12"/>
          </p:nvPr>
        </p:nvSpPr>
        <p:spPr>
          <a:xfrm>
            <a:off x="8610600" y="6356350"/>
            <a:ext cx="2743200" cy="365125"/>
          </a:xfrm>
          <a:prstGeom prst="rect">
            <a:avLst/>
          </a:prstGeom>
        </p:spPr>
        <p:txBody>
          <a:bodyPr/>
          <a:lstStyle/>
          <a:p>
            <a:fld id="{8FD0DB74-AAF5-5445-A5E2-C516933EFF20}" type="slidenum">
              <a:t>‹#›</a:t>
            </a:fld>
            <a:endParaRPr lang="en-US"/>
          </a:p>
        </p:txBody>
      </p:sp>
    </p:spTree>
    <p:extLst>
      <p:ext uri="{BB962C8B-B14F-4D97-AF65-F5344CB8AC3E}">
        <p14:creationId xmlns:p14="http://schemas.microsoft.com/office/powerpoint/2010/main" val="177137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1F56D-84D7-19F5-E949-7D9F5DA2D27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EBE5EFE-F8B8-72FB-5119-14DCC475B5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7EDF2D-B741-0320-9EE6-67906A4A9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500C72D-4CFC-EFB0-4016-A5DE74E6549F}"/>
              </a:ext>
            </a:extLst>
          </p:cNvPr>
          <p:cNvSpPr>
            <a:spLocks noGrp="1"/>
          </p:cNvSpPr>
          <p:nvPr>
            <p:ph type="dt" sz="half" idx="10"/>
          </p:nvPr>
        </p:nvSpPr>
        <p:spPr>
          <a:xfrm>
            <a:off x="838200" y="6356350"/>
            <a:ext cx="2743200" cy="365125"/>
          </a:xfrm>
          <a:prstGeom prst="rect">
            <a:avLst/>
          </a:prstGeom>
        </p:spPr>
        <p:txBody>
          <a:bodyPr/>
          <a:lstStyle/>
          <a:p>
            <a:fld id="{19192133-3368-9744-B4BD-50A4393B2043}" type="datetimeFigureOut">
              <a:t>9/29/25</a:t>
            </a:fld>
            <a:endParaRPr lang="en-US"/>
          </a:p>
        </p:txBody>
      </p:sp>
      <p:sp>
        <p:nvSpPr>
          <p:cNvPr id="6" name="Footer Placeholder 5">
            <a:extLst>
              <a:ext uri="{FF2B5EF4-FFF2-40B4-BE49-F238E27FC236}">
                <a16:creationId xmlns:a16="http://schemas.microsoft.com/office/drawing/2014/main" id="{26C99E13-6C1A-78BC-62F0-898009BE7BC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874FA6E-2963-A0D0-7A1C-335D245B0679}"/>
              </a:ext>
            </a:extLst>
          </p:cNvPr>
          <p:cNvSpPr>
            <a:spLocks noGrp="1"/>
          </p:cNvSpPr>
          <p:nvPr>
            <p:ph type="sldNum" sz="quarter" idx="12"/>
          </p:nvPr>
        </p:nvSpPr>
        <p:spPr>
          <a:xfrm>
            <a:off x="8610600" y="6356350"/>
            <a:ext cx="2743200" cy="365125"/>
          </a:xfrm>
          <a:prstGeom prst="rect">
            <a:avLst/>
          </a:prstGeom>
        </p:spPr>
        <p:txBody>
          <a:bodyPr/>
          <a:lstStyle/>
          <a:p>
            <a:fld id="{8FD0DB74-AAF5-5445-A5E2-C516933EFF20}" type="slidenum">
              <a:t>‹#›</a:t>
            </a:fld>
            <a:endParaRPr lang="en-US"/>
          </a:p>
        </p:txBody>
      </p:sp>
    </p:spTree>
    <p:extLst>
      <p:ext uri="{BB962C8B-B14F-4D97-AF65-F5344CB8AC3E}">
        <p14:creationId xmlns:p14="http://schemas.microsoft.com/office/powerpoint/2010/main" val="3253394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599C8-FFE5-6E96-927A-CD6949E9BBE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2A42390-F277-CFB1-FAAC-90E7DB3D08B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43E503C-2460-A7AA-C57F-CFE051362DC8}"/>
              </a:ext>
            </a:extLst>
          </p:cNvPr>
          <p:cNvSpPr>
            <a:spLocks noGrp="1"/>
          </p:cNvSpPr>
          <p:nvPr>
            <p:ph type="dt" sz="half" idx="10"/>
          </p:nvPr>
        </p:nvSpPr>
        <p:spPr>
          <a:xfrm>
            <a:off x="838200" y="6356350"/>
            <a:ext cx="2743200" cy="365125"/>
          </a:xfrm>
          <a:prstGeom prst="rect">
            <a:avLst/>
          </a:prstGeom>
        </p:spPr>
        <p:txBody>
          <a:bodyPr/>
          <a:lstStyle/>
          <a:p>
            <a:fld id="{19192133-3368-9744-B4BD-50A4393B2043}" type="datetimeFigureOut">
              <a:t>9/29/25</a:t>
            </a:fld>
            <a:endParaRPr lang="en-US"/>
          </a:p>
        </p:txBody>
      </p:sp>
      <p:sp>
        <p:nvSpPr>
          <p:cNvPr id="5" name="Footer Placeholder 4">
            <a:extLst>
              <a:ext uri="{FF2B5EF4-FFF2-40B4-BE49-F238E27FC236}">
                <a16:creationId xmlns:a16="http://schemas.microsoft.com/office/drawing/2014/main" id="{D84AC942-B6A2-6556-19B5-98971A780B0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77E4677-C83D-B37F-D626-B4DCCB3FE729}"/>
              </a:ext>
            </a:extLst>
          </p:cNvPr>
          <p:cNvSpPr>
            <a:spLocks noGrp="1"/>
          </p:cNvSpPr>
          <p:nvPr>
            <p:ph type="sldNum" sz="quarter" idx="12"/>
          </p:nvPr>
        </p:nvSpPr>
        <p:spPr>
          <a:xfrm>
            <a:off x="8610600" y="6356350"/>
            <a:ext cx="2743200" cy="365125"/>
          </a:xfrm>
          <a:prstGeom prst="rect">
            <a:avLst/>
          </a:prstGeom>
        </p:spPr>
        <p:txBody>
          <a:bodyPr/>
          <a:lstStyle/>
          <a:p>
            <a:fld id="{8FD0DB74-AAF5-5445-A5E2-C516933EFF20}" type="slidenum">
              <a:t>‹#›</a:t>
            </a:fld>
            <a:endParaRPr lang="en-US"/>
          </a:p>
        </p:txBody>
      </p:sp>
    </p:spTree>
    <p:extLst>
      <p:ext uri="{BB962C8B-B14F-4D97-AF65-F5344CB8AC3E}">
        <p14:creationId xmlns:p14="http://schemas.microsoft.com/office/powerpoint/2010/main" val="1988605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D490ED-9295-A3C2-48E3-1FD74BA7850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6DB5BDB-3139-22B3-5B94-A448EAD1141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2FA6026-76F4-75A7-368E-52271A8E986E}"/>
              </a:ext>
            </a:extLst>
          </p:cNvPr>
          <p:cNvSpPr>
            <a:spLocks noGrp="1"/>
          </p:cNvSpPr>
          <p:nvPr>
            <p:ph type="dt" sz="half" idx="10"/>
          </p:nvPr>
        </p:nvSpPr>
        <p:spPr>
          <a:xfrm>
            <a:off x="838200" y="6356350"/>
            <a:ext cx="2743200" cy="365125"/>
          </a:xfrm>
          <a:prstGeom prst="rect">
            <a:avLst/>
          </a:prstGeom>
        </p:spPr>
        <p:txBody>
          <a:bodyPr/>
          <a:lstStyle/>
          <a:p>
            <a:fld id="{19192133-3368-9744-B4BD-50A4393B2043}" type="datetimeFigureOut">
              <a:t>9/29/25</a:t>
            </a:fld>
            <a:endParaRPr lang="en-US"/>
          </a:p>
        </p:txBody>
      </p:sp>
      <p:sp>
        <p:nvSpPr>
          <p:cNvPr id="5" name="Footer Placeholder 4">
            <a:extLst>
              <a:ext uri="{FF2B5EF4-FFF2-40B4-BE49-F238E27FC236}">
                <a16:creationId xmlns:a16="http://schemas.microsoft.com/office/drawing/2014/main" id="{3A682A8D-30B9-004C-443A-AFCF04D0E96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4CE6355-D3D3-7EE4-419A-A61270B80C01}"/>
              </a:ext>
            </a:extLst>
          </p:cNvPr>
          <p:cNvSpPr>
            <a:spLocks noGrp="1"/>
          </p:cNvSpPr>
          <p:nvPr>
            <p:ph type="sldNum" sz="quarter" idx="12"/>
          </p:nvPr>
        </p:nvSpPr>
        <p:spPr>
          <a:xfrm>
            <a:off x="8610600" y="6356350"/>
            <a:ext cx="2743200" cy="365125"/>
          </a:xfrm>
          <a:prstGeom prst="rect">
            <a:avLst/>
          </a:prstGeom>
        </p:spPr>
        <p:txBody>
          <a:bodyPr/>
          <a:lstStyle/>
          <a:p>
            <a:fld id="{8FD0DB74-AAF5-5445-A5E2-C516933EFF20}" type="slidenum">
              <a:t>‹#›</a:t>
            </a:fld>
            <a:endParaRPr lang="en-US"/>
          </a:p>
        </p:txBody>
      </p:sp>
    </p:spTree>
    <p:extLst>
      <p:ext uri="{BB962C8B-B14F-4D97-AF65-F5344CB8AC3E}">
        <p14:creationId xmlns:p14="http://schemas.microsoft.com/office/powerpoint/2010/main" val="503241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541301"/>
            <a:ext cx="10972440" cy="609398"/>
          </a:xfrm>
          <a:prstGeom prst="rect">
            <a:avLst/>
          </a:prstGeom>
        </p:spPr>
        <p:txBody>
          <a:bodyPr lIns="0" tIns="0" rIns="0" bIns="0" anchor="ctr">
            <a:spAutoFit/>
          </a:bodyPr>
          <a:lstStyle>
            <a:lvl1pPr algn="l">
              <a:defRPr>
                <a:latin typeface="Fira Sans" panose="020B0503050000020004" pitchFamily="34" charset="0"/>
                <a:ea typeface="Fira Sans" panose="020B0503050000020004" pitchFamily="34" charset="0"/>
              </a:defRPr>
            </a:lvl1pPr>
          </a:lstStyle>
          <a:p>
            <a:pPr algn="ctr"/>
            <a:endParaRPr lang="nl-NL" sz="4400" b="0" strike="noStrike" spc="-1">
              <a:latin typeface="Arial"/>
            </a:endParaRPr>
          </a:p>
        </p:txBody>
      </p:sp>
    </p:spTree>
    <p:extLst>
      <p:ext uri="{BB962C8B-B14F-4D97-AF65-F5344CB8AC3E}">
        <p14:creationId xmlns:p14="http://schemas.microsoft.com/office/powerpoint/2010/main" val="8122707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nl-NL" sz="4400" b="0" strike="noStrike" spc="-1">
              <a:latin typeface="Arial"/>
            </a:endParaRPr>
          </a:p>
        </p:txBody>
      </p:sp>
      <p:sp>
        <p:nvSpPr>
          <p:cNvPr id="43"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nl-NL" sz="3200" b="0" strike="noStrike" spc="-1">
              <a:latin typeface="Arial"/>
            </a:endParaRPr>
          </a:p>
        </p:txBody>
      </p:sp>
    </p:spTree>
    <p:extLst>
      <p:ext uri="{BB962C8B-B14F-4D97-AF65-F5344CB8AC3E}">
        <p14:creationId xmlns:p14="http://schemas.microsoft.com/office/powerpoint/2010/main" val="2341958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A4F537-2750-3696-8F49-5DF8FCF406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EF7C778-A8AE-CC21-3FF6-D07D954C8847}"/>
              </a:ext>
            </a:extLst>
          </p:cNvPr>
          <p:cNvSpPr>
            <a:spLocks noGrp="1"/>
          </p:cNvSpPr>
          <p:nvPr>
            <p:ph type="body" idx="1"/>
          </p:nvPr>
        </p:nvSpPr>
        <p:spPr>
          <a:xfrm>
            <a:off x="838200" y="1825624"/>
            <a:ext cx="10515600" cy="457517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324595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b="1" kern="1200">
          <a:solidFill>
            <a:schemeClr val="tx1"/>
          </a:solidFill>
          <a:latin typeface="Fira Sans" panose="020B0503050000020004" pitchFamily="34" charset="0"/>
          <a:ea typeface="Fira Sans" panose="020B05030500000200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ira Sans" panose="020B0503050000020004" pitchFamily="34" charset="0"/>
          <a:ea typeface="Fira Sans" panose="020B05030500000200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ira Sans" panose="020B0503050000020004" pitchFamily="34" charset="0"/>
          <a:ea typeface="Fira Sans" panose="020B05030500000200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ira Sans" panose="020B0503050000020004" pitchFamily="34" charset="0"/>
          <a:ea typeface="Fira Sans" panose="020B05030500000200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ira Sans" panose="020B0503050000020004" pitchFamily="34" charset="0"/>
          <a:ea typeface="Fira Sans" panose="020B05030500000200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ira Sans" panose="020B0503050000020004" pitchFamily="34" charset="0"/>
          <a:ea typeface="Fira Sans" panose="020B05030500000200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r4ds.had.co.nz/" TargetMode="Externa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J535D165/CoronaWatchNL" TargetMode="External"/><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image" Target="../media/image10.tiff"/><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image" Target="../media/image14.tiff"/><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17.tiff"/></Relationships>
</file>

<file path=ppt/slides/_rels/slide33.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image" Target="../media/image16.tiff"/><Relationship Id="rId1" Type="http://schemas.openxmlformats.org/officeDocument/2006/relationships/slideLayout" Target="../slideLayouts/slideLayout13.xml"/><Relationship Id="rId4" Type="http://schemas.openxmlformats.org/officeDocument/2006/relationships/image" Target="../media/image18.tiff"/></Relationships>
</file>

<file path=ppt/slides/_rels/slide34.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image" Target="../media/image16.tiff"/><Relationship Id="rId1" Type="http://schemas.openxmlformats.org/officeDocument/2006/relationships/slideLayout" Target="../slideLayouts/slideLayout13.xml"/><Relationship Id="rId5" Type="http://schemas.openxmlformats.org/officeDocument/2006/relationships/image" Target="../media/image19.tiff"/><Relationship Id="rId4" Type="http://schemas.openxmlformats.org/officeDocument/2006/relationships/image" Target="../media/image18.tif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0.tiff"/><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image" Target="../media/image20.tiff"/><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opendata.cbs.nl/statline"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CustomShape 1"/>
          <p:cNvSpPr/>
          <p:nvPr/>
        </p:nvSpPr>
        <p:spPr>
          <a:xfrm>
            <a:off x="3275640" y="5316120"/>
            <a:ext cx="5643360" cy="438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90000"/>
              </a:lnSpc>
              <a:spcBef>
                <a:spcPts val="1001"/>
              </a:spcBef>
            </a:pPr>
            <a:r>
              <a:rPr lang="nl-NL" sz="2200" b="1" strike="noStrike" spc="-1">
                <a:solidFill>
                  <a:srgbClr val="000000"/>
                </a:solidFill>
                <a:latin typeface="Times New Roman"/>
                <a:ea typeface="DejaVu Sans"/>
              </a:rPr>
              <a:t>Daniel L. Oberski &amp; Erik-Jan van Kesteren</a:t>
            </a:r>
            <a:endParaRPr lang="nl-NL" sz="2200" b="0" strike="noStrike" spc="-1">
              <a:latin typeface="Arial"/>
            </a:endParaRPr>
          </a:p>
        </p:txBody>
      </p:sp>
      <p:sp>
        <p:nvSpPr>
          <p:cNvPr id="79" name="CustomShape 2"/>
          <p:cNvSpPr/>
          <p:nvPr/>
        </p:nvSpPr>
        <p:spPr>
          <a:xfrm>
            <a:off x="2407680" y="5754960"/>
            <a:ext cx="7376400" cy="866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90000"/>
              </a:lnSpc>
              <a:spcBef>
                <a:spcPts val="1001"/>
              </a:spcBef>
            </a:pPr>
            <a:r>
              <a:rPr lang="nl-NL" sz="2000" b="0" strike="noStrike" spc="-1">
                <a:solidFill>
                  <a:srgbClr val="000000"/>
                </a:solidFill>
                <a:latin typeface="Times New Roman"/>
                <a:ea typeface="DejaVu Sans"/>
              </a:rPr>
              <a:t>Department of Methodology &amp; Statistics</a:t>
            </a:r>
            <a:endParaRPr lang="nl-NL" sz="2000" b="0" strike="noStrike" spc="-1">
              <a:latin typeface="Arial"/>
            </a:endParaRPr>
          </a:p>
          <a:p>
            <a:pPr algn="ctr">
              <a:lnSpc>
                <a:spcPct val="90000"/>
              </a:lnSpc>
              <a:spcBef>
                <a:spcPts val="1001"/>
              </a:spcBef>
            </a:pPr>
            <a:r>
              <a:rPr lang="nl-NL" sz="2000" b="0" strike="noStrike" spc="-1">
                <a:solidFill>
                  <a:srgbClr val="000000"/>
                </a:solidFill>
                <a:latin typeface="Times New Roman"/>
                <a:ea typeface="DejaVu Sans"/>
              </a:rPr>
              <a:t>Utrecht University</a:t>
            </a:r>
            <a:endParaRPr lang="nl-NL" sz="2000" b="0" strike="noStrike" spc="-1">
              <a:latin typeface="Arial"/>
            </a:endParaRPr>
          </a:p>
        </p:txBody>
      </p:sp>
      <p:sp>
        <p:nvSpPr>
          <p:cNvPr id="80" name="CustomShape 3"/>
          <p:cNvSpPr/>
          <p:nvPr/>
        </p:nvSpPr>
        <p:spPr>
          <a:xfrm>
            <a:off x="620640" y="1342080"/>
            <a:ext cx="11307600" cy="2359800"/>
          </a:xfrm>
          <a:prstGeom prst="roundRect">
            <a:avLst>
              <a:gd name="adj" fmla="val 16667"/>
            </a:avLst>
          </a:prstGeom>
          <a:solidFill>
            <a:srgbClr val="FFC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nl-NL" sz="3600" b="1" strike="noStrike" spc="-1">
                <a:solidFill>
                  <a:srgbClr val="000000"/>
                </a:solidFill>
                <a:latin typeface="Times New Roman"/>
                <a:ea typeface="DejaVu Sans"/>
              </a:rPr>
              <a:t>Data Wrangling and Data Analysis</a:t>
            </a:r>
            <a:endParaRPr lang="nl-NL" sz="3600" b="0" strike="noStrike" spc="-1">
              <a:latin typeface="Arial"/>
            </a:endParaRPr>
          </a:p>
          <a:p>
            <a:pPr algn="ctr">
              <a:lnSpc>
                <a:spcPct val="100000"/>
              </a:lnSpc>
            </a:pPr>
            <a:r>
              <a:rPr lang="nl-NL" sz="3600" b="1" strike="noStrike" spc="-1">
                <a:solidFill>
                  <a:srgbClr val="000000"/>
                </a:solidFill>
                <a:latin typeface="Times New Roman"/>
                <a:ea typeface="DejaVu Sans"/>
              </a:rPr>
              <a:t>Exploratory Data Analysis</a:t>
            </a:r>
            <a:endParaRPr lang="nl-NL" sz="3600" b="0" strike="noStrike" spc="-1">
              <a:latin typeface="Arial"/>
            </a:endParaRPr>
          </a:p>
        </p:txBody>
      </p:sp>
      <p:sp>
        <p:nvSpPr>
          <p:cNvPr id="81" name="CustomShape 4"/>
          <p:cNvSpPr/>
          <p:nvPr/>
        </p:nvSpPr>
        <p:spPr>
          <a:xfrm>
            <a:off x="2897280" y="3702960"/>
            <a:ext cx="6400080" cy="1198800"/>
          </a:xfrm>
          <a:prstGeom prst="rect">
            <a:avLst/>
          </a:prstGeom>
          <a:noFill/>
          <a:ln>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D105D-742B-4546-9C74-0395D1678904}"/>
              </a:ext>
            </a:extLst>
          </p:cNvPr>
          <p:cNvSpPr>
            <a:spLocks noGrp="1"/>
          </p:cNvSpPr>
          <p:nvPr>
            <p:ph type="title"/>
          </p:nvPr>
        </p:nvSpPr>
        <p:spPr>
          <a:xfrm>
            <a:off x="4965430" y="629266"/>
            <a:ext cx="6586491" cy="1676603"/>
          </a:xfrm>
        </p:spPr>
        <p:txBody>
          <a:bodyPr>
            <a:normAutofit/>
          </a:bodyPr>
          <a:lstStyle/>
          <a:p>
            <a:r>
              <a:rPr lang="en-GB" dirty="0"/>
              <a:t>John Tukey (1915 – 2000)</a:t>
            </a:r>
          </a:p>
        </p:txBody>
      </p:sp>
      <p:pic>
        <p:nvPicPr>
          <p:cNvPr id="5" name="Content Placeholder 4" descr="A person sitting on a table&#10;&#10;Description automatically generated">
            <a:extLst>
              <a:ext uri="{FF2B5EF4-FFF2-40B4-BE49-F238E27FC236}">
                <a16:creationId xmlns:a16="http://schemas.microsoft.com/office/drawing/2014/main" id="{AADF8676-96E4-422F-A7A8-7686F561D78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0" y="10"/>
            <a:ext cx="4635571" cy="6857990"/>
          </a:xfrm>
          <a:prstGeom prst="rect">
            <a:avLst/>
          </a:prstGeom>
          <a:effectLst/>
        </p:spPr>
      </p:pic>
      <p:sp>
        <p:nvSpPr>
          <p:cNvPr id="9" name="Content Placeholder 8">
            <a:extLst>
              <a:ext uri="{FF2B5EF4-FFF2-40B4-BE49-F238E27FC236}">
                <a16:creationId xmlns:a16="http://schemas.microsoft.com/office/drawing/2014/main" id="{89FC489C-D931-4B91-8935-45BDA453C1D1}"/>
              </a:ext>
            </a:extLst>
          </p:cNvPr>
          <p:cNvSpPr>
            <a:spLocks noGrp="1"/>
          </p:cNvSpPr>
          <p:nvPr>
            <p:ph idx="1"/>
          </p:nvPr>
        </p:nvSpPr>
        <p:spPr>
          <a:xfrm>
            <a:off x="4965431" y="2438400"/>
            <a:ext cx="6586489" cy="3785419"/>
          </a:xfrm>
        </p:spPr>
        <p:txBody>
          <a:bodyPr>
            <a:normAutofit/>
          </a:bodyPr>
          <a:lstStyle/>
          <a:p>
            <a:r>
              <a:rPr lang="en-US" sz="2400" dirty="0"/>
              <a:t>Data Scientist patient zero</a:t>
            </a:r>
          </a:p>
          <a:p>
            <a:r>
              <a:rPr lang="en-US" sz="2400" dirty="0"/>
              <a:t>Inventor of:</a:t>
            </a:r>
          </a:p>
          <a:p>
            <a:pPr lvl="1"/>
            <a:r>
              <a:rPr lang="en-US" sz="2000" dirty="0"/>
              <a:t>The boxplot</a:t>
            </a:r>
          </a:p>
          <a:p>
            <a:pPr lvl="1"/>
            <a:r>
              <a:rPr lang="en-US" sz="2000" dirty="0"/>
              <a:t>The term “exploratory data analysis”</a:t>
            </a:r>
          </a:p>
          <a:p>
            <a:pPr lvl="1"/>
            <a:r>
              <a:rPr lang="en-US" sz="2000" dirty="0"/>
              <a:t>The Fast Fourier Transform</a:t>
            </a:r>
          </a:p>
          <a:p>
            <a:pPr lvl="1"/>
            <a:r>
              <a:rPr lang="en-US" sz="2000" dirty="0"/>
              <a:t>“Tukey’s test”</a:t>
            </a:r>
          </a:p>
          <a:p>
            <a:pPr lvl="1"/>
            <a:r>
              <a:rPr lang="en-US" sz="2000" dirty="0"/>
              <a:t>The word “bit”</a:t>
            </a:r>
          </a:p>
          <a:p>
            <a:pPr lvl="1"/>
            <a:r>
              <a:rPr lang="en-US" sz="2000" dirty="0"/>
              <a:t>So, so much more (Wikipedia)</a:t>
            </a:r>
          </a:p>
        </p:txBody>
      </p:sp>
    </p:spTree>
    <p:extLst>
      <p:ext uri="{BB962C8B-B14F-4D97-AF65-F5344CB8AC3E}">
        <p14:creationId xmlns:p14="http://schemas.microsoft.com/office/powerpoint/2010/main" val="1179489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92F71-3B88-524D-9FCB-EF0215E8F7E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632D0308-ECB5-464C-A2CF-30A39116A6BC}"/>
              </a:ext>
            </a:extLst>
          </p:cNvPr>
          <p:cNvSpPr>
            <a:spLocks noGrp="1"/>
          </p:cNvSpPr>
          <p:nvPr>
            <p:ph type="body"/>
          </p:nvPr>
        </p:nvSpPr>
        <p:spPr/>
        <p:txBody>
          <a:bodyPr/>
          <a:lstStyle/>
          <a:p>
            <a:endParaRPr lang="en-US" dirty="0"/>
          </a:p>
        </p:txBody>
      </p:sp>
      <p:sp>
        <p:nvSpPr>
          <p:cNvPr id="4" name="Rectangle 3">
            <a:extLst>
              <a:ext uri="{FF2B5EF4-FFF2-40B4-BE49-F238E27FC236}">
                <a16:creationId xmlns:a16="http://schemas.microsoft.com/office/drawing/2014/main" id="{53D02A5F-1787-664A-AA5B-FB5945D10D34}"/>
              </a:ext>
            </a:extLst>
          </p:cNvPr>
          <p:cNvSpPr/>
          <p:nvPr/>
        </p:nvSpPr>
        <p:spPr>
          <a:xfrm>
            <a:off x="609479" y="1276200"/>
            <a:ext cx="10083843" cy="923330"/>
          </a:xfrm>
          <a:prstGeom prst="rect">
            <a:avLst/>
          </a:prstGeom>
        </p:spPr>
        <p:txBody>
          <a:bodyPr wrap="square">
            <a:spAutoFit/>
          </a:bodyPr>
          <a:lstStyle/>
          <a:p>
            <a:r>
              <a:rPr lang="en-US" dirty="0">
                <a:latin typeface="Fira Sans" panose="020B0503050000020004" pitchFamily="34" charset="0"/>
                <a:ea typeface="Fira Sans" panose="020B0503050000020004" pitchFamily="34" charset="0"/>
              </a:rPr>
              <a:t>“NO BODY OF DATA TELLS US ALL we need to know ABOUT ITS OWN ANALYSIS. It always takes information and insight gained from other, parallel bodies to let us analyze our body of data as well as we can. (If we don't have it, we do as well as we can.)” – EDA p. 115</a:t>
            </a:r>
          </a:p>
        </p:txBody>
      </p:sp>
      <p:pic>
        <p:nvPicPr>
          <p:cNvPr id="2050" name="Picture 2">
            <a:extLst>
              <a:ext uri="{FF2B5EF4-FFF2-40B4-BE49-F238E27FC236}">
                <a16:creationId xmlns:a16="http://schemas.microsoft.com/office/drawing/2014/main" id="{AA03C3F3-0BC3-0B44-B700-9EDA58F708A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0" y="-1"/>
            <a:ext cx="10972440" cy="68577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9BB392D-AE17-1A4E-B726-D25AA2C4B5AF}"/>
              </a:ext>
            </a:extLst>
          </p:cNvPr>
          <p:cNvSpPr txBox="1"/>
          <p:nvPr/>
        </p:nvSpPr>
        <p:spPr>
          <a:xfrm>
            <a:off x="10972440" y="5988065"/>
            <a:ext cx="1206888" cy="830997"/>
          </a:xfrm>
          <a:prstGeom prst="rect">
            <a:avLst/>
          </a:prstGeom>
          <a:noFill/>
        </p:spPr>
        <p:txBody>
          <a:bodyPr wrap="square" rtlCol="0">
            <a:spAutoFit/>
          </a:bodyPr>
          <a:lstStyle/>
          <a:p>
            <a:r>
              <a:rPr lang="en-US" sz="1600" i="1" dirty="0"/>
              <a:t>- John Tukey 1970, EDA</a:t>
            </a:r>
          </a:p>
        </p:txBody>
      </p:sp>
    </p:spTree>
    <p:extLst>
      <p:ext uri="{BB962C8B-B14F-4D97-AF65-F5344CB8AC3E}">
        <p14:creationId xmlns:p14="http://schemas.microsoft.com/office/powerpoint/2010/main" val="1851075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nl-NL" sz="4400" b="0" strike="noStrike" spc="-1">
                <a:latin typeface="Arial"/>
              </a:rPr>
              <a:t>Where it fits in</a:t>
            </a:r>
          </a:p>
        </p:txBody>
      </p:sp>
      <p:sp>
        <p:nvSpPr>
          <p:cNvPr id="83"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880">
              <a:lnSpc>
                <a:spcPct val="90000"/>
              </a:lnSpc>
              <a:spcBef>
                <a:spcPts val="1001"/>
              </a:spcBef>
              <a:buClr>
                <a:srgbClr val="000000"/>
              </a:buClr>
              <a:buFont typeface="Arial"/>
              <a:buChar char="•"/>
            </a:pPr>
            <a:r>
              <a:rPr lang="nl-NL" sz="2800" b="0" strike="noStrike" spc="-1">
                <a:solidFill>
                  <a:srgbClr val="000000"/>
                </a:solidFill>
                <a:latin typeface="Calibri"/>
              </a:rPr>
              <a:t>Data visualization principles</a:t>
            </a:r>
            <a:endParaRPr lang="nl-NL" sz="2800" b="0" strike="noStrike" spc="-1">
              <a:latin typeface="Arial"/>
            </a:endParaRPr>
          </a:p>
          <a:p>
            <a:pPr marL="228600" indent="-227880">
              <a:lnSpc>
                <a:spcPct val="90000"/>
              </a:lnSpc>
              <a:spcBef>
                <a:spcPts val="1001"/>
              </a:spcBef>
              <a:buClr>
                <a:srgbClr val="000000"/>
              </a:buClr>
              <a:buFont typeface="Arial"/>
              <a:buChar char="•"/>
            </a:pPr>
            <a:r>
              <a:rPr lang="nl-NL" sz="2800" b="0" strike="noStrike" spc="-1">
                <a:solidFill>
                  <a:srgbClr val="000000"/>
                </a:solidFill>
                <a:latin typeface="Calibri"/>
              </a:rPr>
              <a:t>The grammar of graphics</a:t>
            </a:r>
            <a:endParaRPr lang="nl-NL" sz="2800" b="0" strike="noStrike" spc="-1">
              <a:latin typeface="Arial"/>
            </a:endParaRPr>
          </a:p>
          <a:p>
            <a:pPr marL="228600" indent="-227880">
              <a:lnSpc>
                <a:spcPct val="90000"/>
              </a:lnSpc>
              <a:spcBef>
                <a:spcPts val="1001"/>
              </a:spcBef>
              <a:buClr>
                <a:srgbClr val="000000"/>
              </a:buClr>
              <a:buFont typeface="Arial"/>
              <a:buChar char="•"/>
            </a:pPr>
            <a:r>
              <a:rPr lang="nl-NL" sz="2800" b="1" strike="noStrike" spc="-1">
                <a:solidFill>
                  <a:srgbClr val="000000"/>
                </a:solidFill>
                <a:latin typeface="Calibri"/>
              </a:rPr>
              <a:t>Exploratory data analysis (EDA)</a:t>
            </a:r>
            <a:endParaRPr lang="nl-NL" sz="2800" b="0" strike="noStrike" spc="-1">
              <a:latin typeface="Arial"/>
            </a:endParaRPr>
          </a:p>
          <a:p>
            <a:pPr>
              <a:lnSpc>
                <a:spcPct val="90000"/>
              </a:lnSpc>
              <a:spcBef>
                <a:spcPts val="1001"/>
              </a:spcBef>
            </a:pPr>
            <a:endParaRPr lang="nl-NL" sz="2800" b="0" strike="noStrike" spc="-1">
              <a:latin typeface="Arial"/>
            </a:endParaRPr>
          </a:p>
          <a:p>
            <a:pPr marL="228600" indent="-227880">
              <a:lnSpc>
                <a:spcPct val="90000"/>
              </a:lnSpc>
              <a:spcBef>
                <a:spcPts val="1001"/>
              </a:spcBef>
              <a:buClr>
                <a:srgbClr val="000000"/>
              </a:buClr>
              <a:buFont typeface="Arial"/>
              <a:buChar char="•"/>
            </a:pPr>
            <a:r>
              <a:rPr lang="nl-NL" sz="2800" b="0" strike="noStrike" spc="-1">
                <a:solidFill>
                  <a:srgbClr val="000000"/>
                </a:solidFill>
                <a:latin typeface="Calibri"/>
              </a:rPr>
              <a:t>Goal: know how to create and improve data visualizations, and know how to use them for exploration</a:t>
            </a:r>
            <a:endParaRPr lang="nl-NL" sz="2800" b="0" strike="noStrike" spc="-1">
              <a:latin typeface="Arial"/>
            </a:endParaRPr>
          </a:p>
          <a:p>
            <a:pPr>
              <a:lnSpc>
                <a:spcPct val="90000"/>
              </a:lnSpc>
              <a:spcBef>
                <a:spcPts val="1001"/>
              </a:spcBef>
            </a:pPr>
            <a:endParaRPr lang="nl-NL" sz="2800" b="0" strike="noStrike"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nl-NL" sz="4400" b="0" strike="noStrike" spc="-1">
                <a:solidFill>
                  <a:srgbClr val="000000"/>
                </a:solidFill>
                <a:latin typeface="Calibri Light"/>
              </a:rPr>
              <a:t>Reading materials for this week</a:t>
            </a:r>
            <a:endParaRPr lang="nl-NL" sz="4400" b="0" strike="noStrike" spc="-1">
              <a:latin typeface="Arial"/>
            </a:endParaRPr>
          </a:p>
        </p:txBody>
      </p:sp>
      <p:sp>
        <p:nvSpPr>
          <p:cNvPr id="85" name="CustomShape 2"/>
          <p:cNvSpPr/>
          <p:nvPr/>
        </p:nvSpPr>
        <p:spPr>
          <a:xfrm>
            <a:off x="710640" y="1566000"/>
            <a:ext cx="8287056"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880">
              <a:lnSpc>
                <a:spcPct val="90000"/>
              </a:lnSpc>
              <a:spcBef>
                <a:spcPts val="1001"/>
              </a:spcBef>
              <a:buClr>
                <a:srgbClr val="000000"/>
              </a:buClr>
              <a:buFont typeface="Arial"/>
              <a:buChar char="•"/>
            </a:pPr>
            <a:r>
              <a:rPr lang="nl-NL" sz="2800" b="1" strike="noStrike" spc="-1" dirty="0">
                <a:solidFill>
                  <a:srgbClr val="000000"/>
                </a:solidFill>
                <a:latin typeface="Calibri"/>
              </a:rPr>
              <a:t>R </a:t>
            </a:r>
            <a:r>
              <a:rPr lang="nl-NL" sz="2800" b="1" strike="noStrike" spc="-1" dirty="0" err="1">
                <a:solidFill>
                  <a:srgbClr val="000000"/>
                </a:solidFill>
                <a:latin typeface="Calibri"/>
              </a:rPr>
              <a:t>for</a:t>
            </a:r>
            <a:r>
              <a:rPr lang="nl-NL" sz="2800" b="1" strike="noStrike" spc="-1" dirty="0">
                <a:solidFill>
                  <a:srgbClr val="000000"/>
                </a:solidFill>
                <a:latin typeface="Calibri"/>
              </a:rPr>
              <a:t> Data </a:t>
            </a:r>
            <a:r>
              <a:rPr lang="nl-NL" sz="2800" b="1" strike="noStrike" spc="-1" dirty="0" err="1">
                <a:solidFill>
                  <a:srgbClr val="000000"/>
                </a:solidFill>
                <a:latin typeface="Calibri"/>
              </a:rPr>
              <a:t>Science</a:t>
            </a:r>
            <a:r>
              <a:rPr lang="nl-NL" sz="2800" b="1" strike="noStrike" spc="-1" dirty="0">
                <a:solidFill>
                  <a:srgbClr val="000000"/>
                </a:solidFill>
                <a:latin typeface="Calibri"/>
              </a:rPr>
              <a:t> (R4DS) </a:t>
            </a:r>
          </a:p>
          <a:p>
            <a:pPr marL="720">
              <a:lnSpc>
                <a:spcPct val="90000"/>
              </a:lnSpc>
              <a:spcBef>
                <a:spcPts val="1001"/>
              </a:spcBef>
              <a:buClr>
                <a:srgbClr val="000000"/>
              </a:buClr>
            </a:pPr>
            <a:r>
              <a:rPr lang="nl-NL" sz="2800" b="1" i="1" spc="-1" dirty="0">
                <a:solidFill>
                  <a:srgbClr val="000000"/>
                </a:solidFill>
                <a:latin typeface="Calibri"/>
              </a:rPr>
              <a:t>	</a:t>
            </a:r>
            <a:r>
              <a:rPr lang="en-IE" sz="2600" i="1" dirty="0"/>
              <a:t>(Wickham &amp; </a:t>
            </a:r>
            <a:r>
              <a:rPr lang="en-IE" sz="2600" i="1" dirty="0" err="1"/>
              <a:t>Grolemund</a:t>
            </a:r>
            <a:r>
              <a:rPr lang="en-IE" sz="2600" i="1" dirty="0"/>
              <a:t> 2017(</a:t>
            </a:r>
            <a:r>
              <a:rPr lang="en-IE" sz="2600" i="1" dirty="0" err="1"/>
              <a:t>ish</a:t>
            </a:r>
            <a:r>
              <a:rPr lang="en-IE" sz="2600" i="1" dirty="0"/>
              <a:t>)</a:t>
            </a:r>
            <a:r>
              <a:rPr lang="nl-NL" sz="2600" b="1" strike="noStrike" spc="-1" dirty="0">
                <a:solidFill>
                  <a:srgbClr val="000000"/>
                </a:solidFill>
                <a:latin typeface="Calibri"/>
              </a:rPr>
              <a:t> )</a:t>
            </a:r>
            <a:endParaRPr lang="nl-NL" sz="2600" b="0" strike="noStrike" spc="-1" dirty="0">
              <a:latin typeface="Arial"/>
            </a:endParaRPr>
          </a:p>
          <a:p>
            <a:pPr marL="228600" indent="-227880">
              <a:lnSpc>
                <a:spcPct val="90000"/>
              </a:lnSpc>
              <a:spcBef>
                <a:spcPts val="1001"/>
              </a:spcBef>
              <a:buClr>
                <a:srgbClr val="000000"/>
              </a:buClr>
              <a:buFont typeface="Arial"/>
              <a:buChar char="•"/>
            </a:pPr>
            <a:r>
              <a:rPr lang="nl-NL" sz="2800" b="0" u="sng" strike="noStrike" spc="-1" dirty="0">
                <a:solidFill>
                  <a:srgbClr val="0563C1"/>
                </a:solidFill>
                <a:uFillTx/>
                <a:latin typeface="Calibri"/>
                <a:hlinkClick r:id="rId2"/>
              </a:rPr>
              <a:t>https://r4ds.had.co.nz</a:t>
            </a:r>
            <a:r>
              <a:rPr lang="nl-NL" sz="2800" b="0" strike="noStrike" spc="-1" dirty="0">
                <a:solidFill>
                  <a:srgbClr val="000000"/>
                </a:solidFill>
                <a:latin typeface="Calibri"/>
              </a:rPr>
              <a:t> </a:t>
            </a:r>
          </a:p>
          <a:p>
            <a:pPr marL="228600" indent="-227880">
              <a:lnSpc>
                <a:spcPct val="90000"/>
              </a:lnSpc>
              <a:spcBef>
                <a:spcPts val="1001"/>
              </a:spcBef>
              <a:buClr>
                <a:srgbClr val="000000"/>
              </a:buClr>
              <a:buFont typeface="Arial"/>
              <a:buChar char="•"/>
            </a:pPr>
            <a:r>
              <a:rPr lang="nl-NL" sz="2800" spc="-1" dirty="0" err="1">
                <a:solidFill>
                  <a:srgbClr val="000000"/>
                </a:solidFill>
                <a:latin typeface="Calibri"/>
              </a:rPr>
              <a:t>Chapters</a:t>
            </a:r>
            <a:r>
              <a:rPr lang="nl-NL" sz="2800" spc="-1" dirty="0">
                <a:solidFill>
                  <a:srgbClr val="000000"/>
                </a:solidFill>
                <a:latin typeface="Calibri"/>
              </a:rPr>
              <a:t> 1, 3, 9, 10</a:t>
            </a:r>
          </a:p>
          <a:p>
            <a:pPr marL="228600" indent="-227880">
              <a:lnSpc>
                <a:spcPct val="90000"/>
              </a:lnSpc>
              <a:spcBef>
                <a:spcPts val="1001"/>
              </a:spcBef>
              <a:buClr>
                <a:srgbClr val="000000"/>
              </a:buClr>
              <a:buFont typeface="Arial"/>
              <a:buChar char="•"/>
            </a:pPr>
            <a:endParaRPr lang="nl-NL" sz="2800" b="0" strike="noStrike" spc="-1" dirty="0">
              <a:solidFill>
                <a:srgbClr val="000000"/>
              </a:solidFill>
              <a:latin typeface="Calibri"/>
            </a:endParaRPr>
          </a:p>
          <a:p>
            <a:pPr marL="720">
              <a:lnSpc>
                <a:spcPct val="90000"/>
              </a:lnSpc>
              <a:spcBef>
                <a:spcPts val="1001"/>
              </a:spcBef>
              <a:buClr>
                <a:srgbClr val="000000"/>
              </a:buClr>
            </a:pPr>
            <a:r>
              <a:rPr lang="nl-NL" sz="2800" i="1" spc="-1" dirty="0" err="1">
                <a:solidFill>
                  <a:srgbClr val="000000"/>
                </a:solidFill>
                <a:latin typeface="Calibri"/>
              </a:rPr>
              <a:t>Optional</a:t>
            </a:r>
            <a:r>
              <a:rPr lang="nl-NL" sz="2800" spc="-1" dirty="0">
                <a:solidFill>
                  <a:srgbClr val="000000"/>
                </a:solidFill>
                <a:latin typeface="Calibri"/>
              </a:rPr>
              <a:t>:</a:t>
            </a:r>
          </a:p>
          <a:p>
            <a:pPr marL="457920" indent="-457200">
              <a:lnSpc>
                <a:spcPct val="90000"/>
              </a:lnSpc>
              <a:spcBef>
                <a:spcPts val="1001"/>
              </a:spcBef>
              <a:buClr>
                <a:srgbClr val="000000"/>
              </a:buClr>
              <a:buFont typeface="Arial" panose="020B0604020202020204" pitchFamily="34" charset="0"/>
              <a:buChar char="•"/>
            </a:pPr>
            <a:r>
              <a:rPr lang="en-IE" sz="2800" b="1" dirty="0"/>
              <a:t>Exploratory Data Analysis with R </a:t>
            </a:r>
            <a:r>
              <a:rPr lang="en-IE" sz="2400" i="1" dirty="0"/>
              <a:t>(Peng 2020)</a:t>
            </a:r>
            <a:endParaRPr lang="nl-NL" sz="2800" spc="-1" dirty="0">
              <a:hlinkClick r:id=""/>
            </a:endParaRPr>
          </a:p>
          <a:p>
            <a:pPr marL="457920" indent="-457200">
              <a:lnSpc>
                <a:spcPct val="90000"/>
              </a:lnSpc>
              <a:spcBef>
                <a:spcPts val="1001"/>
              </a:spcBef>
              <a:buClr>
                <a:srgbClr val="000000"/>
              </a:buClr>
              <a:buFont typeface="Arial" panose="020B0604020202020204" pitchFamily="34" charset="0"/>
              <a:buChar char="•"/>
            </a:pPr>
            <a:r>
              <a:rPr lang="nl-NL" sz="2800" spc="-1" dirty="0">
                <a:hlinkClick r:id=""/>
              </a:rPr>
              <a:t>https://bookdown.org/rdpeng/exdata/</a:t>
            </a:r>
            <a:r>
              <a:rPr lang="nl-NL" sz="2800" spc="-1" dirty="0"/>
              <a:t> </a:t>
            </a:r>
            <a:endParaRPr lang="nl-NL" sz="2800" b="0" strike="noStrike" spc="-1" dirty="0">
              <a:latin typeface="Arial"/>
            </a:endParaRPr>
          </a:p>
          <a:p>
            <a:pPr>
              <a:lnSpc>
                <a:spcPct val="90000"/>
              </a:lnSpc>
              <a:spcBef>
                <a:spcPts val="1001"/>
              </a:spcBef>
            </a:pPr>
            <a:endParaRPr lang="nl-NL" sz="2800" b="0" strike="noStrike" spc="-1" dirty="0">
              <a:latin typeface="Arial"/>
            </a:endParaRPr>
          </a:p>
        </p:txBody>
      </p:sp>
      <p:pic>
        <p:nvPicPr>
          <p:cNvPr id="86" name="Picture 4"/>
          <p:cNvPicPr/>
          <p:nvPr/>
        </p:nvPicPr>
        <p:blipFill>
          <a:blip r:embed="rId3" cstate="screen">
            <a:extLst>
              <a:ext uri="{28A0092B-C50C-407E-A947-70E740481C1C}">
                <a14:useLocalDpi xmlns:a14="http://schemas.microsoft.com/office/drawing/2010/main"/>
              </a:ext>
            </a:extLst>
          </a:blip>
          <a:stretch/>
        </p:blipFill>
        <p:spPr>
          <a:xfrm>
            <a:off x="9600603" y="706179"/>
            <a:ext cx="2010608" cy="3016161"/>
          </a:xfrm>
          <a:prstGeom prst="rect">
            <a:avLst/>
          </a:prstGeom>
          <a:ln>
            <a:noFill/>
          </a:ln>
        </p:spPr>
      </p:pic>
      <p:pic>
        <p:nvPicPr>
          <p:cNvPr id="1026" name="Picture 2">
            <a:extLst>
              <a:ext uri="{FF2B5EF4-FFF2-40B4-BE49-F238E27FC236}">
                <a16:creationId xmlns:a16="http://schemas.microsoft.com/office/drawing/2014/main" id="{FAF1210E-9474-3049-BD51-F7D3E8CA9B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342352" y="3584448"/>
            <a:ext cx="2527110" cy="32735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05ED5-9E04-524B-86C8-5E7AB71E6603}"/>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95512F75-2032-4245-9287-1CE5AF61812D}"/>
              </a:ext>
            </a:extLst>
          </p:cNvPr>
          <p:cNvSpPr>
            <a:spLocks noGrp="1"/>
          </p:cNvSpPr>
          <p:nvPr>
            <p:ph type="subTitle"/>
          </p:nvPr>
        </p:nvSpPr>
        <p:spPr>
          <a:xfrm>
            <a:off x="609480" y="3288461"/>
            <a:ext cx="10972440" cy="609398"/>
          </a:xfrm>
        </p:spPr>
        <p:txBody>
          <a:bodyPr/>
          <a:lstStyle/>
          <a:p>
            <a:pPr marL="0" indent="0">
              <a:buNone/>
            </a:pPr>
            <a:r>
              <a:rPr lang="en-US" sz="4400" dirty="0"/>
              <a:t>Exploratory vs. confirmatory</a:t>
            </a:r>
          </a:p>
        </p:txBody>
      </p:sp>
    </p:spTree>
    <p:extLst>
      <p:ext uri="{BB962C8B-B14F-4D97-AF65-F5344CB8AC3E}">
        <p14:creationId xmlns:p14="http://schemas.microsoft.com/office/powerpoint/2010/main" val="3941395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nl-NL" sz="4400" b="0" strike="noStrike" spc="-1" dirty="0" err="1">
                <a:solidFill>
                  <a:srgbClr val="000000"/>
                </a:solidFill>
                <a:latin typeface="Calibri Light"/>
              </a:rPr>
              <a:t>Exploratory</a:t>
            </a:r>
            <a:r>
              <a:rPr lang="nl-NL" sz="4400" b="0" strike="noStrike" spc="-1" dirty="0">
                <a:solidFill>
                  <a:srgbClr val="000000"/>
                </a:solidFill>
                <a:latin typeface="Calibri Light"/>
              </a:rPr>
              <a:t> </a:t>
            </a:r>
            <a:r>
              <a:rPr lang="nl-NL" sz="4400" b="0" strike="noStrike" spc="-1" dirty="0" err="1">
                <a:solidFill>
                  <a:srgbClr val="000000"/>
                </a:solidFill>
                <a:latin typeface="Calibri Light"/>
              </a:rPr>
              <a:t>vs</a:t>
            </a:r>
            <a:r>
              <a:rPr lang="nl-NL" sz="4400" b="0" strike="noStrike" spc="-1" dirty="0">
                <a:solidFill>
                  <a:srgbClr val="000000"/>
                </a:solidFill>
                <a:latin typeface="Calibri Light"/>
              </a:rPr>
              <a:t> </a:t>
            </a:r>
            <a:r>
              <a:rPr lang="nl-NL" sz="4400" b="0" strike="noStrike" spc="-1" dirty="0" err="1">
                <a:solidFill>
                  <a:srgbClr val="000000"/>
                </a:solidFill>
                <a:latin typeface="Calibri Light"/>
              </a:rPr>
              <a:t>confirmatory</a:t>
            </a:r>
            <a:endParaRPr lang="nl-NL" sz="4400" b="0" strike="noStrike" spc="-1" dirty="0">
              <a:latin typeface="Arial"/>
            </a:endParaRPr>
          </a:p>
        </p:txBody>
      </p:sp>
      <p:sp>
        <p:nvSpPr>
          <p:cNvPr id="98"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20">
              <a:lnSpc>
                <a:spcPct val="90000"/>
              </a:lnSpc>
              <a:spcBef>
                <a:spcPts val="1001"/>
              </a:spcBef>
              <a:buClr>
                <a:srgbClr val="000000"/>
              </a:buClr>
            </a:pPr>
            <a:r>
              <a:rPr lang="nl-NL" sz="2700" b="1" strike="noStrike" spc="-1">
                <a:solidFill>
                  <a:srgbClr val="000000"/>
                </a:solidFill>
                <a:latin typeface="Calibri"/>
              </a:rPr>
              <a:t>Exploratory analysis</a:t>
            </a:r>
            <a:endParaRPr lang="nl-NL" sz="2700" b="1" strike="noStrike" spc="-1">
              <a:latin typeface="Arial"/>
            </a:endParaRPr>
          </a:p>
          <a:p>
            <a:pPr marL="685800" lvl="1" indent="-227880">
              <a:lnSpc>
                <a:spcPct val="90000"/>
              </a:lnSpc>
              <a:spcBef>
                <a:spcPts val="499"/>
              </a:spcBef>
              <a:buClr>
                <a:srgbClr val="000000"/>
              </a:buClr>
              <a:buFont typeface="Arial"/>
              <a:buChar char="•"/>
            </a:pPr>
            <a:r>
              <a:rPr lang="nl-NL" sz="2700" b="0" strike="noStrike" spc="-1">
                <a:solidFill>
                  <a:srgbClr val="000000"/>
                </a:solidFill>
                <a:latin typeface="Calibri"/>
              </a:rPr>
              <a:t>Generate new insights</a:t>
            </a:r>
            <a:endParaRPr lang="nl-NL" sz="2700" b="0" strike="noStrike" spc="-1">
              <a:latin typeface="Arial"/>
            </a:endParaRPr>
          </a:p>
          <a:p>
            <a:pPr marL="685800" lvl="1" indent="-227880">
              <a:lnSpc>
                <a:spcPct val="90000"/>
              </a:lnSpc>
              <a:spcBef>
                <a:spcPts val="499"/>
              </a:spcBef>
              <a:buClr>
                <a:srgbClr val="000000"/>
              </a:buClr>
              <a:buFont typeface="Arial"/>
              <a:buChar char="•"/>
            </a:pPr>
            <a:r>
              <a:rPr lang="nl-NL" sz="2700" b="0" strike="noStrike" spc="-1">
                <a:solidFill>
                  <a:srgbClr val="000000"/>
                </a:solidFill>
                <a:latin typeface="Calibri"/>
              </a:rPr>
              <a:t>Create new hypotheses</a:t>
            </a:r>
            <a:endParaRPr lang="nl-NL" sz="2700" b="0" strike="noStrike" spc="-1">
              <a:latin typeface="Arial"/>
            </a:endParaRPr>
          </a:p>
          <a:p>
            <a:pPr marL="685800" lvl="1" indent="-227880">
              <a:lnSpc>
                <a:spcPct val="90000"/>
              </a:lnSpc>
              <a:spcBef>
                <a:spcPts val="499"/>
              </a:spcBef>
              <a:buClr>
                <a:srgbClr val="000000"/>
              </a:buClr>
              <a:buFont typeface="Arial"/>
              <a:buChar char="•"/>
            </a:pPr>
            <a:r>
              <a:rPr lang="nl-NL" sz="2700" b="0" strike="noStrike" spc="-1">
                <a:solidFill>
                  <a:srgbClr val="000000"/>
                </a:solidFill>
                <a:latin typeface="Calibri"/>
              </a:rPr>
              <a:t>Analysis may depend on data</a:t>
            </a:r>
            <a:endParaRPr lang="nl-NL" sz="2700" b="0" strike="noStrike" spc="-1">
              <a:latin typeface="Arial"/>
            </a:endParaRPr>
          </a:p>
          <a:p>
            <a:pPr>
              <a:lnSpc>
                <a:spcPct val="100000"/>
              </a:lnSpc>
            </a:pPr>
            <a:endParaRPr lang="nl-NL" sz="2700" b="0" strike="noStrike" spc="-1">
              <a:latin typeface="Arial"/>
            </a:endParaRPr>
          </a:p>
          <a:p>
            <a:pPr marL="720">
              <a:lnSpc>
                <a:spcPct val="90000"/>
              </a:lnSpc>
              <a:spcBef>
                <a:spcPts val="1001"/>
              </a:spcBef>
              <a:buClr>
                <a:srgbClr val="000000"/>
              </a:buClr>
            </a:pPr>
            <a:r>
              <a:rPr lang="nl-NL" sz="2700" b="1" strike="noStrike" spc="-1">
                <a:solidFill>
                  <a:srgbClr val="000000"/>
                </a:solidFill>
                <a:latin typeface="Calibri"/>
              </a:rPr>
              <a:t>Confirmatory analysis</a:t>
            </a:r>
            <a:endParaRPr lang="nl-NL" sz="2700" b="1" strike="noStrike" spc="-1">
              <a:latin typeface="Arial"/>
            </a:endParaRPr>
          </a:p>
          <a:p>
            <a:pPr marL="685800" lvl="1" indent="-227880">
              <a:lnSpc>
                <a:spcPct val="90000"/>
              </a:lnSpc>
              <a:spcBef>
                <a:spcPts val="499"/>
              </a:spcBef>
              <a:buClr>
                <a:srgbClr val="000000"/>
              </a:buClr>
              <a:buFont typeface="Arial"/>
              <a:buChar char="•"/>
            </a:pPr>
            <a:r>
              <a:rPr lang="nl-NL" sz="2700" b="0" strike="noStrike" spc="-1">
                <a:solidFill>
                  <a:srgbClr val="000000"/>
                </a:solidFill>
                <a:latin typeface="Calibri"/>
              </a:rPr>
              <a:t>Test theory</a:t>
            </a:r>
            <a:endParaRPr lang="nl-NL" sz="2700" b="0" strike="noStrike" spc="-1">
              <a:latin typeface="Arial"/>
            </a:endParaRPr>
          </a:p>
          <a:p>
            <a:pPr marL="685800" lvl="1" indent="-227880">
              <a:lnSpc>
                <a:spcPct val="90000"/>
              </a:lnSpc>
              <a:spcBef>
                <a:spcPts val="499"/>
              </a:spcBef>
              <a:buClr>
                <a:srgbClr val="000000"/>
              </a:buClr>
              <a:buFont typeface="Arial"/>
              <a:buChar char="•"/>
            </a:pPr>
            <a:r>
              <a:rPr lang="nl-NL" sz="2700" b="0" strike="noStrike" spc="-1">
                <a:solidFill>
                  <a:srgbClr val="000000"/>
                </a:solidFill>
                <a:latin typeface="Calibri"/>
              </a:rPr>
              <a:t>A priori hypothesis</a:t>
            </a:r>
            <a:endParaRPr lang="nl-NL" sz="2700" b="0" strike="noStrike" spc="-1">
              <a:latin typeface="Arial"/>
            </a:endParaRPr>
          </a:p>
          <a:p>
            <a:pPr marL="685800" lvl="1" indent="-227880">
              <a:lnSpc>
                <a:spcPct val="90000"/>
              </a:lnSpc>
              <a:spcBef>
                <a:spcPts val="499"/>
              </a:spcBef>
              <a:buClr>
                <a:srgbClr val="000000"/>
              </a:buClr>
              <a:buFont typeface="Arial"/>
              <a:buChar char="•"/>
            </a:pPr>
            <a:r>
              <a:rPr lang="nl-NL" sz="2700" b="0" strike="noStrike" spc="-1">
                <a:solidFill>
                  <a:srgbClr val="000000"/>
                </a:solidFill>
                <a:latin typeface="Calibri"/>
              </a:rPr>
              <a:t>Analysis predefined</a:t>
            </a:r>
            <a:endParaRPr lang="nl-NL" sz="2700" b="0" strike="noStrike" spc="-1">
              <a:latin typeface="Arial"/>
            </a:endParaRPr>
          </a:p>
          <a:p>
            <a:pPr marL="685800" lvl="1" indent="-227880">
              <a:lnSpc>
                <a:spcPct val="90000"/>
              </a:lnSpc>
              <a:spcBef>
                <a:spcPts val="499"/>
              </a:spcBef>
              <a:buClr>
                <a:srgbClr val="000000"/>
              </a:buClr>
              <a:buFont typeface="Arial"/>
              <a:buChar char="•"/>
            </a:pPr>
            <a:r>
              <a:rPr lang="nl-NL" sz="2700" b="0" strike="noStrike" spc="-1">
                <a:solidFill>
                  <a:srgbClr val="000000"/>
                </a:solidFill>
                <a:latin typeface="Calibri"/>
              </a:rPr>
              <a:t>Example: registered report</a:t>
            </a:r>
            <a:endParaRPr lang="nl-NL" sz="2700" b="0" strike="noStrike" spc="-1">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nl-NL" sz="4400" b="0" strike="noStrike" spc="-1" dirty="0" err="1">
                <a:solidFill>
                  <a:srgbClr val="000000"/>
                </a:solidFill>
                <a:latin typeface="Calibri Light"/>
              </a:rPr>
              <a:t>Exploratory</a:t>
            </a:r>
            <a:r>
              <a:rPr lang="nl-NL" sz="4400" b="0" strike="noStrike" spc="-1" dirty="0">
                <a:solidFill>
                  <a:srgbClr val="000000"/>
                </a:solidFill>
                <a:latin typeface="Calibri Light"/>
              </a:rPr>
              <a:t> </a:t>
            </a:r>
            <a:r>
              <a:rPr lang="nl-NL" sz="4400" b="0" strike="noStrike" spc="-1" dirty="0" err="1">
                <a:solidFill>
                  <a:srgbClr val="000000"/>
                </a:solidFill>
                <a:latin typeface="Calibri Light"/>
              </a:rPr>
              <a:t>vs</a:t>
            </a:r>
            <a:r>
              <a:rPr lang="nl-NL" sz="4400" b="0" strike="noStrike" spc="-1" dirty="0">
                <a:solidFill>
                  <a:srgbClr val="000000"/>
                </a:solidFill>
                <a:latin typeface="Calibri Light"/>
              </a:rPr>
              <a:t> </a:t>
            </a:r>
            <a:r>
              <a:rPr lang="nl-NL" sz="4400" b="0" strike="noStrike" spc="-1" dirty="0" err="1">
                <a:solidFill>
                  <a:srgbClr val="000000"/>
                </a:solidFill>
                <a:latin typeface="Calibri Light"/>
              </a:rPr>
              <a:t>confirmatory</a:t>
            </a:r>
            <a:endParaRPr lang="nl-NL" sz="4400" b="0" strike="noStrike" spc="-1" dirty="0">
              <a:latin typeface="Arial"/>
            </a:endParaRPr>
          </a:p>
        </p:txBody>
      </p:sp>
      <p:sp>
        <p:nvSpPr>
          <p:cNvPr id="100"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spcBef>
                <a:spcPts val="1001"/>
              </a:spcBef>
            </a:pPr>
            <a:r>
              <a:rPr lang="nl-NL" sz="2800" b="0" i="1" strike="noStrike" spc="-1" dirty="0" err="1">
                <a:solidFill>
                  <a:srgbClr val="000000"/>
                </a:solidFill>
                <a:latin typeface="Calibri"/>
              </a:rPr>
              <a:t>You</a:t>
            </a:r>
            <a:r>
              <a:rPr lang="nl-NL" sz="2800" b="0" i="1" strike="noStrike" spc="-1" dirty="0">
                <a:solidFill>
                  <a:srgbClr val="000000"/>
                </a:solidFill>
                <a:latin typeface="Calibri"/>
              </a:rPr>
              <a:t> </a:t>
            </a:r>
            <a:r>
              <a:rPr lang="nl-NL" sz="2800" b="0" i="1" strike="noStrike" spc="-1" dirty="0" err="1">
                <a:solidFill>
                  <a:srgbClr val="000000"/>
                </a:solidFill>
                <a:latin typeface="Calibri"/>
              </a:rPr>
              <a:t>work</a:t>
            </a:r>
            <a:r>
              <a:rPr lang="nl-NL" sz="2800" b="0" i="1" strike="noStrike" spc="-1" dirty="0">
                <a:solidFill>
                  <a:srgbClr val="000000"/>
                </a:solidFill>
                <a:latin typeface="Calibri"/>
              </a:rPr>
              <a:t> at Google </a:t>
            </a:r>
            <a:r>
              <a:rPr lang="nl-NL" sz="2800" b="0" i="1" strike="noStrike" spc="-1" dirty="0" err="1">
                <a:solidFill>
                  <a:srgbClr val="000000"/>
                </a:solidFill>
                <a:latin typeface="Calibri"/>
              </a:rPr>
              <a:t>and</a:t>
            </a:r>
            <a:r>
              <a:rPr lang="nl-NL" sz="2800" b="0" i="1" strike="noStrike" spc="-1" dirty="0">
                <a:solidFill>
                  <a:srgbClr val="000000"/>
                </a:solidFill>
                <a:latin typeface="Calibri"/>
              </a:rPr>
              <a:t> </a:t>
            </a:r>
            <a:r>
              <a:rPr lang="nl-NL" sz="2800" b="0" i="1" strike="noStrike" spc="-1" dirty="0" err="1">
                <a:solidFill>
                  <a:srgbClr val="000000"/>
                </a:solidFill>
                <a:latin typeface="Calibri"/>
              </a:rPr>
              <a:t>your</a:t>
            </a:r>
            <a:r>
              <a:rPr lang="nl-NL" sz="2800" b="0" i="1" strike="noStrike" spc="-1" dirty="0">
                <a:solidFill>
                  <a:srgbClr val="000000"/>
                </a:solidFill>
                <a:latin typeface="Calibri"/>
              </a:rPr>
              <a:t> </a:t>
            </a:r>
            <a:r>
              <a:rPr lang="nl-NL" sz="2800" b="0" i="1" strike="noStrike" spc="-1" dirty="0" err="1">
                <a:solidFill>
                  <a:srgbClr val="000000"/>
                </a:solidFill>
                <a:latin typeface="Calibri"/>
              </a:rPr>
              <a:t>colleague</a:t>
            </a:r>
            <a:r>
              <a:rPr lang="nl-NL" sz="2800" b="0" i="1" strike="noStrike" spc="-1" dirty="0">
                <a:solidFill>
                  <a:srgbClr val="000000"/>
                </a:solidFill>
                <a:latin typeface="Calibri"/>
              </a:rPr>
              <a:t> has </a:t>
            </a:r>
            <a:r>
              <a:rPr lang="nl-NL" sz="2800" b="0" i="1" strike="noStrike" spc="-1" dirty="0" err="1">
                <a:solidFill>
                  <a:srgbClr val="000000"/>
                </a:solidFill>
                <a:latin typeface="Calibri"/>
              </a:rPr>
              <a:t>implemented</a:t>
            </a:r>
            <a:r>
              <a:rPr lang="nl-NL" sz="2800" b="0" i="1" strike="noStrike" spc="-1" dirty="0">
                <a:solidFill>
                  <a:srgbClr val="000000"/>
                </a:solidFill>
                <a:latin typeface="Calibri"/>
              </a:rPr>
              <a:t> a new search </a:t>
            </a:r>
            <a:r>
              <a:rPr lang="nl-NL" sz="2800" b="0" i="1" strike="noStrike" spc="-1" dirty="0" err="1">
                <a:solidFill>
                  <a:srgbClr val="000000"/>
                </a:solidFill>
                <a:latin typeface="Calibri"/>
              </a:rPr>
              <a:t>algorithm</a:t>
            </a:r>
            <a:r>
              <a:rPr lang="nl-NL" sz="2800" b="0" i="1" strike="noStrike" spc="-1" dirty="0">
                <a:solidFill>
                  <a:srgbClr val="000000"/>
                </a:solidFill>
                <a:latin typeface="Calibri"/>
              </a:rPr>
              <a:t> </a:t>
            </a:r>
            <a:r>
              <a:rPr lang="nl-NL" sz="2800" b="0" i="1" strike="noStrike" spc="-1" dirty="0" err="1">
                <a:solidFill>
                  <a:srgbClr val="000000"/>
                </a:solidFill>
                <a:latin typeface="Calibri"/>
              </a:rPr>
              <a:t>for</a:t>
            </a:r>
            <a:r>
              <a:rPr lang="nl-NL" sz="2800" b="0" i="1" strike="noStrike" spc="-1" dirty="0">
                <a:solidFill>
                  <a:srgbClr val="000000"/>
                </a:solidFill>
                <a:latin typeface="Calibri"/>
              </a:rPr>
              <a:t> </a:t>
            </a:r>
            <a:r>
              <a:rPr lang="nl-NL" sz="2800" b="0" i="1" strike="noStrike" spc="-1" dirty="0" err="1">
                <a:solidFill>
                  <a:srgbClr val="000000"/>
                </a:solidFill>
                <a:latin typeface="Calibri"/>
              </a:rPr>
              <a:t>German</a:t>
            </a:r>
            <a:r>
              <a:rPr lang="nl-NL" sz="2800" b="0" i="1" strike="noStrike" spc="-1" dirty="0">
                <a:solidFill>
                  <a:srgbClr val="000000"/>
                </a:solidFill>
                <a:latin typeface="Calibri"/>
              </a:rPr>
              <a:t> </a:t>
            </a:r>
            <a:r>
              <a:rPr lang="nl-NL" sz="2800" b="0" i="1" strike="noStrike" spc="-1" dirty="0" err="1">
                <a:solidFill>
                  <a:srgbClr val="000000"/>
                </a:solidFill>
                <a:latin typeface="Calibri"/>
              </a:rPr>
              <a:t>searches</a:t>
            </a:r>
            <a:r>
              <a:rPr lang="nl-NL" sz="2800" b="0" i="1" strike="noStrike" spc="-1" dirty="0">
                <a:solidFill>
                  <a:srgbClr val="000000"/>
                </a:solidFill>
                <a:latin typeface="Calibri"/>
              </a:rPr>
              <a:t>. </a:t>
            </a:r>
            <a:r>
              <a:rPr lang="nl-NL" sz="2800" b="0" i="1" strike="noStrike" spc="-1" dirty="0" err="1">
                <a:solidFill>
                  <a:srgbClr val="000000"/>
                </a:solidFill>
                <a:latin typeface="Calibri"/>
              </a:rPr>
              <a:t>Your</a:t>
            </a:r>
            <a:r>
              <a:rPr lang="nl-NL" sz="2800" b="0" i="1" strike="noStrike" spc="-1" dirty="0">
                <a:solidFill>
                  <a:srgbClr val="000000"/>
                </a:solidFill>
                <a:latin typeface="Calibri"/>
              </a:rPr>
              <a:t> </a:t>
            </a:r>
            <a:r>
              <a:rPr lang="nl-NL" sz="2800" b="0" i="1" strike="noStrike" spc="-1" dirty="0" err="1">
                <a:solidFill>
                  <a:srgbClr val="000000"/>
                </a:solidFill>
                <a:latin typeface="Calibri"/>
              </a:rPr>
              <a:t>task</a:t>
            </a:r>
            <a:r>
              <a:rPr lang="nl-NL" sz="2800" b="0" i="1" strike="noStrike" spc="-1" dirty="0">
                <a:solidFill>
                  <a:srgbClr val="000000"/>
                </a:solidFill>
                <a:latin typeface="Calibri"/>
              </a:rPr>
              <a:t> is </a:t>
            </a:r>
            <a:r>
              <a:rPr lang="nl-NL" sz="2800" b="0" i="1" strike="noStrike" spc="-1" dirty="0" err="1">
                <a:solidFill>
                  <a:srgbClr val="000000"/>
                </a:solidFill>
                <a:latin typeface="Calibri"/>
              </a:rPr>
              <a:t>to</a:t>
            </a:r>
            <a:r>
              <a:rPr lang="nl-NL" sz="2800" b="0" i="1" strike="noStrike" spc="-1" dirty="0">
                <a:solidFill>
                  <a:srgbClr val="000000"/>
                </a:solidFill>
                <a:latin typeface="Calibri"/>
              </a:rPr>
              <a:t> check </a:t>
            </a:r>
            <a:r>
              <a:rPr lang="nl-NL" sz="2800" b="0" i="1" strike="noStrike" spc="-1" dirty="0" err="1">
                <a:solidFill>
                  <a:srgbClr val="000000"/>
                </a:solidFill>
                <a:latin typeface="Calibri"/>
              </a:rPr>
              <a:t>whether</a:t>
            </a:r>
            <a:r>
              <a:rPr lang="nl-NL" sz="2800" b="0" i="1" strike="noStrike" spc="-1" dirty="0">
                <a:solidFill>
                  <a:srgbClr val="000000"/>
                </a:solidFill>
                <a:latin typeface="Calibri"/>
              </a:rPr>
              <a:t> </a:t>
            </a:r>
            <a:r>
              <a:rPr lang="nl-NL" sz="2800" b="0" i="1" strike="noStrike" spc="-1" dirty="0" err="1">
                <a:solidFill>
                  <a:srgbClr val="000000"/>
                </a:solidFill>
                <a:latin typeface="Calibri"/>
              </a:rPr>
              <a:t>this</a:t>
            </a:r>
            <a:r>
              <a:rPr lang="nl-NL" sz="2800" b="0" i="1" strike="noStrike" spc="-1" dirty="0">
                <a:solidFill>
                  <a:srgbClr val="000000"/>
                </a:solidFill>
                <a:latin typeface="Calibri"/>
              </a:rPr>
              <a:t> </a:t>
            </a:r>
            <a:r>
              <a:rPr lang="nl-NL" sz="2800" b="0" i="1" strike="noStrike" spc="-1" dirty="0" err="1">
                <a:solidFill>
                  <a:srgbClr val="000000"/>
                </a:solidFill>
                <a:latin typeface="Calibri"/>
              </a:rPr>
              <a:t>algorithm</a:t>
            </a:r>
            <a:r>
              <a:rPr lang="nl-NL" sz="2800" b="0" i="1" strike="noStrike" spc="-1" dirty="0">
                <a:solidFill>
                  <a:srgbClr val="000000"/>
                </a:solidFill>
                <a:latin typeface="Calibri"/>
              </a:rPr>
              <a:t> </a:t>
            </a:r>
            <a:r>
              <a:rPr lang="nl-NL" sz="2800" b="0" i="1" strike="noStrike" spc="-1" dirty="0" err="1">
                <a:solidFill>
                  <a:srgbClr val="000000"/>
                </a:solidFill>
                <a:latin typeface="Calibri"/>
              </a:rPr>
              <a:t>performs</a:t>
            </a:r>
            <a:r>
              <a:rPr lang="nl-NL" sz="2800" b="0" i="1" strike="noStrike" spc="-1" dirty="0">
                <a:solidFill>
                  <a:srgbClr val="000000"/>
                </a:solidFill>
                <a:latin typeface="Calibri"/>
              </a:rPr>
              <a:t> </a:t>
            </a:r>
            <a:r>
              <a:rPr lang="nl-NL" sz="2800" b="0" i="1" strike="noStrike" spc="-1" dirty="0" err="1">
                <a:solidFill>
                  <a:srgbClr val="000000"/>
                </a:solidFill>
                <a:latin typeface="Calibri"/>
              </a:rPr>
              <a:t>better</a:t>
            </a:r>
            <a:r>
              <a:rPr lang="nl-NL" sz="2800" b="0" i="1" strike="noStrike" spc="-1" dirty="0">
                <a:solidFill>
                  <a:srgbClr val="000000"/>
                </a:solidFill>
                <a:latin typeface="Calibri"/>
              </a:rPr>
              <a:t> </a:t>
            </a:r>
            <a:r>
              <a:rPr lang="nl-NL" sz="2800" b="0" i="1" strike="noStrike" spc="-1" dirty="0" err="1">
                <a:solidFill>
                  <a:srgbClr val="000000"/>
                </a:solidFill>
                <a:latin typeface="Calibri"/>
              </a:rPr>
              <a:t>than</a:t>
            </a:r>
            <a:r>
              <a:rPr lang="nl-NL" sz="2800" b="0" i="1" strike="noStrike" spc="-1" dirty="0">
                <a:solidFill>
                  <a:srgbClr val="000000"/>
                </a:solidFill>
                <a:latin typeface="Calibri"/>
              </a:rPr>
              <a:t> </a:t>
            </a:r>
            <a:r>
              <a:rPr lang="nl-NL" sz="2800" b="0" i="1" strike="noStrike" spc="-1" dirty="0" err="1">
                <a:solidFill>
                  <a:srgbClr val="000000"/>
                </a:solidFill>
                <a:latin typeface="Calibri"/>
              </a:rPr>
              <a:t>the</a:t>
            </a:r>
            <a:r>
              <a:rPr lang="nl-NL" sz="2800" b="0" i="1" strike="noStrike" spc="-1" dirty="0">
                <a:solidFill>
                  <a:srgbClr val="000000"/>
                </a:solidFill>
                <a:latin typeface="Calibri"/>
              </a:rPr>
              <a:t> </a:t>
            </a:r>
            <a:r>
              <a:rPr lang="nl-NL" sz="2800" b="0" i="1" strike="noStrike" spc="-1" dirty="0" err="1">
                <a:solidFill>
                  <a:srgbClr val="000000"/>
                </a:solidFill>
                <a:latin typeface="Calibri"/>
              </a:rPr>
              <a:t>existing</a:t>
            </a:r>
            <a:r>
              <a:rPr lang="nl-NL" sz="2800" b="0" i="1" strike="noStrike" spc="-1" dirty="0">
                <a:solidFill>
                  <a:srgbClr val="000000"/>
                </a:solidFill>
                <a:latin typeface="Calibri"/>
              </a:rPr>
              <a:t> </a:t>
            </a:r>
            <a:r>
              <a:rPr lang="nl-NL" sz="2800" b="0" i="1" strike="noStrike" spc="-1" dirty="0" err="1">
                <a:solidFill>
                  <a:srgbClr val="000000"/>
                </a:solidFill>
                <a:latin typeface="Calibri"/>
              </a:rPr>
              <a:t>one</a:t>
            </a:r>
            <a:r>
              <a:rPr lang="nl-NL" sz="2800" b="0" i="1" strike="noStrike" spc="-1" dirty="0">
                <a:solidFill>
                  <a:srgbClr val="000000"/>
                </a:solidFill>
                <a:latin typeface="Calibri"/>
              </a:rPr>
              <a:t>.</a:t>
            </a:r>
            <a:endParaRPr lang="nl-NL" sz="2800" b="0" strike="noStrike" spc="-1" dirty="0">
              <a:latin typeface="Arial"/>
            </a:endParaRPr>
          </a:p>
          <a:p>
            <a:pPr>
              <a:lnSpc>
                <a:spcPct val="90000"/>
              </a:lnSpc>
              <a:spcBef>
                <a:spcPts val="1001"/>
              </a:spcBef>
            </a:pPr>
            <a:endParaRPr lang="nl-NL" sz="2800" b="0" strike="noStrike" spc="-1" dirty="0">
              <a:latin typeface="Arial"/>
            </a:endParaRPr>
          </a:p>
          <a:p>
            <a:pPr marL="228600" indent="-227880">
              <a:lnSpc>
                <a:spcPct val="90000"/>
              </a:lnSpc>
              <a:spcBef>
                <a:spcPts val="1001"/>
              </a:spcBef>
              <a:buClr>
                <a:srgbClr val="000000"/>
              </a:buClr>
              <a:buFont typeface="Arial"/>
              <a:buChar char="•"/>
            </a:pPr>
            <a:r>
              <a:rPr lang="nl-NL" sz="2800" b="1" strike="noStrike" spc="-1" dirty="0" err="1">
                <a:solidFill>
                  <a:srgbClr val="000000"/>
                </a:solidFill>
                <a:latin typeface="Calibri"/>
              </a:rPr>
              <a:t>Confirmatory</a:t>
            </a:r>
            <a:r>
              <a:rPr lang="nl-NL" sz="2800" b="1" strike="noStrike" spc="-1" dirty="0">
                <a:solidFill>
                  <a:srgbClr val="000000"/>
                </a:solidFill>
                <a:latin typeface="Calibri"/>
              </a:rPr>
              <a:t>.</a:t>
            </a:r>
            <a:endParaRPr lang="nl-NL" sz="2800" b="0" strike="noStrike" spc="-1" dirty="0">
              <a:latin typeface="Arial"/>
            </a:endParaRPr>
          </a:p>
          <a:p>
            <a:pPr marL="228600" indent="-227880">
              <a:lnSpc>
                <a:spcPct val="90000"/>
              </a:lnSpc>
              <a:spcBef>
                <a:spcPts val="1001"/>
              </a:spcBef>
              <a:buClr>
                <a:srgbClr val="000000"/>
              </a:buClr>
              <a:buFont typeface="Arial"/>
              <a:buChar char="•"/>
            </a:pPr>
            <a:r>
              <a:rPr lang="nl-NL" sz="2800" b="0" strike="noStrike" spc="-1" dirty="0" err="1">
                <a:solidFill>
                  <a:srgbClr val="000000"/>
                </a:solidFill>
                <a:latin typeface="Calibri"/>
              </a:rPr>
              <a:t>Theory</a:t>
            </a:r>
            <a:r>
              <a:rPr lang="nl-NL" sz="2800" b="0" strike="noStrike" spc="-1" dirty="0">
                <a:solidFill>
                  <a:srgbClr val="000000"/>
                </a:solidFill>
                <a:latin typeface="Calibri"/>
              </a:rPr>
              <a:t> </a:t>
            </a:r>
            <a:r>
              <a:rPr lang="nl-NL" sz="2800" b="0" strike="noStrike" spc="-1" dirty="0" err="1">
                <a:solidFill>
                  <a:srgbClr val="000000"/>
                </a:solidFill>
                <a:latin typeface="Calibri"/>
              </a:rPr>
              <a:t>testing</a:t>
            </a:r>
            <a:r>
              <a:rPr lang="nl-NL" sz="2800" b="0" strike="noStrike" spc="-1" dirty="0">
                <a:solidFill>
                  <a:srgbClr val="000000"/>
                </a:solidFill>
                <a:latin typeface="Calibri"/>
              </a:rPr>
              <a:t>, hypothesis: new </a:t>
            </a:r>
            <a:r>
              <a:rPr lang="nl-NL" sz="2800" b="0" strike="noStrike" spc="-1" dirty="0" err="1">
                <a:solidFill>
                  <a:srgbClr val="000000"/>
                </a:solidFill>
                <a:latin typeface="Calibri"/>
              </a:rPr>
              <a:t>works</a:t>
            </a:r>
            <a:r>
              <a:rPr lang="nl-NL" sz="2800" b="0" strike="noStrike" spc="-1" dirty="0">
                <a:solidFill>
                  <a:srgbClr val="000000"/>
                </a:solidFill>
                <a:latin typeface="Calibri"/>
              </a:rPr>
              <a:t> </a:t>
            </a:r>
            <a:r>
              <a:rPr lang="nl-NL" sz="2800" b="0" strike="noStrike" spc="-1" dirty="0" err="1">
                <a:solidFill>
                  <a:srgbClr val="000000"/>
                </a:solidFill>
                <a:latin typeface="Calibri"/>
              </a:rPr>
              <a:t>better</a:t>
            </a:r>
            <a:r>
              <a:rPr lang="nl-NL" sz="2800" b="0" strike="noStrike" spc="-1" dirty="0">
                <a:solidFill>
                  <a:srgbClr val="000000"/>
                </a:solidFill>
                <a:latin typeface="Calibri"/>
              </a:rPr>
              <a:t> </a:t>
            </a:r>
            <a:r>
              <a:rPr lang="nl-NL" sz="2800" b="0" strike="noStrike" spc="-1" dirty="0" err="1">
                <a:solidFill>
                  <a:srgbClr val="000000"/>
                </a:solidFill>
                <a:latin typeface="Calibri"/>
              </a:rPr>
              <a:t>than</a:t>
            </a:r>
            <a:r>
              <a:rPr lang="nl-NL" sz="2800" b="0" strike="noStrike" spc="-1" dirty="0">
                <a:solidFill>
                  <a:srgbClr val="000000"/>
                </a:solidFill>
                <a:latin typeface="Calibri"/>
              </a:rPr>
              <a:t> </a:t>
            </a:r>
            <a:r>
              <a:rPr lang="nl-NL" sz="2800" b="0" strike="noStrike" spc="-1" dirty="0" err="1">
                <a:solidFill>
                  <a:srgbClr val="000000"/>
                </a:solidFill>
                <a:latin typeface="Calibri"/>
              </a:rPr>
              <a:t>old</a:t>
            </a:r>
            <a:endParaRPr lang="nl-NL" sz="2800" b="0" strike="noStrike" spc="-1" dirty="0">
              <a:latin typeface="Arial"/>
            </a:endParaRPr>
          </a:p>
          <a:p>
            <a:pPr marL="228600" indent="-227880">
              <a:lnSpc>
                <a:spcPct val="90000"/>
              </a:lnSpc>
              <a:spcBef>
                <a:spcPts val="1001"/>
              </a:spcBef>
              <a:buClr>
                <a:srgbClr val="000000"/>
              </a:buClr>
              <a:buFont typeface="Arial"/>
              <a:buChar char="•"/>
            </a:pPr>
            <a:r>
              <a:rPr lang="nl-NL" sz="2800" b="0" strike="noStrike" spc="-1" dirty="0">
                <a:solidFill>
                  <a:srgbClr val="000000"/>
                </a:solidFill>
                <a:latin typeface="Calibri"/>
              </a:rPr>
              <a:t>Analysis </a:t>
            </a:r>
            <a:r>
              <a:rPr lang="nl-NL" sz="2800" b="0" strike="noStrike" spc="-1" dirty="0" err="1">
                <a:solidFill>
                  <a:srgbClr val="000000"/>
                </a:solidFill>
                <a:latin typeface="Calibri"/>
              </a:rPr>
              <a:t>can</a:t>
            </a:r>
            <a:r>
              <a:rPr lang="nl-NL" sz="2800" b="0" strike="noStrike" spc="-1" dirty="0">
                <a:solidFill>
                  <a:srgbClr val="000000"/>
                </a:solidFill>
                <a:latin typeface="Calibri"/>
              </a:rPr>
              <a:t> </a:t>
            </a:r>
            <a:r>
              <a:rPr lang="nl-NL" sz="2800" b="0" strike="noStrike" spc="-1" dirty="0" err="1">
                <a:solidFill>
                  <a:srgbClr val="000000"/>
                </a:solidFill>
                <a:latin typeface="Calibri"/>
              </a:rPr>
              <a:t>be</a:t>
            </a:r>
            <a:r>
              <a:rPr lang="nl-NL" sz="2800" b="0" strike="noStrike" spc="-1" dirty="0">
                <a:solidFill>
                  <a:srgbClr val="000000"/>
                </a:solidFill>
                <a:latin typeface="Calibri"/>
              </a:rPr>
              <a:t> </a:t>
            </a:r>
            <a:r>
              <a:rPr lang="nl-NL" sz="2800" b="0" strike="noStrike" spc="-1" dirty="0" err="1">
                <a:solidFill>
                  <a:srgbClr val="000000"/>
                </a:solidFill>
                <a:latin typeface="Calibri"/>
              </a:rPr>
              <a:t>defined</a:t>
            </a:r>
            <a:r>
              <a:rPr lang="nl-NL" sz="2800" b="0" strike="noStrike" spc="-1" dirty="0">
                <a:solidFill>
                  <a:srgbClr val="000000"/>
                </a:solidFill>
                <a:latin typeface="Calibri"/>
              </a:rPr>
              <a:t> in advance: </a:t>
            </a:r>
            <a:r>
              <a:rPr lang="nl-NL" sz="2800" b="0" strike="noStrike" spc="-1" dirty="0" err="1">
                <a:solidFill>
                  <a:srgbClr val="000000"/>
                </a:solidFill>
                <a:latin typeface="Calibri"/>
              </a:rPr>
              <a:t>which</a:t>
            </a:r>
            <a:r>
              <a:rPr lang="nl-NL" sz="2800" b="0" strike="noStrike" spc="-1" dirty="0">
                <a:solidFill>
                  <a:srgbClr val="000000"/>
                </a:solidFill>
                <a:latin typeface="Calibri"/>
              </a:rPr>
              <a:t> </a:t>
            </a:r>
            <a:r>
              <a:rPr lang="nl-NL" sz="2800" b="0" strike="noStrike" spc="-1" dirty="0" err="1">
                <a:solidFill>
                  <a:srgbClr val="000000"/>
                </a:solidFill>
                <a:latin typeface="Calibri"/>
              </a:rPr>
              <a:t>outcome</a:t>
            </a:r>
            <a:r>
              <a:rPr lang="nl-NL" sz="2800" b="0" strike="noStrike" spc="-1" dirty="0">
                <a:solidFill>
                  <a:srgbClr val="000000"/>
                </a:solidFill>
                <a:latin typeface="Calibri"/>
              </a:rPr>
              <a:t> variables, </a:t>
            </a:r>
            <a:r>
              <a:rPr lang="nl-NL" sz="2800" b="0" strike="noStrike" spc="-1" dirty="0" err="1">
                <a:solidFill>
                  <a:srgbClr val="000000"/>
                </a:solidFill>
                <a:latin typeface="Calibri"/>
              </a:rPr>
              <a:t>how</a:t>
            </a:r>
            <a:r>
              <a:rPr lang="nl-NL" sz="2800" b="0" strike="noStrike" spc="-1" dirty="0">
                <a:solidFill>
                  <a:srgbClr val="000000"/>
                </a:solidFill>
                <a:latin typeface="Calibri"/>
              </a:rPr>
              <a:t> </a:t>
            </a:r>
            <a:r>
              <a:rPr lang="nl-NL" sz="2800" b="0" strike="noStrike" spc="-1" dirty="0" err="1">
                <a:solidFill>
                  <a:srgbClr val="000000"/>
                </a:solidFill>
                <a:latin typeface="Calibri"/>
              </a:rPr>
              <a:t>to</a:t>
            </a:r>
            <a:r>
              <a:rPr lang="nl-NL" sz="2800" b="0" strike="noStrike" spc="-1" dirty="0">
                <a:solidFill>
                  <a:srgbClr val="000000"/>
                </a:solidFill>
                <a:latin typeface="Calibri"/>
              </a:rPr>
              <a:t> sample </a:t>
            </a:r>
            <a:r>
              <a:rPr lang="nl-NL" sz="2800" b="0" strike="noStrike" spc="-1" dirty="0" err="1">
                <a:solidFill>
                  <a:srgbClr val="000000"/>
                </a:solidFill>
                <a:latin typeface="Calibri"/>
              </a:rPr>
              <a:t>from</a:t>
            </a:r>
            <a:r>
              <a:rPr lang="nl-NL" sz="2800" b="0" strike="noStrike" spc="-1" dirty="0">
                <a:solidFill>
                  <a:srgbClr val="000000"/>
                </a:solidFill>
                <a:latin typeface="Calibri"/>
              </a:rPr>
              <a:t> </a:t>
            </a:r>
            <a:r>
              <a:rPr lang="nl-NL" sz="2800" b="0" strike="noStrike" spc="-1" dirty="0" err="1">
                <a:solidFill>
                  <a:srgbClr val="000000"/>
                </a:solidFill>
                <a:latin typeface="Calibri"/>
              </a:rPr>
              <a:t>the</a:t>
            </a:r>
            <a:r>
              <a:rPr lang="nl-NL" sz="2800" b="0" strike="noStrike" spc="-1" dirty="0">
                <a:solidFill>
                  <a:srgbClr val="000000"/>
                </a:solidFill>
                <a:latin typeface="Calibri"/>
              </a:rPr>
              <a:t> </a:t>
            </a:r>
            <a:r>
              <a:rPr lang="nl-NL" sz="2800" b="0" strike="noStrike" spc="-1" dirty="0" err="1">
                <a:solidFill>
                  <a:srgbClr val="000000"/>
                </a:solidFill>
                <a:latin typeface="Calibri"/>
              </a:rPr>
              <a:t>population</a:t>
            </a:r>
            <a:r>
              <a:rPr lang="nl-NL" sz="2800" b="0" strike="noStrike" spc="-1" dirty="0">
                <a:solidFill>
                  <a:srgbClr val="000000"/>
                </a:solidFill>
                <a:latin typeface="Calibri"/>
              </a:rPr>
              <a:t>, </a:t>
            </a:r>
            <a:r>
              <a:rPr lang="nl-NL" sz="2800" b="0" strike="noStrike" spc="-1" dirty="0" err="1">
                <a:solidFill>
                  <a:srgbClr val="000000"/>
                </a:solidFill>
                <a:latin typeface="Calibri"/>
              </a:rPr>
              <a:t>which</a:t>
            </a:r>
            <a:r>
              <a:rPr lang="nl-NL" sz="2800" b="0" strike="noStrike" spc="-1" dirty="0">
                <a:solidFill>
                  <a:srgbClr val="000000"/>
                </a:solidFill>
                <a:latin typeface="Calibri"/>
              </a:rPr>
              <a:t> </a:t>
            </a:r>
            <a:r>
              <a:rPr lang="nl-NL" sz="2800" b="0" strike="noStrike" spc="-1" dirty="0" err="1">
                <a:solidFill>
                  <a:srgbClr val="000000"/>
                </a:solidFill>
                <a:latin typeface="Calibri"/>
              </a:rPr>
              <a:t>method</a:t>
            </a:r>
            <a:r>
              <a:rPr lang="nl-NL" sz="2800" b="0" strike="noStrike" spc="-1" dirty="0">
                <a:solidFill>
                  <a:srgbClr val="000000"/>
                </a:solidFill>
                <a:latin typeface="Calibri"/>
              </a:rPr>
              <a:t>?</a:t>
            </a:r>
            <a:endParaRPr lang="nl-NL" sz="2800" b="0" strike="noStrike" spc="-1" dirty="0">
              <a:latin typeface="Arial"/>
            </a:endParaRPr>
          </a:p>
          <a:p>
            <a:pPr marL="228600" indent="-227880">
              <a:lnSpc>
                <a:spcPct val="90000"/>
              </a:lnSpc>
              <a:spcBef>
                <a:spcPts val="1001"/>
              </a:spcBef>
              <a:buClr>
                <a:srgbClr val="000000"/>
              </a:buClr>
              <a:buFont typeface="Arial"/>
              <a:buChar char="•"/>
            </a:pPr>
            <a:r>
              <a:rPr lang="nl-NL" sz="2800" b="0" strike="noStrike" spc="-1" dirty="0">
                <a:solidFill>
                  <a:srgbClr val="000000"/>
                </a:solidFill>
                <a:latin typeface="Calibri"/>
              </a:rPr>
              <a:t>Full analysis script </a:t>
            </a:r>
            <a:r>
              <a:rPr lang="nl-NL" sz="2800" b="0" strike="noStrike" spc="-1" dirty="0" err="1">
                <a:solidFill>
                  <a:srgbClr val="000000"/>
                </a:solidFill>
                <a:latin typeface="Calibri"/>
              </a:rPr>
              <a:t>could</a:t>
            </a:r>
            <a:r>
              <a:rPr lang="nl-NL" sz="2800" b="0" strike="noStrike" spc="-1" dirty="0">
                <a:solidFill>
                  <a:srgbClr val="000000"/>
                </a:solidFill>
                <a:latin typeface="Calibri"/>
              </a:rPr>
              <a:t> </a:t>
            </a:r>
            <a:r>
              <a:rPr lang="nl-NL" sz="2800" b="0" strike="noStrike" spc="-1" dirty="0" err="1">
                <a:solidFill>
                  <a:srgbClr val="000000"/>
                </a:solidFill>
                <a:latin typeface="Calibri"/>
              </a:rPr>
              <a:t>be</a:t>
            </a:r>
            <a:r>
              <a:rPr lang="nl-NL" sz="2800" b="0" strike="noStrike" spc="-1" dirty="0">
                <a:solidFill>
                  <a:srgbClr val="000000"/>
                </a:solidFill>
                <a:latin typeface="Calibri"/>
              </a:rPr>
              <a:t> </a:t>
            </a:r>
            <a:r>
              <a:rPr lang="nl-NL" sz="2800" b="0" strike="noStrike" spc="-1" dirty="0" err="1">
                <a:solidFill>
                  <a:srgbClr val="000000"/>
                </a:solidFill>
                <a:latin typeface="Calibri"/>
              </a:rPr>
              <a:t>written</a:t>
            </a:r>
            <a:r>
              <a:rPr lang="nl-NL" sz="2800" b="0" strike="noStrike" spc="-1" dirty="0">
                <a:solidFill>
                  <a:srgbClr val="000000"/>
                </a:solidFill>
                <a:latin typeface="Calibri"/>
              </a:rPr>
              <a:t> </a:t>
            </a:r>
            <a:r>
              <a:rPr lang="nl-NL" sz="2800" b="0" strike="noStrike" spc="-1" dirty="0" err="1">
                <a:solidFill>
                  <a:srgbClr val="000000"/>
                </a:solidFill>
                <a:latin typeface="Calibri"/>
              </a:rPr>
              <a:t>before</a:t>
            </a:r>
            <a:r>
              <a:rPr lang="nl-NL" sz="2800" b="0" strike="noStrike" spc="-1" dirty="0">
                <a:solidFill>
                  <a:srgbClr val="000000"/>
                </a:solidFill>
                <a:latin typeface="Calibri"/>
              </a:rPr>
              <a:t> </a:t>
            </a:r>
            <a:r>
              <a:rPr lang="nl-NL" sz="2800" b="0" strike="noStrike" spc="-1" dirty="0" err="1">
                <a:solidFill>
                  <a:srgbClr val="000000"/>
                </a:solidFill>
                <a:latin typeface="Calibri"/>
              </a:rPr>
              <a:t>the</a:t>
            </a:r>
            <a:r>
              <a:rPr lang="nl-NL" sz="2800" b="0" strike="noStrike" spc="-1" dirty="0">
                <a:solidFill>
                  <a:srgbClr val="000000"/>
                </a:solidFill>
                <a:latin typeface="Calibri"/>
              </a:rPr>
              <a:t> data even </a:t>
            </a:r>
            <a:r>
              <a:rPr lang="nl-NL" sz="2800" b="0" strike="noStrike" spc="-1" dirty="0" err="1">
                <a:solidFill>
                  <a:srgbClr val="000000"/>
                </a:solidFill>
                <a:latin typeface="Calibri"/>
              </a:rPr>
              <a:t>exists</a:t>
            </a:r>
            <a:endParaRPr lang="nl-NL" sz="2800" b="0" strike="noStrike" spc="-1" dirty="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nl-NL" sz="4400" b="0" strike="noStrike" spc="-1" dirty="0" err="1">
                <a:solidFill>
                  <a:srgbClr val="000000"/>
                </a:solidFill>
                <a:latin typeface="Calibri Light"/>
              </a:rPr>
              <a:t>Exploratory</a:t>
            </a:r>
            <a:r>
              <a:rPr lang="nl-NL" sz="4400" b="0" strike="noStrike" spc="-1" dirty="0">
                <a:solidFill>
                  <a:srgbClr val="000000"/>
                </a:solidFill>
                <a:latin typeface="Calibri Light"/>
              </a:rPr>
              <a:t> </a:t>
            </a:r>
            <a:r>
              <a:rPr lang="nl-NL" sz="4400" b="0" strike="noStrike" spc="-1" dirty="0" err="1">
                <a:solidFill>
                  <a:srgbClr val="000000"/>
                </a:solidFill>
                <a:latin typeface="Calibri Light"/>
              </a:rPr>
              <a:t>vs</a:t>
            </a:r>
            <a:r>
              <a:rPr lang="nl-NL" sz="4400" b="0" strike="noStrike" spc="-1" dirty="0">
                <a:solidFill>
                  <a:srgbClr val="000000"/>
                </a:solidFill>
                <a:latin typeface="Calibri Light"/>
              </a:rPr>
              <a:t> </a:t>
            </a:r>
            <a:r>
              <a:rPr lang="nl-NL" sz="4400" b="0" strike="noStrike" spc="-1" dirty="0" err="1">
                <a:solidFill>
                  <a:srgbClr val="000000"/>
                </a:solidFill>
                <a:latin typeface="Calibri Light"/>
              </a:rPr>
              <a:t>confirmatory</a:t>
            </a:r>
            <a:endParaRPr lang="nl-NL" sz="4400" b="0" strike="noStrike" spc="-1" dirty="0">
              <a:latin typeface="Arial"/>
            </a:endParaRPr>
          </a:p>
        </p:txBody>
      </p:sp>
      <p:sp>
        <p:nvSpPr>
          <p:cNvPr id="102"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lnSpcReduction="10000"/>
          </a:bodyPr>
          <a:lstStyle/>
          <a:p>
            <a:pPr>
              <a:lnSpc>
                <a:spcPct val="90000"/>
              </a:lnSpc>
              <a:spcBef>
                <a:spcPts val="1001"/>
              </a:spcBef>
            </a:pPr>
            <a:r>
              <a:rPr lang="nl-NL" sz="2800" b="0" i="1" strike="noStrike" spc="-1" dirty="0" err="1">
                <a:solidFill>
                  <a:srgbClr val="000000"/>
                </a:solidFill>
                <a:latin typeface="Calibri"/>
              </a:rPr>
              <a:t>You</a:t>
            </a:r>
            <a:r>
              <a:rPr lang="nl-NL" sz="2800" b="0" i="1" strike="noStrike" spc="-1" dirty="0">
                <a:solidFill>
                  <a:srgbClr val="000000"/>
                </a:solidFill>
                <a:latin typeface="Calibri"/>
              </a:rPr>
              <a:t> have </a:t>
            </a:r>
            <a:r>
              <a:rPr lang="nl-NL" sz="2800" b="0" i="1" strike="noStrike" spc="-1" dirty="0" err="1">
                <a:solidFill>
                  <a:srgbClr val="000000"/>
                </a:solidFill>
                <a:latin typeface="Calibri"/>
              </a:rPr>
              <a:t>obtained</a:t>
            </a:r>
            <a:r>
              <a:rPr lang="nl-NL" sz="2800" b="0" i="1" strike="noStrike" spc="-1" dirty="0">
                <a:solidFill>
                  <a:srgbClr val="000000"/>
                </a:solidFill>
                <a:latin typeface="Calibri"/>
              </a:rPr>
              <a:t> access </a:t>
            </a:r>
            <a:r>
              <a:rPr lang="nl-NL" sz="2800" b="0" i="1" strike="noStrike" spc="-1" dirty="0" err="1">
                <a:solidFill>
                  <a:srgbClr val="000000"/>
                </a:solidFill>
                <a:latin typeface="Calibri"/>
              </a:rPr>
              <a:t>to</a:t>
            </a:r>
            <a:r>
              <a:rPr lang="nl-NL" sz="2800" b="0" i="1" strike="noStrike" spc="-1" dirty="0">
                <a:solidFill>
                  <a:srgbClr val="000000"/>
                </a:solidFill>
                <a:latin typeface="Calibri"/>
              </a:rPr>
              <a:t> </a:t>
            </a:r>
            <a:r>
              <a:rPr lang="nl-NL" sz="2800" b="0" i="1" strike="noStrike" spc="-1" dirty="0" err="1">
                <a:solidFill>
                  <a:srgbClr val="000000"/>
                </a:solidFill>
                <a:latin typeface="Calibri"/>
              </a:rPr>
              <a:t>your</a:t>
            </a:r>
            <a:r>
              <a:rPr lang="nl-NL" sz="2800" b="0" i="1" strike="noStrike" spc="-1" dirty="0">
                <a:solidFill>
                  <a:srgbClr val="000000"/>
                </a:solidFill>
                <a:latin typeface="Calibri"/>
              </a:rPr>
              <a:t> </a:t>
            </a:r>
            <a:r>
              <a:rPr lang="nl-NL" sz="2800" b="0" i="1" strike="noStrike" spc="-1" dirty="0" err="1">
                <a:solidFill>
                  <a:srgbClr val="000000"/>
                </a:solidFill>
                <a:latin typeface="Calibri"/>
              </a:rPr>
              <a:t>company’s</a:t>
            </a:r>
            <a:r>
              <a:rPr lang="nl-NL" sz="2800" b="0" i="1" strike="noStrike" spc="-1" dirty="0">
                <a:solidFill>
                  <a:srgbClr val="000000"/>
                </a:solidFill>
                <a:latin typeface="Calibri"/>
              </a:rPr>
              <a:t> customer relations database. </a:t>
            </a:r>
            <a:r>
              <a:rPr lang="nl-NL" sz="2800" b="0" i="1" strike="noStrike" spc="-1" dirty="0" err="1">
                <a:solidFill>
                  <a:srgbClr val="000000"/>
                </a:solidFill>
                <a:latin typeface="Calibri"/>
              </a:rPr>
              <a:t>Your</a:t>
            </a:r>
            <a:r>
              <a:rPr lang="nl-NL" sz="2800" b="0" i="1" strike="noStrike" spc="-1" dirty="0">
                <a:solidFill>
                  <a:srgbClr val="000000"/>
                </a:solidFill>
                <a:latin typeface="Calibri"/>
              </a:rPr>
              <a:t> </a:t>
            </a:r>
            <a:r>
              <a:rPr lang="nl-NL" sz="2800" b="0" i="1" strike="noStrike" spc="-1" dirty="0" err="1">
                <a:solidFill>
                  <a:srgbClr val="000000"/>
                </a:solidFill>
                <a:latin typeface="Calibri"/>
              </a:rPr>
              <a:t>task</a:t>
            </a:r>
            <a:r>
              <a:rPr lang="nl-NL" sz="2800" b="0" i="1" strike="noStrike" spc="-1" dirty="0">
                <a:solidFill>
                  <a:srgbClr val="000000"/>
                </a:solidFill>
                <a:latin typeface="Calibri"/>
              </a:rPr>
              <a:t> is </a:t>
            </a:r>
            <a:r>
              <a:rPr lang="nl-NL" sz="2800" b="0" i="1" strike="noStrike" spc="-1" dirty="0" err="1">
                <a:solidFill>
                  <a:srgbClr val="000000"/>
                </a:solidFill>
                <a:latin typeface="Calibri"/>
              </a:rPr>
              <a:t>to</a:t>
            </a:r>
            <a:r>
              <a:rPr lang="nl-NL" sz="2800" b="0" i="1" strike="noStrike" spc="-1" dirty="0">
                <a:solidFill>
                  <a:srgbClr val="000000"/>
                </a:solidFill>
                <a:latin typeface="Calibri"/>
              </a:rPr>
              <a:t> </a:t>
            </a:r>
            <a:r>
              <a:rPr lang="nl-NL" sz="2800" b="0" i="1" strike="noStrike" spc="-1" dirty="0" err="1">
                <a:solidFill>
                  <a:srgbClr val="000000"/>
                </a:solidFill>
                <a:latin typeface="Calibri"/>
              </a:rPr>
              <a:t>find</a:t>
            </a:r>
            <a:r>
              <a:rPr lang="nl-NL" sz="2800" b="0" i="1" strike="noStrike" spc="-1" dirty="0">
                <a:solidFill>
                  <a:srgbClr val="000000"/>
                </a:solidFill>
                <a:latin typeface="Calibri"/>
              </a:rPr>
              <a:t> data-</a:t>
            </a:r>
            <a:r>
              <a:rPr lang="nl-NL" sz="2800" b="0" i="1" strike="noStrike" spc="-1" dirty="0" err="1">
                <a:solidFill>
                  <a:srgbClr val="000000"/>
                </a:solidFill>
                <a:latin typeface="Calibri"/>
              </a:rPr>
              <a:t>driven</a:t>
            </a:r>
            <a:r>
              <a:rPr lang="nl-NL" sz="2800" b="0" i="1" strike="noStrike" spc="-1" dirty="0">
                <a:solidFill>
                  <a:srgbClr val="000000"/>
                </a:solidFill>
                <a:latin typeface="Calibri"/>
              </a:rPr>
              <a:t> </a:t>
            </a:r>
            <a:r>
              <a:rPr lang="nl-NL" sz="2800" b="0" i="1" strike="noStrike" spc="-1" dirty="0" err="1">
                <a:solidFill>
                  <a:srgbClr val="000000"/>
                </a:solidFill>
                <a:latin typeface="Calibri"/>
              </a:rPr>
              <a:t>ways</a:t>
            </a:r>
            <a:r>
              <a:rPr lang="nl-NL" sz="2800" b="0" i="1" strike="noStrike" spc="-1" dirty="0">
                <a:solidFill>
                  <a:srgbClr val="000000"/>
                </a:solidFill>
                <a:latin typeface="Calibri"/>
              </a:rPr>
              <a:t> in </a:t>
            </a:r>
            <a:r>
              <a:rPr lang="nl-NL" sz="2800" b="0" i="1" strike="noStrike" spc="-1" dirty="0" err="1">
                <a:solidFill>
                  <a:srgbClr val="000000"/>
                </a:solidFill>
                <a:latin typeface="Calibri"/>
              </a:rPr>
              <a:t>which</a:t>
            </a:r>
            <a:r>
              <a:rPr lang="nl-NL" sz="2800" b="0" i="1" strike="noStrike" spc="-1" dirty="0">
                <a:solidFill>
                  <a:srgbClr val="000000"/>
                </a:solidFill>
                <a:latin typeface="Calibri"/>
              </a:rPr>
              <a:t> </a:t>
            </a:r>
            <a:r>
              <a:rPr lang="nl-NL" sz="2800" b="0" i="1" strike="noStrike" spc="-1" dirty="0" err="1">
                <a:solidFill>
                  <a:srgbClr val="000000"/>
                </a:solidFill>
                <a:latin typeface="Calibri"/>
              </a:rPr>
              <a:t>your</a:t>
            </a:r>
            <a:r>
              <a:rPr lang="nl-NL" sz="2800" b="0" i="1" strike="noStrike" spc="-1" dirty="0">
                <a:solidFill>
                  <a:srgbClr val="000000"/>
                </a:solidFill>
                <a:latin typeface="Calibri"/>
              </a:rPr>
              <a:t> company </a:t>
            </a:r>
            <a:r>
              <a:rPr lang="nl-NL" sz="2800" b="0" i="1" strike="noStrike" spc="-1" dirty="0" err="1">
                <a:solidFill>
                  <a:srgbClr val="000000"/>
                </a:solidFill>
                <a:latin typeface="Calibri"/>
              </a:rPr>
              <a:t>can</a:t>
            </a:r>
            <a:r>
              <a:rPr lang="nl-NL" sz="2800" b="0" i="1" strike="noStrike" spc="-1" dirty="0">
                <a:solidFill>
                  <a:srgbClr val="000000"/>
                </a:solidFill>
                <a:latin typeface="Calibri"/>
              </a:rPr>
              <a:t> </a:t>
            </a:r>
            <a:r>
              <a:rPr lang="nl-NL" sz="2800" b="0" i="1" strike="noStrike" spc="-1" dirty="0" err="1">
                <a:solidFill>
                  <a:srgbClr val="000000"/>
                </a:solidFill>
                <a:latin typeface="Calibri"/>
              </a:rPr>
              <a:t>improve</a:t>
            </a:r>
            <a:r>
              <a:rPr lang="nl-NL" sz="2800" b="0" i="1" strike="noStrike" spc="-1" dirty="0">
                <a:solidFill>
                  <a:srgbClr val="000000"/>
                </a:solidFill>
                <a:latin typeface="Calibri"/>
              </a:rPr>
              <a:t> customer </a:t>
            </a:r>
            <a:r>
              <a:rPr lang="nl-NL" sz="2800" b="0" i="1" strike="noStrike" spc="-1" dirty="0" err="1">
                <a:solidFill>
                  <a:srgbClr val="000000"/>
                </a:solidFill>
                <a:latin typeface="Calibri"/>
              </a:rPr>
              <a:t>retainment</a:t>
            </a:r>
            <a:r>
              <a:rPr lang="nl-NL" sz="2800" b="0" i="1" strike="noStrike" spc="-1" dirty="0">
                <a:solidFill>
                  <a:srgbClr val="000000"/>
                </a:solidFill>
                <a:latin typeface="Calibri"/>
              </a:rPr>
              <a:t>.</a:t>
            </a:r>
            <a:endParaRPr lang="nl-NL" sz="2800" b="0" strike="noStrike" spc="-1" dirty="0">
              <a:latin typeface="Arial"/>
            </a:endParaRPr>
          </a:p>
          <a:p>
            <a:pPr>
              <a:lnSpc>
                <a:spcPct val="90000"/>
              </a:lnSpc>
              <a:spcBef>
                <a:spcPts val="1001"/>
              </a:spcBef>
            </a:pPr>
            <a:endParaRPr lang="nl-NL" sz="2800" b="0" strike="noStrike" spc="-1" dirty="0">
              <a:latin typeface="Arial"/>
            </a:endParaRPr>
          </a:p>
          <a:p>
            <a:pPr marL="228600" indent="-227880">
              <a:lnSpc>
                <a:spcPct val="90000"/>
              </a:lnSpc>
              <a:spcBef>
                <a:spcPts val="1001"/>
              </a:spcBef>
              <a:buClr>
                <a:srgbClr val="000000"/>
              </a:buClr>
              <a:buFont typeface="Arial"/>
              <a:buChar char="•"/>
            </a:pPr>
            <a:r>
              <a:rPr lang="nl-NL" sz="2800" b="1" strike="noStrike" spc="-1" dirty="0" err="1">
                <a:solidFill>
                  <a:srgbClr val="000000"/>
                </a:solidFill>
                <a:latin typeface="Calibri"/>
              </a:rPr>
              <a:t>Exploratory</a:t>
            </a:r>
            <a:r>
              <a:rPr lang="nl-NL" sz="2800" b="1" strike="noStrike" spc="-1" dirty="0">
                <a:solidFill>
                  <a:srgbClr val="000000"/>
                </a:solidFill>
                <a:latin typeface="Calibri"/>
              </a:rPr>
              <a:t>.</a:t>
            </a:r>
            <a:endParaRPr lang="nl-NL" sz="2800" b="0" strike="noStrike" spc="-1" dirty="0">
              <a:latin typeface="Arial"/>
            </a:endParaRPr>
          </a:p>
          <a:p>
            <a:pPr marL="228600" indent="-227880">
              <a:lnSpc>
                <a:spcPct val="90000"/>
              </a:lnSpc>
              <a:spcBef>
                <a:spcPts val="1001"/>
              </a:spcBef>
              <a:buClr>
                <a:srgbClr val="000000"/>
              </a:buClr>
              <a:buFont typeface="Arial"/>
              <a:buChar char="•"/>
            </a:pPr>
            <a:r>
              <a:rPr lang="nl-NL" sz="2800" b="0" strike="noStrike" spc="-1" dirty="0" err="1">
                <a:solidFill>
                  <a:srgbClr val="000000"/>
                </a:solidFill>
                <a:latin typeface="Calibri"/>
              </a:rPr>
              <a:t>Generate</a:t>
            </a:r>
            <a:r>
              <a:rPr lang="nl-NL" sz="2800" b="0" strike="noStrike" spc="-1" dirty="0">
                <a:solidFill>
                  <a:srgbClr val="000000"/>
                </a:solidFill>
                <a:latin typeface="Calibri"/>
              </a:rPr>
              <a:t> new </a:t>
            </a:r>
            <a:r>
              <a:rPr lang="nl-NL" sz="2800" b="0" strike="noStrike" spc="-1" dirty="0" err="1">
                <a:solidFill>
                  <a:srgbClr val="000000"/>
                </a:solidFill>
                <a:latin typeface="Calibri"/>
              </a:rPr>
              <a:t>insights</a:t>
            </a:r>
            <a:r>
              <a:rPr lang="nl-NL" sz="2800" b="0" strike="noStrike" spc="-1" dirty="0">
                <a:solidFill>
                  <a:srgbClr val="000000"/>
                </a:solidFill>
                <a:latin typeface="Calibri"/>
              </a:rPr>
              <a:t> - at </a:t>
            </a:r>
            <a:r>
              <a:rPr lang="nl-NL" sz="2800" b="0" strike="noStrike" spc="-1" dirty="0" err="1">
                <a:solidFill>
                  <a:srgbClr val="000000"/>
                </a:solidFill>
                <a:latin typeface="Calibri"/>
              </a:rPr>
              <a:t>which</a:t>
            </a:r>
            <a:r>
              <a:rPr lang="nl-NL" sz="2800" b="0" strike="noStrike" spc="-1" dirty="0">
                <a:solidFill>
                  <a:srgbClr val="000000"/>
                </a:solidFill>
                <a:latin typeface="Calibri"/>
              </a:rPr>
              <a:t> </a:t>
            </a:r>
            <a:r>
              <a:rPr lang="nl-NL" sz="2800" b="0" strike="noStrike" spc="-1" dirty="0" err="1">
                <a:solidFill>
                  <a:srgbClr val="000000"/>
                </a:solidFill>
                <a:latin typeface="Calibri"/>
              </a:rPr>
              <a:t>touchpoint</a:t>
            </a:r>
            <a:r>
              <a:rPr lang="nl-NL" sz="2800" b="0" strike="noStrike" spc="-1" dirty="0">
                <a:solidFill>
                  <a:srgbClr val="000000"/>
                </a:solidFill>
                <a:latin typeface="Calibri"/>
              </a:rPr>
              <a:t> do </a:t>
            </a:r>
            <a:r>
              <a:rPr lang="nl-NL" sz="2800" b="0" strike="noStrike" spc="-1" dirty="0" err="1">
                <a:solidFill>
                  <a:srgbClr val="000000"/>
                </a:solidFill>
                <a:latin typeface="Calibri"/>
              </a:rPr>
              <a:t>customers</a:t>
            </a:r>
            <a:r>
              <a:rPr lang="nl-NL" sz="2800" b="0" strike="noStrike" spc="-1" dirty="0">
                <a:solidFill>
                  <a:srgbClr val="000000"/>
                </a:solidFill>
                <a:latin typeface="Calibri"/>
              </a:rPr>
              <a:t> drop out?</a:t>
            </a:r>
            <a:endParaRPr lang="nl-NL" sz="2800" b="0" strike="noStrike" spc="-1" dirty="0">
              <a:latin typeface="Arial"/>
            </a:endParaRPr>
          </a:p>
          <a:p>
            <a:pPr marL="228600" indent="-227880">
              <a:lnSpc>
                <a:spcPct val="90000"/>
              </a:lnSpc>
              <a:spcBef>
                <a:spcPts val="1001"/>
              </a:spcBef>
              <a:buClr>
                <a:srgbClr val="000000"/>
              </a:buClr>
              <a:buFont typeface="Arial"/>
              <a:buChar char="•"/>
            </a:pPr>
            <a:r>
              <a:rPr lang="nl-NL" sz="2800" b="0" strike="noStrike" spc="-1" dirty="0" err="1">
                <a:solidFill>
                  <a:srgbClr val="000000"/>
                </a:solidFill>
                <a:latin typeface="Calibri"/>
              </a:rPr>
              <a:t>Create</a:t>
            </a:r>
            <a:r>
              <a:rPr lang="nl-NL" sz="2800" b="0" strike="noStrike" spc="-1" dirty="0">
                <a:solidFill>
                  <a:srgbClr val="000000"/>
                </a:solidFill>
                <a:latin typeface="Calibri"/>
              </a:rPr>
              <a:t> new hypotheses - </a:t>
            </a:r>
            <a:r>
              <a:rPr lang="nl-NL" sz="2800" b="0" strike="noStrike" spc="-1" dirty="0" err="1">
                <a:solidFill>
                  <a:srgbClr val="000000"/>
                </a:solidFill>
                <a:latin typeface="Calibri"/>
              </a:rPr>
              <a:t>there</a:t>
            </a:r>
            <a:r>
              <a:rPr lang="nl-NL" sz="2800" b="0" strike="noStrike" spc="-1" dirty="0">
                <a:solidFill>
                  <a:srgbClr val="000000"/>
                </a:solidFill>
                <a:latin typeface="Calibri"/>
              </a:rPr>
              <a:t> </a:t>
            </a:r>
            <a:r>
              <a:rPr lang="nl-NL" sz="2800" b="0" strike="noStrike" spc="-1" dirty="0" err="1">
                <a:solidFill>
                  <a:srgbClr val="000000"/>
                </a:solidFill>
                <a:latin typeface="Calibri"/>
              </a:rPr>
              <a:t>may</a:t>
            </a:r>
            <a:r>
              <a:rPr lang="nl-NL" sz="2800" b="0" strike="noStrike" spc="-1" dirty="0">
                <a:solidFill>
                  <a:srgbClr val="000000"/>
                </a:solidFill>
                <a:latin typeface="Calibri"/>
              </a:rPr>
              <a:t> </a:t>
            </a:r>
            <a:r>
              <a:rPr lang="nl-NL" sz="2800" b="0" strike="noStrike" spc="-1" dirty="0" err="1">
                <a:solidFill>
                  <a:srgbClr val="000000"/>
                </a:solidFill>
                <a:latin typeface="Calibri"/>
              </a:rPr>
              <a:t>be</a:t>
            </a:r>
            <a:r>
              <a:rPr lang="nl-NL" sz="2800" b="0" strike="noStrike" spc="-1" dirty="0">
                <a:solidFill>
                  <a:srgbClr val="000000"/>
                </a:solidFill>
                <a:latin typeface="Calibri"/>
              </a:rPr>
              <a:t> </a:t>
            </a:r>
            <a:r>
              <a:rPr lang="nl-NL" sz="2800" b="0" strike="noStrike" spc="-1" dirty="0" err="1">
                <a:solidFill>
                  <a:srgbClr val="000000"/>
                </a:solidFill>
                <a:latin typeface="Calibri"/>
              </a:rPr>
              <a:t>two</a:t>
            </a:r>
            <a:r>
              <a:rPr lang="nl-NL" sz="2800" b="0" strike="noStrike" spc="-1" dirty="0">
                <a:solidFill>
                  <a:srgbClr val="000000"/>
                </a:solidFill>
                <a:latin typeface="Calibri"/>
              </a:rPr>
              <a:t> types of </a:t>
            </a:r>
            <a:r>
              <a:rPr lang="nl-NL" sz="2800" b="0" strike="noStrike" spc="-1" dirty="0" err="1">
                <a:solidFill>
                  <a:srgbClr val="000000"/>
                </a:solidFill>
                <a:latin typeface="Calibri"/>
              </a:rPr>
              <a:t>customers</a:t>
            </a:r>
            <a:r>
              <a:rPr lang="nl-NL" sz="2800" b="0" strike="noStrike" spc="-1" dirty="0">
                <a:solidFill>
                  <a:srgbClr val="000000"/>
                </a:solidFill>
                <a:latin typeface="Calibri"/>
              </a:rPr>
              <a:t> </a:t>
            </a:r>
            <a:r>
              <a:rPr lang="nl-NL" sz="2800" b="0" strike="noStrike" spc="-1" dirty="0" err="1">
                <a:solidFill>
                  <a:srgbClr val="000000"/>
                </a:solidFill>
                <a:latin typeface="Calibri"/>
              </a:rPr>
              <a:t>who</a:t>
            </a:r>
            <a:r>
              <a:rPr lang="nl-NL" sz="2800" b="0" strike="noStrike" spc="-1" dirty="0">
                <a:solidFill>
                  <a:srgbClr val="000000"/>
                </a:solidFill>
                <a:latin typeface="Calibri"/>
              </a:rPr>
              <a:t> drop out</a:t>
            </a:r>
            <a:endParaRPr lang="nl-NL" sz="2800" b="0" strike="noStrike" spc="-1" dirty="0">
              <a:latin typeface="Arial"/>
            </a:endParaRPr>
          </a:p>
          <a:p>
            <a:pPr marL="228600" indent="-227880">
              <a:lnSpc>
                <a:spcPct val="90000"/>
              </a:lnSpc>
              <a:spcBef>
                <a:spcPts val="1001"/>
              </a:spcBef>
              <a:buClr>
                <a:srgbClr val="000000"/>
              </a:buClr>
              <a:buFont typeface="Arial"/>
              <a:buChar char="•"/>
            </a:pPr>
            <a:r>
              <a:rPr lang="nl-NL" sz="2800" b="0" strike="noStrike" spc="-1" dirty="0">
                <a:solidFill>
                  <a:srgbClr val="000000"/>
                </a:solidFill>
                <a:latin typeface="Calibri"/>
              </a:rPr>
              <a:t>Analysis </a:t>
            </a:r>
            <a:r>
              <a:rPr lang="nl-NL" sz="2800" b="0" strike="noStrike" spc="-1" dirty="0" err="1">
                <a:solidFill>
                  <a:srgbClr val="000000"/>
                </a:solidFill>
                <a:latin typeface="Calibri"/>
              </a:rPr>
              <a:t>cannot</a:t>
            </a:r>
            <a:r>
              <a:rPr lang="nl-NL" sz="2800" b="0" strike="noStrike" spc="-1" dirty="0">
                <a:solidFill>
                  <a:srgbClr val="000000"/>
                </a:solidFill>
                <a:latin typeface="Calibri"/>
              </a:rPr>
              <a:t> </a:t>
            </a:r>
            <a:r>
              <a:rPr lang="nl-NL" sz="2800" b="0" strike="noStrike" spc="-1" dirty="0" err="1">
                <a:solidFill>
                  <a:srgbClr val="000000"/>
                </a:solidFill>
                <a:latin typeface="Calibri"/>
              </a:rPr>
              <a:t>be</a:t>
            </a:r>
            <a:r>
              <a:rPr lang="nl-NL" sz="2800" b="0" strike="noStrike" spc="-1" dirty="0">
                <a:solidFill>
                  <a:srgbClr val="000000"/>
                </a:solidFill>
                <a:latin typeface="Calibri"/>
              </a:rPr>
              <a:t> </a:t>
            </a:r>
            <a:r>
              <a:rPr lang="nl-NL" sz="2800" b="0" strike="noStrike" spc="-1" dirty="0" err="1">
                <a:solidFill>
                  <a:srgbClr val="000000"/>
                </a:solidFill>
                <a:latin typeface="Calibri"/>
              </a:rPr>
              <a:t>defined</a:t>
            </a:r>
            <a:r>
              <a:rPr lang="nl-NL" sz="2800" b="0" strike="noStrike" spc="-1" dirty="0">
                <a:solidFill>
                  <a:srgbClr val="000000"/>
                </a:solidFill>
                <a:latin typeface="Calibri"/>
              </a:rPr>
              <a:t> in advance, </a:t>
            </a:r>
            <a:r>
              <a:rPr lang="nl-NL" sz="2800" b="0" strike="noStrike" spc="-1" dirty="0" err="1">
                <a:solidFill>
                  <a:srgbClr val="000000"/>
                </a:solidFill>
                <a:latin typeface="Calibri"/>
              </a:rPr>
              <a:t>task</a:t>
            </a:r>
            <a:r>
              <a:rPr lang="nl-NL" sz="2800" b="0" strike="noStrike" spc="-1" dirty="0">
                <a:solidFill>
                  <a:srgbClr val="000000"/>
                </a:solidFill>
                <a:latin typeface="Calibri"/>
              </a:rPr>
              <a:t> is </a:t>
            </a:r>
            <a:r>
              <a:rPr lang="nl-NL" sz="2800" b="0" strike="noStrike" spc="-1" dirty="0" err="1">
                <a:solidFill>
                  <a:srgbClr val="000000"/>
                </a:solidFill>
                <a:latin typeface="Calibri"/>
              </a:rPr>
              <a:t>to</a:t>
            </a:r>
            <a:r>
              <a:rPr lang="nl-NL" sz="2800" b="0" strike="noStrike" spc="-1" dirty="0">
                <a:solidFill>
                  <a:srgbClr val="000000"/>
                </a:solidFill>
                <a:latin typeface="Calibri"/>
              </a:rPr>
              <a:t> </a:t>
            </a:r>
            <a:r>
              <a:rPr lang="nl-NL" sz="2800" b="0" strike="noStrike" spc="-1" dirty="0" err="1">
                <a:solidFill>
                  <a:srgbClr val="000000"/>
                </a:solidFill>
                <a:latin typeface="Calibri"/>
              </a:rPr>
              <a:t>explore</a:t>
            </a:r>
            <a:r>
              <a:rPr lang="nl-NL" sz="2800" b="0" strike="noStrike" spc="-1" dirty="0">
                <a:solidFill>
                  <a:srgbClr val="000000"/>
                </a:solidFill>
                <a:latin typeface="Calibri"/>
              </a:rPr>
              <a:t> </a:t>
            </a:r>
            <a:r>
              <a:rPr lang="nl-NL" sz="2800" b="0" strike="noStrike" spc="-1" dirty="0" err="1">
                <a:solidFill>
                  <a:srgbClr val="000000"/>
                </a:solidFill>
                <a:latin typeface="Calibri"/>
              </a:rPr>
              <a:t>associations</a:t>
            </a:r>
            <a:r>
              <a:rPr lang="nl-NL" sz="2800" b="0" strike="noStrike" spc="-1" dirty="0">
                <a:solidFill>
                  <a:srgbClr val="000000"/>
                </a:solidFill>
                <a:latin typeface="Calibri"/>
              </a:rPr>
              <a:t> </a:t>
            </a:r>
            <a:r>
              <a:rPr lang="nl-NL" sz="2800" b="0" strike="noStrike" spc="-1" dirty="0" err="1">
                <a:solidFill>
                  <a:srgbClr val="000000"/>
                </a:solidFill>
                <a:latin typeface="Calibri"/>
              </a:rPr>
              <a:t>between</a:t>
            </a:r>
            <a:r>
              <a:rPr lang="nl-NL" sz="2800" b="0" strike="noStrike" spc="-1" dirty="0">
                <a:solidFill>
                  <a:srgbClr val="000000"/>
                </a:solidFill>
                <a:latin typeface="Calibri"/>
              </a:rPr>
              <a:t> features</a:t>
            </a:r>
            <a:endParaRPr lang="nl-NL" sz="2800" b="0" strike="noStrike" spc="-1" dirty="0">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nl-NL" sz="4400" b="0" strike="noStrike" spc="-1" dirty="0" err="1">
                <a:solidFill>
                  <a:srgbClr val="000000"/>
                </a:solidFill>
                <a:latin typeface="Calibri Light"/>
              </a:rPr>
              <a:t>Exploratory</a:t>
            </a:r>
            <a:r>
              <a:rPr lang="nl-NL" sz="4400" b="0" strike="noStrike" spc="-1" dirty="0">
                <a:solidFill>
                  <a:srgbClr val="000000"/>
                </a:solidFill>
                <a:latin typeface="Calibri Light"/>
              </a:rPr>
              <a:t> </a:t>
            </a:r>
            <a:r>
              <a:rPr lang="nl-NL" sz="4400" b="0" strike="noStrike" spc="-1" dirty="0" err="1">
                <a:solidFill>
                  <a:srgbClr val="000000"/>
                </a:solidFill>
                <a:latin typeface="Calibri Light"/>
              </a:rPr>
              <a:t>vs</a:t>
            </a:r>
            <a:r>
              <a:rPr lang="nl-NL" sz="4400" b="0" strike="noStrike" spc="-1" dirty="0">
                <a:solidFill>
                  <a:srgbClr val="000000"/>
                </a:solidFill>
                <a:latin typeface="Calibri Light"/>
              </a:rPr>
              <a:t> </a:t>
            </a:r>
            <a:r>
              <a:rPr lang="nl-NL" sz="4400" b="0" strike="noStrike" spc="-1" dirty="0" err="1">
                <a:solidFill>
                  <a:srgbClr val="000000"/>
                </a:solidFill>
                <a:latin typeface="Calibri Light"/>
              </a:rPr>
              <a:t>confirmatory</a:t>
            </a:r>
            <a:endParaRPr lang="nl-NL" sz="4400" b="0" strike="noStrike" spc="-1" dirty="0">
              <a:latin typeface="Arial"/>
            </a:endParaRPr>
          </a:p>
        </p:txBody>
      </p:sp>
      <p:sp>
        <p:nvSpPr>
          <p:cNvPr id="104"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7880">
              <a:lnSpc>
                <a:spcPct val="90000"/>
              </a:lnSpc>
              <a:spcBef>
                <a:spcPts val="1001"/>
              </a:spcBef>
              <a:buClr>
                <a:srgbClr val="000000"/>
              </a:buClr>
              <a:buFont typeface="Arial"/>
              <a:buChar char="•"/>
            </a:pPr>
            <a:r>
              <a:rPr lang="nl-NL" sz="2800" b="0" strike="noStrike" spc="-1">
                <a:solidFill>
                  <a:srgbClr val="000000"/>
                </a:solidFill>
                <a:latin typeface="Calibri"/>
              </a:rPr>
              <a:t>Both are necessary and complementary </a:t>
            </a:r>
            <a:endParaRPr lang="nl-NL" sz="2800" b="0" strike="noStrike" spc="-1">
              <a:latin typeface="Arial"/>
            </a:endParaRPr>
          </a:p>
          <a:p>
            <a:pPr marL="228600" indent="-227880">
              <a:lnSpc>
                <a:spcPct val="90000"/>
              </a:lnSpc>
              <a:spcBef>
                <a:spcPts val="1001"/>
              </a:spcBef>
              <a:buClr>
                <a:srgbClr val="000000"/>
              </a:buClr>
              <a:buFont typeface="Arial"/>
              <a:buChar char="•"/>
            </a:pPr>
            <a:r>
              <a:rPr lang="nl-NL" sz="2800" b="0" strike="noStrike" spc="-1">
                <a:solidFill>
                  <a:srgbClr val="000000"/>
                </a:solidFill>
                <a:latin typeface="Calibri"/>
              </a:rPr>
              <a:t>Typical scientific questions: exploratory -&gt; confirmatory</a:t>
            </a:r>
            <a:endParaRPr lang="nl-NL" sz="2800" b="0" strike="noStrike" spc="-1">
              <a:latin typeface="Arial"/>
            </a:endParaRPr>
          </a:p>
          <a:p>
            <a:pPr marL="228600" indent="-227880">
              <a:lnSpc>
                <a:spcPct val="90000"/>
              </a:lnSpc>
              <a:spcBef>
                <a:spcPts val="1001"/>
              </a:spcBef>
              <a:buClr>
                <a:srgbClr val="000000"/>
              </a:buClr>
              <a:buFont typeface="Arial"/>
              <a:buChar char="•"/>
            </a:pPr>
            <a:r>
              <a:rPr lang="nl-NL" sz="2800" b="0" strike="noStrike" spc="-1">
                <a:solidFill>
                  <a:srgbClr val="000000"/>
                </a:solidFill>
                <a:latin typeface="Calibri"/>
              </a:rPr>
              <a:t>Then build on the tested theories to generate new insights: confirmatory -&gt; exploratory?</a:t>
            </a:r>
            <a:endParaRPr lang="nl-NL" sz="2800" b="0" strike="noStrike" spc="-1">
              <a:latin typeface="Arial"/>
            </a:endParaRPr>
          </a:p>
          <a:p>
            <a:pPr>
              <a:lnSpc>
                <a:spcPct val="90000"/>
              </a:lnSpc>
              <a:spcBef>
                <a:spcPts val="1001"/>
              </a:spcBef>
            </a:pPr>
            <a:endParaRPr lang="nl-NL" sz="2800" b="0" strike="noStrike" spc="-1">
              <a:latin typeface="Arial"/>
            </a:endParaRPr>
          </a:p>
          <a:p>
            <a:pPr marL="228600" indent="-227880">
              <a:lnSpc>
                <a:spcPct val="90000"/>
              </a:lnSpc>
              <a:spcBef>
                <a:spcPts val="1001"/>
              </a:spcBef>
              <a:buClr>
                <a:srgbClr val="000000"/>
              </a:buClr>
              <a:buFont typeface="Arial"/>
              <a:buChar char="•"/>
            </a:pPr>
            <a:r>
              <a:rPr lang="nl-NL" sz="2800" b="0" strike="noStrike" spc="-1">
                <a:solidFill>
                  <a:srgbClr val="000000"/>
                </a:solidFill>
                <a:latin typeface="Calibri"/>
              </a:rPr>
              <a:t>This lecture: </a:t>
            </a:r>
            <a:r>
              <a:rPr lang="nl-NL" sz="2800" b="1" strike="noStrike" spc="-1">
                <a:solidFill>
                  <a:srgbClr val="000000"/>
                </a:solidFill>
                <a:latin typeface="Calibri"/>
              </a:rPr>
              <a:t>exploratory analysis</a:t>
            </a:r>
            <a:endParaRPr lang="nl-NL" sz="2800" b="0" strike="noStrike" spc="-1">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05ED5-9E04-524B-86C8-5E7AB71E6603}"/>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95512F75-2032-4245-9287-1CE5AF61812D}"/>
              </a:ext>
            </a:extLst>
          </p:cNvPr>
          <p:cNvSpPr>
            <a:spLocks noGrp="1"/>
          </p:cNvSpPr>
          <p:nvPr>
            <p:ph type="subTitle"/>
          </p:nvPr>
        </p:nvSpPr>
        <p:spPr>
          <a:xfrm>
            <a:off x="609480" y="2651364"/>
            <a:ext cx="10972440" cy="1883593"/>
          </a:xfrm>
        </p:spPr>
        <p:txBody>
          <a:bodyPr/>
          <a:lstStyle/>
          <a:p>
            <a:pPr marL="0" indent="0">
              <a:buNone/>
            </a:pPr>
            <a:r>
              <a:rPr lang="en-US" b="1" dirty="0"/>
              <a:t>Some good advice on data exploration</a:t>
            </a:r>
          </a:p>
          <a:p>
            <a:pPr marL="0" indent="0">
              <a:buNone/>
            </a:pPr>
            <a:endParaRPr lang="en-US" dirty="0"/>
          </a:p>
          <a:p>
            <a:pPr marL="571500" indent="-571500">
              <a:buFont typeface="+mj-lt"/>
              <a:buAutoNum type="arabicPeriod"/>
            </a:pPr>
            <a:r>
              <a:rPr lang="en-US" sz="2400" dirty="0"/>
              <a:t>Tukey’s approach</a:t>
            </a:r>
          </a:p>
          <a:p>
            <a:pPr marL="571500" indent="-571500">
              <a:buFont typeface="+mj-lt"/>
              <a:buAutoNum type="arabicPeriod"/>
            </a:pPr>
            <a:r>
              <a:rPr lang="en-US" sz="2400" dirty="0"/>
              <a:t>Peng’s EDA checklist</a:t>
            </a:r>
          </a:p>
        </p:txBody>
      </p:sp>
    </p:spTree>
    <p:extLst>
      <p:ext uri="{BB962C8B-B14F-4D97-AF65-F5344CB8AC3E}">
        <p14:creationId xmlns:p14="http://schemas.microsoft.com/office/powerpoint/2010/main" val="2291382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E2937C5-8761-2A43-B457-51414CE693DA}"/>
              </a:ext>
            </a:extLst>
          </p:cNvPr>
          <p:cNvSpPr txBox="1">
            <a:spLocks/>
          </p:cNvSpPr>
          <p:nvPr/>
        </p:nvSpPr>
        <p:spPr>
          <a:xfrm>
            <a:off x="609480" y="541301"/>
            <a:ext cx="10972440" cy="609398"/>
          </a:xfrm>
          <a:prstGeom prst="rect">
            <a:avLst/>
          </a:prstGeom>
        </p:spPr>
        <p:txBody>
          <a:bodyPr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1. Tukey’s approach to EDA</a:t>
            </a:r>
          </a:p>
        </p:txBody>
      </p:sp>
      <p:sp>
        <p:nvSpPr>
          <p:cNvPr id="2" name="TextBox 1">
            <a:extLst>
              <a:ext uri="{FF2B5EF4-FFF2-40B4-BE49-F238E27FC236}">
                <a16:creationId xmlns:a16="http://schemas.microsoft.com/office/drawing/2014/main" id="{18F2A7DB-C4E0-E771-D4D8-7AA1D255C771}"/>
              </a:ext>
            </a:extLst>
          </p:cNvPr>
          <p:cNvSpPr txBox="1"/>
          <p:nvPr/>
        </p:nvSpPr>
        <p:spPr>
          <a:xfrm>
            <a:off x="879676" y="1863524"/>
            <a:ext cx="9595413" cy="2862322"/>
          </a:xfrm>
          <a:prstGeom prst="rect">
            <a:avLst/>
          </a:prstGeom>
          <a:noFill/>
        </p:spPr>
        <p:txBody>
          <a:bodyPr wrap="square" rtlCol="0">
            <a:spAutoFit/>
          </a:bodyPr>
          <a:lstStyle/>
          <a:p>
            <a:pPr marL="342900" indent="-342900">
              <a:buFont typeface="Arial" panose="020B0604020202020204" pitchFamily="34" charset="0"/>
              <a:buChar char="•"/>
            </a:pPr>
            <a:r>
              <a:rPr lang="en-US" sz="3000" dirty="0">
                <a:latin typeface="Arial" panose="020B0604020202020204" pitchFamily="34" charset="0"/>
                <a:ea typeface="Fira Sans" panose="020B0503050000020004" pitchFamily="34" charset="0"/>
                <a:cs typeface="Arial" panose="020B0604020202020204" pitchFamily="34" charset="0"/>
              </a:rPr>
              <a:t>Look at </a:t>
            </a:r>
            <a:r>
              <a:rPr lang="en-US" sz="3000" b="1" dirty="0">
                <a:latin typeface="Arial" panose="020B0604020202020204" pitchFamily="34" charset="0"/>
                <a:ea typeface="Fira Sans" panose="020B0503050000020004" pitchFamily="34" charset="0"/>
                <a:cs typeface="Arial" panose="020B0604020202020204" pitchFamily="34" charset="0"/>
              </a:rPr>
              <a:t>center and spread</a:t>
            </a:r>
          </a:p>
          <a:p>
            <a:pPr marL="342900" indent="-342900">
              <a:buFont typeface="Arial" panose="020B0604020202020204" pitchFamily="34" charset="0"/>
              <a:buChar char="•"/>
            </a:pPr>
            <a:r>
              <a:rPr lang="en-US" sz="3000" dirty="0">
                <a:latin typeface="Arial" panose="020B0604020202020204" pitchFamily="34" charset="0"/>
                <a:ea typeface="Fira Sans" panose="020B0503050000020004" pitchFamily="34" charset="0"/>
                <a:cs typeface="Arial" panose="020B0604020202020204" pitchFamily="34" charset="0"/>
              </a:rPr>
              <a:t>Find </a:t>
            </a:r>
            <a:r>
              <a:rPr lang="en-US" sz="3000" b="1" dirty="0">
                <a:latin typeface="Arial" panose="020B0604020202020204" pitchFamily="34" charset="0"/>
                <a:ea typeface="Fira Sans" panose="020B0503050000020004" pitchFamily="34" charset="0"/>
                <a:cs typeface="Arial" panose="020B0604020202020204" pitchFamily="34" charset="0"/>
              </a:rPr>
              <a:t>comparisons</a:t>
            </a:r>
          </a:p>
          <a:p>
            <a:pPr marL="342900" indent="-342900">
              <a:buFont typeface="Arial" panose="020B0604020202020204" pitchFamily="34" charset="0"/>
              <a:buChar char="•"/>
            </a:pPr>
            <a:r>
              <a:rPr lang="en-US" sz="3000" dirty="0">
                <a:latin typeface="Arial" panose="020B0604020202020204" pitchFamily="34" charset="0"/>
                <a:ea typeface="Fira Sans" panose="020B0503050000020004" pitchFamily="34" charset="0"/>
                <a:cs typeface="Arial" panose="020B0604020202020204" pitchFamily="34" charset="0"/>
              </a:rPr>
              <a:t>“</a:t>
            </a:r>
            <a:r>
              <a:rPr lang="en-US" sz="3000" b="1" dirty="0">
                <a:latin typeface="Arial" panose="020B0604020202020204" pitchFamily="34" charset="0"/>
                <a:ea typeface="Fira Sans" panose="020B0503050000020004" pitchFamily="34" charset="0"/>
                <a:cs typeface="Arial" panose="020B0604020202020204" pitchFamily="34" charset="0"/>
              </a:rPr>
              <a:t>Straightening and flattening</a:t>
            </a:r>
            <a:r>
              <a:rPr lang="en-US" sz="3000" dirty="0">
                <a:latin typeface="Arial" panose="020B0604020202020204" pitchFamily="34" charset="0"/>
                <a:ea typeface="Fira Sans" panose="020B0503050000020004" pitchFamily="34" charset="0"/>
                <a:cs typeface="Arial" panose="020B0604020202020204" pitchFamily="34" charset="0"/>
              </a:rPr>
              <a:t>”:</a:t>
            </a:r>
          </a:p>
          <a:p>
            <a:pPr marL="800100" lvl="1" indent="-342900">
              <a:buFont typeface="Arial" panose="020B0604020202020204" pitchFamily="34" charset="0"/>
              <a:buChar char="•"/>
            </a:pPr>
            <a:r>
              <a:rPr lang="en-US" sz="2800" dirty="0">
                <a:latin typeface="Arial" panose="020B0604020202020204" pitchFamily="34" charset="0"/>
                <a:ea typeface="Fira Sans" panose="020B0503050000020004" pitchFamily="34" charset="0"/>
                <a:cs typeface="Arial" panose="020B0604020202020204" pitchFamily="34" charset="0"/>
              </a:rPr>
              <a:t>Use logarithms and other transforms</a:t>
            </a:r>
          </a:p>
          <a:p>
            <a:pPr marL="800100" lvl="1" indent="-342900">
              <a:buFont typeface="Arial" panose="020B0604020202020204" pitchFamily="34" charset="0"/>
              <a:buChar char="•"/>
            </a:pPr>
            <a:r>
              <a:rPr lang="en-US" sz="2800" dirty="0">
                <a:latin typeface="Arial" panose="020B0604020202020204" pitchFamily="34" charset="0"/>
                <a:ea typeface="Fira Sans" panose="020B0503050000020004" pitchFamily="34" charset="0"/>
                <a:cs typeface="Arial" panose="020B0604020202020204" pitchFamily="34" charset="0"/>
              </a:rPr>
              <a:t>Use models and residuals</a:t>
            </a:r>
          </a:p>
          <a:p>
            <a:pPr marL="285750" indent="-285750">
              <a:buFont typeface="Arial" panose="020B0604020202020204" pitchFamily="34" charset="0"/>
              <a:buChar char="•"/>
            </a:pPr>
            <a:endParaRPr lang="en-US" sz="3000"/>
          </a:p>
        </p:txBody>
      </p:sp>
    </p:spTree>
    <p:extLst>
      <p:ext uri="{BB962C8B-B14F-4D97-AF65-F5344CB8AC3E}">
        <p14:creationId xmlns:p14="http://schemas.microsoft.com/office/powerpoint/2010/main" val="2146307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69B1F-964E-1A4C-988A-DDF0B1DFFE9F}"/>
              </a:ext>
            </a:extLst>
          </p:cNvPr>
          <p:cNvSpPr>
            <a:spLocks noGrp="1"/>
          </p:cNvSpPr>
          <p:nvPr>
            <p:ph type="title"/>
          </p:nvPr>
        </p:nvSpPr>
        <p:spPr/>
        <p:txBody>
          <a:bodyPr/>
          <a:lstStyle/>
          <a:p>
            <a:endParaRPr lang="en-US"/>
          </a:p>
        </p:txBody>
      </p:sp>
      <p:pic>
        <p:nvPicPr>
          <p:cNvPr id="5" name="Picture 4" descr="Text, letter&#10;&#10;Description automatically generated">
            <a:extLst>
              <a:ext uri="{FF2B5EF4-FFF2-40B4-BE49-F238E27FC236}">
                <a16:creationId xmlns:a16="http://schemas.microsoft.com/office/drawing/2014/main" id="{676FBFA7-236D-C044-A820-21AFA9EB65D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9830580" cy="6858000"/>
          </a:xfrm>
          <a:prstGeom prst="rect">
            <a:avLst/>
          </a:prstGeom>
        </p:spPr>
      </p:pic>
      <p:sp>
        <p:nvSpPr>
          <p:cNvPr id="6" name="TextBox 5">
            <a:extLst>
              <a:ext uri="{FF2B5EF4-FFF2-40B4-BE49-F238E27FC236}">
                <a16:creationId xmlns:a16="http://schemas.microsoft.com/office/drawing/2014/main" id="{05453033-179F-804A-8E0A-25450195C7DA}"/>
              </a:ext>
            </a:extLst>
          </p:cNvPr>
          <p:cNvSpPr txBox="1"/>
          <p:nvPr/>
        </p:nvSpPr>
        <p:spPr>
          <a:xfrm>
            <a:off x="10643908" y="6215068"/>
            <a:ext cx="1535420" cy="369332"/>
          </a:xfrm>
          <a:prstGeom prst="rect">
            <a:avLst/>
          </a:prstGeom>
          <a:noFill/>
        </p:spPr>
        <p:txBody>
          <a:bodyPr wrap="none" rtlCol="0">
            <a:spAutoFit/>
          </a:bodyPr>
          <a:lstStyle/>
          <a:p>
            <a:r>
              <a:rPr lang="en-US" i="1" dirty="0"/>
              <a:t>(Tukey 1970)</a:t>
            </a:r>
          </a:p>
        </p:txBody>
      </p:sp>
    </p:spTree>
    <p:extLst>
      <p:ext uri="{BB962C8B-B14F-4D97-AF65-F5344CB8AC3E}">
        <p14:creationId xmlns:p14="http://schemas.microsoft.com/office/powerpoint/2010/main" val="1786455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15CA6-D4C4-344C-BF56-5DC439A1E7ED}"/>
              </a:ext>
            </a:extLst>
          </p:cNvPr>
          <p:cNvSpPr>
            <a:spLocks noGrp="1"/>
          </p:cNvSpPr>
          <p:nvPr>
            <p:ph type="title"/>
          </p:nvPr>
        </p:nvSpPr>
        <p:spPr>
          <a:xfrm>
            <a:off x="609480" y="541301"/>
            <a:ext cx="10972440" cy="609398"/>
          </a:xfrm>
        </p:spPr>
        <p:txBody>
          <a:bodyPr/>
          <a:lstStyle/>
          <a:p>
            <a:r>
              <a:rPr lang="en-US" dirty="0"/>
              <a:t>Spread vs. location</a:t>
            </a:r>
          </a:p>
        </p:txBody>
      </p:sp>
      <p:sp>
        <p:nvSpPr>
          <p:cNvPr id="3" name="Subtitle 2">
            <a:extLst>
              <a:ext uri="{FF2B5EF4-FFF2-40B4-BE49-F238E27FC236}">
                <a16:creationId xmlns:a16="http://schemas.microsoft.com/office/drawing/2014/main" id="{4D0E9C0A-4F56-DB4C-83C3-1402277A03EB}"/>
              </a:ext>
            </a:extLst>
          </p:cNvPr>
          <p:cNvSpPr>
            <a:spLocks noGrp="1"/>
          </p:cNvSpPr>
          <p:nvPr>
            <p:ph type="subTitle"/>
          </p:nvPr>
        </p:nvSpPr>
        <p:spPr/>
        <p:txBody>
          <a:bodyPr/>
          <a:lstStyle/>
          <a:p>
            <a:endParaRPr lang="en-US"/>
          </a:p>
        </p:txBody>
      </p:sp>
      <p:pic>
        <p:nvPicPr>
          <p:cNvPr id="5" name="Picture 4" descr="Diagram&#10;&#10;Description automatically generated">
            <a:extLst>
              <a:ext uri="{FF2B5EF4-FFF2-40B4-BE49-F238E27FC236}">
                <a16:creationId xmlns:a16="http://schemas.microsoft.com/office/drawing/2014/main" id="{F190090D-A1ED-4E4C-AF1E-7E463AC43F9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9830580" cy="6858000"/>
          </a:xfrm>
          <a:prstGeom prst="rect">
            <a:avLst/>
          </a:prstGeom>
        </p:spPr>
      </p:pic>
      <p:sp>
        <p:nvSpPr>
          <p:cNvPr id="6" name="TextBox 5">
            <a:extLst>
              <a:ext uri="{FF2B5EF4-FFF2-40B4-BE49-F238E27FC236}">
                <a16:creationId xmlns:a16="http://schemas.microsoft.com/office/drawing/2014/main" id="{BEB1C4B0-F51B-884A-8F2A-C5F25A59D592}"/>
              </a:ext>
            </a:extLst>
          </p:cNvPr>
          <p:cNvSpPr txBox="1"/>
          <p:nvPr/>
        </p:nvSpPr>
        <p:spPr>
          <a:xfrm>
            <a:off x="10656580" y="6316699"/>
            <a:ext cx="1535420" cy="369332"/>
          </a:xfrm>
          <a:prstGeom prst="rect">
            <a:avLst/>
          </a:prstGeom>
          <a:noFill/>
        </p:spPr>
        <p:txBody>
          <a:bodyPr wrap="none" rtlCol="0">
            <a:spAutoFit/>
          </a:bodyPr>
          <a:lstStyle/>
          <a:p>
            <a:r>
              <a:rPr lang="en-US" i="1" dirty="0"/>
              <a:t>(Tukey 1970)</a:t>
            </a:r>
          </a:p>
        </p:txBody>
      </p:sp>
    </p:spTree>
    <p:extLst>
      <p:ext uri="{BB962C8B-B14F-4D97-AF65-F5344CB8AC3E}">
        <p14:creationId xmlns:p14="http://schemas.microsoft.com/office/powerpoint/2010/main" val="6424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scatter chart&#10;&#10;Description automatically generated">
            <a:extLst>
              <a:ext uri="{FF2B5EF4-FFF2-40B4-BE49-F238E27FC236}">
                <a16:creationId xmlns:a16="http://schemas.microsoft.com/office/drawing/2014/main" id="{310BAAA4-E14B-5943-9220-FD58B8C661B1}"/>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94944"/>
            <a:ext cx="12212792" cy="6145456"/>
          </a:xfrm>
          <a:prstGeom prst="rect">
            <a:avLst/>
          </a:prstGeom>
        </p:spPr>
      </p:pic>
      <p:sp>
        <p:nvSpPr>
          <p:cNvPr id="2" name="Title 1">
            <a:extLst>
              <a:ext uri="{FF2B5EF4-FFF2-40B4-BE49-F238E27FC236}">
                <a16:creationId xmlns:a16="http://schemas.microsoft.com/office/drawing/2014/main" id="{1123762C-00F1-2046-A144-DDC9C0A7FCFD}"/>
              </a:ext>
            </a:extLst>
          </p:cNvPr>
          <p:cNvSpPr>
            <a:spLocks noGrp="1"/>
          </p:cNvSpPr>
          <p:nvPr>
            <p:ph type="title"/>
          </p:nvPr>
        </p:nvSpPr>
        <p:spPr>
          <a:xfrm>
            <a:off x="609480" y="541301"/>
            <a:ext cx="10972440" cy="609398"/>
          </a:xfrm>
        </p:spPr>
        <p:txBody>
          <a:bodyPr/>
          <a:lstStyle/>
          <a:p>
            <a:r>
              <a:rPr lang="en-US" dirty="0"/>
              <a:t>Adverse events in Dutch hospitals</a:t>
            </a:r>
            <a:endParaRPr lang="en-US" sz="2200" i="1" dirty="0"/>
          </a:p>
        </p:txBody>
      </p:sp>
    </p:spTree>
    <p:extLst>
      <p:ext uri="{BB962C8B-B14F-4D97-AF65-F5344CB8AC3E}">
        <p14:creationId xmlns:p14="http://schemas.microsoft.com/office/powerpoint/2010/main" val="2222564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5B770-3F82-3B4F-94E7-9DE83B52548C}"/>
              </a:ext>
            </a:extLst>
          </p:cNvPr>
          <p:cNvSpPr>
            <a:spLocks noGrp="1"/>
          </p:cNvSpPr>
          <p:nvPr>
            <p:ph type="title"/>
          </p:nvPr>
        </p:nvSpPr>
        <p:spPr>
          <a:xfrm>
            <a:off x="609480" y="541301"/>
            <a:ext cx="10972440" cy="609398"/>
          </a:xfrm>
        </p:spPr>
        <p:txBody>
          <a:bodyPr/>
          <a:lstStyle/>
          <a:p>
            <a:r>
              <a:rPr lang="en-US" dirty="0"/>
              <a:t>2. Peng’s EDA checklist</a:t>
            </a:r>
          </a:p>
        </p:txBody>
      </p:sp>
      <p:sp>
        <p:nvSpPr>
          <p:cNvPr id="4" name="CustomShape 2">
            <a:extLst>
              <a:ext uri="{FF2B5EF4-FFF2-40B4-BE49-F238E27FC236}">
                <a16:creationId xmlns:a16="http://schemas.microsoft.com/office/drawing/2014/main" id="{F949545A-0865-DA45-A19B-2215C6329DF6}"/>
              </a:ext>
            </a:extLst>
          </p:cNvPr>
          <p:cNvSpPr/>
          <p:nvPr/>
        </p:nvSpPr>
        <p:spPr>
          <a:xfrm>
            <a:off x="609480" y="15207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515070" indent="-514350">
              <a:lnSpc>
                <a:spcPct val="90000"/>
              </a:lnSpc>
              <a:spcBef>
                <a:spcPts val="1001"/>
              </a:spcBef>
              <a:buClr>
                <a:srgbClr val="000000"/>
              </a:buClr>
              <a:buFont typeface="+mj-lt"/>
              <a:buAutoNum type="arabicPeriod"/>
            </a:pPr>
            <a:r>
              <a:rPr lang="nl-NL" sz="2800" b="0" strike="noStrike" spc="-1" dirty="0" err="1">
                <a:solidFill>
                  <a:srgbClr val="000000"/>
                </a:solidFill>
                <a:latin typeface="Calibri"/>
              </a:rPr>
              <a:t>Formulate</a:t>
            </a:r>
            <a:r>
              <a:rPr lang="nl-NL" sz="2800" b="0" strike="noStrike" spc="-1" dirty="0">
                <a:solidFill>
                  <a:srgbClr val="000000"/>
                </a:solidFill>
                <a:latin typeface="Calibri"/>
              </a:rPr>
              <a:t> </a:t>
            </a:r>
            <a:r>
              <a:rPr lang="nl-NL" sz="2800" b="0" strike="noStrike" spc="-1" dirty="0" err="1">
                <a:solidFill>
                  <a:srgbClr val="000000"/>
                </a:solidFill>
                <a:latin typeface="Calibri"/>
              </a:rPr>
              <a:t>your</a:t>
            </a:r>
            <a:r>
              <a:rPr lang="nl-NL" sz="2800" b="0" strike="noStrike" spc="-1" dirty="0">
                <a:solidFill>
                  <a:srgbClr val="000000"/>
                </a:solidFill>
                <a:latin typeface="Calibri"/>
              </a:rPr>
              <a:t> question</a:t>
            </a:r>
          </a:p>
          <a:p>
            <a:pPr marL="515070" indent="-514350">
              <a:lnSpc>
                <a:spcPct val="90000"/>
              </a:lnSpc>
              <a:spcBef>
                <a:spcPts val="1001"/>
              </a:spcBef>
              <a:buClr>
                <a:srgbClr val="000000"/>
              </a:buClr>
              <a:buFont typeface="+mj-lt"/>
              <a:buAutoNum type="arabicPeriod"/>
            </a:pPr>
            <a:r>
              <a:rPr lang="nl-NL" sz="2800" b="0" strike="noStrike" spc="-1" dirty="0">
                <a:solidFill>
                  <a:srgbClr val="000000"/>
                </a:solidFill>
                <a:latin typeface="Calibri"/>
              </a:rPr>
              <a:t>Read in </a:t>
            </a:r>
            <a:r>
              <a:rPr lang="nl-NL" sz="2800" b="0" strike="noStrike" spc="-1" dirty="0" err="1">
                <a:solidFill>
                  <a:srgbClr val="000000"/>
                </a:solidFill>
                <a:latin typeface="Calibri"/>
              </a:rPr>
              <a:t>your</a:t>
            </a:r>
            <a:r>
              <a:rPr lang="nl-NL" sz="2800" b="0" strike="noStrike" spc="-1" dirty="0">
                <a:solidFill>
                  <a:srgbClr val="000000"/>
                </a:solidFill>
                <a:latin typeface="Calibri"/>
              </a:rPr>
              <a:t> data</a:t>
            </a:r>
          </a:p>
          <a:p>
            <a:pPr marL="515070" indent="-514350">
              <a:lnSpc>
                <a:spcPct val="90000"/>
              </a:lnSpc>
              <a:spcBef>
                <a:spcPts val="1001"/>
              </a:spcBef>
              <a:buClr>
                <a:srgbClr val="000000"/>
              </a:buClr>
              <a:buFont typeface="+mj-lt"/>
              <a:buAutoNum type="arabicPeriod"/>
            </a:pPr>
            <a:r>
              <a:rPr lang="nl-NL" sz="2800" b="0" strike="noStrike" spc="-1" dirty="0">
                <a:solidFill>
                  <a:srgbClr val="000000"/>
                </a:solidFill>
                <a:latin typeface="Calibri"/>
              </a:rPr>
              <a:t>Check </a:t>
            </a:r>
            <a:r>
              <a:rPr lang="nl-NL" sz="2800" b="0" strike="noStrike" spc="-1" dirty="0" err="1">
                <a:solidFill>
                  <a:srgbClr val="000000"/>
                </a:solidFill>
                <a:latin typeface="Calibri"/>
              </a:rPr>
              <a:t>the</a:t>
            </a:r>
            <a:r>
              <a:rPr lang="nl-NL" sz="2800" b="0" strike="noStrike" spc="-1" dirty="0">
                <a:solidFill>
                  <a:srgbClr val="000000"/>
                </a:solidFill>
                <a:latin typeface="Calibri"/>
              </a:rPr>
              <a:t> </a:t>
            </a:r>
            <a:r>
              <a:rPr lang="nl-NL" sz="2800" b="0" strike="noStrike" spc="-1" dirty="0" err="1">
                <a:solidFill>
                  <a:srgbClr val="000000"/>
                </a:solidFill>
                <a:latin typeface="Calibri"/>
              </a:rPr>
              <a:t>packaging</a:t>
            </a:r>
            <a:r>
              <a:rPr lang="nl-NL" sz="2800" b="0" strike="noStrike" spc="-1" dirty="0">
                <a:solidFill>
                  <a:srgbClr val="000000"/>
                </a:solidFill>
                <a:latin typeface="Calibri"/>
              </a:rPr>
              <a:t>, (run </a:t>
            </a:r>
            <a:r>
              <a:rPr lang="nl-NL" sz="2800" b="0" strike="noStrike" spc="-1" dirty="0" err="1">
                <a:solidFill>
                  <a:srgbClr val="000000"/>
                </a:solidFill>
                <a:latin typeface="Calibri"/>
              </a:rPr>
              <a:t>str</a:t>
            </a:r>
            <a:r>
              <a:rPr lang="nl-NL" sz="2800" b="0" strike="noStrike" spc="-1" dirty="0">
                <a:solidFill>
                  <a:srgbClr val="000000"/>
                </a:solidFill>
                <a:latin typeface="Calibri"/>
              </a:rPr>
              <a:t>())</a:t>
            </a:r>
          </a:p>
          <a:p>
            <a:pPr marL="515070" indent="-514350">
              <a:lnSpc>
                <a:spcPct val="90000"/>
              </a:lnSpc>
              <a:spcBef>
                <a:spcPts val="1001"/>
              </a:spcBef>
              <a:buClr>
                <a:srgbClr val="000000"/>
              </a:buClr>
              <a:buFont typeface="+mj-lt"/>
              <a:buAutoNum type="arabicPeriod"/>
            </a:pPr>
            <a:r>
              <a:rPr lang="nl-NL" sz="2800" b="0" strike="noStrike" spc="-1" dirty="0">
                <a:solidFill>
                  <a:srgbClr val="000000"/>
                </a:solidFill>
                <a:latin typeface="Calibri"/>
              </a:rPr>
              <a:t>Look at </a:t>
            </a:r>
            <a:r>
              <a:rPr lang="nl-NL" sz="2800" b="0" strike="noStrike" spc="-1" dirty="0" err="1">
                <a:solidFill>
                  <a:srgbClr val="000000"/>
                </a:solidFill>
                <a:latin typeface="Calibri"/>
              </a:rPr>
              <a:t>the</a:t>
            </a:r>
            <a:r>
              <a:rPr lang="nl-NL" sz="2800" b="0" strike="noStrike" spc="-1" dirty="0">
                <a:solidFill>
                  <a:srgbClr val="000000"/>
                </a:solidFill>
                <a:latin typeface="Calibri"/>
              </a:rPr>
              <a:t> top </a:t>
            </a:r>
            <a:r>
              <a:rPr lang="nl-NL" sz="2800" b="0" strike="noStrike" spc="-1" dirty="0" err="1">
                <a:solidFill>
                  <a:srgbClr val="000000"/>
                </a:solidFill>
                <a:latin typeface="Calibri"/>
              </a:rPr>
              <a:t>and</a:t>
            </a:r>
            <a:r>
              <a:rPr lang="nl-NL" sz="2800" b="0" strike="noStrike" spc="-1" dirty="0">
                <a:solidFill>
                  <a:srgbClr val="000000"/>
                </a:solidFill>
                <a:latin typeface="Calibri"/>
              </a:rPr>
              <a:t> </a:t>
            </a:r>
            <a:r>
              <a:rPr lang="nl-NL" sz="2800" b="0" strike="noStrike" spc="-1" dirty="0" err="1">
                <a:solidFill>
                  <a:srgbClr val="000000"/>
                </a:solidFill>
                <a:latin typeface="Calibri"/>
              </a:rPr>
              <a:t>the</a:t>
            </a:r>
            <a:r>
              <a:rPr lang="nl-NL" sz="2800" b="0" strike="noStrike" spc="-1" dirty="0">
                <a:solidFill>
                  <a:srgbClr val="000000"/>
                </a:solidFill>
                <a:latin typeface="Calibri"/>
              </a:rPr>
              <a:t> </a:t>
            </a:r>
            <a:r>
              <a:rPr lang="nl-NL" sz="2800" b="0" strike="noStrike" spc="-1" dirty="0" err="1">
                <a:solidFill>
                  <a:srgbClr val="000000"/>
                </a:solidFill>
                <a:latin typeface="Calibri"/>
              </a:rPr>
              <a:t>bottom</a:t>
            </a:r>
            <a:r>
              <a:rPr lang="nl-NL" sz="2800" b="0" strike="noStrike" spc="-1" dirty="0">
                <a:solidFill>
                  <a:srgbClr val="000000"/>
                </a:solidFill>
                <a:latin typeface="Calibri"/>
              </a:rPr>
              <a:t> of </a:t>
            </a:r>
            <a:r>
              <a:rPr lang="nl-NL" sz="2800" b="0" strike="noStrike" spc="-1" dirty="0" err="1">
                <a:solidFill>
                  <a:srgbClr val="000000"/>
                </a:solidFill>
                <a:latin typeface="Calibri"/>
              </a:rPr>
              <a:t>your</a:t>
            </a:r>
            <a:r>
              <a:rPr lang="nl-NL" sz="2800" b="0" strike="noStrike" spc="-1" dirty="0">
                <a:solidFill>
                  <a:srgbClr val="000000"/>
                </a:solidFill>
                <a:latin typeface="Calibri"/>
              </a:rPr>
              <a:t> data</a:t>
            </a:r>
          </a:p>
          <a:p>
            <a:pPr marL="515070" indent="-514350">
              <a:lnSpc>
                <a:spcPct val="90000"/>
              </a:lnSpc>
              <a:spcBef>
                <a:spcPts val="1001"/>
              </a:spcBef>
              <a:buClr>
                <a:srgbClr val="000000"/>
              </a:buClr>
              <a:buFont typeface="+mj-lt"/>
              <a:buAutoNum type="arabicPeriod"/>
            </a:pPr>
            <a:r>
              <a:rPr lang="nl-NL" sz="2800" b="0" strike="noStrike" spc="-1" dirty="0">
                <a:solidFill>
                  <a:srgbClr val="000000"/>
                </a:solidFill>
                <a:latin typeface="Calibri"/>
              </a:rPr>
              <a:t>Check </a:t>
            </a:r>
            <a:r>
              <a:rPr lang="nl-NL" sz="2800" b="0" strike="noStrike" spc="-1" dirty="0" err="1">
                <a:solidFill>
                  <a:srgbClr val="000000"/>
                </a:solidFill>
                <a:latin typeface="Calibri"/>
              </a:rPr>
              <a:t>your</a:t>
            </a:r>
            <a:r>
              <a:rPr lang="nl-NL" sz="2800" b="0" strike="noStrike" spc="-1" dirty="0">
                <a:solidFill>
                  <a:srgbClr val="000000"/>
                </a:solidFill>
                <a:latin typeface="Calibri"/>
              </a:rPr>
              <a:t> “</a:t>
            </a:r>
            <a:r>
              <a:rPr lang="nl-NL" sz="2800" b="0" strike="noStrike" spc="-1" dirty="0" err="1">
                <a:solidFill>
                  <a:srgbClr val="000000"/>
                </a:solidFill>
                <a:latin typeface="Calibri"/>
              </a:rPr>
              <a:t>n”s</a:t>
            </a:r>
            <a:endParaRPr lang="nl-NL" sz="2800" b="0" strike="noStrike" spc="-1" dirty="0">
              <a:solidFill>
                <a:srgbClr val="000000"/>
              </a:solidFill>
              <a:latin typeface="Calibri"/>
            </a:endParaRPr>
          </a:p>
          <a:p>
            <a:pPr marL="515070" indent="-514350">
              <a:lnSpc>
                <a:spcPct val="90000"/>
              </a:lnSpc>
              <a:spcBef>
                <a:spcPts val="1001"/>
              </a:spcBef>
              <a:buClr>
                <a:srgbClr val="000000"/>
              </a:buClr>
              <a:buFont typeface="+mj-lt"/>
              <a:buAutoNum type="arabicPeriod"/>
            </a:pPr>
            <a:r>
              <a:rPr lang="nl-NL" sz="2800" b="0" strike="noStrike" spc="-1" dirty="0" err="1">
                <a:solidFill>
                  <a:srgbClr val="000000"/>
                </a:solidFill>
                <a:latin typeface="Calibri"/>
              </a:rPr>
              <a:t>Validate</a:t>
            </a:r>
            <a:r>
              <a:rPr lang="nl-NL" sz="2800" b="0" strike="noStrike" spc="-1" dirty="0">
                <a:solidFill>
                  <a:srgbClr val="000000"/>
                </a:solidFill>
                <a:latin typeface="Calibri"/>
              </a:rPr>
              <a:t> </a:t>
            </a:r>
            <a:r>
              <a:rPr lang="nl-NL" sz="2800" b="0" strike="noStrike" spc="-1" dirty="0" err="1">
                <a:solidFill>
                  <a:srgbClr val="000000"/>
                </a:solidFill>
                <a:latin typeface="Calibri"/>
              </a:rPr>
              <a:t>with</a:t>
            </a:r>
            <a:r>
              <a:rPr lang="nl-NL" sz="2800" b="0" strike="noStrike" spc="-1" dirty="0">
                <a:solidFill>
                  <a:srgbClr val="000000"/>
                </a:solidFill>
                <a:latin typeface="Calibri"/>
              </a:rPr>
              <a:t> at </a:t>
            </a:r>
            <a:r>
              <a:rPr lang="nl-NL" sz="2800" b="0" strike="noStrike" spc="-1" dirty="0" err="1">
                <a:solidFill>
                  <a:srgbClr val="000000"/>
                </a:solidFill>
                <a:latin typeface="Calibri"/>
              </a:rPr>
              <a:t>least</a:t>
            </a:r>
            <a:r>
              <a:rPr lang="nl-NL" sz="2800" b="0" strike="noStrike" spc="-1" dirty="0">
                <a:solidFill>
                  <a:srgbClr val="000000"/>
                </a:solidFill>
                <a:latin typeface="Calibri"/>
              </a:rPr>
              <a:t> </a:t>
            </a:r>
            <a:r>
              <a:rPr lang="nl-NL" sz="2800" b="0" strike="noStrike" spc="-1" dirty="0" err="1">
                <a:solidFill>
                  <a:srgbClr val="000000"/>
                </a:solidFill>
                <a:latin typeface="Calibri"/>
              </a:rPr>
              <a:t>one</a:t>
            </a:r>
            <a:r>
              <a:rPr lang="nl-NL" sz="2800" b="0" strike="noStrike" spc="-1" dirty="0">
                <a:solidFill>
                  <a:srgbClr val="000000"/>
                </a:solidFill>
                <a:latin typeface="Calibri"/>
              </a:rPr>
              <a:t> </a:t>
            </a:r>
            <a:r>
              <a:rPr lang="nl-NL" sz="2800" b="0" strike="noStrike" spc="-1" dirty="0" err="1">
                <a:solidFill>
                  <a:srgbClr val="000000"/>
                </a:solidFill>
                <a:latin typeface="Calibri"/>
              </a:rPr>
              <a:t>external</a:t>
            </a:r>
            <a:r>
              <a:rPr lang="nl-NL" sz="2800" b="0" strike="noStrike" spc="-1" dirty="0">
                <a:solidFill>
                  <a:srgbClr val="000000"/>
                </a:solidFill>
                <a:latin typeface="Calibri"/>
              </a:rPr>
              <a:t> data source</a:t>
            </a:r>
          </a:p>
          <a:p>
            <a:pPr marL="515070" indent="-514350">
              <a:lnSpc>
                <a:spcPct val="90000"/>
              </a:lnSpc>
              <a:spcBef>
                <a:spcPts val="1001"/>
              </a:spcBef>
              <a:buClr>
                <a:srgbClr val="000000"/>
              </a:buClr>
              <a:buFont typeface="+mj-lt"/>
              <a:buAutoNum type="arabicPeriod"/>
            </a:pPr>
            <a:r>
              <a:rPr lang="nl-NL" sz="2800" b="0" strike="noStrike" spc="-1" dirty="0" err="1">
                <a:solidFill>
                  <a:srgbClr val="000000"/>
                </a:solidFill>
                <a:latin typeface="Calibri"/>
              </a:rPr>
              <a:t>Try</a:t>
            </a:r>
            <a:r>
              <a:rPr lang="nl-NL" sz="2800" b="0" strike="noStrike" spc="-1" dirty="0">
                <a:solidFill>
                  <a:srgbClr val="000000"/>
                </a:solidFill>
                <a:latin typeface="Calibri"/>
              </a:rPr>
              <a:t> </a:t>
            </a:r>
            <a:r>
              <a:rPr lang="nl-NL" sz="2800" b="0" strike="noStrike" spc="-1" dirty="0" err="1">
                <a:solidFill>
                  <a:srgbClr val="000000"/>
                </a:solidFill>
                <a:latin typeface="Calibri"/>
              </a:rPr>
              <a:t>the</a:t>
            </a:r>
            <a:r>
              <a:rPr lang="nl-NL" sz="2800" b="0" strike="noStrike" spc="-1" dirty="0">
                <a:solidFill>
                  <a:srgbClr val="000000"/>
                </a:solidFill>
                <a:latin typeface="Calibri"/>
              </a:rPr>
              <a:t> easy solution first</a:t>
            </a:r>
          </a:p>
          <a:p>
            <a:pPr marL="515070" indent="-514350">
              <a:lnSpc>
                <a:spcPct val="90000"/>
              </a:lnSpc>
              <a:spcBef>
                <a:spcPts val="1001"/>
              </a:spcBef>
              <a:buClr>
                <a:srgbClr val="000000"/>
              </a:buClr>
              <a:buFont typeface="+mj-lt"/>
              <a:buAutoNum type="arabicPeriod"/>
            </a:pPr>
            <a:r>
              <a:rPr lang="nl-NL" sz="2800" b="0" strike="noStrike" spc="-1" dirty="0">
                <a:solidFill>
                  <a:srgbClr val="000000"/>
                </a:solidFill>
                <a:latin typeface="Calibri"/>
              </a:rPr>
              <a:t>Challenge </a:t>
            </a:r>
            <a:r>
              <a:rPr lang="nl-NL" sz="2800" b="0" strike="noStrike" spc="-1" dirty="0" err="1">
                <a:solidFill>
                  <a:srgbClr val="000000"/>
                </a:solidFill>
                <a:latin typeface="Calibri"/>
              </a:rPr>
              <a:t>your</a:t>
            </a:r>
            <a:r>
              <a:rPr lang="nl-NL" sz="2800" b="0" strike="noStrike" spc="-1" dirty="0">
                <a:solidFill>
                  <a:srgbClr val="000000"/>
                </a:solidFill>
                <a:latin typeface="Calibri"/>
              </a:rPr>
              <a:t> solution</a:t>
            </a:r>
          </a:p>
          <a:p>
            <a:pPr marL="515070" indent="-514350">
              <a:lnSpc>
                <a:spcPct val="90000"/>
              </a:lnSpc>
              <a:spcBef>
                <a:spcPts val="1001"/>
              </a:spcBef>
              <a:buClr>
                <a:srgbClr val="000000"/>
              </a:buClr>
              <a:buFont typeface="+mj-lt"/>
              <a:buAutoNum type="arabicPeriod"/>
            </a:pPr>
            <a:r>
              <a:rPr lang="nl-NL" sz="2800" b="0" strike="noStrike" spc="-1" dirty="0">
                <a:solidFill>
                  <a:srgbClr val="000000"/>
                </a:solidFill>
                <a:latin typeface="Calibri"/>
              </a:rPr>
              <a:t>Follow up</a:t>
            </a:r>
            <a:endParaRPr lang="nl-NL" sz="2400" b="0" strike="noStrike" spc="-1" dirty="0">
              <a:latin typeface="Arial"/>
            </a:endParaRPr>
          </a:p>
        </p:txBody>
      </p:sp>
      <p:pic>
        <p:nvPicPr>
          <p:cNvPr id="5" name="Picture 2">
            <a:extLst>
              <a:ext uri="{FF2B5EF4-FFF2-40B4-BE49-F238E27FC236}">
                <a16:creationId xmlns:a16="http://schemas.microsoft.com/office/drawing/2014/main" id="{F59717F8-94DC-AD4A-AA5B-CE22CB0BEF2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8022336" y="1456727"/>
            <a:ext cx="4169664" cy="5401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1421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05ED5-9E04-524B-86C8-5E7AB71E6603}"/>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95512F75-2032-4245-9287-1CE5AF61812D}"/>
              </a:ext>
            </a:extLst>
          </p:cNvPr>
          <p:cNvSpPr>
            <a:spLocks noGrp="1"/>
          </p:cNvSpPr>
          <p:nvPr>
            <p:ph type="subTitle"/>
          </p:nvPr>
        </p:nvSpPr>
        <p:spPr>
          <a:xfrm>
            <a:off x="609480" y="2983763"/>
            <a:ext cx="10972440" cy="1218795"/>
          </a:xfrm>
        </p:spPr>
        <p:txBody>
          <a:bodyPr/>
          <a:lstStyle/>
          <a:p>
            <a:pPr marL="0" indent="0">
              <a:buNone/>
            </a:pPr>
            <a:r>
              <a:rPr lang="en-US" dirty="0"/>
              <a:t>Example exploration of current corona cases in the Netherlands</a:t>
            </a:r>
          </a:p>
        </p:txBody>
      </p:sp>
    </p:spTree>
    <p:extLst>
      <p:ext uri="{BB962C8B-B14F-4D97-AF65-F5344CB8AC3E}">
        <p14:creationId xmlns:p14="http://schemas.microsoft.com/office/powerpoint/2010/main" val="4236589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6444B-0D3E-3747-9DA1-05F6626B17C2}"/>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F4040439-2CF1-C545-BB9E-EBA97A9FB919}"/>
              </a:ext>
            </a:extLst>
          </p:cNvPr>
          <p:cNvSpPr>
            <a:spLocks noGrp="1"/>
          </p:cNvSpPr>
          <p:nvPr>
            <p:ph type="subTitle"/>
          </p:nvPr>
        </p:nvSpPr>
        <p:spPr/>
        <p:txBody>
          <a:bodyPr/>
          <a:lstStyle/>
          <a:p>
            <a:endParaRPr lang="en-US"/>
          </a:p>
        </p:txBody>
      </p:sp>
      <p:pic>
        <p:nvPicPr>
          <p:cNvPr id="4" name="Picture 3">
            <a:extLst>
              <a:ext uri="{FF2B5EF4-FFF2-40B4-BE49-F238E27FC236}">
                <a16:creationId xmlns:a16="http://schemas.microsoft.com/office/drawing/2014/main" id="{580239BF-C1AE-1344-8CDC-EDFCF78D31F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75381" y="0"/>
            <a:ext cx="11841238" cy="6858000"/>
          </a:xfrm>
          <a:prstGeom prst="rect">
            <a:avLst/>
          </a:prstGeom>
        </p:spPr>
      </p:pic>
      <p:sp>
        <p:nvSpPr>
          <p:cNvPr id="5" name="Rectangle 4">
            <a:extLst>
              <a:ext uri="{FF2B5EF4-FFF2-40B4-BE49-F238E27FC236}">
                <a16:creationId xmlns:a16="http://schemas.microsoft.com/office/drawing/2014/main" id="{F55B7B28-3E52-1D40-B180-8692752AB5DD}"/>
              </a:ext>
            </a:extLst>
          </p:cNvPr>
          <p:cNvSpPr/>
          <p:nvPr/>
        </p:nvSpPr>
        <p:spPr>
          <a:xfrm>
            <a:off x="475368" y="143654"/>
            <a:ext cx="4938018" cy="369332"/>
          </a:xfrm>
          <a:prstGeom prst="rect">
            <a:avLst/>
          </a:prstGeom>
        </p:spPr>
        <p:txBody>
          <a:bodyPr wrap="none">
            <a:spAutoFit/>
          </a:bodyPr>
          <a:lstStyle/>
          <a:p>
            <a:r>
              <a:rPr lang="en-US" dirty="0">
                <a:highlight>
                  <a:srgbClr val="FFFF00"/>
                </a:highlight>
                <a:hlinkClick r:id="rId3"/>
              </a:rPr>
              <a:t>https://github.com/J535D165/CoronaWatchNL</a:t>
            </a:r>
            <a:r>
              <a:rPr lang="en-US" dirty="0">
                <a:highlight>
                  <a:srgbClr val="FFFF00"/>
                </a:highlight>
              </a:rPr>
              <a:t> </a:t>
            </a:r>
          </a:p>
        </p:txBody>
      </p:sp>
    </p:spTree>
    <p:extLst>
      <p:ext uri="{BB962C8B-B14F-4D97-AF65-F5344CB8AC3E}">
        <p14:creationId xmlns:p14="http://schemas.microsoft.com/office/powerpoint/2010/main" val="1398550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5541-A426-554F-9F74-032C2775A9FE}"/>
              </a:ext>
            </a:extLst>
          </p:cNvPr>
          <p:cNvSpPr>
            <a:spLocks noGrp="1"/>
          </p:cNvSpPr>
          <p:nvPr>
            <p:ph type="title"/>
          </p:nvPr>
        </p:nvSpPr>
        <p:spPr>
          <a:xfrm>
            <a:off x="609480" y="541301"/>
            <a:ext cx="10972440" cy="609398"/>
          </a:xfrm>
        </p:spPr>
        <p:txBody>
          <a:bodyPr/>
          <a:lstStyle/>
          <a:p>
            <a:r>
              <a:rPr lang="en-US" dirty="0"/>
              <a:t>Read data, check packaging</a:t>
            </a:r>
          </a:p>
        </p:txBody>
      </p:sp>
      <p:sp>
        <p:nvSpPr>
          <p:cNvPr id="4" name="Rectangle 3">
            <a:extLst>
              <a:ext uri="{FF2B5EF4-FFF2-40B4-BE49-F238E27FC236}">
                <a16:creationId xmlns:a16="http://schemas.microsoft.com/office/drawing/2014/main" id="{D127FBA4-6E2F-4F4B-8764-12E9E9035CE8}"/>
              </a:ext>
            </a:extLst>
          </p:cNvPr>
          <p:cNvSpPr/>
          <p:nvPr/>
        </p:nvSpPr>
        <p:spPr>
          <a:xfrm>
            <a:off x="609480" y="1997839"/>
            <a:ext cx="10972440" cy="2862322"/>
          </a:xfrm>
          <a:prstGeom prst="rect">
            <a:avLst/>
          </a:prstGeom>
        </p:spPr>
        <p:txBody>
          <a:bodyPr wrap="square">
            <a:spAutoFit/>
          </a:bodyPr>
          <a:lstStyle/>
          <a:p>
            <a:r>
              <a:rPr lang="en-US" dirty="0" err="1">
                <a:latin typeface="Fira Code" panose="020B0809050000020004" pitchFamily="49" charset="0"/>
                <a:ea typeface="Fira Code" panose="020B0809050000020004" pitchFamily="49" charset="0"/>
              </a:rPr>
              <a:t>url_icu</a:t>
            </a:r>
            <a:r>
              <a:rPr lang="en-US" dirty="0">
                <a:latin typeface="Fira Code" panose="020B0809050000020004" pitchFamily="49" charset="0"/>
                <a:ea typeface="Fira Code" panose="020B0809050000020004" pitchFamily="49" charset="0"/>
              </a:rPr>
              <a:t> &lt;- "https://</a:t>
            </a:r>
            <a:r>
              <a:rPr lang="en-US" dirty="0" err="1">
                <a:latin typeface="Fira Code" panose="020B0809050000020004" pitchFamily="49" charset="0"/>
                <a:ea typeface="Fira Code" panose="020B0809050000020004" pitchFamily="49" charset="0"/>
              </a:rPr>
              <a:t>raw.githubusercontent.com</a:t>
            </a:r>
            <a:r>
              <a:rPr lang="en-US" dirty="0">
                <a:latin typeface="Fira Code" panose="020B0809050000020004" pitchFamily="49" charset="0"/>
                <a:ea typeface="Fira Code" panose="020B0809050000020004" pitchFamily="49" charset="0"/>
              </a:rPr>
              <a:t>/J535D165/</a:t>
            </a:r>
            <a:r>
              <a:rPr lang="en-US" dirty="0" err="1">
                <a:latin typeface="Fira Code" panose="020B0809050000020004" pitchFamily="49" charset="0"/>
                <a:ea typeface="Fira Code" panose="020B0809050000020004" pitchFamily="49" charset="0"/>
              </a:rPr>
              <a:t>CoronaWatchNL</a:t>
            </a:r>
            <a:r>
              <a:rPr lang="en-US" dirty="0">
                <a:latin typeface="Fira Code" panose="020B0809050000020004" pitchFamily="49" charset="0"/>
                <a:ea typeface="Fira Code" panose="020B0809050000020004" pitchFamily="49" charset="0"/>
              </a:rPr>
              <a:t>/master/data-</a:t>
            </a:r>
            <a:r>
              <a:rPr lang="en-US" dirty="0" err="1">
                <a:latin typeface="Fira Code" panose="020B0809050000020004" pitchFamily="49" charset="0"/>
                <a:ea typeface="Fira Code" panose="020B0809050000020004" pitchFamily="49" charset="0"/>
              </a:rPr>
              <a:t>ic</a:t>
            </a:r>
            <a:r>
              <a:rPr lang="en-US" dirty="0">
                <a:latin typeface="Fira Code" panose="020B0809050000020004" pitchFamily="49" charset="0"/>
                <a:ea typeface="Fira Code" panose="020B0809050000020004" pitchFamily="49" charset="0"/>
              </a:rPr>
              <a:t>/data-nice/</a:t>
            </a:r>
            <a:r>
              <a:rPr lang="en-US" dirty="0" err="1">
                <a:latin typeface="Fira Code" panose="020B0809050000020004" pitchFamily="49" charset="0"/>
                <a:ea typeface="Fira Code" panose="020B0809050000020004" pitchFamily="49" charset="0"/>
              </a:rPr>
              <a:t>NICE_IC_long_latest.csv</a:t>
            </a:r>
            <a:r>
              <a:rPr lang="en-US" dirty="0">
                <a:latin typeface="Fira Code" panose="020B0809050000020004" pitchFamily="49" charset="0"/>
                <a:ea typeface="Fira Code" panose="020B0809050000020004" pitchFamily="49" charset="0"/>
              </a:rPr>
              <a:t>"</a:t>
            </a:r>
          </a:p>
          <a:p>
            <a:endParaRPr lang="en-US" dirty="0">
              <a:latin typeface="Fira Code" panose="020B0809050000020004" pitchFamily="49" charset="0"/>
              <a:ea typeface="Fira Code" panose="020B0809050000020004" pitchFamily="49" charset="0"/>
            </a:endParaRPr>
          </a:p>
          <a:p>
            <a:r>
              <a:rPr lang="en-US" dirty="0" err="1">
                <a:latin typeface="Fira Code" panose="020B0809050000020004" pitchFamily="49" charset="0"/>
                <a:ea typeface="Fira Code" panose="020B0809050000020004" pitchFamily="49" charset="0"/>
              </a:rPr>
              <a:t>icu</a:t>
            </a:r>
            <a:r>
              <a:rPr lang="en-US" dirty="0">
                <a:latin typeface="Fira Code" panose="020B0809050000020004" pitchFamily="49" charset="0"/>
                <a:ea typeface="Fira Code" panose="020B0809050000020004" pitchFamily="49" charset="0"/>
              </a:rPr>
              <a:t> &lt;- </a:t>
            </a:r>
            <a:r>
              <a:rPr lang="en-US" dirty="0" err="1">
                <a:latin typeface="Fira Code" panose="020B0809050000020004" pitchFamily="49" charset="0"/>
                <a:ea typeface="Fira Code" panose="020B0809050000020004" pitchFamily="49" charset="0"/>
              </a:rPr>
              <a:t>read_csv</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url_icu</a:t>
            </a:r>
            <a:r>
              <a:rPr lang="en-US" dirty="0">
                <a:latin typeface="Fira Code" panose="020B0809050000020004" pitchFamily="49" charset="0"/>
                <a:ea typeface="Fira Code" panose="020B0809050000020004" pitchFamily="49" charset="0"/>
              </a:rPr>
              <a:t>)</a:t>
            </a:r>
          </a:p>
          <a:p>
            <a:endParaRPr lang="en-US" dirty="0">
              <a:latin typeface="Fira Code" panose="020B0809050000020004" pitchFamily="49" charset="0"/>
              <a:ea typeface="Fira Code" panose="020B0809050000020004" pitchFamily="49" charset="0"/>
            </a:endParaRPr>
          </a:p>
          <a:p>
            <a:endParaRPr lang="en-US" dirty="0">
              <a:latin typeface="Fira Code" panose="020B0809050000020004" pitchFamily="49" charset="0"/>
              <a:ea typeface="Fira Code" panose="020B0809050000020004" pitchFamily="49" charset="0"/>
            </a:endParaRPr>
          </a:p>
          <a:p>
            <a:endParaRPr lang="en-US" dirty="0">
              <a:latin typeface="Fira Code" panose="020B0809050000020004" pitchFamily="49" charset="0"/>
              <a:ea typeface="Fira Code" panose="020B0809050000020004" pitchFamily="49" charset="0"/>
            </a:endParaRPr>
          </a:p>
          <a:p>
            <a:r>
              <a:rPr lang="en-US" dirty="0">
                <a:latin typeface="Fira Code" panose="020B0809050000020004" pitchFamily="49" charset="0"/>
                <a:ea typeface="Fira Code" panose="020B0809050000020004" pitchFamily="49" charset="0"/>
              </a:rPr>
              <a:t>&gt; dim(</a:t>
            </a:r>
            <a:r>
              <a:rPr lang="en-US" dirty="0" err="1">
                <a:latin typeface="Fira Code" panose="020B0809050000020004" pitchFamily="49" charset="0"/>
                <a:ea typeface="Fira Code" panose="020B0809050000020004" pitchFamily="49" charset="0"/>
              </a:rPr>
              <a:t>icu</a:t>
            </a:r>
            <a:r>
              <a:rPr lang="en-US" dirty="0">
                <a:latin typeface="Fira Code" panose="020B0809050000020004" pitchFamily="49" charset="0"/>
                <a:ea typeface="Fira Code" panose="020B0809050000020004" pitchFamily="49" charset="0"/>
              </a:rPr>
              <a:t>)</a:t>
            </a:r>
          </a:p>
          <a:p>
            <a:r>
              <a:rPr lang="en-US" dirty="0">
                <a:latin typeface="Fira Code" panose="020B0809050000020004" pitchFamily="49" charset="0"/>
                <a:ea typeface="Fira Code" panose="020B0809050000020004" pitchFamily="49" charset="0"/>
              </a:rPr>
              <a:t>[1] 1935    3</a:t>
            </a:r>
          </a:p>
        </p:txBody>
      </p:sp>
    </p:spTree>
    <p:extLst>
      <p:ext uri="{BB962C8B-B14F-4D97-AF65-F5344CB8AC3E}">
        <p14:creationId xmlns:p14="http://schemas.microsoft.com/office/powerpoint/2010/main" val="25980275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5541-A426-554F-9F74-032C2775A9FE}"/>
              </a:ext>
            </a:extLst>
          </p:cNvPr>
          <p:cNvSpPr>
            <a:spLocks noGrp="1"/>
          </p:cNvSpPr>
          <p:nvPr>
            <p:ph type="title"/>
          </p:nvPr>
        </p:nvSpPr>
        <p:spPr>
          <a:xfrm>
            <a:off x="609480" y="541301"/>
            <a:ext cx="10972440" cy="609398"/>
          </a:xfrm>
        </p:spPr>
        <p:txBody>
          <a:bodyPr/>
          <a:lstStyle/>
          <a:p>
            <a:r>
              <a:rPr lang="en-US" dirty="0"/>
              <a:t>Look at top and bottom</a:t>
            </a:r>
          </a:p>
        </p:txBody>
      </p:sp>
      <p:sp>
        <p:nvSpPr>
          <p:cNvPr id="4" name="Rectangle 3">
            <a:extLst>
              <a:ext uri="{FF2B5EF4-FFF2-40B4-BE49-F238E27FC236}">
                <a16:creationId xmlns:a16="http://schemas.microsoft.com/office/drawing/2014/main" id="{D127FBA4-6E2F-4F4B-8764-12E9E9035CE8}"/>
              </a:ext>
            </a:extLst>
          </p:cNvPr>
          <p:cNvSpPr/>
          <p:nvPr/>
        </p:nvSpPr>
        <p:spPr>
          <a:xfrm>
            <a:off x="609480" y="1997839"/>
            <a:ext cx="10972440" cy="2862322"/>
          </a:xfrm>
          <a:prstGeom prst="rect">
            <a:avLst/>
          </a:prstGeom>
        </p:spPr>
        <p:txBody>
          <a:bodyPr wrap="square">
            <a:spAutoFit/>
          </a:bodyPr>
          <a:lstStyle/>
          <a:p>
            <a:r>
              <a:rPr lang="en-US" dirty="0">
                <a:latin typeface="Fira Code" panose="020B0809050000020004" pitchFamily="49" charset="0"/>
                <a:ea typeface="Fira Code" panose="020B0809050000020004" pitchFamily="49" charset="0"/>
              </a:rPr>
              <a:t>&gt; </a:t>
            </a:r>
            <a:r>
              <a:rPr lang="en-US" dirty="0" err="1">
                <a:latin typeface="Fira Code" panose="020B0809050000020004" pitchFamily="49" charset="0"/>
                <a:ea typeface="Fira Code" panose="020B0809050000020004" pitchFamily="49" charset="0"/>
              </a:rPr>
              <a:t>icu</a:t>
            </a:r>
            <a:r>
              <a:rPr lang="en-US" dirty="0">
                <a:latin typeface="Fira Code" panose="020B0809050000020004" pitchFamily="49" charset="0"/>
                <a:ea typeface="Fira Code" panose="020B0809050000020004" pitchFamily="49" charset="0"/>
              </a:rPr>
              <a:t> %&gt;% tail</a:t>
            </a:r>
          </a:p>
          <a:p>
            <a:r>
              <a:rPr lang="en-US" dirty="0">
                <a:latin typeface="Fira Code" panose="020B0809050000020004" pitchFamily="49" charset="0"/>
                <a:ea typeface="Fira Code" panose="020B0809050000020004" pitchFamily="49" charset="0"/>
              </a:rPr>
              <a:t># A </a:t>
            </a:r>
            <a:r>
              <a:rPr lang="en-US" dirty="0" err="1">
                <a:latin typeface="Fira Code" panose="020B0809050000020004" pitchFamily="49" charset="0"/>
                <a:ea typeface="Fira Code" panose="020B0809050000020004" pitchFamily="49" charset="0"/>
              </a:rPr>
              <a:t>tibble</a:t>
            </a:r>
            <a:r>
              <a:rPr lang="en-US" dirty="0">
                <a:latin typeface="Fira Code" panose="020B0809050000020004" pitchFamily="49" charset="0"/>
                <a:ea typeface="Fira Code" panose="020B0809050000020004" pitchFamily="49" charset="0"/>
              </a:rPr>
              <a:t>: 6 x 3</a:t>
            </a:r>
          </a:p>
          <a:p>
            <a:r>
              <a:rPr lang="en-US" dirty="0">
                <a:latin typeface="Fira Code" panose="020B0809050000020004" pitchFamily="49" charset="0"/>
                <a:ea typeface="Fira Code" panose="020B0809050000020004" pitchFamily="49" charset="0"/>
              </a:rPr>
              <a:t>  Datum      Type                         </a:t>
            </a:r>
            <a:r>
              <a:rPr lang="en-US" dirty="0" err="1">
                <a:latin typeface="Fira Code" panose="020B0809050000020004" pitchFamily="49" charset="0"/>
                <a:ea typeface="Fira Code" panose="020B0809050000020004" pitchFamily="49" charset="0"/>
              </a:rPr>
              <a:t>Aantal</a:t>
            </a:r>
            <a:endParaRPr lang="en-US" dirty="0">
              <a:latin typeface="Fira Code" panose="020B0809050000020004" pitchFamily="49" charset="0"/>
              <a:ea typeface="Fira Code" panose="020B0809050000020004" pitchFamily="49" charset="0"/>
            </a:endParaRPr>
          </a:p>
          <a:p>
            <a:r>
              <a:rPr lang="en-US" dirty="0">
                <a:latin typeface="Fira Code" panose="020B0809050000020004" pitchFamily="49" charset="0"/>
                <a:ea typeface="Fira Code" panose="020B0809050000020004" pitchFamily="49" charset="0"/>
              </a:rPr>
              <a:t>  &lt;date&gt;     &lt;</a:t>
            </a:r>
            <a:r>
              <a:rPr lang="en-US" dirty="0" err="1">
                <a:latin typeface="Fira Code" panose="020B0809050000020004" pitchFamily="49" charset="0"/>
                <a:ea typeface="Fira Code" panose="020B0809050000020004" pitchFamily="49" charset="0"/>
              </a:rPr>
              <a:t>chr</a:t>
            </a:r>
            <a:r>
              <a:rPr lang="en-US" dirty="0">
                <a:latin typeface="Fira Code" panose="020B0809050000020004" pitchFamily="49" charset="0"/>
                <a:ea typeface="Fira Code" panose="020B0809050000020004" pitchFamily="49" charset="0"/>
              </a:rPr>
              <a:t>&gt;                         &lt;</a:t>
            </a:r>
            <a:r>
              <a:rPr lang="en-US" dirty="0" err="1">
                <a:latin typeface="Fira Code" panose="020B0809050000020004" pitchFamily="49" charset="0"/>
                <a:ea typeface="Fira Code" panose="020B0809050000020004" pitchFamily="49" charset="0"/>
              </a:rPr>
              <a:t>dbl</a:t>
            </a:r>
            <a:r>
              <a:rPr lang="en-US" dirty="0">
                <a:latin typeface="Fira Code" panose="020B0809050000020004" pitchFamily="49" charset="0"/>
                <a:ea typeface="Fira Code" panose="020B0809050000020004" pitchFamily="49" charset="0"/>
              </a:rPr>
              <a:t>&gt;</a:t>
            </a:r>
          </a:p>
          <a:p>
            <a:r>
              <a:rPr lang="en-US" dirty="0">
                <a:latin typeface="Fira Code" panose="020B0809050000020004" pitchFamily="49" charset="0"/>
                <a:ea typeface="Fira Code" panose="020B0809050000020004" pitchFamily="49" charset="0"/>
              </a:rPr>
              <a:t>1 2020-09-28 </a:t>
            </a:r>
            <a:r>
              <a:rPr lang="en-US" dirty="0" err="1">
                <a:latin typeface="Fira Code" panose="020B0809050000020004" pitchFamily="49" charset="0"/>
                <a:ea typeface="Fira Code" panose="020B0809050000020004" pitchFamily="49" charset="0"/>
              </a:rPr>
              <a:t>Toename</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ontslag</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ziekenhuis</a:t>
            </a:r>
            <a:r>
              <a:rPr lang="en-US" dirty="0">
                <a:latin typeface="Fira Code" panose="020B0809050000020004" pitchFamily="49" charset="0"/>
                <a:ea typeface="Fira Code" panose="020B0809050000020004" pitchFamily="49" charset="0"/>
              </a:rPr>
              <a:t>)      0</a:t>
            </a:r>
          </a:p>
          <a:p>
            <a:r>
              <a:rPr lang="en-US" dirty="0">
                <a:latin typeface="Fira Code" panose="020B0809050000020004" pitchFamily="49" charset="0"/>
                <a:ea typeface="Fira Code" panose="020B0809050000020004" pitchFamily="49" charset="0"/>
              </a:rPr>
              <a:t>2 2020-09-28 </a:t>
            </a:r>
            <a:r>
              <a:rPr lang="en-US" dirty="0" err="1">
                <a:latin typeface="Fira Code" panose="020B0809050000020004" pitchFamily="49" charset="0"/>
                <a:ea typeface="Fira Code" panose="020B0809050000020004" pitchFamily="49" charset="0"/>
              </a:rPr>
              <a:t>Totaal</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opnamen</a:t>
            </a:r>
            <a:r>
              <a:rPr lang="en-US" dirty="0">
                <a:latin typeface="Fira Code" panose="020B0809050000020004" pitchFamily="49" charset="0"/>
                <a:ea typeface="Fira Code" panose="020B0809050000020004" pitchFamily="49" charset="0"/>
              </a:rPr>
              <a:t> (IC)             144</a:t>
            </a:r>
          </a:p>
          <a:p>
            <a:r>
              <a:rPr lang="en-US" dirty="0">
                <a:latin typeface="Fira Code" panose="020B0809050000020004" pitchFamily="49" charset="0"/>
                <a:ea typeface="Fira Code" panose="020B0809050000020004" pitchFamily="49" charset="0"/>
              </a:rPr>
              <a:t>3 2020-09-28 </a:t>
            </a:r>
            <a:r>
              <a:rPr lang="en-US" dirty="0" err="1">
                <a:latin typeface="Fira Code" panose="020B0809050000020004" pitchFamily="49" charset="0"/>
                <a:ea typeface="Fira Code" panose="020B0809050000020004" pitchFamily="49" charset="0"/>
              </a:rPr>
              <a:t>Toename</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opnamen</a:t>
            </a:r>
            <a:r>
              <a:rPr lang="en-US" dirty="0">
                <a:latin typeface="Fira Code" panose="020B0809050000020004" pitchFamily="49" charset="0"/>
                <a:ea typeface="Fira Code" panose="020B0809050000020004" pitchFamily="49" charset="0"/>
              </a:rPr>
              <a:t> (IC)              7</a:t>
            </a:r>
          </a:p>
          <a:p>
            <a:r>
              <a:rPr lang="en-US" dirty="0">
                <a:latin typeface="Fira Code" panose="020B0809050000020004" pitchFamily="49" charset="0"/>
                <a:ea typeface="Fira Code" panose="020B0809050000020004" pitchFamily="49" charset="0"/>
              </a:rPr>
              <a:t>4 2020-09-28 </a:t>
            </a:r>
            <a:r>
              <a:rPr lang="en-US" dirty="0" err="1">
                <a:latin typeface="Fira Code" panose="020B0809050000020004" pitchFamily="49" charset="0"/>
                <a:ea typeface="Fira Code" panose="020B0809050000020004" pitchFamily="49" charset="0"/>
              </a:rPr>
              <a:t>Totaal</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ontslag</a:t>
            </a:r>
            <a:r>
              <a:rPr lang="en-US" dirty="0">
                <a:latin typeface="Fira Code" panose="020B0809050000020004" pitchFamily="49" charset="0"/>
                <a:ea typeface="Fira Code" panose="020B0809050000020004" pitchFamily="49" charset="0"/>
              </a:rPr>
              <a:t> (IC)              56</a:t>
            </a:r>
          </a:p>
          <a:p>
            <a:r>
              <a:rPr lang="en-US" dirty="0">
                <a:latin typeface="Fira Code" panose="020B0809050000020004" pitchFamily="49" charset="0"/>
                <a:ea typeface="Fira Code" panose="020B0809050000020004" pitchFamily="49" charset="0"/>
              </a:rPr>
              <a:t>5 2020-09-28 </a:t>
            </a:r>
            <a:r>
              <a:rPr lang="en-US" dirty="0" err="1">
                <a:latin typeface="Fira Code" panose="020B0809050000020004" pitchFamily="49" charset="0"/>
                <a:ea typeface="Fira Code" panose="020B0809050000020004" pitchFamily="49" charset="0"/>
              </a:rPr>
              <a:t>Cumulatief</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opnamen</a:t>
            </a:r>
            <a:r>
              <a:rPr lang="en-US" dirty="0">
                <a:latin typeface="Fira Code" panose="020B0809050000020004" pitchFamily="49" charset="0"/>
                <a:ea typeface="Fira Code" panose="020B0809050000020004" pitchFamily="49" charset="0"/>
              </a:rPr>
              <a:t> (IC)        3261</a:t>
            </a:r>
          </a:p>
          <a:p>
            <a:r>
              <a:rPr lang="en-US" dirty="0">
                <a:latin typeface="Fira Code" panose="020B0809050000020004" pitchFamily="49" charset="0"/>
                <a:ea typeface="Fira Code" panose="020B0809050000020004" pitchFamily="49" charset="0"/>
              </a:rPr>
              <a:t>6 2020-09-28 </a:t>
            </a:r>
            <a:r>
              <a:rPr lang="en-US" dirty="0" err="1">
                <a:latin typeface="Fira Code" panose="020B0809050000020004" pitchFamily="49" charset="0"/>
                <a:ea typeface="Fira Code" panose="020B0809050000020004" pitchFamily="49" charset="0"/>
              </a:rPr>
              <a:t>Toename</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ontslag</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overleden</a:t>
            </a:r>
            <a:r>
              <a:rPr lang="en-US" dirty="0">
                <a:latin typeface="Fira Code" panose="020B0809050000020004" pitchFamily="49" charset="0"/>
                <a:ea typeface="Fira Code" panose="020B0809050000020004" pitchFamily="49" charset="0"/>
              </a:rPr>
              <a:t>)       0</a:t>
            </a:r>
          </a:p>
        </p:txBody>
      </p:sp>
    </p:spTree>
    <p:extLst>
      <p:ext uri="{BB962C8B-B14F-4D97-AF65-F5344CB8AC3E}">
        <p14:creationId xmlns:p14="http://schemas.microsoft.com/office/powerpoint/2010/main" val="46922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5541-A426-554F-9F74-032C2775A9FE}"/>
              </a:ext>
            </a:extLst>
          </p:cNvPr>
          <p:cNvSpPr>
            <a:spLocks noGrp="1"/>
          </p:cNvSpPr>
          <p:nvPr>
            <p:ph type="title"/>
          </p:nvPr>
        </p:nvSpPr>
        <p:spPr>
          <a:xfrm>
            <a:off x="609480" y="541301"/>
            <a:ext cx="10972440" cy="609398"/>
          </a:xfrm>
        </p:spPr>
        <p:txBody>
          <a:bodyPr/>
          <a:lstStyle/>
          <a:p>
            <a:r>
              <a:rPr lang="en-US" dirty="0"/>
              <a:t>Look at top and bottom</a:t>
            </a:r>
          </a:p>
        </p:txBody>
      </p:sp>
      <p:sp>
        <p:nvSpPr>
          <p:cNvPr id="4" name="Rectangle 3">
            <a:extLst>
              <a:ext uri="{FF2B5EF4-FFF2-40B4-BE49-F238E27FC236}">
                <a16:creationId xmlns:a16="http://schemas.microsoft.com/office/drawing/2014/main" id="{D127FBA4-6E2F-4F4B-8764-12E9E9035CE8}"/>
              </a:ext>
            </a:extLst>
          </p:cNvPr>
          <p:cNvSpPr/>
          <p:nvPr/>
        </p:nvSpPr>
        <p:spPr>
          <a:xfrm>
            <a:off x="609480" y="1997839"/>
            <a:ext cx="10972440" cy="2862322"/>
          </a:xfrm>
          <a:prstGeom prst="rect">
            <a:avLst/>
          </a:prstGeom>
        </p:spPr>
        <p:txBody>
          <a:bodyPr wrap="square">
            <a:spAutoFit/>
          </a:bodyPr>
          <a:lstStyle/>
          <a:p>
            <a:r>
              <a:rPr lang="en-US" dirty="0">
                <a:latin typeface="Fira Code" panose="020B0809050000020004" pitchFamily="49" charset="0"/>
                <a:ea typeface="Fira Code" panose="020B0809050000020004" pitchFamily="49" charset="0"/>
              </a:rPr>
              <a:t>&gt; </a:t>
            </a:r>
            <a:r>
              <a:rPr lang="en-US" dirty="0" err="1">
                <a:latin typeface="Fira Code" panose="020B0809050000020004" pitchFamily="49" charset="0"/>
                <a:ea typeface="Fira Code" panose="020B0809050000020004" pitchFamily="49" charset="0"/>
              </a:rPr>
              <a:t>icu</a:t>
            </a:r>
            <a:r>
              <a:rPr lang="en-US" dirty="0">
                <a:latin typeface="Fira Code" panose="020B0809050000020004" pitchFamily="49" charset="0"/>
                <a:ea typeface="Fira Code" panose="020B0809050000020004" pitchFamily="49" charset="0"/>
              </a:rPr>
              <a:t> %&gt;% head</a:t>
            </a:r>
          </a:p>
          <a:p>
            <a:r>
              <a:rPr lang="en-US" dirty="0">
                <a:latin typeface="Fira Code" panose="020B0809050000020004" pitchFamily="49" charset="0"/>
                <a:ea typeface="Fira Code" panose="020B0809050000020004" pitchFamily="49" charset="0"/>
              </a:rPr>
              <a:t># A </a:t>
            </a:r>
            <a:r>
              <a:rPr lang="en-US" dirty="0" err="1">
                <a:latin typeface="Fira Code" panose="020B0809050000020004" pitchFamily="49" charset="0"/>
                <a:ea typeface="Fira Code" panose="020B0809050000020004" pitchFamily="49" charset="0"/>
              </a:rPr>
              <a:t>tibble</a:t>
            </a:r>
            <a:r>
              <a:rPr lang="en-US" dirty="0">
                <a:latin typeface="Fira Code" panose="020B0809050000020004" pitchFamily="49" charset="0"/>
                <a:ea typeface="Fira Code" panose="020B0809050000020004" pitchFamily="49" charset="0"/>
              </a:rPr>
              <a:t>: 6 x 3</a:t>
            </a:r>
          </a:p>
          <a:p>
            <a:r>
              <a:rPr lang="en-US" dirty="0">
                <a:latin typeface="Fira Code" panose="020B0809050000020004" pitchFamily="49" charset="0"/>
                <a:ea typeface="Fira Code" panose="020B0809050000020004" pitchFamily="49" charset="0"/>
              </a:rPr>
              <a:t>  Datum      Type                            </a:t>
            </a:r>
            <a:r>
              <a:rPr lang="en-US" dirty="0" err="1">
                <a:latin typeface="Fira Code" panose="020B0809050000020004" pitchFamily="49" charset="0"/>
                <a:ea typeface="Fira Code" panose="020B0809050000020004" pitchFamily="49" charset="0"/>
              </a:rPr>
              <a:t>Aantal</a:t>
            </a:r>
            <a:endParaRPr lang="en-US" dirty="0">
              <a:latin typeface="Fira Code" panose="020B0809050000020004" pitchFamily="49" charset="0"/>
              <a:ea typeface="Fira Code" panose="020B0809050000020004" pitchFamily="49" charset="0"/>
            </a:endParaRPr>
          </a:p>
          <a:p>
            <a:r>
              <a:rPr lang="en-US" dirty="0">
                <a:latin typeface="Fira Code" panose="020B0809050000020004" pitchFamily="49" charset="0"/>
                <a:ea typeface="Fira Code" panose="020B0809050000020004" pitchFamily="49" charset="0"/>
              </a:rPr>
              <a:t>  &lt;date&gt;     &lt;</a:t>
            </a:r>
            <a:r>
              <a:rPr lang="en-US" dirty="0" err="1">
                <a:latin typeface="Fira Code" panose="020B0809050000020004" pitchFamily="49" charset="0"/>
                <a:ea typeface="Fira Code" panose="020B0809050000020004" pitchFamily="49" charset="0"/>
              </a:rPr>
              <a:t>chr</a:t>
            </a:r>
            <a:r>
              <a:rPr lang="en-US" dirty="0">
                <a:latin typeface="Fira Code" panose="020B0809050000020004" pitchFamily="49" charset="0"/>
                <a:ea typeface="Fira Code" panose="020B0809050000020004" pitchFamily="49" charset="0"/>
              </a:rPr>
              <a:t>&gt;                            &lt;</a:t>
            </a:r>
            <a:r>
              <a:rPr lang="en-US" dirty="0" err="1">
                <a:latin typeface="Fira Code" panose="020B0809050000020004" pitchFamily="49" charset="0"/>
                <a:ea typeface="Fira Code" panose="020B0809050000020004" pitchFamily="49" charset="0"/>
              </a:rPr>
              <a:t>dbl</a:t>
            </a:r>
            <a:r>
              <a:rPr lang="en-US" dirty="0">
                <a:latin typeface="Fira Code" panose="020B0809050000020004" pitchFamily="49" charset="0"/>
                <a:ea typeface="Fira Code" panose="020B0809050000020004" pitchFamily="49" charset="0"/>
              </a:rPr>
              <a:t>&gt;</a:t>
            </a:r>
          </a:p>
          <a:p>
            <a:r>
              <a:rPr lang="en-US" dirty="0">
                <a:latin typeface="Fira Code" panose="020B0809050000020004" pitchFamily="49" charset="0"/>
                <a:ea typeface="Fira Code" panose="020B0809050000020004" pitchFamily="49" charset="0"/>
              </a:rPr>
              <a:t>1 2020-02-27 </a:t>
            </a:r>
            <a:r>
              <a:rPr lang="en-US" dirty="0" err="1">
                <a:latin typeface="Fira Code" panose="020B0809050000020004" pitchFamily="49" charset="0"/>
                <a:ea typeface="Fira Code" panose="020B0809050000020004" pitchFamily="49" charset="0"/>
              </a:rPr>
              <a:t>Totaal</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ingezette</a:t>
            </a:r>
            <a:r>
              <a:rPr lang="en-US" dirty="0">
                <a:latin typeface="Fira Code" panose="020B0809050000020004" pitchFamily="49" charset="0"/>
                <a:ea typeface="Fira Code" panose="020B0809050000020004" pitchFamily="49" charset="0"/>
              </a:rPr>
              <a:t> IC's                5</a:t>
            </a:r>
          </a:p>
          <a:p>
            <a:r>
              <a:rPr lang="en-US" dirty="0">
                <a:latin typeface="Fira Code" panose="020B0809050000020004" pitchFamily="49" charset="0"/>
                <a:ea typeface="Fira Code" panose="020B0809050000020004" pitchFamily="49" charset="0"/>
              </a:rPr>
              <a:t>2 2020-02-27 </a:t>
            </a:r>
            <a:r>
              <a:rPr lang="en-US" dirty="0" err="1">
                <a:latin typeface="Fira Code" panose="020B0809050000020004" pitchFamily="49" charset="0"/>
                <a:ea typeface="Fira Code" panose="020B0809050000020004" pitchFamily="49" charset="0"/>
              </a:rPr>
              <a:t>Cumulatief</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opnamen</a:t>
            </a:r>
            <a:r>
              <a:rPr lang="en-US" dirty="0">
                <a:latin typeface="Fira Code" panose="020B0809050000020004" pitchFamily="49" charset="0"/>
                <a:ea typeface="Fira Code" panose="020B0809050000020004" pitchFamily="49" charset="0"/>
              </a:rPr>
              <a:t> (IC)              7</a:t>
            </a:r>
          </a:p>
          <a:p>
            <a:r>
              <a:rPr lang="en-US" dirty="0">
                <a:latin typeface="Fira Code" panose="020B0809050000020004" pitchFamily="49" charset="0"/>
                <a:ea typeface="Fira Code" panose="020B0809050000020004" pitchFamily="49" charset="0"/>
              </a:rPr>
              <a:t>3 2020-02-27 </a:t>
            </a:r>
            <a:r>
              <a:rPr lang="en-US" dirty="0" err="1">
                <a:latin typeface="Fira Code" panose="020B0809050000020004" pitchFamily="49" charset="0"/>
                <a:ea typeface="Fira Code" panose="020B0809050000020004" pitchFamily="49" charset="0"/>
              </a:rPr>
              <a:t>Totaal</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ontslag</a:t>
            </a:r>
            <a:r>
              <a:rPr lang="en-US" dirty="0">
                <a:latin typeface="Fira Code" panose="020B0809050000020004" pitchFamily="49" charset="0"/>
                <a:ea typeface="Fira Code" panose="020B0809050000020004" pitchFamily="49" charset="0"/>
              </a:rPr>
              <a:t> (IC)                  0</a:t>
            </a:r>
          </a:p>
          <a:p>
            <a:r>
              <a:rPr lang="en-US" dirty="0">
                <a:latin typeface="Fira Code" panose="020B0809050000020004" pitchFamily="49" charset="0"/>
                <a:ea typeface="Fira Code" panose="020B0809050000020004" pitchFamily="49" charset="0"/>
              </a:rPr>
              <a:t>4 2020-02-27 </a:t>
            </a:r>
            <a:r>
              <a:rPr lang="en-US" dirty="0" err="1">
                <a:latin typeface="Fira Code" panose="020B0809050000020004" pitchFamily="49" charset="0"/>
                <a:ea typeface="Fira Code" panose="020B0809050000020004" pitchFamily="49" charset="0"/>
              </a:rPr>
              <a:t>Cumulatief</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ontslag</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ziekenhuis</a:t>
            </a:r>
            <a:r>
              <a:rPr lang="en-US" dirty="0">
                <a:latin typeface="Fira Code" panose="020B0809050000020004" pitchFamily="49" charset="0"/>
                <a:ea typeface="Fira Code" panose="020B0809050000020004" pitchFamily="49" charset="0"/>
              </a:rPr>
              <a:t>)      0</a:t>
            </a:r>
          </a:p>
          <a:p>
            <a:r>
              <a:rPr lang="en-US" dirty="0">
                <a:latin typeface="Fira Code" panose="020B0809050000020004" pitchFamily="49" charset="0"/>
                <a:ea typeface="Fira Code" panose="020B0809050000020004" pitchFamily="49" charset="0"/>
              </a:rPr>
              <a:t>5 2020-02-27 </a:t>
            </a:r>
            <a:r>
              <a:rPr lang="en-US" dirty="0" err="1">
                <a:latin typeface="Fira Code" panose="020B0809050000020004" pitchFamily="49" charset="0"/>
                <a:ea typeface="Fira Code" panose="020B0809050000020004" pitchFamily="49" charset="0"/>
              </a:rPr>
              <a:t>Cumulatief</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ontslag</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overleden</a:t>
            </a:r>
            <a:r>
              <a:rPr lang="en-US" dirty="0">
                <a:latin typeface="Fira Code" panose="020B0809050000020004" pitchFamily="49" charset="0"/>
                <a:ea typeface="Fira Code" panose="020B0809050000020004" pitchFamily="49" charset="0"/>
              </a:rPr>
              <a:t>)       0</a:t>
            </a:r>
          </a:p>
          <a:p>
            <a:r>
              <a:rPr lang="en-US" dirty="0">
                <a:latin typeface="Fira Code" panose="020B0809050000020004" pitchFamily="49" charset="0"/>
                <a:ea typeface="Fira Code" panose="020B0809050000020004" pitchFamily="49" charset="0"/>
              </a:rPr>
              <a:t>6 2020-02-27 </a:t>
            </a:r>
            <a:r>
              <a:rPr lang="en-US" dirty="0" err="1">
                <a:latin typeface="Fira Code" panose="020B0809050000020004" pitchFamily="49" charset="0"/>
                <a:ea typeface="Fira Code" panose="020B0809050000020004" pitchFamily="49" charset="0"/>
              </a:rPr>
              <a:t>Toename</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ontslag</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overleden</a:t>
            </a:r>
            <a:r>
              <a:rPr lang="en-US" dirty="0">
                <a:latin typeface="Fira Code" panose="020B0809050000020004" pitchFamily="49" charset="0"/>
                <a:ea typeface="Fira Code" panose="020B0809050000020004" pitchFamily="49" charset="0"/>
              </a:rPr>
              <a:t>)          0</a:t>
            </a:r>
          </a:p>
        </p:txBody>
      </p:sp>
    </p:spTree>
    <p:extLst>
      <p:ext uri="{BB962C8B-B14F-4D97-AF65-F5344CB8AC3E}">
        <p14:creationId xmlns:p14="http://schemas.microsoft.com/office/powerpoint/2010/main" val="2202782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1A6C46-11FC-7D42-9B98-6A8F712A9ECD}"/>
              </a:ext>
            </a:extLst>
          </p:cNvPr>
          <p:cNvPicPr>
            <a:picLocks noChangeAspect="1"/>
          </p:cNvPicPr>
          <p:nvPr/>
        </p:nvPicPr>
        <p:blipFill>
          <a:blip r:embed="rId2"/>
          <a:stretch>
            <a:fillRect/>
          </a:stretch>
        </p:blipFill>
        <p:spPr>
          <a:xfrm>
            <a:off x="0" y="1041908"/>
            <a:ext cx="11239500" cy="6108700"/>
          </a:xfrm>
          <a:prstGeom prst="rect">
            <a:avLst/>
          </a:prstGeom>
        </p:spPr>
      </p:pic>
      <p:sp>
        <p:nvSpPr>
          <p:cNvPr id="2" name="Title 1">
            <a:extLst>
              <a:ext uri="{FF2B5EF4-FFF2-40B4-BE49-F238E27FC236}">
                <a16:creationId xmlns:a16="http://schemas.microsoft.com/office/drawing/2014/main" id="{1E685EAC-574F-B94C-8912-79821139512E}"/>
              </a:ext>
            </a:extLst>
          </p:cNvPr>
          <p:cNvSpPr>
            <a:spLocks noGrp="1"/>
          </p:cNvSpPr>
          <p:nvPr>
            <p:ph type="title"/>
          </p:nvPr>
        </p:nvSpPr>
        <p:spPr>
          <a:xfrm>
            <a:off x="609480" y="541301"/>
            <a:ext cx="10972440" cy="609398"/>
          </a:xfrm>
        </p:spPr>
        <p:txBody>
          <a:bodyPr/>
          <a:lstStyle/>
          <a:p>
            <a:r>
              <a:rPr lang="en-US" dirty="0"/>
              <a:t>Validate with external source</a:t>
            </a:r>
          </a:p>
        </p:txBody>
      </p:sp>
    </p:spTree>
    <p:extLst>
      <p:ext uri="{BB962C8B-B14F-4D97-AF65-F5344CB8AC3E}">
        <p14:creationId xmlns:p14="http://schemas.microsoft.com/office/powerpoint/2010/main" val="2015828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5541-A426-554F-9F74-032C2775A9FE}"/>
              </a:ext>
            </a:extLst>
          </p:cNvPr>
          <p:cNvSpPr>
            <a:spLocks noGrp="1"/>
          </p:cNvSpPr>
          <p:nvPr>
            <p:ph type="title"/>
          </p:nvPr>
        </p:nvSpPr>
        <p:spPr>
          <a:xfrm>
            <a:off x="609480" y="541301"/>
            <a:ext cx="10972440" cy="609398"/>
          </a:xfrm>
        </p:spPr>
        <p:txBody>
          <a:bodyPr/>
          <a:lstStyle/>
          <a:p>
            <a:r>
              <a:rPr lang="en-US" dirty="0"/>
              <a:t>Check n’s</a:t>
            </a:r>
          </a:p>
        </p:txBody>
      </p:sp>
      <p:sp>
        <p:nvSpPr>
          <p:cNvPr id="4" name="Rectangle 3">
            <a:extLst>
              <a:ext uri="{FF2B5EF4-FFF2-40B4-BE49-F238E27FC236}">
                <a16:creationId xmlns:a16="http://schemas.microsoft.com/office/drawing/2014/main" id="{D127FBA4-6E2F-4F4B-8764-12E9E9035CE8}"/>
              </a:ext>
            </a:extLst>
          </p:cNvPr>
          <p:cNvSpPr/>
          <p:nvPr/>
        </p:nvSpPr>
        <p:spPr>
          <a:xfrm>
            <a:off x="609480" y="1997839"/>
            <a:ext cx="10972440" cy="3970318"/>
          </a:xfrm>
          <a:prstGeom prst="rect">
            <a:avLst/>
          </a:prstGeom>
        </p:spPr>
        <p:txBody>
          <a:bodyPr wrap="square">
            <a:spAutoFit/>
          </a:bodyPr>
          <a:lstStyle/>
          <a:p>
            <a:r>
              <a:rPr lang="en-US" dirty="0">
                <a:latin typeface="Fira Code" panose="020B0809050000020004" pitchFamily="49" charset="0"/>
                <a:ea typeface="Fira Code" panose="020B0809050000020004" pitchFamily="49" charset="0"/>
              </a:rPr>
              <a:t>&gt; </a:t>
            </a:r>
            <a:r>
              <a:rPr lang="en-US" dirty="0" err="1">
                <a:latin typeface="Fira Code" panose="020B0809050000020004" pitchFamily="49" charset="0"/>
                <a:ea typeface="Fira Code" panose="020B0809050000020004" pitchFamily="49" charset="0"/>
              </a:rPr>
              <a:t>icu</a:t>
            </a:r>
            <a:r>
              <a:rPr lang="en-US" dirty="0">
                <a:latin typeface="Fira Code" panose="020B0809050000020004" pitchFamily="49" charset="0"/>
                <a:ea typeface="Fira Code" panose="020B0809050000020004" pitchFamily="49" charset="0"/>
              </a:rPr>
              <a:t> %&gt;% </a:t>
            </a:r>
            <a:r>
              <a:rPr lang="en-US" dirty="0" err="1">
                <a:latin typeface="Fira Code" panose="020B0809050000020004" pitchFamily="49" charset="0"/>
                <a:ea typeface="Fira Code" panose="020B0809050000020004" pitchFamily="49" charset="0"/>
              </a:rPr>
              <a:t>group_by</a:t>
            </a:r>
            <a:r>
              <a:rPr lang="en-US" dirty="0">
                <a:latin typeface="Fira Code" panose="020B0809050000020004" pitchFamily="49" charset="0"/>
                <a:ea typeface="Fira Code" panose="020B0809050000020004" pitchFamily="49" charset="0"/>
              </a:rPr>
              <a:t>(Type) %&gt;% summarize(n())</a:t>
            </a:r>
          </a:p>
          <a:p>
            <a:endParaRPr lang="en-US" dirty="0">
              <a:latin typeface="Fira Code" panose="020B0809050000020004" pitchFamily="49" charset="0"/>
              <a:ea typeface="Fira Code" panose="020B0809050000020004" pitchFamily="49" charset="0"/>
            </a:endParaRPr>
          </a:p>
          <a:p>
            <a:r>
              <a:rPr lang="en-US" dirty="0">
                <a:latin typeface="Fira Code" panose="020B0809050000020004" pitchFamily="49" charset="0"/>
                <a:ea typeface="Fira Code" panose="020B0809050000020004" pitchFamily="49" charset="0"/>
              </a:rPr>
              <a:t># A </a:t>
            </a:r>
            <a:r>
              <a:rPr lang="en-US" dirty="0" err="1">
                <a:latin typeface="Fira Code" panose="020B0809050000020004" pitchFamily="49" charset="0"/>
                <a:ea typeface="Fira Code" panose="020B0809050000020004" pitchFamily="49" charset="0"/>
              </a:rPr>
              <a:t>tibble</a:t>
            </a:r>
            <a:r>
              <a:rPr lang="en-US" dirty="0">
                <a:latin typeface="Fira Code" panose="020B0809050000020004" pitchFamily="49" charset="0"/>
                <a:ea typeface="Fira Code" panose="020B0809050000020004" pitchFamily="49" charset="0"/>
              </a:rPr>
              <a:t>: 9 x 2</a:t>
            </a:r>
          </a:p>
          <a:p>
            <a:r>
              <a:rPr lang="en-US" dirty="0">
                <a:latin typeface="Fira Code" panose="020B0809050000020004" pitchFamily="49" charset="0"/>
                <a:ea typeface="Fira Code" panose="020B0809050000020004" pitchFamily="49" charset="0"/>
              </a:rPr>
              <a:t>  Type                            `n()`</a:t>
            </a:r>
          </a:p>
          <a:p>
            <a:r>
              <a:rPr lang="en-US" dirty="0">
                <a:latin typeface="Fira Code" panose="020B0809050000020004" pitchFamily="49" charset="0"/>
                <a:ea typeface="Fira Code" panose="020B0809050000020004" pitchFamily="49" charset="0"/>
              </a:rPr>
              <a:t>  &lt;</a:t>
            </a:r>
            <a:r>
              <a:rPr lang="en-US" dirty="0" err="1">
                <a:latin typeface="Fira Code" panose="020B0809050000020004" pitchFamily="49" charset="0"/>
                <a:ea typeface="Fira Code" panose="020B0809050000020004" pitchFamily="49" charset="0"/>
              </a:rPr>
              <a:t>chr</a:t>
            </a:r>
            <a:r>
              <a:rPr lang="en-US" dirty="0">
                <a:latin typeface="Fira Code" panose="020B0809050000020004" pitchFamily="49" charset="0"/>
                <a:ea typeface="Fira Code" panose="020B0809050000020004" pitchFamily="49" charset="0"/>
              </a:rPr>
              <a:t>&gt;                           &lt;int&gt;</a:t>
            </a:r>
          </a:p>
          <a:p>
            <a:r>
              <a:rPr lang="en-US" dirty="0">
                <a:latin typeface="Fira Code" panose="020B0809050000020004" pitchFamily="49" charset="0"/>
                <a:ea typeface="Fira Code" panose="020B0809050000020004" pitchFamily="49" charset="0"/>
              </a:rPr>
              <a:t>1 </a:t>
            </a:r>
            <a:r>
              <a:rPr lang="en-US" dirty="0" err="1">
                <a:latin typeface="Fira Code" panose="020B0809050000020004" pitchFamily="49" charset="0"/>
                <a:ea typeface="Fira Code" panose="020B0809050000020004" pitchFamily="49" charset="0"/>
              </a:rPr>
              <a:t>Cumulatief</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ontslag</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overleden</a:t>
            </a:r>
            <a:r>
              <a:rPr lang="en-US" dirty="0">
                <a:latin typeface="Fira Code" panose="020B0809050000020004" pitchFamily="49" charset="0"/>
                <a:ea typeface="Fira Code" panose="020B0809050000020004" pitchFamily="49" charset="0"/>
              </a:rPr>
              <a:t>)    215</a:t>
            </a:r>
          </a:p>
          <a:p>
            <a:r>
              <a:rPr lang="en-US" dirty="0">
                <a:latin typeface="Fira Code" panose="020B0809050000020004" pitchFamily="49" charset="0"/>
                <a:ea typeface="Fira Code" panose="020B0809050000020004" pitchFamily="49" charset="0"/>
              </a:rPr>
              <a:t>2 </a:t>
            </a:r>
            <a:r>
              <a:rPr lang="en-US" dirty="0" err="1">
                <a:latin typeface="Fira Code" panose="020B0809050000020004" pitchFamily="49" charset="0"/>
                <a:ea typeface="Fira Code" panose="020B0809050000020004" pitchFamily="49" charset="0"/>
              </a:rPr>
              <a:t>Cumulatief</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ontslag</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ziekenhuis</a:t>
            </a:r>
            <a:r>
              <a:rPr lang="en-US" dirty="0">
                <a:latin typeface="Fira Code" panose="020B0809050000020004" pitchFamily="49" charset="0"/>
                <a:ea typeface="Fira Code" panose="020B0809050000020004" pitchFamily="49" charset="0"/>
              </a:rPr>
              <a:t>)   215</a:t>
            </a:r>
          </a:p>
          <a:p>
            <a:r>
              <a:rPr lang="en-US" dirty="0">
                <a:latin typeface="Fira Code" panose="020B0809050000020004" pitchFamily="49" charset="0"/>
                <a:ea typeface="Fira Code" panose="020B0809050000020004" pitchFamily="49" charset="0"/>
              </a:rPr>
              <a:t>3 </a:t>
            </a:r>
            <a:r>
              <a:rPr lang="en-US" dirty="0" err="1">
                <a:latin typeface="Fira Code" panose="020B0809050000020004" pitchFamily="49" charset="0"/>
                <a:ea typeface="Fira Code" panose="020B0809050000020004" pitchFamily="49" charset="0"/>
              </a:rPr>
              <a:t>Cumulatief</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opnamen</a:t>
            </a:r>
            <a:r>
              <a:rPr lang="en-US" dirty="0">
                <a:latin typeface="Fira Code" panose="020B0809050000020004" pitchFamily="49" charset="0"/>
                <a:ea typeface="Fira Code" panose="020B0809050000020004" pitchFamily="49" charset="0"/>
              </a:rPr>
              <a:t> (IC)           215</a:t>
            </a:r>
          </a:p>
          <a:p>
            <a:r>
              <a:rPr lang="en-US" dirty="0">
                <a:latin typeface="Fira Code" panose="020B0809050000020004" pitchFamily="49" charset="0"/>
                <a:ea typeface="Fira Code" panose="020B0809050000020004" pitchFamily="49" charset="0"/>
              </a:rPr>
              <a:t>4 </a:t>
            </a:r>
            <a:r>
              <a:rPr lang="en-US" dirty="0" err="1">
                <a:latin typeface="Fira Code" panose="020B0809050000020004" pitchFamily="49" charset="0"/>
                <a:ea typeface="Fira Code" panose="020B0809050000020004" pitchFamily="49" charset="0"/>
              </a:rPr>
              <a:t>Toename</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ontslag</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overleden</a:t>
            </a:r>
            <a:r>
              <a:rPr lang="en-US" dirty="0">
                <a:latin typeface="Fira Code" panose="020B0809050000020004" pitchFamily="49" charset="0"/>
                <a:ea typeface="Fira Code" panose="020B0809050000020004" pitchFamily="49" charset="0"/>
              </a:rPr>
              <a:t>)       215</a:t>
            </a:r>
          </a:p>
          <a:p>
            <a:r>
              <a:rPr lang="en-US" dirty="0">
                <a:latin typeface="Fira Code" panose="020B0809050000020004" pitchFamily="49" charset="0"/>
                <a:ea typeface="Fira Code" panose="020B0809050000020004" pitchFamily="49" charset="0"/>
              </a:rPr>
              <a:t>5 </a:t>
            </a:r>
            <a:r>
              <a:rPr lang="en-US" dirty="0" err="1">
                <a:latin typeface="Fira Code" panose="020B0809050000020004" pitchFamily="49" charset="0"/>
                <a:ea typeface="Fira Code" panose="020B0809050000020004" pitchFamily="49" charset="0"/>
              </a:rPr>
              <a:t>Toename</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ontslag</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ziekenhuis</a:t>
            </a:r>
            <a:r>
              <a:rPr lang="en-US" dirty="0">
                <a:latin typeface="Fira Code" panose="020B0809050000020004" pitchFamily="49" charset="0"/>
                <a:ea typeface="Fira Code" panose="020B0809050000020004" pitchFamily="49" charset="0"/>
              </a:rPr>
              <a:t>)      215</a:t>
            </a:r>
          </a:p>
          <a:p>
            <a:r>
              <a:rPr lang="en-US" dirty="0">
                <a:latin typeface="Fira Code" panose="020B0809050000020004" pitchFamily="49" charset="0"/>
                <a:ea typeface="Fira Code" panose="020B0809050000020004" pitchFamily="49" charset="0"/>
              </a:rPr>
              <a:t>6 </a:t>
            </a:r>
            <a:r>
              <a:rPr lang="en-US" dirty="0" err="1">
                <a:latin typeface="Fira Code" panose="020B0809050000020004" pitchFamily="49" charset="0"/>
                <a:ea typeface="Fira Code" panose="020B0809050000020004" pitchFamily="49" charset="0"/>
              </a:rPr>
              <a:t>Toename</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opnamen</a:t>
            </a:r>
            <a:r>
              <a:rPr lang="en-US" dirty="0">
                <a:latin typeface="Fira Code" panose="020B0809050000020004" pitchFamily="49" charset="0"/>
                <a:ea typeface="Fira Code" panose="020B0809050000020004" pitchFamily="49" charset="0"/>
              </a:rPr>
              <a:t> (IC)              215</a:t>
            </a:r>
          </a:p>
          <a:p>
            <a:r>
              <a:rPr lang="en-US" dirty="0">
                <a:latin typeface="Fira Code" panose="020B0809050000020004" pitchFamily="49" charset="0"/>
                <a:ea typeface="Fira Code" panose="020B0809050000020004" pitchFamily="49" charset="0"/>
              </a:rPr>
              <a:t>7 </a:t>
            </a:r>
            <a:r>
              <a:rPr lang="en-US" dirty="0" err="1">
                <a:latin typeface="Fira Code" panose="020B0809050000020004" pitchFamily="49" charset="0"/>
                <a:ea typeface="Fira Code" panose="020B0809050000020004" pitchFamily="49" charset="0"/>
              </a:rPr>
              <a:t>Totaal</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ingezette</a:t>
            </a:r>
            <a:r>
              <a:rPr lang="en-US" dirty="0">
                <a:latin typeface="Fira Code" panose="020B0809050000020004" pitchFamily="49" charset="0"/>
                <a:ea typeface="Fira Code" panose="020B0809050000020004" pitchFamily="49" charset="0"/>
              </a:rPr>
              <a:t> IC's             215</a:t>
            </a:r>
          </a:p>
          <a:p>
            <a:r>
              <a:rPr lang="en-US" dirty="0">
                <a:latin typeface="Fira Code" panose="020B0809050000020004" pitchFamily="49" charset="0"/>
                <a:ea typeface="Fira Code" panose="020B0809050000020004" pitchFamily="49" charset="0"/>
              </a:rPr>
              <a:t>8 </a:t>
            </a:r>
            <a:r>
              <a:rPr lang="en-US" dirty="0" err="1">
                <a:latin typeface="Fira Code" panose="020B0809050000020004" pitchFamily="49" charset="0"/>
                <a:ea typeface="Fira Code" panose="020B0809050000020004" pitchFamily="49" charset="0"/>
              </a:rPr>
              <a:t>Totaal</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ontslag</a:t>
            </a:r>
            <a:r>
              <a:rPr lang="en-US" dirty="0">
                <a:latin typeface="Fira Code" panose="020B0809050000020004" pitchFamily="49" charset="0"/>
                <a:ea typeface="Fira Code" panose="020B0809050000020004" pitchFamily="49" charset="0"/>
              </a:rPr>
              <a:t> (IC)               215</a:t>
            </a:r>
          </a:p>
          <a:p>
            <a:r>
              <a:rPr lang="en-US" dirty="0">
                <a:latin typeface="Fira Code" panose="020B0809050000020004" pitchFamily="49" charset="0"/>
                <a:ea typeface="Fira Code" panose="020B0809050000020004" pitchFamily="49" charset="0"/>
              </a:rPr>
              <a:t>9 </a:t>
            </a:r>
            <a:r>
              <a:rPr lang="en-US" dirty="0" err="1">
                <a:latin typeface="Fira Code" panose="020B0809050000020004" pitchFamily="49" charset="0"/>
                <a:ea typeface="Fira Code" panose="020B0809050000020004" pitchFamily="49" charset="0"/>
              </a:rPr>
              <a:t>Totaal</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opnamen</a:t>
            </a:r>
            <a:r>
              <a:rPr lang="en-US" dirty="0">
                <a:latin typeface="Fira Code" panose="020B0809050000020004" pitchFamily="49" charset="0"/>
                <a:ea typeface="Fira Code" panose="020B0809050000020004" pitchFamily="49" charset="0"/>
              </a:rPr>
              <a:t> (IC)               215</a:t>
            </a:r>
          </a:p>
        </p:txBody>
      </p:sp>
    </p:spTree>
    <p:extLst>
      <p:ext uri="{BB962C8B-B14F-4D97-AF65-F5344CB8AC3E}">
        <p14:creationId xmlns:p14="http://schemas.microsoft.com/office/powerpoint/2010/main" val="3778138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27FBA4-6E2F-4F4B-8764-12E9E9035CE8}"/>
              </a:ext>
            </a:extLst>
          </p:cNvPr>
          <p:cNvSpPr/>
          <p:nvPr/>
        </p:nvSpPr>
        <p:spPr>
          <a:xfrm>
            <a:off x="609480" y="273600"/>
            <a:ext cx="10972440" cy="1477328"/>
          </a:xfrm>
          <a:prstGeom prst="rect">
            <a:avLst/>
          </a:prstGeom>
        </p:spPr>
        <p:txBody>
          <a:bodyPr wrap="square">
            <a:spAutoFit/>
          </a:bodyPr>
          <a:lstStyle/>
          <a:p>
            <a:endParaRPr lang="en-US" dirty="0">
              <a:latin typeface="Fira Code" panose="020B0809050000020004" pitchFamily="49" charset="0"/>
              <a:ea typeface="Fira Code" panose="020B0809050000020004" pitchFamily="49" charset="0"/>
            </a:endParaRPr>
          </a:p>
          <a:p>
            <a:r>
              <a:rPr lang="en-US" dirty="0" err="1">
                <a:latin typeface="Fira Code" panose="020B0809050000020004" pitchFamily="49" charset="0"/>
                <a:ea typeface="Fira Code" panose="020B0809050000020004" pitchFamily="49" charset="0"/>
              </a:rPr>
              <a:t>icu</a:t>
            </a:r>
            <a:r>
              <a:rPr lang="en-US" dirty="0">
                <a:latin typeface="Fira Code" panose="020B0809050000020004" pitchFamily="49" charset="0"/>
                <a:ea typeface="Fira Code" panose="020B0809050000020004" pitchFamily="49" charset="0"/>
              </a:rPr>
              <a:t> %&gt;% </a:t>
            </a:r>
          </a:p>
          <a:p>
            <a:r>
              <a:rPr lang="en-US" dirty="0">
                <a:latin typeface="Fira Code" panose="020B0809050000020004" pitchFamily="49" charset="0"/>
                <a:ea typeface="Fira Code" panose="020B0809050000020004" pitchFamily="49" charset="0"/>
              </a:rPr>
              <a:t>  filter(Type == "</a:t>
            </a:r>
            <a:r>
              <a:rPr lang="en-US" dirty="0" err="1">
                <a:latin typeface="Fira Code" panose="020B0809050000020004" pitchFamily="49" charset="0"/>
                <a:ea typeface="Fira Code" panose="020B0809050000020004" pitchFamily="49" charset="0"/>
              </a:rPr>
              <a:t>Totaal</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opnamen</a:t>
            </a:r>
            <a:r>
              <a:rPr lang="en-US" dirty="0">
                <a:latin typeface="Fira Code" panose="020B0809050000020004" pitchFamily="49" charset="0"/>
                <a:ea typeface="Fira Code" panose="020B0809050000020004" pitchFamily="49" charset="0"/>
              </a:rPr>
              <a:t> (IC)")  %&gt;% </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ggplot</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aes</a:t>
            </a:r>
            <a:r>
              <a:rPr lang="en-US" dirty="0">
                <a:latin typeface="Fira Code" panose="020B0809050000020004" pitchFamily="49" charset="0"/>
                <a:ea typeface="Fira Code" panose="020B0809050000020004" pitchFamily="49" charset="0"/>
              </a:rPr>
              <a:t>(Datum, </a:t>
            </a:r>
            <a:r>
              <a:rPr lang="en-US" dirty="0" err="1">
                <a:latin typeface="Fira Code" panose="020B0809050000020004" pitchFamily="49" charset="0"/>
                <a:ea typeface="Fira Code" panose="020B0809050000020004" pitchFamily="49" charset="0"/>
              </a:rPr>
              <a:t>Aantal</a:t>
            </a:r>
            <a:r>
              <a:rPr lang="en-US" dirty="0">
                <a:latin typeface="Fira Code" panose="020B0809050000020004" pitchFamily="49" charset="0"/>
                <a:ea typeface="Fira Code" panose="020B0809050000020004" pitchFamily="49" charset="0"/>
              </a:rPr>
              <a:t>)) + </a:t>
            </a:r>
            <a:r>
              <a:rPr lang="en-US" dirty="0" err="1">
                <a:latin typeface="Fira Code" panose="020B0809050000020004" pitchFamily="49" charset="0"/>
                <a:ea typeface="Fira Code" panose="020B0809050000020004" pitchFamily="49" charset="0"/>
              </a:rPr>
              <a:t>geom_line</a:t>
            </a:r>
            <a:r>
              <a:rPr lang="en-US" dirty="0">
                <a:latin typeface="Fira Code" panose="020B0809050000020004" pitchFamily="49" charset="0"/>
                <a:ea typeface="Fira Code" panose="020B0809050000020004" pitchFamily="49" charset="0"/>
              </a:rPr>
              <a:t>() +</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theme_fira</a:t>
            </a:r>
            <a:r>
              <a:rPr lang="en-US" dirty="0">
                <a:latin typeface="Fira Code" panose="020B0809050000020004" pitchFamily="49" charset="0"/>
                <a:ea typeface="Fira Code" panose="020B0809050000020004" pitchFamily="49" charset="0"/>
              </a:rPr>
              <a:t>()</a:t>
            </a:r>
          </a:p>
        </p:txBody>
      </p:sp>
      <p:pic>
        <p:nvPicPr>
          <p:cNvPr id="3" name="Picture 2">
            <a:extLst>
              <a:ext uri="{FF2B5EF4-FFF2-40B4-BE49-F238E27FC236}">
                <a16:creationId xmlns:a16="http://schemas.microsoft.com/office/drawing/2014/main" id="{B11AE7DC-3E39-AB41-A0B6-707F884DF8E3}"/>
              </a:ext>
            </a:extLst>
          </p:cNvPr>
          <p:cNvPicPr>
            <a:picLocks noChangeAspect="1"/>
          </p:cNvPicPr>
          <p:nvPr/>
        </p:nvPicPr>
        <p:blipFill>
          <a:blip r:embed="rId2"/>
          <a:stretch>
            <a:fillRect/>
          </a:stretch>
        </p:blipFill>
        <p:spPr>
          <a:xfrm>
            <a:off x="609479" y="1845220"/>
            <a:ext cx="7217785" cy="4527132"/>
          </a:xfrm>
          <a:prstGeom prst="rect">
            <a:avLst/>
          </a:prstGeom>
        </p:spPr>
      </p:pic>
    </p:spTree>
    <p:extLst>
      <p:ext uri="{BB962C8B-B14F-4D97-AF65-F5344CB8AC3E}">
        <p14:creationId xmlns:p14="http://schemas.microsoft.com/office/powerpoint/2010/main" val="10251784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207F2A-9936-D740-8817-DFDA38C17EE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3046702"/>
            <a:ext cx="7859568" cy="3811298"/>
          </a:xfrm>
          <a:prstGeom prst="rect">
            <a:avLst/>
          </a:prstGeom>
        </p:spPr>
      </p:pic>
      <p:sp>
        <p:nvSpPr>
          <p:cNvPr id="2" name="Title 1">
            <a:extLst>
              <a:ext uri="{FF2B5EF4-FFF2-40B4-BE49-F238E27FC236}">
                <a16:creationId xmlns:a16="http://schemas.microsoft.com/office/drawing/2014/main" id="{B1B23F59-5B64-F84E-8CDA-52FFA95606D4}"/>
              </a:ext>
            </a:extLst>
          </p:cNvPr>
          <p:cNvSpPr>
            <a:spLocks noGrp="1"/>
          </p:cNvSpPr>
          <p:nvPr>
            <p:ph type="title"/>
          </p:nvPr>
        </p:nvSpPr>
        <p:spPr>
          <a:xfrm>
            <a:off x="609480" y="541301"/>
            <a:ext cx="10972440" cy="609398"/>
          </a:xfrm>
        </p:spPr>
        <p:txBody>
          <a:bodyPr/>
          <a:lstStyle/>
          <a:p>
            <a:r>
              <a:rPr lang="en-US" dirty="0"/>
              <a:t>Understand what you’re looking at</a:t>
            </a:r>
          </a:p>
        </p:txBody>
      </p:sp>
      <p:sp>
        <p:nvSpPr>
          <p:cNvPr id="3" name="Subtitle 2">
            <a:extLst>
              <a:ext uri="{FF2B5EF4-FFF2-40B4-BE49-F238E27FC236}">
                <a16:creationId xmlns:a16="http://schemas.microsoft.com/office/drawing/2014/main" id="{F26E33A6-74C7-524D-AF61-22823B33AF70}"/>
              </a:ext>
            </a:extLst>
          </p:cNvPr>
          <p:cNvSpPr>
            <a:spLocks noGrp="1"/>
          </p:cNvSpPr>
          <p:nvPr>
            <p:ph type="subTitle"/>
          </p:nvPr>
        </p:nvSpPr>
        <p:spPr>
          <a:xfrm>
            <a:off x="7741920" y="3235100"/>
            <a:ext cx="4449900" cy="387798"/>
          </a:xfrm>
        </p:spPr>
        <p:txBody>
          <a:bodyPr/>
          <a:lstStyle/>
          <a:p>
            <a:pPr marL="0" indent="0">
              <a:buNone/>
            </a:pPr>
            <a:r>
              <a:rPr lang="en-US" dirty="0"/>
              <a:t>(84 ICUs)</a:t>
            </a:r>
          </a:p>
        </p:txBody>
      </p:sp>
      <p:sp>
        <p:nvSpPr>
          <p:cNvPr id="6" name="Rectangle 5">
            <a:extLst>
              <a:ext uri="{FF2B5EF4-FFF2-40B4-BE49-F238E27FC236}">
                <a16:creationId xmlns:a16="http://schemas.microsoft.com/office/drawing/2014/main" id="{B2753D8E-F19A-334F-B1F6-EA8EB082C981}"/>
              </a:ext>
            </a:extLst>
          </p:cNvPr>
          <p:cNvSpPr/>
          <p:nvPr/>
        </p:nvSpPr>
        <p:spPr>
          <a:xfrm>
            <a:off x="7010400" y="3428999"/>
            <a:ext cx="731520" cy="33513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27A7C4F-1137-9543-A78B-2FB86627B107}"/>
                  </a:ext>
                </a:extLst>
              </p:cNvPr>
              <p:cNvSpPr txBox="1"/>
              <p:nvPr/>
            </p:nvSpPr>
            <p:spPr>
              <a:xfrm>
                <a:off x="7741740" y="4057781"/>
                <a:ext cx="4450080" cy="2722605"/>
              </a:xfrm>
              <a:prstGeom prst="rect">
                <a:avLst/>
              </a:prstGeom>
              <a:noFill/>
            </p:spPr>
            <p:txBody>
              <a:bodyPr wrap="square" rtlCol="0">
                <a:spAutoFit/>
              </a:bodyPr>
              <a:lstStyle/>
              <a:p>
                <a:r>
                  <a:rPr lang="en-US" sz="2800" b="1" dirty="0"/>
                  <a:t>Back-of-the-envelope:</a:t>
                </a:r>
              </a:p>
              <a:p>
                <a:endParaRPr lang="en-US" sz="2800" dirty="0"/>
              </a:p>
              <a:p>
                <a:r>
                  <a:rPr lang="en-US" sz="2800" dirty="0"/>
                  <a:t>14</a:t>
                </a:r>
                <a:r>
                  <a:rPr lang="en-IE" sz="2800" dirty="0"/>
                  <a:t>×84 ≈ 1200 beds</a:t>
                </a:r>
              </a:p>
              <a:p>
                <a:endParaRPr lang="en-IE" sz="2800" dirty="0"/>
              </a:p>
              <a:p>
                <a:r>
                  <a:rPr lang="en-IE" sz="2800" dirty="0"/>
                  <a:t>Geometric average:</a:t>
                </a:r>
              </a:p>
              <a:p>
                <a14:m>
                  <m:oMath xmlns:m="http://schemas.openxmlformats.org/officeDocument/2006/math">
                    <m:rad>
                      <m:radPr>
                        <m:degHide m:val="on"/>
                        <m:ctrlPr>
                          <a:rPr lang="en-US" sz="2800" i="1" smtClean="0">
                            <a:latin typeface="Cambria Math" panose="02040503050406030204" pitchFamily="18" charset="0"/>
                          </a:rPr>
                        </m:ctrlPr>
                      </m:radPr>
                      <m:deg/>
                      <m:e>
                        <m:r>
                          <a:rPr lang="en-US" sz="2800" b="0" i="1" smtClean="0">
                            <a:latin typeface="Cambria Math" panose="02040503050406030204" pitchFamily="18" charset="0"/>
                          </a:rPr>
                          <m:t>1</m:t>
                        </m:r>
                        <m:r>
                          <a:rPr lang="en-US" sz="2800" b="0" i="1" smtClean="0">
                            <a:latin typeface="Cambria Math" panose="02040503050406030204" pitchFamily="18" charset="0"/>
                            <a:ea typeface="Cambria Math" panose="02040503050406030204" pitchFamily="18" charset="0"/>
                          </a:rPr>
                          <m:t>×35</m:t>
                        </m:r>
                      </m:e>
                    </m:rad>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6</m:t>
                    </m:r>
                  </m:oMath>
                </a14:m>
                <a:r>
                  <a:rPr lang="en-US" sz="2800" dirty="0"/>
                  <a:t> beds</a:t>
                </a:r>
              </a:p>
            </p:txBody>
          </p:sp>
        </mc:Choice>
        <mc:Fallback xmlns="">
          <p:sp>
            <p:nvSpPr>
              <p:cNvPr id="8" name="TextBox 7">
                <a:extLst>
                  <a:ext uri="{FF2B5EF4-FFF2-40B4-BE49-F238E27FC236}">
                    <a16:creationId xmlns:a16="http://schemas.microsoft.com/office/drawing/2014/main" id="{B27A7C4F-1137-9543-A78B-2FB86627B107}"/>
                  </a:ext>
                </a:extLst>
              </p:cNvPr>
              <p:cNvSpPr txBox="1">
                <a:spLocks noRot="1" noChangeAspect="1" noMove="1" noResize="1" noEditPoints="1" noAdjustHandles="1" noChangeArrowheads="1" noChangeShapeType="1" noTextEdit="1"/>
              </p:cNvSpPr>
              <p:nvPr/>
            </p:nvSpPr>
            <p:spPr>
              <a:xfrm>
                <a:off x="7741740" y="4057781"/>
                <a:ext cx="4450080" cy="2722605"/>
              </a:xfrm>
              <a:prstGeom prst="rect">
                <a:avLst/>
              </a:prstGeom>
              <a:blipFill>
                <a:blip r:embed="rId3"/>
                <a:stretch>
                  <a:fillRect l="-2841" t="-2326" b="-5581"/>
                </a:stretch>
              </a:blipFill>
            </p:spPr>
            <p:txBody>
              <a:bodyPr/>
              <a:lstStyle/>
              <a:p>
                <a:r>
                  <a:rPr lang="en-US">
                    <a:noFill/>
                  </a:rPr>
                  <a:t> </a:t>
                </a:r>
              </a:p>
            </p:txBody>
          </p:sp>
        </mc:Fallback>
      </mc:AlternateContent>
    </p:spTree>
    <p:extLst>
      <p:ext uri="{BB962C8B-B14F-4D97-AF65-F5344CB8AC3E}">
        <p14:creationId xmlns:p14="http://schemas.microsoft.com/office/powerpoint/2010/main" val="18575235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83159-0A3A-B843-8913-985EE3F733C2}"/>
              </a:ext>
            </a:extLst>
          </p:cNvPr>
          <p:cNvSpPr>
            <a:spLocks noGrp="1"/>
          </p:cNvSpPr>
          <p:nvPr>
            <p:ph type="title"/>
          </p:nvPr>
        </p:nvSpPr>
        <p:spPr>
          <a:xfrm>
            <a:off x="609480" y="541301"/>
            <a:ext cx="10972440" cy="609398"/>
          </a:xfrm>
        </p:spPr>
        <p:txBody>
          <a:bodyPr/>
          <a:lstStyle/>
          <a:p>
            <a:r>
              <a:rPr lang="en-US" dirty="0"/>
              <a:t>Understand what you’re looking at</a:t>
            </a:r>
          </a:p>
        </p:txBody>
      </p:sp>
      <p:sp>
        <p:nvSpPr>
          <p:cNvPr id="3" name="Subtitle 2">
            <a:extLst>
              <a:ext uri="{FF2B5EF4-FFF2-40B4-BE49-F238E27FC236}">
                <a16:creationId xmlns:a16="http://schemas.microsoft.com/office/drawing/2014/main" id="{0CB4D93E-6F41-AC44-A560-C95A60D8FC65}"/>
              </a:ext>
            </a:extLst>
          </p:cNvPr>
          <p:cNvSpPr>
            <a:spLocks noGrp="1"/>
          </p:cNvSpPr>
          <p:nvPr>
            <p:ph type="subTitle"/>
          </p:nvPr>
        </p:nvSpPr>
        <p:spPr/>
        <p:txBody>
          <a:bodyPr/>
          <a:lstStyle/>
          <a:p>
            <a:endParaRPr lang="en-US"/>
          </a:p>
        </p:txBody>
      </p:sp>
      <p:pic>
        <p:nvPicPr>
          <p:cNvPr id="4" name="Picture 3">
            <a:extLst>
              <a:ext uri="{FF2B5EF4-FFF2-40B4-BE49-F238E27FC236}">
                <a16:creationId xmlns:a16="http://schemas.microsoft.com/office/drawing/2014/main" id="{0A7386EA-2AC9-5C4C-96C8-CECE7A61A0A7}"/>
              </a:ext>
            </a:extLst>
          </p:cNvPr>
          <p:cNvPicPr>
            <a:picLocks noChangeAspect="1"/>
          </p:cNvPicPr>
          <p:nvPr/>
        </p:nvPicPr>
        <p:blipFill>
          <a:blip r:embed="rId2"/>
          <a:stretch>
            <a:fillRect/>
          </a:stretch>
        </p:blipFill>
        <p:spPr>
          <a:xfrm>
            <a:off x="0" y="1981200"/>
            <a:ext cx="11303000" cy="4876800"/>
          </a:xfrm>
          <a:prstGeom prst="rect">
            <a:avLst/>
          </a:prstGeom>
        </p:spPr>
      </p:pic>
    </p:spTree>
    <p:extLst>
      <p:ext uri="{BB962C8B-B14F-4D97-AF65-F5344CB8AC3E}">
        <p14:creationId xmlns:p14="http://schemas.microsoft.com/office/powerpoint/2010/main" val="3826312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5541-A426-554F-9F74-032C2775A9FE}"/>
              </a:ext>
            </a:extLst>
          </p:cNvPr>
          <p:cNvSpPr>
            <a:spLocks noGrp="1"/>
          </p:cNvSpPr>
          <p:nvPr>
            <p:ph type="title"/>
          </p:nvPr>
        </p:nvSpPr>
        <p:spPr/>
        <p:txBody>
          <a:bodyPr/>
          <a:lstStyle/>
          <a:p>
            <a:endParaRPr lang="en-US"/>
          </a:p>
        </p:txBody>
      </p:sp>
      <p:sp>
        <p:nvSpPr>
          <p:cNvPr id="4" name="Rectangle 3">
            <a:extLst>
              <a:ext uri="{FF2B5EF4-FFF2-40B4-BE49-F238E27FC236}">
                <a16:creationId xmlns:a16="http://schemas.microsoft.com/office/drawing/2014/main" id="{D127FBA4-6E2F-4F4B-8764-12E9E9035CE8}"/>
              </a:ext>
            </a:extLst>
          </p:cNvPr>
          <p:cNvSpPr/>
          <p:nvPr/>
        </p:nvSpPr>
        <p:spPr>
          <a:xfrm>
            <a:off x="609480" y="273600"/>
            <a:ext cx="10972440" cy="1477328"/>
          </a:xfrm>
          <a:prstGeom prst="rect">
            <a:avLst/>
          </a:prstGeom>
        </p:spPr>
        <p:txBody>
          <a:bodyPr wrap="square">
            <a:spAutoFit/>
          </a:bodyPr>
          <a:lstStyle/>
          <a:p>
            <a:endParaRPr lang="en-US" dirty="0">
              <a:latin typeface="Fira Code" panose="020B0809050000020004" pitchFamily="49" charset="0"/>
              <a:ea typeface="Fira Code" panose="020B0809050000020004" pitchFamily="49" charset="0"/>
            </a:endParaRPr>
          </a:p>
          <a:p>
            <a:r>
              <a:rPr lang="en-US" dirty="0" err="1">
                <a:latin typeface="Fira Code" panose="020B0809050000020004" pitchFamily="49" charset="0"/>
                <a:ea typeface="Fira Code" panose="020B0809050000020004" pitchFamily="49" charset="0"/>
              </a:rPr>
              <a:t>icu</a:t>
            </a:r>
            <a:r>
              <a:rPr lang="en-US" dirty="0">
                <a:latin typeface="Fira Code" panose="020B0809050000020004" pitchFamily="49" charset="0"/>
                <a:ea typeface="Fira Code" panose="020B0809050000020004" pitchFamily="49" charset="0"/>
              </a:rPr>
              <a:t> %&gt;% </a:t>
            </a:r>
          </a:p>
          <a:p>
            <a:r>
              <a:rPr lang="en-US" dirty="0">
                <a:latin typeface="Fira Code" panose="020B0809050000020004" pitchFamily="49" charset="0"/>
                <a:ea typeface="Fira Code" panose="020B0809050000020004" pitchFamily="49" charset="0"/>
              </a:rPr>
              <a:t>  filter(Type == "</a:t>
            </a:r>
            <a:r>
              <a:rPr lang="en-US" dirty="0" err="1">
                <a:latin typeface="Fira Code" panose="020B0809050000020004" pitchFamily="49" charset="0"/>
                <a:ea typeface="Fira Code" panose="020B0809050000020004" pitchFamily="49" charset="0"/>
              </a:rPr>
              <a:t>Totaal</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opnamen</a:t>
            </a:r>
            <a:r>
              <a:rPr lang="en-US" dirty="0">
                <a:latin typeface="Fira Code" panose="020B0809050000020004" pitchFamily="49" charset="0"/>
                <a:ea typeface="Fira Code" panose="020B0809050000020004" pitchFamily="49" charset="0"/>
              </a:rPr>
              <a:t> (IC)")  %&gt;% </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ggplot</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aes</a:t>
            </a:r>
            <a:r>
              <a:rPr lang="en-US" dirty="0">
                <a:latin typeface="Fira Code" panose="020B0809050000020004" pitchFamily="49" charset="0"/>
                <a:ea typeface="Fira Code" panose="020B0809050000020004" pitchFamily="49" charset="0"/>
              </a:rPr>
              <a:t>(Datum, </a:t>
            </a:r>
            <a:r>
              <a:rPr lang="en-US" dirty="0" err="1">
                <a:latin typeface="Fira Code" panose="020B0809050000020004" pitchFamily="49" charset="0"/>
                <a:ea typeface="Fira Code" panose="020B0809050000020004" pitchFamily="49" charset="0"/>
              </a:rPr>
              <a:t>Aantal</a:t>
            </a:r>
            <a:r>
              <a:rPr lang="en-US" dirty="0">
                <a:latin typeface="Fira Code" panose="020B0809050000020004" pitchFamily="49" charset="0"/>
                <a:ea typeface="Fira Code" panose="020B0809050000020004" pitchFamily="49" charset="0"/>
              </a:rPr>
              <a:t>)) + </a:t>
            </a:r>
            <a:r>
              <a:rPr lang="en-US" dirty="0" err="1">
                <a:latin typeface="Fira Code" panose="020B0809050000020004" pitchFamily="49" charset="0"/>
                <a:ea typeface="Fira Code" panose="020B0809050000020004" pitchFamily="49" charset="0"/>
              </a:rPr>
              <a:t>geom_line</a:t>
            </a:r>
            <a:r>
              <a:rPr lang="en-US" dirty="0">
                <a:latin typeface="Fira Code" panose="020B0809050000020004" pitchFamily="49" charset="0"/>
                <a:ea typeface="Fira Code" panose="020B0809050000020004" pitchFamily="49" charset="0"/>
              </a:rPr>
              <a:t>() +</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theme_fira</a:t>
            </a:r>
            <a:r>
              <a:rPr lang="en-US" dirty="0">
                <a:latin typeface="Fira Code" panose="020B0809050000020004" pitchFamily="49" charset="0"/>
                <a:ea typeface="Fira Code" panose="020B0809050000020004" pitchFamily="49" charset="0"/>
              </a:rPr>
              <a:t>() + </a:t>
            </a:r>
            <a:r>
              <a:rPr lang="en-US" b="1" dirty="0">
                <a:latin typeface="Fira Code" panose="020B0809050000020004" pitchFamily="49" charset="0"/>
                <a:ea typeface="Fira Code" panose="020B0809050000020004" pitchFamily="49" charset="0"/>
              </a:rPr>
              <a:t>scale_y_log10()</a:t>
            </a:r>
          </a:p>
        </p:txBody>
      </p:sp>
      <p:pic>
        <p:nvPicPr>
          <p:cNvPr id="3" name="Picture 2">
            <a:extLst>
              <a:ext uri="{FF2B5EF4-FFF2-40B4-BE49-F238E27FC236}">
                <a16:creationId xmlns:a16="http://schemas.microsoft.com/office/drawing/2014/main" id="{B11AE7DC-3E39-AB41-A0B6-707F884DF8E3}"/>
              </a:ext>
            </a:extLst>
          </p:cNvPr>
          <p:cNvPicPr>
            <a:picLocks noChangeAspect="1"/>
          </p:cNvPicPr>
          <p:nvPr/>
        </p:nvPicPr>
        <p:blipFill>
          <a:blip r:embed="rId2"/>
          <a:stretch>
            <a:fillRect/>
          </a:stretch>
        </p:blipFill>
        <p:spPr>
          <a:xfrm>
            <a:off x="609479" y="1845220"/>
            <a:ext cx="7217785" cy="4527132"/>
          </a:xfrm>
          <a:prstGeom prst="rect">
            <a:avLst/>
          </a:prstGeom>
        </p:spPr>
      </p:pic>
      <p:pic>
        <p:nvPicPr>
          <p:cNvPr id="5" name="Picture 4">
            <a:extLst>
              <a:ext uri="{FF2B5EF4-FFF2-40B4-BE49-F238E27FC236}">
                <a16:creationId xmlns:a16="http://schemas.microsoft.com/office/drawing/2014/main" id="{C3035CB9-6411-F14E-B8EE-04579AF7E621}"/>
              </a:ext>
            </a:extLst>
          </p:cNvPr>
          <p:cNvPicPr>
            <a:picLocks noChangeAspect="1"/>
          </p:cNvPicPr>
          <p:nvPr/>
        </p:nvPicPr>
        <p:blipFill>
          <a:blip r:embed="rId3"/>
          <a:stretch>
            <a:fillRect/>
          </a:stretch>
        </p:blipFill>
        <p:spPr>
          <a:xfrm>
            <a:off x="0" y="1750927"/>
            <a:ext cx="8142408" cy="5107073"/>
          </a:xfrm>
          <a:prstGeom prst="rect">
            <a:avLst/>
          </a:prstGeom>
        </p:spPr>
      </p:pic>
    </p:spTree>
    <p:extLst>
      <p:ext uri="{BB962C8B-B14F-4D97-AF65-F5344CB8AC3E}">
        <p14:creationId xmlns:p14="http://schemas.microsoft.com/office/powerpoint/2010/main" val="36584712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5541-A426-554F-9F74-032C2775A9FE}"/>
              </a:ext>
            </a:extLst>
          </p:cNvPr>
          <p:cNvSpPr>
            <a:spLocks noGrp="1"/>
          </p:cNvSpPr>
          <p:nvPr>
            <p:ph type="title"/>
          </p:nvPr>
        </p:nvSpPr>
        <p:spPr/>
        <p:txBody>
          <a:bodyPr/>
          <a:lstStyle/>
          <a:p>
            <a:endParaRPr lang="en-US"/>
          </a:p>
        </p:txBody>
      </p:sp>
      <p:sp>
        <p:nvSpPr>
          <p:cNvPr id="4" name="Rectangle 3">
            <a:extLst>
              <a:ext uri="{FF2B5EF4-FFF2-40B4-BE49-F238E27FC236}">
                <a16:creationId xmlns:a16="http://schemas.microsoft.com/office/drawing/2014/main" id="{D127FBA4-6E2F-4F4B-8764-12E9E9035CE8}"/>
              </a:ext>
            </a:extLst>
          </p:cNvPr>
          <p:cNvSpPr/>
          <p:nvPr/>
        </p:nvSpPr>
        <p:spPr>
          <a:xfrm>
            <a:off x="609480" y="1997839"/>
            <a:ext cx="10972440" cy="2585323"/>
          </a:xfrm>
          <a:prstGeom prst="rect">
            <a:avLst/>
          </a:prstGeom>
        </p:spPr>
        <p:txBody>
          <a:bodyPr wrap="square">
            <a:spAutoFit/>
          </a:bodyPr>
          <a:lstStyle/>
          <a:p>
            <a:endParaRPr lang="en-US" dirty="0">
              <a:latin typeface="Fira Code" panose="020B0809050000020004" pitchFamily="49" charset="0"/>
              <a:ea typeface="Fira Code" panose="020B0809050000020004" pitchFamily="49" charset="0"/>
            </a:endParaRPr>
          </a:p>
          <a:p>
            <a:r>
              <a:rPr lang="en-US" dirty="0" err="1">
                <a:latin typeface="Fira Code" panose="020B0809050000020004" pitchFamily="49" charset="0"/>
                <a:ea typeface="Fira Code" panose="020B0809050000020004" pitchFamily="49" charset="0"/>
              </a:rPr>
              <a:t>url_sewage</a:t>
            </a:r>
            <a:r>
              <a:rPr lang="en-US" dirty="0">
                <a:latin typeface="Fira Code" panose="020B0809050000020004" pitchFamily="49" charset="0"/>
                <a:ea typeface="Fira Code" panose="020B0809050000020004" pitchFamily="49" charset="0"/>
              </a:rPr>
              <a:t> &lt;- "https://</a:t>
            </a:r>
            <a:r>
              <a:rPr lang="en-US" dirty="0" err="1">
                <a:latin typeface="Fira Code" panose="020B0809050000020004" pitchFamily="49" charset="0"/>
                <a:ea typeface="Fira Code" panose="020B0809050000020004" pitchFamily="49" charset="0"/>
              </a:rPr>
              <a:t>raw.githubusercontent.com</a:t>
            </a:r>
            <a:r>
              <a:rPr lang="en-US" dirty="0">
                <a:latin typeface="Fira Code" panose="020B0809050000020004" pitchFamily="49" charset="0"/>
                <a:ea typeface="Fira Code" panose="020B0809050000020004" pitchFamily="49" charset="0"/>
              </a:rPr>
              <a:t>/J535D165/</a:t>
            </a:r>
            <a:r>
              <a:rPr lang="en-US" dirty="0" err="1">
                <a:latin typeface="Fira Code" panose="020B0809050000020004" pitchFamily="49" charset="0"/>
                <a:ea typeface="Fira Code" panose="020B0809050000020004" pitchFamily="49" charset="0"/>
              </a:rPr>
              <a:t>CoronaWatchNL</a:t>
            </a:r>
            <a:r>
              <a:rPr lang="en-US" dirty="0">
                <a:latin typeface="Fira Code" panose="020B0809050000020004" pitchFamily="49" charset="0"/>
                <a:ea typeface="Fira Code" panose="020B0809050000020004" pitchFamily="49" charset="0"/>
              </a:rPr>
              <a:t>/master/data-dashboard/data-sewage/</a:t>
            </a:r>
            <a:r>
              <a:rPr lang="en-US" dirty="0" err="1">
                <a:latin typeface="Fira Code" panose="020B0809050000020004" pitchFamily="49" charset="0"/>
                <a:ea typeface="Fira Code" panose="020B0809050000020004" pitchFamily="49" charset="0"/>
              </a:rPr>
              <a:t>RIVM_NL_sewage_counts.csv</a:t>
            </a:r>
            <a:r>
              <a:rPr lang="en-US" dirty="0">
                <a:latin typeface="Fira Code" panose="020B0809050000020004" pitchFamily="49" charset="0"/>
                <a:ea typeface="Fira Code" panose="020B0809050000020004" pitchFamily="49" charset="0"/>
              </a:rPr>
              <a:t>"</a:t>
            </a:r>
          </a:p>
          <a:p>
            <a:endParaRPr lang="en-US" dirty="0">
              <a:latin typeface="Fira Code" panose="020B0809050000020004" pitchFamily="49" charset="0"/>
              <a:ea typeface="Fira Code" panose="020B0809050000020004" pitchFamily="49" charset="0"/>
            </a:endParaRPr>
          </a:p>
          <a:p>
            <a:r>
              <a:rPr lang="en-US" dirty="0">
                <a:latin typeface="Fira Code" panose="020B0809050000020004" pitchFamily="49" charset="0"/>
                <a:ea typeface="Fira Code" panose="020B0809050000020004" pitchFamily="49" charset="0"/>
              </a:rPr>
              <a:t>sewage &lt;- </a:t>
            </a:r>
            <a:r>
              <a:rPr lang="en-US" dirty="0" err="1">
                <a:latin typeface="Fira Code" panose="020B0809050000020004" pitchFamily="49" charset="0"/>
                <a:ea typeface="Fira Code" panose="020B0809050000020004" pitchFamily="49" charset="0"/>
              </a:rPr>
              <a:t>read_csv</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url_sewage</a:t>
            </a:r>
            <a:r>
              <a:rPr lang="en-US" dirty="0">
                <a:latin typeface="Fira Code" panose="020B0809050000020004" pitchFamily="49" charset="0"/>
                <a:ea typeface="Fira Code" panose="020B0809050000020004" pitchFamily="49" charset="0"/>
              </a:rPr>
              <a:t>)</a:t>
            </a:r>
          </a:p>
          <a:p>
            <a:endParaRPr lang="en-US" dirty="0">
              <a:latin typeface="Fira Code" panose="020B0809050000020004" pitchFamily="49" charset="0"/>
              <a:ea typeface="Fira Code" panose="020B0809050000020004" pitchFamily="49" charset="0"/>
            </a:endParaRPr>
          </a:p>
          <a:p>
            <a:endParaRPr lang="en-US" dirty="0">
              <a:latin typeface="Fira Code" panose="020B0809050000020004" pitchFamily="49" charset="0"/>
              <a:ea typeface="Fira Code" panose="020B0809050000020004" pitchFamily="49" charset="0"/>
            </a:endParaRPr>
          </a:p>
          <a:p>
            <a:r>
              <a:rPr lang="en-US" dirty="0">
                <a:latin typeface="Fira Code" panose="020B0809050000020004" pitchFamily="49" charset="0"/>
                <a:ea typeface="Fira Code" panose="020B0809050000020004" pitchFamily="49" charset="0"/>
              </a:rPr>
              <a:t>joined &lt;- </a:t>
            </a:r>
            <a:r>
              <a:rPr lang="en-US" dirty="0" err="1">
                <a:latin typeface="Fira Code" panose="020B0809050000020004" pitchFamily="49" charset="0"/>
                <a:ea typeface="Fira Code" panose="020B0809050000020004" pitchFamily="49" charset="0"/>
              </a:rPr>
              <a:t>bind_rows</a:t>
            </a:r>
            <a:r>
              <a:rPr lang="en-US" dirty="0">
                <a:latin typeface="Fira Code" panose="020B0809050000020004" pitchFamily="49" charset="0"/>
                <a:ea typeface="Fira Code" panose="020B0809050000020004" pitchFamily="49" charset="0"/>
              </a:rPr>
              <a:t>(sewage, </a:t>
            </a:r>
            <a:r>
              <a:rPr lang="en-US" dirty="0" err="1">
                <a:latin typeface="Fira Code" panose="020B0809050000020004" pitchFamily="49" charset="0"/>
                <a:ea typeface="Fira Code" panose="020B0809050000020004" pitchFamily="49" charset="0"/>
              </a:rPr>
              <a:t>icu</a:t>
            </a:r>
            <a:r>
              <a:rPr lang="en-US" dirty="0">
                <a:latin typeface="Fira Code" panose="020B0809050000020004" pitchFamily="49" charset="0"/>
                <a:ea typeface="Fira Code" panose="020B0809050000020004" pitchFamily="49" charset="0"/>
              </a:rPr>
              <a:t>)</a:t>
            </a:r>
          </a:p>
        </p:txBody>
      </p:sp>
    </p:spTree>
    <p:extLst>
      <p:ext uri="{BB962C8B-B14F-4D97-AF65-F5344CB8AC3E}">
        <p14:creationId xmlns:p14="http://schemas.microsoft.com/office/powerpoint/2010/main" val="1488199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27FBA4-6E2F-4F4B-8764-12E9E9035CE8}"/>
              </a:ext>
            </a:extLst>
          </p:cNvPr>
          <p:cNvSpPr/>
          <p:nvPr/>
        </p:nvSpPr>
        <p:spPr>
          <a:xfrm>
            <a:off x="609480" y="273600"/>
            <a:ext cx="10972440" cy="1754326"/>
          </a:xfrm>
          <a:prstGeom prst="rect">
            <a:avLst/>
          </a:prstGeom>
        </p:spPr>
        <p:txBody>
          <a:bodyPr wrap="square">
            <a:spAutoFit/>
          </a:bodyPr>
          <a:lstStyle/>
          <a:p>
            <a:r>
              <a:rPr lang="en-US" dirty="0">
                <a:latin typeface="Fira Code" panose="020B0809050000020004" pitchFamily="49" charset="0"/>
                <a:ea typeface="Fira Code" panose="020B0809050000020004" pitchFamily="49" charset="0"/>
              </a:rPr>
              <a:t>joined %&gt;% </a:t>
            </a:r>
          </a:p>
          <a:p>
            <a:r>
              <a:rPr lang="en-US" dirty="0">
                <a:latin typeface="Fira Code" panose="020B0809050000020004" pitchFamily="49" charset="0"/>
                <a:ea typeface="Fira Code" panose="020B0809050000020004" pitchFamily="49" charset="0"/>
              </a:rPr>
              <a:t>  filter(Type == "</a:t>
            </a:r>
            <a:r>
              <a:rPr lang="en-US" dirty="0" err="1">
                <a:latin typeface="Fira Code" panose="020B0809050000020004" pitchFamily="49" charset="0"/>
                <a:ea typeface="Fira Code" panose="020B0809050000020004" pitchFamily="49" charset="0"/>
              </a:rPr>
              <a:t>Totaal</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opnamen</a:t>
            </a:r>
            <a:r>
              <a:rPr lang="en-US" dirty="0">
                <a:latin typeface="Fira Code" panose="020B0809050000020004" pitchFamily="49" charset="0"/>
                <a:ea typeface="Fira Code" panose="020B0809050000020004" pitchFamily="49" charset="0"/>
              </a:rPr>
              <a:t> (IC)" | </a:t>
            </a:r>
          </a:p>
          <a:p>
            <a:r>
              <a:rPr lang="en-US" dirty="0">
                <a:latin typeface="Fira Code" panose="020B0809050000020004" pitchFamily="49" charset="0"/>
                <a:ea typeface="Fira Code" panose="020B0809050000020004" pitchFamily="49" charset="0"/>
              </a:rPr>
              <a:t>           Type == "</a:t>
            </a:r>
            <a:r>
              <a:rPr lang="en-US" dirty="0" err="1">
                <a:latin typeface="Fira Code" panose="020B0809050000020004" pitchFamily="49" charset="0"/>
                <a:ea typeface="Fira Code" panose="020B0809050000020004" pitchFamily="49" charset="0"/>
              </a:rPr>
              <a:t>Virusdeeltjes</a:t>
            </a:r>
            <a:r>
              <a:rPr lang="en-US" dirty="0">
                <a:latin typeface="Fira Code" panose="020B0809050000020004" pitchFamily="49" charset="0"/>
                <a:ea typeface="Fira Code" panose="020B0809050000020004" pitchFamily="49" charset="0"/>
              </a:rPr>
              <a:t> per ml </a:t>
            </a:r>
            <a:r>
              <a:rPr lang="en-US" dirty="0" err="1">
                <a:latin typeface="Fira Code" panose="020B0809050000020004" pitchFamily="49" charset="0"/>
                <a:ea typeface="Fira Code" panose="020B0809050000020004" pitchFamily="49" charset="0"/>
              </a:rPr>
              <a:t>rioolwater</a:t>
            </a:r>
            <a:r>
              <a:rPr lang="en-US" dirty="0">
                <a:latin typeface="Fira Code" panose="020B0809050000020004" pitchFamily="49" charset="0"/>
                <a:ea typeface="Fira Code" panose="020B0809050000020004" pitchFamily="49" charset="0"/>
              </a:rPr>
              <a:t>")  %&gt;% </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ggplot</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aes</a:t>
            </a:r>
            <a:r>
              <a:rPr lang="en-US" dirty="0">
                <a:latin typeface="Fira Code" panose="020B0809050000020004" pitchFamily="49" charset="0"/>
                <a:ea typeface="Fira Code" panose="020B0809050000020004" pitchFamily="49" charset="0"/>
              </a:rPr>
              <a:t>(Datum, </a:t>
            </a:r>
            <a:r>
              <a:rPr lang="en-US" dirty="0" err="1">
                <a:latin typeface="Fira Code" panose="020B0809050000020004" pitchFamily="49" charset="0"/>
                <a:ea typeface="Fira Code" panose="020B0809050000020004" pitchFamily="49" charset="0"/>
              </a:rPr>
              <a:t>Aantal</a:t>
            </a:r>
            <a:r>
              <a:rPr lang="en-US" dirty="0">
                <a:latin typeface="Fira Code" panose="020B0809050000020004" pitchFamily="49" charset="0"/>
                <a:ea typeface="Fira Code" panose="020B0809050000020004" pitchFamily="49" charset="0"/>
              </a:rPr>
              <a:t>, color = Type)) + </a:t>
            </a:r>
            <a:r>
              <a:rPr lang="en-US" dirty="0" err="1">
                <a:latin typeface="Fira Code" panose="020B0809050000020004" pitchFamily="49" charset="0"/>
                <a:ea typeface="Fira Code" panose="020B0809050000020004" pitchFamily="49" charset="0"/>
              </a:rPr>
              <a:t>geom_line</a:t>
            </a:r>
            <a:r>
              <a:rPr lang="en-US" dirty="0">
                <a:latin typeface="Fira Code" panose="020B0809050000020004" pitchFamily="49" charset="0"/>
                <a:ea typeface="Fira Code" panose="020B0809050000020004" pitchFamily="49" charset="0"/>
              </a:rPr>
              <a:t>() +</a:t>
            </a:r>
          </a:p>
          <a:p>
            <a:r>
              <a:rPr lang="en-US" dirty="0">
                <a:latin typeface="Fira Code" panose="020B0809050000020004" pitchFamily="49" charset="0"/>
                <a:ea typeface="Fira Code" panose="020B0809050000020004" pitchFamily="49" charset="0"/>
              </a:rPr>
              <a:t>  scale_y_log10() + </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theme_fira</a:t>
            </a:r>
            <a:r>
              <a:rPr lang="en-US" dirty="0">
                <a:latin typeface="Fira Code" panose="020B0809050000020004" pitchFamily="49" charset="0"/>
                <a:ea typeface="Fira Code" panose="020B0809050000020004" pitchFamily="49" charset="0"/>
              </a:rPr>
              <a:t>() + </a:t>
            </a:r>
            <a:r>
              <a:rPr lang="en-US" dirty="0" err="1">
                <a:latin typeface="Fira Code" panose="020B0809050000020004" pitchFamily="49" charset="0"/>
                <a:ea typeface="Fira Code" panose="020B0809050000020004" pitchFamily="49" charset="0"/>
              </a:rPr>
              <a:t>scale_color_brewer</a:t>
            </a:r>
            <a:r>
              <a:rPr lang="en-US" dirty="0">
                <a:latin typeface="Fira Code" panose="020B0809050000020004" pitchFamily="49" charset="0"/>
                <a:ea typeface="Fira Code" panose="020B0809050000020004" pitchFamily="49" charset="0"/>
              </a:rPr>
              <a:t>(type = "qual")</a:t>
            </a:r>
          </a:p>
        </p:txBody>
      </p:sp>
      <p:pic>
        <p:nvPicPr>
          <p:cNvPr id="5" name="Picture 4">
            <a:extLst>
              <a:ext uri="{FF2B5EF4-FFF2-40B4-BE49-F238E27FC236}">
                <a16:creationId xmlns:a16="http://schemas.microsoft.com/office/drawing/2014/main" id="{ECB8E332-33FC-BD41-ABFE-4676706818B4}"/>
              </a:ext>
            </a:extLst>
          </p:cNvPr>
          <p:cNvPicPr>
            <a:picLocks noChangeAspect="1"/>
          </p:cNvPicPr>
          <p:nvPr/>
        </p:nvPicPr>
        <p:blipFill>
          <a:blip r:embed="rId2"/>
          <a:stretch>
            <a:fillRect/>
          </a:stretch>
        </p:blipFill>
        <p:spPr>
          <a:xfrm>
            <a:off x="0" y="2027927"/>
            <a:ext cx="7700779" cy="4830074"/>
          </a:xfrm>
          <a:prstGeom prst="rect">
            <a:avLst/>
          </a:prstGeom>
        </p:spPr>
      </p:pic>
      <p:pic>
        <p:nvPicPr>
          <p:cNvPr id="6" name="Picture 5">
            <a:extLst>
              <a:ext uri="{FF2B5EF4-FFF2-40B4-BE49-F238E27FC236}">
                <a16:creationId xmlns:a16="http://schemas.microsoft.com/office/drawing/2014/main" id="{740CB1C5-6AEB-B840-9C77-4A9982B36C00}"/>
              </a:ext>
            </a:extLst>
          </p:cNvPr>
          <p:cNvPicPr>
            <a:picLocks noChangeAspect="1"/>
          </p:cNvPicPr>
          <p:nvPr/>
        </p:nvPicPr>
        <p:blipFill>
          <a:blip r:embed="rId3"/>
          <a:stretch>
            <a:fillRect/>
          </a:stretch>
        </p:blipFill>
        <p:spPr>
          <a:xfrm>
            <a:off x="-1" y="1994398"/>
            <a:ext cx="11765281" cy="4969618"/>
          </a:xfrm>
          <a:prstGeom prst="rect">
            <a:avLst/>
          </a:prstGeom>
        </p:spPr>
      </p:pic>
    </p:spTree>
    <p:extLst>
      <p:ext uri="{BB962C8B-B14F-4D97-AF65-F5344CB8AC3E}">
        <p14:creationId xmlns:p14="http://schemas.microsoft.com/office/powerpoint/2010/main" val="165187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5541-A426-554F-9F74-032C2775A9FE}"/>
              </a:ext>
            </a:extLst>
          </p:cNvPr>
          <p:cNvSpPr>
            <a:spLocks noGrp="1"/>
          </p:cNvSpPr>
          <p:nvPr>
            <p:ph type="title"/>
          </p:nvPr>
        </p:nvSpPr>
        <p:spPr/>
        <p:txBody>
          <a:bodyPr/>
          <a:lstStyle/>
          <a:p>
            <a:endParaRPr lang="en-US"/>
          </a:p>
        </p:txBody>
      </p:sp>
      <p:sp>
        <p:nvSpPr>
          <p:cNvPr id="4" name="Rectangle 3">
            <a:extLst>
              <a:ext uri="{FF2B5EF4-FFF2-40B4-BE49-F238E27FC236}">
                <a16:creationId xmlns:a16="http://schemas.microsoft.com/office/drawing/2014/main" id="{D127FBA4-6E2F-4F4B-8764-12E9E9035CE8}"/>
              </a:ext>
            </a:extLst>
          </p:cNvPr>
          <p:cNvSpPr/>
          <p:nvPr/>
        </p:nvSpPr>
        <p:spPr>
          <a:xfrm>
            <a:off x="609480" y="1997839"/>
            <a:ext cx="10972440" cy="1200329"/>
          </a:xfrm>
          <a:prstGeom prst="rect">
            <a:avLst/>
          </a:prstGeom>
        </p:spPr>
        <p:txBody>
          <a:bodyPr wrap="square">
            <a:spAutoFit/>
          </a:bodyPr>
          <a:lstStyle/>
          <a:p>
            <a:r>
              <a:rPr lang="en-US" dirty="0" err="1">
                <a:latin typeface="Fira Code" panose="020B0809050000020004" pitchFamily="49" charset="0"/>
                <a:ea typeface="Fira Code" panose="020B0809050000020004" pitchFamily="49" charset="0"/>
              </a:rPr>
              <a:t>joined_wide</a:t>
            </a:r>
            <a:r>
              <a:rPr lang="en-US" dirty="0">
                <a:latin typeface="Fira Code" panose="020B0809050000020004" pitchFamily="49" charset="0"/>
                <a:ea typeface="Fira Code" panose="020B0809050000020004" pitchFamily="49" charset="0"/>
              </a:rPr>
              <a:t> &lt;- joined %&gt;% </a:t>
            </a:r>
          </a:p>
          <a:p>
            <a:r>
              <a:rPr lang="en-US" dirty="0">
                <a:latin typeface="Fira Code" panose="020B0809050000020004" pitchFamily="49" charset="0"/>
                <a:ea typeface="Fira Code" panose="020B0809050000020004" pitchFamily="49" charset="0"/>
              </a:rPr>
              <a:t>  filter(Type == "</a:t>
            </a:r>
            <a:r>
              <a:rPr lang="en-US" dirty="0" err="1">
                <a:latin typeface="Fira Code" panose="020B0809050000020004" pitchFamily="49" charset="0"/>
                <a:ea typeface="Fira Code" panose="020B0809050000020004" pitchFamily="49" charset="0"/>
              </a:rPr>
              <a:t>Totaal</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opnamen</a:t>
            </a:r>
            <a:r>
              <a:rPr lang="en-US" dirty="0">
                <a:latin typeface="Fira Code" panose="020B0809050000020004" pitchFamily="49" charset="0"/>
                <a:ea typeface="Fira Code" panose="020B0809050000020004" pitchFamily="49" charset="0"/>
              </a:rPr>
              <a:t> (IC)" | </a:t>
            </a:r>
          </a:p>
          <a:p>
            <a:r>
              <a:rPr lang="en-US" dirty="0">
                <a:latin typeface="Fira Code" panose="020B0809050000020004" pitchFamily="49" charset="0"/>
                <a:ea typeface="Fira Code" panose="020B0809050000020004" pitchFamily="49" charset="0"/>
              </a:rPr>
              <a:t>           Type == "</a:t>
            </a:r>
            <a:r>
              <a:rPr lang="en-US" dirty="0" err="1">
                <a:latin typeface="Fira Code" panose="020B0809050000020004" pitchFamily="49" charset="0"/>
                <a:ea typeface="Fira Code" panose="020B0809050000020004" pitchFamily="49" charset="0"/>
              </a:rPr>
              <a:t>Virusdeeltjes</a:t>
            </a:r>
            <a:r>
              <a:rPr lang="en-US" dirty="0">
                <a:latin typeface="Fira Code" panose="020B0809050000020004" pitchFamily="49" charset="0"/>
                <a:ea typeface="Fira Code" panose="020B0809050000020004" pitchFamily="49" charset="0"/>
              </a:rPr>
              <a:t> per ml </a:t>
            </a:r>
            <a:r>
              <a:rPr lang="en-US" dirty="0" err="1">
                <a:latin typeface="Fira Code" panose="020B0809050000020004" pitchFamily="49" charset="0"/>
                <a:ea typeface="Fira Code" panose="020B0809050000020004" pitchFamily="49" charset="0"/>
              </a:rPr>
              <a:t>rioolwater</a:t>
            </a:r>
            <a:r>
              <a:rPr lang="en-US" dirty="0">
                <a:latin typeface="Fira Code" panose="020B0809050000020004" pitchFamily="49" charset="0"/>
                <a:ea typeface="Fira Code" panose="020B0809050000020004" pitchFamily="49" charset="0"/>
              </a:rPr>
              <a:t>") %&gt;%</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pivot_wider</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names_from</a:t>
            </a:r>
            <a:r>
              <a:rPr lang="en-US" dirty="0">
                <a:latin typeface="Fira Code" panose="020B0809050000020004" pitchFamily="49" charset="0"/>
                <a:ea typeface="Fira Code" panose="020B0809050000020004" pitchFamily="49" charset="0"/>
              </a:rPr>
              <a:t> = Type, </a:t>
            </a:r>
            <a:r>
              <a:rPr lang="en-US" dirty="0" err="1">
                <a:latin typeface="Fira Code" panose="020B0809050000020004" pitchFamily="49" charset="0"/>
                <a:ea typeface="Fira Code" panose="020B0809050000020004" pitchFamily="49" charset="0"/>
              </a:rPr>
              <a:t>values_from</a:t>
            </a:r>
            <a:r>
              <a:rPr lang="en-US" dirty="0">
                <a:latin typeface="Fira Code" panose="020B0809050000020004" pitchFamily="49" charset="0"/>
                <a:ea typeface="Fira Code" panose="020B0809050000020004" pitchFamily="49" charset="0"/>
              </a:rPr>
              <a:t> = </a:t>
            </a:r>
            <a:r>
              <a:rPr lang="en-US" dirty="0" err="1">
                <a:latin typeface="Fira Code" panose="020B0809050000020004" pitchFamily="49" charset="0"/>
                <a:ea typeface="Fira Code" panose="020B0809050000020004" pitchFamily="49" charset="0"/>
              </a:rPr>
              <a:t>Aantal</a:t>
            </a:r>
            <a:r>
              <a:rPr lang="en-US" dirty="0">
                <a:latin typeface="Fira Code" panose="020B0809050000020004" pitchFamily="49" charset="0"/>
                <a:ea typeface="Fira Code" panose="020B0809050000020004" pitchFamily="49" charset="0"/>
              </a:rPr>
              <a:t>)</a:t>
            </a:r>
          </a:p>
        </p:txBody>
      </p:sp>
    </p:spTree>
    <p:extLst>
      <p:ext uri="{BB962C8B-B14F-4D97-AF65-F5344CB8AC3E}">
        <p14:creationId xmlns:p14="http://schemas.microsoft.com/office/powerpoint/2010/main" val="1245669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27FBA4-6E2F-4F4B-8764-12E9E9035CE8}"/>
              </a:ext>
            </a:extLst>
          </p:cNvPr>
          <p:cNvSpPr/>
          <p:nvPr/>
        </p:nvSpPr>
        <p:spPr>
          <a:xfrm>
            <a:off x="609480" y="273600"/>
            <a:ext cx="10972440" cy="1200329"/>
          </a:xfrm>
          <a:prstGeom prst="rect">
            <a:avLst/>
          </a:prstGeom>
        </p:spPr>
        <p:txBody>
          <a:bodyPr wrap="square">
            <a:spAutoFit/>
          </a:bodyPr>
          <a:lstStyle/>
          <a:p>
            <a:endParaRPr lang="en-US" dirty="0">
              <a:latin typeface="Fira Code" panose="020B0809050000020004" pitchFamily="49" charset="0"/>
              <a:ea typeface="Fira Code" panose="020B0809050000020004" pitchFamily="49" charset="0"/>
            </a:endParaRPr>
          </a:p>
          <a:p>
            <a:r>
              <a:rPr lang="en-US" dirty="0" err="1">
                <a:latin typeface="Fira Code" panose="020B0809050000020004" pitchFamily="49" charset="0"/>
                <a:ea typeface="Fira Code" panose="020B0809050000020004" pitchFamily="49" charset="0"/>
              </a:rPr>
              <a:t>joined_wide</a:t>
            </a:r>
            <a:r>
              <a:rPr lang="en-US" dirty="0">
                <a:latin typeface="Fira Code" panose="020B0809050000020004" pitchFamily="49" charset="0"/>
                <a:ea typeface="Fira Code" panose="020B0809050000020004" pitchFamily="49" charset="0"/>
              </a:rPr>
              <a:t> %&gt;% </a:t>
            </a:r>
          </a:p>
          <a:p>
            <a:r>
              <a:rPr lang="en-US" dirty="0" err="1">
                <a:latin typeface="Fira Code" panose="020B0809050000020004" pitchFamily="49" charset="0"/>
                <a:ea typeface="Fira Code" panose="020B0809050000020004" pitchFamily="49" charset="0"/>
              </a:rPr>
              <a:t>ggplot</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aes</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Virusdeeltjes</a:t>
            </a:r>
            <a:r>
              <a:rPr lang="en-US" dirty="0">
                <a:latin typeface="Fira Code" panose="020B0809050000020004" pitchFamily="49" charset="0"/>
                <a:ea typeface="Fira Code" panose="020B0809050000020004" pitchFamily="49" charset="0"/>
              </a:rPr>
              <a:t> per ml </a:t>
            </a:r>
            <a:r>
              <a:rPr lang="en-US" dirty="0" err="1">
                <a:latin typeface="Fira Code" panose="020B0809050000020004" pitchFamily="49" charset="0"/>
                <a:ea typeface="Fira Code" panose="020B0809050000020004" pitchFamily="49" charset="0"/>
              </a:rPr>
              <a:t>rioolwater</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Totaal</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opnamen</a:t>
            </a:r>
            <a:r>
              <a:rPr lang="en-US" dirty="0">
                <a:latin typeface="Fira Code" panose="020B0809050000020004" pitchFamily="49" charset="0"/>
                <a:ea typeface="Fira Code" panose="020B0809050000020004" pitchFamily="49" charset="0"/>
              </a:rPr>
              <a:t> (IC)`)) + </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geom_point</a:t>
            </a:r>
            <a:r>
              <a:rPr lang="en-US" dirty="0">
                <a:latin typeface="Fira Code" panose="020B0809050000020004" pitchFamily="49" charset="0"/>
                <a:ea typeface="Fira Code" panose="020B0809050000020004" pitchFamily="49" charset="0"/>
              </a:rPr>
              <a:t>() + </a:t>
            </a:r>
            <a:r>
              <a:rPr lang="en-US" dirty="0" err="1">
                <a:latin typeface="Fira Code" panose="020B0809050000020004" pitchFamily="49" charset="0"/>
                <a:ea typeface="Fira Code" panose="020B0809050000020004" pitchFamily="49" charset="0"/>
              </a:rPr>
              <a:t>theme_fira</a:t>
            </a:r>
            <a:r>
              <a:rPr lang="en-US" dirty="0">
                <a:latin typeface="Fira Code" panose="020B0809050000020004" pitchFamily="49" charset="0"/>
                <a:ea typeface="Fira Code" panose="020B0809050000020004" pitchFamily="49" charset="0"/>
              </a:rPr>
              <a:t>()</a:t>
            </a:r>
          </a:p>
        </p:txBody>
      </p:sp>
      <p:pic>
        <p:nvPicPr>
          <p:cNvPr id="3" name="Picture 2">
            <a:extLst>
              <a:ext uri="{FF2B5EF4-FFF2-40B4-BE49-F238E27FC236}">
                <a16:creationId xmlns:a16="http://schemas.microsoft.com/office/drawing/2014/main" id="{357F0EE9-85A1-6343-A6D0-BA4487E1233D}"/>
              </a:ext>
            </a:extLst>
          </p:cNvPr>
          <p:cNvPicPr>
            <a:picLocks noChangeAspect="1"/>
          </p:cNvPicPr>
          <p:nvPr/>
        </p:nvPicPr>
        <p:blipFill>
          <a:blip r:embed="rId2"/>
          <a:stretch>
            <a:fillRect/>
          </a:stretch>
        </p:blipFill>
        <p:spPr>
          <a:xfrm>
            <a:off x="0" y="1656080"/>
            <a:ext cx="8290560" cy="5199996"/>
          </a:xfrm>
          <a:prstGeom prst="rect">
            <a:avLst/>
          </a:prstGeom>
        </p:spPr>
      </p:pic>
    </p:spTree>
    <p:extLst>
      <p:ext uri="{BB962C8B-B14F-4D97-AF65-F5344CB8AC3E}">
        <p14:creationId xmlns:p14="http://schemas.microsoft.com/office/powerpoint/2010/main" val="15805651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27FBA4-6E2F-4F4B-8764-12E9E9035CE8}"/>
              </a:ext>
            </a:extLst>
          </p:cNvPr>
          <p:cNvSpPr/>
          <p:nvPr/>
        </p:nvSpPr>
        <p:spPr>
          <a:xfrm>
            <a:off x="609480" y="273600"/>
            <a:ext cx="10972440" cy="1200329"/>
          </a:xfrm>
          <a:prstGeom prst="rect">
            <a:avLst/>
          </a:prstGeom>
        </p:spPr>
        <p:txBody>
          <a:bodyPr wrap="square">
            <a:spAutoFit/>
          </a:bodyPr>
          <a:lstStyle/>
          <a:p>
            <a:endParaRPr lang="en-US" dirty="0">
              <a:latin typeface="Fira Code" panose="020B0809050000020004" pitchFamily="49" charset="0"/>
              <a:ea typeface="Fira Code" panose="020B0809050000020004" pitchFamily="49" charset="0"/>
            </a:endParaRPr>
          </a:p>
          <a:p>
            <a:r>
              <a:rPr lang="en-US" dirty="0" err="1">
                <a:latin typeface="Fira Code" panose="020B0809050000020004" pitchFamily="49" charset="0"/>
                <a:ea typeface="Fira Code" panose="020B0809050000020004" pitchFamily="49" charset="0"/>
              </a:rPr>
              <a:t>joined_wide</a:t>
            </a:r>
            <a:r>
              <a:rPr lang="en-US" dirty="0">
                <a:latin typeface="Fira Code" panose="020B0809050000020004" pitchFamily="49" charset="0"/>
                <a:ea typeface="Fira Code" panose="020B0809050000020004" pitchFamily="49" charset="0"/>
              </a:rPr>
              <a:t> %&gt;% </a:t>
            </a:r>
          </a:p>
          <a:p>
            <a:r>
              <a:rPr lang="en-US" dirty="0" err="1">
                <a:latin typeface="Fira Code" panose="020B0809050000020004" pitchFamily="49" charset="0"/>
                <a:ea typeface="Fira Code" panose="020B0809050000020004" pitchFamily="49" charset="0"/>
              </a:rPr>
              <a:t>ggplot</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aes</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Virusdeeltjes</a:t>
            </a:r>
            <a:r>
              <a:rPr lang="en-US" dirty="0">
                <a:latin typeface="Fira Code" panose="020B0809050000020004" pitchFamily="49" charset="0"/>
                <a:ea typeface="Fira Code" panose="020B0809050000020004" pitchFamily="49" charset="0"/>
              </a:rPr>
              <a:t> per ml </a:t>
            </a:r>
            <a:r>
              <a:rPr lang="en-US" dirty="0" err="1">
                <a:latin typeface="Fira Code" panose="020B0809050000020004" pitchFamily="49" charset="0"/>
                <a:ea typeface="Fira Code" panose="020B0809050000020004" pitchFamily="49" charset="0"/>
              </a:rPr>
              <a:t>rioolwater</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Totaal</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opnamen</a:t>
            </a:r>
            <a:r>
              <a:rPr lang="en-US" dirty="0">
                <a:latin typeface="Fira Code" panose="020B0809050000020004" pitchFamily="49" charset="0"/>
                <a:ea typeface="Fira Code" panose="020B0809050000020004" pitchFamily="49" charset="0"/>
              </a:rPr>
              <a:t> (IC)`)) + </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geom_point</a:t>
            </a:r>
            <a:r>
              <a:rPr lang="en-US" dirty="0">
                <a:latin typeface="Fira Code" panose="020B0809050000020004" pitchFamily="49" charset="0"/>
                <a:ea typeface="Fira Code" panose="020B0809050000020004" pitchFamily="49" charset="0"/>
              </a:rPr>
              <a:t>() + scale_y_log10() + scale_x_log10() + </a:t>
            </a:r>
            <a:r>
              <a:rPr lang="en-US" dirty="0" err="1">
                <a:latin typeface="Fira Code" panose="020B0809050000020004" pitchFamily="49" charset="0"/>
                <a:ea typeface="Fira Code" panose="020B0809050000020004" pitchFamily="49" charset="0"/>
              </a:rPr>
              <a:t>theme_fira</a:t>
            </a:r>
            <a:r>
              <a:rPr lang="en-US" dirty="0">
                <a:latin typeface="Fira Code" panose="020B0809050000020004" pitchFamily="49" charset="0"/>
                <a:ea typeface="Fira Code" panose="020B0809050000020004" pitchFamily="49" charset="0"/>
              </a:rPr>
              <a:t>()</a:t>
            </a:r>
          </a:p>
        </p:txBody>
      </p:sp>
      <p:pic>
        <p:nvPicPr>
          <p:cNvPr id="3" name="Picture 2">
            <a:extLst>
              <a:ext uri="{FF2B5EF4-FFF2-40B4-BE49-F238E27FC236}">
                <a16:creationId xmlns:a16="http://schemas.microsoft.com/office/drawing/2014/main" id="{357F0EE9-85A1-6343-A6D0-BA4487E1233D}"/>
              </a:ext>
            </a:extLst>
          </p:cNvPr>
          <p:cNvPicPr>
            <a:picLocks noChangeAspect="1"/>
          </p:cNvPicPr>
          <p:nvPr/>
        </p:nvPicPr>
        <p:blipFill>
          <a:blip r:embed="rId3"/>
          <a:stretch>
            <a:fillRect/>
          </a:stretch>
        </p:blipFill>
        <p:spPr>
          <a:xfrm>
            <a:off x="0" y="1656080"/>
            <a:ext cx="8290560" cy="5199996"/>
          </a:xfrm>
          <a:prstGeom prst="rect">
            <a:avLst/>
          </a:prstGeom>
        </p:spPr>
      </p:pic>
      <p:pic>
        <p:nvPicPr>
          <p:cNvPr id="5" name="Picture 4">
            <a:extLst>
              <a:ext uri="{FF2B5EF4-FFF2-40B4-BE49-F238E27FC236}">
                <a16:creationId xmlns:a16="http://schemas.microsoft.com/office/drawing/2014/main" id="{CD4D4C2E-8E5B-174C-B3DB-16F7D4C4FAFC}"/>
              </a:ext>
            </a:extLst>
          </p:cNvPr>
          <p:cNvPicPr>
            <a:picLocks noChangeAspect="1"/>
          </p:cNvPicPr>
          <p:nvPr/>
        </p:nvPicPr>
        <p:blipFill>
          <a:blip r:embed="rId4"/>
          <a:stretch>
            <a:fillRect/>
          </a:stretch>
        </p:blipFill>
        <p:spPr>
          <a:xfrm>
            <a:off x="73152" y="1656080"/>
            <a:ext cx="8290560" cy="5199996"/>
          </a:xfrm>
          <a:prstGeom prst="rect">
            <a:avLst/>
          </a:prstGeom>
        </p:spPr>
      </p:pic>
      <p:sp>
        <p:nvSpPr>
          <p:cNvPr id="6" name="Rectangle 5">
            <a:extLst>
              <a:ext uri="{FF2B5EF4-FFF2-40B4-BE49-F238E27FC236}">
                <a16:creationId xmlns:a16="http://schemas.microsoft.com/office/drawing/2014/main" id="{4E817D9F-352F-0846-B724-8F38A6C3D845}"/>
              </a:ext>
            </a:extLst>
          </p:cNvPr>
          <p:cNvSpPr/>
          <p:nvPr/>
        </p:nvSpPr>
        <p:spPr>
          <a:xfrm>
            <a:off x="9369771" y="4256078"/>
            <a:ext cx="2454583" cy="523220"/>
          </a:xfrm>
          <a:prstGeom prst="rect">
            <a:avLst/>
          </a:prstGeom>
        </p:spPr>
        <p:txBody>
          <a:bodyPr wrap="none">
            <a:spAutoFit/>
          </a:bodyPr>
          <a:lstStyle/>
          <a:p>
            <a:r>
              <a:rPr lang="en-IE" sz="2800" b="1" dirty="0">
                <a:solidFill>
                  <a:srgbClr val="000000"/>
                </a:solidFill>
                <a:latin typeface="-webkit-standard"/>
              </a:rPr>
              <a:t>“straightening”</a:t>
            </a:r>
            <a:endParaRPr lang="en-US" sz="2800" dirty="0"/>
          </a:p>
        </p:txBody>
      </p:sp>
    </p:spTree>
    <p:extLst>
      <p:ext uri="{BB962C8B-B14F-4D97-AF65-F5344CB8AC3E}">
        <p14:creationId xmlns:p14="http://schemas.microsoft.com/office/powerpoint/2010/main" val="4455566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5541-A426-554F-9F74-032C2775A9FE}"/>
              </a:ext>
            </a:extLst>
          </p:cNvPr>
          <p:cNvSpPr>
            <a:spLocks noGrp="1"/>
          </p:cNvSpPr>
          <p:nvPr>
            <p:ph type="title"/>
          </p:nvPr>
        </p:nvSpPr>
        <p:spPr/>
        <p:txBody>
          <a:bodyPr/>
          <a:lstStyle/>
          <a:p>
            <a:endParaRPr lang="en-US" dirty="0"/>
          </a:p>
        </p:txBody>
      </p:sp>
      <p:sp>
        <p:nvSpPr>
          <p:cNvPr id="4" name="Rectangle 3">
            <a:extLst>
              <a:ext uri="{FF2B5EF4-FFF2-40B4-BE49-F238E27FC236}">
                <a16:creationId xmlns:a16="http://schemas.microsoft.com/office/drawing/2014/main" id="{D127FBA4-6E2F-4F4B-8764-12E9E9035CE8}"/>
              </a:ext>
            </a:extLst>
          </p:cNvPr>
          <p:cNvSpPr/>
          <p:nvPr/>
        </p:nvSpPr>
        <p:spPr>
          <a:xfrm>
            <a:off x="609480" y="273600"/>
            <a:ext cx="10972440" cy="1477328"/>
          </a:xfrm>
          <a:prstGeom prst="rect">
            <a:avLst/>
          </a:prstGeom>
        </p:spPr>
        <p:txBody>
          <a:bodyPr wrap="square">
            <a:spAutoFit/>
          </a:bodyPr>
          <a:lstStyle/>
          <a:p>
            <a:endParaRPr lang="en-US" dirty="0">
              <a:latin typeface="Fira Code" panose="020B0809050000020004" pitchFamily="49" charset="0"/>
              <a:ea typeface="Fira Code" panose="020B0809050000020004" pitchFamily="49" charset="0"/>
            </a:endParaRPr>
          </a:p>
          <a:p>
            <a:r>
              <a:rPr lang="en-US" dirty="0" err="1">
                <a:latin typeface="Fira Code" panose="020B0809050000020004" pitchFamily="49" charset="0"/>
                <a:ea typeface="Fira Code" panose="020B0809050000020004" pitchFamily="49" charset="0"/>
              </a:rPr>
              <a:t>joined_wide</a:t>
            </a:r>
            <a:r>
              <a:rPr lang="en-US" dirty="0">
                <a:latin typeface="Fira Code" panose="020B0809050000020004" pitchFamily="49" charset="0"/>
                <a:ea typeface="Fira Code" panose="020B0809050000020004" pitchFamily="49" charset="0"/>
              </a:rPr>
              <a:t> %&gt;% </a:t>
            </a:r>
          </a:p>
          <a:p>
            <a:r>
              <a:rPr lang="en-US" dirty="0" err="1">
                <a:latin typeface="Fira Code" panose="020B0809050000020004" pitchFamily="49" charset="0"/>
                <a:ea typeface="Fira Code" panose="020B0809050000020004" pitchFamily="49" charset="0"/>
              </a:rPr>
              <a:t>ggplot</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aes</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Virusdeeltjes</a:t>
            </a:r>
            <a:r>
              <a:rPr lang="en-US" dirty="0">
                <a:latin typeface="Fira Code" panose="020B0809050000020004" pitchFamily="49" charset="0"/>
                <a:ea typeface="Fira Code" panose="020B0809050000020004" pitchFamily="49" charset="0"/>
              </a:rPr>
              <a:t> per ml </a:t>
            </a:r>
            <a:r>
              <a:rPr lang="en-US" dirty="0" err="1">
                <a:latin typeface="Fira Code" panose="020B0809050000020004" pitchFamily="49" charset="0"/>
                <a:ea typeface="Fira Code" panose="020B0809050000020004" pitchFamily="49" charset="0"/>
              </a:rPr>
              <a:t>rioolwater</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Totaal</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opnamen</a:t>
            </a:r>
            <a:r>
              <a:rPr lang="en-US" dirty="0">
                <a:latin typeface="Fira Code" panose="020B0809050000020004" pitchFamily="49" charset="0"/>
                <a:ea typeface="Fira Code" panose="020B0809050000020004" pitchFamily="49" charset="0"/>
              </a:rPr>
              <a:t> (IC)`)) + </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geom_point</a:t>
            </a:r>
            <a:r>
              <a:rPr lang="en-US" dirty="0">
                <a:latin typeface="Fira Code" panose="020B0809050000020004" pitchFamily="49" charset="0"/>
                <a:ea typeface="Fira Code" panose="020B0809050000020004" pitchFamily="49" charset="0"/>
              </a:rPr>
              <a:t>() + </a:t>
            </a:r>
            <a:r>
              <a:rPr lang="en-US" b="1" dirty="0" err="1">
                <a:latin typeface="Fira Code" panose="020B0809050000020004" pitchFamily="49" charset="0"/>
                <a:ea typeface="Fira Code" panose="020B0809050000020004" pitchFamily="49" charset="0"/>
              </a:rPr>
              <a:t>geom_smooth</a:t>
            </a:r>
            <a:r>
              <a:rPr lang="en-US" b="1" dirty="0">
                <a:latin typeface="Fira Code" panose="020B0809050000020004" pitchFamily="49" charset="0"/>
                <a:ea typeface="Fira Code" panose="020B0809050000020004" pitchFamily="49" charset="0"/>
              </a:rPr>
              <a:t>() </a:t>
            </a:r>
            <a:r>
              <a:rPr lang="en-US" dirty="0">
                <a:latin typeface="Fira Code" panose="020B0809050000020004" pitchFamily="49" charset="0"/>
                <a:ea typeface="Fira Code" panose="020B0809050000020004" pitchFamily="49" charset="0"/>
              </a:rPr>
              <a:t>+ </a:t>
            </a:r>
          </a:p>
          <a:p>
            <a:r>
              <a:rPr lang="en-US" dirty="0">
                <a:latin typeface="Fira Code" panose="020B0809050000020004" pitchFamily="49" charset="0"/>
                <a:ea typeface="Fira Code" panose="020B0809050000020004" pitchFamily="49" charset="0"/>
              </a:rPr>
              <a:t>  scale_y_log10() + scale_x_log10() + </a:t>
            </a:r>
            <a:r>
              <a:rPr lang="en-US" dirty="0" err="1">
                <a:latin typeface="Fira Code" panose="020B0809050000020004" pitchFamily="49" charset="0"/>
                <a:ea typeface="Fira Code" panose="020B0809050000020004" pitchFamily="49" charset="0"/>
              </a:rPr>
              <a:t>theme_fira</a:t>
            </a:r>
            <a:r>
              <a:rPr lang="en-US" dirty="0">
                <a:latin typeface="Fira Code" panose="020B0809050000020004" pitchFamily="49" charset="0"/>
                <a:ea typeface="Fira Code" panose="020B0809050000020004" pitchFamily="49" charset="0"/>
              </a:rPr>
              <a:t>()</a:t>
            </a:r>
          </a:p>
        </p:txBody>
      </p:sp>
      <p:pic>
        <p:nvPicPr>
          <p:cNvPr id="3" name="Picture 2">
            <a:extLst>
              <a:ext uri="{FF2B5EF4-FFF2-40B4-BE49-F238E27FC236}">
                <a16:creationId xmlns:a16="http://schemas.microsoft.com/office/drawing/2014/main" id="{357F0EE9-85A1-6343-A6D0-BA4487E1233D}"/>
              </a:ext>
            </a:extLst>
          </p:cNvPr>
          <p:cNvPicPr>
            <a:picLocks noChangeAspect="1"/>
          </p:cNvPicPr>
          <p:nvPr/>
        </p:nvPicPr>
        <p:blipFill>
          <a:blip r:embed="rId2"/>
          <a:stretch>
            <a:fillRect/>
          </a:stretch>
        </p:blipFill>
        <p:spPr>
          <a:xfrm>
            <a:off x="0" y="1656080"/>
            <a:ext cx="8290560" cy="5199996"/>
          </a:xfrm>
          <a:prstGeom prst="rect">
            <a:avLst/>
          </a:prstGeom>
        </p:spPr>
      </p:pic>
      <p:pic>
        <p:nvPicPr>
          <p:cNvPr id="5" name="Picture 4">
            <a:extLst>
              <a:ext uri="{FF2B5EF4-FFF2-40B4-BE49-F238E27FC236}">
                <a16:creationId xmlns:a16="http://schemas.microsoft.com/office/drawing/2014/main" id="{CD4D4C2E-8E5B-174C-B3DB-16F7D4C4FAFC}"/>
              </a:ext>
            </a:extLst>
          </p:cNvPr>
          <p:cNvPicPr>
            <a:picLocks noChangeAspect="1"/>
          </p:cNvPicPr>
          <p:nvPr/>
        </p:nvPicPr>
        <p:blipFill>
          <a:blip r:embed="rId3"/>
          <a:stretch>
            <a:fillRect/>
          </a:stretch>
        </p:blipFill>
        <p:spPr>
          <a:xfrm>
            <a:off x="73152" y="1656080"/>
            <a:ext cx="8290560" cy="5199996"/>
          </a:xfrm>
          <a:prstGeom prst="rect">
            <a:avLst/>
          </a:prstGeom>
        </p:spPr>
      </p:pic>
      <p:pic>
        <p:nvPicPr>
          <p:cNvPr id="6" name="Picture 5">
            <a:extLst>
              <a:ext uri="{FF2B5EF4-FFF2-40B4-BE49-F238E27FC236}">
                <a16:creationId xmlns:a16="http://schemas.microsoft.com/office/drawing/2014/main" id="{A4322282-0962-734F-BD7D-815B752F4D97}"/>
              </a:ext>
            </a:extLst>
          </p:cNvPr>
          <p:cNvPicPr>
            <a:picLocks noChangeAspect="1"/>
          </p:cNvPicPr>
          <p:nvPr/>
        </p:nvPicPr>
        <p:blipFill>
          <a:blip r:embed="rId4"/>
          <a:stretch>
            <a:fillRect/>
          </a:stretch>
        </p:blipFill>
        <p:spPr>
          <a:xfrm>
            <a:off x="0" y="1658004"/>
            <a:ext cx="8363712" cy="5245878"/>
          </a:xfrm>
          <a:prstGeom prst="rect">
            <a:avLst/>
          </a:prstGeom>
        </p:spPr>
      </p:pic>
    </p:spTree>
    <p:extLst>
      <p:ext uri="{BB962C8B-B14F-4D97-AF65-F5344CB8AC3E}">
        <p14:creationId xmlns:p14="http://schemas.microsoft.com/office/powerpoint/2010/main" val="34760399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5541-A426-554F-9F74-032C2775A9FE}"/>
              </a:ext>
            </a:extLst>
          </p:cNvPr>
          <p:cNvSpPr>
            <a:spLocks noGrp="1"/>
          </p:cNvSpPr>
          <p:nvPr>
            <p:ph type="title"/>
          </p:nvPr>
        </p:nvSpPr>
        <p:spPr/>
        <p:txBody>
          <a:bodyPr/>
          <a:lstStyle/>
          <a:p>
            <a:endParaRPr lang="en-US" dirty="0"/>
          </a:p>
        </p:txBody>
      </p:sp>
      <p:sp>
        <p:nvSpPr>
          <p:cNvPr id="4" name="Rectangle 3">
            <a:extLst>
              <a:ext uri="{FF2B5EF4-FFF2-40B4-BE49-F238E27FC236}">
                <a16:creationId xmlns:a16="http://schemas.microsoft.com/office/drawing/2014/main" id="{D127FBA4-6E2F-4F4B-8764-12E9E9035CE8}"/>
              </a:ext>
            </a:extLst>
          </p:cNvPr>
          <p:cNvSpPr/>
          <p:nvPr/>
        </p:nvSpPr>
        <p:spPr>
          <a:xfrm>
            <a:off x="609480" y="273600"/>
            <a:ext cx="10972440" cy="1477328"/>
          </a:xfrm>
          <a:prstGeom prst="rect">
            <a:avLst/>
          </a:prstGeom>
        </p:spPr>
        <p:txBody>
          <a:bodyPr wrap="square">
            <a:spAutoFit/>
          </a:bodyPr>
          <a:lstStyle/>
          <a:p>
            <a:endParaRPr lang="en-US" dirty="0">
              <a:latin typeface="Fira Code" panose="020B0809050000020004" pitchFamily="49" charset="0"/>
              <a:ea typeface="Fira Code" panose="020B0809050000020004" pitchFamily="49" charset="0"/>
            </a:endParaRPr>
          </a:p>
          <a:p>
            <a:r>
              <a:rPr lang="en-US" dirty="0" err="1">
                <a:latin typeface="Fira Code" panose="020B0809050000020004" pitchFamily="49" charset="0"/>
                <a:ea typeface="Fira Code" panose="020B0809050000020004" pitchFamily="49" charset="0"/>
              </a:rPr>
              <a:t>joined_wide</a:t>
            </a:r>
            <a:r>
              <a:rPr lang="en-US" dirty="0">
                <a:latin typeface="Fira Code" panose="020B0809050000020004" pitchFamily="49" charset="0"/>
                <a:ea typeface="Fira Code" panose="020B0809050000020004" pitchFamily="49" charset="0"/>
              </a:rPr>
              <a:t> %&gt;% </a:t>
            </a:r>
          </a:p>
          <a:p>
            <a:r>
              <a:rPr lang="en-US" dirty="0" err="1">
                <a:latin typeface="Fira Code" panose="020B0809050000020004" pitchFamily="49" charset="0"/>
                <a:ea typeface="Fira Code" panose="020B0809050000020004" pitchFamily="49" charset="0"/>
              </a:rPr>
              <a:t>ggplot</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aes</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Virusdeeltjes</a:t>
            </a:r>
            <a:r>
              <a:rPr lang="en-US" dirty="0">
                <a:latin typeface="Fira Code" panose="020B0809050000020004" pitchFamily="49" charset="0"/>
                <a:ea typeface="Fira Code" panose="020B0809050000020004" pitchFamily="49" charset="0"/>
              </a:rPr>
              <a:t> per ml </a:t>
            </a:r>
            <a:r>
              <a:rPr lang="en-US" dirty="0" err="1">
                <a:latin typeface="Fira Code" panose="020B0809050000020004" pitchFamily="49" charset="0"/>
                <a:ea typeface="Fira Code" panose="020B0809050000020004" pitchFamily="49" charset="0"/>
              </a:rPr>
              <a:t>rioolwater</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Totaal</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opnamen</a:t>
            </a:r>
            <a:r>
              <a:rPr lang="en-US" dirty="0">
                <a:latin typeface="Fira Code" panose="020B0809050000020004" pitchFamily="49" charset="0"/>
                <a:ea typeface="Fira Code" panose="020B0809050000020004" pitchFamily="49" charset="0"/>
              </a:rPr>
              <a:t> (IC)`)) + </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geom_point</a:t>
            </a:r>
            <a:r>
              <a:rPr lang="en-US" dirty="0">
                <a:latin typeface="Fira Code" panose="020B0809050000020004" pitchFamily="49" charset="0"/>
                <a:ea typeface="Fira Code" panose="020B0809050000020004" pitchFamily="49" charset="0"/>
              </a:rPr>
              <a:t>() + </a:t>
            </a:r>
            <a:r>
              <a:rPr lang="en-US" b="1" dirty="0" err="1">
                <a:latin typeface="Fira Code" panose="020B0809050000020004" pitchFamily="49" charset="0"/>
                <a:ea typeface="Fira Code" panose="020B0809050000020004" pitchFamily="49" charset="0"/>
              </a:rPr>
              <a:t>geom_smooth</a:t>
            </a:r>
            <a:r>
              <a:rPr lang="en-US" b="1" dirty="0">
                <a:latin typeface="Fira Code" panose="020B0809050000020004" pitchFamily="49" charset="0"/>
                <a:ea typeface="Fira Code" panose="020B0809050000020004" pitchFamily="49" charset="0"/>
              </a:rPr>
              <a:t>(method = “</a:t>
            </a:r>
            <a:r>
              <a:rPr lang="en-US" b="1" dirty="0" err="1">
                <a:latin typeface="Fira Code" panose="020B0809050000020004" pitchFamily="49" charset="0"/>
                <a:ea typeface="Fira Code" panose="020B0809050000020004" pitchFamily="49" charset="0"/>
              </a:rPr>
              <a:t>lm</a:t>
            </a:r>
            <a:r>
              <a:rPr lang="en-US" b="1" dirty="0">
                <a:latin typeface="Fira Code" panose="020B0809050000020004" pitchFamily="49" charset="0"/>
                <a:ea typeface="Fira Code" panose="020B0809050000020004" pitchFamily="49" charset="0"/>
              </a:rPr>
              <a:t>”) </a:t>
            </a:r>
            <a:r>
              <a:rPr lang="en-US" dirty="0">
                <a:latin typeface="Fira Code" panose="020B0809050000020004" pitchFamily="49" charset="0"/>
                <a:ea typeface="Fira Code" panose="020B0809050000020004" pitchFamily="49" charset="0"/>
              </a:rPr>
              <a:t>+ </a:t>
            </a:r>
          </a:p>
          <a:p>
            <a:r>
              <a:rPr lang="en-US" dirty="0">
                <a:latin typeface="Fira Code" panose="020B0809050000020004" pitchFamily="49" charset="0"/>
                <a:ea typeface="Fira Code" panose="020B0809050000020004" pitchFamily="49" charset="0"/>
              </a:rPr>
              <a:t>  scale_y_log10() + scale_x_log10() + </a:t>
            </a:r>
            <a:r>
              <a:rPr lang="en-US" dirty="0" err="1">
                <a:latin typeface="Fira Code" panose="020B0809050000020004" pitchFamily="49" charset="0"/>
                <a:ea typeface="Fira Code" panose="020B0809050000020004" pitchFamily="49" charset="0"/>
              </a:rPr>
              <a:t>theme_fira</a:t>
            </a:r>
            <a:r>
              <a:rPr lang="en-US" dirty="0">
                <a:latin typeface="Fira Code" panose="020B0809050000020004" pitchFamily="49" charset="0"/>
                <a:ea typeface="Fira Code" panose="020B0809050000020004" pitchFamily="49" charset="0"/>
              </a:rPr>
              <a:t>()</a:t>
            </a:r>
          </a:p>
        </p:txBody>
      </p:sp>
      <p:pic>
        <p:nvPicPr>
          <p:cNvPr id="3" name="Picture 2">
            <a:extLst>
              <a:ext uri="{FF2B5EF4-FFF2-40B4-BE49-F238E27FC236}">
                <a16:creationId xmlns:a16="http://schemas.microsoft.com/office/drawing/2014/main" id="{357F0EE9-85A1-6343-A6D0-BA4487E1233D}"/>
              </a:ext>
            </a:extLst>
          </p:cNvPr>
          <p:cNvPicPr>
            <a:picLocks noChangeAspect="1"/>
          </p:cNvPicPr>
          <p:nvPr/>
        </p:nvPicPr>
        <p:blipFill>
          <a:blip r:embed="rId2"/>
          <a:stretch>
            <a:fillRect/>
          </a:stretch>
        </p:blipFill>
        <p:spPr>
          <a:xfrm>
            <a:off x="0" y="1656080"/>
            <a:ext cx="8290560" cy="5199996"/>
          </a:xfrm>
          <a:prstGeom prst="rect">
            <a:avLst/>
          </a:prstGeom>
        </p:spPr>
      </p:pic>
      <p:pic>
        <p:nvPicPr>
          <p:cNvPr id="5" name="Picture 4">
            <a:extLst>
              <a:ext uri="{FF2B5EF4-FFF2-40B4-BE49-F238E27FC236}">
                <a16:creationId xmlns:a16="http://schemas.microsoft.com/office/drawing/2014/main" id="{CD4D4C2E-8E5B-174C-B3DB-16F7D4C4FAFC}"/>
              </a:ext>
            </a:extLst>
          </p:cNvPr>
          <p:cNvPicPr>
            <a:picLocks noChangeAspect="1"/>
          </p:cNvPicPr>
          <p:nvPr/>
        </p:nvPicPr>
        <p:blipFill>
          <a:blip r:embed="rId3"/>
          <a:stretch>
            <a:fillRect/>
          </a:stretch>
        </p:blipFill>
        <p:spPr>
          <a:xfrm>
            <a:off x="73152" y="1656080"/>
            <a:ext cx="8290560" cy="5199996"/>
          </a:xfrm>
          <a:prstGeom prst="rect">
            <a:avLst/>
          </a:prstGeom>
        </p:spPr>
      </p:pic>
      <p:pic>
        <p:nvPicPr>
          <p:cNvPr id="6" name="Picture 5">
            <a:extLst>
              <a:ext uri="{FF2B5EF4-FFF2-40B4-BE49-F238E27FC236}">
                <a16:creationId xmlns:a16="http://schemas.microsoft.com/office/drawing/2014/main" id="{A4322282-0962-734F-BD7D-815B752F4D97}"/>
              </a:ext>
            </a:extLst>
          </p:cNvPr>
          <p:cNvPicPr>
            <a:picLocks noChangeAspect="1"/>
          </p:cNvPicPr>
          <p:nvPr/>
        </p:nvPicPr>
        <p:blipFill>
          <a:blip r:embed="rId4"/>
          <a:stretch>
            <a:fillRect/>
          </a:stretch>
        </p:blipFill>
        <p:spPr>
          <a:xfrm>
            <a:off x="0" y="1658004"/>
            <a:ext cx="8363712" cy="5245878"/>
          </a:xfrm>
          <a:prstGeom prst="rect">
            <a:avLst/>
          </a:prstGeom>
        </p:spPr>
      </p:pic>
      <p:pic>
        <p:nvPicPr>
          <p:cNvPr id="8" name="Picture 7">
            <a:extLst>
              <a:ext uri="{FF2B5EF4-FFF2-40B4-BE49-F238E27FC236}">
                <a16:creationId xmlns:a16="http://schemas.microsoft.com/office/drawing/2014/main" id="{6567712A-6A2E-D446-8228-8AF5D77CD427}"/>
              </a:ext>
            </a:extLst>
          </p:cNvPr>
          <p:cNvPicPr>
            <a:picLocks noChangeAspect="1"/>
          </p:cNvPicPr>
          <p:nvPr/>
        </p:nvPicPr>
        <p:blipFill>
          <a:blip r:embed="rId5"/>
          <a:stretch>
            <a:fillRect/>
          </a:stretch>
        </p:blipFill>
        <p:spPr>
          <a:xfrm>
            <a:off x="0" y="1750927"/>
            <a:ext cx="8363712" cy="5245879"/>
          </a:xfrm>
          <a:prstGeom prst="rect">
            <a:avLst/>
          </a:prstGeom>
        </p:spPr>
      </p:pic>
    </p:spTree>
    <p:extLst>
      <p:ext uri="{BB962C8B-B14F-4D97-AF65-F5344CB8AC3E}">
        <p14:creationId xmlns:p14="http://schemas.microsoft.com/office/powerpoint/2010/main" val="42526214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5541-A426-554F-9F74-032C2775A9FE}"/>
              </a:ext>
            </a:extLst>
          </p:cNvPr>
          <p:cNvSpPr>
            <a:spLocks noGrp="1"/>
          </p:cNvSpPr>
          <p:nvPr>
            <p:ph type="title"/>
          </p:nvPr>
        </p:nvSpPr>
        <p:spPr>
          <a:xfrm>
            <a:off x="609480" y="541301"/>
            <a:ext cx="10972440" cy="609398"/>
          </a:xfrm>
        </p:spPr>
        <p:txBody>
          <a:bodyPr/>
          <a:lstStyle/>
          <a:p>
            <a:r>
              <a:rPr lang="en-US" dirty="0"/>
              <a:t>Looking at </a:t>
            </a:r>
            <a:r>
              <a:rPr lang="en-US" b="1" dirty="0"/>
              <a:t>residuals</a:t>
            </a:r>
          </a:p>
        </p:txBody>
      </p:sp>
      <p:sp>
        <p:nvSpPr>
          <p:cNvPr id="4" name="Rectangle 3">
            <a:extLst>
              <a:ext uri="{FF2B5EF4-FFF2-40B4-BE49-F238E27FC236}">
                <a16:creationId xmlns:a16="http://schemas.microsoft.com/office/drawing/2014/main" id="{D127FBA4-6E2F-4F4B-8764-12E9E9035CE8}"/>
              </a:ext>
            </a:extLst>
          </p:cNvPr>
          <p:cNvSpPr/>
          <p:nvPr/>
        </p:nvSpPr>
        <p:spPr>
          <a:xfrm>
            <a:off x="499752" y="1418400"/>
            <a:ext cx="10972440" cy="2862322"/>
          </a:xfrm>
          <a:prstGeom prst="rect">
            <a:avLst/>
          </a:prstGeom>
        </p:spPr>
        <p:txBody>
          <a:bodyPr wrap="square">
            <a:spAutoFit/>
          </a:bodyPr>
          <a:lstStyle/>
          <a:p>
            <a:r>
              <a:rPr lang="en-US" dirty="0" err="1">
                <a:latin typeface="Fira Code" panose="020B0809050000020004" pitchFamily="49" charset="0"/>
                <a:ea typeface="Fira Code" panose="020B0809050000020004" pitchFamily="49" charset="0"/>
              </a:rPr>
              <a:t>joined_wide</a:t>
            </a:r>
            <a:r>
              <a:rPr lang="en-US" dirty="0">
                <a:latin typeface="Fira Code" panose="020B0809050000020004" pitchFamily="49" charset="0"/>
                <a:ea typeface="Fira Code" panose="020B0809050000020004" pitchFamily="49" charset="0"/>
              </a:rPr>
              <a:t> &lt;- </a:t>
            </a:r>
            <a:r>
              <a:rPr lang="en-US" dirty="0" err="1">
                <a:latin typeface="Fira Code" panose="020B0809050000020004" pitchFamily="49" charset="0"/>
                <a:ea typeface="Fira Code" panose="020B0809050000020004" pitchFamily="49" charset="0"/>
              </a:rPr>
              <a:t>joined_wide</a:t>
            </a:r>
            <a:r>
              <a:rPr lang="en-US" dirty="0">
                <a:latin typeface="Fira Code" panose="020B0809050000020004" pitchFamily="49" charset="0"/>
                <a:ea typeface="Fira Code" panose="020B0809050000020004" pitchFamily="49" charset="0"/>
              </a:rPr>
              <a:t> %&gt;% </a:t>
            </a:r>
          </a:p>
          <a:p>
            <a:r>
              <a:rPr lang="en-US" dirty="0">
                <a:latin typeface="Fira Code" panose="020B0809050000020004" pitchFamily="49" charset="0"/>
                <a:ea typeface="Fira Code" panose="020B0809050000020004" pitchFamily="49" charset="0"/>
              </a:rPr>
              <a:t>  mutate(</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log_icu</a:t>
            </a:r>
            <a:r>
              <a:rPr lang="en-US" dirty="0">
                <a:latin typeface="Fira Code" panose="020B0809050000020004" pitchFamily="49" charset="0"/>
                <a:ea typeface="Fira Code" panose="020B0809050000020004" pitchFamily="49" charset="0"/>
              </a:rPr>
              <a:t> = log(`</a:t>
            </a:r>
            <a:r>
              <a:rPr lang="en-US" dirty="0" err="1">
                <a:latin typeface="Fira Code" panose="020B0809050000020004" pitchFamily="49" charset="0"/>
                <a:ea typeface="Fira Code" panose="020B0809050000020004" pitchFamily="49" charset="0"/>
              </a:rPr>
              <a:t>Totaal</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opnamen</a:t>
            </a:r>
            <a:r>
              <a:rPr lang="en-US" dirty="0">
                <a:latin typeface="Fira Code" panose="020B0809050000020004" pitchFamily="49" charset="0"/>
                <a:ea typeface="Fira Code" panose="020B0809050000020004" pitchFamily="49" charset="0"/>
              </a:rPr>
              <a:t> (IC)` + 1),</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log_sewage</a:t>
            </a:r>
            <a:r>
              <a:rPr lang="en-US" dirty="0">
                <a:latin typeface="Fira Code" panose="020B0809050000020004" pitchFamily="49" charset="0"/>
                <a:ea typeface="Fira Code" panose="020B0809050000020004" pitchFamily="49" charset="0"/>
              </a:rPr>
              <a:t> = log(`</a:t>
            </a:r>
            <a:r>
              <a:rPr lang="en-US" dirty="0" err="1">
                <a:latin typeface="Fira Code" panose="020B0809050000020004" pitchFamily="49" charset="0"/>
                <a:ea typeface="Fira Code" panose="020B0809050000020004" pitchFamily="49" charset="0"/>
              </a:rPr>
              <a:t>Virusdeeltjes</a:t>
            </a:r>
            <a:r>
              <a:rPr lang="en-US" dirty="0">
                <a:latin typeface="Fira Code" panose="020B0809050000020004" pitchFamily="49" charset="0"/>
                <a:ea typeface="Fira Code" panose="020B0809050000020004" pitchFamily="49" charset="0"/>
              </a:rPr>
              <a:t> per ml </a:t>
            </a:r>
            <a:r>
              <a:rPr lang="en-US" dirty="0" err="1">
                <a:latin typeface="Fira Code" panose="020B0809050000020004" pitchFamily="49" charset="0"/>
                <a:ea typeface="Fira Code" panose="020B0809050000020004" pitchFamily="49" charset="0"/>
              </a:rPr>
              <a:t>rioolwater</a:t>
            </a:r>
            <a:r>
              <a:rPr lang="en-US" dirty="0">
                <a:latin typeface="Fira Code" panose="020B0809050000020004" pitchFamily="49" charset="0"/>
                <a:ea typeface="Fira Code" panose="020B0809050000020004" pitchFamily="49" charset="0"/>
              </a:rPr>
              <a:t>` + 1))</a:t>
            </a:r>
          </a:p>
          <a:p>
            <a:endParaRPr lang="en-US" dirty="0">
              <a:latin typeface="Fira Code" panose="020B0809050000020004" pitchFamily="49" charset="0"/>
              <a:ea typeface="Fira Code" panose="020B0809050000020004" pitchFamily="49" charset="0"/>
            </a:endParaRPr>
          </a:p>
          <a:p>
            <a:r>
              <a:rPr lang="en-US" dirty="0" err="1">
                <a:latin typeface="Fira Code" panose="020B0809050000020004" pitchFamily="49" charset="0"/>
                <a:ea typeface="Fira Code" panose="020B0809050000020004" pitchFamily="49" charset="0"/>
              </a:rPr>
              <a:t>fit_lm</a:t>
            </a:r>
            <a:r>
              <a:rPr lang="en-US" dirty="0">
                <a:latin typeface="Fira Code" panose="020B0809050000020004" pitchFamily="49" charset="0"/>
                <a:ea typeface="Fira Code" panose="020B0809050000020004" pitchFamily="49" charset="0"/>
              </a:rPr>
              <a:t> &lt;- </a:t>
            </a:r>
            <a:r>
              <a:rPr lang="en-US" dirty="0" err="1">
                <a:latin typeface="Fira Code" panose="020B0809050000020004" pitchFamily="49" charset="0"/>
                <a:ea typeface="Fira Code" panose="020B0809050000020004" pitchFamily="49" charset="0"/>
              </a:rPr>
              <a:t>lm</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log_icu</a:t>
            </a:r>
            <a:r>
              <a:rPr lang="en-US" dirty="0">
                <a:latin typeface="Fira Code" panose="020B0809050000020004" pitchFamily="49" charset="0"/>
                <a:ea typeface="Fira Code" panose="020B0809050000020004" pitchFamily="49" charset="0"/>
              </a:rPr>
              <a:t> ~ </a:t>
            </a:r>
            <a:r>
              <a:rPr lang="en-US" dirty="0" err="1">
                <a:latin typeface="Fira Code" panose="020B0809050000020004" pitchFamily="49" charset="0"/>
                <a:ea typeface="Fira Code" panose="020B0809050000020004" pitchFamily="49" charset="0"/>
              </a:rPr>
              <a:t>log_sewage</a:t>
            </a:r>
            <a:r>
              <a:rPr lang="en-US" dirty="0">
                <a:latin typeface="Fira Code" panose="020B0809050000020004" pitchFamily="49" charset="0"/>
                <a:ea typeface="Fira Code" panose="020B0809050000020004" pitchFamily="49" charset="0"/>
              </a:rPr>
              <a:t>, data = </a:t>
            </a:r>
            <a:r>
              <a:rPr lang="en-US" dirty="0" err="1">
                <a:latin typeface="Fira Code" panose="020B0809050000020004" pitchFamily="49" charset="0"/>
                <a:ea typeface="Fira Code" panose="020B0809050000020004" pitchFamily="49" charset="0"/>
              </a:rPr>
              <a:t>joined_wide</a:t>
            </a:r>
            <a:r>
              <a:rPr lang="en-US" dirty="0">
                <a:latin typeface="Fira Code" panose="020B0809050000020004" pitchFamily="49" charset="0"/>
                <a:ea typeface="Fira Code" panose="020B0809050000020004" pitchFamily="49" charset="0"/>
              </a:rPr>
              <a:t>)</a:t>
            </a:r>
          </a:p>
          <a:p>
            <a:endParaRPr lang="en-US" dirty="0">
              <a:latin typeface="Fira Code" panose="020B0809050000020004" pitchFamily="49" charset="0"/>
              <a:ea typeface="Fira Code" panose="020B0809050000020004" pitchFamily="49" charset="0"/>
            </a:endParaRPr>
          </a:p>
          <a:p>
            <a:r>
              <a:rPr lang="en-US" dirty="0" err="1">
                <a:latin typeface="Fira Code" panose="020B0809050000020004" pitchFamily="49" charset="0"/>
                <a:ea typeface="Fira Code" panose="020B0809050000020004" pitchFamily="49" charset="0"/>
              </a:rPr>
              <a:t>joined_wide</a:t>
            </a:r>
            <a:r>
              <a:rPr lang="en-US" dirty="0">
                <a:latin typeface="Fira Code" panose="020B0809050000020004" pitchFamily="49" charset="0"/>
                <a:ea typeface="Fira Code" panose="020B0809050000020004" pitchFamily="49" charset="0"/>
              </a:rPr>
              <a:t> &lt;- </a:t>
            </a:r>
            <a:r>
              <a:rPr lang="en-US" dirty="0" err="1">
                <a:latin typeface="Fira Code" panose="020B0809050000020004" pitchFamily="49" charset="0"/>
                <a:ea typeface="Fira Code" panose="020B0809050000020004" pitchFamily="49" charset="0"/>
              </a:rPr>
              <a:t>joined_wide</a:t>
            </a:r>
            <a:r>
              <a:rPr lang="en-US" dirty="0">
                <a:latin typeface="Fira Code" panose="020B0809050000020004" pitchFamily="49" charset="0"/>
                <a:ea typeface="Fira Code" panose="020B0809050000020004" pitchFamily="49" charset="0"/>
              </a:rPr>
              <a:t> %&gt;% </a:t>
            </a:r>
          </a:p>
          <a:p>
            <a:r>
              <a:rPr lang="en-US" dirty="0">
                <a:latin typeface="Fira Code" panose="020B0809050000020004" pitchFamily="49" charset="0"/>
                <a:ea typeface="Fira Code" panose="020B0809050000020004" pitchFamily="49" charset="0"/>
              </a:rPr>
              <a:t>  mutate(</a:t>
            </a:r>
            <a:r>
              <a:rPr lang="en-US" dirty="0" err="1">
                <a:latin typeface="Fira Code" panose="020B0809050000020004" pitchFamily="49" charset="0"/>
                <a:ea typeface="Fira Code" panose="020B0809050000020004" pitchFamily="49" charset="0"/>
              </a:rPr>
              <a:t>log_icu_predicted</a:t>
            </a:r>
            <a:r>
              <a:rPr lang="en-US" dirty="0">
                <a:latin typeface="Fira Code" panose="020B0809050000020004" pitchFamily="49" charset="0"/>
                <a:ea typeface="Fira Code" panose="020B0809050000020004" pitchFamily="49" charset="0"/>
              </a:rPr>
              <a:t> = predict(</a:t>
            </a:r>
            <a:r>
              <a:rPr lang="en-US" dirty="0" err="1">
                <a:latin typeface="Fira Code" panose="020B0809050000020004" pitchFamily="49" charset="0"/>
                <a:ea typeface="Fira Code" panose="020B0809050000020004" pitchFamily="49" charset="0"/>
              </a:rPr>
              <a:t>fit_lm</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newdata</a:t>
            </a:r>
            <a:r>
              <a:rPr lang="en-US" dirty="0">
                <a:latin typeface="Fira Code" panose="020B0809050000020004" pitchFamily="49" charset="0"/>
                <a:ea typeface="Fira Code" panose="020B0809050000020004" pitchFamily="49" charset="0"/>
              </a:rPr>
              <a:t> = .),</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log_icu_residual</a:t>
            </a:r>
            <a:r>
              <a:rPr lang="en-US" dirty="0">
                <a:latin typeface="Fira Code" panose="020B0809050000020004" pitchFamily="49" charset="0"/>
                <a:ea typeface="Fira Code" panose="020B0809050000020004" pitchFamily="49" charset="0"/>
              </a:rPr>
              <a:t> = </a:t>
            </a:r>
            <a:r>
              <a:rPr lang="en-US" dirty="0" err="1">
                <a:latin typeface="Fira Code" panose="020B0809050000020004" pitchFamily="49" charset="0"/>
                <a:ea typeface="Fira Code" panose="020B0809050000020004" pitchFamily="49" charset="0"/>
              </a:rPr>
              <a:t>log_icu</a:t>
            </a:r>
            <a:r>
              <a:rPr lang="en-US" dirty="0">
                <a:latin typeface="Fira Code" panose="020B0809050000020004" pitchFamily="49" charset="0"/>
                <a:ea typeface="Fira Code" panose="020B0809050000020004" pitchFamily="49" charset="0"/>
              </a:rPr>
              <a:t> - </a:t>
            </a:r>
            <a:r>
              <a:rPr lang="en-US" dirty="0" err="1">
                <a:latin typeface="Fira Code" panose="020B0809050000020004" pitchFamily="49" charset="0"/>
                <a:ea typeface="Fira Code" panose="020B0809050000020004" pitchFamily="49" charset="0"/>
              </a:rPr>
              <a:t>log_icu_predicted</a:t>
            </a:r>
            <a:r>
              <a:rPr lang="en-US" dirty="0">
                <a:latin typeface="Fira Code" panose="020B0809050000020004" pitchFamily="49" charset="0"/>
                <a:ea typeface="Fira Code" panose="020B0809050000020004" pitchFamily="49" charset="0"/>
              </a:rPr>
              <a:t>)</a:t>
            </a:r>
          </a:p>
        </p:txBody>
      </p:sp>
    </p:spTree>
    <p:extLst>
      <p:ext uri="{BB962C8B-B14F-4D97-AF65-F5344CB8AC3E}">
        <p14:creationId xmlns:p14="http://schemas.microsoft.com/office/powerpoint/2010/main" val="38671837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5541-A426-554F-9F74-032C2775A9FE}"/>
              </a:ext>
            </a:extLst>
          </p:cNvPr>
          <p:cNvSpPr>
            <a:spLocks noGrp="1"/>
          </p:cNvSpPr>
          <p:nvPr>
            <p:ph type="title"/>
          </p:nvPr>
        </p:nvSpPr>
        <p:spPr/>
        <p:txBody>
          <a:bodyPr/>
          <a:lstStyle/>
          <a:p>
            <a:endParaRPr lang="en-US" dirty="0"/>
          </a:p>
        </p:txBody>
      </p:sp>
      <p:sp>
        <p:nvSpPr>
          <p:cNvPr id="4" name="Rectangle 3">
            <a:extLst>
              <a:ext uri="{FF2B5EF4-FFF2-40B4-BE49-F238E27FC236}">
                <a16:creationId xmlns:a16="http://schemas.microsoft.com/office/drawing/2014/main" id="{D127FBA4-6E2F-4F4B-8764-12E9E9035CE8}"/>
              </a:ext>
            </a:extLst>
          </p:cNvPr>
          <p:cNvSpPr/>
          <p:nvPr/>
        </p:nvSpPr>
        <p:spPr>
          <a:xfrm>
            <a:off x="609480" y="273600"/>
            <a:ext cx="10972440" cy="1200329"/>
          </a:xfrm>
          <a:prstGeom prst="rect">
            <a:avLst/>
          </a:prstGeom>
        </p:spPr>
        <p:txBody>
          <a:bodyPr wrap="square">
            <a:spAutoFit/>
          </a:bodyPr>
          <a:lstStyle/>
          <a:p>
            <a:r>
              <a:rPr lang="en-US" dirty="0" err="1">
                <a:latin typeface="Fira Code" panose="020B0809050000020004" pitchFamily="49" charset="0"/>
                <a:ea typeface="Fira Code" panose="020B0809050000020004" pitchFamily="49" charset="0"/>
              </a:rPr>
              <a:t>joined_wide</a:t>
            </a:r>
            <a:r>
              <a:rPr lang="en-US" dirty="0">
                <a:latin typeface="Fira Code" panose="020B0809050000020004" pitchFamily="49" charset="0"/>
                <a:ea typeface="Fira Code" panose="020B0809050000020004" pitchFamily="49" charset="0"/>
              </a:rPr>
              <a:t> %&gt;% </a:t>
            </a:r>
          </a:p>
          <a:p>
            <a:r>
              <a:rPr lang="en-US" dirty="0">
                <a:latin typeface="Fira Code" panose="020B0809050000020004" pitchFamily="49" charset="0"/>
                <a:ea typeface="Fira Code" panose="020B0809050000020004" pitchFamily="49" charset="0"/>
              </a:rPr>
              <a:t>	filter(!</a:t>
            </a:r>
            <a:r>
              <a:rPr lang="en-US" dirty="0" err="1">
                <a:latin typeface="Fira Code" panose="020B0809050000020004" pitchFamily="49" charset="0"/>
                <a:ea typeface="Fira Code" panose="020B0809050000020004" pitchFamily="49" charset="0"/>
              </a:rPr>
              <a:t>is.na</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log_icu_residual</a:t>
            </a:r>
            <a:r>
              <a:rPr lang="en-US" dirty="0">
                <a:latin typeface="Fira Code" panose="020B0809050000020004" pitchFamily="49" charset="0"/>
                <a:ea typeface="Fira Code" panose="020B0809050000020004" pitchFamily="49" charset="0"/>
              </a:rPr>
              <a:t>)) %&gt;% </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ggplot</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aes</a:t>
            </a:r>
            <a:r>
              <a:rPr lang="en-US" dirty="0">
                <a:latin typeface="Fira Code" panose="020B0809050000020004" pitchFamily="49" charset="0"/>
                <a:ea typeface="Fira Code" panose="020B0809050000020004" pitchFamily="49" charset="0"/>
              </a:rPr>
              <a:t>(Datum, </a:t>
            </a:r>
            <a:r>
              <a:rPr lang="en-US" dirty="0" err="1">
                <a:latin typeface="Fira Code" panose="020B0809050000020004" pitchFamily="49" charset="0"/>
                <a:ea typeface="Fira Code" panose="020B0809050000020004" pitchFamily="49" charset="0"/>
              </a:rPr>
              <a:t>log_icu_residual</a:t>
            </a:r>
            <a:r>
              <a:rPr lang="en-US" dirty="0">
                <a:latin typeface="Fira Code" panose="020B0809050000020004" pitchFamily="49" charset="0"/>
                <a:ea typeface="Fira Code" panose="020B0809050000020004" pitchFamily="49" charset="0"/>
              </a:rPr>
              <a:t>)) +  </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geom_line</a:t>
            </a:r>
            <a:r>
              <a:rPr lang="en-US" dirty="0">
                <a:latin typeface="Fira Code" panose="020B0809050000020004" pitchFamily="49" charset="0"/>
                <a:ea typeface="Fira Code" panose="020B0809050000020004" pitchFamily="49" charset="0"/>
              </a:rPr>
              <a:t>() + </a:t>
            </a:r>
            <a:r>
              <a:rPr lang="en-US" dirty="0" err="1">
                <a:latin typeface="Fira Code" panose="020B0809050000020004" pitchFamily="49" charset="0"/>
                <a:ea typeface="Fira Code" panose="020B0809050000020004" pitchFamily="49" charset="0"/>
              </a:rPr>
              <a:t>theme_fira</a:t>
            </a:r>
            <a:r>
              <a:rPr lang="en-US" dirty="0">
                <a:latin typeface="Fira Code" panose="020B0809050000020004" pitchFamily="49" charset="0"/>
                <a:ea typeface="Fira Code" panose="020B0809050000020004" pitchFamily="49" charset="0"/>
              </a:rPr>
              <a:t>()</a:t>
            </a:r>
          </a:p>
        </p:txBody>
      </p:sp>
      <p:pic>
        <p:nvPicPr>
          <p:cNvPr id="7" name="Picture 6">
            <a:extLst>
              <a:ext uri="{FF2B5EF4-FFF2-40B4-BE49-F238E27FC236}">
                <a16:creationId xmlns:a16="http://schemas.microsoft.com/office/drawing/2014/main" id="{ADF00EE0-3F44-2C4F-B00B-F1EA3B85E16C}"/>
              </a:ext>
            </a:extLst>
          </p:cNvPr>
          <p:cNvPicPr>
            <a:picLocks noChangeAspect="1"/>
          </p:cNvPicPr>
          <p:nvPr/>
        </p:nvPicPr>
        <p:blipFill>
          <a:blip r:embed="rId2"/>
          <a:stretch>
            <a:fillRect/>
          </a:stretch>
        </p:blipFill>
        <p:spPr>
          <a:xfrm>
            <a:off x="0" y="1750927"/>
            <a:ext cx="8119872" cy="5092937"/>
          </a:xfrm>
          <a:prstGeom prst="rect">
            <a:avLst/>
          </a:prstGeom>
        </p:spPr>
      </p:pic>
      <p:sp>
        <p:nvSpPr>
          <p:cNvPr id="5" name="Rectangle 4">
            <a:extLst>
              <a:ext uri="{FF2B5EF4-FFF2-40B4-BE49-F238E27FC236}">
                <a16:creationId xmlns:a16="http://schemas.microsoft.com/office/drawing/2014/main" id="{FC2DC620-9885-7846-9BCC-C2EE506A17D0}"/>
              </a:ext>
            </a:extLst>
          </p:cNvPr>
          <p:cNvSpPr/>
          <p:nvPr/>
        </p:nvSpPr>
        <p:spPr>
          <a:xfrm>
            <a:off x="9369771" y="4256078"/>
            <a:ext cx="1949893" cy="523220"/>
          </a:xfrm>
          <a:prstGeom prst="rect">
            <a:avLst/>
          </a:prstGeom>
        </p:spPr>
        <p:txBody>
          <a:bodyPr wrap="none">
            <a:spAutoFit/>
          </a:bodyPr>
          <a:lstStyle/>
          <a:p>
            <a:r>
              <a:rPr lang="en-IE" sz="2800" b="1" dirty="0">
                <a:solidFill>
                  <a:srgbClr val="000000"/>
                </a:solidFill>
                <a:latin typeface="-webkit-standard"/>
              </a:rPr>
              <a:t>“flattening”</a:t>
            </a:r>
            <a:endParaRPr lang="en-US" sz="2800" dirty="0"/>
          </a:p>
        </p:txBody>
      </p:sp>
    </p:spTree>
    <p:extLst>
      <p:ext uri="{BB962C8B-B14F-4D97-AF65-F5344CB8AC3E}">
        <p14:creationId xmlns:p14="http://schemas.microsoft.com/office/powerpoint/2010/main" val="16166418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5541-A426-554F-9F74-032C2775A9FE}"/>
              </a:ext>
            </a:extLst>
          </p:cNvPr>
          <p:cNvSpPr>
            <a:spLocks noGrp="1"/>
          </p:cNvSpPr>
          <p:nvPr>
            <p:ph type="title"/>
          </p:nvPr>
        </p:nvSpPr>
        <p:spPr/>
        <p:txBody>
          <a:bodyPr/>
          <a:lstStyle/>
          <a:p>
            <a:endParaRPr lang="en-US" dirty="0"/>
          </a:p>
        </p:txBody>
      </p:sp>
      <p:sp>
        <p:nvSpPr>
          <p:cNvPr id="4" name="Rectangle 3">
            <a:extLst>
              <a:ext uri="{FF2B5EF4-FFF2-40B4-BE49-F238E27FC236}">
                <a16:creationId xmlns:a16="http://schemas.microsoft.com/office/drawing/2014/main" id="{D127FBA4-6E2F-4F4B-8764-12E9E9035CE8}"/>
              </a:ext>
            </a:extLst>
          </p:cNvPr>
          <p:cNvSpPr/>
          <p:nvPr/>
        </p:nvSpPr>
        <p:spPr>
          <a:xfrm>
            <a:off x="609480" y="273600"/>
            <a:ext cx="10972440" cy="1200329"/>
          </a:xfrm>
          <a:prstGeom prst="rect">
            <a:avLst/>
          </a:prstGeom>
        </p:spPr>
        <p:txBody>
          <a:bodyPr wrap="square">
            <a:spAutoFit/>
          </a:bodyPr>
          <a:lstStyle/>
          <a:p>
            <a:r>
              <a:rPr lang="en-US" dirty="0" err="1">
                <a:latin typeface="Fira Code" panose="020B0809050000020004" pitchFamily="49" charset="0"/>
                <a:ea typeface="Fira Code" panose="020B0809050000020004" pitchFamily="49" charset="0"/>
              </a:rPr>
              <a:t>joined_wide</a:t>
            </a:r>
            <a:r>
              <a:rPr lang="en-US" dirty="0">
                <a:latin typeface="Fira Code" panose="020B0809050000020004" pitchFamily="49" charset="0"/>
                <a:ea typeface="Fira Code" panose="020B0809050000020004" pitchFamily="49" charset="0"/>
              </a:rPr>
              <a:t> %&gt;% </a:t>
            </a:r>
          </a:p>
          <a:p>
            <a:r>
              <a:rPr lang="en-US" dirty="0">
                <a:latin typeface="Fira Code" panose="020B0809050000020004" pitchFamily="49" charset="0"/>
                <a:ea typeface="Fira Code" panose="020B0809050000020004" pitchFamily="49" charset="0"/>
              </a:rPr>
              <a:t>	filter(!</a:t>
            </a:r>
            <a:r>
              <a:rPr lang="en-US" dirty="0" err="1">
                <a:latin typeface="Fira Code" panose="020B0809050000020004" pitchFamily="49" charset="0"/>
                <a:ea typeface="Fira Code" panose="020B0809050000020004" pitchFamily="49" charset="0"/>
              </a:rPr>
              <a:t>is.na</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log_icu_residual</a:t>
            </a:r>
            <a:r>
              <a:rPr lang="en-US" dirty="0">
                <a:latin typeface="Fira Code" panose="020B0809050000020004" pitchFamily="49" charset="0"/>
                <a:ea typeface="Fira Code" panose="020B0809050000020004" pitchFamily="49" charset="0"/>
              </a:rPr>
              <a:t>)) %&gt;% </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ggplot</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aes</a:t>
            </a:r>
            <a:r>
              <a:rPr lang="en-US" dirty="0">
                <a:latin typeface="Fira Code" panose="020B0809050000020004" pitchFamily="49" charset="0"/>
                <a:ea typeface="Fira Code" panose="020B0809050000020004" pitchFamily="49" charset="0"/>
              </a:rPr>
              <a:t>(Datum, </a:t>
            </a:r>
            <a:r>
              <a:rPr lang="en-US" dirty="0" err="1">
                <a:latin typeface="Fira Code" panose="020B0809050000020004" pitchFamily="49" charset="0"/>
                <a:ea typeface="Fira Code" panose="020B0809050000020004" pitchFamily="49" charset="0"/>
              </a:rPr>
              <a:t>log_icu_residual</a:t>
            </a:r>
            <a:r>
              <a:rPr lang="en-US" dirty="0">
                <a:latin typeface="Fira Code" panose="020B0809050000020004" pitchFamily="49" charset="0"/>
                <a:ea typeface="Fira Code" panose="020B0809050000020004" pitchFamily="49" charset="0"/>
              </a:rPr>
              <a:t>)) +  </a:t>
            </a:r>
          </a:p>
          <a:p>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geom_line</a:t>
            </a:r>
            <a:r>
              <a:rPr lang="en-US" dirty="0">
                <a:latin typeface="Fira Code" panose="020B0809050000020004" pitchFamily="49" charset="0"/>
                <a:ea typeface="Fira Code" panose="020B0809050000020004" pitchFamily="49" charset="0"/>
              </a:rPr>
              <a:t>() + </a:t>
            </a:r>
            <a:r>
              <a:rPr lang="en-US" b="1" dirty="0" err="1">
                <a:latin typeface="Fira Code" panose="020B0809050000020004" pitchFamily="49" charset="0"/>
                <a:ea typeface="Fira Code" panose="020B0809050000020004" pitchFamily="49" charset="0"/>
              </a:rPr>
              <a:t>geom_smooth</a:t>
            </a:r>
            <a:r>
              <a:rPr lang="en-US" b="1" dirty="0">
                <a:latin typeface="Fira Code" panose="020B0809050000020004" pitchFamily="49" charset="0"/>
                <a:ea typeface="Fira Code" panose="020B0809050000020004" pitchFamily="49" charset="0"/>
              </a:rPr>
              <a:t>()</a:t>
            </a:r>
            <a:r>
              <a:rPr lang="en-US" dirty="0">
                <a:latin typeface="Fira Code" panose="020B0809050000020004" pitchFamily="49" charset="0"/>
                <a:ea typeface="Fira Code" panose="020B0809050000020004" pitchFamily="49" charset="0"/>
              </a:rPr>
              <a:t> + </a:t>
            </a:r>
            <a:r>
              <a:rPr lang="en-US" dirty="0" err="1">
                <a:latin typeface="Fira Code" panose="020B0809050000020004" pitchFamily="49" charset="0"/>
                <a:ea typeface="Fira Code" panose="020B0809050000020004" pitchFamily="49" charset="0"/>
              </a:rPr>
              <a:t>theme_fira</a:t>
            </a:r>
            <a:r>
              <a:rPr lang="en-US" dirty="0">
                <a:latin typeface="Fira Code" panose="020B0809050000020004" pitchFamily="49" charset="0"/>
                <a:ea typeface="Fira Code" panose="020B0809050000020004" pitchFamily="49" charset="0"/>
              </a:rPr>
              <a:t>()</a:t>
            </a:r>
          </a:p>
        </p:txBody>
      </p:sp>
      <p:pic>
        <p:nvPicPr>
          <p:cNvPr id="7" name="Picture 6">
            <a:extLst>
              <a:ext uri="{FF2B5EF4-FFF2-40B4-BE49-F238E27FC236}">
                <a16:creationId xmlns:a16="http://schemas.microsoft.com/office/drawing/2014/main" id="{ADF00EE0-3F44-2C4F-B00B-F1EA3B85E16C}"/>
              </a:ext>
            </a:extLst>
          </p:cNvPr>
          <p:cNvPicPr>
            <a:picLocks noChangeAspect="1"/>
          </p:cNvPicPr>
          <p:nvPr/>
        </p:nvPicPr>
        <p:blipFill>
          <a:blip r:embed="rId2"/>
          <a:stretch>
            <a:fillRect/>
          </a:stretch>
        </p:blipFill>
        <p:spPr>
          <a:xfrm>
            <a:off x="0" y="1750927"/>
            <a:ext cx="8119872" cy="5092937"/>
          </a:xfrm>
          <a:prstGeom prst="rect">
            <a:avLst/>
          </a:prstGeom>
        </p:spPr>
      </p:pic>
      <p:pic>
        <p:nvPicPr>
          <p:cNvPr id="3" name="Picture 2">
            <a:extLst>
              <a:ext uri="{FF2B5EF4-FFF2-40B4-BE49-F238E27FC236}">
                <a16:creationId xmlns:a16="http://schemas.microsoft.com/office/drawing/2014/main" id="{A26DF24E-0877-4A48-977D-2BA5723F14FD}"/>
              </a:ext>
            </a:extLst>
          </p:cNvPr>
          <p:cNvPicPr>
            <a:picLocks noChangeAspect="1"/>
          </p:cNvPicPr>
          <p:nvPr/>
        </p:nvPicPr>
        <p:blipFill>
          <a:blip r:embed="rId3"/>
          <a:stretch>
            <a:fillRect/>
          </a:stretch>
        </p:blipFill>
        <p:spPr>
          <a:xfrm>
            <a:off x="0" y="1750926"/>
            <a:ext cx="8119872" cy="5092937"/>
          </a:xfrm>
          <a:prstGeom prst="rect">
            <a:avLst/>
          </a:prstGeom>
        </p:spPr>
      </p:pic>
      <p:sp>
        <p:nvSpPr>
          <p:cNvPr id="6" name="Rectangle 5">
            <a:extLst>
              <a:ext uri="{FF2B5EF4-FFF2-40B4-BE49-F238E27FC236}">
                <a16:creationId xmlns:a16="http://schemas.microsoft.com/office/drawing/2014/main" id="{00A99D26-4DDD-CA47-82D5-7B513A8FCA36}"/>
              </a:ext>
            </a:extLst>
          </p:cNvPr>
          <p:cNvSpPr/>
          <p:nvPr/>
        </p:nvSpPr>
        <p:spPr>
          <a:xfrm>
            <a:off x="9369771" y="4256078"/>
            <a:ext cx="1949893" cy="523220"/>
          </a:xfrm>
          <a:prstGeom prst="rect">
            <a:avLst/>
          </a:prstGeom>
        </p:spPr>
        <p:txBody>
          <a:bodyPr wrap="none">
            <a:spAutoFit/>
          </a:bodyPr>
          <a:lstStyle/>
          <a:p>
            <a:r>
              <a:rPr lang="en-IE" sz="2800" b="1" dirty="0">
                <a:solidFill>
                  <a:srgbClr val="000000"/>
                </a:solidFill>
                <a:latin typeface="-webkit-standard"/>
              </a:rPr>
              <a:t>“flattening”</a:t>
            </a:r>
            <a:endParaRPr lang="en-US" sz="2800" dirty="0"/>
          </a:p>
        </p:txBody>
      </p:sp>
    </p:spTree>
    <p:extLst>
      <p:ext uri="{BB962C8B-B14F-4D97-AF65-F5344CB8AC3E}">
        <p14:creationId xmlns:p14="http://schemas.microsoft.com/office/powerpoint/2010/main" val="18214476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6BCC6-79FE-DB23-8948-117A0A49EB2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D82BEB-2AD7-7ABC-BD99-B5536FB152E0}"/>
              </a:ext>
            </a:extLst>
          </p:cNvPr>
          <p:cNvSpPr>
            <a:spLocks noGrp="1"/>
          </p:cNvSpPr>
          <p:nvPr>
            <p:ph idx="1"/>
          </p:nvPr>
        </p:nvSpPr>
        <p:spPr/>
        <p:txBody>
          <a:bodyPr/>
          <a:lstStyle/>
          <a:p>
            <a:pPr marL="0" indent="0">
              <a:buNone/>
            </a:pPr>
            <a:r>
              <a:rPr lang="en-US" b="1"/>
              <a:t>Some standard plots to explore data</a:t>
            </a:r>
          </a:p>
        </p:txBody>
      </p:sp>
    </p:spTree>
    <p:extLst>
      <p:ext uri="{BB962C8B-B14F-4D97-AF65-F5344CB8AC3E}">
        <p14:creationId xmlns:p14="http://schemas.microsoft.com/office/powerpoint/2010/main" val="15642319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0C804-CFBF-3C85-6004-EB62B54C4979}"/>
              </a:ext>
            </a:extLst>
          </p:cNvPr>
          <p:cNvSpPr>
            <a:spLocks noGrp="1"/>
          </p:cNvSpPr>
          <p:nvPr>
            <p:ph type="title"/>
          </p:nvPr>
        </p:nvSpPr>
        <p:spPr/>
        <p:txBody>
          <a:bodyPr/>
          <a:lstStyle/>
          <a:p>
            <a:r>
              <a:rPr lang="en-US"/>
              <a:t>Visual EDA</a:t>
            </a:r>
          </a:p>
        </p:txBody>
      </p:sp>
      <p:sp>
        <p:nvSpPr>
          <p:cNvPr id="3" name="Content Placeholder 2">
            <a:extLst>
              <a:ext uri="{FF2B5EF4-FFF2-40B4-BE49-F238E27FC236}">
                <a16:creationId xmlns:a16="http://schemas.microsoft.com/office/drawing/2014/main" id="{EB97BF18-6297-90A8-9946-B01296F42234}"/>
              </a:ext>
            </a:extLst>
          </p:cNvPr>
          <p:cNvSpPr>
            <a:spLocks noGrp="1"/>
          </p:cNvSpPr>
          <p:nvPr>
            <p:ph idx="1"/>
          </p:nvPr>
        </p:nvSpPr>
        <p:spPr/>
        <p:txBody>
          <a:bodyPr/>
          <a:lstStyle/>
          <a:p>
            <a:pPr indent="-227880">
              <a:spcBef>
                <a:spcPts val="1001"/>
              </a:spcBef>
              <a:buClr>
                <a:srgbClr val="000000"/>
              </a:buClr>
              <a:buFont typeface="Arial"/>
              <a:buChar char="•"/>
            </a:pPr>
            <a:r>
              <a:rPr lang="nl-NL" b="1" spc="-1" dirty="0" err="1">
                <a:solidFill>
                  <a:srgbClr val="000000"/>
                </a:solidFill>
                <a:latin typeface="Calibri"/>
              </a:rPr>
              <a:t>Variation</a:t>
            </a:r>
            <a:r>
              <a:rPr lang="nl-NL" spc="-1" dirty="0">
                <a:solidFill>
                  <a:srgbClr val="000000"/>
                </a:solidFill>
                <a:latin typeface="Calibri"/>
              </a:rPr>
              <a:t>: How are </a:t>
            </a:r>
            <a:r>
              <a:rPr lang="nl-NL" spc="-1" dirty="0" err="1">
                <a:solidFill>
                  <a:srgbClr val="000000"/>
                </a:solidFill>
                <a:latin typeface="Calibri"/>
              </a:rPr>
              <a:t>the</a:t>
            </a:r>
            <a:r>
              <a:rPr lang="nl-NL" spc="-1" dirty="0">
                <a:solidFill>
                  <a:srgbClr val="000000"/>
                </a:solidFill>
                <a:latin typeface="Calibri"/>
              </a:rPr>
              <a:t> features </a:t>
            </a:r>
            <a:r>
              <a:rPr lang="nl-NL" spc="-1" dirty="0" err="1">
                <a:solidFill>
                  <a:srgbClr val="000000"/>
                </a:solidFill>
                <a:latin typeface="Calibri"/>
              </a:rPr>
              <a:t>distributed</a:t>
            </a:r>
            <a:r>
              <a:rPr lang="nl-NL" spc="-1" dirty="0">
                <a:solidFill>
                  <a:srgbClr val="000000"/>
                </a:solidFill>
                <a:latin typeface="Calibri"/>
              </a:rPr>
              <a:t>? </a:t>
            </a:r>
            <a:endParaRPr lang="nl-NL" spc="-1" dirty="0">
              <a:latin typeface="Arial"/>
            </a:endParaRPr>
          </a:p>
          <a:p>
            <a:pPr lvl="1" indent="-227880">
              <a:spcBef>
                <a:spcPts val="499"/>
              </a:spcBef>
              <a:buClr>
                <a:srgbClr val="000000"/>
              </a:buClr>
              <a:buFont typeface="Arial"/>
              <a:buChar char="•"/>
            </a:pPr>
            <a:r>
              <a:rPr lang="nl-NL" spc="-1" dirty="0" err="1">
                <a:solidFill>
                  <a:srgbClr val="000000"/>
                </a:solidFill>
                <a:latin typeface="Calibri"/>
              </a:rPr>
              <a:t>Univariate</a:t>
            </a:r>
            <a:endParaRPr lang="nl-NL" spc="-1" dirty="0">
              <a:latin typeface="Arial"/>
            </a:endParaRPr>
          </a:p>
          <a:p>
            <a:pPr lvl="1" indent="-227880">
              <a:spcBef>
                <a:spcPts val="499"/>
              </a:spcBef>
              <a:buClr>
                <a:srgbClr val="000000"/>
              </a:buClr>
              <a:buFont typeface="Arial"/>
              <a:buChar char="•"/>
            </a:pPr>
            <a:r>
              <a:rPr lang="nl-NL" spc="-1" dirty="0" err="1">
                <a:solidFill>
                  <a:srgbClr val="000000"/>
                </a:solidFill>
                <a:latin typeface="Calibri"/>
              </a:rPr>
              <a:t>Specific</a:t>
            </a:r>
            <a:r>
              <a:rPr lang="nl-NL" spc="-1" dirty="0">
                <a:solidFill>
                  <a:srgbClr val="000000"/>
                </a:solidFill>
                <a:latin typeface="Calibri"/>
              </a:rPr>
              <a:t>: </a:t>
            </a:r>
            <a:r>
              <a:rPr lang="nl-NL" spc="-1" dirty="0" err="1">
                <a:solidFill>
                  <a:srgbClr val="000000"/>
                </a:solidFill>
                <a:latin typeface="Calibri"/>
              </a:rPr>
              <a:t>among</a:t>
            </a:r>
            <a:r>
              <a:rPr lang="nl-NL" spc="-1" dirty="0">
                <a:solidFill>
                  <a:srgbClr val="000000"/>
                </a:solidFill>
                <a:latin typeface="Calibri"/>
              </a:rPr>
              <a:t> </a:t>
            </a:r>
            <a:r>
              <a:rPr lang="nl-NL" spc="-1" dirty="0" err="1">
                <a:solidFill>
                  <a:srgbClr val="000000"/>
                </a:solidFill>
                <a:latin typeface="Calibri"/>
              </a:rPr>
              <a:t>people</a:t>
            </a:r>
            <a:r>
              <a:rPr lang="nl-NL" spc="-1" dirty="0">
                <a:solidFill>
                  <a:srgbClr val="000000"/>
                </a:solidFill>
                <a:latin typeface="Calibri"/>
              </a:rPr>
              <a:t>, </a:t>
            </a:r>
            <a:r>
              <a:rPr lang="nl-NL" spc="-1" dirty="0" err="1">
                <a:solidFill>
                  <a:srgbClr val="000000"/>
                </a:solidFill>
                <a:latin typeface="Calibri"/>
              </a:rPr>
              <a:t>among</a:t>
            </a:r>
            <a:r>
              <a:rPr lang="nl-NL" spc="-1" dirty="0">
                <a:solidFill>
                  <a:srgbClr val="000000"/>
                </a:solidFill>
                <a:latin typeface="Calibri"/>
              </a:rPr>
              <a:t> time, </a:t>
            </a:r>
            <a:r>
              <a:rPr lang="nl-NL" spc="-1" dirty="0" err="1">
                <a:solidFill>
                  <a:srgbClr val="000000"/>
                </a:solidFill>
                <a:latin typeface="Calibri"/>
              </a:rPr>
              <a:t>among</a:t>
            </a:r>
            <a:r>
              <a:rPr lang="nl-NL" spc="-1" dirty="0">
                <a:solidFill>
                  <a:srgbClr val="000000"/>
                </a:solidFill>
                <a:latin typeface="Calibri"/>
              </a:rPr>
              <a:t> </a:t>
            </a:r>
            <a:r>
              <a:rPr lang="nl-NL" spc="-1" dirty="0" err="1">
                <a:solidFill>
                  <a:srgbClr val="000000"/>
                </a:solidFill>
                <a:latin typeface="Calibri"/>
              </a:rPr>
              <a:t>flights</a:t>
            </a:r>
            <a:endParaRPr lang="nl-NL" spc="-1" dirty="0">
              <a:latin typeface="Arial"/>
            </a:endParaRPr>
          </a:p>
          <a:p>
            <a:pPr lvl="1" indent="-227880">
              <a:spcBef>
                <a:spcPts val="499"/>
              </a:spcBef>
              <a:buClr>
                <a:srgbClr val="000000"/>
              </a:buClr>
              <a:buFont typeface="Arial"/>
              <a:buChar char="•"/>
            </a:pPr>
            <a:r>
              <a:rPr lang="nl-NL" spc="-1" dirty="0">
                <a:solidFill>
                  <a:srgbClr val="000000"/>
                </a:solidFill>
                <a:latin typeface="Calibri"/>
              </a:rPr>
              <a:t>General: </a:t>
            </a:r>
            <a:r>
              <a:rPr lang="nl-NL" spc="-1" dirty="0" err="1">
                <a:solidFill>
                  <a:srgbClr val="000000"/>
                </a:solidFill>
                <a:latin typeface="Calibri"/>
              </a:rPr>
              <a:t>among</a:t>
            </a:r>
            <a:r>
              <a:rPr lang="nl-NL" spc="-1" dirty="0">
                <a:solidFill>
                  <a:srgbClr val="000000"/>
                </a:solidFill>
                <a:latin typeface="Calibri"/>
              </a:rPr>
              <a:t> </a:t>
            </a:r>
            <a:r>
              <a:rPr lang="nl-NL" spc="-1" dirty="0" err="1">
                <a:solidFill>
                  <a:srgbClr val="000000"/>
                </a:solidFill>
                <a:latin typeface="Calibri"/>
              </a:rPr>
              <a:t>the</a:t>
            </a:r>
            <a:r>
              <a:rPr lang="nl-NL" spc="-1" dirty="0">
                <a:solidFill>
                  <a:srgbClr val="000000"/>
                </a:solidFill>
                <a:latin typeface="Calibri"/>
              </a:rPr>
              <a:t> unit of </a:t>
            </a:r>
            <a:r>
              <a:rPr lang="nl-NL" spc="-1" dirty="0" err="1">
                <a:solidFill>
                  <a:srgbClr val="000000"/>
                </a:solidFill>
                <a:latin typeface="Calibri"/>
              </a:rPr>
              <a:t>measurement</a:t>
            </a:r>
            <a:r>
              <a:rPr lang="nl-NL" spc="-1" dirty="0">
                <a:solidFill>
                  <a:srgbClr val="000000"/>
                </a:solidFill>
                <a:latin typeface="Calibri"/>
              </a:rPr>
              <a:t>, </a:t>
            </a:r>
            <a:r>
              <a:rPr lang="nl-NL" spc="-1" dirty="0" err="1">
                <a:solidFill>
                  <a:srgbClr val="000000"/>
                </a:solidFill>
                <a:latin typeface="Calibri"/>
              </a:rPr>
              <a:t>among</a:t>
            </a:r>
            <a:r>
              <a:rPr lang="nl-NL" spc="-1" dirty="0">
                <a:solidFill>
                  <a:srgbClr val="000000"/>
                </a:solidFill>
                <a:latin typeface="Calibri"/>
              </a:rPr>
              <a:t> </a:t>
            </a:r>
            <a:r>
              <a:rPr lang="nl-NL" spc="-1" dirty="0" err="1">
                <a:solidFill>
                  <a:srgbClr val="000000"/>
                </a:solidFill>
                <a:latin typeface="Calibri"/>
              </a:rPr>
              <a:t>examples</a:t>
            </a:r>
            <a:endParaRPr lang="nl-NL" spc="-1" dirty="0">
              <a:latin typeface="Arial"/>
            </a:endParaRPr>
          </a:p>
          <a:p>
            <a:pPr lvl="1" indent="-227880">
              <a:spcBef>
                <a:spcPts val="499"/>
              </a:spcBef>
              <a:buClr>
                <a:srgbClr val="000000"/>
              </a:buClr>
              <a:buFont typeface="Arial"/>
              <a:buChar char="•"/>
            </a:pPr>
            <a:r>
              <a:rPr lang="nl-NL" spc="-1" dirty="0">
                <a:solidFill>
                  <a:srgbClr val="000000"/>
                </a:solidFill>
                <a:latin typeface="Calibri"/>
              </a:rPr>
              <a:t>In </a:t>
            </a:r>
            <a:r>
              <a:rPr lang="nl-NL" spc="-1" dirty="0" err="1">
                <a:solidFill>
                  <a:srgbClr val="000000"/>
                </a:solidFill>
                <a:latin typeface="Calibri"/>
              </a:rPr>
              <a:t>tabular</a:t>
            </a:r>
            <a:r>
              <a:rPr lang="nl-NL" spc="-1" dirty="0">
                <a:solidFill>
                  <a:srgbClr val="000000"/>
                </a:solidFill>
                <a:latin typeface="Calibri"/>
              </a:rPr>
              <a:t> data, </a:t>
            </a:r>
            <a:r>
              <a:rPr lang="nl-NL" spc="-1" dirty="0" err="1">
                <a:solidFill>
                  <a:srgbClr val="000000"/>
                </a:solidFill>
                <a:latin typeface="Calibri"/>
              </a:rPr>
              <a:t>generally</a:t>
            </a:r>
            <a:r>
              <a:rPr lang="nl-NL" spc="-1" dirty="0">
                <a:solidFill>
                  <a:srgbClr val="000000"/>
                </a:solidFill>
                <a:latin typeface="Calibri"/>
              </a:rPr>
              <a:t> </a:t>
            </a:r>
            <a:r>
              <a:rPr lang="nl-NL" spc="-1" dirty="0" err="1">
                <a:solidFill>
                  <a:srgbClr val="000000"/>
                </a:solidFill>
                <a:latin typeface="Calibri"/>
              </a:rPr>
              <a:t>one</a:t>
            </a:r>
            <a:r>
              <a:rPr lang="nl-NL" spc="-1" dirty="0">
                <a:solidFill>
                  <a:srgbClr val="000000"/>
                </a:solidFill>
                <a:latin typeface="Calibri"/>
              </a:rPr>
              <a:t> </a:t>
            </a:r>
            <a:r>
              <a:rPr lang="nl-NL" spc="-1" dirty="0" err="1">
                <a:solidFill>
                  <a:srgbClr val="000000"/>
                </a:solidFill>
                <a:latin typeface="Calibri"/>
              </a:rPr>
              <a:t>example</a:t>
            </a:r>
            <a:r>
              <a:rPr lang="nl-NL" spc="-1" dirty="0">
                <a:solidFill>
                  <a:srgbClr val="000000"/>
                </a:solidFill>
                <a:latin typeface="Calibri"/>
              </a:rPr>
              <a:t>/unit per </a:t>
            </a:r>
            <a:r>
              <a:rPr lang="nl-NL" spc="-1" dirty="0" err="1">
                <a:solidFill>
                  <a:srgbClr val="000000"/>
                </a:solidFill>
                <a:latin typeface="Calibri"/>
              </a:rPr>
              <a:t>row</a:t>
            </a:r>
            <a:endParaRPr lang="nl-NL" spc="-1" dirty="0">
              <a:latin typeface="Arial"/>
            </a:endParaRPr>
          </a:p>
          <a:p>
            <a:pPr>
              <a:spcBef>
                <a:spcPts val="1001"/>
              </a:spcBef>
            </a:pPr>
            <a:endParaRPr lang="nl-NL" sz="2400" b="0" strike="noStrike" spc="-1" dirty="0">
              <a:latin typeface="Arial"/>
            </a:endParaRPr>
          </a:p>
          <a:p>
            <a:pPr indent="-227880">
              <a:spcBef>
                <a:spcPts val="1001"/>
              </a:spcBef>
              <a:buClr>
                <a:srgbClr val="000000"/>
              </a:buClr>
              <a:buFont typeface="Arial"/>
              <a:buChar char="•"/>
            </a:pPr>
            <a:r>
              <a:rPr lang="nl-NL" b="1" spc="-1" dirty="0">
                <a:solidFill>
                  <a:srgbClr val="000000"/>
                </a:solidFill>
                <a:latin typeface="Calibri"/>
              </a:rPr>
              <a:t>Association</a:t>
            </a:r>
            <a:r>
              <a:rPr lang="nl-NL" spc="-1" dirty="0">
                <a:solidFill>
                  <a:srgbClr val="000000"/>
                </a:solidFill>
                <a:latin typeface="Calibri"/>
              </a:rPr>
              <a:t>: </a:t>
            </a:r>
            <a:r>
              <a:rPr lang="nl-NL" spc="-1" dirty="0" err="1">
                <a:solidFill>
                  <a:srgbClr val="000000"/>
                </a:solidFill>
                <a:latin typeface="Calibri"/>
              </a:rPr>
              <a:t>What</a:t>
            </a:r>
            <a:r>
              <a:rPr lang="nl-NL" spc="-1" dirty="0">
                <a:solidFill>
                  <a:srgbClr val="000000"/>
                </a:solidFill>
                <a:latin typeface="Calibri"/>
              </a:rPr>
              <a:t> type of </a:t>
            </a:r>
            <a:r>
              <a:rPr lang="nl-NL" spc="-1" dirty="0" err="1">
                <a:solidFill>
                  <a:srgbClr val="000000"/>
                </a:solidFill>
                <a:latin typeface="Calibri"/>
              </a:rPr>
              <a:t>covariation</a:t>
            </a:r>
            <a:r>
              <a:rPr lang="nl-NL" spc="-1" dirty="0">
                <a:solidFill>
                  <a:srgbClr val="000000"/>
                </a:solidFill>
                <a:latin typeface="Calibri"/>
              </a:rPr>
              <a:t> </a:t>
            </a:r>
            <a:r>
              <a:rPr lang="nl-NL" spc="-1" dirty="0" err="1">
                <a:solidFill>
                  <a:srgbClr val="000000"/>
                </a:solidFill>
                <a:latin typeface="Calibri"/>
              </a:rPr>
              <a:t>occurs</a:t>
            </a:r>
            <a:r>
              <a:rPr lang="nl-NL" spc="-1" dirty="0">
                <a:solidFill>
                  <a:srgbClr val="000000"/>
                </a:solidFill>
                <a:latin typeface="Calibri"/>
              </a:rPr>
              <a:t> in </a:t>
            </a:r>
            <a:r>
              <a:rPr lang="nl-NL" spc="-1" dirty="0" err="1">
                <a:solidFill>
                  <a:srgbClr val="000000"/>
                </a:solidFill>
                <a:latin typeface="Calibri"/>
              </a:rPr>
              <a:t>the</a:t>
            </a:r>
            <a:r>
              <a:rPr lang="nl-NL" spc="-1" dirty="0">
                <a:solidFill>
                  <a:srgbClr val="000000"/>
                </a:solidFill>
                <a:latin typeface="Calibri"/>
              </a:rPr>
              <a:t> data?</a:t>
            </a:r>
            <a:endParaRPr lang="nl-NL" spc="-1" dirty="0">
              <a:latin typeface="Arial"/>
            </a:endParaRPr>
          </a:p>
          <a:p>
            <a:pPr lvl="1" indent="-227880">
              <a:spcBef>
                <a:spcPts val="499"/>
              </a:spcBef>
              <a:buClr>
                <a:srgbClr val="000000"/>
              </a:buClr>
              <a:buFont typeface="Arial"/>
              <a:buChar char="•"/>
            </a:pPr>
            <a:r>
              <a:rPr lang="nl-NL" spc="-1" dirty="0" err="1">
                <a:solidFill>
                  <a:srgbClr val="000000"/>
                </a:solidFill>
                <a:latin typeface="Calibri"/>
              </a:rPr>
              <a:t>Which</a:t>
            </a:r>
            <a:r>
              <a:rPr lang="nl-NL" spc="-1" dirty="0">
                <a:solidFill>
                  <a:srgbClr val="000000"/>
                </a:solidFill>
                <a:latin typeface="Calibri"/>
              </a:rPr>
              <a:t> features </a:t>
            </a:r>
            <a:r>
              <a:rPr lang="nl-NL" spc="-1" dirty="0" err="1">
                <a:solidFill>
                  <a:srgbClr val="000000"/>
                </a:solidFill>
                <a:latin typeface="Calibri"/>
              </a:rPr>
              <a:t>covary</a:t>
            </a:r>
            <a:r>
              <a:rPr lang="nl-NL" spc="-1" dirty="0">
                <a:solidFill>
                  <a:srgbClr val="000000"/>
                </a:solidFill>
                <a:latin typeface="Calibri"/>
              </a:rPr>
              <a:t>? </a:t>
            </a:r>
            <a:r>
              <a:rPr lang="nl-NL" spc="-1" dirty="0" err="1">
                <a:solidFill>
                  <a:srgbClr val="000000"/>
                </a:solidFill>
                <a:latin typeface="Calibri"/>
              </a:rPr>
              <a:t>When</a:t>
            </a:r>
            <a:r>
              <a:rPr lang="nl-NL" spc="-1" dirty="0">
                <a:solidFill>
                  <a:srgbClr val="000000"/>
                </a:solidFill>
                <a:latin typeface="Calibri"/>
              </a:rPr>
              <a:t> A is high, is B high?</a:t>
            </a:r>
            <a:endParaRPr lang="nl-NL" spc="-1" dirty="0">
              <a:latin typeface="Arial"/>
            </a:endParaRPr>
          </a:p>
          <a:p>
            <a:pPr lvl="1" indent="-227880">
              <a:spcBef>
                <a:spcPts val="499"/>
              </a:spcBef>
              <a:buClr>
                <a:srgbClr val="000000"/>
              </a:buClr>
              <a:buFont typeface="Arial"/>
              <a:buChar char="•"/>
            </a:pPr>
            <a:r>
              <a:rPr lang="nl-NL" spc="-1" dirty="0" err="1">
                <a:solidFill>
                  <a:srgbClr val="000000"/>
                </a:solidFill>
                <a:latin typeface="Calibri"/>
              </a:rPr>
              <a:t>Multidimensional</a:t>
            </a:r>
            <a:r>
              <a:rPr lang="nl-NL" spc="-1" dirty="0">
                <a:solidFill>
                  <a:srgbClr val="000000"/>
                </a:solidFill>
                <a:latin typeface="Calibri"/>
              </a:rPr>
              <a:t>, multivariate.</a:t>
            </a:r>
            <a:endParaRPr lang="nl-NL" spc="-1" dirty="0">
              <a:latin typeface="Arial"/>
            </a:endParaRPr>
          </a:p>
          <a:p>
            <a:pPr marL="0" indent="0">
              <a:buNone/>
            </a:pPr>
            <a:endParaRPr lang="en-US"/>
          </a:p>
        </p:txBody>
      </p:sp>
    </p:spTree>
    <p:extLst>
      <p:ext uri="{BB962C8B-B14F-4D97-AF65-F5344CB8AC3E}">
        <p14:creationId xmlns:p14="http://schemas.microsoft.com/office/powerpoint/2010/main" val="27888826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3669B-AF9B-3983-1027-2EFDE4619FAF}"/>
              </a:ext>
            </a:extLst>
          </p:cNvPr>
          <p:cNvSpPr>
            <a:spLocks noGrp="1"/>
          </p:cNvSpPr>
          <p:nvPr>
            <p:ph type="title"/>
          </p:nvPr>
        </p:nvSpPr>
        <p:spPr/>
        <p:txBody>
          <a:bodyPr/>
          <a:lstStyle/>
          <a:p>
            <a:r>
              <a:rPr lang="en-US"/>
              <a:t>Example dataset: accidental deaths in the Netherlands 1950-2024</a:t>
            </a:r>
          </a:p>
        </p:txBody>
      </p:sp>
      <p:sp>
        <p:nvSpPr>
          <p:cNvPr id="3" name="Content Placeholder 2">
            <a:extLst>
              <a:ext uri="{FF2B5EF4-FFF2-40B4-BE49-F238E27FC236}">
                <a16:creationId xmlns:a16="http://schemas.microsoft.com/office/drawing/2014/main" id="{B5D2D4F9-3ED6-7775-5602-CEE32AACC9E4}"/>
              </a:ext>
            </a:extLst>
          </p:cNvPr>
          <p:cNvSpPr>
            <a:spLocks noGrp="1"/>
          </p:cNvSpPr>
          <p:nvPr>
            <p:ph idx="1"/>
          </p:nvPr>
        </p:nvSpPr>
        <p:spPr/>
        <p:txBody>
          <a:bodyPr>
            <a:normAutofit fontScale="55000" lnSpcReduction="20000"/>
          </a:bodyPr>
          <a:lstStyle/>
          <a:p>
            <a:pPr marL="0" indent="0">
              <a:buNone/>
            </a:pPr>
            <a:r>
              <a:rPr lang="en-US"/>
              <a:t>(You can find these data online yourself at: </a:t>
            </a:r>
            <a:r>
              <a:rPr lang="en-US" sz="2400">
                <a:latin typeface="Fira Code" pitchFamily="49" charset="0"/>
                <a:ea typeface="Fira Code" pitchFamily="49" charset="0"/>
                <a:cs typeface="Fira Code" pitchFamily="49" charset="0"/>
                <a:hlinkClick r:id="rId2"/>
              </a:rPr>
              <a:t>https://opendata.cbs.nl/statline</a:t>
            </a:r>
            <a:r>
              <a:rPr lang="en-US" sz="2400">
                <a:latin typeface="Fira Code" pitchFamily="49" charset="0"/>
                <a:ea typeface="Fira Code" pitchFamily="49" charset="0"/>
                <a:cs typeface="Fira Code" pitchFamily="49" charset="0"/>
              </a:rPr>
              <a:t>)</a:t>
            </a:r>
          </a:p>
          <a:p>
            <a:pPr marL="0" indent="0">
              <a:buNone/>
            </a:pPr>
            <a:endParaRPr lang="en-US" sz="2400">
              <a:latin typeface="Fira Code" pitchFamily="49" charset="0"/>
              <a:ea typeface="Fira Code" pitchFamily="49" charset="0"/>
              <a:cs typeface="Fira Code" pitchFamily="49" charset="0"/>
            </a:endParaRPr>
          </a:p>
          <a:p>
            <a:pPr marL="0" indent="0">
              <a:buNone/>
            </a:pPr>
            <a:r>
              <a:rPr lang="en-US" sz="2400">
                <a:latin typeface="Fira Code" pitchFamily="49" charset="0"/>
                <a:ea typeface="Fira Code" pitchFamily="49" charset="0"/>
                <a:cs typeface="Fira Code" pitchFamily="49" charset="0"/>
              </a:rPr>
              <a:t>&gt; accidents %&gt;% sample_n(10) %&gt;% arrange(age_group, year)</a:t>
            </a:r>
          </a:p>
          <a:p>
            <a:pPr marL="0" indent="0">
              <a:buNone/>
            </a:pPr>
            <a:r>
              <a:rPr lang="en-US" sz="2400">
                <a:latin typeface="Fira Code" pitchFamily="49" charset="0"/>
                <a:ea typeface="Fira Code" pitchFamily="49" charset="0"/>
                <a:cs typeface="Fira Code" pitchFamily="49" charset="0"/>
              </a:rPr>
              <a:t># A tibble: 10 × 5</a:t>
            </a:r>
          </a:p>
          <a:p>
            <a:pPr marL="0" indent="0">
              <a:buNone/>
            </a:pPr>
            <a:r>
              <a:rPr lang="en-US" sz="2400">
                <a:latin typeface="Fira Code" pitchFamily="49" charset="0"/>
                <a:ea typeface="Fira Code" pitchFamily="49" charset="0"/>
                <a:cs typeface="Fira Code" pitchFamily="49" charset="0"/>
              </a:rPr>
              <a:t>    year age_group               fall drown poison</a:t>
            </a:r>
          </a:p>
          <a:p>
            <a:pPr marL="0" indent="0">
              <a:buNone/>
            </a:pPr>
            <a:r>
              <a:rPr lang="en-US" sz="2400">
                <a:latin typeface="Fira Code" pitchFamily="49" charset="0"/>
                <a:ea typeface="Fira Code" pitchFamily="49" charset="0"/>
                <a:cs typeface="Fira Code" pitchFamily="49" charset="0"/>
              </a:rPr>
              <a:t>   &lt;dbl&gt; &lt;fct&gt;                  &lt;dbl&gt; &lt;dbl&gt;  &lt;dbl&gt;</a:t>
            </a:r>
          </a:p>
          <a:p>
            <a:pPr marL="0" indent="0">
              <a:buNone/>
            </a:pPr>
            <a:r>
              <a:rPr lang="en-US" sz="2400">
                <a:latin typeface="Fira Code" pitchFamily="49" charset="0"/>
                <a:ea typeface="Fira Code" pitchFamily="49" charset="0"/>
                <a:cs typeface="Fira Code" pitchFamily="49" charset="0"/>
              </a:rPr>
              <a:t> 1  2009 0 jaar                     1     0      0</a:t>
            </a:r>
          </a:p>
          <a:p>
            <a:pPr marL="0" indent="0">
              <a:buNone/>
            </a:pPr>
            <a:r>
              <a:rPr lang="en-US" sz="2400">
                <a:latin typeface="Fira Code" pitchFamily="49" charset="0"/>
                <a:ea typeface="Fira Code" pitchFamily="49" charset="0"/>
                <a:cs typeface="Fira Code" pitchFamily="49" charset="0"/>
              </a:rPr>
              <a:t> 2  1973 5 tot 10 jaar              5    44      2</a:t>
            </a:r>
          </a:p>
          <a:p>
            <a:pPr marL="0" indent="0">
              <a:buNone/>
            </a:pPr>
            <a:r>
              <a:rPr lang="en-US" sz="2400">
                <a:latin typeface="Fira Code" pitchFamily="49" charset="0"/>
                <a:ea typeface="Fira Code" pitchFamily="49" charset="0"/>
                <a:cs typeface="Fira Code" pitchFamily="49" charset="0"/>
              </a:rPr>
              <a:t> 3  1999 5 tot 10 jaar              3     5      0</a:t>
            </a:r>
          </a:p>
          <a:p>
            <a:pPr marL="0" indent="0">
              <a:buNone/>
            </a:pPr>
            <a:r>
              <a:rPr lang="en-US" sz="2400">
                <a:latin typeface="Fira Code" pitchFamily="49" charset="0"/>
                <a:ea typeface="Fira Code" pitchFamily="49" charset="0"/>
                <a:cs typeface="Fira Code" pitchFamily="49" charset="0"/>
              </a:rPr>
              <a:t> 4  2000 15 tot 20 jaar             0     0      1</a:t>
            </a:r>
          </a:p>
          <a:p>
            <a:pPr marL="0" indent="0">
              <a:buNone/>
            </a:pPr>
            <a:r>
              <a:rPr lang="en-US" sz="2400">
                <a:latin typeface="Fira Code" pitchFamily="49" charset="0"/>
                <a:ea typeface="Fira Code" pitchFamily="49" charset="0"/>
                <a:cs typeface="Fira Code" pitchFamily="49" charset="0"/>
              </a:rPr>
              <a:t> 5  1979 30 tot 35 jaar             2     3      7</a:t>
            </a:r>
          </a:p>
          <a:p>
            <a:pPr marL="0" indent="0">
              <a:buNone/>
            </a:pPr>
            <a:r>
              <a:rPr lang="en-US" sz="2400">
                <a:latin typeface="Fira Code" pitchFamily="49" charset="0"/>
                <a:ea typeface="Fira Code" pitchFamily="49" charset="0"/>
                <a:cs typeface="Fira Code" pitchFamily="49" charset="0"/>
              </a:rPr>
              <a:t> 6  2012 35 tot 40 jaar             7     3     14</a:t>
            </a:r>
          </a:p>
          <a:p>
            <a:pPr marL="0" indent="0">
              <a:buNone/>
            </a:pPr>
            <a:r>
              <a:rPr lang="en-US" sz="2400">
                <a:latin typeface="Fira Code" pitchFamily="49" charset="0"/>
                <a:ea typeface="Fira Code" pitchFamily="49" charset="0"/>
                <a:cs typeface="Fira Code" pitchFamily="49" charset="0"/>
              </a:rPr>
              <a:t> 7  1951 55 tot 60 jaar            25    12      4</a:t>
            </a:r>
          </a:p>
          <a:p>
            <a:pPr marL="0" indent="0">
              <a:buNone/>
            </a:pPr>
            <a:r>
              <a:rPr lang="en-US" sz="2400">
                <a:latin typeface="Fira Code" pitchFamily="49" charset="0"/>
                <a:ea typeface="Fira Code" pitchFamily="49" charset="0"/>
                <a:cs typeface="Fira Code" pitchFamily="49" charset="0"/>
              </a:rPr>
              <a:t> 8  1971 60 tot 65 jaar            55    10      3</a:t>
            </a:r>
          </a:p>
          <a:p>
            <a:pPr marL="0" indent="0">
              <a:buNone/>
            </a:pPr>
            <a:r>
              <a:rPr lang="en-US" sz="2400">
                <a:latin typeface="Fira Code" pitchFamily="49" charset="0"/>
                <a:ea typeface="Fira Code" pitchFamily="49" charset="0"/>
                <a:cs typeface="Fira Code" pitchFamily="49" charset="0"/>
              </a:rPr>
              <a:t> 9  2000 85 tot 90 jaar           414     3      0</a:t>
            </a:r>
          </a:p>
          <a:p>
            <a:pPr marL="0" indent="0">
              <a:buNone/>
            </a:pPr>
            <a:r>
              <a:rPr lang="en-US" sz="2400">
                <a:latin typeface="Fira Code" pitchFamily="49" charset="0"/>
                <a:ea typeface="Fira Code" pitchFamily="49" charset="0"/>
                <a:cs typeface="Fira Code" pitchFamily="49" charset="0"/>
              </a:rPr>
              <a:t>10  1999 Totaal alle leeftijden  1736    91     95</a:t>
            </a:r>
          </a:p>
        </p:txBody>
      </p:sp>
    </p:spTree>
    <p:extLst>
      <p:ext uri="{BB962C8B-B14F-4D97-AF65-F5344CB8AC3E}">
        <p14:creationId xmlns:p14="http://schemas.microsoft.com/office/powerpoint/2010/main" val="3386433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030F1-A7D8-7A3A-06FE-3D9DB50579DA}"/>
              </a:ext>
            </a:extLst>
          </p:cNvPr>
          <p:cNvSpPr>
            <a:spLocks noGrp="1"/>
          </p:cNvSpPr>
          <p:nvPr>
            <p:ph type="title"/>
          </p:nvPr>
        </p:nvSpPr>
        <p:spPr/>
        <p:txBody>
          <a:bodyPr/>
          <a:lstStyle/>
          <a:p>
            <a:r>
              <a:rPr lang="en-US"/>
              <a:t>Background: school swimming</a:t>
            </a:r>
          </a:p>
        </p:txBody>
      </p:sp>
      <p:sp>
        <p:nvSpPr>
          <p:cNvPr id="3" name="Content Placeholder 2">
            <a:extLst>
              <a:ext uri="{FF2B5EF4-FFF2-40B4-BE49-F238E27FC236}">
                <a16:creationId xmlns:a16="http://schemas.microsoft.com/office/drawing/2014/main" id="{5E0DDBE3-8B22-75DF-A065-B59E420A7BAE}"/>
              </a:ext>
            </a:extLst>
          </p:cNvPr>
          <p:cNvSpPr>
            <a:spLocks noGrp="1"/>
          </p:cNvSpPr>
          <p:nvPr>
            <p:ph idx="1"/>
          </p:nvPr>
        </p:nvSpPr>
        <p:spPr/>
        <p:txBody>
          <a:bodyPr/>
          <a:lstStyle/>
          <a:p>
            <a:r>
              <a:rPr lang="en-US"/>
              <a:t>In The Netherlands, you are never far from water;</a:t>
            </a:r>
          </a:p>
          <a:p>
            <a:r>
              <a:rPr lang="en-US"/>
              <a:t>All Dutch children used to learn to swim at school;</a:t>
            </a:r>
          </a:p>
          <a:p>
            <a:r>
              <a:rPr lang="en-US"/>
              <a:t>But mandatory school swimming abolished starting from 1985.</a:t>
            </a:r>
          </a:p>
          <a:p>
            <a:endParaRPr lang="en-US"/>
          </a:p>
        </p:txBody>
      </p:sp>
      <p:pic>
        <p:nvPicPr>
          <p:cNvPr id="1026" name="Picture 2" descr="Schoolzwemmen - Gemeente Amsterdam">
            <a:extLst>
              <a:ext uri="{FF2B5EF4-FFF2-40B4-BE49-F238E27FC236}">
                <a16:creationId xmlns:a16="http://schemas.microsoft.com/office/drawing/2014/main" id="{42AD8C30-8FCC-B2EE-116A-322813959A4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885174" y="3548599"/>
            <a:ext cx="6468626" cy="2852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9565D79-4C37-0E4C-177F-CBE4E909AF9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39001" y="3548599"/>
            <a:ext cx="3977234" cy="285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79843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EA093-A5DB-0FA4-A62A-E3A1C15FED67}"/>
              </a:ext>
            </a:extLst>
          </p:cNvPr>
          <p:cNvSpPr>
            <a:spLocks noGrp="1"/>
          </p:cNvSpPr>
          <p:nvPr>
            <p:ph type="title"/>
          </p:nvPr>
        </p:nvSpPr>
        <p:spPr/>
        <p:txBody>
          <a:bodyPr/>
          <a:lstStyle/>
          <a:p>
            <a:r>
              <a:rPr lang="en-US"/>
              <a:t>Univariate: accidental drownings</a:t>
            </a:r>
          </a:p>
        </p:txBody>
      </p:sp>
      <p:pic>
        <p:nvPicPr>
          <p:cNvPr id="5" name="Content Placeholder 4" descr="A graph with numbers and lines&#10;&#10;AI-generated content may be incorrect.">
            <a:extLst>
              <a:ext uri="{FF2B5EF4-FFF2-40B4-BE49-F238E27FC236}">
                <a16:creationId xmlns:a16="http://schemas.microsoft.com/office/drawing/2014/main" id="{20501630-B33C-0DD2-F4F9-03271D0DFA86}"/>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838200" y="3165587"/>
            <a:ext cx="3381755" cy="2029053"/>
          </a:xfrm>
        </p:spPr>
      </p:pic>
      <p:pic>
        <p:nvPicPr>
          <p:cNvPr id="7" name="Picture 6" descr="A graph with dots and lines&#10;&#10;AI-generated content may be incorrect.">
            <a:extLst>
              <a:ext uri="{FF2B5EF4-FFF2-40B4-BE49-F238E27FC236}">
                <a16:creationId xmlns:a16="http://schemas.microsoft.com/office/drawing/2014/main" id="{4F8CFA90-EB0D-45DF-CB1A-C1419A8F302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05122" y="3165587"/>
            <a:ext cx="3381755" cy="2029053"/>
          </a:xfrm>
          <a:prstGeom prst="rect">
            <a:avLst/>
          </a:prstGeom>
        </p:spPr>
      </p:pic>
      <p:pic>
        <p:nvPicPr>
          <p:cNvPr id="9" name="Picture 8" descr="A graph on a black background&#10;&#10;AI-generated content may be incorrect.">
            <a:extLst>
              <a:ext uri="{FF2B5EF4-FFF2-40B4-BE49-F238E27FC236}">
                <a16:creationId xmlns:a16="http://schemas.microsoft.com/office/drawing/2014/main" id="{72676F21-2ED9-9C3C-00D6-21F35E78322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72044" y="3165587"/>
            <a:ext cx="3381755" cy="2029053"/>
          </a:xfrm>
          <a:prstGeom prst="rect">
            <a:avLst/>
          </a:prstGeom>
        </p:spPr>
      </p:pic>
      <p:sp>
        <p:nvSpPr>
          <p:cNvPr id="10" name="TextBox 9">
            <a:extLst>
              <a:ext uri="{FF2B5EF4-FFF2-40B4-BE49-F238E27FC236}">
                <a16:creationId xmlns:a16="http://schemas.microsoft.com/office/drawing/2014/main" id="{E5208711-3BE4-165A-5F97-D9C0EA3A7DED}"/>
              </a:ext>
            </a:extLst>
          </p:cNvPr>
          <p:cNvSpPr txBox="1"/>
          <p:nvPr/>
        </p:nvSpPr>
        <p:spPr>
          <a:xfrm>
            <a:off x="922265" y="2508069"/>
            <a:ext cx="1217256" cy="369332"/>
          </a:xfrm>
          <a:prstGeom prst="rect">
            <a:avLst/>
          </a:prstGeom>
          <a:noFill/>
        </p:spPr>
        <p:txBody>
          <a:bodyPr wrap="none" rtlCol="0">
            <a:spAutoFit/>
          </a:bodyPr>
          <a:lstStyle/>
          <a:p>
            <a:r>
              <a:rPr lang="en-US"/>
              <a:t>Histogram</a:t>
            </a:r>
          </a:p>
        </p:txBody>
      </p:sp>
      <p:sp>
        <p:nvSpPr>
          <p:cNvPr id="11" name="TextBox 10">
            <a:extLst>
              <a:ext uri="{FF2B5EF4-FFF2-40B4-BE49-F238E27FC236}">
                <a16:creationId xmlns:a16="http://schemas.microsoft.com/office/drawing/2014/main" id="{E2EE2FC9-B377-91DB-6BC3-64E3BFE9AFCF}"/>
              </a:ext>
            </a:extLst>
          </p:cNvPr>
          <p:cNvSpPr txBox="1"/>
          <p:nvPr/>
        </p:nvSpPr>
        <p:spPr>
          <a:xfrm>
            <a:off x="4405122" y="2469583"/>
            <a:ext cx="940770" cy="369332"/>
          </a:xfrm>
          <a:prstGeom prst="rect">
            <a:avLst/>
          </a:prstGeom>
          <a:noFill/>
        </p:spPr>
        <p:txBody>
          <a:bodyPr wrap="none" rtlCol="0">
            <a:spAutoFit/>
          </a:bodyPr>
          <a:lstStyle/>
          <a:p>
            <a:r>
              <a:rPr lang="en-US"/>
              <a:t>Boxplot</a:t>
            </a:r>
          </a:p>
        </p:txBody>
      </p:sp>
      <p:sp>
        <p:nvSpPr>
          <p:cNvPr id="12" name="TextBox 11">
            <a:extLst>
              <a:ext uri="{FF2B5EF4-FFF2-40B4-BE49-F238E27FC236}">
                <a16:creationId xmlns:a16="http://schemas.microsoft.com/office/drawing/2014/main" id="{EB02E4C1-F798-DA7E-6CAF-B0A54F3E83C4}"/>
              </a:ext>
            </a:extLst>
          </p:cNvPr>
          <p:cNvSpPr txBox="1"/>
          <p:nvPr/>
        </p:nvSpPr>
        <p:spPr>
          <a:xfrm>
            <a:off x="7972044" y="2469583"/>
            <a:ext cx="1375698" cy="369332"/>
          </a:xfrm>
          <a:prstGeom prst="rect">
            <a:avLst/>
          </a:prstGeom>
          <a:noFill/>
        </p:spPr>
        <p:txBody>
          <a:bodyPr wrap="none" rtlCol="0">
            <a:spAutoFit/>
          </a:bodyPr>
          <a:lstStyle/>
          <a:p>
            <a:r>
              <a:rPr lang="en-US"/>
              <a:t>Density plot</a:t>
            </a:r>
          </a:p>
        </p:txBody>
      </p:sp>
    </p:spTree>
    <p:extLst>
      <p:ext uri="{BB962C8B-B14F-4D97-AF65-F5344CB8AC3E}">
        <p14:creationId xmlns:p14="http://schemas.microsoft.com/office/powerpoint/2010/main" val="38249983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DD16-C073-8162-3A1A-D1F90373BF67}"/>
            </a:ext>
          </a:extLst>
        </p:cNvPr>
        <p:cNvGrpSpPr/>
        <p:nvPr/>
      </p:nvGrpSpPr>
      <p:grpSpPr>
        <a:xfrm>
          <a:off x="0" y="0"/>
          <a:ext cx="0" cy="0"/>
          <a:chOff x="0" y="0"/>
          <a:chExt cx="0" cy="0"/>
        </a:xfrm>
      </p:grpSpPr>
      <p:pic>
        <p:nvPicPr>
          <p:cNvPr id="4" name="Picture 3" descr="A graph with a white rectangle&#10;&#10;AI-generated content may be incorrect.">
            <a:extLst>
              <a:ext uri="{FF2B5EF4-FFF2-40B4-BE49-F238E27FC236}">
                <a16:creationId xmlns:a16="http://schemas.microsoft.com/office/drawing/2014/main" id="{943E3F88-1CB5-DA8C-A3FE-0C276A54736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405121" y="3165587"/>
            <a:ext cx="3381755" cy="2029053"/>
          </a:xfrm>
          <a:prstGeom prst="rect">
            <a:avLst/>
          </a:prstGeom>
        </p:spPr>
      </p:pic>
      <p:pic>
        <p:nvPicPr>
          <p:cNvPr id="8" name="Picture 7" descr="A graph of a number of falling down&#10;&#10;AI-generated content may be incorrect.">
            <a:extLst>
              <a:ext uri="{FF2B5EF4-FFF2-40B4-BE49-F238E27FC236}">
                <a16:creationId xmlns:a16="http://schemas.microsoft.com/office/drawing/2014/main" id="{2BE151AD-9BEB-27A6-3E7E-93BBCF88810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38199" y="3165587"/>
            <a:ext cx="3381755" cy="2029053"/>
          </a:xfrm>
          <a:prstGeom prst="rect">
            <a:avLst/>
          </a:prstGeom>
        </p:spPr>
      </p:pic>
      <p:pic>
        <p:nvPicPr>
          <p:cNvPr id="14" name="Picture 13" descr="A graph on a black background&#10;&#10;AI-generated content may be incorrect.">
            <a:extLst>
              <a:ext uri="{FF2B5EF4-FFF2-40B4-BE49-F238E27FC236}">
                <a16:creationId xmlns:a16="http://schemas.microsoft.com/office/drawing/2014/main" id="{A48DE122-694E-EFF4-FC84-F62ADCB514E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72044" y="3165588"/>
            <a:ext cx="3381755" cy="2029053"/>
          </a:xfrm>
          <a:prstGeom prst="rect">
            <a:avLst/>
          </a:prstGeom>
        </p:spPr>
      </p:pic>
      <p:sp>
        <p:nvSpPr>
          <p:cNvPr id="2" name="Title 1">
            <a:extLst>
              <a:ext uri="{FF2B5EF4-FFF2-40B4-BE49-F238E27FC236}">
                <a16:creationId xmlns:a16="http://schemas.microsoft.com/office/drawing/2014/main" id="{3412102D-3D70-2A1E-E98E-E8E87627EC01}"/>
              </a:ext>
            </a:extLst>
          </p:cNvPr>
          <p:cNvSpPr>
            <a:spLocks noGrp="1"/>
          </p:cNvSpPr>
          <p:nvPr>
            <p:ph type="title"/>
          </p:nvPr>
        </p:nvSpPr>
        <p:spPr/>
        <p:txBody>
          <a:bodyPr/>
          <a:lstStyle/>
          <a:p>
            <a:r>
              <a:rPr lang="en-US"/>
              <a:t>Univariate: accidental drownings (log)</a:t>
            </a:r>
          </a:p>
        </p:txBody>
      </p:sp>
      <p:sp>
        <p:nvSpPr>
          <p:cNvPr id="10" name="TextBox 9">
            <a:extLst>
              <a:ext uri="{FF2B5EF4-FFF2-40B4-BE49-F238E27FC236}">
                <a16:creationId xmlns:a16="http://schemas.microsoft.com/office/drawing/2014/main" id="{10021A75-490A-A522-71AF-D6A2E2DD092F}"/>
              </a:ext>
            </a:extLst>
          </p:cNvPr>
          <p:cNvSpPr txBox="1"/>
          <p:nvPr/>
        </p:nvSpPr>
        <p:spPr>
          <a:xfrm>
            <a:off x="922265" y="2508069"/>
            <a:ext cx="1217256" cy="369332"/>
          </a:xfrm>
          <a:prstGeom prst="rect">
            <a:avLst/>
          </a:prstGeom>
          <a:noFill/>
        </p:spPr>
        <p:txBody>
          <a:bodyPr wrap="none" rtlCol="0">
            <a:spAutoFit/>
          </a:bodyPr>
          <a:lstStyle/>
          <a:p>
            <a:r>
              <a:rPr lang="en-US"/>
              <a:t>Histogram</a:t>
            </a:r>
          </a:p>
        </p:txBody>
      </p:sp>
      <p:sp>
        <p:nvSpPr>
          <p:cNvPr id="11" name="TextBox 10">
            <a:extLst>
              <a:ext uri="{FF2B5EF4-FFF2-40B4-BE49-F238E27FC236}">
                <a16:creationId xmlns:a16="http://schemas.microsoft.com/office/drawing/2014/main" id="{6510BCBA-6684-35A0-8AB0-24469B891FBF}"/>
              </a:ext>
            </a:extLst>
          </p:cNvPr>
          <p:cNvSpPr txBox="1"/>
          <p:nvPr/>
        </p:nvSpPr>
        <p:spPr>
          <a:xfrm>
            <a:off x="4405122" y="2469583"/>
            <a:ext cx="940770" cy="369332"/>
          </a:xfrm>
          <a:prstGeom prst="rect">
            <a:avLst/>
          </a:prstGeom>
          <a:noFill/>
        </p:spPr>
        <p:txBody>
          <a:bodyPr wrap="none" rtlCol="0">
            <a:spAutoFit/>
          </a:bodyPr>
          <a:lstStyle/>
          <a:p>
            <a:r>
              <a:rPr lang="en-US"/>
              <a:t>Boxplot</a:t>
            </a:r>
          </a:p>
        </p:txBody>
      </p:sp>
      <p:sp>
        <p:nvSpPr>
          <p:cNvPr id="12" name="TextBox 11">
            <a:extLst>
              <a:ext uri="{FF2B5EF4-FFF2-40B4-BE49-F238E27FC236}">
                <a16:creationId xmlns:a16="http://schemas.microsoft.com/office/drawing/2014/main" id="{E8D5A961-BB52-93FF-2BEB-43AB2E0D96B0}"/>
              </a:ext>
            </a:extLst>
          </p:cNvPr>
          <p:cNvSpPr txBox="1"/>
          <p:nvPr/>
        </p:nvSpPr>
        <p:spPr>
          <a:xfrm>
            <a:off x="7972044" y="2469583"/>
            <a:ext cx="1375698" cy="369332"/>
          </a:xfrm>
          <a:prstGeom prst="rect">
            <a:avLst/>
          </a:prstGeom>
          <a:noFill/>
        </p:spPr>
        <p:txBody>
          <a:bodyPr wrap="none" rtlCol="0">
            <a:spAutoFit/>
          </a:bodyPr>
          <a:lstStyle/>
          <a:p>
            <a:r>
              <a:rPr lang="en-US"/>
              <a:t>Density plot</a:t>
            </a:r>
          </a:p>
        </p:txBody>
      </p:sp>
    </p:spTree>
    <p:extLst>
      <p:ext uri="{BB962C8B-B14F-4D97-AF65-F5344CB8AC3E}">
        <p14:creationId xmlns:p14="http://schemas.microsoft.com/office/powerpoint/2010/main" val="5739590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3DBAA-92AD-BE0D-DBC3-A6CE552363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4B3229-12F7-4008-EDC8-5B56E4217FDE}"/>
              </a:ext>
            </a:extLst>
          </p:cNvPr>
          <p:cNvSpPr>
            <a:spLocks noGrp="1"/>
          </p:cNvSpPr>
          <p:nvPr>
            <p:ph type="title"/>
          </p:nvPr>
        </p:nvSpPr>
        <p:spPr/>
        <p:txBody>
          <a:bodyPr/>
          <a:lstStyle/>
          <a:p>
            <a:r>
              <a:rPr lang="en-US"/>
              <a:t>Comparisons (univariate vs. categorical)</a:t>
            </a:r>
          </a:p>
        </p:txBody>
      </p:sp>
      <p:pic>
        <p:nvPicPr>
          <p:cNvPr id="5" name="Picture 4" descr="A graph with a blue line&#10;&#10;AI-generated content may be incorrect.">
            <a:extLst>
              <a:ext uri="{FF2B5EF4-FFF2-40B4-BE49-F238E27FC236}">
                <a16:creationId xmlns:a16="http://schemas.microsoft.com/office/drawing/2014/main" id="{501F5964-156B-1308-8802-BF4A33E5290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29845" y="4852722"/>
            <a:ext cx="6343776" cy="1903133"/>
          </a:xfrm>
          <a:prstGeom prst="rect">
            <a:avLst/>
          </a:prstGeom>
        </p:spPr>
      </p:pic>
      <p:pic>
        <p:nvPicPr>
          <p:cNvPr id="7" name="Picture 6" descr="A graph with a blue line&#10;&#10;AI-generated content may be incorrect.">
            <a:extLst>
              <a:ext uri="{FF2B5EF4-FFF2-40B4-BE49-F238E27FC236}">
                <a16:creationId xmlns:a16="http://schemas.microsoft.com/office/drawing/2014/main" id="{97AD9C49-54F9-8736-7340-F95B37D40BF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629845" y="1367059"/>
            <a:ext cx="6343776" cy="1903133"/>
          </a:xfrm>
          <a:prstGeom prst="rect">
            <a:avLst/>
          </a:prstGeom>
        </p:spPr>
      </p:pic>
      <p:pic>
        <p:nvPicPr>
          <p:cNvPr id="9" name="Picture 8" descr="A graph with different colored rectangles&#10;&#10;AI-generated content may be incorrect.">
            <a:extLst>
              <a:ext uri="{FF2B5EF4-FFF2-40B4-BE49-F238E27FC236}">
                <a16:creationId xmlns:a16="http://schemas.microsoft.com/office/drawing/2014/main" id="{1A0B5D22-DC2B-A5D7-CB0B-782FF008437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629845" y="3119509"/>
            <a:ext cx="3139826" cy="1883896"/>
          </a:xfrm>
          <a:prstGeom prst="rect">
            <a:avLst/>
          </a:prstGeom>
        </p:spPr>
      </p:pic>
      <p:sp>
        <p:nvSpPr>
          <p:cNvPr id="10" name="TextBox 9">
            <a:extLst>
              <a:ext uri="{FF2B5EF4-FFF2-40B4-BE49-F238E27FC236}">
                <a16:creationId xmlns:a16="http://schemas.microsoft.com/office/drawing/2014/main" id="{1B01597D-CFD1-6964-2ED3-5B51C9B610A3}"/>
              </a:ext>
            </a:extLst>
          </p:cNvPr>
          <p:cNvSpPr txBox="1"/>
          <p:nvPr/>
        </p:nvSpPr>
        <p:spPr>
          <a:xfrm>
            <a:off x="1556007" y="1690688"/>
            <a:ext cx="1329467" cy="369332"/>
          </a:xfrm>
          <a:prstGeom prst="rect">
            <a:avLst/>
          </a:prstGeom>
          <a:noFill/>
        </p:spPr>
        <p:txBody>
          <a:bodyPr wrap="none" rtlCol="0">
            <a:spAutoFit/>
          </a:bodyPr>
          <a:lstStyle/>
          <a:p>
            <a:r>
              <a:rPr lang="en-US"/>
              <a:t>Histograms</a:t>
            </a:r>
          </a:p>
        </p:txBody>
      </p:sp>
      <p:sp>
        <p:nvSpPr>
          <p:cNvPr id="11" name="TextBox 10">
            <a:extLst>
              <a:ext uri="{FF2B5EF4-FFF2-40B4-BE49-F238E27FC236}">
                <a16:creationId xmlns:a16="http://schemas.microsoft.com/office/drawing/2014/main" id="{3E42EF14-5190-8B6C-B800-6F86C482C886}"/>
              </a:ext>
            </a:extLst>
          </p:cNvPr>
          <p:cNvSpPr txBox="1"/>
          <p:nvPr/>
        </p:nvSpPr>
        <p:spPr>
          <a:xfrm>
            <a:off x="1556007" y="3119509"/>
            <a:ext cx="1052083" cy="369332"/>
          </a:xfrm>
          <a:prstGeom prst="rect">
            <a:avLst/>
          </a:prstGeom>
          <a:noFill/>
        </p:spPr>
        <p:txBody>
          <a:bodyPr wrap="none" rtlCol="0">
            <a:spAutoFit/>
          </a:bodyPr>
          <a:lstStyle/>
          <a:p>
            <a:r>
              <a:rPr lang="en-US"/>
              <a:t>Boxplots</a:t>
            </a:r>
          </a:p>
        </p:txBody>
      </p:sp>
      <p:sp>
        <p:nvSpPr>
          <p:cNvPr id="12" name="TextBox 11">
            <a:extLst>
              <a:ext uri="{FF2B5EF4-FFF2-40B4-BE49-F238E27FC236}">
                <a16:creationId xmlns:a16="http://schemas.microsoft.com/office/drawing/2014/main" id="{EF867CF0-0E36-C1A3-04B4-3C2197A07D12}"/>
              </a:ext>
            </a:extLst>
          </p:cNvPr>
          <p:cNvSpPr txBox="1"/>
          <p:nvPr/>
        </p:nvSpPr>
        <p:spPr>
          <a:xfrm>
            <a:off x="1556007" y="5003405"/>
            <a:ext cx="1487010" cy="369332"/>
          </a:xfrm>
          <a:prstGeom prst="rect">
            <a:avLst/>
          </a:prstGeom>
          <a:noFill/>
        </p:spPr>
        <p:txBody>
          <a:bodyPr wrap="none" rtlCol="0">
            <a:spAutoFit/>
          </a:bodyPr>
          <a:lstStyle/>
          <a:p>
            <a:r>
              <a:rPr lang="en-US"/>
              <a:t>Density plots</a:t>
            </a:r>
          </a:p>
        </p:txBody>
      </p:sp>
    </p:spTree>
    <p:extLst>
      <p:ext uri="{BB962C8B-B14F-4D97-AF65-F5344CB8AC3E}">
        <p14:creationId xmlns:p14="http://schemas.microsoft.com/office/powerpoint/2010/main" val="28729006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4C488-FB01-D30B-99A8-75B986B3A491}"/>
              </a:ext>
            </a:extLst>
          </p:cNvPr>
          <p:cNvSpPr>
            <a:spLocks noGrp="1"/>
          </p:cNvSpPr>
          <p:nvPr>
            <p:ph type="title"/>
          </p:nvPr>
        </p:nvSpPr>
        <p:spPr/>
        <p:txBody>
          <a:bodyPr/>
          <a:lstStyle/>
          <a:p>
            <a:r>
              <a:rPr lang="en-US"/>
              <a:t>Rainplot combines plots</a:t>
            </a:r>
          </a:p>
        </p:txBody>
      </p:sp>
      <p:pic>
        <p:nvPicPr>
          <p:cNvPr id="5" name="Content Placeholder 4" descr="A screenshot of a graph&#10;&#10;AI-generated content may be incorrect.">
            <a:extLst>
              <a:ext uri="{FF2B5EF4-FFF2-40B4-BE49-F238E27FC236}">
                <a16:creationId xmlns:a16="http://schemas.microsoft.com/office/drawing/2014/main" id="{D782BE3A-5AAD-A91B-D21F-1B703808039A}"/>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6017277" y="2481294"/>
            <a:ext cx="5173526" cy="3104116"/>
          </a:xfrm>
        </p:spPr>
      </p:pic>
      <p:pic>
        <p:nvPicPr>
          <p:cNvPr id="7" name="Picture 6" descr="A white and black graph&#10;&#10;AI-generated content may be incorrect.">
            <a:extLst>
              <a:ext uri="{FF2B5EF4-FFF2-40B4-BE49-F238E27FC236}">
                <a16:creationId xmlns:a16="http://schemas.microsoft.com/office/drawing/2014/main" id="{721A0029-39C8-52B3-49B3-C46F40260BE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38200" y="2481294"/>
            <a:ext cx="4572000" cy="2743200"/>
          </a:xfrm>
          <a:prstGeom prst="rect">
            <a:avLst/>
          </a:prstGeom>
        </p:spPr>
      </p:pic>
    </p:spTree>
    <p:extLst>
      <p:ext uri="{BB962C8B-B14F-4D97-AF65-F5344CB8AC3E}">
        <p14:creationId xmlns:p14="http://schemas.microsoft.com/office/powerpoint/2010/main" val="3845890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66B2B-135F-45FE-417E-1E71C31493B9}"/>
              </a:ext>
            </a:extLst>
          </p:cNvPr>
          <p:cNvSpPr>
            <a:spLocks noGrp="1"/>
          </p:cNvSpPr>
          <p:nvPr>
            <p:ph type="title"/>
          </p:nvPr>
        </p:nvSpPr>
        <p:spPr/>
        <p:txBody>
          <a:bodyPr/>
          <a:lstStyle/>
          <a:p>
            <a:r>
              <a:rPr lang="en-US"/>
              <a:t>Pairs plot = small multiple scatter plots</a:t>
            </a:r>
          </a:p>
        </p:txBody>
      </p:sp>
      <p:pic>
        <p:nvPicPr>
          <p:cNvPr id="5" name="Content Placeholder 4" descr="A screenshot of a graph&#10;&#10;AI-generated content may be incorrect.">
            <a:extLst>
              <a:ext uri="{FF2B5EF4-FFF2-40B4-BE49-F238E27FC236}">
                <a16:creationId xmlns:a16="http://schemas.microsoft.com/office/drawing/2014/main" id="{F2085CFE-B10A-B7FA-DD62-A438A1EEEF3F}"/>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2768600" y="1825625"/>
            <a:ext cx="6654800" cy="4575175"/>
          </a:xfrm>
        </p:spPr>
      </p:pic>
    </p:spTree>
    <p:extLst>
      <p:ext uri="{BB962C8B-B14F-4D97-AF65-F5344CB8AC3E}">
        <p14:creationId xmlns:p14="http://schemas.microsoft.com/office/powerpoint/2010/main" val="35224246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07640-C597-5624-E932-CF953FD1B6AF}"/>
              </a:ext>
            </a:extLst>
          </p:cNvPr>
          <p:cNvSpPr>
            <a:spLocks noGrp="1"/>
          </p:cNvSpPr>
          <p:nvPr>
            <p:ph type="title"/>
          </p:nvPr>
        </p:nvSpPr>
        <p:spPr/>
        <p:txBody>
          <a:bodyPr/>
          <a:lstStyle/>
          <a:p>
            <a:r>
              <a:rPr lang="en-US"/>
              <a:t>Uptick in accidental drownings?</a:t>
            </a:r>
          </a:p>
        </p:txBody>
      </p:sp>
      <p:pic>
        <p:nvPicPr>
          <p:cNvPr id="5" name="Content Placeholder 4" descr="A graph of a line&#10;&#10;AI-generated content may be incorrect.">
            <a:extLst>
              <a:ext uri="{FF2B5EF4-FFF2-40B4-BE49-F238E27FC236}">
                <a16:creationId xmlns:a16="http://schemas.microsoft.com/office/drawing/2014/main" id="{94D488AC-3D81-F630-CB7D-FAA9DCEF40E5}"/>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838200" y="1690688"/>
            <a:ext cx="8232320" cy="4802187"/>
          </a:xfrm>
        </p:spPr>
      </p:pic>
    </p:spTree>
    <p:extLst>
      <p:ext uri="{BB962C8B-B14F-4D97-AF65-F5344CB8AC3E}">
        <p14:creationId xmlns:p14="http://schemas.microsoft.com/office/powerpoint/2010/main" val="11480550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11952-45C0-4BBC-BB3C-1ACB6D75A631}"/>
              </a:ext>
            </a:extLst>
          </p:cNvPr>
          <p:cNvSpPr>
            <a:spLocks noGrp="1"/>
          </p:cNvSpPr>
          <p:nvPr>
            <p:ph type="title"/>
          </p:nvPr>
        </p:nvSpPr>
        <p:spPr/>
        <p:txBody>
          <a:bodyPr/>
          <a:lstStyle/>
          <a:p>
            <a:r>
              <a:rPr lang="en-US"/>
              <a:t>Time series model as a baseline </a:t>
            </a:r>
          </a:p>
        </p:txBody>
      </p:sp>
      <p:pic>
        <p:nvPicPr>
          <p:cNvPr id="5" name="Content Placeholder 4" descr="A graph with red lines on a black background&#10;&#10;AI-generated content may be incorrect.">
            <a:extLst>
              <a:ext uri="{FF2B5EF4-FFF2-40B4-BE49-F238E27FC236}">
                <a16:creationId xmlns:a16="http://schemas.microsoft.com/office/drawing/2014/main" id="{9216B301-FA86-9223-34C9-425B617EC618}"/>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838200" y="1633432"/>
            <a:ext cx="7315200" cy="4572000"/>
          </a:xfrm>
        </p:spPr>
      </p:pic>
      <p:sp>
        <p:nvSpPr>
          <p:cNvPr id="7" name="TextBox 6">
            <a:extLst>
              <a:ext uri="{FF2B5EF4-FFF2-40B4-BE49-F238E27FC236}">
                <a16:creationId xmlns:a16="http://schemas.microsoft.com/office/drawing/2014/main" id="{6781E947-E95E-CA49-C05A-DEC1015D9AF5}"/>
              </a:ext>
            </a:extLst>
          </p:cNvPr>
          <p:cNvSpPr txBox="1"/>
          <p:nvPr/>
        </p:nvSpPr>
        <p:spPr>
          <a:xfrm>
            <a:off x="8338601" y="3301728"/>
            <a:ext cx="3645489" cy="2308324"/>
          </a:xfrm>
          <a:prstGeom prst="rect">
            <a:avLst/>
          </a:prstGeom>
          <a:noFill/>
        </p:spPr>
        <p:txBody>
          <a:bodyPr wrap="square" rtlCol="0">
            <a:spAutoFit/>
          </a:bodyPr>
          <a:lstStyle/>
          <a:p>
            <a:pPr marL="285750" indent="-285750">
              <a:buFont typeface="Arial" panose="020B0604020202020204" pitchFamily="34" charset="0"/>
              <a:buChar char="•"/>
            </a:pPr>
            <a:r>
              <a:rPr lang="en-US">
                <a:latin typeface="Fira Sans" panose="020B0503050000020004" pitchFamily="34" charset="0"/>
                <a:ea typeface="Fira Sans" panose="020B0503050000020004" pitchFamily="34" charset="0"/>
                <a:cs typeface="Fira Code" pitchFamily="49" charset="0"/>
              </a:rPr>
              <a:t>What about other age groups?</a:t>
            </a:r>
          </a:p>
          <a:p>
            <a:pPr marL="285750" indent="-285750">
              <a:buFont typeface="Arial" panose="020B0604020202020204" pitchFamily="34" charset="0"/>
              <a:buChar char="•"/>
            </a:pPr>
            <a:r>
              <a:rPr lang="en-US">
                <a:latin typeface="Fira Sans" panose="020B0503050000020004" pitchFamily="34" charset="0"/>
                <a:ea typeface="Fira Sans" panose="020B0503050000020004" pitchFamily="34" charset="0"/>
                <a:cs typeface="Fira Code" pitchFamily="49" charset="0"/>
              </a:rPr>
              <a:t>“Negative control”: What about age groups that should be </a:t>
            </a:r>
            <a:r>
              <a:rPr lang="en-US" i="1">
                <a:latin typeface="Fira Sans" panose="020B0503050000020004" pitchFamily="34" charset="0"/>
                <a:ea typeface="Fira Sans" panose="020B0503050000020004" pitchFamily="34" charset="0"/>
                <a:cs typeface="Fira Code" pitchFamily="49" charset="0"/>
              </a:rPr>
              <a:t>unaffected</a:t>
            </a:r>
            <a:r>
              <a:rPr lang="en-US">
                <a:latin typeface="Fira Sans" panose="020B0503050000020004" pitchFamily="34" charset="0"/>
                <a:ea typeface="Fira Sans" panose="020B0503050000020004" pitchFamily="34" charset="0"/>
                <a:cs typeface="Fira Code" pitchFamily="49" charset="0"/>
              </a:rPr>
              <a:t>?</a:t>
            </a:r>
          </a:p>
          <a:p>
            <a:pPr marL="285750" indent="-285750">
              <a:buFont typeface="Arial" panose="020B0604020202020204" pitchFamily="34" charset="0"/>
              <a:buChar char="•"/>
            </a:pPr>
            <a:r>
              <a:rPr lang="en-US">
                <a:latin typeface="Fira Sans" panose="020B0503050000020004" pitchFamily="34" charset="0"/>
                <a:ea typeface="Fira Sans" panose="020B0503050000020004" pitchFamily="34" charset="0"/>
                <a:cs typeface="Fira Code" pitchFamily="49" charset="0"/>
              </a:rPr>
              <a:t>“Negative control”: What about </a:t>
            </a:r>
            <a:r>
              <a:rPr lang="en-US" i="1">
                <a:latin typeface="Fira Sans" panose="020B0503050000020004" pitchFamily="34" charset="0"/>
                <a:ea typeface="Fira Sans" panose="020B0503050000020004" pitchFamily="34" charset="0"/>
                <a:cs typeface="Fira Code" pitchFamily="49" charset="0"/>
              </a:rPr>
              <a:t>poison</a:t>
            </a:r>
            <a:r>
              <a:rPr lang="en-US">
                <a:latin typeface="Fira Sans" panose="020B0503050000020004" pitchFamily="34" charset="0"/>
                <a:ea typeface="Fira Sans" panose="020B0503050000020004" pitchFamily="34" charset="0"/>
                <a:cs typeface="Fira Code" pitchFamily="49" charset="0"/>
              </a:rPr>
              <a:t> and </a:t>
            </a:r>
            <a:r>
              <a:rPr lang="en-US" i="1">
                <a:latin typeface="Fira Sans" panose="020B0503050000020004" pitchFamily="34" charset="0"/>
                <a:ea typeface="Fira Sans" panose="020B0503050000020004" pitchFamily="34" charset="0"/>
                <a:cs typeface="Fira Code" pitchFamily="49" charset="0"/>
              </a:rPr>
              <a:t>falls</a:t>
            </a:r>
            <a:r>
              <a:rPr lang="en-US">
                <a:latin typeface="Fira Sans" panose="020B0503050000020004" pitchFamily="34" charset="0"/>
                <a:ea typeface="Fira Sans" panose="020B0503050000020004" pitchFamily="34" charset="0"/>
                <a:cs typeface="Fira Code" pitchFamily="49" charset="0"/>
              </a:rPr>
              <a:t>?</a:t>
            </a:r>
          </a:p>
          <a:p>
            <a:pPr marL="285750" indent="-285750">
              <a:buFont typeface="Arial" panose="020B0604020202020204" pitchFamily="34" charset="0"/>
              <a:buChar char="•"/>
            </a:pPr>
            <a:r>
              <a:rPr lang="en-US">
                <a:latin typeface="Fira Sans" panose="020B0503050000020004" pitchFamily="34" charset="0"/>
                <a:ea typeface="Fira Sans" panose="020B0503050000020004" pitchFamily="34" charset="0"/>
                <a:cs typeface="Fira Code" pitchFamily="49" charset="0"/>
              </a:rPr>
              <a:t>Sensitive to the model?</a:t>
            </a:r>
          </a:p>
          <a:p>
            <a:pPr marL="285750" indent="-285750">
              <a:buFont typeface="Arial" panose="020B0604020202020204" pitchFamily="34" charset="0"/>
              <a:buChar char="•"/>
            </a:pPr>
            <a:endParaRPr lang="en-US">
              <a:latin typeface="Fira Sans" panose="020B0503050000020004" pitchFamily="34" charset="0"/>
              <a:ea typeface="Fira Sans" panose="020B0503050000020004" pitchFamily="34" charset="0"/>
              <a:cs typeface="Fira Code" pitchFamily="49" charset="0"/>
            </a:endParaRPr>
          </a:p>
        </p:txBody>
      </p:sp>
    </p:spTree>
    <p:extLst>
      <p:ext uri="{BB962C8B-B14F-4D97-AF65-F5344CB8AC3E}">
        <p14:creationId xmlns:p14="http://schemas.microsoft.com/office/powerpoint/2010/main" val="26036391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nl-NL" sz="4400" b="1" strike="noStrike" spc="-1" dirty="0" err="1">
                <a:solidFill>
                  <a:srgbClr val="000000"/>
                </a:solidFill>
                <a:latin typeface="Arial" panose="020B0604020202020204" pitchFamily="34" charset="0"/>
                <a:cs typeface="Arial" panose="020B0604020202020204" pitchFamily="34" charset="0"/>
              </a:rPr>
              <a:t>Conclusion</a:t>
            </a:r>
            <a:endParaRPr lang="nl-NL" sz="4400" b="1" strike="noStrike" spc="-1" dirty="0">
              <a:latin typeface="Arial" panose="020B0604020202020204" pitchFamily="34" charset="0"/>
              <a:cs typeface="Arial" panose="020B0604020202020204" pitchFamily="34" charset="0"/>
            </a:endParaRPr>
          </a:p>
        </p:txBody>
      </p:sp>
      <p:sp>
        <p:nvSpPr>
          <p:cNvPr id="190"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7880">
              <a:lnSpc>
                <a:spcPct val="90000"/>
              </a:lnSpc>
              <a:spcBef>
                <a:spcPts val="1001"/>
              </a:spcBef>
              <a:buClr>
                <a:srgbClr val="000000"/>
              </a:buClr>
              <a:buFont typeface="Arial"/>
              <a:buChar char="•"/>
            </a:pPr>
            <a:r>
              <a:rPr lang="nl-NL" sz="2800" b="0" strike="noStrike" spc="-1" dirty="0">
                <a:solidFill>
                  <a:srgbClr val="000000"/>
                </a:solidFill>
                <a:latin typeface="Calibri" panose="020F0502020204030204" pitchFamily="34" charset="0"/>
                <a:cs typeface="Calibri" panose="020F0502020204030204" pitchFamily="34" charset="0"/>
              </a:rPr>
              <a:t>Exploration is </a:t>
            </a:r>
            <a:r>
              <a:rPr lang="nl-NL" sz="2800" b="0" strike="noStrike" spc="-1" dirty="0" err="1">
                <a:solidFill>
                  <a:srgbClr val="000000"/>
                </a:solidFill>
                <a:latin typeface="Calibri" panose="020F0502020204030204" pitchFamily="34" charset="0"/>
                <a:cs typeface="Calibri" panose="020F0502020204030204" pitchFamily="34" charset="0"/>
              </a:rPr>
              <a:t>key</a:t>
            </a:r>
            <a:r>
              <a:rPr lang="nl-NL" sz="2800" b="0" strike="noStrike" spc="-1" dirty="0">
                <a:solidFill>
                  <a:srgbClr val="000000"/>
                </a:solidFill>
                <a:latin typeface="Calibri" panose="020F0502020204030204" pitchFamily="34" charset="0"/>
                <a:cs typeface="Calibri" panose="020F0502020204030204" pitchFamily="34" charset="0"/>
              </a:rPr>
              <a:t> </a:t>
            </a:r>
            <a:r>
              <a:rPr lang="nl-NL" sz="2800" b="0" strike="noStrike" spc="-1" dirty="0" err="1">
                <a:solidFill>
                  <a:srgbClr val="000000"/>
                </a:solidFill>
                <a:latin typeface="Calibri" panose="020F0502020204030204" pitchFamily="34" charset="0"/>
                <a:cs typeface="Calibri" panose="020F0502020204030204" pitchFamily="34" charset="0"/>
              </a:rPr>
              <a:t>to</a:t>
            </a:r>
            <a:r>
              <a:rPr lang="nl-NL" sz="2800" b="0" strike="noStrike" spc="-1" dirty="0">
                <a:solidFill>
                  <a:srgbClr val="000000"/>
                </a:solidFill>
                <a:latin typeface="Calibri" panose="020F0502020204030204" pitchFamily="34" charset="0"/>
                <a:cs typeface="Calibri" panose="020F0502020204030204" pitchFamily="34" charset="0"/>
              </a:rPr>
              <a:t> </a:t>
            </a:r>
            <a:r>
              <a:rPr lang="nl-NL" sz="2800" b="0" strike="noStrike" spc="-1" dirty="0" err="1">
                <a:solidFill>
                  <a:srgbClr val="000000"/>
                </a:solidFill>
                <a:latin typeface="Calibri" panose="020F0502020204030204" pitchFamily="34" charset="0"/>
                <a:cs typeface="Calibri" panose="020F0502020204030204" pitchFamily="34" charset="0"/>
              </a:rPr>
              <a:t>understanding</a:t>
            </a:r>
            <a:r>
              <a:rPr lang="nl-NL" sz="2800" b="0" strike="noStrike" spc="-1" dirty="0">
                <a:solidFill>
                  <a:srgbClr val="000000"/>
                </a:solidFill>
                <a:latin typeface="Calibri" panose="020F0502020204030204" pitchFamily="34" charset="0"/>
                <a:cs typeface="Calibri" panose="020F0502020204030204" pitchFamily="34" charset="0"/>
              </a:rPr>
              <a:t> </a:t>
            </a:r>
            <a:r>
              <a:rPr lang="nl-NL" sz="2800" b="0" strike="noStrike" spc="-1" dirty="0" err="1">
                <a:solidFill>
                  <a:srgbClr val="000000"/>
                </a:solidFill>
                <a:latin typeface="Calibri" panose="020F0502020204030204" pitchFamily="34" charset="0"/>
                <a:cs typeface="Calibri" panose="020F0502020204030204" pitchFamily="34" charset="0"/>
              </a:rPr>
              <a:t>things</a:t>
            </a:r>
            <a:r>
              <a:rPr lang="nl-NL" sz="2800" b="0" strike="noStrike" spc="-1" dirty="0">
                <a:solidFill>
                  <a:srgbClr val="000000"/>
                </a:solidFill>
                <a:latin typeface="Calibri" panose="020F0502020204030204" pitchFamily="34" charset="0"/>
                <a:cs typeface="Calibri" panose="020F0502020204030204" pitchFamily="34" charset="0"/>
              </a:rPr>
              <a:t> </a:t>
            </a:r>
            <a:r>
              <a:rPr lang="nl-NL" sz="2800" b="0" strike="noStrike" spc="-1" dirty="0" err="1">
                <a:solidFill>
                  <a:srgbClr val="000000"/>
                </a:solidFill>
                <a:latin typeface="Calibri" panose="020F0502020204030204" pitchFamily="34" charset="0"/>
                <a:cs typeface="Calibri" panose="020F0502020204030204" pitchFamily="34" charset="0"/>
              </a:rPr>
              <a:t>you</a:t>
            </a:r>
            <a:r>
              <a:rPr lang="nl-NL" sz="2800" b="0" strike="noStrike" spc="-1" dirty="0">
                <a:solidFill>
                  <a:srgbClr val="000000"/>
                </a:solidFill>
                <a:latin typeface="Calibri" panose="020F0502020204030204" pitchFamily="34" charset="0"/>
                <a:cs typeface="Calibri" panose="020F0502020204030204" pitchFamily="34" charset="0"/>
              </a:rPr>
              <a:t> </a:t>
            </a:r>
            <a:r>
              <a:rPr lang="nl-NL" sz="2800" b="0" strike="noStrike" spc="-1" dirty="0" err="1">
                <a:solidFill>
                  <a:srgbClr val="000000"/>
                </a:solidFill>
                <a:latin typeface="Calibri" panose="020F0502020204030204" pitchFamily="34" charset="0"/>
                <a:cs typeface="Calibri" panose="020F0502020204030204" pitchFamily="34" charset="0"/>
              </a:rPr>
              <a:t>did</a:t>
            </a:r>
            <a:r>
              <a:rPr lang="nl-NL" sz="2800" b="0" strike="noStrike" spc="-1" dirty="0">
                <a:solidFill>
                  <a:srgbClr val="000000"/>
                </a:solidFill>
                <a:latin typeface="Calibri" panose="020F0502020204030204" pitchFamily="34" charset="0"/>
                <a:cs typeface="Calibri" panose="020F0502020204030204" pitchFamily="34" charset="0"/>
              </a:rPr>
              <a:t> </a:t>
            </a:r>
            <a:r>
              <a:rPr lang="nl-NL" sz="2800" b="0" strike="noStrike" spc="-1" dirty="0" err="1">
                <a:solidFill>
                  <a:srgbClr val="000000"/>
                </a:solidFill>
                <a:latin typeface="Calibri" panose="020F0502020204030204" pitchFamily="34" charset="0"/>
                <a:cs typeface="Calibri" panose="020F0502020204030204" pitchFamily="34" charset="0"/>
              </a:rPr>
              <a:t>not</a:t>
            </a:r>
            <a:r>
              <a:rPr lang="nl-NL" sz="2800" b="0" strike="noStrike" spc="-1" dirty="0">
                <a:solidFill>
                  <a:srgbClr val="000000"/>
                </a:solidFill>
                <a:latin typeface="Calibri" panose="020F0502020204030204" pitchFamily="34" charset="0"/>
                <a:cs typeface="Calibri" panose="020F0502020204030204" pitchFamily="34" charset="0"/>
              </a:rPr>
              <a:t> </a:t>
            </a:r>
            <a:r>
              <a:rPr lang="nl-NL" sz="2800" b="0" strike="noStrike" spc="-1" dirty="0" err="1">
                <a:solidFill>
                  <a:srgbClr val="000000"/>
                </a:solidFill>
                <a:latin typeface="Calibri" panose="020F0502020204030204" pitchFamily="34" charset="0"/>
                <a:cs typeface="Calibri" panose="020F0502020204030204" pitchFamily="34" charset="0"/>
              </a:rPr>
              <a:t>know</a:t>
            </a:r>
            <a:r>
              <a:rPr lang="nl-NL" sz="2800" b="0" strike="noStrike" spc="-1" dirty="0">
                <a:solidFill>
                  <a:srgbClr val="000000"/>
                </a:solidFill>
                <a:latin typeface="Calibri" panose="020F0502020204030204" pitchFamily="34" charset="0"/>
                <a:cs typeface="Calibri" panose="020F0502020204030204" pitchFamily="34" charset="0"/>
              </a:rPr>
              <a:t> </a:t>
            </a:r>
            <a:r>
              <a:rPr lang="nl-NL" sz="2800" b="0" strike="noStrike" spc="-1" dirty="0" err="1">
                <a:solidFill>
                  <a:srgbClr val="000000"/>
                </a:solidFill>
                <a:latin typeface="Calibri" panose="020F0502020204030204" pitchFamily="34" charset="0"/>
                <a:cs typeface="Calibri" panose="020F0502020204030204" pitchFamily="34" charset="0"/>
              </a:rPr>
              <a:t>already</a:t>
            </a:r>
            <a:endParaRPr lang="nl-NL" sz="2800" b="0" strike="noStrike" spc="-1" dirty="0">
              <a:solidFill>
                <a:srgbClr val="000000"/>
              </a:solidFill>
              <a:latin typeface="Calibri" panose="020F0502020204030204" pitchFamily="34" charset="0"/>
              <a:cs typeface="Calibri" panose="020F0502020204030204" pitchFamily="34" charset="0"/>
            </a:endParaRPr>
          </a:p>
          <a:p>
            <a:pPr marL="228600" indent="-227880">
              <a:lnSpc>
                <a:spcPct val="90000"/>
              </a:lnSpc>
              <a:spcBef>
                <a:spcPts val="1001"/>
              </a:spcBef>
              <a:buClr>
                <a:srgbClr val="000000"/>
              </a:buClr>
              <a:buFont typeface="Arial"/>
              <a:buChar char="•"/>
            </a:pPr>
            <a:r>
              <a:rPr lang="nl-NL" sz="2800" b="0" strike="noStrike" spc="-1" dirty="0">
                <a:latin typeface="Calibri" panose="020F0502020204030204" pitchFamily="34" charset="0"/>
                <a:cs typeface="Calibri" panose="020F0502020204030204" pitchFamily="34" charset="0"/>
              </a:rPr>
              <a:t>EDA </a:t>
            </a:r>
            <a:r>
              <a:rPr lang="nl-NL" sz="2800" b="0" strike="noStrike" spc="-1" dirty="0" err="1">
                <a:latin typeface="Calibri" panose="020F0502020204030204" pitchFamily="34" charset="0"/>
                <a:cs typeface="Calibri" panose="020F0502020204030204" pitchFamily="34" charset="0"/>
              </a:rPr>
              <a:t>walks</a:t>
            </a:r>
            <a:r>
              <a:rPr lang="nl-NL" sz="2800" b="0" strike="noStrike" spc="-1" dirty="0">
                <a:latin typeface="Calibri" panose="020F0502020204030204" pitchFamily="34" charset="0"/>
                <a:cs typeface="Calibri" panose="020F0502020204030204" pitchFamily="34" charset="0"/>
              </a:rPr>
              <a:t> a fine line </a:t>
            </a:r>
            <a:r>
              <a:rPr lang="nl-NL" sz="2800" b="0" strike="noStrike" spc="-1" dirty="0" err="1">
                <a:latin typeface="Calibri" panose="020F0502020204030204" pitchFamily="34" charset="0"/>
                <a:cs typeface="Calibri" panose="020F0502020204030204" pitchFamily="34" charset="0"/>
              </a:rPr>
              <a:t>between</a:t>
            </a:r>
            <a:r>
              <a:rPr lang="nl-NL" sz="2800" b="0" strike="noStrike" spc="-1" dirty="0">
                <a:latin typeface="Calibri" panose="020F0502020204030204" pitchFamily="34" charset="0"/>
                <a:cs typeface="Calibri" panose="020F0502020204030204" pitchFamily="34" charset="0"/>
              </a:rPr>
              <a:t> </a:t>
            </a:r>
            <a:r>
              <a:rPr lang="nl-NL" sz="2800" b="0" strike="noStrike" spc="-1" dirty="0" err="1">
                <a:latin typeface="Calibri" panose="020F0502020204030204" pitchFamily="34" charset="0"/>
                <a:cs typeface="Calibri" panose="020F0502020204030204" pitchFamily="34" charset="0"/>
              </a:rPr>
              <a:t>seeing</a:t>
            </a:r>
            <a:r>
              <a:rPr lang="nl-NL" sz="2800" b="0" strike="noStrike" spc="-1" dirty="0">
                <a:latin typeface="Calibri" panose="020F0502020204030204" pitchFamily="34" charset="0"/>
                <a:cs typeface="Calibri" panose="020F0502020204030204" pitchFamily="34" charset="0"/>
              </a:rPr>
              <a:t> </a:t>
            </a:r>
            <a:r>
              <a:rPr lang="nl-NL" sz="2800" b="0" strike="noStrike" spc="-1" dirty="0" err="1">
                <a:latin typeface="Calibri" panose="020F0502020204030204" pitchFamily="34" charset="0"/>
                <a:cs typeface="Calibri" panose="020F0502020204030204" pitchFamily="34" charset="0"/>
              </a:rPr>
              <a:t>useful</a:t>
            </a:r>
            <a:r>
              <a:rPr lang="nl-NL" sz="2800" b="0" strike="noStrike" spc="-1" dirty="0">
                <a:latin typeface="Calibri" panose="020F0502020204030204" pitchFamily="34" charset="0"/>
                <a:cs typeface="Calibri" panose="020F0502020204030204" pitchFamily="34" charset="0"/>
              </a:rPr>
              <a:t> </a:t>
            </a:r>
            <a:r>
              <a:rPr lang="nl-NL" sz="2800" b="0" strike="noStrike" spc="-1" dirty="0" err="1">
                <a:latin typeface="Calibri" panose="020F0502020204030204" pitchFamily="34" charset="0"/>
                <a:cs typeface="Calibri" panose="020F0502020204030204" pitchFamily="34" charset="0"/>
              </a:rPr>
              <a:t>and</a:t>
            </a:r>
            <a:r>
              <a:rPr lang="nl-NL" sz="2800" b="0" strike="noStrike" spc="-1" dirty="0">
                <a:latin typeface="Calibri" panose="020F0502020204030204" pitchFamily="34" charset="0"/>
                <a:cs typeface="Calibri" panose="020F0502020204030204" pitchFamily="34" charset="0"/>
              </a:rPr>
              <a:t> </a:t>
            </a:r>
            <a:r>
              <a:rPr lang="nl-NL" sz="2800" b="0" strike="noStrike" spc="-1" dirty="0" err="1">
                <a:latin typeface="Calibri" panose="020F0502020204030204" pitchFamily="34" charset="0"/>
                <a:cs typeface="Calibri" panose="020F0502020204030204" pitchFamily="34" charset="0"/>
              </a:rPr>
              <a:t>less</a:t>
            </a:r>
            <a:r>
              <a:rPr lang="nl-NL" sz="2800" b="0" strike="noStrike" spc="-1" dirty="0">
                <a:latin typeface="Calibri" panose="020F0502020204030204" pitchFamily="34" charset="0"/>
                <a:cs typeface="Calibri" panose="020F0502020204030204" pitchFamily="34" charset="0"/>
              </a:rPr>
              <a:t> </a:t>
            </a:r>
            <a:r>
              <a:rPr lang="nl-NL" sz="2800" b="0" strike="noStrike" spc="-1" dirty="0" err="1">
                <a:latin typeface="Calibri" panose="020F0502020204030204" pitchFamily="34" charset="0"/>
                <a:cs typeface="Calibri" panose="020F0502020204030204" pitchFamily="34" charset="0"/>
              </a:rPr>
              <a:t>useful</a:t>
            </a:r>
            <a:r>
              <a:rPr lang="nl-NL" sz="2800" b="0" strike="noStrike" spc="-1" dirty="0">
                <a:latin typeface="Calibri" panose="020F0502020204030204" pitchFamily="34" charset="0"/>
                <a:cs typeface="Calibri" panose="020F0502020204030204" pitchFamily="34" charset="0"/>
              </a:rPr>
              <a:t> </a:t>
            </a:r>
            <a:r>
              <a:rPr lang="nl-NL" sz="2800" b="0" strike="noStrike" spc="-1" dirty="0" err="1">
                <a:latin typeface="Calibri" panose="020F0502020204030204" pitchFamily="34" charset="0"/>
                <a:cs typeface="Calibri" panose="020F0502020204030204" pitchFamily="34" charset="0"/>
              </a:rPr>
              <a:t>things</a:t>
            </a:r>
            <a:r>
              <a:rPr lang="nl-NL" sz="2800" b="0" strike="noStrike" spc="-1" dirty="0">
                <a:latin typeface="Calibri" panose="020F0502020204030204" pitchFamily="34" charset="0"/>
                <a:cs typeface="Calibri" panose="020F0502020204030204" pitchFamily="34" charset="0"/>
              </a:rPr>
              <a:t> (</a:t>
            </a:r>
            <a:r>
              <a:rPr lang="nl-NL" sz="2800" b="0" strike="noStrike" spc="-1" dirty="0" err="1">
                <a:latin typeface="Calibri" panose="020F0502020204030204" pitchFamily="34" charset="0"/>
                <a:cs typeface="Calibri" panose="020F0502020204030204" pitchFamily="34" charset="0"/>
              </a:rPr>
              <a:t>overfitting</a:t>
            </a:r>
            <a:r>
              <a:rPr lang="nl-NL" sz="2800" b="0" strike="noStrike" spc="-1" dirty="0">
                <a:latin typeface="Calibri" panose="020F0502020204030204" pitchFamily="34" charset="0"/>
                <a:cs typeface="Calibri" panose="020F0502020204030204" pitchFamily="34" charset="0"/>
              </a:rPr>
              <a:t>, </a:t>
            </a:r>
            <a:r>
              <a:rPr lang="nl-NL" sz="2800" b="0" strike="noStrike" spc="-1" dirty="0" err="1">
                <a:latin typeface="Calibri" panose="020F0502020204030204" pitchFamily="34" charset="0"/>
                <a:cs typeface="Calibri" panose="020F0502020204030204" pitchFamily="34" charset="0"/>
              </a:rPr>
              <a:t>if</a:t>
            </a:r>
            <a:r>
              <a:rPr lang="nl-NL" sz="2800" b="0" strike="noStrike" spc="-1" dirty="0">
                <a:latin typeface="Calibri" panose="020F0502020204030204" pitchFamily="34" charset="0"/>
                <a:cs typeface="Calibri" panose="020F0502020204030204" pitchFamily="34" charset="0"/>
              </a:rPr>
              <a:t> </a:t>
            </a:r>
            <a:r>
              <a:rPr lang="nl-NL" sz="2800" b="0" strike="noStrike" spc="-1" dirty="0" err="1">
                <a:latin typeface="Calibri" panose="020F0502020204030204" pitchFamily="34" charset="0"/>
                <a:cs typeface="Calibri" panose="020F0502020204030204" pitchFamily="34" charset="0"/>
              </a:rPr>
              <a:t>you</a:t>
            </a:r>
            <a:r>
              <a:rPr lang="nl-NL" sz="2800" b="0" strike="noStrike" spc="-1" dirty="0">
                <a:latin typeface="Calibri" panose="020F0502020204030204" pitchFamily="34" charset="0"/>
                <a:cs typeface="Calibri" panose="020F0502020204030204" pitchFamily="34" charset="0"/>
              </a:rPr>
              <a:t> like)</a:t>
            </a:r>
          </a:p>
          <a:p>
            <a:pPr marL="228600" indent="-227880">
              <a:lnSpc>
                <a:spcPct val="90000"/>
              </a:lnSpc>
              <a:spcBef>
                <a:spcPts val="1001"/>
              </a:spcBef>
              <a:buClr>
                <a:srgbClr val="000000"/>
              </a:buClr>
              <a:buFont typeface="Arial"/>
              <a:buChar char="•"/>
            </a:pPr>
            <a:r>
              <a:rPr lang="nl-NL" sz="2800" b="0" strike="noStrike" spc="-1" dirty="0" err="1">
                <a:latin typeface="Calibri" panose="020F0502020204030204" pitchFamily="34" charset="0"/>
                <a:cs typeface="Calibri" panose="020F0502020204030204" pitchFamily="34" charset="0"/>
              </a:rPr>
              <a:t>Some</a:t>
            </a:r>
            <a:r>
              <a:rPr lang="nl-NL" sz="2800" b="0" strike="noStrike" spc="-1" dirty="0">
                <a:latin typeface="Calibri" panose="020F0502020204030204" pitchFamily="34" charset="0"/>
                <a:cs typeface="Calibri" panose="020F0502020204030204" pitchFamily="34" charset="0"/>
              </a:rPr>
              <a:t> </a:t>
            </a:r>
            <a:r>
              <a:rPr lang="nl-NL" sz="2800" b="0" strike="noStrike" spc="-1" dirty="0" err="1">
                <a:latin typeface="Calibri" panose="020F0502020204030204" pitchFamily="34" charset="0"/>
                <a:cs typeface="Calibri" panose="020F0502020204030204" pitchFamily="34" charset="0"/>
              </a:rPr>
              <a:t>useful</a:t>
            </a:r>
            <a:r>
              <a:rPr lang="nl-NL" sz="2800" b="0" strike="noStrike" spc="-1" dirty="0">
                <a:latin typeface="Calibri" panose="020F0502020204030204" pitchFamily="34" charset="0"/>
                <a:cs typeface="Calibri" panose="020F0502020204030204" pitchFamily="34" charset="0"/>
              </a:rPr>
              <a:t> </a:t>
            </a:r>
            <a:r>
              <a:rPr lang="nl-NL" sz="2800" b="0" strike="noStrike" spc="-1" dirty="0" err="1">
                <a:latin typeface="Calibri" panose="020F0502020204030204" pitchFamily="34" charset="0"/>
                <a:cs typeface="Calibri" panose="020F0502020204030204" pitchFamily="34" charset="0"/>
              </a:rPr>
              <a:t>principles</a:t>
            </a:r>
            <a:r>
              <a:rPr lang="nl-NL" sz="2800" b="0" strike="noStrike" spc="-1" dirty="0">
                <a:latin typeface="Calibri" panose="020F0502020204030204" pitchFamily="34" charset="0"/>
                <a:cs typeface="Calibri" panose="020F0502020204030204" pitchFamily="34" charset="0"/>
              </a:rPr>
              <a:t> are:</a:t>
            </a:r>
          </a:p>
          <a:p>
            <a:pPr marL="685800" lvl="1" indent="-227880">
              <a:lnSpc>
                <a:spcPct val="90000"/>
              </a:lnSpc>
              <a:spcBef>
                <a:spcPts val="1001"/>
              </a:spcBef>
              <a:buClr>
                <a:srgbClr val="000000"/>
              </a:buClr>
              <a:buFont typeface="Arial"/>
              <a:buChar char="•"/>
            </a:pPr>
            <a:r>
              <a:rPr lang="nl-NL" sz="2800" spc="-1" dirty="0" err="1">
                <a:latin typeface="Calibri" panose="020F0502020204030204" pitchFamily="34" charset="0"/>
                <a:cs typeface="Calibri" panose="020F0502020204030204" pitchFamily="34" charset="0"/>
              </a:rPr>
              <a:t>Peng’s</a:t>
            </a:r>
            <a:r>
              <a:rPr lang="nl-NL" sz="2800" spc="-1" dirty="0">
                <a:latin typeface="Calibri" panose="020F0502020204030204" pitchFamily="34" charset="0"/>
                <a:cs typeface="Calibri" panose="020F0502020204030204" pitchFamily="34" charset="0"/>
              </a:rPr>
              <a:t> checklist</a:t>
            </a:r>
          </a:p>
          <a:p>
            <a:pPr marL="685800" lvl="1" indent="-227880">
              <a:lnSpc>
                <a:spcPct val="90000"/>
              </a:lnSpc>
              <a:spcBef>
                <a:spcPts val="1001"/>
              </a:spcBef>
              <a:buClr>
                <a:srgbClr val="000000"/>
              </a:buClr>
              <a:buFont typeface="Arial"/>
              <a:buChar char="•"/>
            </a:pPr>
            <a:r>
              <a:rPr lang="nl-NL" sz="2800" spc="-1" dirty="0">
                <a:latin typeface="Calibri" panose="020F0502020204030204" pitchFamily="34" charset="0"/>
                <a:cs typeface="Calibri" panose="020F0502020204030204" pitchFamily="34" charset="0"/>
              </a:rPr>
              <a:t>Understanding </a:t>
            </a:r>
            <a:r>
              <a:rPr lang="nl-NL" sz="2800" spc="-1" dirty="0" err="1">
                <a:latin typeface="Calibri" panose="020F0502020204030204" pitchFamily="34" charset="0"/>
                <a:cs typeface="Calibri" panose="020F0502020204030204" pitchFamily="34" charset="0"/>
              </a:rPr>
              <a:t>what</a:t>
            </a:r>
            <a:r>
              <a:rPr lang="nl-NL" sz="2800" spc="-1" dirty="0">
                <a:latin typeface="Calibri" panose="020F0502020204030204" pitchFamily="34" charset="0"/>
                <a:cs typeface="Calibri" panose="020F0502020204030204" pitchFamily="34" charset="0"/>
              </a:rPr>
              <a:t> </a:t>
            </a:r>
            <a:r>
              <a:rPr lang="nl-NL" sz="2800" spc="-1" dirty="0" err="1">
                <a:latin typeface="Calibri" panose="020F0502020204030204" pitchFamily="34" charset="0"/>
                <a:cs typeface="Calibri" panose="020F0502020204030204" pitchFamily="34" charset="0"/>
              </a:rPr>
              <a:t>you’re</a:t>
            </a:r>
            <a:r>
              <a:rPr lang="nl-NL" sz="2800" spc="-1" dirty="0">
                <a:latin typeface="Calibri" panose="020F0502020204030204" pitchFamily="34" charset="0"/>
                <a:cs typeface="Calibri" panose="020F0502020204030204" pitchFamily="34" charset="0"/>
              </a:rPr>
              <a:t> </a:t>
            </a:r>
            <a:r>
              <a:rPr lang="nl-NL" sz="2800" spc="-1" dirty="0" err="1">
                <a:latin typeface="Calibri" panose="020F0502020204030204" pitchFamily="34" charset="0"/>
                <a:cs typeface="Calibri" panose="020F0502020204030204" pitchFamily="34" charset="0"/>
              </a:rPr>
              <a:t>seeing</a:t>
            </a:r>
            <a:endParaRPr lang="nl-NL" sz="2800" spc="-1" dirty="0">
              <a:latin typeface="Calibri" panose="020F0502020204030204" pitchFamily="34" charset="0"/>
              <a:cs typeface="Calibri" panose="020F0502020204030204" pitchFamily="34" charset="0"/>
            </a:endParaRPr>
          </a:p>
          <a:p>
            <a:pPr marL="685800" lvl="1" indent="-227880">
              <a:lnSpc>
                <a:spcPct val="90000"/>
              </a:lnSpc>
              <a:spcBef>
                <a:spcPts val="1001"/>
              </a:spcBef>
              <a:buClr>
                <a:srgbClr val="000000"/>
              </a:buClr>
              <a:buFont typeface="Arial"/>
              <a:buChar char="•"/>
            </a:pPr>
            <a:r>
              <a:rPr lang="nl-NL" sz="2800" spc="-1" dirty="0" err="1">
                <a:latin typeface="Calibri" panose="020F0502020204030204" pitchFamily="34" charset="0"/>
                <a:cs typeface="Calibri" panose="020F0502020204030204" pitchFamily="34" charset="0"/>
              </a:rPr>
              <a:t>Finding</a:t>
            </a:r>
            <a:r>
              <a:rPr lang="nl-NL" sz="2800" spc="-1" dirty="0">
                <a:latin typeface="Calibri" panose="020F0502020204030204" pitchFamily="34" charset="0"/>
                <a:cs typeface="Calibri" panose="020F0502020204030204" pitchFamily="34" charset="0"/>
              </a:rPr>
              <a:t> </a:t>
            </a:r>
            <a:r>
              <a:rPr lang="nl-NL" sz="2800" spc="-1" dirty="0" err="1">
                <a:latin typeface="Calibri" panose="020F0502020204030204" pitchFamily="34" charset="0"/>
                <a:cs typeface="Calibri" panose="020F0502020204030204" pitchFamily="34" charset="0"/>
              </a:rPr>
              <a:t>interesting</a:t>
            </a:r>
            <a:r>
              <a:rPr lang="nl-NL" sz="2800" spc="-1" dirty="0">
                <a:latin typeface="Calibri" panose="020F0502020204030204" pitchFamily="34" charset="0"/>
                <a:cs typeface="Calibri" panose="020F0502020204030204" pitchFamily="34" charset="0"/>
              </a:rPr>
              <a:t> </a:t>
            </a:r>
            <a:r>
              <a:rPr lang="nl-NL" sz="2800" spc="-1" dirty="0" err="1">
                <a:latin typeface="Calibri" panose="020F0502020204030204" pitchFamily="34" charset="0"/>
                <a:cs typeface="Calibri" panose="020F0502020204030204" pitchFamily="34" charset="0"/>
              </a:rPr>
              <a:t>comparisons</a:t>
            </a:r>
            <a:endParaRPr lang="nl-NL" sz="2800" spc="-1" dirty="0">
              <a:latin typeface="Calibri" panose="020F0502020204030204" pitchFamily="34" charset="0"/>
              <a:cs typeface="Calibri" panose="020F0502020204030204" pitchFamily="34" charset="0"/>
            </a:endParaRPr>
          </a:p>
          <a:p>
            <a:pPr marL="685800" lvl="1" indent="-227880">
              <a:lnSpc>
                <a:spcPct val="90000"/>
              </a:lnSpc>
              <a:spcBef>
                <a:spcPts val="1001"/>
              </a:spcBef>
              <a:buClr>
                <a:srgbClr val="000000"/>
              </a:buClr>
              <a:buFont typeface="Arial"/>
              <a:buChar char="•"/>
            </a:pPr>
            <a:r>
              <a:rPr lang="nl-NL" sz="2800" spc="-1" dirty="0">
                <a:latin typeface="Calibri" panose="020F0502020204030204" pitchFamily="34" charset="0"/>
                <a:cs typeface="Calibri" panose="020F0502020204030204" pitchFamily="34" charset="0"/>
              </a:rPr>
              <a:t>“</a:t>
            </a:r>
            <a:r>
              <a:rPr lang="nl-NL" sz="2800" spc="-1" dirty="0" err="1">
                <a:latin typeface="Calibri" panose="020F0502020204030204" pitchFamily="34" charset="0"/>
                <a:cs typeface="Calibri" panose="020F0502020204030204" pitchFamily="34" charset="0"/>
              </a:rPr>
              <a:t>Straightening</a:t>
            </a:r>
            <a:r>
              <a:rPr lang="nl-NL" sz="2800" spc="-1" dirty="0">
                <a:latin typeface="Calibri" panose="020F0502020204030204" pitchFamily="34" charset="0"/>
                <a:cs typeface="Calibri" panose="020F0502020204030204" pitchFamily="34" charset="0"/>
              </a:rPr>
              <a:t> </a:t>
            </a:r>
            <a:r>
              <a:rPr lang="nl-NL" sz="2800" spc="-1" dirty="0" err="1">
                <a:latin typeface="Calibri" panose="020F0502020204030204" pitchFamily="34" charset="0"/>
                <a:cs typeface="Calibri" panose="020F0502020204030204" pitchFamily="34" charset="0"/>
              </a:rPr>
              <a:t>and</a:t>
            </a:r>
            <a:r>
              <a:rPr lang="nl-NL" sz="2800" spc="-1" dirty="0">
                <a:latin typeface="Calibri" panose="020F0502020204030204" pitchFamily="34" charset="0"/>
                <a:cs typeface="Calibri" panose="020F0502020204030204" pitchFamily="34" charset="0"/>
              </a:rPr>
              <a:t> </a:t>
            </a:r>
            <a:r>
              <a:rPr lang="nl-NL" sz="2800" spc="-1" dirty="0" err="1">
                <a:latin typeface="Calibri" panose="020F0502020204030204" pitchFamily="34" charset="0"/>
                <a:cs typeface="Calibri" panose="020F0502020204030204" pitchFamily="34" charset="0"/>
              </a:rPr>
              <a:t>flattening</a:t>
            </a:r>
            <a:r>
              <a:rPr lang="nl-NL" sz="2800" spc="-1" dirty="0">
                <a:latin typeface="Calibri" panose="020F0502020204030204" pitchFamily="34" charset="0"/>
                <a:cs typeface="Calibri" panose="020F0502020204030204" pitchFamily="34" charset="0"/>
              </a:rPr>
              <a:t>” (</a:t>
            </a:r>
            <a:r>
              <a:rPr lang="nl-NL" sz="2800" spc="-1" dirty="0" err="1">
                <a:latin typeface="Calibri" panose="020F0502020204030204" pitchFamily="34" charset="0"/>
                <a:cs typeface="Calibri" panose="020F0502020204030204" pitchFamily="34" charset="0"/>
              </a:rPr>
              <a:t>using</a:t>
            </a:r>
            <a:r>
              <a:rPr lang="nl-NL" sz="2800" spc="-1" dirty="0">
                <a:latin typeface="Calibri" panose="020F0502020204030204" pitchFamily="34" charset="0"/>
                <a:cs typeface="Calibri" panose="020F0502020204030204" pitchFamily="34" charset="0"/>
              </a:rPr>
              <a:t> </a:t>
            </a:r>
            <a:r>
              <a:rPr lang="nl-NL" sz="2800" spc="-1" dirty="0" err="1">
                <a:latin typeface="Calibri" panose="020F0502020204030204" pitchFamily="34" charset="0"/>
                <a:cs typeface="Calibri" panose="020F0502020204030204" pitchFamily="34" charset="0"/>
              </a:rPr>
              <a:t>models</a:t>
            </a:r>
            <a:r>
              <a:rPr lang="nl-NL" sz="2800" spc="-1" dirty="0">
                <a:latin typeface="Calibri" panose="020F0502020204030204" pitchFamily="34" charset="0"/>
                <a:cs typeface="Calibri" panose="020F0502020204030204" pitchFamily="34" charset="0"/>
              </a:rPr>
              <a:t> </a:t>
            </a:r>
            <a:r>
              <a:rPr lang="nl-NL" sz="2800" spc="-1" dirty="0" err="1">
                <a:latin typeface="Calibri" panose="020F0502020204030204" pitchFamily="34" charset="0"/>
                <a:cs typeface="Calibri" panose="020F0502020204030204" pitchFamily="34" charset="0"/>
              </a:rPr>
              <a:t>and</a:t>
            </a:r>
            <a:r>
              <a:rPr lang="nl-NL" sz="2800" spc="-1" dirty="0">
                <a:latin typeface="Calibri" panose="020F0502020204030204" pitchFamily="34" charset="0"/>
                <a:cs typeface="Calibri" panose="020F0502020204030204" pitchFamily="34" charset="0"/>
              </a:rPr>
              <a:t> </a:t>
            </a:r>
            <a:r>
              <a:rPr lang="nl-NL" sz="2800" spc="-1" dirty="0" err="1">
                <a:latin typeface="Calibri" panose="020F0502020204030204" pitchFamily="34" charset="0"/>
                <a:cs typeface="Calibri" panose="020F0502020204030204" pitchFamily="34" charset="0"/>
              </a:rPr>
              <a:t>residuals</a:t>
            </a:r>
            <a:r>
              <a:rPr lang="nl-NL" sz="2800" spc="-1" dirty="0">
                <a:latin typeface="Calibri" panose="020F0502020204030204" pitchFamily="34" charset="0"/>
                <a:cs typeface="Calibri" panose="020F0502020204030204" pitchFamily="34" charset="0"/>
              </a:rPr>
              <a:t>)</a:t>
            </a:r>
          </a:p>
          <a:p>
            <a:pPr marL="685800" lvl="1" indent="-227880">
              <a:lnSpc>
                <a:spcPct val="90000"/>
              </a:lnSpc>
              <a:spcBef>
                <a:spcPts val="1001"/>
              </a:spcBef>
              <a:buClr>
                <a:srgbClr val="000000"/>
              </a:buClr>
              <a:buFont typeface="Arial"/>
              <a:buChar char="•"/>
            </a:pPr>
            <a:r>
              <a:rPr lang="nl-NL" sz="2800" spc="-1" dirty="0">
                <a:latin typeface="Calibri" panose="020F0502020204030204" pitchFamily="34" charset="0"/>
                <a:cs typeface="Calibri" panose="020F0502020204030204" pitchFamily="34" charset="0"/>
              </a:rPr>
              <a:t>Standard </a:t>
            </a:r>
            <a:r>
              <a:rPr lang="nl-NL" sz="2800" spc="-1" dirty="0" err="1">
                <a:latin typeface="Calibri" panose="020F0502020204030204" pitchFamily="34" charset="0"/>
                <a:cs typeface="Calibri" panose="020F0502020204030204" pitchFamily="34" charset="0"/>
              </a:rPr>
              <a:t>graphs</a:t>
            </a:r>
            <a:r>
              <a:rPr lang="nl-NL" sz="2800" spc="-1" dirty="0">
                <a:latin typeface="Calibri" panose="020F0502020204030204" pitchFamily="34" charset="0"/>
                <a:cs typeface="Calibri" panose="020F0502020204030204" pitchFamily="34" charset="0"/>
              </a:rPr>
              <a:t> </a:t>
            </a:r>
            <a:r>
              <a:rPr lang="nl-NL" sz="2800" spc="-1" dirty="0" err="1">
                <a:latin typeface="Calibri" panose="020F0502020204030204" pitchFamily="34" charset="0"/>
                <a:cs typeface="Calibri" panose="020F0502020204030204" pitchFamily="34" charset="0"/>
              </a:rPr>
              <a:t>to</a:t>
            </a:r>
            <a:r>
              <a:rPr lang="nl-NL" sz="2800" spc="-1" dirty="0">
                <a:latin typeface="Calibri" panose="020F0502020204030204" pitchFamily="34" charset="0"/>
                <a:cs typeface="Calibri" panose="020F0502020204030204" pitchFamily="34" charset="0"/>
              </a:rPr>
              <a:t> look at </a:t>
            </a:r>
            <a:r>
              <a:rPr lang="nl-NL" sz="2800" spc="-1" dirty="0" err="1">
                <a:latin typeface="Calibri" panose="020F0502020204030204" pitchFamily="34" charset="0"/>
                <a:cs typeface="Calibri" panose="020F0502020204030204" pitchFamily="34" charset="0"/>
              </a:rPr>
              <a:t>variation</a:t>
            </a:r>
            <a:r>
              <a:rPr lang="nl-NL" sz="2800" spc="-1" dirty="0">
                <a:latin typeface="Calibri" panose="020F0502020204030204" pitchFamily="34" charset="0"/>
                <a:cs typeface="Calibri" panose="020F0502020204030204" pitchFamily="34" charset="0"/>
              </a:rPr>
              <a:t> </a:t>
            </a:r>
            <a:r>
              <a:rPr lang="nl-NL" sz="2800" spc="-1" dirty="0" err="1">
                <a:latin typeface="Calibri" panose="020F0502020204030204" pitchFamily="34" charset="0"/>
                <a:cs typeface="Calibri" panose="020F0502020204030204" pitchFamily="34" charset="0"/>
              </a:rPr>
              <a:t>and</a:t>
            </a:r>
            <a:r>
              <a:rPr lang="nl-NL" sz="2800" spc="-1" dirty="0">
                <a:latin typeface="Calibri" panose="020F0502020204030204" pitchFamily="34" charset="0"/>
                <a:cs typeface="Calibri" panose="020F0502020204030204" pitchFamily="34" charset="0"/>
              </a:rPr>
              <a:t> </a:t>
            </a:r>
            <a:r>
              <a:rPr lang="nl-NL" sz="2800" spc="-1" dirty="0" err="1">
                <a:latin typeface="Calibri" panose="020F0502020204030204" pitchFamily="34" charset="0"/>
                <a:cs typeface="Calibri" panose="020F0502020204030204" pitchFamily="34" charset="0"/>
              </a:rPr>
              <a:t>association</a:t>
            </a:r>
            <a:endParaRPr lang="nl-NL" sz="2800" spc="-1" dirty="0">
              <a:latin typeface="Calibri" panose="020F0502020204030204" pitchFamily="34" charset="0"/>
              <a:cs typeface="Calibri" panose="020F0502020204030204" pitchFamily="34" charset="0"/>
            </a:endParaRPr>
          </a:p>
          <a:p>
            <a:pPr marL="685800" lvl="1" indent="-227880">
              <a:lnSpc>
                <a:spcPct val="90000"/>
              </a:lnSpc>
              <a:spcBef>
                <a:spcPts val="1001"/>
              </a:spcBef>
              <a:buClr>
                <a:srgbClr val="000000"/>
              </a:buClr>
              <a:buFont typeface="Arial"/>
              <a:buChar char="•"/>
            </a:pPr>
            <a:endParaRPr lang="nl-NL" sz="2800" b="0" strike="noStrike" spc="-1" dirty="0">
              <a:latin typeface="Calibri" panose="020F0502020204030204" pitchFamily="34" charset="0"/>
              <a:cs typeface="Calibri" panose="020F0502020204030204" pitchFamily="34" charset="0"/>
            </a:endParaRPr>
          </a:p>
          <a:p>
            <a:pPr>
              <a:lnSpc>
                <a:spcPct val="90000"/>
              </a:lnSpc>
              <a:spcBef>
                <a:spcPts val="1001"/>
              </a:spcBef>
            </a:pPr>
            <a:endParaRPr lang="nl-NL" sz="2800" b="0" strike="noStrike" spc="-1" dirty="0">
              <a:latin typeface="Calibri" panose="020F0502020204030204" pitchFamily="34" charset="0"/>
              <a:cs typeface="Calibri" panose="020F050202020403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TotalTime>
  <Words>1983</Words>
  <Application>Microsoft Macintosh PowerPoint</Application>
  <PresentationFormat>Widescreen</PresentationFormat>
  <Paragraphs>277</Paragraphs>
  <Slides>49</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49</vt:i4>
      </vt:variant>
    </vt:vector>
  </HeadingPairs>
  <TitlesOfParts>
    <vt:vector size="59" baseType="lpstr">
      <vt:lpstr>-webkit-standard</vt:lpstr>
      <vt:lpstr>Aptos</vt:lpstr>
      <vt:lpstr>Arial</vt:lpstr>
      <vt:lpstr>Calibri</vt:lpstr>
      <vt:lpstr>Calibri Light</vt:lpstr>
      <vt:lpstr>Cambria Math</vt:lpstr>
      <vt:lpstr>Fira Code</vt:lpstr>
      <vt:lpstr>Fira Sans</vt:lpstr>
      <vt:lpstr>Times New Roman</vt:lpstr>
      <vt:lpstr>Office Theme</vt:lpstr>
      <vt:lpstr>PowerPoint Presentation</vt:lpstr>
      <vt:lpstr>John Tukey (1915 – 2000)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Spread vs. location</vt:lpstr>
      <vt:lpstr>Adverse events in Dutch hospitals</vt:lpstr>
      <vt:lpstr>2. Peng’s EDA checklist</vt:lpstr>
      <vt:lpstr>PowerPoint Presentation</vt:lpstr>
      <vt:lpstr>PowerPoint Presentation</vt:lpstr>
      <vt:lpstr>Read data, check packaging</vt:lpstr>
      <vt:lpstr>Look at top and bottom</vt:lpstr>
      <vt:lpstr>Look at top and bottom</vt:lpstr>
      <vt:lpstr>Validate with external source</vt:lpstr>
      <vt:lpstr>Check n’s</vt:lpstr>
      <vt:lpstr>PowerPoint Presentation</vt:lpstr>
      <vt:lpstr>Understand what you’re looking at</vt:lpstr>
      <vt:lpstr>Understand what you’re looking at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Looking at residuals</vt:lpstr>
      <vt:lpstr>PowerPoint Presentation</vt:lpstr>
      <vt:lpstr>PowerPoint Presentation</vt:lpstr>
      <vt:lpstr>PowerPoint Presentation</vt:lpstr>
      <vt:lpstr>Visual EDA</vt:lpstr>
      <vt:lpstr>Example dataset: accidental deaths in the Netherlands 1950-2024</vt:lpstr>
      <vt:lpstr>Background: school swimming</vt:lpstr>
      <vt:lpstr>Univariate: accidental drownings</vt:lpstr>
      <vt:lpstr>Univariate: accidental drownings (log)</vt:lpstr>
      <vt:lpstr>Comparisons (univariate vs. categorical)</vt:lpstr>
      <vt:lpstr>Rainplot combines plots</vt:lpstr>
      <vt:lpstr>Pairs plot = small multiple scatter plots</vt:lpstr>
      <vt:lpstr>Uptick in accidental drownings?</vt:lpstr>
      <vt:lpstr>Time series model as a baseline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Oberski, D.L. (Daniel)</dc:creator>
  <cp:lastModifiedBy>Oberski, D.L. (Daniel)</cp:lastModifiedBy>
  <cp:revision>54</cp:revision>
  <dcterms:created xsi:type="dcterms:W3CDTF">2025-09-29T09:05:31Z</dcterms:created>
  <dcterms:modified xsi:type="dcterms:W3CDTF">2025-09-29T11:01:56Z</dcterms:modified>
</cp:coreProperties>
</file>