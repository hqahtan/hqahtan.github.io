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sldIdLst>
    <p:sldId id="256" r:id="rId6"/>
    <p:sldId id="257" r:id="rId7"/>
    <p:sldId id="259" r:id="rId8"/>
    <p:sldId id="260" r:id="rId9"/>
    <p:sldId id="261" r:id="rId10"/>
    <p:sldId id="300" r:id="rId11"/>
    <p:sldId id="262" r:id="rId12"/>
    <p:sldId id="696" r:id="rId13"/>
    <p:sldId id="697" r:id="rId14"/>
    <p:sldId id="263" r:id="rId15"/>
    <p:sldId id="264" r:id="rId16"/>
    <p:sldId id="265" r:id="rId17"/>
    <p:sldId id="266" r:id="rId18"/>
    <p:sldId id="267" r:id="rId19"/>
    <p:sldId id="290" r:id="rId20"/>
    <p:sldId id="291" r:id="rId21"/>
    <p:sldId id="293" r:id="rId22"/>
    <p:sldId id="294" r:id="rId23"/>
    <p:sldId id="474" r:id="rId24"/>
    <p:sldId id="268" r:id="rId25"/>
    <p:sldId id="306" r:id="rId26"/>
    <p:sldId id="308" r:id="rId27"/>
    <p:sldId id="301" r:id="rId28"/>
    <p:sldId id="307" r:id="rId29"/>
    <p:sldId id="309" r:id="rId30"/>
    <p:sldId id="310" r:id="rId31"/>
    <p:sldId id="269" r:id="rId32"/>
    <p:sldId id="270" r:id="rId33"/>
    <p:sldId id="295" r:id="rId34"/>
    <p:sldId id="271" r:id="rId35"/>
    <p:sldId id="272" r:id="rId36"/>
    <p:sldId id="273" r:id="rId37"/>
    <p:sldId id="274" r:id="rId38"/>
    <p:sldId id="275" r:id="rId39"/>
    <p:sldId id="311" r:id="rId40"/>
    <p:sldId id="276" r:id="rId41"/>
    <p:sldId id="277" r:id="rId42"/>
    <p:sldId id="278" r:id="rId43"/>
    <p:sldId id="298" r:id="rId44"/>
    <p:sldId id="299" r:id="rId45"/>
    <p:sldId id="279" r:id="rId46"/>
    <p:sldId id="281" r:id="rId47"/>
    <p:sldId id="282" r:id="rId48"/>
    <p:sldId id="687" r:id="rId49"/>
    <p:sldId id="685" r:id="rId50"/>
    <p:sldId id="686" r:id="rId51"/>
    <p:sldId id="296" r:id="rId52"/>
    <p:sldId id="694" r:id="rId53"/>
    <p:sldId id="285" r:id="rId54"/>
    <p:sldId id="695" r:id="rId55"/>
    <p:sldId id="286" r:id="rId56"/>
    <p:sldId id="287" r:id="rId57"/>
    <p:sldId id="288" r:id="rId58"/>
    <p:sldId id="289" r:id="rId59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mote user" initials="r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4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F0379-DE5D-4C11-BC2C-588226E21311}" v="2" dt="2020-10-14T12:18:45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30"/>
  </p:normalViewPr>
  <p:slideViewPr>
    <p:cSldViewPr snapToGrid="0" snapToObjects="1">
      <p:cViewPr varScale="1">
        <p:scale>
          <a:sx n="135" d="100"/>
          <a:sy n="135" d="100"/>
        </p:scale>
        <p:origin x="1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microsoft.com/office/2015/10/relationships/revisionInfo" Target="revisionInfo.xml"/><Relationship Id="rId5" Type="http://schemas.openxmlformats.org/officeDocument/2006/relationships/slideMaster" Target="slideMasters/slideMaster2.xml"/><Relationship Id="rId61" Type="http://schemas.openxmlformats.org/officeDocument/2006/relationships/presProps" Target="pres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commentAuthors" Target="commentAuthors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ekhuis, O.C.C. (Stijn)" userId="S::o.c.c.beekhuis@students.uu.nl::01ab8245-eb9d-47de-9cd2-bb8154779f5e" providerId="AD" clId="Web-{057F0379-DE5D-4C11-BC2C-588226E21311}"/>
    <pc:docChg chg="addSld delSld">
      <pc:chgData name="Beekhuis, O.C.C. (Stijn)" userId="S::o.c.c.beekhuis@students.uu.nl::01ab8245-eb9d-47de-9cd2-bb8154779f5e" providerId="AD" clId="Web-{057F0379-DE5D-4C11-BC2C-588226E21311}" dt="2020-10-14T12:18:45.872" v="1"/>
      <pc:docMkLst>
        <pc:docMk/>
      </pc:docMkLst>
      <pc:sldChg chg="new del">
        <pc:chgData name="Beekhuis, O.C.C. (Stijn)" userId="S::o.c.c.beekhuis@students.uu.nl::01ab8245-eb9d-47de-9cd2-bb8154779f5e" providerId="AD" clId="Web-{057F0379-DE5D-4C11-BC2C-588226E21311}" dt="2020-10-14T12:18:45.872" v="1"/>
        <pc:sldMkLst>
          <pc:docMk/>
          <pc:sldMk cId="3929093816" sldId="304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4-04T12:24:51" idx="1">
    <p:pos x="0" y="0"/>
    <p:text>Wellicht nog te verduidelijken met een scatterplot? Als je niets voor handen hebt kan ik wel even iets simuleren als je wil?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4-04T12:24:51" idx="1">
    <p:pos x="0" y="0"/>
    <p:text>Wellicht nog te verduidelijken met een scatterplot? Als je niets voor handen hebt kan ik wel even iets simuleren als je wil?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4-04T12:26:31" idx="2">
    <p:pos x="0" y="0"/>
    <p:text>Ook hier zou ik een plotje voor kunnen maken als je wil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GB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12B6E-2945-475F-9F32-E8468D6BE184}" type="slidenum">
              <a:rPr lang="en-US" altLang="nl-NL"/>
              <a:pPr>
                <a:defRPr/>
              </a:pPr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49854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nl-NL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nl-NL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800" b="0" strike="noStrike" spc="-1">
                <a:solidFill>
                  <a:srgbClr val="000000"/>
                </a:solidFill>
                <a:latin typeface="Calibri"/>
              </a:rPr>
              <a:t>Klik om de opmaak van de overzichtstekst te bewerken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Tweede overzichtsniveau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Calibri"/>
              </a:rPr>
              <a:t>Derde overzichtsniveau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Calibri"/>
              </a:rPr>
              <a:t>Vierde overzichtsniveau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Vijfde overzichtsniveau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Zesde overzichtsniveau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Calibri"/>
              </a:rPr>
              <a:t>Zevende overzichtsniveau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 dirty="0">
                <a:solidFill>
                  <a:srgbClr val="000000"/>
                </a:solidFill>
                <a:latin typeface="Calibri Light"/>
              </a:rPr>
              <a:t>Click </a:t>
            </a:r>
            <a:r>
              <a:rPr lang="nl-NL" sz="4400" b="0" strike="noStrike" spc="-1" dirty="0" err="1">
                <a:solidFill>
                  <a:srgbClr val="000000"/>
                </a:solidFill>
                <a:latin typeface="Calibri Light"/>
              </a:rPr>
              <a:t>to</a:t>
            </a:r>
            <a:r>
              <a:rPr lang="nl-NL" sz="4400" b="0" strike="noStrike" spc="-1" dirty="0">
                <a:solidFill>
                  <a:srgbClr val="000000"/>
                </a:solidFill>
                <a:latin typeface="Calibri Light"/>
              </a:rPr>
              <a:t> </a:t>
            </a:r>
            <a:r>
              <a:rPr lang="nl-NL" sz="4400" b="0" strike="noStrike" spc="-1" dirty="0" err="1">
                <a:solidFill>
                  <a:srgbClr val="000000"/>
                </a:solidFill>
                <a:latin typeface="Calibri Light"/>
              </a:rPr>
              <a:t>edit</a:t>
            </a:r>
            <a:r>
              <a:rPr lang="nl-NL" sz="4400" b="0" strike="noStrike" spc="-1" dirty="0">
                <a:solidFill>
                  <a:srgbClr val="000000"/>
                </a:solidFill>
                <a:latin typeface="Calibri Light"/>
              </a:rPr>
              <a:t> Master </a:t>
            </a:r>
            <a:r>
              <a:rPr lang="nl-NL" sz="4400" b="0" strike="noStrike" spc="-1" dirty="0" err="1">
                <a:solidFill>
                  <a:srgbClr val="000000"/>
                </a:solidFill>
                <a:latin typeface="Calibri Light"/>
              </a:rPr>
              <a:t>title</a:t>
            </a:r>
            <a:r>
              <a:rPr lang="nl-NL" sz="4400" b="0" strike="noStrike" spc="-1" dirty="0">
                <a:solidFill>
                  <a:srgbClr val="000000"/>
                </a:solidFill>
                <a:latin typeface="Calibri Light"/>
              </a:rPr>
              <a:t> </a:t>
            </a:r>
            <a:r>
              <a:rPr lang="nl-NL" sz="4400" b="0" strike="noStrike" spc="-1" dirty="0" err="1">
                <a:solidFill>
                  <a:srgbClr val="000000"/>
                </a:solidFill>
                <a:latin typeface="Calibri Light"/>
              </a:rPr>
              <a:t>style</a:t>
            </a:r>
            <a:endParaRPr lang="nl-NL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Calibri"/>
              </a:rPr>
              <a:t>Click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Calibri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Calibri"/>
              </a:rPr>
              <a:t>edit</a:t>
            </a:r>
            <a:r>
              <a:rPr lang="nl-NL" sz="2800" b="0" strike="noStrike" spc="-1" dirty="0">
                <a:solidFill>
                  <a:srgbClr val="000000"/>
                </a:solidFill>
                <a:latin typeface="Calibri"/>
              </a:rPr>
              <a:t> Master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Calibri"/>
              </a:rPr>
              <a:t>text</a:t>
            </a:r>
            <a:r>
              <a:rPr lang="nl-NL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Calibri"/>
              </a:rPr>
              <a:t>styles</a:t>
            </a: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000" b="0" strike="noStrike" spc="-1" dirty="0" err="1">
                <a:solidFill>
                  <a:srgbClr val="000000"/>
                </a:solidFill>
                <a:latin typeface="Calibri"/>
              </a:rPr>
              <a:t>Third</a:t>
            </a:r>
            <a:r>
              <a:rPr lang="nl-NL" sz="2000" b="0" strike="noStrike" spc="-1" dirty="0">
                <a:solidFill>
                  <a:srgbClr val="000000"/>
                </a:solidFill>
                <a:latin typeface="Calibri"/>
              </a:rPr>
              <a:t>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1800" b="0" strike="noStrike" spc="-1" dirty="0" err="1">
                <a:solidFill>
                  <a:srgbClr val="000000"/>
                </a:solidFill>
                <a:latin typeface="Calibri"/>
              </a:rPr>
              <a:t>Fourth</a:t>
            </a:r>
            <a:r>
              <a:rPr lang="nl-NL" sz="1800" b="0" strike="noStrike" spc="-1" dirty="0">
                <a:solidFill>
                  <a:srgbClr val="000000"/>
                </a:solidFill>
                <a:latin typeface="Calibri"/>
              </a:rPr>
              <a:t>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1800" b="0" strike="noStrike" spc="-1" dirty="0" err="1">
                <a:solidFill>
                  <a:srgbClr val="000000"/>
                </a:solidFill>
                <a:latin typeface="Calibri"/>
              </a:rPr>
              <a:t>Fifth</a:t>
            </a:r>
            <a:r>
              <a:rPr lang="nl-NL" sz="1800" b="0" strike="noStrike" spc="-1" dirty="0">
                <a:solidFill>
                  <a:srgbClr val="000000"/>
                </a:solidFill>
                <a:latin typeface="Calibri"/>
              </a:rPr>
              <a:t>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cs.washington.edu/courses/cse416/18sp/slides/S6_missing-data-annotated.pdf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5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3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3578040" y="3901440"/>
            <a:ext cx="5038560" cy="185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endParaRPr lang="nl-NL" sz="2200" b="1" strike="noStrike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lang="nl-NL" sz="2200" b="1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endParaRPr lang="nl-NL" sz="2200" b="1" strike="noStrike" spc="-1" dirty="0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nl-NL" sz="2200" b="1" strike="noStrike" spc="-1" dirty="0">
                <a:solidFill>
                  <a:srgbClr val="000000"/>
                </a:solidFill>
                <a:latin typeface="Times New Roman"/>
              </a:rPr>
              <a:t>Daniel Oberski</a:t>
            </a:r>
          </a:p>
        </p:txBody>
      </p:sp>
      <p:sp>
        <p:nvSpPr>
          <p:cNvPr id="83" name="CustomShape 2"/>
          <p:cNvSpPr/>
          <p:nvPr/>
        </p:nvSpPr>
        <p:spPr>
          <a:xfrm>
            <a:off x="2407680" y="5754960"/>
            <a:ext cx="7376760" cy="86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nl-NL" sz="2000" b="0" strike="noStrike" spc="-1">
                <a:solidFill>
                  <a:srgbClr val="000000"/>
                </a:solidFill>
                <a:latin typeface="Times New Roman"/>
              </a:rPr>
              <a:t>Department of Methodology &amp; Statistics</a:t>
            </a:r>
            <a:endParaRPr lang="nl-NL" sz="20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nl-NL" sz="2000" b="0" strike="noStrike" spc="-1">
                <a:solidFill>
                  <a:srgbClr val="000000"/>
                </a:solidFill>
                <a:latin typeface="Times New Roman"/>
              </a:rPr>
              <a:t>Utrecht University</a:t>
            </a:r>
            <a:endParaRPr lang="nl-NL" sz="2000" b="0" strike="noStrike" spc="-1"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20640" y="1342080"/>
            <a:ext cx="11307960" cy="23601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nl-NL" sz="3600" b="1" strike="noStrike" spc="-1">
                <a:solidFill>
                  <a:srgbClr val="000000"/>
                </a:solidFill>
                <a:latin typeface="Times New Roman"/>
              </a:rPr>
              <a:t>Data Wrangling and Data Analysis</a:t>
            </a:r>
            <a:endParaRPr lang="nl-NL" sz="36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nl-NL" sz="3600" b="1" strike="noStrike" spc="-1">
                <a:solidFill>
                  <a:srgbClr val="000000"/>
                </a:solidFill>
                <a:latin typeface="Times New Roman"/>
              </a:rPr>
              <a:t>Missing Data and Imputation</a:t>
            </a:r>
            <a:endParaRPr lang="nl-NL" sz="3600" b="0" strike="noStrike" spc="-1">
              <a:latin typeface="Arial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2897280" y="3702960"/>
            <a:ext cx="6400440" cy="119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omputer Programmer Mug, Two Types Of People Mug, Incomplete Data Mug, Data Mug, Tech Appreciation Coffee Mug 11 oz image 1">
            <a:extLst>
              <a:ext uri="{FF2B5EF4-FFF2-40B4-BE49-F238E27FC236}">
                <a16:creationId xmlns:a16="http://schemas.microsoft.com/office/drawing/2014/main" id="{610A79EA-942C-330E-23FF-6AECF8509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115" y="2432115"/>
            <a:ext cx="4425885" cy="442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week</a:t>
            </a:r>
          </a:p>
        </p:txBody>
      </p:sp>
      <p:pic>
        <p:nvPicPr>
          <p:cNvPr id="1026" name="Picture 2" descr="Computer Programmer Mug, Two Types Of People Mug, Incomplete Data Mug, Data Mug, Tech Appreciation Coffee Mug 11 oz image 1">
            <a:extLst>
              <a:ext uri="{FF2B5EF4-FFF2-40B4-BE49-F238E27FC236}">
                <a16:creationId xmlns:a16="http://schemas.microsoft.com/office/drawing/2014/main" id="{576F1604-A4B4-A4CD-0540-D86537F1E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115" y="2658358"/>
            <a:ext cx="4425885" cy="442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1</a:t>
            </a: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Problems with missing data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2: </a:t>
            </a:r>
            <a:r>
              <a:rPr lang="nl-NL" sz="28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Solutions to problems with missing data</a:t>
            </a:r>
            <a:endParaRPr lang="nl-NL" sz="2800" b="1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3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Clustering</a:t>
            </a:r>
            <a:endParaRPr lang="nl-NL" sz="280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Strategies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deal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data</a:t>
            </a:r>
          </a:p>
        </p:txBody>
      </p:sp>
      <p:sp>
        <p:nvSpPr>
          <p:cNvPr id="91" name="TextShape 2"/>
          <p:cNvSpPr txBox="1"/>
          <p:nvPr/>
        </p:nvSpPr>
        <p:spPr>
          <a:xfrm>
            <a:off x="838080" y="4097160"/>
            <a:ext cx="3043440" cy="1833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Prevention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7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nl-NL" sz="27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7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golden </a:t>
            </a:r>
            <a:r>
              <a:rPr lang="nl-NL" sz="27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road</a:t>
            </a:r>
            <a:r>
              <a:rPr lang="nl-NL" sz="27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?)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92" name="Group 3"/>
          <p:cNvGrpSpPr/>
          <p:nvPr/>
        </p:nvGrpSpPr>
        <p:grpSpPr>
          <a:xfrm>
            <a:off x="847440" y="1941480"/>
            <a:ext cx="10330560" cy="1630800"/>
            <a:chOff x="847440" y="1941480"/>
            <a:chExt cx="10330560" cy="1630800"/>
          </a:xfrm>
        </p:grpSpPr>
        <p:sp>
          <p:nvSpPr>
            <p:cNvPr id="93" name="CustomShape 4"/>
            <p:cNvSpPr/>
            <p:nvPr/>
          </p:nvSpPr>
          <p:spPr>
            <a:xfrm>
              <a:off x="847440" y="1941480"/>
              <a:ext cx="2718360" cy="16308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1680" tIns="211680" rIns="163800" bIns="21132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505"/>
                </a:spcAft>
              </a:pPr>
              <a:r>
                <a:rPr lang="nl-NL" sz="4000" b="0" i="1" strike="noStrike" spc="-1" dirty="0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Data </a:t>
              </a:r>
              <a:r>
                <a:rPr lang="nl-NL" sz="4000" b="0" i="1" strike="noStrike" spc="-1" dirty="0" err="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collection</a:t>
              </a:r>
              <a:endParaRPr lang="nl-NL" sz="4000" b="0" i="1" strike="noStrike" spc="-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4" name="CustomShape 5"/>
            <p:cNvSpPr/>
            <p:nvPr/>
          </p:nvSpPr>
          <p:spPr>
            <a:xfrm>
              <a:off x="3837960" y="2420280"/>
              <a:ext cx="576000" cy="67392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1">
                <a:tint val="60000"/>
                <a:hueOff val="0"/>
                <a:satOff val="0"/>
                <a:lumOff val="0"/>
                <a:alphaOff val="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CustomShape 6"/>
            <p:cNvSpPr/>
            <p:nvPr/>
          </p:nvSpPr>
          <p:spPr>
            <a:xfrm>
              <a:off x="4653360" y="1941480"/>
              <a:ext cx="2718360" cy="16308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1680" tIns="211680" rIns="163800" bIns="21132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505"/>
                </a:spcAft>
              </a:pPr>
              <a:r>
                <a:rPr lang="nl-NL" sz="4000" b="0" i="1" strike="noStrike" spc="-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Data wrangling</a:t>
              </a:r>
              <a:endParaRPr lang="nl-NL" sz="4000" b="0" i="1" strike="noStrike" spc="-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96" name="CustomShape 7"/>
            <p:cNvSpPr/>
            <p:nvPr/>
          </p:nvSpPr>
          <p:spPr>
            <a:xfrm>
              <a:off x="7644240" y="2420280"/>
              <a:ext cx="576000" cy="673920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1">
                <a:tint val="60000"/>
                <a:hueOff val="0"/>
                <a:satOff val="0"/>
                <a:lumOff val="0"/>
                <a:alphaOff val="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7" name="CustomShape 8"/>
            <p:cNvSpPr/>
            <p:nvPr/>
          </p:nvSpPr>
          <p:spPr>
            <a:xfrm>
              <a:off x="8459640" y="1941480"/>
              <a:ext cx="2718360" cy="16308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1680" tIns="211680" rIns="163800" bIns="21132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505"/>
                </a:spcAft>
              </a:pPr>
              <a:r>
                <a:rPr lang="nl-NL" sz="4000" b="0" i="1" strike="noStrike" spc="-1">
                  <a:solidFill>
                    <a:srgbClr val="FFFFFF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Data Analysis</a:t>
              </a:r>
              <a:endParaRPr lang="nl-NL" sz="4000" b="0" i="1" strike="noStrike" spc="-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98" name="Group 9"/>
          <p:cNvGrpSpPr/>
          <p:nvPr/>
        </p:nvGrpSpPr>
        <p:grpSpPr>
          <a:xfrm>
            <a:off x="0" y="0"/>
            <a:ext cx="36000" cy="36000"/>
            <a:chOff x="0" y="0"/>
            <a:chExt cx="36000" cy="36000"/>
          </a:xfrm>
        </p:grpSpPr>
      </p:grpSp>
      <p:sp>
        <p:nvSpPr>
          <p:cNvPr id="99" name="CustomShape 10"/>
          <p:cNvSpPr/>
          <p:nvPr/>
        </p:nvSpPr>
        <p:spPr>
          <a:xfrm>
            <a:off x="4228560" y="4077000"/>
            <a:ext cx="3811854" cy="18144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2800" b="0" strike="noStrike" spc="-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6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Ad-hoc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methods</a:t>
            </a:r>
            <a:endParaRPr lang="nl-NL" sz="2800" b="0" strike="noStrike" spc="-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6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Single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indent="-456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Multiple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2800" b="0" strike="noStrike" spc="-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0" name="CustomShape 11"/>
          <p:cNvSpPr/>
          <p:nvPr/>
        </p:nvSpPr>
        <p:spPr>
          <a:xfrm>
            <a:off x="8143559" y="4097160"/>
            <a:ext cx="3953847" cy="22453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Adjustment</a:t>
            </a:r>
            <a:endParaRPr lang="nl-NL" sz="2800" b="0" strike="noStrike" spc="-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Weighting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methods</a:t>
            </a:r>
            <a:endParaRPr lang="nl-NL" sz="2800" b="0" strike="noStrike" spc="-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Likelihood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methods</a:t>
            </a:r>
            <a:endParaRPr lang="nl-NL" sz="2800" b="0" strike="noStrike" spc="-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EM-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algorithm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…</a:t>
            </a:r>
            <a:endParaRPr lang="nl-NL" sz="2800" b="0" strike="noStrike" spc="-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8500" lnSpcReduction="20000"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35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Replacing</a:t>
            </a:r>
            <a:r>
              <a:rPr lang="nl-NL" sz="35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35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values</a:t>
            </a:r>
            <a:r>
              <a:rPr lang="nl-NL" sz="35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5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35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5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guessed</a:t>
            </a:r>
            <a:r>
              <a:rPr lang="nl-NL" sz="35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5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values</a:t>
            </a:r>
            <a:endParaRPr lang="nl-NL" sz="35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35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b="0" strike="noStrike" spc="-1" dirty="0">
                <a:solidFill>
                  <a:srgbClr val="000000"/>
                </a:solidFill>
                <a:latin typeface="Consolas"/>
              </a:rPr>
              <a:t>##  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Consolas"/>
              </a:rPr>
              <a:t>age</a:t>
            </a:r>
            <a:r>
              <a:rPr lang="nl-NL" sz="2800" b="0" strike="noStrike" spc="-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Consolas"/>
              </a:rPr>
              <a:t>weight</a:t>
            </a: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b="0" strike="noStrike" spc="-1" dirty="0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b="0" strike="noStrike" spc="-1" dirty="0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800" b="1" strike="noStrike" spc="-1" dirty="0">
                <a:solidFill>
                  <a:srgbClr val="FF0000"/>
                </a:solidFill>
                <a:latin typeface="Consolas"/>
              </a:rPr>
              <a:t>NA</a:t>
            </a: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b="0" strike="noStrike" spc="-1" dirty="0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b="0" strike="noStrike" spc="-1" dirty="0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b="0" strike="noStrike" spc="-1" dirty="0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b="0" strike="noStrike" spc="-1" dirty="0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b="0" strike="noStrike" spc="-1" dirty="0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CustomShape 3"/>
          <p:cNvSpPr/>
          <p:nvPr/>
        </p:nvSpPr>
        <p:spPr>
          <a:xfrm>
            <a:off x="5576400" y="2624040"/>
            <a:ext cx="4092120" cy="325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6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6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600" b="0" strike="noStrike" spc="-1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600" b="1" strike="noStrike" spc="-1">
                <a:solidFill>
                  <a:srgbClr val="FF0000"/>
                </a:solidFill>
                <a:latin typeface="Consolas"/>
              </a:rPr>
              <a:t>47</a:t>
            </a:r>
            <a:endParaRPr lang="nl-NL" sz="2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6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6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6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6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6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600" b="0" strike="noStrike" spc="-1">
              <a:latin typeface="Arial"/>
            </a:endParaRPr>
          </a:p>
        </p:txBody>
      </p:sp>
      <p:sp>
        <p:nvSpPr>
          <p:cNvPr id="104" name="CustomShape 4"/>
          <p:cNvSpPr/>
          <p:nvPr/>
        </p:nvSpPr>
        <p:spPr>
          <a:xfrm>
            <a:off x="3278160" y="3652200"/>
            <a:ext cx="21610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Yields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“complete” data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Statistics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now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defined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Hooray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026" name="Picture 2" descr="Making up data | Data geek, Funny cartoons, Funny cartoon">
            <a:extLst>
              <a:ext uri="{FF2B5EF4-FFF2-40B4-BE49-F238E27FC236}">
                <a16:creationId xmlns:a16="http://schemas.microsoft.com/office/drawing/2014/main" id="{096001A7-C83B-E747-B49D-FF52E26E9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80" y="3547620"/>
            <a:ext cx="84074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8162C-22D9-5F43-817E-ECC7341F4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616186"/>
            <a:ext cx="10515240" cy="609398"/>
          </a:xfrm>
        </p:spPr>
        <p:txBody>
          <a:bodyPr/>
          <a:lstStyle/>
          <a:p>
            <a:r>
              <a:rPr lang="en-US" dirty="0"/>
              <a:t>Good imputations are </a:t>
            </a:r>
            <a:r>
              <a:rPr lang="en-US" i="1" dirty="0"/>
              <a:t>plausible </a:t>
            </a:r>
            <a:endParaRPr lang="en-US" dirty="0"/>
          </a:p>
        </p:txBody>
      </p:sp>
      <p:pic>
        <p:nvPicPr>
          <p:cNvPr id="2050" name="Picture 2" descr="image/jpeg">
            <a:extLst>
              <a:ext uri="{FF2B5EF4-FFF2-40B4-BE49-F238E27FC236}">
                <a16:creationId xmlns:a16="http://schemas.microsoft.com/office/drawing/2014/main" id="{13D21C5C-C6E8-C57A-BA7A-DBFA6BF0E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80" y="1496376"/>
            <a:ext cx="7996941" cy="474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ED1B7F-BF2E-A0FD-29E0-5053322113D1}"/>
              </a:ext>
            </a:extLst>
          </p:cNvPr>
          <p:cNvSpPr txBox="1"/>
          <p:nvPr/>
        </p:nvSpPr>
        <p:spPr>
          <a:xfrm>
            <a:off x="754145" y="6299135"/>
            <a:ext cx="6378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Fira Code" pitchFamily="49" charset="0"/>
                <a:ea typeface="Fira Code" pitchFamily="49" charset="0"/>
                <a:cs typeface="Fira Code" pitchFamily="49" charset="0"/>
              </a:rPr>
              <a:t>https://huggingface.co/black-forest-labs/FLUX.1-Fill-dev</a:t>
            </a:r>
          </a:p>
        </p:txBody>
      </p:sp>
    </p:spTree>
    <p:extLst>
      <p:ext uri="{BB962C8B-B14F-4D97-AF65-F5344CB8AC3E}">
        <p14:creationId xmlns:p14="http://schemas.microsoft.com/office/powerpoint/2010/main" val="215913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Deductive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8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know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height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weight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we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calculate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BMI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male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child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probably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pregnant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Converse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also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holds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observed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“must”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wrong, we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correct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or </a:t>
            </a:r>
            <a:r>
              <a:rPr lang="nl-NL" sz="28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make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database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contain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14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old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female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3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kids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married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20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years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working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as a manager at a public school</a:t>
            </a: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data entry error (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perhaps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should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have been 41?). We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set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let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algorithms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1">
            <a:extLst>
              <a:ext uri="{FF2B5EF4-FFF2-40B4-BE49-F238E27FC236}">
                <a16:creationId xmlns:a16="http://schemas.microsoft.com/office/drawing/2014/main" id="{DE297ADA-2F79-8940-87FF-5FBDF9D05AF2}"/>
              </a:ext>
            </a:extLst>
          </p:cNvPr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 data procedures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implicit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assumptions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Shape 2">
            <a:extLst>
              <a:ext uri="{FF2B5EF4-FFF2-40B4-BE49-F238E27FC236}">
                <a16:creationId xmlns:a16="http://schemas.microsoft.com/office/drawing/2014/main" id="{BD1F0966-E450-1345-A761-8BBD90B1D724}"/>
              </a:ext>
            </a:extLst>
          </p:cNvPr>
          <p:cNvSpPr txBox="1"/>
          <p:nvPr/>
        </p:nvSpPr>
        <p:spPr>
          <a:xfrm>
            <a:off x="838080" y="2017986"/>
            <a:ext cx="10515240" cy="415853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 data important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because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bias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analysis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Bias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depends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NDD/SDD/UDD</a:t>
            </a: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 </a:t>
            </a: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Goal: </a:t>
            </a:r>
            <a:r>
              <a:rPr lang="nl-NL" sz="28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prevent</a:t>
            </a: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bias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Logic of </a:t>
            </a:r>
            <a:r>
              <a:rPr lang="nl-NL" sz="28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all</a:t>
            </a: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missing data procedures: 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  <a:sym typeface="Wingdings" pitchFamily="2" charset="2"/>
              </a:rPr>
              <a:t>IF 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NDD/SDD is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causing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bias, 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  <a:sym typeface="Wingdings" pitchFamily="2" charset="2"/>
              </a:rPr>
              <a:t>THEN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procedure </a:t>
            </a:r>
            <a:r>
              <a:rPr lang="nl-NL" sz="2800" i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xyz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will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remove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that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bias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(On </a:t>
            </a:r>
            <a:r>
              <a:rPr lang="nl-NL" sz="2400" spc="-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very</a:t>
            </a:r>
            <a:r>
              <a:rPr lang="nl-NL" sz="2400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rare occasions, </a:t>
            </a:r>
            <a:r>
              <a:rPr lang="nl-NL" sz="2400" spc="-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specific</a:t>
            </a:r>
            <a:r>
              <a:rPr lang="nl-NL" sz="2400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</a:t>
            </a:r>
            <a:r>
              <a:rPr lang="nl-NL" sz="2400" spc="-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forms</a:t>
            </a:r>
            <a:r>
              <a:rPr lang="nl-NL" sz="2400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of UDD </a:t>
            </a:r>
            <a:r>
              <a:rPr lang="nl-NL" sz="2400" spc="-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can</a:t>
            </a:r>
            <a:r>
              <a:rPr lang="nl-NL" sz="2400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</a:t>
            </a:r>
            <a:r>
              <a:rPr lang="nl-NL" sz="2400" spc="-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be</a:t>
            </a:r>
            <a:r>
              <a:rPr lang="nl-NL" sz="2400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dealt </a:t>
            </a:r>
            <a:r>
              <a:rPr lang="nl-NL" sz="2400" spc="-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with</a:t>
            </a:r>
            <a:r>
              <a:rPr lang="nl-NL" sz="2400" spc="-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)</a:t>
            </a:r>
            <a:endParaRPr lang="nl-NL" sz="2400" spc="-1" dirty="0">
              <a:solidFill>
                <a:schemeClr val="tx1">
                  <a:lumMod val="50000"/>
                  <a:lumOff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nl-NL" sz="28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Wingdings" pitchFamily="2" charset="2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In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other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words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,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each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procedure has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</a:t>
            </a:r>
            <a:r>
              <a:rPr lang="nl-NL" sz="28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implicit</a:t>
            </a: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 </a:t>
            </a:r>
            <a:r>
              <a:rPr lang="nl-NL" sz="28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assumption</a:t>
            </a:r>
            <a:endParaRPr lang="nl-NL" sz="2800" b="1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Wingdings" pitchFamily="2" charset="2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nl-NL" sz="280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536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838080" y="99137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Methods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their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assumptions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aphicFrame>
        <p:nvGraphicFramePr>
          <p:cNvPr id="153" name="Table 2"/>
          <p:cNvGraphicFramePr/>
          <p:nvPr>
            <p:extLst>
              <p:ext uri="{D42A27DB-BD31-4B8C-83A1-F6EECF244321}">
                <p14:modId xmlns:p14="http://schemas.microsoft.com/office/powerpoint/2010/main" val="1647731689"/>
              </p:ext>
            </p:extLst>
          </p:nvPr>
        </p:nvGraphicFramePr>
        <p:xfrm>
          <a:off x="838080" y="1424297"/>
          <a:ext cx="10515240" cy="5103683"/>
        </p:xfrm>
        <a:graphic>
          <a:graphicData uri="http://schemas.openxmlformats.org/drawingml/2006/table">
            <a:tbl>
              <a:tblPr/>
              <a:tblGrid>
                <a:gridCol w="2788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8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2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039"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1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Assumption</a:t>
                      </a:r>
                      <a:r>
                        <a:rPr lang="nl-NL" sz="2400" b="1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nl-NL" sz="2400" b="1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needed</a:t>
                      </a:r>
                      <a:r>
                        <a:rPr lang="nl-NL" sz="2400" b="1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nl-NL" sz="2400" b="1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</a:t>
                      </a:r>
                      <a:r>
                        <a:rPr lang="nl-NL" sz="2400" b="1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get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1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unbiased</a:t>
                      </a:r>
                      <a:r>
                        <a:rPr lang="nl-NL" sz="2400" b="1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nl-NL" sz="2400" b="1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estimate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671">
                <a:tc>
                  <a:txBody>
                    <a:bodyPr/>
                    <a:lstStyle/>
                    <a:p>
                      <a:endPara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Mean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Regression coef.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Correlation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Standard Error 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0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Listwise</a:t>
                      </a: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nl-NL" sz="2400" b="0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deletion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Mean imputation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Regression imputation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9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Stochastic imputation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029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endParaRPr lang="nl-NL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33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Listwise</a:t>
            </a:r>
            <a:r>
              <a:rPr lang="nl-NL" sz="33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deletion</a:t>
            </a:r>
            <a:endParaRPr lang="nl-NL" sz="3300" b="1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nl-NL" sz="28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lso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known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as: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“Complete Case Analysis”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“we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deleted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data”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“huh?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Whaddayamean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data?”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Listwise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deletion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2" name="CustomShape 2"/>
          <p:cNvSpPr/>
          <p:nvPr/>
        </p:nvSpPr>
        <p:spPr>
          <a:xfrm>
            <a:off x="6960600" y="2056680"/>
            <a:ext cx="3418920" cy="3076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>
              <a:latin typeface="Arial"/>
            </a:endParaRPr>
          </a:p>
        </p:txBody>
      </p:sp>
      <p:sp>
        <p:nvSpPr>
          <p:cNvPr id="113" name="CustomShape 3"/>
          <p:cNvSpPr/>
          <p:nvPr/>
        </p:nvSpPr>
        <p:spPr>
          <a:xfrm>
            <a:off x="1774080" y="2056680"/>
            <a:ext cx="4092120" cy="350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800" b="1" strike="noStrike" spc="-1">
                <a:solidFill>
                  <a:srgbClr val="FF0000"/>
                </a:solidFill>
                <a:latin typeface="Consolas"/>
              </a:rPr>
              <a:t>NA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>
              <a:latin typeface="Arial"/>
            </a:endParaRPr>
          </a:p>
        </p:txBody>
      </p:sp>
      <p:sp>
        <p:nvSpPr>
          <p:cNvPr id="114" name="CustomShape 4"/>
          <p:cNvSpPr/>
          <p:nvPr/>
        </p:nvSpPr>
        <p:spPr>
          <a:xfrm>
            <a:off x="5471280" y="3103560"/>
            <a:ext cx="7905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Listwise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deletion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Advantages</a:t>
            </a:r>
            <a:endParaRPr lang="nl-NL" sz="28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Simple (default in most software)</a:t>
            </a: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Unbiased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NDD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Disadvantages</a:t>
            </a:r>
            <a:endParaRPr lang="nl-NL" sz="28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Large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loss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information,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hopeless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features</a:t>
            </a: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Biased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SDD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UDD, even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simple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stuff like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mean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Mean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8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Replace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observed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</a:t>
            </a: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nl-NL" sz="28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Advantages</a:t>
            </a:r>
            <a:endParaRPr lang="nl-NL" sz="28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Simple</a:t>
            </a: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Unbiased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mean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NDD</a:t>
            </a: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endParaRPr lang="nl-NL" sz="24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</a:pPr>
            <a:r>
              <a:rPr lang="nl-NL" sz="2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Disadvantages</a:t>
            </a:r>
            <a:endParaRPr lang="nl-NL" sz="2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3260" indent="-3429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4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Doesn’t</a:t>
            </a:r>
            <a:r>
              <a:rPr lang="nl-NL" sz="24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endParaRPr lang="nl-NL" sz="24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43260" indent="-3429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(okay,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except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very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specific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circumstances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>
                <a:solidFill>
                  <a:srgbClr val="000000"/>
                </a:solidFill>
                <a:latin typeface="Calibri Light"/>
              </a:rPr>
              <a:t>Mean imputation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6960600" y="2056680"/>
            <a:ext cx="3418920" cy="350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800" b="1" strike="noStrike" spc="-1">
                <a:solidFill>
                  <a:srgbClr val="FF0000"/>
                </a:solidFill>
                <a:latin typeface="Consolas"/>
              </a:rPr>
              <a:t>65.667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>
              <a:latin typeface="Arial"/>
            </a:endParaRPr>
          </a:p>
        </p:txBody>
      </p:sp>
      <p:sp>
        <p:nvSpPr>
          <p:cNvPr id="121" name="CustomShape 3"/>
          <p:cNvSpPr/>
          <p:nvPr/>
        </p:nvSpPr>
        <p:spPr>
          <a:xfrm>
            <a:off x="1694520" y="2056680"/>
            <a:ext cx="4092120" cy="350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800" b="1" strike="noStrike" spc="-1">
                <a:solidFill>
                  <a:srgbClr val="FF0000"/>
                </a:solidFill>
                <a:latin typeface="Consolas"/>
              </a:rPr>
              <a:t>NA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>
              <a:latin typeface="Arial"/>
            </a:endParaRPr>
          </a:p>
        </p:txBody>
      </p:sp>
      <p:sp>
        <p:nvSpPr>
          <p:cNvPr id="122" name="CustomShape 4"/>
          <p:cNvSpPr/>
          <p:nvPr/>
        </p:nvSpPr>
        <p:spPr>
          <a:xfrm>
            <a:off x="5471280" y="3103560"/>
            <a:ext cx="7905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D5CEE-CEDF-E348-9D0C-405267E0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n-US" dirty="0"/>
              <a:t>Mean imputation: </a:t>
            </a:r>
            <a:r>
              <a:rPr lang="en-US" b="1" dirty="0"/>
              <a:t>uni</a:t>
            </a:r>
            <a:r>
              <a:rPr lang="en-US" dirty="0"/>
              <a:t>variate perspective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6ED21-F2EC-FC47-AE28-71C436F383B5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179A2-51F5-6149-8391-0067E5746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905" y="2378869"/>
            <a:ext cx="12321209" cy="324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51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C8F2-258E-B646-B060-F7D849979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n-US" dirty="0"/>
              <a:t>Mean imputation: </a:t>
            </a:r>
            <a:r>
              <a:rPr lang="en-US" b="1" dirty="0"/>
              <a:t>bi</a:t>
            </a:r>
            <a:r>
              <a:rPr lang="en-US" dirty="0"/>
              <a:t>variate perspective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17D11-4529-BF43-AFE6-BB94ECA2B68A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89126-BB5E-124A-8B9D-6D903CCC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420" y="1628461"/>
            <a:ext cx="8854560" cy="522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39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CCFB-E01C-1649-A627-509D7F24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5080A-240E-8E46-B560-91E40363649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2A9EF2-AC38-2F4C-8368-4A889CB8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8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84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CCFB-E01C-1649-A627-509D7F24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5080A-240E-8E46-B560-91E40363649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2A9EF2-AC38-2F4C-8368-4A889CB8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895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B1BD6E-F42E-FD49-9856-E3668E67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" y="0"/>
            <a:ext cx="12192000" cy="688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49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573A-1A85-9744-BC52-8995A02D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n-US" dirty="0"/>
              <a:t>Mean imputation in prediction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FAD48-B006-E548-B450-11F4A3A0EF6A}"/>
              </a:ext>
            </a:extLst>
          </p:cNvPr>
          <p:cNvSpPr txBox="1"/>
          <p:nvPr/>
        </p:nvSpPr>
        <p:spPr>
          <a:xfrm>
            <a:off x="7360085" y="2890729"/>
            <a:ext cx="48319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</a:t>
            </a: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cross-validated MSE 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the best model after mean imputation?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</a:t>
            </a: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true MSE 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this model for new data?</a:t>
            </a:r>
          </a:p>
        </p:txBody>
      </p:sp>
      <p:pic>
        <p:nvPicPr>
          <p:cNvPr id="8" name="Picture 7" descr="A black line with dots&#10;&#10;AI-generated content may be incorrect.">
            <a:extLst>
              <a:ext uri="{FF2B5EF4-FFF2-40B4-BE49-F238E27FC236}">
                <a16:creationId xmlns:a16="http://schemas.microsoft.com/office/drawing/2014/main" id="{B08739A9-3D8D-7879-B880-DE307893B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0041" y="2360886"/>
            <a:ext cx="2468835" cy="2468835"/>
          </a:xfrm>
          <a:prstGeom prst="rect">
            <a:avLst/>
          </a:prstGeom>
        </p:spPr>
      </p:pic>
      <p:pic>
        <p:nvPicPr>
          <p:cNvPr id="10" name="Picture 9" descr="A black and white image of a cluster of dots&#10;&#10;AI-generated content may be incorrect.">
            <a:extLst>
              <a:ext uri="{FF2B5EF4-FFF2-40B4-BE49-F238E27FC236}">
                <a16:creationId xmlns:a16="http://schemas.microsoft.com/office/drawing/2014/main" id="{2E17299A-C24C-4259-94C8-9D8938133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049" y="2360886"/>
            <a:ext cx="2468835" cy="24688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23D8F9-1DF6-FA3B-8E80-0F1428E31797}"/>
              </a:ext>
            </a:extLst>
          </p:cNvPr>
          <p:cNvSpPr txBox="1"/>
          <p:nvPr/>
        </p:nvSpPr>
        <p:spPr>
          <a:xfrm>
            <a:off x="838080" y="1880846"/>
            <a:ext cx="2944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Before</a:t>
            </a:r>
            <a:r>
              <a:rPr lang="en-US" sz="2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3D146-B9A7-71BA-96F2-D1F4DC41356A}"/>
              </a:ext>
            </a:extLst>
          </p:cNvPr>
          <p:cNvSpPr txBox="1"/>
          <p:nvPr/>
        </p:nvSpPr>
        <p:spPr>
          <a:xfrm>
            <a:off x="4008069" y="1880846"/>
            <a:ext cx="3299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After</a:t>
            </a:r>
            <a:r>
              <a:rPr lang="en-US" sz="2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mean imputation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E21209-FE87-9F04-5659-2F776F73D80D}"/>
                  </a:ext>
                </a:extLst>
              </p:cNvPr>
              <p:cNvSpPr txBox="1"/>
              <p:nvPr/>
            </p:nvSpPr>
            <p:spPr>
              <a:xfrm>
                <a:off x="1024048" y="4829721"/>
                <a:ext cx="246883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=2</m:t>
                      </m:r>
                    </m:oMath>
                  </m:oMathPara>
                </a14:m>
                <a:endParaRPr lang="en-US" sz="24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MSE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𝑦</m:t>
                          </m:r>
                        </m:e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=1</m:t>
                      </m:r>
                    </m:oMath>
                  </m:oMathPara>
                </a14:m>
                <a:endParaRPr lang="en-US" sz="24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E21209-FE87-9F04-5659-2F776F73D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048" y="4829721"/>
                <a:ext cx="2468835" cy="830997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9086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Mean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4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Disadvantages</a:t>
            </a:r>
            <a:endParaRPr lang="nl-NL" sz="28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Disturbs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distribution</a:t>
            </a:r>
            <a:endParaRPr lang="nl-NL" sz="24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Underestimates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variance</a:t>
            </a:r>
            <a:endParaRPr lang="nl-NL" sz="24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Biases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correlations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zero</a:t>
            </a: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Biased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DD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4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trike="noStrike" spc="-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AVOID </a:t>
            </a: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unless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know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doing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probably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even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5B581-317C-FF47-837C-0D7A94CD5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F95A1-DB97-1345-819B-576B41CBA01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38080" y="3807141"/>
            <a:ext cx="10515240" cy="38779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Intermezzo: tiny crash course/reminder of classical statistics</a:t>
            </a:r>
          </a:p>
        </p:txBody>
      </p:sp>
    </p:spTree>
    <p:extLst>
      <p:ext uri="{BB962C8B-B14F-4D97-AF65-F5344CB8AC3E}">
        <p14:creationId xmlns:p14="http://schemas.microsoft.com/office/powerpoint/2010/main" val="2294461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0AB1-EEAC-C54D-8076-E7AC4144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hinese soup spoon | Packaging and More">
            <a:extLst>
              <a:ext uri="{FF2B5EF4-FFF2-40B4-BE49-F238E27FC236}">
                <a16:creationId xmlns:a16="http://schemas.microsoft.com/office/drawing/2014/main" id="{43EC91ED-9882-854B-AEFB-505653DF5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25075E-6013-6444-BD1A-43964F41EF81}"/>
              </a:ext>
            </a:extLst>
          </p:cNvPr>
          <p:cNvSpPr txBox="1"/>
          <p:nvPr/>
        </p:nvSpPr>
        <p:spPr>
          <a:xfrm>
            <a:off x="3804047" y="3244334"/>
            <a:ext cx="4583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Population/Data-generating process (DGP)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72417-97D4-D043-96C3-684FBA917727}"/>
              </a:ext>
            </a:extLst>
          </p:cNvPr>
          <p:cNvSpPr txBox="1"/>
          <p:nvPr/>
        </p:nvSpPr>
        <p:spPr>
          <a:xfrm>
            <a:off x="6584034" y="2055240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4171674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</a:t>
            </a:r>
            <a:r>
              <a:rPr lang="nl-NL" sz="44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r>
              <a:rPr lang="nl-NL" sz="44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”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4" name="TextShape 2"/>
          <p:cNvSpPr txBox="1"/>
          <p:nvPr/>
        </p:nvSpPr>
        <p:spPr>
          <a:xfrm>
            <a:off x="838080" y="1583822"/>
            <a:ext cx="10515240" cy="254674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Suppose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a target “</a:t>
            </a:r>
            <a:r>
              <a:rPr lang="nl-NL" sz="2800" b="0" strike="noStrike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number</a:t>
            </a:r>
            <a:r>
              <a:rPr lang="nl-NL" sz="2800" b="0" strike="noStrike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interest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” in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DGP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only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have 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sample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will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let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target </a:t>
            </a:r>
            <a:r>
              <a:rPr lang="nl-NL" sz="2800" b="0" strike="noStrike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number</a:t>
            </a:r>
            <a:endParaRPr lang="nl-NL" sz="2800" b="0" strike="noStrike" spc="-1" dirty="0">
              <a:solidFill>
                <a:srgbClr val="B74DB7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close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true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number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given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sample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size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nl-NL" sz="28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" name="Picture 2" descr="chinese soup spoon | Packaging and More">
            <a:extLst>
              <a:ext uri="{FF2B5EF4-FFF2-40B4-BE49-F238E27FC236}">
                <a16:creationId xmlns:a16="http://schemas.microsoft.com/office/drawing/2014/main" id="{FC2B094D-1AAB-A84B-9EB3-F09CD88D6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80" y="4130566"/>
            <a:ext cx="2727434" cy="272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71813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</a:t>
            </a:r>
            <a:r>
              <a:rPr lang="nl-NL" sz="44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r>
              <a:rPr lang="nl-NL" sz="44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”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4" name="TextShape 2"/>
          <p:cNvSpPr txBox="1"/>
          <p:nvPr/>
        </p:nvSpPr>
        <p:spPr>
          <a:xfrm>
            <a:off x="838080" y="1583822"/>
            <a:ext cx="10515240" cy="5069226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b="1" strike="noStrike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Think</a:t>
            </a:r>
            <a:r>
              <a:rPr lang="nl-NL" sz="2800" b="1" strike="noStrike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trike="noStrike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about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</a:p>
          <a:p>
            <a:pPr marL="971910" lvl="1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all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possible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spoonfuls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could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have taken</a:t>
            </a:r>
          </a:p>
          <a:p>
            <a:pPr marL="971910" lvl="1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estimates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target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number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would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have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gotten</a:t>
            </a:r>
            <a:endParaRPr lang="nl-NL" sz="2800" spc="-1" dirty="0">
              <a:solidFill>
                <a:srgbClr val="B74DB7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971910" lvl="1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standard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devation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estimates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over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spoons</a:t>
            </a:r>
            <a:endParaRPr lang="nl-NL" sz="2800" spc="-1" dirty="0">
              <a:solidFill>
                <a:srgbClr val="B74DB7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Here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Big Trick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we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standard </a:t>
            </a:r>
            <a:r>
              <a:rPr lang="nl-NL" sz="2800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deviation</a:t>
            </a:r>
            <a:r>
              <a:rPr lang="nl-NL" sz="2800" spc="-1" dirty="0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ONE sample! 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called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“standard error”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think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standard error 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pc="-1" dirty="0" err="1">
                <a:solidFill>
                  <a:srgbClr val="B74DB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about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</a:t>
            </a:r>
            <a:endParaRPr lang="nl-NL" sz="28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098" name="Picture 2" descr="chinese soup spoon | Packaging and More">
            <a:extLst>
              <a:ext uri="{FF2B5EF4-FFF2-40B4-BE49-F238E27FC236}">
                <a16:creationId xmlns:a16="http://schemas.microsoft.com/office/drawing/2014/main" id="{EDD0A1CA-7BC0-9141-A7B9-BE61C5DB2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428" y="-20164"/>
            <a:ext cx="2359572" cy="235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031717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66F4-5E8B-8C48-B6BB-75B26DE4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18223"/>
            <a:ext cx="10515240" cy="1218795"/>
          </a:xfrm>
        </p:spPr>
        <p:txBody>
          <a:bodyPr/>
          <a:lstStyle/>
          <a:p>
            <a:r>
              <a:rPr lang="en-US" dirty="0"/>
              <a:t>Using the standard error to deal with uncertainty</a:t>
            </a: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67AEEC2-C9DB-894D-BC86-76150D5BD056}"/>
              </a:ext>
            </a:extLst>
          </p:cNvPr>
          <p:cNvSpPr txBox="1"/>
          <p:nvPr/>
        </p:nvSpPr>
        <p:spPr>
          <a:xfrm>
            <a:off x="838080" y="2112578"/>
            <a:ext cx="10515240" cy="454046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Every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care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about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should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preferably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standard error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other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measure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(e.g.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Bayesian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nl-NL" sz="28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556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05E5-8A01-214A-865B-DFE69491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995B2A-46A4-9040-B5FB-C59D26D0888E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C19B8E-54A0-CE4A-96AD-C7D9F3D5CFC9}"/>
              </a:ext>
            </a:extLst>
          </p:cNvPr>
          <p:cNvSpPr/>
          <p:nvPr/>
        </p:nvSpPr>
        <p:spPr>
          <a:xfrm>
            <a:off x="838080" y="1825561"/>
            <a:ext cx="10515240" cy="4095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also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standard error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</a:p>
          <a:p>
            <a:pPr marL="914760" lvl="1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Calculate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“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confidence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intervals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”</a:t>
            </a:r>
          </a:p>
          <a:p>
            <a:pPr marL="914760" lvl="2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Intervals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following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handy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interpretation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“in 95% of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spoonfuls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will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obtain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confidence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interval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contains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true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target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”</a:t>
            </a:r>
          </a:p>
          <a:p>
            <a:pPr marL="914760" lvl="1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Calculate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“p-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”</a:t>
            </a:r>
          </a:p>
          <a:p>
            <a:pPr marL="914760" lvl="2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decision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rule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tell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lead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life as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though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hypothesis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were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true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would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wrong 5% of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hypothetical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spoonfuls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en-US" dirty="0"/>
          </a:p>
        </p:txBody>
      </p:sp>
      <p:pic>
        <p:nvPicPr>
          <p:cNvPr id="7170" name="Picture 2" descr="Confusión Vectores Libres de Derechos - iStock">
            <a:extLst>
              <a:ext uri="{FF2B5EF4-FFF2-40B4-BE49-F238E27FC236}">
                <a16:creationId xmlns:a16="http://schemas.microsoft.com/office/drawing/2014/main" id="{FCB22C6D-DA15-FA41-9090-4640BB90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6417" y="365039"/>
            <a:ext cx="3076903" cy="227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0388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Regression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”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44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(in </a:t>
            </a:r>
            <a:r>
              <a:rPr lang="nl-NL" sz="280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statistics</a:t>
            </a: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sense)</a:t>
            </a:r>
          </a:p>
        </p:txBody>
      </p:sp>
      <p:sp>
        <p:nvSpPr>
          <p:cNvPr id="12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Just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Fit model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weight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listwise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deletion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33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model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body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weight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records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weight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Replace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prediction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>
                <a:solidFill>
                  <a:srgbClr val="000000"/>
                </a:solidFill>
                <a:latin typeface="Calibri Light"/>
              </a:rPr>
              <a:t>Regression imputation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6960600" y="2056680"/>
            <a:ext cx="3418920" cy="350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800" b="1" strike="noStrike" spc="-1">
                <a:solidFill>
                  <a:srgbClr val="FF0000"/>
                </a:solidFill>
                <a:latin typeface="Consolas"/>
              </a:rPr>
              <a:t>53.45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>
              <a:latin typeface="Arial"/>
            </a:endParaRPr>
          </a:p>
        </p:txBody>
      </p:sp>
      <p:sp>
        <p:nvSpPr>
          <p:cNvPr id="129" name="CustomShape 3"/>
          <p:cNvSpPr/>
          <p:nvPr/>
        </p:nvSpPr>
        <p:spPr>
          <a:xfrm>
            <a:off x="1694520" y="2056680"/>
            <a:ext cx="4092120" cy="350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800" b="1" strike="noStrike" spc="-1">
                <a:solidFill>
                  <a:srgbClr val="FF0000"/>
                </a:solidFill>
                <a:latin typeface="Consolas"/>
              </a:rPr>
              <a:t>NA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>
              <a:latin typeface="Arial"/>
            </a:endParaRPr>
          </a:p>
        </p:txBody>
      </p:sp>
      <p:sp>
        <p:nvSpPr>
          <p:cNvPr id="130" name="CustomShape 4"/>
          <p:cNvSpPr/>
          <p:nvPr/>
        </p:nvSpPr>
        <p:spPr>
          <a:xfrm>
            <a:off x="5471280" y="3103560"/>
            <a:ext cx="7905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4A360-BBBA-614B-AAF9-513B33A4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5030B-D4E7-8B44-B921-9718C1C3734F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791CCF-2E39-774B-9079-3D0F1C4EA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98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Regression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2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33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Advantages</a:t>
            </a:r>
            <a:endParaRPr lang="nl-NL" sz="33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Unbiased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regression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coefficients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SDD)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Good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approximation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unknown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true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explained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variance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high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better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prediction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better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approximation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>
                <a:solidFill>
                  <a:srgbClr val="000000"/>
                </a:solidFill>
                <a:latin typeface="Calibri Light"/>
              </a:rPr>
              <a:t>The better your prediction, the better your approximation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4" name="Content Placeholder 10"/>
          <p:cNvPicPr/>
          <p:nvPr/>
        </p:nvPicPr>
        <p:blipFill>
          <a:blip r:embed="rId2"/>
          <a:stretch/>
        </p:blipFill>
        <p:spPr>
          <a:xfrm>
            <a:off x="838080" y="1835280"/>
            <a:ext cx="5374800" cy="4350960"/>
          </a:xfrm>
          <a:prstGeom prst="rect">
            <a:avLst/>
          </a:prstGeom>
          <a:ln>
            <a:noFill/>
          </a:ln>
        </p:spPr>
      </p:pic>
      <p:pic>
        <p:nvPicPr>
          <p:cNvPr id="135" name="Content Placeholder 10"/>
          <p:cNvPicPr/>
          <p:nvPr/>
        </p:nvPicPr>
        <p:blipFill>
          <a:blip r:embed="rId3"/>
          <a:stretch/>
        </p:blipFill>
        <p:spPr>
          <a:xfrm>
            <a:off x="6095880" y="1835280"/>
            <a:ext cx="5374800" cy="435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>
                <a:solidFill>
                  <a:srgbClr val="000000"/>
                </a:solidFill>
                <a:latin typeface="Calibri Light"/>
              </a:rPr>
              <a:t>Regression imputation: spline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6960600" y="2056680"/>
            <a:ext cx="3418920" cy="350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800" b="1" strike="noStrike" spc="-1">
                <a:solidFill>
                  <a:srgbClr val="FF0000"/>
                </a:solidFill>
                <a:latin typeface="Consolas"/>
              </a:rPr>
              <a:t>46.65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>
              <a:latin typeface="Arial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1694520" y="2056680"/>
            <a:ext cx="4092120" cy="350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800" b="1" strike="noStrike" spc="-1">
                <a:solidFill>
                  <a:srgbClr val="FF0000"/>
                </a:solidFill>
                <a:latin typeface="Consolas"/>
              </a:rPr>
              <a:t>NA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>
              <a:latin typeface="Arial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5471280" y="3103560"/>
            <a:ext cx="7905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Regression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33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Disadvantages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Artificially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increases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correlations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Consequently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underestimates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prediction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error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Systematically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underestimates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too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optimistic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confidence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intervals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too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narrow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Stochastic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regression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Like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regression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but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adds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noise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predictions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reflect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form of: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Parameter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model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unexplained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variance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target feature</a:t>
            </a:r>
          </a:p>
          <a:p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Related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prediction</a:t>
            </a:r>
            <a:r>
              <a:rPr lang="nl-NL" sz="28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intervals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(ISLR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sections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3.2.2:“Four”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exercises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pages 111-112)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B0536-D625-AC40-A93E-5DF636BE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CDB61-2F9C-E948-AB39-46DBE9FE91B3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9E743-0B57-124F-A3AD-8F90C9044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69" y="2229895"/>
            <a:ext cx="12231538" cy="275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47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Stochastic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regression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45" name="Content Placeholder 4"/>
          <p:cNvPicPr/>
          <p:nvPr/>
        </p:nvPicPr>
        <p:blipFill>
          <a:blip r:embed="rId2"/>
          <a:stretch/>
        </p:blipFill>
        <p:spPr>
          <a:xfrm>
            <a:off x="3088440" y="1623240"/>
            <a:ext cx="6015240" cy="4869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Stochastic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regression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6960600" y="2056680"/>
            <a:ext cx="3418920" cy="350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800" b="1" strike="noStrike" spc="-1">
                <a:solidFill>
                  <a:srgbClr val="FF0000"/>
                </a:solidFill>
                <a:latin typeface="Consolas"/>
              </a:rPr>
              <a:t>48.13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>
              <a:latin typeface="Arial"/>
            </a:endParaRPr>
          </a:p>
        </p:txBody>
      </p:sp>
      <p:sp>
        <p:nvSpPr>
          <p:cNvPr id="148" name="CustomShape 3"/>
          <p:cNvSpPr/>
          <p:nvPr/>
        </p:nvSpPr>
        <p:spPr>
          <a:xfrm>
            <a:off x="1694520" y="2056680"/>
            <a:ext cx="4092120" cy="350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  age weight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1 13  42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4 14  </a:t>
            </a:r>
            <a:r>
              <a:rPr lang="nl-NL" sz="2800" b="1" strike="noStrike" spc="-1">
                <a:solidFill>
                  <a:srgbClr val="FF0000"/>
                </a:solidFill>
                <a:latin typeface="Consolas"/>
              </a:rPr>
              <a:t>NA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6 18  61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5 23  70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3 24  73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7 25  68</a:t>
            </a:r>
            <a:endParaRPr lang="nl-NL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NL" sz="2800" b="0" strike="noStrike" spc="-1">
                <a:solidFill>
                  <a:srgbClr val="000000"/>
                </a:solidFill>
                <a:latin typeface="Consolas"/>
              </a:rPr>
              <a:t>## 2 40  80</a:t>
            </a:r>
            <a:endParaRPr lang="nl-NL" sz="2800" b="0" strike="noStrike" spc="-1">
              <a:latin typeface="Arial"/>
            </a:endParaRPr>
          </a:p>
        </p:txBody>
      </p:sp>
      <p:sp>
        <p:nvSpPr>
          <p:cNvPr id="149" name="CustomShape 4"/>
          <p:cNvSpPr/>
          <p:nvPr/>
        </p:nvSpPr>
        <p:spPr>
          <a:xfrm>
            <a:off x="5471280" y="3103560"/>
            <a:ext cx="7905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2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Stochastic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regression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Advantages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Preserves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distribution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body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weight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Preserves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correlation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between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age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weight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Disadvantages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Fiddly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Single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does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take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account,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incorrectly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treats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them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as real</a:t>
            </a:r>
          </a:p>
          <a:p>
            <a:pPr marL="2286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“Embedded” </a:t>
            </a:r>
            <a:r>
              <a:rPr lang="nl-NL" sz="44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methods</a:t>
            </a:r>
            <a:r>
              <a:rPr lang="nl-NL" sz="44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(model-</a:t>
            </a:r>
            <a:r>
              <a:rPr lang="nl-NL" sz="44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based</a:t>
            </a:r>
            <a:r>
              <a:rPr lang="nl-NL" sz="44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Don’t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deal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somehow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prediction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model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itself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Depends on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model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are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using</a:t>
            </a:r>
            <a:endParaRPr lang="nl-NL" sz="33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Almost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always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assumes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SDD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implicitly</a:t>
            </a:r>
            <a:endParaRPr lang="nl-NL" sz="33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next slide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given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classification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tree, but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other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models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may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have a different approach </a:t>
            </a:r>
          </a:p>
        </p:txBody>
      </p:sp>
    </p:spTree>
    <p:extLst>
      <p:ext uri="{BB962C8B-B14F-4D97-AF65-F5344CB8AC3E}">
        <p14:creationId xmlns:p14="http://schemas.microsoft.com/office/powerpoint/2010/main" val="2131301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83B2C-9DAC-264E-82FA-CC27466D8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68CE7-7E27-CE41-B0E9-BCACF7F57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5500"/>
            <a:ext cx="8597900" cy="6032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584BE6-83BA-454B-9E8D-28C638622930}"/>
              </a:ext>
            </a:extLst>
          </p:cNvPr>
          <p:cNvSpPr txBox="1"/>
          <p:nvPr/>
        </p:nvSpPr>
        <p:spPr>
          <a:xfrm>
            <a:off x="8597900" y="6488668"/>
            <a:ext cx="23648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Source: </a:t>
            </a:r>
            <a:r>
              <a:rPr lang="en-US" i="1" dirty="0">
                <a:hlinkClick r:id="rId3"/>
              </a:rPr>
              <a:t>Fox (2018)</a:t>
            </a:r>
            <a:endParaRPr 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3B7D7-39C3-6A36-DB87-DB6EAB399E0E}"/>
              </a:ext>
            </a:extLst>
          </p:cNvPr>
          <p:cNvSpPr txBox="1"/>
          <p:nvPr/>
        </p:nvSpPr>
        <p:spPr>
          <a:xfrm>
            <a:off x="8424280" y="2007908"/>
            <a:ext cx="34534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Fira Code" pitchFamily="49" charset="0"/>
                <a:ea typeface="Fira Code" pitchFamily="49" charset="0"/>
                <a:cs typeface="Fira Code" pitchFamily="49" charset="0"/>
              </a:rPr>
              <a:t>xgboost</a:t>
            </a:r>
            <a:r>
              <a:rPr lang="en-US" sz="2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learns “default direction” for missing values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Tries both possibilities at each node and picks the one with most gain (greedy)</a:t>
            </a:r>
          </a:p>
        </p:txBody>
      </p:sp>
    </p:spTree>
    <p:extLst>
      <p:ext uri="{BB962C8B-B14F-4D97-AF65-F5344CB8AC3E}">
        <p14:creationId xmlns:p14="http://schemas.microsoft.com/office/powerpoint/2010/main" val="4201813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838080" y="99137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Handy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overview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methods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</p:txBody>
      </p:sp>
      <p:graphicFrame>
        <p:nvGraphicFramePr>
          <p:cNvPr id="153" name="Table 2"/>
          <p:cNvGraphicFramePr/>
          <p:nvPr>
            <p:extLst>
              <p:ext uri="{D42A27DB-BD31-4B8C-83A1-F6EECF244321}">
                <p14:modId xmlns:p14="http://schemas.microsoft.com/office/powerpoint/2010/main" val="1105990888"/>
              </p:ext>
            </p:extLst>
          </p:nvPr>
        </p:nvGraphicFramePr>
        <p:xfrm>
          <a:off x="838080" y="1424297"/>
          <a:ext cx="10515240" cy="5103683"/>
        </p:xfrm>
        <a:graphic>
          <a:graphicData uri="http://schemas.openxmlformats.org/drawingml/2006/table">
            <a:tbl>
              <a:tblPr/>
              <a:tblGrid>
                <a:gridCol w="2788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8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2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039"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1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Assumption</a:t>
                      </a:r>
                      <a:r>
                        <a:rPr lang="nl-NL" sz="2400" b="1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nl-NL" sz="2400" b="1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needed</a:t>
                      </a:r>
                      <a:r>
                        <a:rPr lang="nl-NL" sz="2400" b="1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nl-NL" sz="2400" b="1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</a:t>
                      </a:r>
                      <a:r>
                        <a:rPr lang="nl-NL" sz="2400" b="1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get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1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unbiased</a:t>
                      </a:r>
                      <a:r>
                        <a:rPr lang="nl-NL" sz="2400" b="1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nl-NL" sz="2400" b="1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estimates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671">
                <a:tc>
                  <a:txBody>
                    <a:bodyPr/>
                    <a:lstStyle/>
                    <a:p>
                      <a:endPara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Mean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Regression coef.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Correlation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Standard Error 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0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Listwise</a:t>
                      </a: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nl-NL" sz="2400" b="0" strike="noStrike" spc="-1" dirty="0" err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deletion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NDD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NDD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NDD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Too large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Mean imputation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NDD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Too small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Regression imputation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SDD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SDD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Too small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9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Stochastic imputation</a:t>
                      </a:r>
                      <a:endParaRPr lang="nl-NL" sz="2400" b="0" strike="noStrike" spc="-1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SDD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SDD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SDD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NL" sz="2400" b="0" strike="noStrike" spc="-1" dirty="0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Too small</a:t>
                      </a:r>
                      <a:endParaRPr lang="nl-NL" sz="2400" b="0" strike="noStrike" spc="-1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Imputing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missing datum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cannot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correct in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general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because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don’t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know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impute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certainty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did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wouldn’t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missing).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>
              <a:lnSpc>
                <a:spcPct val="90000"/>
              </a:lnSpc>
              <a:spcBef>
                <a:spcPts val="499"/>
              </a:spcBef>
            </a:pP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				Donald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Rubin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Fixing the SE: </a:t>
            </a:r>
            <a:r>
              <a:rPr lang="nl-NL" sz="4400" b="1" i="1" strike="noStrike" spc="-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Multiple</a:t>
            </a:r>
            <a:r>
              <a:rPr lang="nl-NL" sz="4400" b="1" strike="noStrike" spc="-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Imputation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91A2A0-5BE7-133D-6F37-66436738592A}"/>
              </a:ext>
            </a:extLst>
          </p:cNvPr>
          <p:cNvSpPr/>
          <p:nvPr/>
        </p:nvSpPr>
        <p:spPr>
          <a:xfrm>
            <a:off x="838079" y="2087658"/>
            <a:ext cx="10515239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Stochastic imputation, but create multiple datasets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dataset is slightly different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nl-NL" sz="3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Appropriately consider the uncertainty around the imputed value: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Perform analysis multiple times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Pool results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41BE-C3D9-6147-850E-A96EBA50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n-US" altLang="nl-NL" dirty="0"/>
              <a:t>Steps in Multiple Imputation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349901-7C20-E643-9B91-13377BB01FD8}"/>
              </a:ext>
            </a:extLst>
          </p:cNvPr>
          <p:cNvSpPr/>
          <p:nvPr/>
        </p:nvSpPr>
        <p:spPr>
          <a:xfrm>
            <a:off x="838079" y="2087658"/>
            <a:ext cx="10515239" cy="2978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 </a:t>
            </a:r>
            <a:r>
              <a:rPr lang="en-US" altLang="nl-NL" sz="33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imputations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Analyze </a:t>
            </a:r>
            <a:r>
              <a:rPr lang="en-US" altLang="nl-NL" sz="33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completed data sets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Combine the </a:t>
            </a:r>
            <a:r>
              <a:rPr lang="en-US" altLang="nl-NL" sz="33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en-US" altLang="nl-NL" sz="3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results into one</a:t>
            </a:r>
          </a:p>
        </p:txBody>
      </p:sp>
    </p:spTree>
    <p:extLst>
      <p:ext uri="{BB962C8B-B14F-4D97-AF65-F5344CB8AC3E}">
        <p14:creationId xmlns:p14="http://schemas.microsoft.com/office/powerpoint/2010/main" val="2710614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752354" y="370701"/>
            <a:ext cx="10521388" cy="553998"/>
          </a:xfrm>
        </p:spPr>
        <p:txBody>
          <a:bodyPr/>
          <a:lstStyle/>
          <a:p>
            <a:r>
              <a:rPr lang="en-US" altLang="nl-NL" sz="4000" dirty="0"/>
              <a:t>Multiple Imputation: Imputation Step</a:t>
            </a:r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2298701" y="2209800"/>
            <a:ext cx="1897063" cy="2819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endParaRPr lang="nl-NL" altLang="nl-NL" sz="2400">
              <a:solidFill>
                <a:schemeClr val="tx1"/>
              </a:solidFill>
            </a:endParaRP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2579689" y="1828800"/>
            <a:ext cx="13181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Var 1 … p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294" name="Text Box 5"/>
          <p:cNvSpPr txBox="1">
            <a:spLocks noChangeArrowheads="1"/>
          </p:cNvSpPr>
          <p:nvPr/>
        </p:nvSpPr>
        <p:spPr bwMode="auto">
          <a:xfrm rot="-5400000">
            <a:off x="1219544" y="3532158"/>
            <a:ext cx="1537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Case 1 … n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295" name="Text Box 6"/>
          <p:cNvSpPr txBox="1">
            <a:spLocks noChangeArrowheads="1"/>
          </p:cNvSpPr>
          <p:nvPr/>
        </p:nvSpPr>
        <p:spPr bwMode="auto">
          <a:xfrm>
            <a:off x="2776538" y="430688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40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2296" name="Text Box 7"/>
          <p:cNvSpPr txBox="1">
            <a:spLocks noChangeArrowheads="1"/>
          </p:cNvSpPr>
          <p:nvPr/>
        </p:nvSpPr>
        <p:spPr bwMode="auto">
          <a:xfrm>
            <a:off x="2776538" y="247808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40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2297" name="Text Box 8"/>
          <p:cNvSpPr txBox="1">
            <a:spLocks noChangeArrowheads="1"/>
          </p:cNvSpPr>
          <p:nvPr/>
        </p:nvSpPr>
        <p:spPr bwMode="auto">
          <a:xfrm>
            <a:off x="3408363" y="308768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40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2298" name="Text Box 9"/>
          <p:cNvSpPr txBox="1">
            <a:spLocks noChangeArrowheads="1"/>
          </p:cNvSpPr>
          <p:nvPr/>
        </p:nvSpPr>
        <p:spPr bwMode="auto">
          <a:xfrm>
            <a:off x="3479800" y="407828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40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2299" name="Text Box 10"/>
          <p:cNvSpPr txBox="1">
            <a:spLocks noChangeArrowheads="1"/>
          </p:cNvSpPr>
          <p:nvPr/>
        </p:nvSpPr>
        <p:spPr bwMode="auto">
          <a:xfrm>
            <a:off x="3902075" y="2478089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40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2300" name="Rectangle 11"/>
          <p:cNvSpPr>
            <a:spLocks noChangeArrowheads="1"/>
          </p:cNvSpPr>
          <p:nvPr/>
        </p:nvSpPr>
        <p:spPr bwMode="auto">
          <a:xfrm>
            <a:off x="4549775" y="1524000"/>
            <a:ext cx="1689100" cy="2514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endParaRPr lang="nl-NL" altLang="nl-NL" sz="2400">
              <a:solidFill>
                <a:schemeClr val="tx1"/>
              </a:solidFill>
            </a:endParaRPr>
          </a:p>
        </p:txBody>
      </p:sp>
      <p:sp>
        <p:nvSpPr>
          <p:cNvPr id="12301" name="Text Box 12"/>
          <p:cNvSpPr txBox="1">
            <a:spLocks noChangeArrowheads="1"/>
          </p:cNvSpPr>
          <p:nvPr/>
        </p:nvSpPr>
        <p:spPr bwMode="auto">
          <a:xfrm>
            <a:off x="4794250" y="35290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02" name="Text Box 13"/>
          <p:cNvSpPr txBox="1">
            <a:spLocks noChangeArrowheads="1"/>
          </p:cNvSpPr>
          <p:nvPr/>
        </p:nvSpPr>
        <p:spPr bwMode="auto">
          <a:xfrm>
            <a:off x="4794250" y="17002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03" name="Text Box 14"/>
          <p:cNvSpPr txBox="1">
            <a:spLocks noChangeArrowheads="1"/>
          </p:cNvSpPr>
          <p:nvPr/>
        </p:nvSpPr>
        <p:spPr bwMode="auto">
          <a:xfrm>
            <a:off x="5427663" y="23098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04" name="Text Box 15"/>
          <p:cNvSpPr txBox="1">
            <a:spLocks noChangeArrowheads="1"/>
          </p:cNvSpPr>
          <p:nvPr/>
        </p:nvSpPr>
        <p:spPr bwMode="auto">
          <a:xfrm>
            <a:off x="5497513" y="33004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05" name="Text Box 16"/>
          <p:cNvSpPr txBox="1">
            <a:spLocks noChangeArrowheads="1"/>
          </p:cNvSpPr>
          <p:nvPr/>
        </p:nvSpPr>
        <p:spPr bwMode="auto">
          <a:xfrm>
            <a:off x="5919788" y="17002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06" name="Rectangle 17"/>
          <p:cNvSpPr>
            <a:spLocks noChangeArrowheads="1"/>
          </p:cNvSpPr>
          <p:nvPr/>
        </p:nvSpPr>
        <p:spPr bwMode="auto">
          <a:xfrm>
            <a:off x="6378575" y="2209800"/>
            <a:ext cx="1689100" cy="2514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endParaRPr lang="nl-NL" altLang="nl-NL" sz="2400">
              <a:solidFill>
                <a:schemeClr val="tx1"/>
              </a:solidFill>
            </a:endParaRPr>
          </a:p>
        </p:txBody>
      </p:sp>
      <p:sp>
        <p:nvSpPr>
          <p:cNvPr id="12307" name="Text Box 18"/>
          <p:cNvSpPr txBox="1">
            <a:spLocks noChangeArrowheads="1"/>
          </p:cNvSpPr>
          <p:nvPr/>
        </p:nvSpPr>
        <p:spPr bwMode="auto">
          <a:xfrm>
            <a:off x="6623050" y="42910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08" name="Text Box 19"/>
          <p:cNvSpPr txBox="1">
            <a:spLocks noChangeArrowheads="1"/>
          </p:cNvSpPr>
          <p:nvPr/>
        </p:nvSpPr>
        <p:spPr bwMode="auto">
          <a:xfrm>
            <a:off x="6623050" y="24622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09" name="Text Box 20"/>
          <p:cNvSpPr txBox="1">
            <a:spLocks noChangeArrowheads="1"/>
          </p:cNvSpPr>
          <p:nvPr/>
        </p:nvSpPr>
        <p:spPr bwMode="auto">
          <a:xfrm>
            <a:off x="7256463" y="30718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10" name="Text Box 21"/>
          <p:cNvSpPr txBox="1">
            <a:spLocks noChangeArrowheads="1"/>
          </p:cNvSpPr>
          <p:nvPr/>
        </p:nvSpPr>
        <p:spPr bwMode="auto">
          <a:xfrm>
            <a:off x="7327900" y="40624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11" name="Text Box 22"/>
          <p:cNvSpPr txBox="1">
            <a:spLocks noChangeArrowheads="1"/>
          </p:cNvSpPr>
          <p:nvPr/>
        </p:nvSpPr>
        <p:spPr bwMode="auto">
          <a:xfrm>
            <a:off x="7750175" y="24622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12" name="Rectangle 23"/>
          <p:cNvSpPr>
            <a:spLocks noChangeArrowheads="1"/>
          </p:cNvSpPr>
          <p:nvPr/>
        </p:nvSpPr>
        <p:spPr bwMode="auto">
          <a:xfrm>
            <a:off x="8559800" y="3124200"/>
            <a:ext cx="1689100" cy="2514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endParaRPr lang="nl-NL" altLang="nl-NL" sz="2400">
              <a:solidFill>
                <a:schemeClr val="tx1"/>
              </a:solidFill>
            </a:endParaRPr>
          </a:p>
        </p:txBody>
      </p:sp>
      <p:sp>
        <p:nvSpPr>
          <p:cNvPr id="12313" name="Text Box 24"/>
          <p:cNvSpPr txBox="1">
            <a:spLocks noChangeArrowheads="1"/>
          </p:cNvSpPr>
          <p:nvPr/>
        </p:nvSpPr>
        <p:spPr bwMode="auto">
          <a:xfrm>
            <a:off x="8734425" y="51292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14" name="Text Box 25"/>
          <p:cNvSpPr txBox="1">
            <a:spLocks noChangeArrowheads="1"/>
          </p:cNvSpPr>
          <p:nvPr/>
        </p:nvSpPr>
        <p:spPr bwMode="auto">
          <a:xfrm>
            <a:off x="8734425" y="33004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15" name="Text Box 26"/>
          <p:cNvSpPr txBox="1">
            <a:spLocks noChangeArrowheads="1"/>
          </p:cNvSpPr>
          <p:nvPr/>
        </p:nvSpPr>
        <p:spPr bwMode="auto">
          <a:xfrm>
            <a:off x="9367838" y="39100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16" name="Text Box 27"/>
          <p:cNvSpPr txBox="1">
            <a:spLocks noChangeArrowheads="1"/>
          </p:cNvSpPr>
          <p:nvPr/>
        </p:nvSpPr>
        <p:spPr bwMode="auto">
          <a:xfrm>
            <a:off x="9437688" y="49006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2317" name="Text Box 28"/>
          <p:cNvSpPr txBox="1">
            <a:spLocks noChangeArrowheads="1"/>
          </p:cNvSpPr>
          <p:nvPr/>
        </p:nvSpPr>
        <p:spPr bwMode="auto">
          <a:xfrm>
            <a:off x="9859963" y="33004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76829" name="Line 29"/>
          <p:cNvSpPr>
            <a:spLocks noChangeShapeType="1"/>
          </p:cNvSpPr>
          <p:nvPr/>
        </p:nvSpPr>
        <p:spPr bwMode="auto">
          <a:xfrm flipV="1">
            <a:off x="2930526" y="2362200"/>
            <a:ext cx="21113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nl-NL">
              <a:latin typeface="Arial" charset="0"/>
            </a:endParaRPr>
          </a:p>
        </p:txBody>
      </p:sp>
      <p:sp>
        <p:nvSpPr>
          <p:cNvPr id="76830" name="Line 30"/>
          <p:cNvSpPr>
            <a:spLocks noChangeShapeType="1"/>
          </p:cNvSpPr>
          <p:nvPr/>
        </p:nvSpPr>
        <p:spPr bwMode="auto">
          <a:xfrm flipV="1">
            <a:off x="3424238" y="3200400"/>
            <a:ext cx="3446462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nl-NL">
              <a:latin typeface="Arial" charset="0"/>
            </a:endParaRPr>
          </a:p>
        </p:txBody>
      </p:sp>
      <p:sp>
        <p:nvSpPr>
          <p:cNvPr id="76831" name="Line 31"/>
          <p:cNvSpPr>
            <a:spLocks noChangeShapeType="1"/>
          </p:cNvSpPr>
          <p:nvPr/>
        </p:nvSpPr>
        <p:spPr bwMode="auto">
          <a:xfrm>
            <a:off x="3282951" y="4038600"/>
            <a:ext cx="5840413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nl-NL">
              <a:latin typeface="Arial" charset="0"/>
            </a:endParaRPr>
          </a:p>
        </p:txBody>
      </p:sp>
      <p:sp>
        <p:nvSpPr>
          <p:cNvPr id="12321" name="Text Box 32"/>
          <p:cNvSpPr txBox="1">
            <a:spLocks noChangeArrowheads="1"/>
          </p:cNvSpPr>
          <p:nvPr/>
        </p:nvSpPr>
        <p:spPr bwMode="auto">
          <a:xfrm>
            <a:off x="1883395" y="6117578"/>
            <a:ext cx="7021859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3300" dirty="0">
                <a:solidFill>
                  <a:schemeClr val="tx1"/>
                </a:solidFill>
              </a:rPr>
              <a:t>Create </a:t>
            </a:r>
            <a:r>
              <a:rPr lang="en-US" altLang="nl-NL" sz="3300" i="1" dirty="0">
                <a:solidFill>
                  <a:schemeClr val="tx1"/>
                </a:solidFill>
              </a:rPr>
              <a:t>m</a:t>
            </a:r>
            <a:r>
              <a:rPr lang="en-US" altLang="nl-NL" sz="3300" dirty="0">
                <a:solidFill>
                  <a:schemeClr val="tx1"/>
                </a:solidFill>
              </a:rPr>
              <a:t> different imputed data sets</a:t>
            </a:r>
          </a:p>
        </p:txBody>
      </p:sp>
      <p:sp>
        <p:nvSpPr>
          <p:cNvPr id="12322" name="Text Box 33"/>
          <p:cNvSpPr txBox="1">
            <a:spLocks noChangeArrowheads="1"/>
          </p:cNvSpPr>
          <p:nvPr/>
        </p:nvSpPr>
        <p:spPr bwMode="auto">
          <a:xfrm>
            <a:off x="8123238" y="3697289"/>
            <a:ext cx="4395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400">
                <a:solidFill>
                  <a:schemeClr val="tx1"/>
                </a:solidFill>
              </a:rPr>
              <a:t>...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70701"/>
            <a:ext cx="9061048" cy="553998"/>
          </a:xfrm>
        </p:spPr>
        <p:txBody>
          <a:bodyPr/>
          <a:lstStyle/>
          <a:p>
            <a:r>
              <a:rPr lang="en-US" altLang="nl-NL" sz="4000" dirty="0"/>
              <a:t>Multiple Imputation: Analysis Step</a:t>
            </a: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2368550" y="1524000"/>
            <a:ext cx="1689100" cy="2514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endParaRPr lang="nl-NL" altLang="nl-NL" sz="2400">
              <a:solidFill>
                <a:schemeClr val="tx1"/>
              </a:solidFill>
            </a:endParaRP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2613025" y="35290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2613025" y="17002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3246438" y="23098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20" name="Text Box 7"/>
          <p:cNvSpPr txBox="1">
            <a:spLocks noChangeArrowheads="1"/>
          </p:cNvSpPr>
          <p:nvPr/>
        </p:nvSpPr>
        <p:spPr bwMode="auto">
          <a:xfrm>
            <a:off x="3316288" y="33004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21" name="Text Box 8"/>
          <p:cNvSpPr txBox="1">
            <a:spLocks noChangeArrowheads="1"/>
          </p:cNvSpPr>
          <p:nvPr/>
        </p:nvSpPr>
        <p:spPr bwMode="auto">
          <a:xfrm>
            <a:off x="3738563" y="17002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4268788" y="1524000"/>
            <a:ext cx="1687512" cy="2514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endParaRPr lang="nl-NL" altLang="nl-NL" sz="2400">
              <a:solidFill>
                <a:schemeClr val="tx1"/>
              </a:solidFill>
            </a:endParaRPr>
          </a:p>
        </p:txBody>
      </p:sp>
      <p:sp>
        <p:nvSpPr>
          <p:cNvPr id="13323" name="Text Box 10"/>
          <p:cNvSpPr txBox="1">
            <a:spLocks noChangeArrowheads="1"/>
          </p:cNvSpPr>
          <p:nvPr/>
        </p:nvSpPr>
        <p:spPr bwMode="auto">
          <a:xfrm>
            <a:off x="4583113" y="36052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24" name="Text Box 11"/>
          <p:cNvSpPr txBox="1">
            <a:spLocks noChangeArrowheads="1"/>
          </p:cNvSpPr>
          <p:nvPr/>
        </p:nvSpPr>
        <p:spPr bwMode="auto">
          <a:xfrm>
            <a:off x="4583113" y="17764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25" name="Text Box 12"/>
          <p:cNvSpPr txBox="1">
            <a:spLocks noChangeArrowheads="1"/>
          </p:cNvSpPr>
          <p:nvPr/>
        </p:nvSpPr>
        <p:spPr bwMode="auto">
          <a:xfrm>
            <a:off x="5216525" y="23860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26" name="Text Box 13"/>
          <p:cNvSpPr txBox="1">
            <a:spLocks noChangeArrowheads="1"/>
          </p:cNvSpPr>
          <p:nvPr/>
        </p:nvSpPr>
        <p:spPr bwMode="auto">
          <a:xfrm>
            <a:off x="5286375" y="33766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27" name="Text Box 14"/>
          <p:cNvSpPr txBox="1">
            <a:spLocks noChangeArrowheads="1"/>
          </p:cNvSpPr>
          <p:nvPr/>
        </p:nvSpPr>
        <p:spPr bwMode="auto">
          <a:xfrm>
            <a:off x="5708650" y="17764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>
            <a:off x="6659563" y="1524000"/>
            <a:ext cx="1689100" cy="2514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pPr algn="ctr"/>
            <a:endParaRPr lang="nl-NL" altLang="nl-NL" sz="2400">
              <a:solidFill>
                <a:schemeClr val="tx1"/>
              </a:solidFill>
            </a:endParaRPr>
          </a:p>
        </p:txBody>
      </p:sp>
      <p:sp>
        <p:nvSpPr>
          <p:cNvPr id="13329" name="Text Box 16"/>
          <p:cNvSpPr txBox="1">
            <a:spLocks noChangeArrowheads="1"/>
          </p:cNvSpPr>
          <p:nvPr/>
        </p:nvSpPr>
        <p:spPr bwMode="auto">
          <a:xfrm>
            <a:off x="6834188" y="35290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30" name="Text Box 17"/>
          <p:cNvSpPr txBox="1">
            <a:spLocks noChangeArrowheads="1"/>
          </p:cNvSpPr>
          <p:nvPr/>
        </p:nvSpPr>
        <p:spPr bwMode="auto">
          <a:xfrm>
            <a:off x="6834188" y="17002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31" name="Text Box 18"/>
          <p:cNvSpPr txBox="1">
            <a:spLocks noChangeArrowheads="1"/>
          </p:cNvSpPr>
          <p:nvPr/>
        </p:nvSpPr>
        <p:spPr bwMode="auto">
          <a:xfrm>
            <a:off x="7467600" y="23098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32" name="Text Box 19"/>
          <p:cNvSpPr txBox="1">
            <a:spLocks noChangeArrowheads="1"/>
          </p:cNvSpPr>
          <p:nvPr/>
        </p:nvSpPr>
        <p:spPr bwMode="auto">
          <a:xfrm>
            <a:off x="7539038" y="33004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33" name="Text Box 20"/>
          <p:cNvSpPr txBox="1">
            <a:spLocks noChangeArrowheads="1"/>
          </p:cNvSpPr>
          <p:nvPr/>
        </p:nvSpPr>
        <p:spPr bwMode="auto">
          <a:xfrm>
            <a:off x="7961313" y="1700213"/>
            <a:ext cx="2551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000">
                <a:solidFill>
                  <a:schemeClr val="tx1"/>
                </a:solidFill>
              </a:rPr>
              <a:t>!</a:t>
            </a:r>
            <a:endParaRPr lang="en-US" altLang="nl-NL" sz="2400">
              <a:solidFill>
                <a:schemeClr val="tx1"/>
              </a:solidFill>
            </a:endParaRPr>
          </a:p>
        </p:txBody>
      </p:sp>
      <p:sp>
        <p:nvSpPr>
          <p:cNvPr id="13334" name="Text Box 21"/>
          <p:cNvSpPr txBox="1">
            <a:spLocks noChangeArrowheads="1"/>
          </p:cNvSpPr>
          <p:nvPr/>
        </p:nvSpPr>
        <p:spPr bwMode="auto">
          <a:xfrm>
            <a:off x="6097588" y="2514601"/>
            <a:ext cx="4395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40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13335" name="Text Box 22"/>
          <p:cNvSpPr txBox="1">
            <a:spLocks noChangeArrowheads="1"/>
          </p:cNvSpPr>
          <p:nvPr/>
        </p:nvSpPr>
        <p:spPr bwMode="auto">
          <a:xfrm>
            <a:off x="4338638" y="5562601"/>
            <a:ext cx="678423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400" b="1">
                <a:solidFill>
                  <a:schemeClr val="tx1"/>
                </a:solidFill>
              </a:rPr>
              <a:t>Combine results</a:t>
            </a:r>
          </a:p>
          <a:p>
            <a:r>
              <a:rPr lang="en-US" altLang="nl-NL" sz="2200">
                <a:solidFill>
                  <a:schemeClr val="tx1"/>
                </a:solidFill>
              </a:rPr>
              <a:t>= take the </a:t>
            </a:r>
            <a:r>
              <a:rPr lang="en-US" altLang="nl-NL" sz="2200" b="1">
                <a:solidFill>
                  <a:schemeClr val="tx1"/>
                </a:solidFill>
              </a:rPr>
              <a:t>mean</a:t>
            </a:r>
            <a:r>
              <a:rPr lang="en-US" altLang="nl-NL" sz="2200">
                <a:solidFill>
                  <a:schemeClr val="tx1"/>
                </a:solidFill>
              </a:rPr>
              <a:t>,</a:t>
            </a:r>
          </a:p>
          <a:p>
            <a:r>
              <a:rPr lang="en-US" altLang="nl-NL" sz="2200">
                <a:solidFill>
                  <a:schemeClr val="tx1"/>
                </a:solidFill>
              </a:rPr>
              <a:t>and calculate </a:t>
            </a:r>
            <a:r>
              <a:rPr lang="en-US" altLang="nl-NL" sz="2200" b="1">
                <a:solidFill>
                  <a:schemeClr val="tx1"/>
                </a:solidFill>
              </a:rPr>
              <a:t>SE</a:t>
            </a:r>
            <a:r>
              <a:rPr lang="en-US" altLang="nl-NL" sz="2200">
                <a:solidFill>
                  <a:schemeClr val="tx1"/>
                </a:solidFill>
              </a:rPr>
              <a:t> from original SE + dataset variance</a:t>
            </a:r>
          </a:p>
        </p:txBody>
      </p:sp>
      <p:sp>
        <p:nvSpPr>
          <p:cNvPr id="77847" name="Line 23"/>
          <p:cNvSpPr>
            <a:spLocks noChangeShapeType="1"/>
          </p:cNvSpPr>
          <p:nvPr/>
        </p:nvSpPr>
        <p:spPr bwMode="auto">
          <a:xfrm>
            <a:off x="3282950" y="3810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nl-NL">
              <a:latin typeface="Arial" charset="0"/>
            </a:endParaRPr>
          </a:p>
        </p:txBody>
      </p:sp>
      <p:sp>
        <p:nvSpPr>
          <p:cNvPr id="77848" name="Line 24"/>
          <p:cNvSpPr>
            <a:spLocks noChangeShapeType="1"/>
          </p:cNvSpPr>
          <p:nvPr/>
        </p:nvSpPr>
        <p:spPr bwMode="auto">
          <a:xfrm>
            <a:off x="5111750" y="37338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nl-NL">
              <a:latin typeface="Arial" charset="0"/>
            </a:endParaRPr>
          </a:p>
        </p:txBody>
      </p:sp>
      <p:sp>
        <p:nvSpPr>
          <p:cNvPr id="77849" name="Line 25"/>
          <p:cNvSpPr>
            <a:spLocks noChangeShapeType="1"/>
          </p:cNvSpPr>
          <p:nvPr/>
        </p:nvSpPr>
        <p:spPr bwMode="auto">
          <a:xfrm flipH="1">
            <a:off x="7223125" y="38100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nl-NL">
              <a:latin typeface="Arial" charset="0"/>
            </a:endParaRPr>
          </a:p>
        </p:txBody>
      </p:sp>
      <p:sp>
        <p:nvSpPr>
          <p:cNvPr id="13339" name="Text Box 26"/>
          <p:cNvSpPr txBox="1">
            <a:spLocks noChangeArrowheads="1"/>
          </p:cNvSpPr>
          <p:nvPr/>
        </p:nvSpPr>
        <p:spPr bwMode="auto">
          <a:xfrm>
            <a:off x="2509839" y="4343401"/>
            <a:ext cx="62440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r>
              <a:rPr lang="en-US" altLang="nl-NL" sz="2400" dirty="0">
                <a:solidFill>
                  <a:schemeClr val="tx1"/>
                </a:solidFill>
              </a:rPr>
              <a:t>Do standard complete data analysis </a:t>
            </a:r>
            <a:r>
              <a:rPr lang="en-US" altLang="nl-NL" sz="2400" i="1" dirty="0">
                <a:solidFill>
                  <a:schemeClr val="tx1"/>
                </a:solidFill>
              </a:rPr>
              <a:t>m</a:t>
            </a:r>
            <a:r>
              <a:rPr lang="en-US" altLang="nl-NL" sz="2400" dirty="0">
                <a:solidFill>
                  <a:schemeClr val="tx1"/>
                </a:solidFill>
              </a:rPr>
              <a:t> times</a:t>
            </a:r>
          </a:p>
        </p:txBody>
      </p:sp>
      <p:sp>
        <p:nvSpPr>
          <p:cNvPr id="77851" name="Line 27"/>
          <p:cNvSpPr>
            <a:spLocks noChangeShapeType="1"/>
          </p:cNvSpPr>
          <p:nvPr/>
        </p:nvSpPr>
        <p:spPr bwMode="auto">
          <a:xfrm>
            <a:off x="3352801" y="4800600"/>
            <a:ext cx="1127125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nl-NL">
              <a:latin typeface="Arial" charset="0"/>
            </a:endParaRPr>
          </a:p>
        </p:txBody>
      </p:sp>
      <p:sp>
        <p:nvSpPr>
          <p:cNvPr id="77852" name="Line 28"/>
          <p:cNvSpPr>
            <a:spLocks noChangeShapeType="1"/>
          </p:cNvSpPr>
          <p:nvPr/>
        </p:nvSpPr>
        <p:spPr bwMode="auto">
          <a:xfrm flipH="1">
            <a:off x="5111750" y="4805066"/>
            <a:ext cx="0" cy="75753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nl-NL">
              <a:latin typeface="Arial" charset="0"/>
            </a:endParaRPr>
          </a:p>
        </p:txBody>
      </p:sp>
      <p:sp>
        <p:nvSpPr>
          <p:cNvPr id="77853" name="Line 29"/>
          <p:cNvSpPr>
            <a:spLocks noChangeShapeType="1"/>
          </p:cNvSpPr>
          <p:nvPr/>
        </p:nvSpPr>
        <p:spPr bwMode="auto">
          <a:xfrm flipH="1">
            <a:off x="6381944" y="4805065"/>
            <a:ext cx="841179" cy="75753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nl-NL">
              <a:latin typeface="Arial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>
                <a:solidFill>
                  <a:srgbClr val="000000"/>
                </a:solidFill>
                <a:latin typeface="Calibri Light"/>
              </a:rPr>
              <a:t>Multiple imputation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60" name="Picture 3"/>
          <p:cNvPicPr/>
          <p:nvPr/>
        </p:nvPicPr>
        <p:blipFill>
          <a:blip r:embed="rId2"/>
          <a:stretch/>
        </p:blipFill>
        <p:spPr>
          <a:xfrm>
            <a:off x="838080" y="1501010"/>
            <a:ext cx="8696822" cy="53569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18248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sz="3600">
                <a:solidFill>
                  <a:srgbClr val="000099"/>
                </a:solidFill>
                <a:latin typeface="Arial" pitchFamily="34" charset="0"/>
              </a:defRPr>
            </a:lvl1pPr>
            <a:lvl2pPr marL="742950" indent="-285750">
              <a:defRPr sz="3600">
                <a:solidFill>
                  <a:srgbClr val="000099"/>
                </a:solidFill>
                <a:latin typeface="Arial" pitchFamily="34" charset="0"/>
              </a:defRPr>
            </a:lvl2pPr>
            <a:lvl3pPr marL="11430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3pPr>
            <a:lvl4pPr marL="16002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4pPr>
            <a:lvl5pPr marL="2057400" indent="-228600">
              <a:defRPr sz="3600">
                <a:solidFill>
                  <a:srgbClr val="000099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99"/>
                </a:solidFill>
                <a:latin typeface="Arial" pitchFamily="34" charset="0"/>
              </a:defRPr>
            </a:lvl9pPr>
          </a:lstStyle>
          <a:p>
            <a:endParaRPr lang="en-US" altLang="nl-NL" sz="1400" dirty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nl-NL" dirty="0"/>
              <a:t>Combine the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nl-NL" dirty="0"/>
                  <a:t>Simply compute mean of </a:t>
                </a:r>
                <a:r>
                  <a:rPr lang="en-US" altLang="nl-NL" i="1" dirty="0"/>
                  <a:t>m</a:t>
                </a:r>
                <a:r>
                  <a:rPr lang="en-US" altLang="nl-NL" dirty="0"/>
                  <a:t> estimates</a:t>
                </a:r>
              </a:p>
              <a:p>
                <a:endParaRPr lang="en-US" altLang="nl-NL" dirty="0"/>
              </a:p>
              <a:p>
                <a:endParaRPr lang="en-US" altLang="nl-NL" dirty="0"/>
              </a:p>
              <a:p>
                <a:endParaRPr lang="en-US" altLang="nl-NL" dirty="0"/>
              </a:p>
              <a:p>
                <a:pPr marL="0" indent="0">
                  <a:buNone/>
                </a:pPr>
                <a:r>
                  <a:rPr lang="en-US" altLang="nl-NL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nl-NL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nl-NL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nl-NL" dirty="0"/>
                  <a:t> is the estimate in the </a:t>
                </a:r>
                <a:r>
                  <a:rPr lang="en-US" altLang="nl-NL" i="1" dirty="0" err="1"/>
                  <a:t>i</a:t>
                </a:r>
                <a:r>
                  <a:rPr lang="en-US" altLang="nl-NL" dirty="0" err="1"/>
                  <a:t>-th</a:t>
                </a:r>
                <a:r>
                  <a:rPr lang="en-US" altLang="nl-NL" dirty="0"/>
                  <a:t> multiply imputed dataset.</a:t>
                </a:r>
              </a:p>
              <a:p>
                <a:pPr marL="0" indent="0">
                  <a:buNone/>
                </a:pPr>
                <a:endParaRPr lang="en-US" altLang="nl-NL" dirty="0"/>
              </a:p>
              <a:p>
                <a:pPr marL="0" indent="0">
                  <a:buNone/>
                </a:pPr>
                <a:r>
                  <a:rPr lang="en-US" altLang="nl-NL" sz="3300" dirty="0"/>
                  <a:t>“The overall estimate is the average of the estimates”</a:t>
                </a:r>
              </a:p>
            </p:txBody>
          </p:sp>
        </mc:Choice>
        <mc:Fallback xmlns="">
          <p:sp>
            <p:nvSpPr>
              <p:cNvPr id="2150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568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509" name="Object 4"/>
          <p:cNvGraphicFramePr>
            <a:graphicFrameLocks noChangeAspect="1"/>
          </p:cNvGraphicFramePr>
          <p:nvPr/>
        </p:nvGraphicFramePr>
        <p:xfrm>
          <a:off x="4057651" y="2590800"/>
          <a:ext cx="24622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531" imgH="393529" progId="Equation.3">
                  <p:embed/>
                </p:oleObj>
              </mc:Choice>
              <mc:Fallback>
                <p:oleObj name="Equation" r:id="rId4" imgW="850531" imgH="393529" progId="Equation.3">
                  <p:embed/>
                  <p:pic>
                    <p:nvPicPr>
                      <p:cNvPr id="2150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1" y="2590800"/>
                        <a:ext cx="24622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>
                <a:solidFill>
                  <a:srgbClr val="000000"/>
                </a:solidFill>
                <a:latin typeface="Calibri Light"/>
              </a:rPr>
              <a:t>Difficult step: pooling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>
                <a:latin typeface="Calibri"/>
              </a:rPr>
              <a:t> </a:t>
            </a:r>
            <a:endParaRPr lang="nl-NL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01884" y="397558"/>
            <a:ext cx="9636889" cy="914400"/>
          </a:xfrm>
        </p:spPr>
        <p:txBody>
          <a:bodyPr/>
          <a:lstStyle/>
          <a:p>
            <a:r>
              <a:rPr lang="en-US" altLang="nl-NL" sz="4800" dirty="0"/>
              <a:t>Combining Standard Errors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1884" y="1600200"/>
            <a:ext cx="11273741" cy="4953000"/>
          </a:xfrm>
        </p:spPr>
        <p:txBody>
          <a:bodyPr/>
          <a:lstStyle/>
          <a:p>
            <a:pPr marL="0" indent="0">
              <a:buNone/>
            </a:pPr>
            <a:r>
              <a:rPr lang="en-US" altLang="nl-NL" i="1" dirty="0"/>
              <a:t>U:</a:t>
            </a:r>
            <a:r>
              <a:rPr lang="en-US" altLang="nl-NL" dirty="0"/>
              <a:t> Within imputation variance = mean of </a:t>
            </a:r>
            <a:r>
              <a:rPr lang="en-US" altLang="nl-NL" i="1" dirty="0"/>
              <a:t>m</a:t>
            </a:r>
            <a:r>
              <a:rPr lang="en-US" altLang="nl-NL" dirty="0"/>
              <a:t> sampling variances (square of </a:t>
            </a:r>
            <a:r>
              <a:rPr lang="en-US" altLang="nl-NL" dirty="0" err="1"/>
              <a:t>s.e.</a:t>
            </a:r>
            <a:r>
              <a:rPr lang="en-US" altLang="nl-NL" dirty="0"/>
              <a:t>)</a:t>
            </a:r>
          </a:p>
          <a:p>
            <a:endParaRPr lang="en-US" altLang="nl-NL" dirty="0"/>
          </a:p>
          <a:p>
            <a:endParaRPr lang="en-US" altLang="nl-NL" dirty="0"/>
          </a:p>
          <a:p>
            <a:pPr marL="0" indent="0">
              <a:buNone/>
            </a:pPr>
            <a:r>
              <a:rPr lang="en-US" altLang="nl-NL" i="1" dirty="0"/>
              <a:t>B</a:t>
            </a:r>
            <a:r>
              <a:rPr lang="en-US" altLang="nl-NL" dirty="0"/>
              <a:t> = Between imputation variance = variance of point estimates</a:t>
            </a:r>
          </a:p>
          <a:p>
            <a:endParaRPr lang="en-US" altLang="nl-NL" dirty="0"/>
          </a:p>
          <a:p>
            <a:endParaRPr lang="en-US" altLang="nl-NL" dirty="0"/>
          </a:p>
          <a:p>
            <a:pPr marL="0" indent="0">
              <a:buNone/>
            </a:pPr>
            <a:r>
              <a:rPr lang="en-US" altLang="nl-NL" i="1" dirty="0"/>
              <a:t>T</a:t>
            </a:r>
            <a:r>
              <a:rPr lang="en-US" altLang="nl-NL" dirty="0"/>
              <a:t> = Total error variance </a:t>
            </a:r>
          </a:p>
        </p:txBody>
      </p:sp>
      <p:graphicFrame>
        <p:nvGraphicFramePr>
          <p:cNvPr id="22533" name="Object 4"/>
          <p:cNvGraphicFramePr>
            <a:graphicFrameLocks noChangeAspect="1"/>
          </p:cNvGraphicFramePr>
          <p:nvPr/>
        </p:nvGraphicFramePr>
        <p:xfrm>
          <a:off x="4724400" y="2622550"/>
          <a:ext cx="16192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393700" progId="Equation.3">
                  <p:embed/>
                </p:oleObj>
              </mc:Choice>
              <mc:Fallback>
                <p:oleObj name="Equation" r:id="rId2" imgW="825500" imgH="393700" progId="Equation.3">
                  <p:embed/>
                  <p:pic>
                    <p:nvPicPr>
                      <p:cNvPr id="2253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622550"/>
                        <a:ext cx="161925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5"/>
          <p:cNvGraphicFramePr>
            <a:graphicFrameLocks noChangeAspect="1"/>
          </p:cNvGraphicFramePr>
          <p:nvPr/>
        </p:nvGraphicFramePr>
        <p:xfrm>
          <a:off x="4727575" y="4508500"/>
          <a:ext cx="26733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300" imgH="393700" progId="Equation.3">
                  <p:embed/>
                </p:oleObj>
              </mc:Choice>
              <mc:Fallback>
                <p:oleObj name="Equation" r:id="rId4" imgW="1384300" imgH="393700" progId="Equation.3">
                  <p:embed/>
                  <p:pic>
                    <p:nvPicPr>
                      <p:cNvPr id="2253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4508500"/>
                        <a:ext cx="26733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6"/>
          <p:cNvGraphicFramePr>
            <a:graphicFrameLocks noChangeAspect="1"/>
          </p:cNvGraphicFramePr>
          <p:nvPr/>
        </p:nvGraphicFramePr>
        <p:xfrm>
          <a:off x="4648201" y="6019800"/>
          <a:ext cx="23923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81100" imgH="228600" progId="Equation.3">
                  <p:embed/>
                </p:oleObj>
              </mc:Choice>
              <mc:Fallback>
                <p:oleObj name="Equation" r:id="rId6" imgW="1181100" imgH="228600" progId="Equation.3">
                  <p:embed/>
                  <p:pic>
                    <p:nvPicPr>
                      <p:cNvPr id="2253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6019800"/>
                        <a:ext cx="23923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Software</a:t>
            </a:r>
          </a:p>
        </p:txBody>
      </p:sp>
      <p:sp>
        <p:nvSpPr>
          <p:cNvPr id="16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package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mice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performs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multiple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automatic pooling of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results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has support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analysis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such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anova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lm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glm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more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Python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sklearn</a:t>
            </a:r>
            <a:r>
              <a:rPr lang="nl-NL" sz="2800" spc="-1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mice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algorithm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</a:t>
            </a:r>
            <a:r>
              <a:rPr lang="nl-NL" sz="2800" spc="-1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sklearn.impute.IterativeImputer</a:t>
            </a:r>
            <a:endParaRPr lang="nl-NL" sz="2800" spc="-1" dirty="0">
              <a:solidFill>
                <a:srgbClr val="000000"/>
              </a:solidFill>
              <a:latin typeface="Fira Code" panose="020B0809050000020004" pitchFamily="49" charset="0"/>
              <a:ea typeface="Fira Code" panose="020B0809050000020004" pitchFamily="49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sklearn</a:t>
            </a: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documentation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“It is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still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open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useful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single vs. multiple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in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context of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prediction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classification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user is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interested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measuring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.”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Typical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workflow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mice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68" name="Content Placeholder 3"/>
          <p:cNvPicPr/>
          <p:nvPr/>
        </p:nvPicPr>
        <p:blipFill>
          <a:blip r:embed="rId2"/>
          <a:stretch/>
        </p:blipFill>
        <p:spPr>
          <a:xfrm>
            <a:off x="1512720" y="1825560"/>
            <a:ext cx="9166320" cy="435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 hoc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alternative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pooling: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sensitivity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0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conclusion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does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change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across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imputed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datasets,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conclusion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sensitive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topic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may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enough</a:t>
            </a: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Conclusion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2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Single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does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account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solution is multiple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Analysis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needs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pooled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after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being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performed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multiply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datasets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Sensitivity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analysis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alternative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pooling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Multiple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fixes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inferences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but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still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SDD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assumption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D91C41122784458FEA7C846BE4C604" ma:contentTypeVersion="7" ma:contentTypeDescription="Create a new document." ma:contentTypeScope="" ma:versionID="26a54cb8190cf397c4d36c11cb64c865">
  <xsd:schema xmlns:xsd="http://www.w3.org/2001/XMLSchema" xmlns:xs="http://www.w3.org/2001/XMLSchema" xmlns:p="http://schemas.microsoft.com/office/2006/metadata/properties" xmlns:ns2="376e358b-7748-424b-88cd-7ea9e65fc930" targetNamespace="http://schemas.microsoft.com/office/2006/metadata/properties" ma:root="true" ma:fieldsID="97e864662061dac1e25953d247042dee" ns2:_="">
    <xsd:import namespace="376e358b-7748-424b-88cd-7ea9e65fc9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6e358b-7748-424b-88cd-7ea9e65fc9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9DE79C-7F58-4864-9671-546272595E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158C54-2164-48C4-A14C-9E793C141AF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38D01A6-5227-42E4-892C-DB50CEB58A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6e358b-7748-424b-88cd-7ea9e65fc9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2203</TotalTime>
  <Words>1866</Words>
  <Application>Microsoft Macintosh PowerPoint</Application>
  <PresentationFormat>Widescreen</PresentationFormat>
  <Paragraphs>393</Paragraphs>
  <Slides>54</Slides>
  <Notes>0</Notes>
  <HiddenSlides>8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7" baseType="lpstr">
      <vt:lpstr>Arial</vt:lpstr>
      <vt:lpstr>Calibri</vt:lpstr>
      <vt:lpstr>Calibri Light</vt:lpstr>
      <vt:lpstr>Cambria Math</vt:lpstr>
      <vt:lpstr>Consolas</vt:lpstr>
      <vt:lpstr>Fira Code</vt:lpstr>
      <vt:lpstr>Helvetica Neue</vt:lpstr>
      <vt:lpstr>Symbol</vt:lpstr>
      <vt:lpstr>Times New Roman</vt:lpstr>
      <vt:lpstr>Wingdings</vt:lpstr>
      <vt:lpstr>Office Theme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Good imputations are plausible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Mean imputation: univariate perspective</vt:lpstr>
      <vt:lpstr>Mean imputation: bivariate perspective</vt:lpstr>
      <vt:lpstr>PowerPoint Presentation</vt:lpstr>
      <vt:lpstr>PowerPoint Presentation</vt:lpstr>
      <vt:lpstr>Mean imputation in prediction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the standard error to deal with uncertainty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in Multiple Imputation</vt:lpstr>
      <vt:lpstr>Multiple Imputation: Imputation Step</vt:lpstr>
      <vt:lpstr>Multiple Imputation: Analysis Step</vt:lpstr>
      <vt:lpstr>PowerPoint Presentation</vt:lpstr>
      <vt:lpstr>Combine the Results</vt:lpstr>
      <vt:lpstr>PowerPoint Presentation</vt:lpstr>
      <vt:lpstr>Combining Standard Errors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Qahtan, A.A.A. (Hakim)</dc:creator>
  <dc:description/>
  <cp:lastModifiedBy>Oberski, D.L. (Daniel)</cp:lastModifiedBy>
  <cp:revision>242</cp:revision>
  <cp:lastPrinted>2025-10-14T10:30:48Z</cp:lastPrinted>
  <dcterms:created xsi:type="dcterms:W3CDTF">2020-02-17T15:53:26Z</dcterms:created>
  <dcterms:modified xsi:type="dcterms:W3CDTF">2025-10-14T10:56:19Z</dcterms:modified>
  <dc:language>nl-NL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34</vt:i4>
  </property>
  <property fmtid="{D5CDD505-2E9C-101B-9397-08002B2CF9AE}" pid="12" name="ContentTypeId">
    <vt:lpwstr>0x0101003FD91C41122784458FEA7C846BE4C604</vt:lpwstr>
  </property>
</Properties>
</file>