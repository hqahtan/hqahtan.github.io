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4"/>
  </p:sldMasterIdLst>
  <p:notesMasterIdLst>
    <p:notesMasterId r:id="rId50"/>
  </p:notesMasterIdLst>
  <p:sldIdLst>
    <p:sldId id="256" r:id="rId5"/>
    <p:sldId id="257" r:id="rId6"/>
    <p:sldId id="258" r:id="rId7"/>
    <p:sldId id="305" r:id="rId8"/>
    <p:sldId id="459" r:id="rId9"/>
    <p:sldId id="306" r:id="rId10"/>
    <p:sldId id="260" r:id="rId11"/>
    <p:sldId id="261" r:id="rId12"/>
    <p:sldId id="263" r:id="rId13"/>
    <p:sldId id="307" r:id="rId14"/>
    <p:sldId id="265" r:id="rId15"/>
    <p:sldId id="266" r:id="rId16"/>
    <p:sldId id="295" r:id="rId17"/>
    <p:sldId id="296" r:id="rId18"/>
    <p:sldId id="460" r:id="rId19"/>
    <p:sldId id="297" r:id="rId20"/>
    <p:sldId id="267" r:id="rId21"/>
    <p:sldId id="268" r:id="rId22"/>
    <p:sldId id="269" r:id="rId23"/>
    <p:sldId id="272" r:id="rId24"/>
    <p:sldId id="281" r:id="rId25"/>
    <p:sldId id="468" r:id="rId26"/>
    <p:sldId id="467" r:id="rId27"/>
    <p:sldId id="461" r:id="rId28"/>
    <p:sldId id="462" r:id="rId29"/>
    <p:sldId id="464" r:id="rId30"/>
    <p:sldId id="454" r:id="rId31"/>
    <p:sldId id="465" r:id="rId32"/>
    <p:sldId id="284" r:id="rId33"/>
    <p:sldId id="283" r:id="rId34"/>
    <p:sldId id="455" r:id="rId35"/>
    <p:sldId id="457" r:id="rId36"/>
    <p:sldId id="458" r:id="rId37"/>
    <p:sldId id="477" r:id="rId38"/>
    <p:sldId id="478" r:id="rId39"/>
    <p:sldId id="466" r:id="rId40"/>
    <p:sldId id="475" r:id="rId41"/>
    <p:sldId id="470" r:id="rId42"/>
    <p:sldId id="469" r:id="rId43"/>
    <p:sldId id="471" r:id="rId44"/>
    <p:sldId id="472" r:id="rId45"/>
    <p:sldId id="473" r:id="rId46"/>
    <p:sldId id="474" r:id="rId47"/>
    <p:sldId id="476" r:id="rId48"/>
    <p:sldId id="301" r:id="rId49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mote user" initials="ru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23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4-03T11:23:06" idx="8">
    <p:pos x="0" y="23"/>
    <p:text>Ik vind zo'n doel altijd heel chill, zou wellicht nog iets concreter kunnen? Als in, wat kan je aan het einde van de week.
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4-03T11:23:06" idx="1">
    <p:pos x="0" y="23"/>
    <p:text>Ik vind zo'n doel altijd heel chill, zou wellicht nog iets concreter kunnen? Als in, wat kan je aan het einde van de week.
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4-03T11:42:37" idx="10">
    <p:pos x="0" y="0"/>
    <p:text>Een voorbeeld visualisatie zou ik hier wel fijn vinden, zodat je een beetje een idee hebt hoe dat er uit zou kunnen zien.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D0A48-38CB-0943-92A9-1819204E94C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0F75F-B24E-014F-8CF7-A8B3E822B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9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0F75F-B24E-014F-8CF7-A8B3E822B2D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06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A8873-7CBC-49D4-89B7-FB9DE4443C7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783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A8873-7CBC-49D4-89B7-FB9DE4443C7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446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F36A-ED93-6F67-A526-D65C05CF1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06664E-F990-E739-E434-0212047A6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DD902-9AA2-44DD-638F-29236C946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2FDBF-47E5-B92E-8591-63CACCE78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A8873-7CBC-49D4-89B7-FB9DE4443C7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153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70BA9-15DF-9683-0C13-E22E99E3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374F1-9691-3098-DFAC-920BC1257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0534D-8329-9BC7-3B81-62E8BEB7D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26016-87B2-8933-4D73-7863C68DA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A8873-7CBC-49D4-89B7-FB9DE4443C7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2926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B7AB5-5CD5-BA4B-AE11-59392792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64456-CFCB-7548-B30E-02BD8BC0F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56627-0518-3643-B48E-6C2E96A5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7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nl-NL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nl-NL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0" strike="noStrike" spc="-1" dirty="0">
                <a:solidFill>
                  <a:srgbClr val="000000"/>
                </a:solidFill>
                <a:latin typeface="Calibri Light"/>
              </a:rPr>
              <a:t>Click </a:t>
            </a:r>
            <a:r>
              <a:rPr lang="nl-NL" sz="4400" b="0" strike="noStrike" spc="-1" dirty="0" err="1">
                <a:solidFill>
                  <a:srgbClr val="000000"/>
                </a:solidFill>
                <a:latin typeface="Calibri Light"/>
              </a:rPr>
              <a:t>to</a:t>
            </a:r>
            <a:r>
              <a:rPr lang="nl-NL" sz="4400" b="0" strike="noStrike" spc="-1" dirty="0">
                <a:solidFill>
                  <a:srgbClr val="000000"/>
                </a:solidFill>
                <a:latin typeface="Calibri Light"/>
              </a:rPr>
              <a:t> </a:t>
            </a:r>
            <a:r>
              <a:rPr lang="nl-NL" sz="4400" b="0" strike="noStrike" spc="-1" dirty="0" err="1">
                <a:solidFill>
                  <a:srgbClr val="000000"/>
                </a:solidFill>
                <a:latin typeface="Calibri Light"/>
              </a:rPr>
              <a:t>edit</a:t>
            </a:r>
            <a:r>
              <a:rPr lang="nl-NL" sz="4400" b="0" strike="noStrike" spc="-1" dirty="0">
                <a:solidFill>
                  <a:srgbClr val="000000"/>
                </a:solidFill>
                <a:latin typeface="Calibri Light"/>
              </a:rPr>
              <a:t> Master </a:t>
            </a:r>
            <a:r>
              <a:rPr lang="nl-NL" sz="4400" b="0" strike="noStrike" spc="-1" dirty="0" err="1">
                <a:solidFill>
                  <a:srgbClr val="000000"/>
                </a:solidFill>
                <a:latin typeface="Calibri Light"/>
              </a:rPr>
              <a:t>title</a:t>
            </a:r>
            <a:r>
              <a:rPr lang="nl-NL" sz="4400" b="0" strike="noStrike" spc="-1" dirty="0">
                <a:solidFill>
                  <a:srgbClr val="000000"/>
                </a:solidFill>
                <a:latin typeface="Calibri Light"/>
              </a:rPr>
              <a:t> </a:t>
            </a:r>
            <a:r>
              <a:rPr lang="nl-NL" sz="4400" b="0" strike="noStrike" spc="-1" dirty="0" err="1">
                <a:solidFill>
                  <a:srgbClr val="000000"/>
                </a:solidFill>
                <a:latin typeface="Calibri Light"/>
              </a:rPr>
              <a:t>style</a:t>
            </a:r>
            <a:endParaRPr lang="nl-NL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Calibri"/>
              </a:rPr>
              <a:t>Click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Calibri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Calibri"/>
              </a:rPr>
              <a:t>edit</a:t>
            </a:r>
            <a:r>
              <a:rPr lang="nl-NL" sz="2800" b="0" strike="noStrike" spc="-1" dirty="0">
                <a:solidFill>
                  <a:srgbClr val="000000"/>
                </a:solidFill>
                <a:latin typeface="Calibri"/>
              </a:rPr>
              <a:t> Master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Calibri"/>
              </a:rPr>
              <a:t>text</a:t>
            </a:r>
            <a:r>
              <a:rPr lang="nl-NL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Calibri"/>
              </a:rPr>
              <a:t>styles</a:t>
            </a:r>
            <a:endParaRPr lang="nl-NL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2000" b="0" strike="noStrike" spc="-1" dirty="0" err="1">
                <a:solidFill>
                  <a:srgbClr val="000000"/>
                </a:solidFill>
                <a:latin typeface="Calibri"/>
              </a:rPr>
              <a:t>Third</a:t>
            </a:r>
            <a:r>
              <a:rPr lang="nl-NL" sz="2000" b="0" strike="noStrike" spc="-1" dirty="0">
                <a:solidFill>
                  <a:srgbClr val="000000"/>
                </a:solidFill>
                <a:latin typeface="Calibri"/>
              </a:rPr>
              <a:t>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1800" b="0" strike="noStrike" spc="-1" dirty="0" err="1">
                <a:solidFill>
                  <a:srgbClr val="000000"/>
                </a:solidFill>
                <a:latin typeface="Calibri"/>
              </a:rPr>
              <a:t>Fourth</a:t>
            </a:r>
            <a:r>
              <a:rPr lang="nl-NL" sz="1800" b="0" strike="noStrike" spc="-1" dirty="0">
                <a:solidFill>
                  <a:srgbClr val="000000"/>
                </a:solidFill>
                <a:latin typeface="Calibri"/>
              </a:rPr>
              <a:t>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nl-NL" sz="1800" b="0" strike="noStrike" spc="-1" dirty="0" err="1">
                <a:solidFill>
                  <a:srgbClr val="000000"/>
                </a:solidFill>
                <a:latin typeface="Calibri"/>
              </a:rPr>
              <a:t>Fifth</a:t>
            </a:r>
            <a:r>
              <a:rPr lang="nl-NL" sz="1800" b="0" strike="noStrike" spc="-1" dirty="0">
                <a:solidFill>
                  <a:srgbClr val="000000"/>
                </a:solidFill>
                <a:latin typeface="Calibri"/>
              </a:rPr>
              <a:t>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tefvanbuuren.name/fim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sketchplanations.com/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sketchplanations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3578040" y="5316120"/>
            <a:ext cx="5038560" cy="438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nl-NL" sz="22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Daniel Oberski</a:t>
            </a:r>
            <a:endParaRPr lang="nl-NL" sz="2200" b="0" strike="noStrike" spc="-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2407680" y="5754960"/>
            <a:ext cx="7376760" cy="86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nl-NL" sz="2000" b="0" strike="noStrike" spc="-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Department of Methodology &amp; Statistics</a:t>
            </a:r>
            <a:endParaRPr lang="nl-NL" sz="2000" b="0" strike="noStrike" spc="-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</a:pPr>
            <a:r>
              <a:rPr lang="nl-NL" sz="2000" b="0" strike="noStrike" spc="-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Utrecht University</a:t>
            </a:r>
            <a:endParaRPr lang="nl-NL" sz="2000" b="0" strike="noStrike" spc="-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620640" y="1342080"/>
            <a:ext cx="11307960" cy="236016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nl-NL" sz="36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Data </a:t>
            </a:r>
            <a:r>
              <a:rPr lang="nl-NL" sz="36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Wrangling</a:t>
            </a:r>
            <a:r>
              <a:rPr lang="nl-NL" sz="36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6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36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 Analysis</a:t>
            </a:r>
            <a:endParaRPr lang="nl-NL" sz="3600" b="0" strike="noStrike" spc="-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lnSpc>
                <a:spcPct val="100000"/>
              </a:lnSpc>
            </a:pPr>
            <a:r>
              <a:rPr lang="nl-NL" sz="36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Missing Data </a:t>
            </a:r>
            <a:r>
              <a:rPr lang="nl-NL" sz="36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36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6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endParaRPr lang="nl-NL" sz="3600" b="0" strike="noStrike" spc="-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2897280" y="3702960"/>
            <a:ext cx="6400440" cy="119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E3D330-1B2F-8FC1-54C4-60C87094CAA6}"/>
              </a:ext>
            </a:extLst>
          </p:cNvPr>
          <p:cNvSpPr txBox="1"/>
          <p:nvPr/>
        </p:nvSpPr>
        <p:spPr>
          <a:xfrm>
            <a:off x="9941063" y="6519446"/>
            <a:ext cx="22509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VERSION: 2025-10-13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week</a:t>
            </a:r>
          </a:p>
        </p:txBody>
      </p:sp>
      <p:sp>
        <p:nvSpPr>
          <p:cNvPr id="8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1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Problems with missing data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2: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Solutions to problems with missing data</a:t>
            </a:r>
            <a:endParaRPr lang="nl-NL" sz="28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3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Clustering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Reading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materials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week</a:t>
            </a:r>
          </a:p>
        </p:txBody>
      </p:sp>
      <p:sp>
        <p:nvSpPr>
          <p:cNvPr id="89" name="TextShape 2"/>
          <p:cNvSpPr txBox="1"/>
          <p:nvPr/>
        </p:nvSpPr>
        <p:spPr>
          <a:xfrm>
            <a:off x="838080" y="1825560"/>
            <a:ext cx="589896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5000" lnSpcReduction="10000"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Flexible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Missing Data”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0" u="sng" strike="noStrike" spc="-1" dirty="0">
                <a:solidFill>
                  <a:srgbClr val="0563C1"/>
                </a:solidFill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2"/>
              </a:rPr>
              <a:t>https://stefvanbuuren.name/fimd</a:t>
            </a:r>
            <a:endParaRPr lang="nl-NL" sz="2800" b="0" u="sng" strike="noStrike" spc="-1" dirty="0">
              <a:solidFill>
                <a:srgbClr val="0563C1"/>
              </a:solidFill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Chapter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1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Sections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1.1, 1.2, 1.3, 1.4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Optional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3 (practical,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recommended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4 (practical, more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technical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2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6 (more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theoretical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nl-NL" sz="280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</a:t>
            </a:r>
            <a:r>
              <a:rPr lang="nl-NL" sz="280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280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week’s</a:t>
            </a:r>
            <a:r>
              <a:rPr lang="nl-NL" sz="280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materials</a:t>
            </a:r>
            <a:r>
              <a:rPr lang="nl-NL" sz="280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are </a:t>
            </a:r>
            <a:r>
              <a:rPr lang="nl-NL" sz="280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adapted</a:t>
            </a:r>
            <a:r>
              <a:rPr lang="nl-NL" sz="280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  <a:r>
              <a:rPr lang="nl-NL" sz="280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Gerko</a:t>
            </a:r>
            <a:r>
              <a:rPr lang="nl-NL" sz="280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Vink &amp; Stef van </a:t>
            </a:r>
            <a:r>
              <a:rPr lang="nl-NL" sz="280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Buuren’s</a:t>
            </a:r>
            <a:r>
              <a:rPr lang="nl-NL" sz="280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courses on multiple </a:t>
            </a:r>
            <a:r>
              <a:rPr lang="nl-NL" sz="280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r>
              <a:rPr lang="nl-NL" sz="280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90" name="Picture 4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030800" y="1825560"/>
            <a:ext cx="3274560" cy="435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Book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recommendation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4ECEE4-8675-524C-8201-55E6ACD9C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50163" y="0"/>
            <a:ext cx="45418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5F6255B-EEBD-FC4A-A292-7E08CDA56200}"/>
              </a:ext>
            </a:extLst>
          </p:cNvPr>
          <p:cNvSpPr/>
          <p:nvPr/>
        </p:nvSpPr>
        <p:spPr>
          <a:xfrm>
            <a:off x="838080" y="1975190"/>
            <a:ext cx="6224872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E" sz="33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Dark Data: </a:t>
            </a:r>
            <a:r>
              <a:rPr lang="en-IE" sz="3300" b="1" i="1" dirty="0">
                <a:solidFill>
                  <a:srgbClr val="9E9E9E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 What You Don’t Know Matters</a:t>
            </a:r>
            <a:endParaRPr lang="en-IE" sz="3300" b="1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fontAlgn="base"/>
            <a:r>
              <a:rPr lang="en-IE" sz="3300" b="0" i="0" dirty="0">
                <a:solidFill>
                  <a:srgbClr val="2E2E2E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David J. Hand</a:t>
            </a:r>
          </a:p>
          <a:p>
            <a:pPr fontAlgn="base"/>
            <a:endParaRPr lang="en-IE" sz="3300" b="0" i="0" dirty="0">
              <a:solidFill>
                <a:srgbClr val="2E2E2E"/>
              </a:solidFill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fontAlgn="base"/>
            <a:r>
              <a:rPr lang="en-IE" sz="3300" b="0" i="1" dirty="0">
                <a:solidFill>
                  <a:srgbClr val="2E2E2E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practical guide to making good decisions in a world of missing data</a:t>
            </a:r>
          </a:p>
        </p:txBody>
      </p:sp>
    </p:spTree>
    <p:extLst>
      <p:ext uri="{BB962C8B-B14F-4D97-AF65-F5344CB8AC3E}">
        <p14:creationId xmlns:p14="http://schemas.microsoft.com/office/powerpoint/2010/main" val="408693252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5C2E-045E-7046-ADE7-48327DBAC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2C66E-B7BB-6640-922F-47179271ACC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303172" y="6492960"/>
            <a:ext cx="4014952" cy="332399"/>
          </a:xfrm>
        </p:spPr>
        <p:txBody>
          <a:bodyPr/>
          <a:lstStyle/>
          <a:p>
            <a:pPr marL="0" indent="0">
              <a:buNone/>
            </a:pPr>
            <a:r>
              <a:rPr lang="en-IE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Image: </a:t>
            </a:r>
            <a:r>
              <a:rPr lang="en-IE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2"/>
              </a:rPr>
              <a:t>Sketchplanations</a:t>
            </a:r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026" name="Picture 2" descr="Looking under the lamppost - Sketchplanations">
            <a:extLst>
              <a:ext uri="{FF2B5EF4-FFF2-40B4-BE49-F238E27FC236}">
                <a16:creationId xmlns:a16="http://schemas.microsoft.com/office/drawing/2014/main" id="{DDDA5D2F-5E0B-F24D-8ADC-B27E86675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914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35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endParaRPr lang="nl-NL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TextShape 2"/>
          <p:cNvSpPr txBox="1"/>
          <p:nvPr/>
        </p:nvSpPr>
        <p:spPr>
          <a:xfrm>
            <a:off x="929160" y="185184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560" lv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“[missing data are] data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don’t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have –</a:t>
            </a:r>
            <a:r>
              <a:rPr lang="nl-NL" sz="33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perhaps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wish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had, or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hoped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have, or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thought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had, but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nonetheless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don’t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have. I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argue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illustrate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many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examples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330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</a:t>
            </a:r>
            <a:r>
              <a:rPr lang="nl-NL" sz="33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3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3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missing data are at </a:t>
            </a:r>
            <a:r>
              <a:rPr lang="nl-NL" sz="33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least</a:t>
            </a:r>
            <a:r>
              <a:rPr lang="nl-NL" sz="33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as important as </a:t>
            </a:r>
            <a:r>
              <a:rPr lang="nl-NL" sz="33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3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 </a:t>
            </a:r>
            <a:r>
              <a:rPr lang="nl-NL" sz="33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33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 have</a:t>
            </a:r>
            <a:r>
              <a:rPr lang="nl-NL" sz="33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.” </a:t>
            </a: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endParaRPr lang="nl-NL" sz="33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–DJH (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emphases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mine)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week on missing data</a:t>
            </a:r>
          </a:p>
        </p:txBody>
      </p:sp>
      <p:sp>
        <p:nvSpPr>
          <p:cNvPr id="94" name="TextShape 2"/>
          <p:cNvSpPr txBox="1"/>
          <p:nvPr/>
        </p:nvSpPr>
        <p:spPr>
          <a:xfrm>
            <a:off x="929160" y="185184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Missing data are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everywhere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Ad-hoc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fixes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always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data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scientist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needs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understand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which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methods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Goal of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week: get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comfortable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solving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data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problems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missing data important?</a:t>
            </a:r>
          </a:p>
        </p:txBody>
      </p:sp>
      <p:sp>
        <p:nvSpPr>
          <p:cNvPr id="96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Obviously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best way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treat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data is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have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them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.” (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Orchard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Woodbury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1972)</a:t>
            </a: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…but…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“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Sooner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or later (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usually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sooner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),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anyone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does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statistical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analysis runs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data” (Allison, 2002)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Missing data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are at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heart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data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Challenger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(1986)</a:t>
            </a:r>
          </a:p>
        </p:txBody>
      </p:sp>
      <p:pic>
        <p:nvPicPr>
          <p:cNvPr id="102" name="Content Placeholder 4"/>
          <p:cNvPicPr/>
          <p:nvPr/>
        </p:nvPicPr>
        <p:blipFill>
          <a:blip r:embed="rId2"/>
          <a:stretch/>
        </p:blipFill>
        <p:spPr>
          <a:xfrm>
            <a:off x="2229480" y="1825560"/>
            <a:ext cx="7732440" cy="435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Content Placeholder 4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344960" y="654840"/>
            <a:ext cx="9501840" cy="5547960"/>
          </a:xfrm>
          <a:prstGeom prst="rect">
            <a:avLst/>
          </a:prstGeom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6FE4BF-7815-6240-9FE4-86E3B46E9B9C}"/>
              </a:ext>
            </a:extLst>
          </p:cNvPr>
          <p:cNvSpPr/>
          <p:nvPr/>
        </p:nvSpPr>
        <p:spPr>
          <a:xfrm>
            <a:off x="5990897" y="1093076"/>
            <a:ext cx="5360275" cy="5549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missing data </a:t>
            </a:r>
            <a:r>
              <a:rPr lang="nl-NL" sz="4400" b="1" strike="noStrike" spc="-1" dirty="0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important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</p:txBody>
      </p:sp>
      <p:sp>
        <p:nvSpPr>
          <p:cNvPr id="105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Just </a:t>
            </a:r>
            <a:r>
              <a:rPr lang="nl-NL" sz="2800" b="1" strike="noStrike" spc="-1" dirty="0" err="1">
                <a:solidFill>
                  <a:schemeClr val="accent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annoying</a:t>
            </a:r>
            <a:endParaRPr lang="nl-NL" sz="2800" b="1" strike="noStrike" spc="-1" dirty="0">
              <a:solidFill>
                <a:schemeClr val="accent2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971910" lvl="1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Most procedures </a:t>
            </a:r>
            <a:r>
              <a:rPr lang="nl-NL" sz="280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don’t</a:t>
            </a: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deal </a:t>
            </a:r>
            <a:r>
              <a:rPr lang="nl-NL" sz="280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missings</a:t>
            </a: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</a:t>
            </a: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default</a:t>
            </a: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b="1" strike="noStrike" spc="-1" dirty="0" err="1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Less</a:t>
            </a:r>
            <a:r>
              <a:rPr lang="nl-NL" sz="2800" b="1" strike="noStrike" spc="-1" dirty="0">
                <a:solidFill>
                  <a:schemeClr val="accent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information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than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planned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</a:p>
          <a:p>
            <a:pPr marL="971910" lvl="1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0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(e.g. “standard </a:t>
            </a:r>
            <a:r>
              <a:rPr lang="nl-NL" sz="20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errors</a:t>
            </a:r>
            <a:r>
              <a:rPr lang="nl-NL" sz="20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”, “power”, “C.I”, etc.)</a:t>
            </a:r>
          </a:p>
          <a:p>
            <a:pPr marL="971910" lvl="1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Accuracy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predictive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models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Systematic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trike="noStrike" spc="-1" dirty="0" err="1">
                <a:solidFill>
                  <a:srgbClr val="C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biases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</a:p>
          <a:p>
            <a:pPr marL="971910" lvl="1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interest wrong on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average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971910" lvl="1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Prediction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error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seems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better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will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reality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971910" lvl="1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think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about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values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Values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 </a:t>
            </a:r>
            <a:r>
              <a:rPr lang="nl-NL" sz="28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exist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but we are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unable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see</a:t>
            </a:r>
            <a:r>
              <a:rPr lang="nl-NL" sz="2800" b="0" i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them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Possible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reasons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Survey 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non-response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Person in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medical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study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dies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users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high privacy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settings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browser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Only</a:t>
            </a:r>
            <a:r>
              <a:rPr lang="nl-NL" sz="24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high-</a:t>
            </a:r>
            <a:r>
              <a:rPr lang="nl-NL" sz="24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income</a:t>
            </a:r>
            <a:r>
              <a:rPr lang="nl-NL" sz="24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residents</a:t>
            </a:r>
            <a:r>
              <a:rPr lang="nl-NL" sz="24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report potholes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Satellite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experiences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interference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4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sun</a:t>
            </a:r>
            <a:endParaRPr lang="nl-NL" sz="24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4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Etc.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680C-7B4B-6F4D-954B-2C893A38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C7034C-1B9C-224D-B497-401F4D506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0"/>
            <a:ext cx="10035540" cy="6852462"/>
          </a:xfrm>
        </p:spPr>
      </p:pic>
    </p:spTree>
    <p:extLst>
      <p:ext uri="{BB962C8B-B14F-4D97-AF65-F5344CB8AC3E}">
        <p14:creationId xmlns:p14="http://schemas.microsoft.com/office/powerpoint/2010/main" val="1932886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4D53-020C-974E-AD17-9D9561D9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31830C-B964-2549-A168-CA3F41503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2535" y="20475"/>
            <a:ext cx="9726930" cy="6837525"/>
          </a:xfrm>
        </p:spPr>
      </p:pic>
    </p:spTree>
    <p:extLst>
      <p:ext uri="{BB962C8B-B14F-4D97-AF65-F5344CB8AC3E}">
        <p14:creationId xmlns:p14="http://schemas.microsoft.com/office/powerpoint/2010/main" val="300353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686C-4F1C-6942-9AC9-9149EB94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8DFA6-A40A-DE42-8F48-B1475908D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300" b="1" dirty="0"/>
              <a:t>Question</a:t>
            </a:r>
            <a:r>
              <a:rPr lang="en-US" sz="3300" dirty="0"/>
              <a:t>: we would like to quantify the </a:t>
            </a:r>
            <a:r>
              <a:rPr lang="en-US" sz="3300" i="1" dirty="0"/>
              <a:t>trend in cases</a:t>
            </a:r>
            <a:r>
              <a:rPr lang="en-US" sz="3300" dirty="0"/>
              <a:t>. What is the effect of the Excel error on estimates of this trend?</a:t>
            </a:r>
          </a:p>
          <a:p>
            <a:pPr marL="0" indent="0">
              <a:buNone/>
            </a:pP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1640310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CA468B-F53B-7947-B16D-EB98FDDBC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0"/>
            <a:ext cx="11680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539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0" strike="noStrike" spc="-1">
                <a:solidFill>
                  <a:srgbClr val="000000"/>
                </a:solidFill>
                <a:latin typeface="Calibri Light"/>
              </a:rPr>
              <a:t>Complete data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9" name="Content Placeholder 5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008320" y="1825560"/>
            <a:ext cx="2175480" cy="435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0" strike="noStrike" spc="-1">
                <a:solidFill>
                  <a:srgbClr val="000000"/>
                </a:solidFill>
                <a:latin typeface="Calibri Light"/>
              </a:rPr>
              <a:t>Missing data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1" name="Content Placeholder 4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008320" y="1825560"/>
            <a:ext cx="2175480" cy="435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0" strike="noStrike" spc="-1">
                <a:solidFill>
                  <a:srgbClr val="000000"/>
                </a:solidFill>
                <a:latin typeface="Calibri Light"/>
              </a:rPr>
              <a:t>Observed data</a:t>
            </a:r>
            <a:endParaRPr lang="nl-NL" sz="44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3" name="Content Placeholder 4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008320" y="1825560"/>
            <a:ext cx="2175480" cy="4350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are missing data “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coded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”?</a:t>
            </a:r>
          </a:p>
        </p:txBody>
      </p:sp>
      <p:sp>
        <p:nvSpPr>
          <p:cNvPr id="119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 frames: 		</a:t>
            </a:r>
            <a:r>
              <a:rPr lang="nl-NL" sz="2800" b="0" strike="noStrike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NA				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Python/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Pandas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	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NaN</a:t>
            </a:r>
            <a:r>
              <a:rPr lang="nl-NL" sz="2800" b="0" strike="noStrike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				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SQL: 			</a:t>
            </a:r>
            <a:r>
              <a:rPr lang="nl-NL" sz="2800" b="0" strike="noStrike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NULL				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JavaScript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json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	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null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			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csv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files: 			"</a:t>
            </a:r>
            <a:r>
              <a:rPr lang="nl-NL" sz="2800" b="0" strike="noStrike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NA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", "", "</a:t>
            </a:r>
            <a:r>
              <a:rPr lang="nl-NL" sz="2800" b="0" strike="noStrike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NULL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" 	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SPSS: 			</a:t>
            </a:r>
            <a:r>
              <a:rPr lang="nl-NL" sz="2800" b="0" strike="noStrike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-999, 99999, …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*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sigh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*.			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pay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attention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during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wrangling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!</a:t>
            </a: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Visualizing</a:t>
            </a: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data</a:t>
            </a:r>
          </a:p>
        </p:txBody>
      </p:sp>
      <p:sp>
        <p:nvSpPr>
          <p:cNvPr id="13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helpful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visualize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data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Summarizes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&amp;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provides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amount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pattern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missingness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assignment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afternoon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will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 </a:t>
            </a:r>
            <a:r>
              <a:rPr lang="nl-NL" sz="2800" b="0" strike="noStrike" spc="-1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data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visualizations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Visualization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help in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understanding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data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mechanism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725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0158-E95F-0041-995F-1D2FD7E8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923F4-5C2B-494B-AAD2-520E2A2D9D54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Some missing data patterns in multivariate data. Blue is observed, red is missing.">
            <a:extLst>
              <a:ext uri="{FF2B5EF4-FFF2-40B4-BE49-F238E27FC236}">
                <a16:creationId xmlns:a16="http://schemas.microsoft.com/office/drawing/2014/main" id="{6CEE79DE-A66F-E143-AA97-D5C5EA5EC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339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1CC23-61FE-364E-A1C1-7FE69878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8AF66-7979-4646-ABA9-C851AD70EE59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useR! 2016 Tutorials: Part 2 (Revolutions)">
            <a:extLst>
              <a:ext uri="{FF2B5EF4-FFF2-40B4-BE49-F238E27FC236}">
                <a16:creationId xmlns:a16="http://schemas.microsoft.com/office/drawing/2014/main" id="{2107BBC1-FDD0-494B-9292-4B6C555B2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24050" y="736600"/>
            <a:ext cx="8343900" cy="538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3979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BFE2-6401-9B41-87E6-B6AAE8B5D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22921"/>
            <a:ext cx="10515240" cy="609398"/>
          </a:xfrm>
        </p:spPr>
        <p:txBody>
          <a:bodyPr/>
          <a:lstStyle/>
          <a:p>
            <a:r>
              <a:rPr lang="en-US" b="1" dirty="0"/>
              <a:t>BMI 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B586E2-76EE-BD43-994D-10D25D91C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458335"/>
              </p:ext>
            </p:extLst>
          </p:nvPr>
        </p:nvGraphicFramePr>
        <p:xfrm>
          <a:off x="4491797" y="2140170"/>
          <a:ext cx="7307436" cy="3074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5812">
                  <a:extLst>
                    <a:ext uri="{9D8B030D-6E8A-4147-A177-3AD203B41FA5}">
                      <a16:colId xmlns:a16="http://schemas.microsoft.com/office/drawing/2014/main" val="1518675063"/>
                    </a:ext>
                  </a:extLst>
                </a:gridCol>
                <a:gridCol w="2435812">
                  <a:extLst>
                    <a:ext uri="{9D8B030D-6E8A-4147-A177-3AD203B41FA5}">
                      <a16:colId xmlns:a16="http://schemas.microsoft.com/office/drawing/2014/main" val="3494468149"/>
                    </a:ext>
                  </a:extLst>
                </a:gridCol>
                <a:gridCol w="2435812">
                  <a:extLst>
                    <a:ext uri="{9D8B030D-6E8A-4147-A177-3AD203B41FA5}">
                      <a16:colId xmlns:a16="http://schemas.microsoft.com/office/drawing/2014/main" val="3203648765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 dirty="0" err="1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person_id</a:t>
                      </a:r>
                      <a:endParaRPr lang="en-IE" sz="33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 dirty="0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bmi_1</a:t>
                      </a:r>
                      <a:endParaRPr lang="en-IE" sz="33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 dirty="0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bmi_2</a:t>
                      </a:r>
                      <a:endParaRPr lang="en-IE" sz="33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1794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1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18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19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21086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2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25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22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47331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3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24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?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893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4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34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?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94587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5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 dirty="0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17</a:t>
                      </a:r>
                      <a:endParaRPr lang="en-IE" sz="33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 dirty="0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?</a:t>
                      </a:r>
                      <a:endParaRPr lang="en-IE" sz="33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1481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AEC99B-E0D5-A945-801B-7BF020556BAC}"/>
              </a:ext>
            </a:extLst>
          </p:cNvPr>
          <p:cNvSpPr txBox="1"/>
          <p:nvPr/>
        </p:nvSpPr>
        <p:spPr>
          <a:xfrm>
            <a:off x="392767" y="2140170"/>
            <a:ext cx="38888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BMI measured at two time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Research question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does BMI decrease?</a:t>
            </a:r>
          </a:p>
        </p:txBody>
      </p:sp>
    </p:spTree>
    <p:extLst>
      <p:ext uri="{BB962C8B-B14F-4D97-AF65-F5344CB8AC3E}">
        <p14:creationId xmlns:p14="http://schemas.microsoft.com/office/powerpoint/2010/main" val="3302185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EBFE2-6401-9B41-87E6-B6AAE8B5D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22921"/>
            <a:ext cx="10515240" cy="609398"/>
          </a:xfrm>
        </p:spPr>
        <p:txBody>
          <a:bodyPr/>
          <a:lstStyle/>
          <a:p>
            <a:r>
              <a:rPr lang="en-US" b="1" dirty="0"/>
              <a:t>BMI 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B586E2-76EE-BD43-994D-10D25D91C5A3}"/>
              </a:ext>
            </a:extLst>
          </p:cNvPr>
          <p:cNvGraphicFramePr>
            <a:graphicFrameLocks noGrp="1"/>
          </p:cNvGraphicFramePr>
          <p:nvPr/>
        </p:nvGraphicFramePr>
        <p:xfrm>
          <a:off x="4491797" y="2140170"/>
          <a:ext cx="7307436" cy="30746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5812">
                  <a:extLst>
                    <a:ext uri="{9D8B030D-6E8A-4147-A177-3AD203B41FA5}">
                      <a16:colId xmlns:a16="http://schemas.microsoft.com/office/drawing/2014/main" val="1518675063"/>
                    </a:ext>
                  </a:extLst>
                </a:gridCol>
                <a:gridCol w="2435812">
                  <a:extLst>
                    <a:ext uri="{9D8B030D-6E8A-4147-A177-3AD203B41FA5}">
                      <a16:colId xmlns:a16="http://schemas.microsoft.com/office/drawing/2014/main" val="3494468149"/>
                    </a:ext>
                  </a:extLst>
                </a:gridCol>
                <a:gridCol w="2435812">
                  <a:extLst>
                    <a:ext uri="{9D8B030D-6E8A-4147-A177-3AD203B41FA5}">
                      <a16:colId xmlns:a16="http://schemas.microsoft.com/office/drawing/2014/main" val="3203648765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 dirty="0" err="1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person_id</a:t>
                      </a:r>
                      <a:endParaRPr lang="en-IE" sz="33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 dirty="0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bmi_1</a:t>
                      </a:r>
                      <a:endParaRPr lang="en-IE" sz="33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 dirty="0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bmi_2</a:t>
                      </a:r>
                      <a:endParaRPr lang="en-IE" sz="33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1794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 dirty="0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1</a:t>
                      </a:r>
                      <a:endParaRPr lang="en-IE" sz="33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18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19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21086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2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25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22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47331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3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24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?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89300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4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34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?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94587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5</a:t>
                      </a:r>
                      <a:endParaRPr lang="en-IE" sz="3300" b="0" i="0" u="none" strike="noStrike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 dirty="0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17</a:t>
                      </a:r>
                      <a:endParaRPr lang="en-IE" sz="33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E" sz="3300" u="none" strike="noStrike" dirty="0">
                          <a:effectLst/>
                          <a:latin typeface="Fira Code" panose="020B0809050000020004" pitchFamily="49" charset="0"/>
                          <a:ea typeface="Fira Code" panose="020B0809050000020004" pitchFamily="49" charset="0"/>
                        </a:rPr>
                        <a:t>?</a:t>
                      </a:r>
                      <a:endParaRPr lang="en-IE" sz="3300" b="0" i="0" u="none" strike="noStrike" dirty="0">
                        <a:solidFill>
                          <a:srgbClr val="000000"/>
                        </a:solidFill>
                        <a:effectLst/>
                        <a:latin typeface="Fira Code" panose="020B0809050000020004" pitchFamily="49" charset="0"/>
                        <a:ea typeface="Fira Code" panose="020B08090500000200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1481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AEC99B-E0D5-A945-801B-7BF020556BAC}"/>
              </a:ext>
            </a:extLst>
          </p:cNvPr>
          <p:cNvSpPr txBox="1"/>
          <p:nvPr/>
        </p:nvSpPr>
        <p:spPr>
          <a:xfrm>
            <a:off x="392767" y="2140170"/>
            <a:ext cx="388882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average of </a:t>
            </a:r>
            <a:r>
              <a:rPr lang="en-US" sz="2800" dirty="0"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bmi_2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correlation with </a:t>
            </a:r>
            <a:r>
              <a:rPr lang="en-US" sz="2800" dirty="0">
                <a:latin typeface="Fira Code" panose="020B0809050000020004" pitchFamily="49" charset="0"/>
                <a:ea typeface="Fira Code" panose="020B0809050000020004" pitchFamily="49" charset="0"/>
                <a:cs typeface="Helvetica Neue" panose="02000503000000020004" pitchFamily="2" charset="0"/>
              </a:rPr>
              <a:t>bmi_1</a:t>
            </a: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average difference?</a:t>
            </a:r>
          </a:p>
        </p:txBody>
      </p:sp>
    </p:spTree>
    <p:extLst>
      <p:ext uri="{BB962C8B-B14F-4D97-AF65-F5344CB8AC3E}">
        <p14:creationId xmlns:p14="http://schemas.microsoft.com/office/powerpoint/2010/main" val="1042256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Different kinds of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9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Suppose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there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are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</a:t>
            </a: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kinds of missing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just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moved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away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or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dropped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out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other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reasons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unrelated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study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;</a:t>
            </a: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dramatically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overweight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start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dropped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out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because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loss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motivation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;</a:t>
            </a: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drop out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because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failed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stick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program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felt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embarrassed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return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group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 </a:t>
            </a: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151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5724" y="1097630"/>
            <a:ext cx="10993822" cy="4393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Shining a light</a:t>
            </a:r>
          </a:p>
          <a:p>
            <a:endParaRPr lang="en-GB" sz="105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Aft>
                <a:spcPts val="1800"/>
              </a:spcAft>
            </a:pPr>
            <a:r>
              <a:rPr lang="en-GB" sz="2800" i="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 </a:t>
            </a:r>
            <a:r>
              <a:rPr lang="en-GB" sz="2800" b="1" i="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you do know </a:t>
            </a:r>
            <a:r>
              <a:rPr lang="en-GB" sz="2800" i="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about </a:t>
            </a:r>
            <a:r>
              <a:rPr lang="en-GB" sz="2800" b="1" i="1" dirty="0">
                <a:solidFill>
                  <a:srgbClr val="FF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you don’t know</a:t>
            </a:r>
          </a:p>
          <a:p>
            <a:pPr>
              <a:spcAft>
                <a:spcPts val="1800"/>
              </a:spcAft>
            </a:pPr>
            <a:r>
              <a:rPr lang="en-GB" sz="2800" dirty="0">
                <a:solidFill>
                  <a:srgbClr val="0000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NDD: It’s missing for reasons unrelated to the data </a:t>
            </a:r>
            <a:r>
              <a:rPr lang="en-GB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(MCAR)</a:t>
            </a:r>
          </a:p>
          <a:p>
            <a:pPr>
              <a:spcAft>
                <a:spcPts val="1800"/>
              </a:spcAft>
            </a:pPr>
            <a:r>
              <a:rPr lang="en-GB" sz="2000" b="1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Sickness preventing students from sitting exam</a:t>
            </a:r>
          </a:p>
          <a:p>
            <a:pPr marL="0" lvl="1"/>
            <a:r>
              <a:rPr lang="en-GB" sz="2800" dirty="0">
                <a:solidFill>
                  <a:srgbClr val="0000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SDD: It’s missing for reasons related to data you have got </a:t>
            </a:r>
            <a:r>
              <a:rPr lang="en-GB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(MAR)</a:t>
            </a:r>
            <a:endParaRPr lang="en-GB" sz="2000" b="1" i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lvl="1"/>
            <a:r>
              <a:rPr lang="en-GB" sz="2000" b="1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School discouraging less able students from sitting exam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GB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lvl="1"/>
            <a:r>
              <a:rPr lang="en-GB" sz="2800" dirty="0">
                <a:solidFill>
                  <a:srgbClr val="0000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UDD: missing because of the values you </a:t>
            </a:r>
            <a:r>
              <a:rPr lang="en-GB" sz="2800" i="1" dirty="0">
                <a:solidFill>
                  <a:srgbClr val="0000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would have </a:t>
            </a:r>
            <a:r>
              <a:rPr lang="en-GB" sz="2800" dirty="0">
                <a:solidFill>
                  <a:srgbClr val="0000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obtained </a:t>
            </a:r>
            <a:r>
              <a:rPr lang="en-GB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(MNAR)</a:t>
            </a:r>
            <a:r>
              <a:rPr lang="en-GB" sz="2000" b="1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Student realised revised wrong material, so didn’t turn up to sit exam</a:t>
            </a:r>
            <a:r>
              <a:rPr lang="en-GB" sz="2000" b="1" i="1" dirty="0">
                <a:solidFill>
                  <a:schemeClr val="accent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  <a:endParaRPr lang="en-GB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5724" y="6096702"/>
            <a:ext cx="29427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chemeClr val="bg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Source: David Hand</a:t>
            </a:r>
          </a:p>
        </p:txBody>
      </p:sp>
    </p:spTree>
    <p:extLst>
      <p:ext uri="{BB962C8B-B14F-4D97-AF65-F5344CB8AC3E}">
        <p14:creationId xmlns:p14="http://schemas.microsoft.com/office/powerpoint/2010/main" val="100307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Different kinds of </a:t>
            </a:r>
            <a:r>
              <a:rPr lang="nl-NL" sz="44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</a:t>
            </a:r>
            <a:endParaRPr lang="nl-NL" sz="4400" b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Shape 2"/>
              <p:cNvSpPr txBox="1"/>
              <p:nvPr/>
            </p:nvSpPr>
            <p:spPr>
              <a:xfrm>
                <a:off x="838080" y="1825560"/>
                <a:ext cx="10515240" cy="5032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 marL="514710" indent="-514350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  <a:buFont typeface="+mj-lt"/>
                  <a:buAutoNum type="arabicPeriod"/>
                </a:pPr>
                <a:r>
                  <a:rPr lang="nl-NL" sz="2400" b="1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NDD</a:t>
                </a:r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: Missing </a:t>
                </a:r>
                <a:r>
                  <a:rPr lang="nl-NL" sz="2400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reasons</a:t>
                </a:r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b="1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unrelated</a:t>
                </a:r>
                <a:r>
                  <a:rPr lang="nl-NL" sz="2400" b="1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to</a:t>
                </a:r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</a:t>
                </a:r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study</a:t>
                </a:r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:</a:t>
                </a:r>
              </a:p>
              <a:p>
                <a:pPr marL="457560" lvl="1">
                  <a:lnSpc>
                    <a:spcPct val="200000"/>
                  </a:lnSpc>
                  <a:spcBef>
                    <a:spcPts val="1001"/>
                  </a:spcBef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sz="2400" b="0" i="1" spc="-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pc="-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𝑀</m:t>
                              </m:r>
                              <m:r>
                                <a:rPr lang="en-US" sz="2400" b="0" i="1" spc="-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=1 </m:t>
                              </m:r>
                            </m:e>
                          </m:d>
                        </m:e>
                      </m:func>
                      <m:r>
                        <m:rPr>
                          <m:nor/>
                        </m:rPr>
                        <a:rPr lang="en-US" sz="2400" spc="-1" dirty="0">
                          <a:solidFill>
                            <a:srgbClr val="000000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m:t>bmi</m:t>
                      </m:r>
                      <m:r>
                        <m:rPr>
                          <m:nor/>
                        </m:rPr>
                        <a:rPr lang="en-US" sz="2400" spc="-1" dirty="0">
                          <a:solidFill>
                            <a:srgbClr val="000000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m:t>_1</m:t>
                      </m:r>
                      <m:r>
                        <a:rPr lang="en-US" sz="24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400" spc="-1" dirty="0" smtClean="0">
                          <a:solidFill>
                            <a:srgbClr val="B723AE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m:t>bmi</m:t>
                      </m:r>
                      <m:r>
                        <m:rPr>
                          <m:nor/>
                        </m:rPr>
                        <a:rPr lang="en-US" sz="2400" spc="-1" dirty="0" smtClean="0">
                          <a:solidFill>
                            <a:srgbClr val="B723AE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m:t>_2</m:t>
                      </m:r>
                      <m:r>
                        <a:rPr lang="en-US" sz="24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)=</m:t>
                      </m:r>
                      <m:func>
                        <m:funcPr>
                          <m:ctrlPr>
                            <a:rPr lang="en-US" sz="2400" b="0" i="1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pc="-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pc="-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pc="-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𝑀</m:t>
                              </m:r>
                              <m:r>
                                <a:rPr lang="en-US" sz="2400" b="0" i="1" spc="-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sz="2400" b="0" i="1" spc="-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,</m:t>
                      </m:r>
                    </m:oMath>
                  </m:oMathPara>
                </a14:m>
                <a:endParaRPr lang="en-US" sz="2400" b="0" spc="-1" dirty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457560" lvl="1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</a:pPr>
                <a:r>
                  <a:rPr lang="en-US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where M indicates whether </a:t>
                </a:r>
                <a:r>
                  <a:rPr lang="en-US" sz="2400" spc="-1" dirty="0">
                    <a:solidFill>
                      <a:srgbClr val="B723AE"/>
                    </a:solidFill>
                    <a:latin typeface="Fira Code" panose="020B0809050000020004" pitchFamily="49" charset="0"/>
                    <a:ea typeface="Fira Code" panose="020B0809050000020004" pitchFamily="49" charset="0"/>
                    <a:cs typeface="Helvetica Neue" panose="02000503000000020004" pitchFamily="2" charset="0"/>
                  </a:rPr>
                  <a:t>bmi_2</a:t>
                </a:r>
                <a:r>
                  <a:rPr lang="en-US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is missing (1) or not (0).</a:t>
                </a:r>
                <a:endParaRPr lang="en-US" sz="2400" b="0" spc="-1" dirty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514710" indent="-514350">
                  <a:lnSpc>
                    <a:spcPct val="200000"/>
                  </a:lnSpc>
                  <a:spcBef>
                    <a:spcPts val="1001"/>
                  </a:spcBef>
                  <a:buClr>
                    <a:srgbClr val="000000"/>
                  </a:buClr>
                  <a:buFont typeface="+mj-lt"/>
                  <a:buAutoNum type="arabicPeriod"/>
                </a:pPr>
                <a:r>
                  <a:rPr lang="nl-NL" sz="2400" b="1" strike="noStrike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SDD</a:t>
                </a:r>
                <a:r>
                  <a:rPr lang="nl-NL" sz="2400" b="0" strike="noStrike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: Missing </a:t>
                </a:r>
                <a:r>
                  <a:rPr lang="nl-NL" sz="2400" b="0" strike="noStrike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completely</a:t>
                </a:r>
                <a:r>
                  <a:rPr lang="nl-NL" sz="2400" b="0" strike="noStrike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b="1" strike="noStrike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explained</a:t>
                </a:r>
                <a:r>
                  <a:rPr lang="nl-NL" sz="2400" b="1" strike="noStrike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b="1" strike="noStrike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by</a:t>
                </a:r>
                <a:r>
                  <a:rPr lang="nl-NL" sz="2400" b="1" strike="noStrike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low BMI at </a:t>
                </a:r>
                <a:r>
                  <a:rPr lang="nl-NL" sz="2400" b="1" strike="noStrike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</a:t>
                </a:r>
                <a:r>
                  <a:rPr lang="nl-NL" sz="2400" b="1" strike="noStrike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start </a:t>
                </a:r>
                <a:r>
                  <a:rPr lang="nl-NL" sz="2400" strike="noStrike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(</a:t>
                </a:r>
                <a:r>
                  <a:rPr lang="nl-NL" sz="2400" strike="noStrike" spc="-1" dirty="0">
                    <a:solidFill>
                      <a:srgbClr val="000000"/>
                    </a:solidFill>
                    <a:latin typeface="Fira Code" pitchFamily="49" charset="0"/>
                    <a:ea typeface="Fira Code" pitchFamily="49" charset="0"/>
                    <a:cs typeface="Fira Code" pitchFamily="49" charset="0"/>
                  </a:rPr>
                  <a:t>bmi_1</a:t>
                </a:r>
                <a:r>
                  <a:rPr lang="nl-NL" sz="2400" strike="noStrike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):</a:t>
                </a:r>
              </a:p>
              <a:p>
                <a:pPr marL="360">
                  <a:lnSpc>
                    <a:spcPct val="200000"/>
                  </a:lnSpc>
                  <a:spcBef>
                    <a:spcPts val="1001"/>
                  </a:spcBef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</m:ctrlPr>
                            </m:dPr>
                            <m:e>
                              <m: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𝑀</m:t>
                              </m:r>
                              <m: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=1 </m:t>
                              </m:r>
                            </m:e>
                          </m:d>
                        </m:e>
                      </m:func>
                      <m:r>
                        <m:rPr>
                          <m:nor/>
                        </m:rPr>
                        <a:rPr lang="en-US" sz="2400" spc="-1" dirty="0">
                          <a:solidFill>
                            <a:srgbClr val="000000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m:t>bmi</m:t>
                      </m:r>
                      <m:r>
                        <m:rPr>
                          <m:nor/>
                        </m:rPr>
                        <a:rPr lang="en-US" sz="2400" spc="-1" dirty="0">
                          <a:solidFill>
                            <a:srgbClr val="000000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m:t>_1</m:t>
                      </m:r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400" spc="-1" dirty="0" smtClean="0">
                          <a:solidFill>
                            <a:srgbClr val="B723AE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m:t>bmi</m:t>
                      </m:r>
                      <m:r>
                        <m:rPr>
                          <m:nor/>
                        </m:rPr>
                        <a:rPr lang="en-US" sz="2400" spc="-1" dirty="0" smtClean="0">
                          <a:solidFill>
                            <a:srgbClr val="B723AE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m:t>_2</m:t>
                      </m:r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)=</m:t>
                      </m:r>
                      <m:func>
                        <m:funcPr>
                          <m:ctrlPr>
                            <a:rPr lang="en-US" sz="2400" i="1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spc="-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</m:ctrlPr>
                            </m:dPr>
                            <m:e>
                              <m: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𝑀</m:t>
                              </m:r>
                              <m:r>
                                <a:rPr lang="en-US" sz="2400" i="1" spc="-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=1 </m:t>
                              </m:r>
                            </m:e>
                          </m:d>
                        </m:e>
                      </m:func>
                      <m:r>
                        <m:rPr>
                          <m:nor/>
                        </m:rPr>
                        <a:rPr lang="en-US" sz="2400" spc="-1" dirty="0">
                          <a:solidFill>
                            <a:srgbClr val="000000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m:t>bmi</m:t>
                      </m:r>
                      <m:r>
                        <m:rPr>
                          <m:nor/>
                        </m:rPr>
                        <a:rPr lang="en-US" sz="2400" spc="-1" dirty="0">
                          <a:solidFill>
                            <a:srgbClr val="000000"/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Helvetica Neue" panose="02000503000000020004" pitchFamily="2" charset="0"/>
                        </a:rPr>
                        <m:t>_1</m:t>
                      </m:r>
                      <m:r>
                        <a:rPr lang="en-US" sz="2400" i="1" spc="-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)</m:t>
                      </m:r>
                    </m:oMath>
                  </m:oMathPara>
                </a14:m>
                <a:endParaRPr lang="nl-NL" sz="2400" b="0" strike="noStrike" spc="-1" dirty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360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</a:pPr>
                <a:r>
                  <a:rPr lang="nl-NL" sz="2400" b="1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3.   UDD</a:t>
                </a:r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: Missing </a:t>
                </a:r>
                <a:r>
                  <a:rPr lang="nl-NL" sz="2400" b="1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depends</a:t>
                </a:r>
                <a:r>
                  <a:rPr lang="nl-NL" sz="2400" b="1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on </a:t>
                </a:r>
                <a:r>
                  <a:rPr lang="nl-NL" sz="2400" b="1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unseen</a:t>
                </a:r>
                <a:r>
                  <a:rPr lang="nl-NL" sz="2400" b="1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b="1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values</a:t>
                </a:r>
                <a:r>
                  <a:rPr lang="nl-NL" sz="2400" b="1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themselves</a:t>
                </a:r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:</a:t>
                </a:r>
                <a:endParaRPr lang="en-US" sz="2400" i="1" spc="-1" dirty="0">
                  <a:solidFill>
                    <a:srgbClr val="000000"/>
                  </a:solidFill>
                  <a:latin typeface="Cambria Math" panose="02040503050406030204" pitchFamily="18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360" algn="ctr">
                  <a:lnSpc>
                    <a:spcPct val="200000"/>
                  </a:lnSpc>
                  <a:spcBef>
                    <a:spcPts val="100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Helvetica Neue" panose="02000503000000020004" pitchFamily="2" charset="0"/>
                            <a:cs typeface="Helvetica Neue" panose="02000503000000020004" pitchFamily="2" charset="0"/>
                          </a:rPr>
                          <m:t>Pr</m:t>
                        </m:r>
                      </m:fName>
                      <m:e>
                        <m:d>
                          <m:dPr>
                            <m:endChr m:val="|"/>
                            <m:ctrlPr>
                              <a:rPr lang="en-US" sz="24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</m:ctrlPr>
                          </m:dPr>
                          <m:e>
                            <m:r>
                              <a:rPr lang="en-US" sz="24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𝑀</m:t>
                            </m:r>
                            <m:r>
                              <a:rPr lang="en-US" sz="2400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Helvetica Neue" panose="02000503000000020004" pitchFamily="2" charset="0"/>
                                <a:cs typeface="Helvetica Neue" panose="02000503000000020004" pitchFamily="2" charset="0"/>
                              </a:rPr>
                              <m:t>=1 </m:t>
                            </m:r>
                          </m:e>
                        </m:d>
                      </m:e>
                    </m:func>
                    <m:r>
                      <m:rPr>
                        <m:nor/>
                      </m:rPr>
                      <a:rPr lang="en-US" sz="2400" spc="-1" dirty="0">
                        <a:solidFill>
                          <a:srgbClr val="000000"/>
                        </a:solidFill>
                        <a:latin typeface="Fira Code" panose="020B0809050000020004" pitchFamily="49" charset="0"/>
                        <a:ea typeface="Fira Code" panose="020B0809050000020004" pitchFamily="49" charset="0"/>
                        <a:cs typeface="Helvetica Neue" panose="02000503000000020004" pitchFamily="2" charset="0"/>
                      </a:rPr>
                      <m:t>bmi</m:t>
                    </m:r>
                    <m:r>
                      <m:rPr>
                        <m:nor/>
                      </m:rPr>
                      <a:rPr lang="en-US" sz="2400" spc="-1" dirty="0">
                        <a:solidFill>
                          <a:srgbClr val="000000"/>
                        </a:solidFill>
                        <a:latin typeface="Fira Code" panose="020B0809050000020004" pitchFamily="49" charset="0"/>
                        <a:ea typeface="Fira Code" panose="020B0809050000020004" pitchFamily="49" charset="0"/>
                        <a:cs typeface="Helvetica Neue" panose="02000503000000020004" pitchFamily="2" charset="0"/>
                      </a:rPr>
                      <m:t>_1</m:t>
                    </m:r>
                    <m:r>
                      <a:rPr lang="en-US" sz="24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,</m:t>
                    </m:r>
                    <m:r>
                      <m:rPr>
                        <m:nor/>
                      </m:rPr>
                      <a:rPr lang="en-US" sz="2400" spc="-1" dirty="0" smtClean="0">
                        <a:solidFill>
                          <a:srgbClr val="B723AE"/>
                        </a:solidFill>
                        <a:latin typeface="Fira Code" panose="020B0809050000020004" pitchFamily="49" charset="0"/>
                        <a:ea typeface="Fira Code" panose="020B0809050000020004" pitchFamily="49" charset="0"/>
                        <a:cs typeface="Helvetica Neue" panose="02000503000000020004" pitchFamily="2" charset="0"/>
                      </a:rPr>
                      <m:t>bmi</m:t>
                    </m:r>
                    <m:r>
                      <m:rPr>
                        <m:nor/>
                      </m:rPr>
                      <a:rPr lang="en-US" sz="2400" spc="-1" dirty="0" smtClean="0">
                        <a:solidFill>
                          <a:srgbClr val="B723AE"/>
                        </a:solidFill>
                        <a:latin typeface="Fira Code" panose="020B0809050000020004" pitchFamily="49" charset="0"/>
                        <a:ea typeface="Fira Code" panose="020B0809050000020004" pitchFamily="49" charset="0"/>
                        <a:cs typeface="Helvetica Neue" panose="02000503000000020004" pitchFamily="2" charset="0"/>
                      </a:rPr>
                      <m:t>_2</m:t>
                    </m:r>
                    <m:r>
                      <a:rPr lang="en-US" sz="2400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)</m:t>
                    </m:r>
                  </m:oMath>
                </a14:m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can’t</a:t>
                </a:r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be</a:t>
                </a:r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reduced</a:t>
                </a:r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any</a:t>
                </a:r>
                <a:r>
                  <a:rPr lang="nl-NL" sz="2400" spc="-1" dirty="0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</a:t>
                </a:r>
                <a:r>
                  <a:rPr lang="nl-NL" sz="2400" spc="-1" dirty="0" err="1">
                    <a:solidFill>
                      <a:srgbClr val="000000"/>
                    </a:solidFill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further.</a:t>
                </a:r>
                <a:endParaRPr lang="nl-NL" sz="2400" spc="-1" dirty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514710" indent="-514350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  <a:buFont typeface="+mj-lt"/>
                  <a:buAutoNum type="arabicPeriod"/>
                </a:pPr>
                <a:endParaRPr lang="nl-NL" sz="2400" spc="-1" dirty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514710" indent="-514350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  <a:buFont typeface="+mj-lt"/>
                  <a:buAutoNum type="arabicPeriod"/>
                </a:pPr>
                <a:endParaRPr lang="nl-NL" sz="2400" spc="-1" dirty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:pPr marL="514710" indent="-514350">
                  <a:lnSpc>
                    <a:spcPct val="90000"/>
                  </a:lnSpc>
                  <a:spcBef>
                    <a:spcPts val="1001"/>
                  </a:spcBef>
                  <a:buClr>
                    <a:srgbClr val="000000"/>
                  </a:buClr>
                  <a:buFont typeface="+mj-lt"/>
                  <a:buAutoNum type="arabicPeriod"/>
                </a:pPr>
                <a:endParaRPr lang="nl-NL" sz="2400" b="0" strike="noStrike" spc="-1" dirty="0">
                  <a:solidFill>
                    <a:srgbClr val="000000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>
          <p:sp>
            <p:nvSpPr>
              <p:cNvPr id="119" name="TextShap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80" y="1825560"/>
                <a:ext cx="10515240" cy="5032440"/>
              </a:xfrm>
              <a:prstGeom prst="rect">
                <a:avLst/>
              </a:prstGeom>
              <a:blipFill>
                <a:blip r:embed="rId2"/>
                <a:stretch>
                  <a:fillRect l="-844" t="-17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31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NDD, SDD, UDD</a:t>
            </a:r>
          </a:p>
        </p:txBody>
      </p:sp>
      <p:sp>
        <p:nvSpPr>
          <p:cNvPr id="143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2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NDD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The </a:t>
            </a:r>
            <a:r>
              <a:rPr lang="nl-NL" sz="32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probability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2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2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is </a:t>
            </a:r>
            <a:r>
              <a:rPr lang="nl-NL" sz="32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constant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2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2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all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units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2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SDD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The </a:t>
            </a:r>
            <a:r>
              <a:rPr lang="nl-NL" sz="32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probability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2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2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</a:t>
            </a:r>
            <a:r>
              <a:rPr lang="nl-NL" sz="32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depends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 </a:t>
            </a:r>
            <a:r>
              <a:rPr lang="nl-NL" sz="32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observed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 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2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UDD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The </a:t>
            </a:r>
            <a:r>
              <a:rPr lang="nl-NL" sz="32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probability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2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2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 </a:t>
            </a:r>
            <a:r>
              <a:rPr lang="nl-NL" sz="32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depends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 </a:t>
            </a:r>
            <a:r>
              <a:rPr lang="nl-NL" sz="3200" b="1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</a:t>
            </a:r>
            <a:r>
              <a:rPr lang="nl-NL" sz="32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observed</a:t>
            </a:r>
            <a:r>
              <a:rPr lang="nl-NL" sz="32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2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factors </a:t>
            </a:r>
          </a:p>
        </p:txBody>
      </p:sp>
    </p:spTree>
    <p:extLst>
      <p:ext uri="{BB962C8B-B14F-4D97-AF65-F5344CB8AC3E}">
        <p14:creationId xmlns:p14="http://schemas.microsoft.com/office/powerpoint/2010/main" val="285443270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44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MCAR, MAR, MNAR ????</a:t>
            </a:r>
          </a:p>
        </p:txBody>
      </p:sp>
      <p:sp>
        <p:nvSpPr>
          <p:cNvPr id="141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MCAR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Missing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Completely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 Random (NDD)</a:t>
            </a: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Missing At Random (SDD)</a:t>
            </a: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MNAR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Missing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 Random (UDD)</a:t>
            </a:r>
            <a:endParaRPr lang="nl-NL" sz="28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pc="-1" dirty="0">
                <a:solidFill>
                  <a:srgbClr val="000000"/>
                </a:solidFill>
                <a:highlight>
                  <a:srgbClr val="FFFF00"/>
                </a:highlight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WARNING</a:t>
            </a: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nomenclature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due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Rubin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has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confused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confounded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generations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students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practictioners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Hand’s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(2020)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terms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refer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exact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same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concepts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but have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advantage of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being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intelligible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</a:p>
          <a:p>
            <a:pPr marL="457560" indent="-4572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nl-NL" sz="2800" i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 </a:t>
            </a:r>
            <a:r>
              <a:rPr lang="nl-NL" sz="2800" i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advise</a:t>
            </a:r>
            <a:r>
              <a:rPr lang="nl-NL" sz="2800" i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i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</a:t>
            </a:r>
            <a:r>
              <a:rPr lang="nl-NL" sz="2800" i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i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i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switch </a:t>
            </a:r>
            <a:r>
              <a:rPr lang="nl-NL" sz="2800" i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i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i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Hand’s</a:t>
            </a:r>
            <a:r>
              <a:rPr lang="nl-NL" sz="2800" i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i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terms</a:t>
            </a:r>
            <a:r>
              <a:rPr lang="nl-NL" sz="2800" i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nl-NL" sz="2800" b="0" i="1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4933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6F44C0-89ED-4C3C-9AE2-B1DB092D60D7}"/>
              </a:ext>
            </a:extLst>
          </p:cNvPr>
          <p:cNvSpPr/>
          <p:nvPr/>
        </p:nvSpPr>
        <p:spPr>
          <a:xfrm>
            <a:off x="315617" y="498281"/>
            <a:ext cx="11280035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b="1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Example:</a:t>
            </a:r>
            <a:endParaRPr lang="en-GB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GB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Estimate what would be the </a:t>
            </a:r>
            <a:r>
              <a:rPr lang="en-GB" sz="3200" b="1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average final exam </a:t>
            </a:r>
            <a:r>
              <a:rPr lang="en-GB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score for a school if every student had been examined </a:t>
            </a:r>
          </a:p>
          <a:p>
            <a:endParaRPr lang="en-GB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GB" sz="3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data are:</a:t>
            </a:r>
          </a:p>
          <a:p>
            <a:pPr marL="901700" indent="-457200">
              <a:buFontTx/>
              <a:buChar char="-"/>
            </a:pPr>
            <a:r>
              <a:rPr lang="en-GB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previous test results for all students</a:t>
            </a:r>
          </a:p>
          <a:p>
            <a:pPr marL="901700" indent="-457200">
              <a:buFontTx/>
              <a:buChar char="-"/>
            </a:pPr>
            <a:r>
              <a:rPr lang="en-GB" sz="3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final exam score for those who sat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718245-F642-7043-B673-2F2F9C29BDAD}"/>
              </a:ext>
            </a:extLst>
          </p:cNvPr>
          <p:cNvSpPr txBox="1"/>
          <p:nvPr/>
        </p:nvSpPr>
        <p:spPr>
          <a:xfrm>
            <a:off x="315617" y="6359719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Source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: David Hand</a:t>
            </a:r>
          </a:p>
        </p:txBody>
      </p:sp>
    </p:spTree>
    <p:extLst>
      <p:ext uri="{BB962C8B-B14F-4D97-AF65-F5344CB8AC3E}">
        <p14:creationId xmlns:p14="http://schemas.microsoft.com/office/powerpoint/2010/main" val="792050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A3D7EC-4043-4D08-8E2F-CD1D4A703182}"/>
              </a:ext>
            </a:extLst>
          </p:cNvPr>
          <p:cNvSpPr/>
          <p:nvPr/>
        </p:nvSpPr>
        <p:spPr>
          <a:xfrm>
            <a:off x="811646" y="726397"/>
            <a:ext cx="46493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Complete data</a:t>
            </a:r>
            <a:endParaRPr lang="en-GB" sz="2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9" name="Picture 8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AE0F4BFE-73BD-3284-17DA-357380DAE0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646" y="1961624"/>
            <a:ext cx="8739352" cy="436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77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A3D7EC-4043-4D08-8E2F-CD1D4A703182}"/>
              </a:ext>
            </a:extLst>
          </p:cNvPr>
          <p:cNvSpPr/>
          <p:nvPr/>
        </p:nvSpPr>
        <p:spPr>
          <a:xfrm>
            <a:off x="715736" y="284963"/>
            <a:ext cx="89839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NDD</a:t>
            </a:r>
            <a:r>
              <a:rPr lang="en-GB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 Data-Dependent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(“MCAR”)</a:t>
            </a:r>
            <a:endParaRPr lang="en-GB" sz="1400" dirty="0">
              <a:solidFill>
                <a:schemeClr val="bg2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8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Sickness preventing students from sitting exam</a:t>
            </a:r>
          </a:p>
        </p:txBody>
      </p:sp>
      <p:pic>
        <p:nvPicPr>
          <p:cNvPr id="8" name="Picture 7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3A0EF476-F047-CF7E-ADC2-491028C540A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987" y="4232296"/>
            <a:ext cx="4891690" cy="2445845"/>
          </a:xfrm>
          <a:prstGeom prst="rect">
            <a:avLst/>
          </a:prstGeom>
        </p:spPr>
      </p:pic>
      <p:pic>
        <p:nvPicPr>
          <p:cNvPr id="10" name="Picture 9" descr="A graph with a red line&#10;&#10;AI-generated content may be incorrect.">
            <a:extLst>
              <a:ext uri="{FF2B5EF4-FFF2-40B4-BE49-F238E27FC236}">
                <a16:creationId xmlns:a16="http://schemas.microsoft.com/office/drawing/2014/main" id="{5C1B51CE-9008-BB74-8A19-D00D94FA85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0537" y="4232296"/>
            <a:ext cx="4891690" cy="2445845"/>
          </a:xfrm>
          <a:prstGeom prst="rect">
            <a:avLst/>
          </a:prstGeom>
        </p:spPr>
      </p:pic>
      <p:pic>
        <p:nvPicPr>
          <p:cNvPr id="12" name="Picture 11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B1D33911-2F42-F719-ABBE-E26A825D70B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6832" y="1662186"/>
            <a:ext cx="4891690" cy="244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80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16149-843C-3BE3-8F36-9951A8F3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a red line&#10;&#10;AI-generated content may be incorrect.">
            <a:extLst>
              <a:ext uri="{FF2B5EF4-FFF2-40B4-BE49-F238E27FC236}">
                <a16:creationId xmlns:a16="http://schemas.microsoft.com/office/drawing/2014/main" id="{F0BFB77F-3D20-AA98-767F-25C9BC4D17A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277" y="4231941"/>
            <a:ext cx="4892400" cy="2446200"/>
          </a:xfrm>
          <a:prstGeom prst="rect">
            <a:avLst/>
          </a:prstGeom>
        </p:spPr>
      </p:pic>
      <p:pic>
        <p:nvPicPr>
          <p:cNvPr id="9" name="Picture 8" descr="A graph with a red line&#10;&#10;AI-generated content may be incorrect.">
            <a:extLst>
              <a:ext uri="{FF2B5EF4-FFF2-40B4-BE49-F238E27FC236}">
                <a16:creationId xmlns:a16="http://schemas.microsoft.com/office/drawing/2014/main" id="{8628154A-50C8-D030-6CD9-7F88905C31C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9827" y="4258180"/>
            <a:ext cx="4892400" cy="2446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A02CE6-C136-3638-3B43-EDD14D106BE3}"/>
              </a:ext>
            </a:extLst>
          </p:cNvPr>
          <p:cNvSpPr/>
          <p:nvPr/>
        </p:nvSpPr>
        <p:spPr>
          <a:xfrm>
            <a:off x="715735" y="284963"/>
            <a:ext cx="105828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SDD</a:t>
            </a:r>
            <a:r>
              <a:rPr lang="en-GB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Seen</a:t>
            </a:r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Data-Dependent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(“MAR”)</a:t>
            </a:r>
            <a:endParaRPr lang="en-GB" sz="1400" dirty="0">
              <a:solidFill>
                <a:schemeClr val="bg2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School discouraging students from sitting exam based on previous test</a:t>
            </a:r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F59626C3-F4A3-7195-845F-5AC6CFF1569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0052" y="1811980"/>
            <a:ext cx="4892400" cy="24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113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2A729-900A-87D4-59F3-4855717F9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red line on a black background&#10;&#10;AI-generated content may be incorrect.">
            <a:extLst>
              <a:ext uri="{FF2B5EF4-FFF2-40B4-BE49-F238E27FC236}">
                <a16:creationId xmlns:a16="http://schemas.microsoft.com/office/drawing/2014/main" id="{07631CB8-F7D6-1E58-DB69-A86E641A3F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9827" y="4258180"/>
            <a:ext cx="4892400" cy="2446200"/>
          </a:xfrm>
          <a:prstGeom prst="rect">
            <a:avLst/>
          </a:prstGeom>
        </p:spPr>
      </p:pic>
      <p:pic>
        <p:nvPicPr>
          <p:cNvPr id="15" name="Picture 14" descr="A graph with a red line&#10;&#10;AI-generated content may be incorrect.">
            <a:extLst>
              <a:ext uri="{FF2B5EF4-FFF2-40B4-BE49-F238E27FC236}">
                <a16:creationId xmlns:a16="http://schemas.microsoft.com/office/drawing/2014/main" id="{623AC321-0EB8-3A86-3842-86686ED6299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0052" y="1811980"/>
            <a:ext cx="4892400" cy="2446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AF7D0B-8763-1585-F97D-0FB03279C44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277" y="4258180"/>
            <a:ext cx="4892400" cy="2446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69C105F-C1ED-0763-17E2-EEAE559D216B}"/>
              </a:ext>
            </a:extLst>
          </p:cNvPr>
          <p:cNvSpPr/>
          <p:nvPr/>
        </p:nvSpPr>
        <p:spPr>
          <a:xfrm>
            <a:off x="715735" y="284963"/>
            <a:ext cx="1058288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UDD</a:t>
            </a:r>
            <a:r>
              <a:rPr lang="en-GB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Unseen</a:t>
            </a:r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Data-Dependent </a:t>
            </a:r>
            <a:r>
              <a:rPr lang="en-GB" dirty="0">
                <a:solidFill>
                  <a:schemeClr val="bg2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(“MNAR”)</a:t>
            </a:r>
            <a:endParaRPr lang="en-GB" sz="1400" dirty="0">
              <a:solidFill>
                <a:schemeClr val="bg2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i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Students realised they revised wrong material, so didn’t turn up to sit exam</a:t>
            </a:r>
            <a:endParaRPr lang="en-GB" sz="2800" i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6224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17E5-4D98-6546-BA99-04E3C999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22921"/>
            <a:ext cx="10515240" cy="609398"/>
          </a:xfrm>
        </p:spPr>
        <p:txBody>
          <a:bodyPr/>
          <a:lstStyle/>
          <a:p>
            <a:r>
              <a:rPr lang="en-US" b="1" dirty="0"/>
              <a:t>Practice</a:t>
            </a:r>
          </a:p>
        </p:txBody>
      </p:sp>
      <p:sp>
        <p:nvSpPr>
          <p:cNvPr id="4" name="TextShape 2">
            <a:extLst>
              <a:ext uri="{FF2B5EF4-FFF2-40B4-BE49-F238E27FC236}">
                <a16:creationId xmlns:a16="http://schemas.microsoft.com/office/drawing/2014/main" id="{84310A8C-4899-D841-84B1-1FD0AF150C96}"/>
              </a:ext>
            </a:extLst>
          </p:cNvPr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28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 Is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probably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NDD, SDD, or UDD:</a:t>
            </a: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people’s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income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everybody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answered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But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server log file was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accidentally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deleted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;</a:t>
            </a: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asked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people’s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income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but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rich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did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want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say;</a:t>
            </a: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asked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people’s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income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but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those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university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education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did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want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say. We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only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observe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income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Same as 3, but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now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also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observe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education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nl-NL" sz="28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7331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3431D-D9E2-9440-90E1-66A4DCC77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22921"/>
            <a:ext cx="10515240" cy="609398"/>
          </a:xfrm>
        </p:spPr>
        <p:txBody>
          <a:bodyPr/>
          <a:lstStyle/>
          <a:p>
            <a:r>
              <a:rPr lang="en-US" b="1" dirty="0"/>
              <a:t>Questions</a:t>
            </a:r>
          </a:p>
        </p:txBody>
      </p:sp>
      <p:sp>
        <p:nvSpPr>
          <p:cNvPr id="4" name="TextShape 2">
            <a:extLst>
              <a:ext uri="{FF2B5EF4-FFF2-40B4-BE49-F238E27FC236}">
                <a16:creationId xmlns:a16="http://schemas.microsoft.com/office/drawing/2014/main" id="{4E0F62C4-D95B-F943-8BD7-6A116A57679B}"/>
              </a:ext>
            </a:extLst>
          </p:cNvPr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ow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tell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whether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 are in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280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-data-</a:t>
            </a:r>
            <a:r>
              <a:rPr lang="nl-NL" sz="280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dependent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versus </a:t>
            </a:r>
            <a:r>
              <a:rPr lang="nl-NL" sz="28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seen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-data-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dependent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situation</a:t>
            </a:r>
            <a:r>
              <a:rPr lang="nl-NL" sz="28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endParaRPr lang="nl-NL" sz="28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514710" indent="-51435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tell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whether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 are in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seen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-data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dependent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versus </a:t>
            </a:r>
            <a:r>
              <a:rPr lang="nl-NL" sz="2800" b="1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unseen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-data-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dependent</a:t>
            </a:r>
            <a:r>
              <a:rPr lang="nl-NL" sz="28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28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situation</a:t>
            </a:r>
            <a:r>
              <a:rPr lang="nl-NL" sz="2800" spc="-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589864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973CE-DF92-EF47-AE9A-AD61EFB53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0E305-6A53-224E-9809-3DDD167331D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38080" y="2879137"/>
            <a:ext cx="10515240" cy="457048"/>
          </a:xfrm>
        </p:spPr>
        <p:txBody>
          <a:bodyPr/>
          <a:lstStyle/>
          <a:p>
            <a:pPr marL="0" indent="0">
              <a:buNone/>
            </a:pPr>
            <a:r>
              <a:rPr lang="en-US" sz="3300" b="1" dirty="0"/>
              <a:t>Bias in machine learning due to missing data</a:t>
            </a:r>
          </a:p>
        </p:txBody>
      </p:sp>
    </p:spTree>
    <p:extLst>
      <p:ext uri="{BB962C8B-B14F-4D97-AF65-F5344CB8AC3E}">
        <p14:creationId xmlns:p14="http://schemas.microsoft.com/office/powerpoint/2010/main" val="12662131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9CAFC-0615-DA4D-AA2D-61799DAFD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DF67F-DA4B-1C4A-97F2-6AD7132BCCB5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37E0F-442A-F444-89A3-C4569FE3AB3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04406"/>
            <a:ext cx="12192000" cy="65535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E43144-B328-4744-9191-CA6E82A89F93}"/>
              </a:ext>
            </a:extLst>
          </p:cNvPr>
          <p:cNvSpPr/>
          <p:nvPr/>
        </p:nvSpPr>
        <p:spPr>
          <a:xfrm>
            <a:off x="6372848" y="45014"/>
            <a:ext cx="56720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i="1" dirty="0"/>
              <a:t>Source</a:t>
            </a:r>
            <a:r>
              <a:rPr lang="en-IE" dirty="0"/>
              <a:t>: Shankar et al. (2017). No classification without representation: Assessing geodiversity issues in open data sets for the developing world.</a:t>
            </a:r>
          </a:p>
        </p:txBody>
      </p:sp>
    </p:spTree>
    <p:extLst>
      <p:ext uri="{BB962C8B-B14F-4D97-AF65-F5344CB8AC3E}">
        <p14:creationId xmlns:p14="http://schemas.microsoft.com/office/powerpoint/2010/main" val="1639852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40C9B-C67C-C840-9959-5CD1A5E9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EE6D4-09E8-7044-9E3A-4CF6B9753978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93D3A-C9C6-7748-BC86-8E8CE2A354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875253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0F6C587-9327-9344-A5E1-5ABED8FAA5C2}"/>
              </a:ext>
            </a:extLst>
          </p:cNvPr>
          <p:cNvSpPr/>
          <p:nvPr/>
        </p:nvSpPr>
        <p:spPr>
          <a:xfrm>
            <a:off x="8630782" y="6332594"/>
            <a:ext cx="56720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i="1" dirty="0"/>
              <a:t>Source</a:t>
            </a:r>
            <a:r>
              <a:rPr lang="en-IE" dirty="0"/>
              <a:t>: Shankar et al. (2017). </a:t>
            </a:r>
          </a:p>
        </p:txBody>
      </p:sp>
    </p:spTree>
    <p:extLst>
      <p:ext uri="{BB962C8B-B14F-4D97-AF65-F5344CB8AC3E}">
        <p14:creationId xmlns:p14="http://schemas.microsoft.com/office/powerpoint/2010/main" val="3179945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D859D-14B6-E145-8078-4C9D9E2AD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418223"/>
            <a:ext cx="10515240" cy="1218795"/>
          </a:xfrm>
        </p:spPr>
        <p:txBody>
          <a:bodyPr/>
          <a:lstStyle/>
          <a:p>
            <a:r>
              <a:rPr lang="en-US" dirty="0"/>
              <a:t>Predicting mortality in pneumonia patients coming into the ICU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7D209-9910-C647-B677-4F1F882E43D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38080" y="1893228"/>
            <a:ext cx="10515240" cy="1419876"/>
          </a:xfrm>
        </p:spPr>
        <p:txBody>
          <a:bodyPr/>
          <a:lstStyle/>
          <a:p>
            <a:r>
              <a:rPr lang="en-US" dirty="0"/>
              <a:t>Caruana et al. (2015), KDD</a:t>
            </a:r>
          </a:p>
          <a:p>
            <a:r>
              <a:rPr lang="en-US" dirty="0"/>
              <a:t>Target: mortality, i.e. death (1) or not (0)</a:t>
            </a:r>
          </a:p>
          <a:p>
            <a:r>
              <a:rPr lang="en-US" dirty="0"/>
              <a:t>Data: patients at entry into ICU</a:t>
            </a:r>
          </a:p>
        </p:txBody>
      </p:sp>
    </p:spTree>
    <p:extLst>
      <p:ext uri="{BB962C8B-B14F-4D97-AF65-F5344CB8AC3E}">
        <p14:creationId xmlns:p14="http://schemas.microsoft.com/office/powerpoint/2010/main" val="41032648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86EE4F-20EC-D14E-A111-7A94FBD11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380" y="304914"/>
            <a:ext cx="10515240" cy="553998"/>
          </a:xfrm>
        </p:spPr>
        <p:txBody>
          <a:bodyPr/>
          <a:lstStyle/>
          <a:p>
            <a:r>
              <a:rPr lang="en-US" sz="4000" b="1" dirty="0"/>
              <a:t>Question</a:t>
            </a:r>
            <a:r>
              <a:rPr lang="en-US" sz="4000" dirty="0"/>
              <a:t>: do you see anything surprising?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5D5CDE-FD04-2D47-83A8-823BA54E3F9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86448"/>
            <a:ext cx="12192000" cy="587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057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573A-1A85-9744-BC52-8995A02D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22921"/>
            <a:ext cx="10515240" cy="609398"/>
          </a:xfrm>
        </p:spPr>
        <p:txBody>
          <a:bodyPr/>
          <a:lstStyle/>
          <a:p>
            <a:r>
              <a:rPr lang="en-US" dirty="0"/>
              <a:t>Why </a:t>
            </a:r>
            <a:r>
              <a:rPr lang="en-US" i="1" dirty="0"/>
              <a:t>mean imputation </a:t>
            </a:r>
            <a:r>
              <a:rPr lang="en-US" dirty="0"/>
              <a:t>is a bad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FAD48-B006-E548-B450-11F4A3A0EF6A}"/>
              </a:ext>
            </a:extLst>
          </p:cNvPr>
          <p:cNvSpPr txBox="1"/>
          <p:nvPr/>
        </p:nvSpPr>
        <p:spPr>
          <a:xfrm>
            <a:off x="7360085" y="2890729"/>
            <a:ext cx="48319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</a:t>
            </a: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cross-validated MSE 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the best model after mean imputation?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</a:t>
            </a: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true MSE 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this model for new data?</a:t>
            </a:r>
          </a:p>
        </p:txBody>
      </p:sp>
      <p:pic>
        <p:nvPicPr>
          <p:cNvPr id="8" name="Picture 7" descr="A black line with dots&#10;&#10;AI-generated content may be incorrect.">
            <a:extLst>
              <a:ext uri="{FF2B5EF4-FFF2-40B4-BE49-F238E27FC236}">
                <a16:creationId xmlns:a16="http://schemas.microsoft.com/office/drawing/2014/main" id="{B08739A9-3D8D-7879-B880-DE307893B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0041" y="2360886"/>
            <a:ext cx="2468835" cy="2468835"/>
          </a:xfrm>
          <a:prstGeom prst="rect">
            <a:avLst/>
          </a:prstGeom>
        </p:spPr>
      </p:pic>
      <p:pic>
        <p:nvPicPr>
          <p:cNvPr id="10" name="Picture 9" descr="A black and white image of a cluster of dots&#10;&#10;AI-generated content may be incorrect.">
            <a:extLst>
              <a:ext uri="{FF2B5EF4-FFF2-40B4-BE49-F238E27FC236}">
                <a16:creationId xmlns:a16="http://schemas.microsoft.com/office/drawing/2014/main" id="{2E17299A-C24C-4259-94C8-9D8938133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049" y="2360886"/>
            <a:ext cx="2468835" cy="24688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23D8F9-1DF6-FA3B-8E80-0F1428E31797}"/>
              </a:ext>
            </a:extLst>
          </p:cNvPr>
          <p:cNvSpPr txBox="1"/>
          <p:nvPr/>
        </p:nvSpPr>
        <p:spPr>
          <a:xfrm>
            <a:off x="838080" y="1880846"/>
            <a:ext cx="2944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Before</a:t>
            </a:r>
            <a:r>
              <a:rPr lang="en-US" sz="2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missingness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E3D146-B9A7-71BA-96F2-D1F4DC41356A}"/>
              </a:ext>
            </a:extLst>
          </p:cNvPr>
          <p:cNvSpPr txBox="1"/>
          <p:nvPr/>
        </p:nvSpPr>
        <p:spPr>
          <a:xfrm>
            <a:off x="4008069" y="1880846"/>
            <a:ext cx="3299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After</a:t>
            </a:r>
            <a:r>
              <a:rPr lang="en-US" sz="2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mean imputation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E21209-FE87-9F04-5659-2F776F73D80D}"/>
                  </a:ext>
                </a:extLst>
              </p:cNvPr>
              <p:cNvSpPr txBox="1"/>
              <p:nvPr/>
            </p:nvSpPr>
            <p:spPr>
              <a:xfrm>
                <a:off x="1024048" y="4829721"/>
                <a:ext cx="246883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=2</m:t>
                      </m:r>
                    </m:oMath>
                  </m:oMathPara>
                </a14:m>
                <a:endParaRPr lang="en-US" sz="24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MSE</m:t>
                      </m:r>
                      <m:d>
                        <m:dPr>
                          <m:ctrlPr>
                            <a:rPr lang="en-US" sz="2400" b="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𝑦</m:t>
                          </m:r>
                        </m:e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=1</m:t>
                      </m:r>
                    </m:oMath>
                  </m:oMathPara>
                </a14:m>
                <a:endParaRPr lang="en-US" sz="240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E21209-FE87-9F04-5659-2F776F73D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048" y="4829721"/>
                <a:ext cx="2468835" cy="830997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90866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5C2E-045E-7046-ADE7-48327DBAC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2C66E-B7BB-6640-922F-47179271ACC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303172" y="6492960"/>
            <a:ext cx="4014952" cy="332399"/>
          </a:xfrm>
        </p:spPr>
        <p:txBody>
          <a:bodyPr/>
          <a:lstStyle/>
          <a:p>
            <a:pPr marL="0" indent="0">
              <a:buNone/>
            </a:pPr>
            <a:r>
              <a:rPr lang="en-IE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Image: </a:t>
            </a:r>
            <a:r>
              <a:rPr lang="en-IE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2"/>
              </a:rPr>
              <a:t>Sketchplanations</a:t>
            </a:r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026" name="Picture 2" descr="Looking under the lamppost - Sketchplanations">
            <a:extLst>
              <a:ext uri="{FF2B5EF4-FFF2-40B4-BE49-F238E27FC236}">
                <a16:creationId xmlns:a16="http://schemas.microsoft.com/office/drawing/2014/main" id="{DDDA5D2F-5E0B-F24D-8ADC-B27E86675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0914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F80B6306-6AEC-D845-BCC9-3FC84E6CF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99459" y="2540515"/>
            <a:ext cx="6502400" cy="585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94652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A0976-B8C8-684C-B874-4480E9FD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722921"/>
            <a:ext cx="10515240" cy="609398"/>
          </a:xfrm>
        </p:spPr>
        <p:txBody>
          <a:bodyPr/>
          <a:lstStyle/>
          <a:p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Conclusion</a:t>
            </a:r>
          </a:p>
        </p:txBody>
      </p:sp>
      <p:sp>
        <p:nvSpPr>
          <p:cNvPr id="4" name="TextShape 2">
            <a:extLst>
              <a:ext uri="{FF2B5EF4-FFF2-40B4-BE49-F238E27FC236}">
                <a16:creationId xmlns:a16="http://schemas.microsoft.com/office/drawing/2014/main" id="{E6C124CD-D7AA-3A4A-AA52-A5DA03BDED21}"/>
              </a:ext>
            </a:extLst>
          </p:cNvPr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Missing data are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just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annoying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but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also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bias </a:t>
            </a:r>
            <a:r>
              <a:rPr lang="nl-NL" sz="3000" b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</a:t>
            </a:r>
            <a:r>
              <a:rPr lang="nl-NL" sz="3000" b="1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analysis </a:t>
            </a:r>
          </a:p>
          <a:p>
            <a:pPr marL="685800" lvl="1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000" i="1" spc="-1" dirty="0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Means, Trends, </a:t>
            </a:r>
            <a:r>
              <a:rPr lang="nl-NL" sz="3000" i="1" spc="-1" dirty="0" err="1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Covariances</a:t>
            </a:r>
            <a:r>
              <a:rPr lang="nl-NL" sz="3000" i="1" spc="-1" dirty="0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nl-NL" sz="3000" i="1" spc="-1" dirty="0" err="1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Prediction</a:t>
            </a:r>
            <a:r>
              <a:rPr lang="nl-NL" sz="3000" i="1" spc="-1" dirty="0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i="1" spc="-1" dirty="0" err="1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models</a:t>
            </a:r>
            <a:r>
              <a:rPr lang="nl-NL" sz="3000" i="1" spc="-1" dirty="0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… </a:t>
            </a:r>
            <a:endParaRPr lang="nl-NL" sz="3000" i="1" strike="noStrike" spc="-1" dirty="0">
              <a:solidFill>
                <a:schemeClr val="bg2">
                  <a:lumMod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 have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seen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just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ignoring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removing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missings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doesn’t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usually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solve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</a:t>
            </a:r>
            <a:endParaRPr lang="nl-NL" sz="3000" b="0" strike="noStrike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0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Mean</a:t>
            </a:r>
            <a:r>
              <a:rPr lang="nl-NL" sz="30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imputation</a:t>
            </a:r>
            <a:r>
              <a:rPr lang="nl-NL" sz="30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also</a:t>
            </a:r>
            <a:r>
              <a:rPr lang="nl-NL" sz="30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does </a:t>
            </a:r>
            <a:r>
              <a:rPr lang="nl-NL" sz="30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nl-NL" sz="30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usually</a:t>
            </a:r>
            <a:r>
              <a:rPr lang="nl-NL" sz="30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solve</a:t>
            </a:r>
            <a:r>
              <a:rPr lang="nl-NL" sz="30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nl-NL" sz="3000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</a:t>
            </a:r>
            <a:endParaRPr lang="nl-NL" sz="3000" spc="-1" dirty="0">
              <a:solidFill>
                <a:srgbClr val="000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we </a:t>
            </a:r>
            <a:r>
              <a:rPr lang="nl-NL" sz="3000" i="1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do: </a:t>
            </a:r>
          </a:p>
          <a:p>
            <a:pPr marL="3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nl-NL" sz="3000" i="1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	</a:t>
            </a:r>
            <a:r>
              <a:rPr lang="en-GB" sz="3200" i="1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GB" sz="3200" b="1" i="1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what you do know </a:t>
            </a:r>
            <a:r>
              <a:rPr lang="en-GB" sz="3200" i="1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about </a:t>
            </a:r>
            <a:r>
              <a:rPr lang="en-GB" sz="3200" b="1" i="1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what you don’t know</a:t>
            </a: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will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discussed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nl-NL" sz="3000" b="0" strike="noStrike" spc="-1" dirty="0" err="1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tomorrow</a:t>
            </a:r>
            <a:r>
              <a:rPr lang="nl-NL" sz="3000" b="0" strike="noStrike" spc="-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19D59308-D208-4043-B21E-41416223E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39417" y="5058984"/>
            <a:ext cx="2434488" cy="219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735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D91C41122784458FEA7C846BE4C604" ma:contentTypeVersion="7" ma:contentTypeDescription="Create a new document." ma:contentTypeScope="" ma:versionID="26a54cb8190cf397c4d36c11cb64c865">
  <xsd:schema xmlns:xsd="http://www.w3.org/2001/XMLSchema" xmlns:xs="http://www.w3.org/2001/XMLSchema" xmlns:p="http://schemas.microsoft.com/office/2006/metadata/properties" xmlns:ns2="376e358b-7748-424b-88cd-7ea9e65fc930" targetNamespace="http://schemas.microsoft.com/office/2006/metadata/properties" ma:root="true" ma:fieldsID="97e864662061dac1e25953d247042dee" ns2:_="">
    <xsd:import namespace="376e358b-7748-424b-88cd-7ea9e65fc9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6e358b-7748-424b-88cd-7ea9e65fc9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4180FD-1454-4CDB-BDF9-53B2AF3391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6e358b-7748-424b-88cd-7ea9e65fc9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BB6AF0-6EE7-494E-9BB3-388742CF58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A40065-249F-4E21-B9B8-19C2500BE69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4352</TotalTime>
  <Words>1496</Words>
  <Application>Microsoft Macintosh PowerPoint</Application>
  <PresentationFormat>Widescreen</PresentationFormat>
  <Paragraphs>212</Paragraphs>
  <Slides>45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Fira Code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BMI example</vt:lpstr>
      <vt:lpstr>BMI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Questions</vt:lpstr>
      <vt:lpstr>PowerPoint Presentation</vt:lpstr>
      <vt:lpstr>PowerPoint Presentation</vt:lpstr>
      <vt:lpstr>PowerPoint Presentation</vt:lpstr>
      <vt:lpstr>Predicting mortality in pneumonia patients coming into the ICU</vt:lpstr>
      <vt:lpstr>Question: do you see anything surprising?</vt:lpstr>
      <vt:lpstr>Why mean imputation is a bad idea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Qahtan, A.A.A. (Hakim)</dc:creator>
  <dc:description/>
  <cp:lastModifiedBy>Oberski, D.L. (Daniel)</cp:lastModifiedBy>
  <cp:revision>266</cp:revision>
  <dcterms:created xsi:type="dcterms:W3CDTF">2020-02-17T15:53:26Z</dcterms:created>
  <dcterms:modified xsi:type="dcterms:W3CDTF">2025-10-13T14:07:43Z</dcterms:modified>
  <dc:language>nl-NL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5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39</vt:i4>
  </property>
  <property fmtid="{D5CDD505-2E9C-101B-9397-08002B2CF9AE}" pid="12" name="ContentTypeId">
    <vt:lpwstr>0x0101003FD91C41122784458FEA7C846BE4C604</vt:lpwstr>
  </property>
</Properties>
</file>