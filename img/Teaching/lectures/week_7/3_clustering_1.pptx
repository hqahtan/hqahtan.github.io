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6"/>
  </p:notesMasterIdLst>
  <p:sldIdLst>
    <p:sldId id="256" r:id="rId5"/>
    <p:sldId id="257" r:id="rId6"/>
    <p:sldId id="259" r:id="rId7"/>
    <p:sldId id="333" r:id="rId8"/>
    <p:sldId id="266" r:id="rId9"/>
    <p:sldId id="277" r:id="rId10"/>
    <p:sldId id="318" r:id="rId11"/>
    <p:sldId id="267" r:id="rId12"/>
    <p:sldId id="286" r:id="rId13"/>
    <p:sldId id="323" r:id="rId14"/>
    <p:sldId id="340" r:id="rId15"/>
    <p:sldId id="314" r:id="rId16"/>
    <p:sldId id="275" r:id="rId17"/>
    <p:sldId id="280" r:id="rId18"/>
    <p:sldId id="270" r:id="rId19"/>
    <p:sldId id="271" r:id="rId20"/>
    <p:sldId id="272" r:id="rId21"/>
    <p:sldId id="282" r:id="rId22"/>
    <p:sldId id="283" r:id="rId23"/>
    <p:sldId id="319" r:id="rId24"/>
    <p:sldId id="321" r:id="rId25"/>
    <p:sldId id="281" r:id="rId26"/>
    <p:sldId id="320" r:id="rId27"/>
    <p:sldId id="285" r:id="rId28"/>
    <p:sldId id="322" r:id="rId29"/>
    <p:sldId id="274" r:id="rId30"/>
    <p:sldId id="278" r:id="rId31"/>
    <p:sldId id="287" r:id="rId32"/>
    <p:sldId id="291" r:id="rId33"/>
    <p:sldId id="294" r:id="rId34"/>
    <p:sldId id="315" r:id="rId35"/>
    <p:sldId id="309" r:id="rId36"/>
    <p:sldId id="307" r:id="rId37"/>
    <p:sldId id="306" r:id="rId38"/>
    <p:sldId id="305" r:id="rId39"/>
    <p:sldId id="304" r:id="rId40"/>
    <p:sldId id="303" r:id="rId41"/>
    <p:sldId id="302" r:id="rId42"/>
    <p:sldId id="301" r:id="rId43"/>
    <p:sldId id="300" r:id="rId44"/>
    <p:sldId id="299" r:id="rId45"/>
    <p:sldId id="298" r:id="rId46"/>
    <p:sldId id="336" r:id="rId47"/>
    <p:sldId id="337" r:id="rId48"/>
    <p:sldId id="338" r:id="rId49"/>
    <p:sldId id="335" r:id="rId50"/>
    <p:sldId id="292" r:id="rId51"/>
    <p:sldId id="295" r:id="rId52"/>
    <p:sldId id="324" r:id="rId53"/>
    <p:sldId id="325" r:id="rId54"/>
    <p:sldId id="313" r:id="rId55"/>
    <p:sldId id="312" r:id="rId56"/>
    <p:sldId id="293" r:id="rId57"/>
    <p:sldId id="326" r:id="rId58"/>
    <p:sldId id="327" r:id="rId59"/>
    <p:sldId id="332" r:id="rId60"/>
    <p:sldId id="329" r:id="rId61"/>
    <p:sldId id="330" r:id="rId62"/>
    <p:sldId id="331" r:id="rId63"/>
    <p:sldId id="339" r:id="rId64"/>
    <p:sldId id="279" r:id="rId6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steren, E. van (Erik-Jan)" initials="KEv(" lastIdx="3" clrIdx="0">
    <p:extLst>
      <p:ext uri="{19B8F6BF-5375-455C-9EA6-DF929625EA0E}">
        <p15:presenceInfo xmlns:p15="http://schemas.microsoft.com/office/powerpoint/2012/main" userId="Kesteren, E. van (Erik-Jan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0" autoAdjust="0"/>
    <p:restoredTop sz="94720"/>
  </p:normalViewPr>
  <p:slideViewPr>
    <p:cSldViewPr snapToGrid="0">
      <p:cViewPr varScale="1">
        <p:scale>
          <a:sx n="105" d="100"/>
          <a:sy n="105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17-10-2025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Mentimeter</a:t>
            </a:r>
            <a:r>
              <a:rPr lang="en-US" dirty="0"/>
              <a:t>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75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Linkage is a </a:t>
            </a:r>
            <a:r>
              <a:rPr lang="en-US" dirty="0" err="1"/>
              <a:t>hypoerparameter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260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mentimeter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5356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9486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 compression -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9096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 compression -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8575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menti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881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Tradeoff compression -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3790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60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017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2F29F-60CE-435D-911D-C4361140EDDE}" type="datetimeFigureOut">
              <a:rPr lang="nl-NL" smtClean="0"/>
              <a:t>17-10-2025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daob.nl/wp-content/papercite-data/pdf/oberski2016mixturemodels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arxiv.org/pdf/1503.02059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quantdare.com/hierarchical-clusterin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quantdare.com/hierarchical-clustering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enti.com/uf9b1miv22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enti.com/uf9b1miv22" TargetMode="Externa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quantdare.com/hierarchical-clustering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38.png"/><Relationship Id="rId7" Type="http://schemas.openxmlformats.org/officeDocument/2006/relationships/image" Target="../media/image36.png"/><Relationship Id="rId12" Type="http://schemas.openxmlformats.org/officeDocument/2006/relationships/image" Target="../media/image33.png"/><Relationship Id="rId17" Type="http://schemas.openxmlformats.org/officeDocument/2006/relationships/hyperlink" Target="https://www.menti.com/uf9b1miv22" TargetMode="Externa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5" Type="http://schemas.openxmlformats.org/officeDocument/2006/relationships/image" Target="../media/image42.emf"/><Relationship Id="rId10" Type="http://schemas.openxmlformats.org/officeDocument/2006/relationships/image" Target="../media/image35.png"/><Relationship Id="rId4" Type="http://schemas.openxmlformats.org/officeDocument/2006/relationships/image" Target="../media/image41.jpg"/><Relationship Id="rId9" Type="http://schemas.openxmlformats.org/officeDocument/2006/relationships/image" Target="../media/image30.png"/><Relationship Id="rId1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503.02059.pdf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csda.2006.11.025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enti.com/uf9b1miv22" TargetMode="External"/><Relationship Id="rId4" Type="http://schemas.openxmlformats.org/officeDocument/2006/relationships/image" Target="../media/image61.tif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067778" y="5316032"/>
            <a:ext cx="6059598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Oberski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Erik-Jan van Kesteren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407508" y="5754848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Methodology &amp; Statistics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Clustering: 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week</a:t>
            </a:r>
          </a:p>
        </p:txBody>
      </p:sp>
      <p:sp>
        <p:nvSpPr>
          <p:cNvPr id="8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1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Problems with missing data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2: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Solutions to problems with missing data</a:t>
            </a: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3</a:t>
            </a:r>
            <a:r>
              <a:rPr lang="nl-NL" sz="2800" b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Clustering</a:t>
            </a:r>
            <a:endParaRPr lang="nl-NL" sz="28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166E-51CC-4BF1-96C6-58186676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materials about </a:t>
            </a:r>
            <a:br>
              <a:rPr lang="en-GB" dirty="0"/>
            </a:br>
            <a:r>
              <a:rPr lang="en-GB" dirty="0"/>
              <a:t>clustering (this week &amp; next)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58F44-8295-44CF-84A8-4A42669FA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9484" cy="4351338"/>
          </a:xfrm>
        </p:spPr>
        <p:txBody>
          <a:bodyPr>
            <a:normAutofit/>
          </a:bodyPr>
          <a:lstStyle/>
          <a:p>
            <a:r>
              <a:rPr lang="en-US" dirty="0"/>
              <a:t>Selected paragraphs from </a:t>
            </a:r>
            <a:r>
              <a:rPr lang="en-US" b="1" dirty="0"/>
              <a:t>Introduction to Statistical Learning (ISLR) </a:t>
            </a:r>
            <a:r>
              <a:rPr lang="en-GB" dirty="0"/>
              <a:t>§12.1 and 12.4</a:t>
            </a:r>
          </a:p>
          <a:p>
            <a:endParaRPr lang="en-GB" dirty="0"/>
          </a:p>
          <a:p>
            <a:r>
              <a:rPr lang="en-GB" dirty="0"/>
              <a:t>“Mixture models: latent profile and latent class analysis” </a:t>
            </a:r>
            <a:r>
              <a:rPr lang="en-GB" sz="2400" dirty="0"/>
              <a:t>[</a:t>
            </a:r>
            <a:r>
              <a:rPr lang="en-GB" sz="2400" dirty="0" err="1"/>
              <a:t>Oberski</a:t>
            </a:r>
            <a:r>
              <a:rPr lang="en-GB" sz="2400" dirty="0"/>
              <a:t>, 2016]</a:t>
            </a:r>
            <a:r>
              <a:rPr lang="en-GB" dirty="0"/>
              <a:t> §1, §2</a:t>
            </a:r>
          </a:p>
          <a:p>
            <a:r>
              <a:rPr lang="en-GB" dirty="0">
                <a:hlinkClick r:id="rId2"/>
              </a:rPr>
              <a:t>http://daob.nl/wp-content/papercite-data/pdf/oberski2016mixturemodels.pdf</a:t>
            </a:r>
            <a:r>
              <a:rPr lang="en-GB" dirty="0"/>
              <a:t> </a:t>
            </a:r>
          </a:p>
        </p:txBody>
      </p:sp>
      <p:pic>
        <p:nvPicPr>
          <p:cNvPr id="1026" name="Picture 2" descr="N] The 2nd edition of An Introduction to Statistical Learning (ISLR) has  officially been published (with PDF freely available): MachineLearning">
            <a:extLst>
              <a:ext uri="{FF2B5EF4-FFF2-40B4-BE49-F238E27FC236}">
                <a16:creationId xmlns:a16="http://schemas.microsoft.com/office/drawing/2014/main" id="{C585419D-97F8-A144-BF3A-3FAF0F7B5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0063" y="0"/>
            <a:ext cx="40719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55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5476-9DED-1047-B551-C35F1A62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Optional</a:t>
            </a:r>
            <a:r>
              <a:rPr lang="en-US" dirty="0"/>
              <a:t>, much more in-depth material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E7B11-6F9C-D542-86ED-0E361BCA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i="1" dirty="0"/>
              <a:t>Clustering strategy and method selection (</a:t>
            </a:r>
            <a:r>
              <a:rPr lang="en-US" sz="3000" i="1" dirty="0" err="1"/>
              <a:t>ch.</a:t>
            </a:r>
            <a:r>
              <a:rPr lang="en-US" sz="3000" i="1" dirty="0"/>
              <a:t> 31), </a:t>
            </a:r>
            <a:r>
              <a:rPr lang="en-US" sz="2400" i="1" dirty="0">
                <a:hlinkClick r:id="rId2"/>
              </a:rPr>
              <a:t>https://arxiv.org/pdf/1503.02059.pdf</a:t>
            </a:r>
            <a:r>
              <a:rPr lang="en-US" sz="3000" i="1" dirty="0"/>
              <a:t>  </a:t>
            </a:r>
          </a:p>
          <a:p>
            <a:pPr marL="0" indent="0">
              <a:buNone/>
            </a:pPr>
            <a:r>
              <a:rPr lang="en-US" sz="3000" i="1" dirty="0"/>
              <a:t>Handbook of Cluster Analysis </a:t>
            </a:r>
          </a:p>
          <a:p>
            <a:pPr marL="0" indent="0">
              <a:buNone/>
            </a:pPr>
            <a:r>
              <a:rPr lang="en-US" sz="3000" i="1" dirty="0"/>
              <a:t>	</a:t>
            </a:r>
            <a:r>
              <a:rPr lang="en-US" sz="3000" dirty="0"/>
              <a:t>Hennig et al. (2016)</a:t>
            </a:r>
          </a:p>
          <a:p>
            <a:pPr marL="0" indent="0">
              <a:buNone/>
            </a:pPr>
            <a:endParaRPr lang="en-US" sz="3000" i="1" dirty="0"/>
          </a:p>
          <a:p>
            <a:pPr marL="0" indent="0">
              <a:buNone/>
            </a:pPr>
            <a:r>
              <a:rPr lang="en-US" sz="3000" i="1" dirty="0"/>
              <a:t>Model-based Clustering and </a:t>
            </a:r>
          </a:p>
          <a:p>
            <a:pPr marL="457200" lvl="1" indent="0">
              <a:buNone/>
            </a:pPr>
            <a:r>
              <a:rPr lang="en-US" sz="3000" i="1" dirty="0"/>
              <a:t>Classification for Data Science</a:t>
            </a:r>
          </a:p>
          <a:p>
            <a:pPr marL="457200" lvl="1" indent="0">
              <a:buNone/>
            </a:pPr>
            <a:r>
              <a:rPr lang="en-US" sz="3000" dirty="0" err="1"/>
              <a:t>Bouveyron</a:t>
            </a:r>
            <a:r>
              <a:rPr lang="en-US" sz="3000" dirty="0"/>
              <a:t> et al. (2018)</a:t>
            </a:r>
          </a:p>
          <a:p>
            <a:pPr marL="0" indent="0">
              <a:buNone/>
            </a:pPr>
            <a:endParaRPr lang="en-US" sz="3000" dirty="0"/>
          </a:p>
        </p:txBody>
      </p:sp>
      <p:pic>
        <p:nvPicPr>
          <p:cNvPr id="1026" name="Picture 2" descr="Amazon.com: Handbook of Cluster Analysis (Chapman &amp; Hall/CRC Handbooks of  Modern Statistical Methods) (9781466551886): Hennig, Christian, Meila,  Marina, Murtagh, Fionn, Rocci, Roberto: Books">
            <a:extLst>
              <a:ext uri="{FF2B5EF4-FFF2-40B4-BE49-F238E27FC236}">
                <a16:creationId xmlns:a16="http://schemas.microsoft.com/office/drawing/2014/main" id="{1633360A-F47D-ED4E-8415-F4DAD9016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839" y="2552381"/>
            <a:ext cx="292995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Model-Based Clustering and Classification for Data Science:  With Applications in R (Cambridge Series in Statistical and Probabilistic  Mathematics) (9781108494205): Bouveyron, Charles, Celeux, Gilles, Murphy,  T. Brendan, Raftery, Adrian E ...">
            <a:extLst>
              <a:ext uri="{FF2B5EF4-FFF2-40B4-BE49-F238E27FC236}">
                <a16:creationId xmlns:a16="http://schemas.microsoft.com/office/drawing/2014/main" id="{8F07E187-A086-C94C-B021-22D569C10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798" y="2552381"/>
            <a:ext cx="307820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92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4B28-DB88-4487-A9CD-7A7D53050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077"/>
            <a:ext cx="10515600" cy="1325563"/>
          </a:xfrm>
        </p:spPr>
        <p:txBody>
          <a:bodyPr/>
          <a:lstStyle/>
          <a:p>
            <a:r>
              <a:rPr lang="nl-NL" dirty="0"/>
              <a:t>Clustering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0671-FBAC-42AE-8487-15D55EDB6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13117"/>
            <a:ext cx="10515600" cy="494607"/>
          </a:xfrm>
        </p:spPr>
        <p:txBody>
          <a:bodyPr/>
          <a:lstStyle/>
          <a:p>
            <a:pPr marL="0" indent="0">
              <a:buNone/>
            </a:pPr>
            <a:r>
              <a:rPr lang="nl-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Find</a:t>
            </a:r>
            <a:r>
              <a:rPr lang="nl-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subgroups</a:t>
            </a:r>
            <a:r>
              <a:rPr lang="nl-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(clusters) of </a:t>
            </a:r>
            <a:r>
              <a:rPr lang="nl-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similar</a:t>
            </a:r>
            <a:r>
              <a:rPr lang="nl-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examples</a:t>
            </a:r>
            <a:r>
              <a:rPr lang="nl-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a database</a:t>
            </a:r>
          </a:p>
        </p:txBody>
      </p:sp>
    </p:spTree>
    <p:extLst>
      <p:ext uri="{BB962C8B-B14F-4D97-AF65-F5344CB8AC3E}">
        <p14:creationId xmlns:p14="http://schemas.microsoft.com/office/powerpoint/2010/main" val="376524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F07B-4C3C-44D7-95DD-D774E0F7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clustering?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8F28-25D3-4BF9-95EA-1426A25F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Unsupervised: expect groups in our data, but were not able to measure them</a:t>
            </a:r>
          </a:p>
          <a:p>
            <a:pPr lvl="1"/>
            <a:r>
              <a:rPr lang="en-US" dirty="0"/>
              <a:t>potential new subtypes of cancer tissue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We want to summarize features into a categorical feature to use in further decisions/analysis</a:t>
            </a:r>
          </a:p>
          <a:p>
            <a:pPr lvl="1"/>
            <a:r>
              <a:rPr lang="en-US" dirty="0"/>
              <a:t>subgrouping customers by their spending types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642BE-5223-8E40-9B1F-D880FAC92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 of clustering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54E7E-53DF-4B4C-BE18-944BFED3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240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E" dirty="0"/>
              <a:t>Intermediate step for other fundamental data mining problems</a:t>
            </a:r>
          </a:p>
          <a:p>
            <a:r>
              <a:rPr lang="en-IE" dirty="0"/>
              <a:t>Collaborative filtering</a:t>
            </a:r>
          </a:p>
          <a:p>
            <a:r>
              <a:rPr lang="en-IE" dirty="0"/>
              <a:t>Customer segmentation</a:t>
            </a:r>
          </a:p>
          <a:p>
            <a:r>
              <a:rPr lang="en-IE" dirty="0"/>
              <a:t>Data summarization</a:t>
            </a:r>
          </a:p>
          <a:p>
            <a:r>
              <a:rPr lang="en-IE" dirty="0"/>
              <a:t>Dynamic trend detection</a:t>
            </a:r>
          </a:p>
          <a:p>
            <a:r>
              <a:rPr lang="en-IE" dirty="0"/>
              <a:t>Multimedia data analysis</a:t>
            </a:r>
          </a:p>
          <a:p>
            <a:r>
              <a:rPr lang="en-IE" dirty="0"/>
              <a:t>Biological data analysis</a:t>
            </a:r>
          </a:p>
          <a:p>
            <a:r>
              <a:rPr lang="en-IE" dirty="0"/>
              <a:t>Social network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81B4A-ED98-F64C-A438-4E9A7366FCC0}"/>
              </a:ext>
            </a:extLst>
          </p:cNvPr>
          <p:cNvSpPr txBox="1"/>
          <p:nvPr/>
        </p:nvSpPr>
        <p:spPr>
          <a:xfrm>
            <a:off x="9605715" y="6492875"/>
            <a:ext cx="258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Aggarwal &amp; Reddy (2019)</a:t>
            </a:r>
          </a:p>
        </p:txBody>
      </p:sp>
    </p:spTree>
    <p:extLst>
      <p:ext uri="{BB962C8B-B14F-4D97-AF65-F5344CB8AC3E}">
        <p14:creationId xmlns:p14="http://schemas.microsoft.com/office/powerpoint/2010/main" val="241511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photo, white, black, large&#10;&#10;Description automatically generated">
            <a:extLst>
              <a:ext uri="{FF2B5EF4-FFF2-40B4-BE49-F238E27FC236}">
                <a16:creationId xmlns:a16="http://schemas.microsoft.com/office/drawing/2014/main" id="{2777D326-AB47-4D44-A67C-AD2E75B26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982" y="1825182"/>
            <a:ext cx="6835487" cy="4556991"/>
          </a:xfrm>
        </p:spPr>
      </p:pic>
      <p:pic>
        <p:nvPicPr>
          <p:cNvPr id="6" name="Content Placeholder 4" descr="A group of clouds in the sky&#10;&#10;Description automatically generated">
            <a:extLst>
              <a:ext uri="{FF2B5EF4-FFF2-40B4-BE49-F238E27FC236}">
                <a16:creationId xmlns:a16="http://schemas.microsoft.com/office/drawing/2014/main" id="{44CF92A2-5673-4263-BEE1-32992F877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2" y="0"/>
            <a:ext cx="457581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AB5F1-08C2-4719-847D-14CE7BE5AC17}"/>
              </a:ext>
            </a:extLst>
          </p:cNvPr>
          <p:cNvSpPr txBox="1"/>
          <p:nvPr/>
        </p:nvSpPr>
        <p:spPr>
          <a:xfrm>
            <a:off x="5223795" y="475827"/>
            <a:ext cx="6506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dirty="0"/>
              <a:t>Old </a:t>
            </a:r>
            <a:r>
              <a:rPr lang="nl-NL" sz="3200" dirty="0" err="1"/>
              <a:t>Faithful</a:t>
            </a:r>
            <a:r>
              <a:rPr lang="nl-NL" sz="3200" dirty="0"/>
              <a:t>: </a:t>
            </a:r>
            <a:r>
              <a:rPr lang="nl-NL" sz="3200" dirty="0" err="1"/>
              <a:t>two</a:t>
            </a:r>
            <a:r>
              <a:rPr lang="nl-NL" sz="3200" dirty="0"/>
              <a:t> types of </a:t>
            </a:r>
            <a:r>
              <a:rPr lang="nl-NL" sz="3200" dirty="0" err="1"/>
              <a:t>eruption</a:t>
            </a:r>
            <a:r>
              <a:rPr lang="nl-NL" sz="3200" dirty="0"/>
              <a:t>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1392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77D326-AB47-4D44-A67C-AD2E75B26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982" y="1825182"/>
            <a:ext cx="6835487" cy="4556990"/>
          </a:xfrm>
        </p:spPr>
      </p:pic>
      <p:pic>
        <p:nvPicPr>
          <p:cNvPr id="6" name="Content Placeholder 4" descr="A group of clouds in the sky&#10;&#10;Description automatically generated">
            <a:extLst>
              <a:ext uri="{FF2B5EF4-FFF2-40B4-BE49-F238E27FC236}">
                <a16:creationId xmlns:a16="http://schemas.microsoft.com/office/drawing/2014/main" id="{44CF92A2-5673-4263-BEE1-32992F877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42" y="0"/>
            <a:ext cx="457581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5AB5F1-08C2-4719-847D-14CE7BE5AC17}"/>
              </a:ext>
            </a:extLst>
          </p:cNvPr>
          <p:cNvSpPr txBox="1"/>
          <p:nvPr/>
        </p:nvSpPr>
        <p:spPr>
          <a:xfrm>
            <a:off x="5223795" y="475827"/>
            <a:ext cx="6506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3200" dirty="0"/>
              <a:t>Old </a:t>
            </a:r>
            <a:r>
              <a:rPr lang="nl-NL" sz="3200" dirty="0" err="1"/>
              <a:t>Faithful</a:t>
            </a:r>
            <a:r>
              <a:rPr lang="nl-NL" sz="3200" dirty="0"/>
              <a:t>: </a:t>
            </a:r>
            <a:r>
              <a:rPr lang="nl-NL" sz="3200" dirty="0" err="1"/>
              <a:t>two</a:t>
            </a:r>
            <a:r>
              <a:rPr lang="nl-NL" sz="3200" dirty="0"/>
              <a:t> types of </a:t>
            </a:r>
            <a:r>
              <a:rPr lang="nl-NL" sz="3200" dirty="0" err="1"/>
              <a:t>eruption</a:t>
            </a:r>
            <a:r>
              <a:rPr lang="nl-NL" sz="3200" dirty="0"/>
              <a:t>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29650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B3E9-E298-464E-826D-1B4CD73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Clustering</a:t>
            </a:r>
            <a:r>
              <a:rPr lang="en-GB" dirty="0"/>
              <a:t>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4B16C-4ABD-9B46-8524-71F26485C923}"/>
              </a:ext>
            </a:extLst>
          </p:cNvPr>
          <p:cNvSpPr txBox="1"/>
          <p:nvPr/>
        </p:nvSpPr>
        <p:spPr>
          <a:xfrm>
            <a:off x="7602594" y="6211669"/>
            <a:ext cx="4649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Source: T. Fuertes</a:t>
            </a:r>
          </a:p>
          <a:p>
            <a:r>
              <a:rPr lang="en-US" i="1" dirty="0">
                <a:hlinkClick r:id="rId2"/>
              </a:rPr>
              <a:t>https://quantdare.com/hierarchical-clustering/</a:t>
            </a:r>
            <a:r>
              <a:rPr lang="en-US" i="1" dirty="0"/>
              <a:t> </a:t>
            </a:r>
          </a:p>
        </p:txBody>
      </p:sp>
      <p:pic>
        <p:nvPicPr>
          <p:cNvPr id="2050" name="Picture 2" descr="HierarPartClustering">
            <a:extLst>
              <a:ext uri="{FF2B5EF4-FFF2-40B4-BE49-F238E27FC236}">
                <a16:creationId xmlns:a16="http://schemas.microsoft.com/office/drawing/2014/main" id="{A479D0CF-4D8F-334E-ABA6-DAAF0D230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7711"/>
            <a:ext cx="12254204" cy="468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4142FA-0D2F-2E45-9953-ECF06B7EF99D}"/>
              </a:ext>
            </a:extLst>
          </p:cNvPr>
          <p:cNvSpPr/>
          <p:nvPr/>
        </p:nvSpPr>
        <p:spPr>
          <a:xfrm>
            <a:off x="5876925" y="1457325"/>
            <a:ext cx="6315075" cy="540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3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1193BE-3307-8343-9741-D3A772E6F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577850"/>
            <a:ext cx="11722100" cy="5702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23BF2A-CEA3-4A47-AA5F-D117815744DF}"/>
              </a:ext>
            </a:extLst>
          </p:cNvPr>
          <p:cNvSpPr txBox="1"/>
          <p:nvPr/>
        </p:nvSpPr>
        <p:spPr>
          <a:xfrm>
            <a:off x="6640224" y="6488668"/>
            <a:ext cx="555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</a:t>
            </a:r>
            <a:r>
              <a:rPr lang="en-US" dirty="0"/>
              <a:t>: Hennig et al. (2015) </a:t>
            </a:r>
            <a:r>
              <a:rPr lang="en-US" i="1" dirty="0"/>
              <a:t>Handbook of cluster analysis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0634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ggloDivHierarClustering">
            <a:extLst>
              <a:ext uri="{FF2B5EF4-FFF2-40B4-BE49-F238E27FC236}">
                <a16:creationId xmlns:a16="http://schemas.microsoft.com/office/drawing/2014/main" id="{81B027AE-899A-CC43-A48E-716D9BFFB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93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6BED0D-E598-B044-895D-75569F7DC21D}"/>
              </a:ext>
            </a:extLst>
          </p:cNvPr>
          <p:cNvSpPr txBox="1"/>
          <p:nvPr/>
        </p:nvSpPr>
        <p:spPr>
          <a:xfrm>
            <a:off x="7542009" y="6211669"/>
            <a:ext cx="4649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i="1" dirty="0"/>
              <a:t>Source: T. Fuertes</a:t>
            </a:r>
          </a:p>
          <a:p>
            <a:pPr algn="r"/>
            <a:r>
              <a:rPr lang="en-US" i="1" dirty="0">
                <a:hlinkClick r:id="rId3"/>
              </a:rPr>
              <a:t>https://quantdare.com/hierarchical-clustering/</a:t>
            </a:r>
            <a:r>
              <a:rPr lang="en-US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2357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B3E9-E298-464E-826D-1B4CD73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65078-1096-4953-A59E-68289473F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i="1" dirty="0"/>
              <a:t>Bottom-up agglomerative clustering</a:t>
            </a:r>
          </a:p>
          <a:p>
            <a:r>
              <a:rPr lang="en-GB" dirty="0"/>
              <a:t>For each observation, compute the </a:t>
            </a:r>
            <a:r>
              <a:rPr lang="en-GB" i="1" dirty="0">
                <a:solidFill>
                  <a:schemeClr val="accent1"/>
                </a:solidFill>
              </a:rPr>
              <a:t>distance</a:t>
            </a:r>
            <a:r>
              <a:rPr lang="en-GB" i="1" dirty="0"/>
              <a:t> </a:t>
            </a:r>
            <a:r>
              <a:rPr lang="en-GB" dirty="0"/>
              <a:t>to all other observations</a:t>
            </a:r>
            <a:endParaRPr lang="en-GB" i="1" dirty="0"/>
          </a:p>
          <a:p>
            <a:r>
              <a:rPr lang="en-GB" dirty="0"/>
              <a:t>Assign all examples to their individual cluster</a:t>
            </a:r>
          </a:p>
          <a:p>
            <a:r>
              <a:rPr lang="en-GB" dirty="0"/>
              <a:t>Combine </a:t>
            </a:r>
            <a:r>
              <a:rPr lang="en-GB" i="1" dirty="0">
                <a:solidFill>
                  <a:schemeClr val="accent1"/>
                </a:solidFill>
              </a:rPr>
              <a:t>most similar </a:t>
            </a:r>
            <a:r>
              <a:rPr lang="en-GB" dirty="0"/>
              <a:t>clusters</a:t>
            </a:r>
          </a:p>
          <a:p>
            <a:r>
              <a:rPr lang="en-GB" dirty="0"/>
              <a:t>Keep combining clusters until there is only one cluster left</a:t>
            </a:r>
          </a:p>
          <a:p>
            <a:r>
              <a:rPr lang="en-GB" dirty="0"/>
              <a:t>Select number of clusters for the final solution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i="1" dirty="0">
                <a:solidFill>
                  <a:schemeClr val="bg2">
                    <a:lumMod val="50000"/>
                  </a:schemeClr>
                </a:solidFill>
              </a:rPr>
              <a:t>(Divisive: start with </a:t>
            </a:r>
            <a:r>
              <a:rPr lang="en-GB" b="1" i="1" dirty="0">
                <a:solidFill>
                  <a:schemeClr val="bg2">
                    <a:lumMod val="50000"/>
                  </a:schemeClr>
                </a:solidFill>
              </a:rPr>
              <a:t>one</a:t>
            </a:r>
            <a:r>
              <a:rPr lang="en-GB" i="1" dirty="0">
                <a:solidFill>
                  <a:schemeClr val="bg2">
                    <a:lumMod val="50000"/>
                  </a:schemeClr>
                </a:solidFill>
              </a:rPr>
              <a:t> cluster and keep splitting most </a:t>
            </a:r>
            <a:r>
              <a:rPr lang="en-GB" b="1" i="1" dirty="0">
                <a:solidFill>
                  <a:schemeClr val="bg2">
                    <a:lumMod val="50000"/>
                  </a:schemeClr>
                </a:solidFill>
              </a:rPr>
              <a:t>different</a:t>
            </a:r>
            <a:r>
              <a:rPr lang="en-GB" i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5358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A945-CA32-4F80-8330-773DE1651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1ED5C-FC9C-4758-B7CB-FBDE7F3CF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In </a:t>
            </a:r>
            <a:r>
              <a:rPr lang="nl-NL" dirty="0">
                <a:latin typeface="Courier" pitchFamily="2" charset="0"/>
              </a:rPr>
              <a:t>R</a:t>
            </a:r>
            <a:r>
              <a:rPr lang="nl-NL" dirty="0"/>
              <a:t>: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Then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plot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dendrogram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sz="2400" dirty="0">
                <a:latin typeface="Consolas" panose="020B0609020204030204" pitchFamily="49" charset="0"/>
              </a:rPr>
              <a:t>plot() </a:t>
            </a:r>
            <a:r>
              <a:rPr lang="nl-NL" dirty="0"/>
              <a:t>or </a:t>
            </a:r>
            <a:r>
              <a:rPr lang="nl-NL" sz="2400" dirty="0" err="1">
                <a:latin typeface="Consolas" panose="020B0609020204030204" pitchFamily="49" charset="0"/>
              </a:rPr>
              <a:t>ggdendrogram</a:t>
            </a:r>
            <a:endParaRPr lang="nl-NL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Then</a:t>
            </a:r>
            <a:r>
              <a:rPr lang="nl-NL" dirty="0"/>
              <a:t>, select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number</a:t>
            </a:r>
            <a:r>
              <a:rPr lang="nl-NL" dirty="0"/>
              <a:t> of clusters </a:t>
            </a:r>
            <a:r>
              <a:rPr lang="nl-NL" dirty="0" err="1"/>
              <a:t>using</a:t>
            </a:r>
            <a:r>
              <a:rPr lang="nl-NL" dirty="0"/>
              <a:t> a cutoff point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80324-A901-4ED5-93DE-FF5A911F3A4A}"/>
              </a:ext>
            </a:extLst>
          </p:cNvPr>
          <p:cNvSpPr txBox="1"/>
          <p:nvPr/>
        </p:nvSpPr>
        <p:spPr>
          <a:xfrm>
            <a:off x="921327" y="2286000"/>
            <a:ext cx="8312729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distances</a:t>
            </a:r>
            <a:r>
              <a:rPr lang="en-GB" dirty="0">
                <a:latin typeface="Consolas" panose="020B0609020204030204" pitchFamily="49" charset="0"/>
              </a:rPr>
              <a:t> &lt;- </a:t>
            </a:r>
            <a:r>
              <a:rPr lang="en-GB" dirty="0" err="1">
                <a:solidFill>
                  <a:srgbClr val="990000"/>
                </a:solidFill>
                <a:latin typeface="Consolas" panose="020B0609020204030204" pitchFamily="49" charset="0"/>
              </a:rPr>
              <a:t>dist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faithful</a:t>
            </a:r>
            <a:r>
              <a:rPr lang="en-GB" dirty="0">
                <a:latin typeface="Consolas" panose="020B0609020204030204" pitchFamily="49" charset="0"/>
              </a:rPr>
              <a:t>,    method = 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GB" dirty="0" err="1">
                <a:solidFill>
                  <a:srgbClr val="00B050"/>
                </a:solidFill>
                <a:latin typeface="Consolas" panose="020B0609020204030204" pitchFamily="49" charset="0"/>
              </a:rPr>
              <a:t>euclidean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result</a:t>
            </a:r>
            <a:r>
              <a:rPr lang="en-GB" dirty="0">
                <a:latin typeface="Consolas" panose="020B0609020204030204" pitchFamily="49" charset="0"/>
              </a:rPr>
              <a:t>    &lt;- </a:t>
            </a:r>
            <a:r>
              <a:rPr lang="en-GB" dirty="0" err="1">
                <a:solidFill>
                  <a:srgbClr val="990000"/>
                </a:solidFill>
                <a:latin typeface="Consolas" panose="020B0609020204030204" pitchFamily="49" charset="0"/>
              </a:rPr>
              <a:t>hclust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distances</a:t>
            </a:r>
            <a:r>
              <a:rPr lang="en-GB" dirty="0">
                <a:latin typeface="Consolas" panose="020B0609020204030204" pitchFamily="49" charset="0"/>
              </a:rPr>
              <a:t>, method = 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</a:rPr>
              <a:t>"average"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87DDA-9EE2-4382-905C-655A802551F3}"/>
              </a:ext>
            </a:extLst>
          </p:cNvPr>
          <p:cNvSpPr txBox="1"/>
          <p:nvPr/>
        </p:nvSpPr>
        <p:spPr>
          <a:xfrm>
            <a:off x="921326" y="3836323"/>
            <a:ext cx="8312729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90000"/>
                </a:solidFill>
                <a:latin typeface="Consolas" panose="020B0609020204030204" pitchFamily="49" charset="0"/>
              </a:rPr>
              <a:t>library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chemeClr val="accent1"/>
                </a:solidFill>
                <a:latin typeface="Consolas" panose="020B0609020204030204" pitchFamily="49" charset="0"/>
              </a:rPr>
              <a:t>ggdendro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r>
              <a:rPr lang="en-GB" dirty="0" err="1">
                <a:solidFill>
                  <a:srgbClr val="990000"/>
                </a:solidFill>
                <a:latin typeface="Consolas" panose="020B0609020204030204" pitchFamily="49" charset="0"/>
              </a:rPr>
              <a:t>ggdendrogram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result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BF399-4560-4578-B039-B876191A76EC}"/>
              </a:ext>
            </a:extLst>
          </p:cNvPr>
          <p:cNvSpPr txBox="1"/>
          <p:nvPr/>
        </p:nvSpPr>
        <p:spPr>
          <a:xfrm>
            <a:off x="921326" y="5451763"/>
            <a:ext cx="83127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990000"/>
                </a:solidFill>
                <a:latin typeface="Consolas" panose="020B0609020204030204" pitchFamily="49" charset="0"/>
              </a:rPr>
              <a:t>cutree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result, </a:t>
            </a:r>
            <a:r>
              <a:rPr lang="en-GB" dirty="0">
                <a:latin typeface="Consolas" panose="020B0609020204030204" pitchFamily="49" charset="0"/>
              </a:rPr>
              <a:t>h = 2)</a:t>
            </a:r>
          </a:p>
        </p:txBody>
      </p:sp>
    </p:spTree>
    <p:extLst>
      <p:ext uri="{BB962C8B-B14F-4D97-AF65-F5344CB8AC3E}">
        <p14:creationId xmlns:p14="http://schemas.microsoft.com/office/powerpoint/2010/main" val="1151182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625D-2D1C-4CA7-8A8F-B7B48951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704001C-E212-4CE3-A41D-2FBEC9696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99" y="1664493"/>
            <a:ext cx="7010402" cy="4673602"/>
          </a:xfrm>
        </p:spPr>
      </p:pic>
    </p:spTree>
    <p:extLst>
      <p:ext uri="{BB962C8B-B14F-4D97-AF65-F5344CB8AC3E}">
        <p14:creationId xmlns:p14="http://schemas.microsoft.com/office/powerpoint/2010/main" val="206662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625D-2D1C-4CA7-8A8F-B7B48951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04001C-E212-4CE3-A41D-2FBEC9696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0799" y="1664494"/>
            <a:ext cx="7010402" cy="4673600"/>
          </a:xfrm>
        </p:spPr>
      </p:pic>
    </p:spTree>
    <p:extLst>
      <p:ext uri="{BB962C8B-B14F-4D97-AF65-F5344CB8AC3E}">
        <p14:creationId xmlns:p14="http://schemas.microsoft.com/office/powerpoint/2010/main" val="961644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625D-2D1C-4CA7-8A8F-B7B48951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</a:t>
            </a:r>
          </a:p>
        </p:txBody>
      </p:sp>
      <p:pic>
        <p:nvPicPr>
          <p:cNvPr id="7" name="Content Placeholder 6" descr="A close up of a map&#10;&#10;Description automatically generated">
            <a:extLst>
              <a:ext uri="{FF2B5EF4-FFF2-40B4-BE49-F238E27FC236}">
                <a16:creationId xmlns:a16="http://schemas.microsoft.com/office/drawing/2014/main" id="{1F0CBD1C-664F-40F2-B8CF-22A04797D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385"/>
            <a:ext cx="10515600" cy="4779818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874659-87BB-3747-8F70-474FAF410371}"/>
              </a:ext>
            </a:extLst>
          </p:cNvPr>
          <p:cNvSpPr/>
          <p:nvPr/>
        </p:nvSpPr>
        <p:spPr>
          <a:xfrm>
            <a:off x="838200" y="282131"/>
            <a:ext cx="3723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https://www.menti.com/uf9b1miv22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501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35BDA1-54C7-4938-BF57-8A0B1750A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74" y="0"/>
            <a:ext cx="9938802" cy="6454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CB5207-DB6B-F748-B064-994A945CA55E}"/>
              </a:ext>
            </a:extLst>
          </p:cNvPr>
          <p:cNvSpPr txBox="1"/>
          <p:nvPr/>
        </p:nvSpPr>
        <p:spPr>
          <a:xfrm>
            <a:off x="2829830" y="6427113"/>
            <a:ext cx="6525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/>
              <a:t>See ISLR, Table </a:t>
            </a:r>
            <a:r>
              <a:rPr lang="en-IE" sz="2200" i="1" dirty="0"/>
              <a:t>12.3 for explanation of “linkage” options</a:t>
            </a:r>
          </a:p>
        </p:txBody>
      </p:sp>
    </p:spTree>
    <p:extLst>
      <p:ext uri="{BB962C8B-B14F-4D97-AF65-F5344CB8AC3E}">
        <p14:creationId xmlns:p14="http://schemas.microsoft.com/office/powerpoint/2010/main" val="1743738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2832-5E49-40CB-9515-9298BE10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Note</a:t>
            </a:r>
            <a:r>
              <a:rPr lang="nl-NL" dirty="0"/>
              <a:t>: </a:t>
            </a:r>
            <a:r>
              <a:rPr lang="nl-NL" dirty="0" err="1"/>
              <a:t>scaling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01489-C597-47D4-86D7-4007C8A28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It is </a:t>
            </a:r>
            <a:r>
              <a:rPr lang="nl-NL" dirty="0" err="1"/>
              <a:t>generally</a:t>
            </a:r>
            <a:r>
              <a:rPr lang="nl-NL" dirty="0"/>
              <a:t> a </a:t>
            </a:r>
            <a:r>
              <a:rPr lang="nl-NL" dirty="0" err="1"/>
              <a:t>good</a:t>
            </a:r>
            <a:r>
              <a:rPr lang="nl-NL" dirty="0"/>
              <a:t> </a:t>
            </a:r>
            <a:r>
              <a:rPr lang="nl-NL" dirty="0" err="1"/>
              <a:t>idea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measure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features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scale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entering </a:t>
            </a:r>
            <a:r>
              <a:rPr lang="nl-NL" dirty="0" err="1"/>
              <a:t>them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a clustering </a:t>
            </a:r>
            <a:r>
              <a:rPr lang="nl-NL" dirty="0" err="1"/>
              <a:t>algorithm</a:t>
            </a:r>
            <a:endParaRPr lang="nl-NL" dirty="0"/>
          </a:p>
          <a:p>
            <a:r>
              <a:rPr lang="nl-NL" dirty="0" err="1"/>
              <a:t>Otherwise</a:t>
            </a:r>
            <a:r>
              <a:rPr lang="nl-NL" dirty="0"/>
              <a:t>, </a:t>
            </a:r>
            <a:r>
              <a:rPr lang="nl-NL" dirty="0" err="1"/>
              <a:t>height</a:t>
            </a:r>
            <a:r>
              <a:rPr lang="nl-NL" dirty="0"/>
              <a:t> in </a:t>
            </a:r>
            <a:r>
              <a:rPr lang="nl-NL" dirty="0">
                <a:solidFill>
                  <a:schemeClr val="accent1"/>
                </a:solidFill>
              </a:rPr>
              <a:t>cm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more important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distance</a:t>
            </a:r>
            <a:r>
              <a:rPr lang="nl-NL" dirty="0"/>
              <a:t> </a:t>
            </a:r>
            <a:r>
              <a:rPr lang="nl-NL" dirty="0" err="1"/>
              <a:t>computation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width</a:t>
            </a:r>
            <a:r>
              <a:rPr lang="nl-NL" dirty="0"/>
              <a:t> in </a:t>
            </a:r>
            <a:r>
              <a:rPr lang="nl-NL" dirty="0">
                <a:solidFill>
                  <a:schemeClr val="accent1"/>
                </a:solidFill>
              </a:rPr>
              <a:t>m</a:t>
            </a:r>
          </a:p>
          <a:p>
            <a:r>
              <a:rPr lang="nl-NL" dirty="0"/>
              <a:t>Generally,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the</a:t>
            </a:r>
            <a:r>
              <a:rPr lang="nl-NL" dirty="0"/>
              <a:t> features </a:t>
            </a:r>
            <a:r>
              <a:rPr lang="nl-NL" dirty="0" err="1"/>
              <a:t>to</a:t>
            </a:r>
            <a:r>
              <a:rPr lang="nl-NL" dirty="0"/>
              <a:t> have a </a:t>
            </a:r>
            <a:r>
              <a:rPr lang="nl-NL" dirty="0" err="1"/>
              <a:t>similar</a:t>
            </a:r>
            <a:r>
              <a:rPr lang="nl-NL" dirty="0"/>
              <a:t> </a:t>
            </a:r>
            <a:r>
              <a:rPr lang="nl-NL" dirty="0" err="1"/>
              <a:t>scale</a:t>
            </a:r>
            <a:endParaRPr lang="nl-NL" dirty="0"/>
          </a:p>
          <a:p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done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>
                <a:solidFill>
                  <a:schemeClr val="accent1"/>
                </a:solidFill>
              </a:rPr>
              <a:t>standardization</a:t>
            </a:r>
            <a:r>
              <a:rPr lang="nl-NL" dirty="0"/>
              <a:t>, or z-</a:t>
            </a:r>
            <a:r>
              <a:rPr lang="nl-NL" dirty="0" err="1"/>
              <a:t>transformation</a:t>
            </a:r>
            <a:r>
              <a:rPr lang="nl-NL" dirty="0"/>
              <a:t>: </a:t>
            </a:r>
            <a:r>
              <a:rPr lang="nl-NL" dirty="0" err="1"/>
              <a:t>subtract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mean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feature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divide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observed</a:t>
            </a:r>
            <a:r>
              <a:rPr lang="nl-NL" dirty="0"/>
              <a:t> standard </a:t>
            </a:r>
            <a:r>
              <a:rPr lang="nl-NL" dirty="0" err="1"/>
              <a:t>deviation</a:t>
            </a:r>
            <a:endParaRPr lang="nl-NL" dirty="0"/>
          </a:p>
          <a:p>
            <a:r>
              <a:rPr lang="nl-NL" dirty="0"/>
              <a:t>Changes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interpretation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, but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association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143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23B9-B816-47B3-B861-D1956576D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325563"/>
          </a:xfrm>
        </p:spPr>
        <p:txBody>
          <a:bodyPr/>
          <a:lstStyle/>
          <a:p>
            <a:r>
              <a:rPr lang="en-GB" dirty="0"/>
              <a:t>“</a:t>
            </a:r>
            <a:r>
              <a:rPr lang="en-GB" b="1" dirty="0">
                <a:latin typeface="+mn-lt"/>
              </a:rPr>
              <a:t>Distance</a:t>
            </a:r>
            <a:r>
              <a:rPr lang="en-GB" dirty="0"/>
              <a:t>” 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526432-6A4F-384F-AFC9-A28A54FD3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313" y="-32775"/>
            <a:ext cx="7405687" cy="6839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A80FC2-33F7-DD43-90D2-1E1720454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5186363" cy="518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308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2D5075A4-7A22-D443-BD66-37421FB48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393" y="369332"/>
            <a:ext cx="9701213" cy="7545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9A2FCE-3385-7A4F-B870-4451D74B0DA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990000"/>
                </a:solidFill>
                <a:latin typeface="Consolas" panose="020B0609020204030204" pitchFamily="49" charset="0"/>
              </a:rPr>
              <a:t>plot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990000"/>
                </a:solidFill>
                <a:latin typeface="Consolas" panose="020B0609020204030204" pitchFamily="49" charset="0"/>
              </a:rPr>
              <a:t>hclust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chemeClr val="accent1"/>
                </a:solidFill>
                <a:latin typeface="Consolas" panose="020B0609020204030204" pitchFamily="49" charset="0"/>
              </a:rPr>
              <a:t>eurodist</a:t>
            </a:r>
            <a:r>
              <a:rPr lang="en-GB" dirty="0"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2041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23B9-B816-47B3-B861-D1956576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en-GB" b="1" dirty="0">
                <a:latin typeface="+mn-lt"/>
              </a:rPr>
              <a:t>Distance</a:t>
            </a:r>
            <a:r>
              <a:rPr lang="en-GB" dirty="0"/>
              <a:t>” can mean lots of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200B3-576B-4C86-AC1F-21B6C88BF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60600"/>
          </a:xfrm>
        </p:spPr>
        <p:txBody>
          <a:bodyPr>
            <a:noAutofit/>
          </a:bodyPr>
          <a:lstStyle/>
          <a:p>
            <a:pPr lvl="1"/>
            <a:r>
              <a:rPr lang="nl-NL" b="1" dirty="0" err="1">
                <a:solidFill>
                  <a:schemeClr val="accent1"/>
                </a:solidFill>
              </a:rPr>
              <a:t>Continuous</a:t>
            </a:r>
            <a:r>
              <a:rPr lang="nl-NL" dirty="0">
                <a:solidFill>
                  <a:schemeClr val="accent1"/>
                </a:solidFill>
              </a:rPr>
              <a:t>: 	</a:t>
            </a:r>
            <a:r>
              <a:rPr lang="nl-NL" dirty="0" err="1">
                <a:solidFill>
                  <a:schemeClr val="accent1"/>
                </a:solidFill>
              </a:rPr>
              <a:t>Euclidean</a:t>
            </a:r>
            <a:r>
              <a:rPr lang="nl-NL" dirty="0"/>
              <a:t>, maximum, Manhattan, </a:t>
            </a:r>
            <a:r>
              <a:rPr lang="nl-NL" dirty="0" err="1"/>
              <a:t>Minkowski</a:t>
            </a:r>
            <a:r>
              <a:rPr lang="nl-NL" dirty="0"/>
              <a:t>, …</a:t>
            </a:r>
          </a:p>
          <a:p>
            <a:pPr lvl="1"/>
            <a:r>
              <a:rPr lang="nl-NL" dirty="0"/>
              <a:t>Time series:	 ”</a:t>
            </a:r>
            <a:r>
              <a:rPr lang="nl-NL" dirty="0" err="1"/>
              <a:t>Dynamic</a:t>
            </a:r>
            <a:r>
              <a:rPr lang="nl-NL" dirty="0"/>
              <a:t> time </a:t>
            </a:r>
            <a:r>
              <a:rPr lang="nl-NL" dirty="0" err="1"/>
              <a:t>warping</a:t>
            </a:r>
            <a:r>
              <a:rPr lang="nl-NL" dirty="0"/>
              <a:t>”, </a:t>
            </a:r>
            <a:r>
              <a:rPr lang="nl-NL" dirty="0" err="1"/>
              <a:t>Fréchet</a:t>
            </a:r>
            <a:r>
              <a:rPr lang="nl-NL" dirty="0"/>
              <a:t>, cross-</a:t>
            </a:r>
            <a:r>
              <a:rPr lang="nl-NL" dirty="0" err="1"/>
              <a:t>corr</a:t>
            </a:r>
            <a:r>
              <a:rPr lang="nl-NL" dirty="0"/>
              <a:t>., </a:t>
            </a:r>
            <a:r>
              <a:rPr lang="nl-NL" dirty="0" err="1"/>
              <a:t>wavelets</a:t>
            </a:r>
            <a:r>
              <a:rPr lang="nl-NL" dirty="0"/>
              <a:t>, …</a:t>
            </a:r>
          </a:p>
          <a:p>
            <a:pPr lvl="1"/>
            <a:r>
              <a:rPr lang="nl-NL" dirty="0"/>
              <a:t>Networks: 	</a:t>
            </a:r>
            <a:r>
              <a:rPr lang="nl-NL" dirty="0" err="1"/>
              <a:t>Modularity</a:t>
            </a:r>
            <a:r>
              <a:rPr lang="nl-NL" dirty="0"/>
              <a:t>, </a:t>
            </a:r>
            <a:r>
              <a:rPr lang="nl-NL" dirty="0" err="1"/>
              <a:t>Shortest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, …</a:t>
            </a:r>
          </a:p>
          <a:p>
            <a:pPr lvl="1"/>
            <a:r>
              <a:rPr lang="nl-NL" dirty="0" err="1"/>
              <a:t>Text</a:t>
            </a:r>
            <a:r>
              <a:rPr lang="nl-NL" dirty="0"/>
              <a:t>/DNA:	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distance</a:t>
            </a:r>
            <a:r>
              <a:rPr lang="nl-NL" dirty="0"/>
              <a:t>, Hamming </a:t>
            </a:r>
            <a:r>
              <a:rPr lang="nl-NL" dirty="0" err="1"/>
              <a:t>distance</a:t>
            </a:r>
            <a:r>
              <a:rPr lang="nl-NL" dirty="0"/>
              <a:t>, TF-IDF </a:t>
            </a:r>
            <a:r>
              <a:rPr lang="nl-NL" dirty="0" err="1"/>
              <a:t>distance</a:t>
            </a:r>
            <a:r>
              <a:rPr lang="nl-NL" dirty="0"/>
              <a:t>, ..</a:t>
            </a:r>
          </a:p>
          <a:p>
            <a:pPr lvl="1"/>
            <a:r>
              <a:rPr lang="nl-NL" dirty="0"/>
              <a:t>Images:		“</a:t>
            </a:r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similarity</a:t>
            </a:r>
            <a:r>
              <a:rPr lang="nl-NL" dirty="0"/>
              <a:t>”, GAN </a:t>
            </a:r>
            <a:r>
              <a:rPr lang="nl-NL" dirty="0" err="1"/>
              <a:t>loss</a:t>
            </a:r>
            <a:r>
              <a:rPr lang="nl-NL" dirty="0"/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04E86-E4CB-4449-81F9-C20748A0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4622"/>
            <a:ext cx="12192000" cy="31062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DF89EC-2E72-C14A-BBC6-0C5C362BA73F}"/>
              </a:ext>
            </a:extLst>
          </p:cNvPr>
          <p:cNvSpPr txBox="1"/>
          <p:nvPr/>
        </p:nvSpPr>
        <p:spPr>
          <a:xfrm>
            <a:off x="0" y="5671602"/>
            <a:ext cx="1864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Buchin</a:t>
            </a:r>
            <a:r>
              <a:rPr lang="en-US" i="1" dirty="0"/>
              <a:t> et al. 2019</a:t>
            </a:r>
          </a:p>
        </p:txBody>
      </p:sp>
    </p:spTree>
    <p:extLst>
      <p:ext uri="{BB962C8B-B14F-4D97-AF65-F5344CB8AC3E}">
        <p14:creationId xmlns:p14="http://schemas.microsoft.com/office/powerpoint/2010/main" val="527734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omotopic Frechet Distance Between Curves">
            <a:extLst>
              <a:ext uri="{FF2B5EF4-FFF2-40B4-BE49-F238E27FC236}">
                <a16:creationId xmlns:a16="http://schemas.microsoft.com/office/drawing/2014/main" id="{69AFD7CF-88CC-AC46-955C-9CF4CBEDE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3113"/>
            <a:ext cx="6419849" cy="481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B16E72-BFC3-0240-924F-0349BB34C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216" y="2543014"/>
            <a:ext cx="5576698" cy="211471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62A0D78-02E3-3944-9D76-F14DD276C386}"/>
              </a:ext>
            </a:extLst>
          </p:cNvPr>
          <p:cNvSpPr/>
          <p:nvPr/>
        </p:nvSpPr>
        <p:spPr>
          <a:xfrm>
            <a:off x="0" y="1173718"/>
            <a:ext cx="58348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2800" b="1" dirty="0" err="1"/>
              <a:t>Fréchet</a:t>
            </a:r>
            <a:r>
              <a:rPr lang="nl-NL" sz="2800" b="1" dirty="0"/>
              <a:t> </a:t>
            </a:r>
            <a:r>
              <a:rPr lang="nl-NL" sz="2800" b="1" dirty="0" err="1"/>
              <a:t>distance</a:t>
            </a:r>
            <a:r>
              <a:rPr lang="nl-NL" sz="2800" dirty="0"/>
              <a:t> </a:t>
            </a:r>
            <a:r>
              <a:rPr lang="nl-NL" sz="2800" dirty="0" err="1"/>
              <a:t>for</a:t>
            </a:r>
            <a:r>
              <a:rPr lang="nl-NL" sz="2800" dirty="0"/>
              <a:t> time series/curves</a:t>
            </a:r>
            <a:endParaRPr lang="en-US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E18A80-E493-C04A-A77B-A80DE134D86B}"/>
              </a:ext>
            </a:extLst>
          </p:cNvPr>
          <p:cNvSpPr/>
          <p:nvPr/>
        </p:nvSpPr>
        <p:spPr>
          <a:xfrm>
            <a:off x="6633216" y="1158359"/>
            <a:ext cx="55826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2800" b="1" dirty="0"/>
              <a:t>Minimum </a:t>
            </a:r>
            <a:r>
              <a:rPr lang="nl-NL" sz="2800" b="1" dirty="0" err="1"/>
              <a:t>edit</a:t>
            </a:r>
            <a:r>
              <a:rPr lang="nl-NL" sz="2800" b="1" dirty="0"/>
              <a:t> </a:t>
            </a:r>
            <a:r>
              <a:rPr lang="nl-NL" sz="2800" b="1" dirty="0" err="1"/>
              <a:t>distance</a:t>
            </a:r>
            <a:r>
              <a:rPr lang="nl-NL" sz="2800" b="1" dirty="0"/>
              <a:t> </a:t>
            </a:r>
            <a:r>
              <a:rPr lang="nl-NL" sz="2800" dirty="0" err="1"/>
              <a:t>for</a:t>
            </a:r>
            <a:r>
              <a:rPr lang="nl-NL" sz="2800" dirty="0"/>
              <a:t> </a:t>
            </a:r>
            <a:r>
              <a:rPr lang="nl-NL" sz="2800" dirty="0" err="1"/>
              <a:t>text</a:t>
            </a:r>
            <a:r>
              <a:rPr lang="nl-NL" sz="2800" dirty="0"/>
              <a:t>/DNA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34F19D-B42C-CC40-81EE-1514C2856DD5}"/>
              </a:ext>
            </a:extLst>
          </p:cNvPr>
          <p:cNvSpPr txBox="1"/>
          <p:nvPr/>
        </p:nvSpPr>
        <p:spPr>
          <a:xfrm>
            <a:off x="8498075" y="5537632"/>
            <a:ext cx="2032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(edit distance = 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97F1F-78C7-A344-AF6B-05178EE98914}"/>
              </a:ext>
            </a:extLst>
          </p:cNvPr>
          <p:cNvSpPr txBox="1"/>
          <p:nvPr/>
        </p:nvSpPr>
        <p:spPr>
          <a:xfrm>
            <a:off x="0" y="0"/>
            <a:ext cx="999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2"/>
                </a:solidFill>
                <a:highlight>
                  <a:srgbClr val="000000"/>
                </a:highlight>
              </a:rPr>
              <a:t>Some example distances that aren’t Euclidean but useful for specific data 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BB6CF2-22CB-2049-A3CA-284459E30C63}"/>
              </a:ext>
            </a:extLst>
          </p:cNvPr>
          <p:cNvSpPr/>
          <p:nvPr/>
        </p:nvSpPr>
        <p:spPr>
          <a:xfrm>
            <a:off x="-88029" y="6488668"/>
            <a:ext cx="3723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https://www.menti.com/uf9b1miv22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9504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1588-1D3F-4A06-B87E-13FA64F3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Hierarchical</a:t>
            </a:r>
            <a:r>
              <a:rPr lang="nl-NL" dirty="0"/>
              <a:t> clustering: </a:t>
            </a:r>
            <a:r>
              <a:rPr lang="nl-NL" dirty="0" err="1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19BB2-A966-42F5-A252-BB0A306C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Tree-</a:t>
            </a:r>
            <a:r>
              <a:rPr lang="nl-NL" dirty="0" err="1"/>
              <a:t>based</a:t>
            </a:r>
            <a:r>
              <a:rPr lang="nl-NL" dirty="0"/>
              <a:t> </a:t>
            </a:r>
            <a:r>
              <a:rPr lang="nl-NL" dirty="0" err="1"/>
              <a:t>representation</a:t>
            </a:r>
            <a:r>
              <a:rPr lang="nl-NL" dirty="0"/>
              <a:t> - </a:t>
            </a:r>
            <a:r>
              <a:rPr lang="nl-NL" dirty="0" err="1"/>
              <a:t>dendrogram</a:t>
            </a:r>
            <a:endParaRPr lang="nl-NL" dirty="0"/>
          </a:p>
          <a:p>
            <a:r>
              <a:rPr lang="nl-NL" dirty="0" err="1"/>
              <a:t>Determine</a:t>
            </a:r>
            <a:r>
              <a:rPr lang="nl-NL" dirty="0"/>
              <a:t> </a:t>
            </a:r>
            <a:r>
              <a:rPr lang="nl-NL" dirty="0" err="1"/>
              <a:t>number</a:t>
            </a:r>
            <a:r>
              <a:rPr lang="nl-NL" dirty="0"/>
              <a:t> of clusters </a:t>
            </a:r>
            <a:r>
              <a:rPr lang="nl-NL" dirty="0" err="1"/>
              <a:t>afterwards</a:t>
            </a:r>
            <a:endParaRPr lang="nl-NL" dirty="0"/>
          </a:p>
          <a:p>
            <a:r>
              <a:rPr lang="nl-NL" dirty="0"/>
              <a:t>Different </a:t>
            </a:r>
            <a:r>
              <a:rPr lang="nl-NL" dirty="0" err="1"/>
              <a:t>distance</a:t>
            </a:r>
            <a:r>
              <a:rPr lang="nl-NL" dirty="0"/>
              <a:t> </a:t>
            </a:r>
            <a:r>
              <a:rPr lang="nl-NL" dirty="0" err="1"/>
              <a:t>metrics</a:t>
            </a:r>
            <a:r>
              <a:rPr lang="nl-NL" dirty="0"/>
              <a:t> </a:t>
            </a:r>
            <a:r>
              <a:rPr lang="nl-NL" dirty="0" err="1"/>
              <a:t>possible</a:t>
            </a:r>
            <a:endParaRPr lang="nl-NL" dirty="0"/>
          </a:p>
          <a:p>
            <a:r>
              <a:rPr lang="nl-NL" dirty="0"/>
              <a:t>Different </a:t>
            </a:r>
            <a:r>
              <a:rPr lang="nl-NL" dirty="0" err="1"/>
              <a:t>agglomeration</a:t>
            </a:r>
            <a:r>
              <a:rPr lang="nl-NL" dirty="0"/>
              <a:t> </a:t>
            </a:r>
            <a:r>
              <a:rPr lang="nl-NL" dirty="0" err="1"/>
              <a:t>methods</a:t>
            </a:r>
            <a:r>
              <a:rPr lang="nl-NL" dirty="0"/>
              <a:t> (“</a:t>
            </a:r>
            <a:r>
              <a:rPr lang="nl-NL" dirty="0" err="1"/>
              <a:t>linkage</a:t>
            </a:r>
            <a:r>
              <a:rPr lang="nl-NL" dirty="0"/>
              <a:t>” </a:t>
            </a:r>
            <a:r>
              <a:rPr lang="nl-NL" dirty="0" err="1"/>
              <a:t>rules</a:t>
            </a:r>
            <a:r>
              <a:rPr lang="nl-NL" dirty="0"/>
              <a:t>) </a:t>
            </a:r>
            <a:r>
              <a:rPr lang="nl-NL" dirty="0" err="1"/>
              <a:t>possible</a:t>
            </a:r>
            <a:endParaRPr lang="nl-NL" dirty="0"/>
          </a:p>
          <a:p>
            <a:r>
              <a:rPr lang="nl-NL" dirty="0" err="1"/>
              <a:t>Taking</a:t>
            </a:r>
            <a:r>
              <a:rPr lang="nl-NL" dirty="0"/>
              <a:t> </a:t>
            </a:r>
            <a:r>
              <a:rPr lang="nl-NL" dirty="0" err="1"/>
              <a:t>distance</a:t>
            </a:r>
            <a:r>
              <a:rPr lang="nl-NL" dirty="0"/>
              <a:t> matrix as input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dirty="0" err="1">
                <a:sym typeface="Wingdings" pitchFamily="2" charset="2"/>
              </a:rPr>
              <a:t>very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flexible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technique</a:t>
            </a:r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Distance</a:t>
            </a:r>
            <a:r>
              <a:rPr lang="nl-NL" dirty="0">
                <a:sym typeface="Wingdings" pitchFamily="2" charset="2"/>
              </a:rPr>
              <a:t> matrix N</a:t>
            </a:r>
            <a:r>
              <a:rPr lang="en-IE" dirty="0"/>
              <a:t>×N </a:t>
            </a:r>
            <a:r>
              <a:rPr lang="en-IE" dirty="0">
                <a:sym typeface="Wingdings" pitchFamily="2" charset="2"/>
              </a:rPr>
              <a:t> can be tricky when N is large (esp. divisive)</a:t>
            </a:r>
            <a:endParaRPr lang="nl-NL" dirty="0"/>
          </a:p>
          <a:p>
            <a:endParaRPr lang="nl-NL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6180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B3E9-E298-464E-826D-1B4CD73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Clustering</a:t>
            </a:r>
            <a:r>
              <a:rPr lang="en-GB" dirty="0"/>
              <a:t>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4B16C-4ABD-9B46-8524-71F26485C923}"/>
              </a:ext>
            </a:extLst>
          </p:cNvPr>
          <p:cNvSpPr txBox="1"/>
          <p:nvPr/>
        </p:nvSpPr>
        <p:spPr>
          <a:xfrm>
            <a:off x="7602594" y="6211669"/>
            <a:ext cx="4649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Source: T. Fuertes</a:t>
            </a:r>
          </a:p>
          <a:p>
            <a:r>
              <a:rPr lang="en-US" i="1" dirty="0">
                <a:hlinkClick r:id="rId2"/>
              </a:rPr>
              <a:t>https://quantdare.com/hierarchical-clustering/</a:t>
            </a:r>
            <a:r>
              <a:rPr lang="en-US" i="1" dirty="0"/>
              <a:t> </a:t>
            </a:r>
          </a:p>
        </p:txBody>
      </p:sp>
      <p:pic>
        <p:nvPicPr>
          <p:cNvPr id="2050" name="Picture 2" descr="HierarPartClustering">
            <a:extLst>
              <a:ext uri="{FF2B5EF4-FFF2-40B4-BE49-F238E27FC236}">
                <a16:creationId xmlns:a16="http://schemas.microsoft.com/office/drawing/2014/main" id="{A479D0CF-4D8F-334E-ABA6-DAAF0D230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7711"/>
            <a:ext cx="12254204" cy="468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4142FA-0D2F-2E45-9953-ECF06B7EF99D}"/>
              </a:ext>
            </a:extLst>
          </p:cNvPr>
          <p:cNvSpPr/>
          <p:nvPr/>
        </p:nvSpPr>
        <p:spPr>
          <a:xfrm>
            <a:off x="-1" y="1457325"/>
            <a:ext cx="6315075" cy="540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3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B3E9-E298-464E-826D-1B4CD738B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K-means clustering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65078-1096-4953-A59E-68289473F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1. Randomly assign examples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clusters</a:t>
                </a:r>
              </a:p>
              <a:p>
                <a:pPr marL="0" indent="0">
                  <a:buNone/>
                </a:pPr>
                <a:r>
                  <a:rPr lang="en-GB" dirty="0"/>
                  <a:t>2a. Calculate the </a:t>
                </a:r>
                <a:r>
                  <a:rPr lang="en-GB" dirty="0">
                    <a:solidFill>
                      <a:schemeClr val="accent1"/>
                    </a:solidFill>
                  </a:rPr>
                  <a:t>centroid</a:t>
                </a:r>
                <a:r>
                  <a:rPr lang="en-GB" dirty="0"/>
                  <a:t> (per-feature mean) for each cluster</a:t>
                </a:r>
                <a:br>
                  <a:rPr lang="en-GB" dirty="0"/>
                </a:br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2b. Assign each example to the cluster belonging to its </a:t>
                </a:r>
                <a:r>
                  <a:rPr lang="en-GB" dirty="0">
                    <a:solidFill>
                      <a:schemeClr val="accent1"/>
                    </a:solidFill>
                  </a:rPr>
                  <a:t>closest</a:t>
                </a:r>
                <a:r>
                  <a:rPr lang="en-GB" dirty="0"/>
                  <a:t> centroid</a:t>
                </a:r>
              </a:p>
              <a:p>
                <a:pPr marL="0" indent="0">
                  <a:buNone/>
                </a:pPr>
                <a:r>
                  <a:rPr lang="en-GB" dirty="0"/>
                  <a:t>3. If the assignments changed, go to step 2a, else stop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265078-1096-4953-A59E-68289473F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667250"/>
              </a:xfrm>
              <a:blipFill>
                <a:blip r:embed="rId3"/>
                <a:stretch>
                  <a:fillRect l="-1217" t="-20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A272ED3-68EC-4E10-9649-E89EEC6DA8E7}"/>
              </a:ext>
            </a:extLst>
          </p:cNvPr>
          <p:cNvSpPr txBox="1"/>
          <p:nvPr/>
        </p:nvSpPr>
        <p:spPr>
          <a:xfrm>
            <a:off x="1463038" y="2826327"/>
            <a:ext cx="8312729" cy="203132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faithful</a:t>
            </a:r>
            <a:r>
              <a:rPr lang="en-GB" dirty="0">
                <a:latin typeface="Consolas" panose="020B0609020204030204" pitchFamily="49" charset="0"/>
              </a:rPr>
              <a:t> %&gt;% </a:t>
            </a:r>
            <a:r>
              <a:rPr lang="en-GB" dirty="0" err="1">
                <a:solidFill>
                  <a:srgbClr val="990000"/>
                </a:solidFill>
                <a:latin typeface="Consolas" panose="020B0609020204030204" pitchFamily="49" charset="0"/>
              </a:rPr>
              <a:t>group_by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cluster</a:t>
            </a:r>
            <a:r>
              <a:rPr lang="en-GB" dirty="0">
                <a:latin typeface="Consolas" panose="020B0609020204030204" pitchFamily="49" charset="0"/>
              </a:rPr>
              <a:t>) %&gt;% </a:t>
            </a:r>
            <a:r>
              <a:rPr lang="en-GB" dirty="0" err="1">
                <a:solidFill>
                  <a:srgbClr val="990000"/>
                </a:solidFill>
                <a:latin typeface="Consolas" panose="020B0609020204030204" pitchFamily="49" charset="0"/>
              </a:rPr>
              <a:t>summarize_all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chemeClr val="accent1"/>
                </a:solidFill>
                <a:latin typeface="Consolas" panose="020B0609020204030204" pitchFamily="49" charset="0"/>
              </a:rPr>
              <a:t>mean</a:t>
            </a:r>
            <a:r>
              <a:rPr lang="en-GB" dirty="0">
                <a:latin typeface="Consolas" panose="020B0609020204030204" pitchFamily="49" charset="0"/>
              </a:rPr>
              <a:t>)</a:t>
            </a:r>
          </a:p>
          <a:p>
            <a:br>
              <a:rPr lang="en-GB" dirty="0">
                <a:latin typeface="Consolas" panose="020B0609020204030204" pitchFamily="49" charset="0"/>
              </a:rPr>
            </a:b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#&gt;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cluster eruptions waiting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#&gt;     &lt;int&gt;     &lt;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dbl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  &lt;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dbl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#&gt; 1       1      3.69    73.4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#&gt; 2       2      3.30    68.6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8511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B2AC-D9E1-42A0-84E0-9CE54EE12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10515600" cy="1325563"/>
          </a:xfrm>
        </p:spPr>
        <p:txBody>
          <a:bodyPr/>
          <a:lstStyle/>
          <a:p>
            <a:r>
              <a:rPr lang="nl-NL" dirty="0"/>
              <a:t>K-means </a:t>
            </a:r>
            <a:br>
              <a:rPr lang="nl-NL" dirty="0"/>
            </a:br>
            <a:r>
              <a:rPr lang="nl-NL" dirty="0"/>
              <a:t>clustering</a:t>
            </a:r>
            <a:endParaRPr lang="en-GB" dirty="0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3B5AD48-7D39-4569-8211-654959F2D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402" y="-5542"/>
            <a:ext cx="6863542" cy="68635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80C807-0310-46B3-ADB5-A8942F43625C}"/>
              </a:ext>
            </a:extLst>
          </p:cNvPr>
          <p:cNvSpPr txBox="1"/>
          <p:nvPr/>
        </p:nvSpPr>
        <p:spPr>
          <a:xfrm>
            <a:off x="10651515" y="6472678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ISLR, page 518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194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73FD0-0E28-4211-9740-EF8369AB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K-means clustering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B83CA-54C0-47E0-B317-EA85EE709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nl-NL" dirty="0"/>
                  <a:t> </a:t>
                </a:r>
                <a:r>
                  <a:rPr lang="nl-NL" sz="2000" dirty="0"/>
                  <a:t>(</a:t>
                </a:r>
                <a:r>
                  <a:rPr lang="nl-NL" sz="2000" dirty="0" err="1"/>
                  <a:t>and</a:t>
                </a:r>
                <a:r>
                  <a:rPr lang="nl-NL" sz="2000" dirty="0"/>
                  <a:t>, in </a:t>
                </a:r>
                <a:r>
                  <a:rPr lang="nl-NL" sz="2000" dirty="0" err="1"/>
                  <a:t>theory</a:t>
                </a:r>
                <a:r>
                  <a:rPr lang="nl-NL" sz="2000" dirty="0"/>
                  <a:t>, </a:t>
                </a:r>
                <a:r>
                  <a:rPr lang="nl-NL" sz="2000" dirty="0" err="1"/>
                  <a:t>the</a:t>
                </a:r>
                <a:r>
                  <a:rPr lang="nl-NL" sz="2000" dirty="0"/>
                  <a:t> </a:t>
                </a:r>
                <a:r>
                  <a:rPr lang="nl-NL" sz="2000" dirty="0" err="1"/>
                  <a:t>distance</a:t>
                </a:r>
                <a:r>
                  <a:rPr lang="nl-NL" sz="2000" dirty="0"/>
                  <a:t> </a:t>
                </a:r>
                <a:r>
                  <a:rPr lang="nl-NL" sz="2000" dirty="0" err="1"/>
                  <a:t>metric</a:t>
                </a:r>
                <a:r>
                  <a:rPr lang="nl-NL" sz="2000" dirty="0"/>
                  <a:t>)</a:t>
                </a:r>
                <a:r>
                  <a:rPr lang="nl-NL" dirty="0"/>
                  <a:t> are hyperparameters  (ISLR Sec 12.4.1)</a:t>
                </a:r>
              </a:p>
              <a:p>
                <a:pPr marL="0" indent="0">
                  <a:buNone/>
                </a:pPr>
                <a:r>
                  <a:rPr lang="nl-NL" sz="2200" i="1" dirty="0"/>
                  <a:t>	(in </a:t>
                </a:r>
                <a:r>
                  <a:rPr lang="nl-NL" sz="2200" i="1" dirty="0" err="1"/>
                  <a:t>practice</a:t>
                </a:r>
                <a:r>
                  <a:rPr lang="nl-NL" sz="2200" i="1" dirty="0"/>
                  <a:t>, </a:t>
                </a:r>
                <a:r>
                  <a:rPr lang="nl-NL" sz="2200" i="1" dirty="0" err="1"/>
                  <a:t>distance</a:t>
                </a:r>
                <a:r>
                  <a:rPr lang="nl-NL" sz="2200" i="1" dirty="0"/>
                  <a:t> is </a:t>
                </a:r>
                <a:r>
                  <a:rPr lang="nl-NL" sz="2200" i="1" dirty="0" err="1"/>
                  <a:t>almost</a:t>
                </a:r>
                <a:r>
                  <a:rPr lang="nl-NL" sz="2200" i="1" dirty="0"/>
                  <a:t> </a:t>
                </a:r>
                <a:r>
                  <a:rPr lang="nl-NL" sz="2200" i="1" dirty="0" err="1"/>
                  <a:t>always</a:t>
                </a:r>
                <a:r>
                  <a:rPr lang="nl-NL" sz="2200" i="1" dirty="0"/>
                  <a:t> </a:t>
                </a:r>
                <a:r>
                  <a:rPr lang="nl-NL" sz="2200" i="1" dirty="0" err="1"/>
                  <a:t>Euclidean</a:t>
                </a:r>
                <a:r>
                  <a:rPr lang="nl-NL" sz="2200" i="1" dirty="0"/>
                  <a:t> (</a:t>
                </a:r>
                <a:r>
                  <a:rPr lang="nl-NL" sz="2200" i="1" dirty="0" err="1"/>
                  <a:t>sum</a:t>
                </a:r>
                <a:r>
                  <a:rPr lang="nl-NL" sz="2200" i="1" dirty="0"/>
                  <a:t> of squares </a:t>
                </a:r>
                <a:r>
                  <a:rPr lang="nl-NL" sz="2200" i="1" dirty="0" err="1"/>
                  <a:t>criterion</a:t>
                </a:r>
                <a:r>
                  <a:rPr lang="nl-NL" sz="2200" i="1" dirty="0"/>
                  <a:t>))</a:t>
                </a:r>
                <a:endParaRPr lang="nl-NL" sz="2200" dirty="0"/>
              </a:p>
              <a:p>
                <a:r>
                  <a:rPr lang="nl-NL" dirty="0"/>
                  <a:t>K is </a:t>
                </a:r>
                <a:r>
                  <a:rPr lang="nl-NL" dirty="0" err="1"/>
                  <a:t>determined</a:t>
                </a:r>
                <a:r>
                  <a:rPr lang="nl-NL" dirty="0"/>
                  <a:t> in advance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analyst</a:t>
                </a:r>
                <a:endParaRPr lang="nl-NL" dirty="0"/>
              </a:p>
              <a:p>
                <a:endParaRPr lang="nl-NL" dirty="0"/>
              </a:p>
              <a:p>
                <a:r>
                  <a:rPr lang="nl-NL" dirty="0" err="1"/>
                  <a:t>Could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based</a:t>
                </a:r>
                <a:r>
                  <a:rPr lang="nl-NL" dirty="0"/>
                  <a:t> on </a:t>
                </a:r>
                <a:r>
                  <a:rPr lang="nl-NL" dirty="0" err="1"/>
                  <a:t>knowledge</a:t>
                </a:r>
                <a:r>
                  <a:rPr lang="nl-NL" dirty="0"/>
                  <a:t> </a:t>
                </a:r>
                <a:r>
                  <a:rPr lang="nl-NL" dirty="0" err="1"/>
                  <a:t>about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data or </a:t>
                </a:r>
                <a:r>
                  <a:rPr lang="nl-NL" dirty="0" err="1"/>
                  <a:t>the</a:t>
                </a:r>
                <a:r>
                  <a:rPr lang="nl-NL" dirty="0"/>
                  <a:t> goal of </a:t>
                </a:r>
                <a:r>
                  <a:rPr lang="nl-NL" dirty="0" err="1"/>
                  <a:t>the</a:t>
                </a:r>
                <a:r>
                  <a:rPr lang="nl-NL" dirty="0"/>
                  <a:t> analysis</a:t>
                </a:r>
              </a:p>
              <a:p>
                <a:pPr lvl="1"/>
                <a:r>
                  <a:rPr lang="nl-NL" dirty="0" err="1"/>
                  <a:t>Perhaps</a:t>
                </a:r>
                <a:r>
                  <a:rPr lang="nl-NL" dirty="0"/>
                  <a:t> </a:t>
                </a:r>
                <a:r>
                  <a:rPr lang="nl-NL" dirty="0" err="1"/>
                  <a:t>there</a:t>
                </a:r>
                <a:r>
                  <a:rPr lang="nl-NL" dirty="0"/>
                  <a:t> are </a:t>
                </a:r>
                <a:r>
                  <a:rPr lang="nl-NL" dirty="0" err="1"/>
                  <a:t>generally</a:t>
                </a:r>
                <a:r>
                  <a:rPr lang="nl-NL" dirty="0"/>
                  <a:t> 2 types of </a:t>
                </a:r>
                <a:r>
                  <a:rPr lang="nl-NL" dirty="0" err="1"/>
                  <a:t>geyser</a:t>
                </a:r>
                <a:r>
                  <a:rPr lang="nl-NL" dirty="0"/>
                  <a:t> </a:t>
                </a:r>
                <a:r>
                  <a:rPr lang="nl-NL" dirty="0" err="1"/>
                  <a:t>eruption</a:t>
                </a:r>
                <a:r>
                  <a:rPr lang="nl-NL" dirty="0"/>
                  <a:t> </a:t>
                </a:r>
                <a:r>
                  <a:rPr lang="nl-NL" dirty="0" err="1"/>
                  <a:t>because</a:t>
                </a:r>
                <a:r>
                  <a:rPr lang="nl-NL" dirty="0"/>
                  <a:t> of </a:t>
                </a:r>
                <a:r>
                  <a:rPr lang="nl-NL" dirty="0" err="1"/>
                  <a:t>physics</a:t>
                </a:r>
                <a:endParaRPr lang="nl-NL" dirty="0"/>
              </a:p>
              <a:p>
                <a:pPr lvl="1"/>
                <a:r>
                  <a:rPr lang="nl-NL" dirty="0"/>
                  <a:t>We </a:t>
                </a:r>
                <a:r>
                  <a:rPr lang="nl-NL" dirty="0" err="1"/>
                  <a:t>may</a:t>
                </a:r>
                <a:r>
                  <a:rPr lang="nl-NL" dirty="0"/>
                  <a:t> have resources </a:t>
                </a:r>
                <a:r>
                  <a:rPr lang="nl-NL" dirty="0" err="1"/>
                  <a:t>to</a:t>
                </a:r>
                <a:r>
                  <a:rPr lang="nl-NL" dirty="0"/>
                  <a:t> approach </a:t>
                </a:r>
                <a:r>
                  <a:rPr lang="nl-NL" dirty="0" err="1"/>
                  <a:t>customers</a:t>
                </a:r>
                <a:r>
                  <a:rPr lang="nl-NL" dirty="0"/>
                  <a:t> in at most 3 different </a:t>
                </a:r>
                <a:r>
                  <a:rPr lang="nl-NL" dirty="0" err="1"/>
                  <a:t>ways</a:t>
                </a:r>
                <a:endParaRPr lang="nl-NL" dirty="0"/>
              </a:p>
              <a:p>
                <a:r>
                  <a:rPr lang="nl-NL" dirty="0" err="1"/>
                  <a:t>Other</a:t>
                </a:r>
                <a:r>
                  <a:rPr lang="nl-NL" dirty="0"/>
                  <a:t> criteria </a:t>
                </a:r>
                <a:r>
                  <a:rPr lang="nl-NL" dirty="0" err="1"/>
                  <a:t>discussed</a:t>
                </a:r>
                <a:r>
                  <a:rPr lang="nl-NL" dirty="0"/>
                  <a:t> later.</a:t>
                </a: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3B83CA-54C0-47E0-B317-EA85EE709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29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70C7-E193-4086-9285-2B7ED83C7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K-means clustering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51EBF-111E-4B78-9897-DD3E56C80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initialization</a:t>
            </a:r>
            <a:r>
              <a:rPr lang="nl-NL" dirty="0"/>
              <a:t> is random,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</a:t>
            </a:r>
            <a:r>
              <a:rPr lang="nl-NL" dirty="0"/>
              <a:t> is random</a:t>
            </a:r>
          </a:p>
          <a:p>
            <a:pPr lvl="1"/>
            <a:r>
              <a:rPr lang="nl-NL" dirty="0"/>
              <a:t>Label </a:t>
            </a:r>
            <a:r>
              <a:rPr lang="nl-NL" dirty="0" err="1"/>
              <a:t>switching</a:t>
            </a:r>
            <a:r>
              <a:rPr lang="nl-NL" dirty="0"/>
              <a:t>: cluster 1, 2, 3 </a:t>
            </a:r>
            <a:r>
              <a:rPr lang="nl-NL" dirty="0" err="1"/>
              <a:t>may</a:t>
            </a:r>
            <a:r>
              <a:rPr lang="nl-NL" dirty="0"/>
              <a:t> end up in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other’s</a:t>
            </a:r>
            <a:r>
              <a:rPr lang="nl-NL" dirty="0"/>
              <a:t> </a:t>
            </a:r>
            <a:r>
              <a:rPr lang="nl-NL" dirty="0" err="1"/>
              <a:t>locations</a:t>
            </a:r>
            <a:endParaRPr lang="nl-NL" dirty="0"/>
          </a:p>
          <a:p>
            <a:pPr lvl="1"/>
            <a:r>
              <a:rPr lang="en-GB" dirty="0"/>
              <a:t>Some examples at the boundary may end up in different clusters altogether</a:t>
            </a:r>
          </a:p>
          <a:p>
            <a:pPr lvl="1"/>
            <a:r>
              <a:rPr lang="en-GB" dirty="0"/>
              <a:t>Use </a:t>
            </a:r>
            <a:r>
              <a:rPr lang="en-GB" dirty="0">
                <a:solidFill>
                  <a:schemeClr val="accent1"/>
                </a:solidFill>
              </a:rPr>
              <a:t>multiple starts</a:t>
            </a:r>
            <a:r>
              <a:rPr lang="en-GB" dirty="0"/>
              <a:t> to obtain the best solution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DB99BB43-32E5-4B6C-B98D-D77AD7ACA6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282" y="3429000"/>
            <a:ext cx="7197436" cy="32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75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30195-16DF-4508-BC6B-943DCE21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K-means clustering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D6BAF-2264-45C0-9194-57A7CA462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287"/>
            <a:ext cx="10515600" cy="4813676"/>
          </a:xfrm>
        </p:spPr>
        <p:txBody>
          <a:bodyPr/>
          <a:lstStyle/>
          <a:p>
            <a:pPr marL="0" indent="0">
              <a:buNone/>
            </a:pPr>
            <a:endParaRPr lang="nl-NL" b="1" dirty="0"/>
          </a:p>
          <a:p>
            <a:pPr marL="0" indent="0">
              <a:buNone/>
            </a:pPr>
            <a:r>
              <a:rPr lang="nl-NL" dirty="0"/>
              <a:t>K-means clustering </a:t>
            </a:r>
            <a:r>
              <a:rPr lang="nl-NL" dirty="0" err="1"/>
              <a:t>applied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images is </a:t>
            </a:r>
            <a:r>
              <a:rPr lang="nl-NL" dirty="0" err="1"/>
              <a:t>called</a:t>
            </a:r>
            <a:r>
              <a:rPr lang="nl-NL" dirty="0"/>
              <a:t> </a:t>
            </a:r>
            <a:r>
              <a:rPr lang="nl-NL" i="1" dirty="0"/>
              <a:t>“vector </a:t>
            </a:r>
            <a:r>
              <a:rPr lang="nl-NL" i="1" dirty="0" err="1"/>
              <a:t>quantization</a:t>
            </a:r>
            <a:r>
              <a:rPr lang="nl-NL" i="1" dirty="0"/>
              <a:t>”</a:t>
            </a:r>
            <a:br>
              <a:rPr lang="nl-NL" dirty="0"/>
            </a:br>
            <a:endParaRPr lang="nl-NL" dirty="0"/>
          </a:p>
          <a:p>
            <a:pPr marL="0" indent="0">
              <a:buNone/>
            </a:pPr>
            <a:r>
              <a:rPr lang="nl-NL" dirty="0"/>
              <a:t>Goal: image </a:t>
            </a:r>
            <a:r>
              <a:rPr lang="nl-NL" dirty="0" err="1"/>
              <a:t>compression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</a:t>
            </a:r>
            <a:r>
              <a:rPr lang="nl-NL" dirty="0"/>
              <a:t> </a:t>
            </a:r>
            <a:r>
              <a:rPr lang="nl-NL" dirty="0" err="1"/>
              <a:t>less</a:t>
            </a:r>
            <a:r>
              <a:rPr lang="nl-NL" dirty="0"/>
              <a:t> storage!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Cluster pixels,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replace</a:t>
            </a:r>
            <a:r>
              <a:rPr lang="nl-NL" dirty="0"/>
              <a:t> </a:t>
            </a:r>
            <a:r>
              <a:rPr lang="nl-NL" dirty="0" err="1"/>
              <a:t>them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cluster </a:t>
            </a:r>
            <a:r>
              <a:rPr lang="nl-NL" dirty="0" err="1"/>
              <a:t>centroid</a:t>
            </a:r>
            <a:endParaRPr lang="nl-NL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615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CED62F9B-134F-BE45-A0C5-95DA2240B23F}"/>
              </a:ext>
            </a:extLst>
          </p:cNvPr>
          <p:cNvSpPr/>
          <p:nvPr/>
        </p:nvSpPr>
        <p:spPr>
          <a:xfrm>
            <a:off x="5452703" y="3673642"/>
            <a:ext cx="1236855" cy="86570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screen shot of a computer&#10;&#10;Description automatically generated">
            <a:extLst>
              <a:ext uri="{FF2B5EF4-FFF2-40B4-BE49-F238E27FC236}">
                <a16:creationId xmlns:a16="http://schemas.microsoft.com/office/drawing/2014/main" id="{1991AC51-22E5-C541-A36B-476990004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631"/>
            <a:ext cx="5614737" cy="5614737"/>
          </a:xfrm>
          <a:prstGeom prst="rect">
            <a:avLst/>
          </a:prstGeom>
        </p:spPr>
      </p:pic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362A149E-63D4-C94B-8F07-D610B810C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1" y="-341696"/>
            <a:ext cx="8999620" cy="1439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38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100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419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0266E21-8376-6A48-B502-97D76BEA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6CB63CC6-6430-4346-A5A7-DA4126E20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7" name="Picture 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B36170F-B094-0F4C-ACCF-7FDE80AF30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9" name="Picture 8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A7FEBDA-D006-8645-A98A-F62089C314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2" name="Picture 11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7EF41D69-B192-8448-AB69-6C787CF01A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13" name="Picture 12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AA12DA15-4B14-5B44-88C4-09BE6522E0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9FDB91-A27C-9045-BB7A-14332CE8C5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3276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88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10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126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0266E21-8376-6A48-B502-97D76BEA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6CB63CC6-6430-4346-A5A7-DA4126E20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7" name="Picture 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B36170F-B094-0F4C-ACCF-7FDE80AF30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9" name="Picture 8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A7FEBDA-D006-8645-A98A-F62089C314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2" name="Picture 11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7EF41D69-B192-8448-AB69-6C787CF01A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13" name="Picture 12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AA12DA15-4B14-5B44-88C4-09BE6522E0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3276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09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9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117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0266E21-8376-6A48-B502-97D76BEA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6CB63CC6-6430-4346-A5A7-DA4126E20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7" name="Picture 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B36170F-B094-0F4C-ACCF-7FDE80AF30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9" name="Picture 8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A7FEBDA-D006-8645-A98A-F62089C314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2" name="Picture 11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7EF41D69-B192-8448-AB69-6C787CF01A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49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8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101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0266E21-8376-6A48-B502-97D76BEA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6CB63CC6-6430-4346-A5A7-DA4126E20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7" name="Picture 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B36170F-B094-0F4C-ACCF-7FDE80AF30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9" name="Picture 8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A7FEBDA-D006-8645-A98A-F62089C314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33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7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93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0266E21-8376-6A48-B502-97D76BEA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6CB63CC6-6430-4346-A5A7-DA4126E20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C5C577-3E44-9A45-816D-4F26E5C99D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85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6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79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0266E21-8376-6A48-B502-97D76BEA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6CB63CC6-6430-4346-A5A7-DA4126E206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08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5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65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0266E21-8376-6A48-B502-97D76BEA8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91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4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57 kB</a:t>
            </a:r>
          </a:p>
        </p:txBody>
      </p:sp>
      <p:pic>
        <p:nvPicPr>
          <p:cNvPr id="8" name="Picture 7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86ACB3F-3ABB-764B-8528-36768FBC4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3092"/>
            <a:ext cx="5080000" cy="5080000"/>
          </a:xfrm>
          <a:prstGeom prst="rect">
            <a:avLst/>
          </a:prstGeom>
        </p:spPr>
      </p:pic>
      <p:pic>
        <p:nvPicPr>
          <p:cNvPr id="12" name="Picture 11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7A8EBC6-6987-554E-8466-B7946152F7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68184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37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3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36 kB</a:t>
            </a:r>
          </a:p>
        </p:txBody>
      </p:sp>
      <p:pic>
        <p:nvPicPr>
          <p:cNvPr id="7" name="Picture 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0FD267A5-DCCF-2348-A906-323B75D510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72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2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18 kB</a:t>
            </a:r>
          </a:p>
        </p:txBody>
      </p:sp>
    </p:spTree>
    <p:extLst>
      <p:ext uri="{BB962C8B-B14F-4D97-AF65-F5344CB8AC3E}">
        <p14:creationId xmlns:p14="http://schemas.microsoft.com/office/powerpoint/2010/main" val="582445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27E1-9BCD-2F4F-B88F-1CB9C1EA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1" y="4908"/>
            <a:ext cx="4351338" cy="770948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Original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0D6574-BB65-084B-A89F-7061019BE3DC}"/>
              </a:ext>
            </a:extLst>
          </p:cNvPr>
          <p:cNvSpPr txBox="1">
            <a:spLocks/>
          </p:cNvSpPr>
          <p:nvPr/>
        </p:nvSpPr>
        <p:spPr>
          <a:xfrm>
            <a:off x="7476331" y="4908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i="1" dirty="0"/>
              <a:t>K</a:t>
            </a:r>
            <a:r>
              <a:rPr lang="en-US" b="1" dirty="0"/>
              <a:t> = 1</a:t>
            </a:r>
          </a:p>
        </p:txBody>
      </p:sp>
      <p:pic>
        <p:nvPicPr>
          <p:cNvPr id="4" name="Picture 3" descr="A close up of a mans face&#10;&#10;Description automatically generated">
            <a:extLst>
              <a:ext uri="{FF2B5EF4-FFF2-40B4-BE49-F238E27FC236}">
                <a16:creationId xmlns:a16="http://schemas.microsoft.com/office/drawing/2014/main" id="{77303086-6C3B-4E49-A9D7-8BDE3214C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pic>
        <p:nvPicPr>
          <p:cNvPr id="11" name="Picture 10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DF993019-3C2F-8343-876B-0A12506C5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8000"/>
            <a:ext cx="5080000" cy="5080000"/>
          </a:xfrm>
          <a:prstGeom prst="rect">
            <a:avLst/>
          </a:prstGeom>
        </p:spPr>
      </p:pic>
      <p:pic>
        <p:nvPicPr>
          <p:cNvPr id="13" name="Picture 12" descr="Shape, square&#10;&#10;Description automatically generated">
            <a:extLst>
              <a:ext uri="{FF2B5EF4-FFF2-40B4-BE49-F238E27FC236}">
                <a16:creationId xmlns:a16="http://schemas.microsoft.com/office/drawing/2014/main" id="{7E16FF8D-26F8-0E44-8305-124DF17ED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78000"/>
            <a:ext cx="5080000" cy="50800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D13232E-9BBD-1840-BED7-D8A3AB4CA2FE}"/>
              </a:ext>
            </a:extLst>
          </p:cNvPr>
          <p:cNvSpPr txBox="1">
            <a:spLocks/>
          </p:cNvSpPr>
          <p:nvPr/>
        </p:nvSpPr>
        <p:spPr>
          <a:xfrm>
            <a:off x="364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671 kB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FDB16E-0096-6A45-B98F-E1EFB3B6BD4B}"/>
              </a:ext>
            </a:extLst>
          </p:cNvPr>
          <p:cNvSpPr txBox="1">
            <a:spLocks/>
          </p:cNvSpPr>
          <p:nvPr/>
        </p:nvSpPr>
        <p:spPr>
          <a:xfrm>
            <a:off x="7476331" y="794619"/>
            <a:ext cx="4351338" cy="7709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Courier" pitchFamily="2" charset="0"/>
              </a:rPr>
              <a:t>4 kB</a:t>
            </a:r>
          </a:p>
        </p:txBody>
      </p:sp>
    </p:spTree>
    <p:extLst>
      <p:ext uri="{BB962C8B-B14F-4D97-AF65-F5344CB8AC3E}">
        <p14:creationId xmlns:p14="http://schemas.microsoft.com/office/powerpoint/2010/main" val="62254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B62D3-E419-6642-BDA4-2B89D744D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31" y="0"/>
            <a:ext cx="10540538" cy="7027025"/>
          </a:xfrm>
          <a:prstGeom prst="rect">
            <a:avLst/>
          </a:prstGeom>
        </p:spPr>
      </p:pic>
      <p:pic>
        <p:nvPicPr>
          <p:cNvPr id="3" name="Picture 2" descr="A close up of a mans face&#10;&#10;Description automatically generated">
            <a:extLst>
              <a:ext uri="{FF2B5EF4-FFF2-40B4-BE49-F238E27FC236}">
                <a16:creationId xmlns:a16="http://schemas.microsoft.com/office/drawing/2014/main" id="{F615CD55-8B9E-8441-BDB5-545FC9C1D4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866" y="3513512"/>
            <a:ext cx="982133" cy="982133"/>
          </a:xfrm>
          <a:prstGeom prst="rect">
            <a:avLst/>
          </a:prstGeom>
        </p:spPr>
      </p:pic>
      <p:pic>
        <p:nvPicPr>
          <p:cNvPr id="4" name="Picture 3" descr="Shape, square&#10;&#10;Description automatically generated">
            <a:extLst>
              <a:ext uri="{FF2B5EF4-FFF2-40B4-BE49-F238E27FC236}">
                <a16:creationId xmlns:a16="http://schemas.microsoft.com/office/drawing/2014/main" id="{FB27A316-A9B4-C442-9F34-92F978CBFB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911" y="5418666"/>
            <a:ext cx="982133" cy="982133"/>
          </a:xfrm>
          <a:prstGeom prst="rect">
            <a:avLst/>
          </a:prstGeom>
        </p:spPr>
      </p:pic>
      <p:pic>
        <p:nvPicPr>
          <p:cNvPr id="6" name="Picture 5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C4FB798B-BC8B-7545-9EC3-C9C16E2CCF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712" y="1763275"/>
            <a:ext cx="982133" cy="982133"/>
          </a:xfrm>
          <a:prstGeom prst="rect">
            <a:avLst/>
          </a:prstGeom>
        </p:spPr>
      </p:pic>
      <p:pic>
        <p:nvPicPr>
          <p:cNvPr id="7" name="Picture 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2B00BF1C-0361-1D4F-B03B-A06B0065B2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933" y="3429000"/>
            <a:ext cx="982133" cy="9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394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B62D3-E419-6642-BDA4-2B89D744D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731" y="0"/>
            <a:ext cx="10540537" cy="7027025"/>
          </a:xfrm>
          <a:prstGeom prst="rect">
            <a:avLst/>
          </a:prstGeom>
        </p:spPr>
      </p:pic>
      <p:pic>
        <p:nvPicPr>
          <p:cNvPr id="3" name="Picture 2" descr="A close up of a mans face&#10;&#10;Description automatically generated">
            <a:extLst>
              <a:ext uri="{FF2B5EF4-FFF2-40B4-BE49-F238E27FC236}">
                <a16:creationId xmlns:a16="http://schemas.microsoft.com/office/drawing/2014/main" id="{9C32A7B6-CCBF-704F-926B-649BE8A4B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844" y="3429000"/>
            <a:ext cx="982133" cy="982133"/>
          </a:xfrm>
          <a:prstGeom prst="rect">
            <a:avLst/>
          </a:prstGeom>
        </p:spPr>
      </p:pic>
      <p:pic>
        <p:nvPicPr>
          <p:cNvPr id="4" name="Picture 3" descr="Shape, square&#10;&#10;Description automatically generated">
            <a:extLst>
              <a:ext uri="{FF2B5EF4-FFF2-40B4-BE49-F238E27FC236}">
                <a16:creationId xmlns:a16="http://schemas.microsoft.com/office/drawing/2014/main" id="{40E54507-2236-9E4B-8C29-8AF15AD3CB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844" y="982132"/>
            <a:ext cx="982133" cy="982133"/>
          </a:xfrm>
          <a:prstGeom prst="rect">
            <a:avLst/>
          </a:prstGeom>
        </p:spPr>
      </p:pic>
      <p:pic>
        <p:nvPicPr>
          <p:cNvPr id="5" name="Picture 4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11043132-BC4D-7F4E-8E11-754F87247C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202" y="3920065"/>
            <a:ext cx="982133" cy="982133"/>
          </a:xfrm>
          <a:prstGeom prst="rect">
            <a:avLst/>
          </a:prstGeom>
        </p:spPr>
      </p:pic>
      <p:pic>
        <p:nvPicPr>
          <p:cNvPr id="6" name="Picture 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FAC39E8-AD9C-FC4E-9283-9BA206E783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089" y="3920066"/>
            <a:ext cx="982133" cy="98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7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05FC-6A12-A540-A52B-A272FBBE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of these is the best and why?</a:t>
            </a:r>
          </a:p>
        </p:txBody>
      </p:sp>
      <p:pic>
        <p:nvPicPr>
          <p:cNvPr id="5" name="Picture 4" descr="Shape, square&#10;&#10;Description automatically generated">
            <a:extLst>
              <a:ext uri="{FF2B5EF4-FFF2-40B4-BE49-F238E27FC236}">
                <a16:creationId xmlns:a16="http://schemas.microsoft.com/office/drawing/2014/main" id="{57D92484-5B4D-3B49-9F29-0454EB780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04" y="2112157"/>
            <a:ext cx="730992" cy="730992"/>
          </a:xfrm>
          <a:prstGeom prst="rect">
            <a:avLst/>
          </a:prstGeom>
        </p:spPr>
      </p:pic>
      <p:pic>
        <p:nvPicPr>
          <p:cNvPr id="7" name="Picture 6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2FEF3072-6049-1741-8759-837A5DD93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92" y="2112157"/>
            <a:ext cx="730992" cy="730992"/>
          </a:xfrm>
          <a:prstGeom prst="rect">
            <a:avLst/>
          </a:prstGeom>
        </p:spPr>
      </p:pic>
      <p:pic>
        <p:nvPicPr>
          <p:cNvPr id="9" name="Picture 8" descr="A close up of a mans face&#10;&#10;Description automatically generated">
            <a:extLst>
              <a:ext uri="{FF2B5EF4-FFF2-40B4-BE49-F238E27FC236}">
                <a16:creationId xmlns:a16="http://schemas.microsoft.com/office/drawing/2014/main" id="{D5E5EF4A-19A4-7C40-84F7-6B303CA840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651" y="2112157"/>
            <a:ext cx="730992" cy="730992"/>
          </a:xfrm>
          <a:prstGeom prst="rect">
            <a:avLst/>
          </a:prstGeom>
        </p:spPr>
      </p:pic>
      <p:pic>
        <p:nvPicPr>
          <p:cNvPr id="11" name="Picture 10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8158EC29-FA51-CE40-93EA-930E58A1B4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839" y="2112157"/>
            <a:ext cx="730992" cy="730992"/>
          </a:xfrm>
          <a:prstGeom prst="rect">
            <a:avLst/>
          </a:prstGeom>
        </p:spPr>
      </p:pic>
      <p:pic>
        <p:nvPicPr>
          <p:cNvPr id="13" name="Picture 12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FF47099C-DA70-C64B-8F89-9E0DBBD56C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862" y="2112157"/>
            <a:ext cx="730992" cy="730992"/>
          </a:xfrm>
          <a:prstGeom prst="rect">
            <a:avLst/>
          </a:prstGeom>
        </p:spPr>
      </p:pic>
      <p:pic>
        <p:nvPicPr>
          <p:cNvPr id="15" name="Picture 1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E286CC29-BFDA-0849-8EAA-E148A400C3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63" y="2112157"/>
            <a:ext cx="730992" cy="730992"/>
          </a:xfrm>
          <a:prstGeom prst="rect">
            <a:avLst/>
          </a:prstGeom>
        </p:spPr>
      </p:pic>
      <p:pic>
        <p:nvPicPr>
          <p:cNvPr id="17" name="Picture 16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88D4303D-02A5-3E4A-96D9-EE893625FD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743" y="2112157"/>
            <a:ext cx="730992" cy="730992"/>
          </a:xfrm>
          <a:prstGeom prst="rect">
            <a:avLst/>
          </a:prstGeom>
        </p:spPr>
      </p:pic>
      <p:pic>
        <p:nvPicPr>
          <p:cNvPr id="19" name="Picture 18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71BCAC76-AD41-F748-8623-6784C7CEE3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323" y="2112157"/>
            <a:ext cx="730992" cy="730992"/>
          </a:xfrm>
          <a:prstGeom prst="rect">
            <a:avLst/>
          </a:prstGeom>
        </p:spPr>
      </p:pic>
      <p:pic>
        <p:nvPicPr>
          <p:cNvPr id="21" name="Picture 20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6D87821-F566-154E-A766-5D06817115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903" y="2112157"/>
            <a:ext cx="730992" cy="730992"/>
          </a:xfrm>
          <a:prstGeom prst="rect">
            <a:avLst/>
          </a:prstGeom>
        </p:spPr>
      </p:pic>
      <p:pic>
        <p:nvPicPr>
          <p:cNvPr id="25" name="Picture 24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8212F1BD-797E-754D-9490-5ED49DB053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483" y="2112157"/>
            <a:ext cx="730992" cy="730992"/>
          </a:xfrm>
          <a:prstGeom prst="rect">
            <a:avLst/>
          </a:prstGeom>
        </p:spPr>
      </p:pic>
      <p:pic>
        <p:nvPicPr>
          <p:cNvPr id="27" name="Picture 26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89E3222E-7804-914A-99B1-141154B4BE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176" y="2112157"/>
            <a:ext cx="730992" cy="730992"/>
          </a:xfrm>
          <a:prstGeom prst="rect">
            <a:avLst/>
          </a:prstGeom>
        </p:spPr>
      </p:pic>
      <p:pic>
        <p:nvPicPr>
          <p:cNvPr id="29" name="Picture 28" descr="A person wearing a suit and tie smiling and looking at the camera&#10;&#10;Description automatically generated">
            <a:extLst>
              <a:ext uri="{FF2B5EF4-FFF2-40B4-BE49-F238E27FC236}">
                <a16:creationId xmlns:a16="http://schemas.microsoft.com/office/drawing/2014/main" id="{09C662A7-471D-5440-B837-B11DCCA2F0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304" y="2112157"/>
            <a:ext cx="730992" cy="73099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7D9EF90-DEBF-394E-9728-7D71FE3B2ADF}"/>
              </a:ext>
            </a:extLst>
          </p:cNvPr>
          <p:cNvSpPr txBox="1"/>
          <p:nvPr/>
        </p:nvSpPr>
        <p:spPr>
          <a:xfrm>
            <a:off x="687357" y="169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FC2D7E-986F-E141-A608-DD8057888479}"/>
              </a:ext>
            </a:extLst>
          </p:cNvPr>
          <p:cNvSpPr txBox="1"/>
          <p:nvPr/>
        </p:nvSpPr>
        <p:spPr>
          <a:xfrm>
            <a:off x="4037515" y="1690688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7B7B7A-8271-BF48-9DB9-68BF6C2F6EA6}"/>
              </a:ext>
            </a:extLst>
          </p:cNvPr>
          <p:cNvSpPr txBox="1"/>
          <p:nvPr/>
        </p:nvSpPr>
        <p:spPr>
          <a:xfrm>
            <a:off x="8305211" y="1672526"/>
            <a:ext cx="571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162BE7-9ED0-754D-A3A8-21A803C98C75}"/>
              </a:ext>
            </a:extLst>
          </p:cNvPr>
          <p:cNvSpPr txBox="1"/>
          <p:nvPr/>
        </p:nvSpPr>
        <p:spPr>
          <a:xfrm>
            <a:off x="10096040" y="1672526"/>
            <a:ext cx="571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021B35-C7B2-2F43-80B1-5FA297ADDBC5}"/>
              </a:ext>
            </a:extLst>
          </p:cNvPr>
          <p:cNvSpPr txBox="1"/>
          <p:nvPr/>
        </p:nvSpPr>
        <p:spPr>
          <a:xfrm>
            <a:off x="10867736" y="1672526"/>
            <a:ext cx="97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640,000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53B747F-E528-B14C-B201-F5B16FDD238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193" y="2937199"/>
            <a:ext cx="6180710" cy="412047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027DCE4-C0C0-FF40-A811-88C80F4CC49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718" y="2937199"/>
            <a:ext cx="6180711" cy="412047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5C8F1AA-22E9-F44A-B64D-15CEE72CB4C9}"/>
              </a:ext>
            </a:extLst>
          </p:cNvPr>
          <p:cNvSpPr txBox="1"/>
          <p:nvPr/>
        </p:nvSpPr>
        <p:spPr>
          <a:xfrm>
            <a:off x="-35881" y="1690688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K=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8C776C-2699-054D-BBC4-DB4417655893}"/>
              </a:ext>
            </a:extLst>
          </p:cNvPr>
          <p:cNvSpPr/>
          <p:nvPr/>
        </p:nvSpPr>
        <p:spPr>
          <a:xfrm>
            <a:off x="838200" y="365125"/>
            <a:ext cx="3723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https://www.menti.com/uf9b1miv22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06202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3B62D3-E419-6642-BDA4-2B89D744D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5645" y="0"/>
            <a:ext cx="6180710" cy="4120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DB3AB4-7578-AD40-B967-DD6A2D6C5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644" y="0"/>
            <a:ext cx="6180711" cy="41204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F6E40B-E41E-CC4B-8A50-7C958C86E218}"/>
              </a:ext>
            </a:extLst>
          </p:cNvPr>
          <p:cNvSpPr txBox="1"/>
          <p:nvPr/>
        </p:nvSpPr>
        <p:spPr>
          <a:xfrm>
            <a:off x="1923803" y="3988944"/>
            <a:ext cx="1026819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clusters gives </a:t>
            </a:r>
            <a:r>
              <a:rPr lang="en-US" sz="2400" b="1" dirty="0"/>
              <a:t>better “fit” </a:t>
            </a:r>
            <a:r>
              <a:rPr lang="en-US" sz="2400" dirty="0"/>
              <a:t>in terms of reconstruction of the image </a:t>
            </a:r>
          </a:p>
          <a:p>
            <a:r>
              <a:rPr lang="en-US" sz="2400" dirty="0"/>
              <a:t>	(compression is less “lossy”)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clusters gives </a:t>
            </a:r>
            <a:r>
              <a:rPr lang="en-US" sz="2400" b="1" dirty="0"/>
              <a:t>bigger file size</a:t>
            </a:r>
          </a:p>
          <a:p>
            <a:pPr lvl="1"/>
            <a:r>
              <a:rPr lang="en-US" sz="2400" b="1" dirty="0"/>
              <a:t>  	</a:t>
            </a:r>
            <a:r>
              <a:rPr lang="en-US" sz="2400" dirty="0"/>
              <a:t>(solution is more complex, takes more bytes to store)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 the </a:t>
            </a:r>
            <a:r>
              <a:rPr lang="en-US" sz="2400" b="1" dirty="0"/>
              <a:t>model loss and model complexity trade off against each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a common theme in (unsupervised) machine learning and you should remember this for model-based clustering lecture</a:t>
            </a:r>
          </a:p>
        </p:txBody>
      </p:sp>
    </p:spTree>
    <p:extLst>
      <p:ext uri="{BB962C8B-B14F-4D97-AF65-F5344CB8AC3E}">
        <p14:creationId xmlns:p14="http://schemas.microsoft.com/office/powerpoint/2010/main" val="108862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9723-C792-4AC7-87F8-4D0625C2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 err="1">
                <a:latin typeface="Calibri" panose="020F0502020204030204" pitchFamily="34" charset="0"/>
                <a:cs typeface="Calibri" panose="020F0502020204030204" pitchFamily="34" charset="0"/>
              </a:rPr>
              <a:t>evaluate</a:t>
            </a:r>
            <a:r>
              <a:rPr lang="nl-NL" dirty="0"/>
              <a:t> clustering </a:t>
            </a:r>
            <a:r>
              <a:rPr lang="nl-NL" dirty="0" err="1"/>
              <a:t>results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6251-1240-4AA5-B8FC-12DFBF579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Use of external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Visual exploration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Stability assessment / sensitivity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Internal validation indexes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(Testing for clustering structure)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97DAAC-F226-D24A-B808-95E9B9404CE8}"/>
              </a:ext>
            </a:extLst>
          </p:cNvPr>
          <p:cNvSpPr/>
          <p:nvPr/>
        </p:nvSpPr>
        <p:spPr>
          <a:xfrm>
            <a:off x="3262313" y="5989677"/>
            <a:ext cx="89296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/>
              <a:t>Much more info &amp; helpful advice: Clustering strategy &amp; method selection (</a:t>
            </a:r>
            <a:r>
              <a:rPr lang="en-US" sz="2000" i="1" dirty="0" err="1"/>
              <a:t>ch</a:t>
            </a:r>
            <a:r>
              <a:rPr lang="en-US" sz="2000" i="1" dirty="0"/>
              <a:t> 31 of Handbook of clustering), </a:t>
            </a:r>
            <a:r>
              <a:rPr lang="en-US" sz="2000" i="1" dirty="0">
                <a:hlinkClick r:id="rId2"/>
              </a:rPr>
              <a:t>https://arxiv.org/pdf/1503.02059.pdf</a:t>
            </a:r>
            <a:r>
              <a:rPr lang="en-US" sz="20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23931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EB7E-7BB6-41AC-8CC5-D5C77A02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1. </a:t>
            </a:r>
            <a:r>
              <a:rPr lang="nl-NL" dirty="0" err="1"/>
              <a:t>External</a:t>
            </a:r>
            <a:r>
              <a:rPr lang="nl-NL" dirty="0"/>
              <a:t> </a:t>
            </a:r>
            <a:r>
              <a:rPr lang="nl-NL" dirty="0" err="1"/>
              <a:t>validation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1C123D-1ECF-4676-AD54-9D28B16EF9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nl-NL" dirty="0"/>
                  <a:t>Are </a:t>
                </a:r>
                <a:r>
                  <a:rPr lang="nl-NL" dirty="0" err="1"/>
                  <a:t>the</a:t>
                </a:r>
                <a:r>
                  <a:rPr lang="nl-NL" dirty="0"/>
                  <a:t> clusters </a:t>
                </a:r>
                <a:r>
                  <a:rPr lang="nl-NL" dirty="0" err="1"/>
                  <a:t>associated</a:t>
                </a:r>
                <a:r>
                  <a:rPr lang="nl-NL" dirty="0"/>
                  <a:t> </a:t>
                </a:r>
                <a:r>
                  <a:rPr lang="nl-NL" dirty="0" err="1"/>
                  <a:t>with</a:t>
                </a:r>
                <a:r>
                  <a:rPr lang="nl-NL" dirty="0"/>
                  <a:t> </a:t>
                </a:r>
                <a:r>
                  <a:rPr lang="nl-NL" i="1" dirty="0" err="1"/>
                  <a:t>external</a:t>
                </a:r>
                <a:r>
                  <a:rPr lang="nl-NL" dirty="0"/>
                  <a:t> feature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nl-NL" dirty="0"/>
                  <a:t>?</a:t>
                </a:r>
              </a:p>
              <a:p>
                <a:pPr marL="457200" lvl="1" indent="0">
                  <a:buNone/>
                </a:pPr>
                <a:r>
                  <a:rPr lang="nl-NL" dirty="0"/>
                  <a:t>“Making </a:t>
                </a:r>
                <a:r>
                  <a:rPr lang="nl-NL" dirty="0" err="1"/>
                  <a:t>unsupervised</a:t>
                </a:r>
                <a:r>
                  <a:rPr lang="nl-NL" dirty="0"/>
                  <a:t> </a:t>
                </a:r>
                <a:r>
                  <a:rPr lang="nl-NL" dirty="0" err="1"/>
                  <a:t>supervised</a:t>
                </a:r>
                <a:r>
                  <a:rPr lang="nl-NL" dirty="0"/>
                  <a:t>”</a:t>
                </a:r>
              </a:p>
              <a:p>
                <a:pPr lvl="1"/>
                <a:endParaRPr lang="nl-NL" dirty="0"/>
              </a:p>
              <a:p>
                <a:pPr marL="0" indent="0">
                  <a:buNone/>
                </a:pPr>
                <a:r>
                  <a:rPr lang="en-GB" i="1" dirty="0"/>
                  <a:t>Examples</a:t>
                </a:r>
                <a:r>
                  <a:rPr lang="en-GB" dirty="0"/>
                  <a:t>: </a:t>
                </a:r>
              </a:p>
              <a:p>
                <a:r>
                  <a:rPr lang="en-GB" dirty="0"/>
                  <a:t>Are my customer segments based on spending associated with the demographics of the customers?</a:t>
                </a:r>
              </a:p>
              <a:p>
                <a:r>
                  <a:rPr lang="en-GB" dirty="0"/>
                  <a:t>Are the geyser eruption types strongly correlated with water pressure or temperature?</a:t>
                </a:r>
              </a:p>
              <a:p>
                <a:r>
                  <a:rPr lang="en-GB" dirty="0"/>
                  <a:t>Can I recognize the person in the vector quantized picture?</a:t>
                </a:r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1C123D-1ECF-4676-AD54-9D28B16EF9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408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711B-63FD-D145-BA24-6AC464D2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Visual exploration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6AC9F-C51C-0A48-8BCD-042CCC4712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3012"/>
            <a:ext cx="5614988" cy="56149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A6E2CE-1EC3-F346-B6D9-54EC5A876000}"/>
              </a:ext>
            </a:extLst>
          </p:cNvPr>
          <p:cNvSpPr txBox="1"/>
          <p:nvPr/>
        </p:nvSpPr>
        <p:spPr>
          <a:xfrm>
            <a:off x="5767754" y="1372850"/>
            <a:ext cx="66154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Problem</a:t>
            </a:r>
            <a:r>
              <a:rPr lang="en-US" sz="2400" dirty="0"/>
              <a:t>: Kind of hard to see already…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Wait till you get 1000 variables!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New idea</a:t>
            </a:r>
            <a:r>
              <a:rPr lang="en-US" sz="2400" dirty="0"/>
              <a:t>: Reduce variables into 2D “manifold” for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Popular techniques: UMAP, t-SNE, MDS, Discriminant Coordinates, (PCA)</a:t>
            </a:r>
          </a:p>
        </p:txBody>
      </p:sp>
    </p:spTree>
    <p:extLst>
      <p:ext uri="{BB962C8B-B14F-4D97-AF65-F5344CB8AC3E}">
        <p14:creationId xmlns:p14="http://schemas.microsoft.com/office/powerpoint/2010/main" val="327718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4222-411E-174D-88FD-21B60158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Visual exploration (using “manifold”)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C93542-FF3A-924C-B153-F2D3EC1E7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581" y="1292224"/>
            <a:ext cx="5755482" cy="5755482"/>
          </a:xfrm>
        </p:spPr>
      </p:pic>
    </p:spTree>
    <p:extLst>
      <p:ext uri="{BB962C8B-B14F-4D97-AF65-F5344CB8AC3E}">
        <p14:creationId xmlns:p14="http://schemas.microsoft.com/office/powerpoint/2010/main" val="9277695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BE60E-D36D-2E4C-801E-C20B51875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Stability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5EC60-0581-9C41-BEA5-4D8394FEF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A.k.a.: Clustering can be fiddly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62846926-0CF8-524C-A03A-F40B8870A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531" y="1690688"/>
            <a:ext cx="6290469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915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hart, scatter chart&#10;&#10;Description automatically generated">
            <a:extLst>
              <a:ext uri="{FF2B5EF4-FFF2-40B4-BE49-F238E27FC236}">
                <a16:creationId xmlns:a16="http://schemas.microsoft.com/office/drawing/2014/main" id="{9865FFDE-C576-4E49-B5A2-746FA38F8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3981450" cy="3185160"/>
          </a:xfrm>
          <a:prstGeom prst="rect">
            <a:avLst/>
          </a:prstGeom>
        </p:spPr>
      </p:pic>
      <p:pic>
        <p:nvPicPr>
          <p:cNvPr id="16" name="Picture 15" descr="Chart, scatter chart&#10;&#10;Description automatically generated">
            <a:extLst>
              <a:ext uri="{FF2B5EF4-FFF2-40B4-BE49-F238E27FC236}">
                <a16:creationId xmlns:a16="http://schemas.microsoft.com/office/drawing/2014/main" id="{CCE6AA0C-CA16-7343-8D53-26CAC9763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2840"/>
            <a:ext cx="3981450" cy="3185160"/>
          </a:xfrm>
          <a:prstGeom prst="rect">
            <a:avLst/>
          </a:prstGeom>
        </p:spPr>
      </p:pic>
      <p:pic>
        <p:nvPicPr>
          <p:cNvPr id="18" name="Picture 17" descr="Chart, scatter chart&#10;&#10;Description automatically generated">
            <a:extLst>
              <a:ext uri="{FF2B5EF4-FFF2-40B4-BE49-F238E27FC236}">
                <a16:creationId xmlns:a16="http://schemas.microsoft.com/office/drawing/2014/main" id="{6890FB09-8EE6-264F-95AB-CAEDB4B7E1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362" y="0"/>
            <a:ext cx="3981450" cy="31851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55BA358-A5E0-414B-9D5E-CA99AE4B59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25" y="0"/>
            <a:ext cx="3981450" cy="3185160"/>
          </a:xfrm>
          <a:prstGeom prst="rect">
            <a:avLst/>
          </a:prstGeom>
        </p:spPr>
      </p:pic>
      <p:pic>
        <p:nvPicPr>
          <p:cNvPr id="22" name="Picture 21" descr="Chart, scatter chart&#10;&#10;Description automatically generated">
            <a:extLst>
              <a:ext uri="{FF2B5EF4-FFF2-40B4-BE49-F238E27FC236}">
                <a16:creationId xmlns:a16="http://schemas.microsoft.com/office/drawing/2014/main" id="{1A8819FF-45C9-D44E-B7D7-FBB50981E3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552" y="3672841"/>
            <a:ext cx="3981450" cy="3185160"/>
          </a:xfrm>
          <a:prstGeom prst="rect">
            <a:avLst/>
          </a:prstGeom>
        </p:spPr>
      </p:pic>
      <p:pic>
        <p:nvPicPr>
          <p:cNvPr id="25" name="Picture 24" descr="Chart, scatter chart&#10;&#10;Description automatically generated">
            <a:extLst>
              <a:ext uri="{FF2B5EF4-FFF2-40B4-BE49-F238E27FC236}">
                <a16:creationId xmlns:a16="http://schemas.microsoft.com/office/drawing/2014/main" id="{FEC8C4EA-247E-5640-8979-ECE64A26C8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362" y="3429000"/>
            <a:ext cx="428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633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1CE8-A071-4816-8B3F-E1EE6E89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3. Cluster “</a:t>
            </a:r>
            <a:r>
              <a:rPr lang="nl-NL" dirty="0" err="1"/>
              <a:t>stability</a:t>
            </a:r>
            <a:r>
              <a:rPr lang="nl-NL" dirty="0"/>
              <a:t>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134A4-9A01-41F7-882A-235E2FA39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Three “</a:t>
            </a:r>
            <a:r>
              <a:rPr lang="nl-NL" dirty="0" err="1"/>
              <a:t>stabilities</a:t>
            </a:r>
            <a:r>
              <a:rPr lang="nl-NL" dirty="0"/>
              <a:t>”. How </a:t>
            </a:r>
            <a:r>
              <a:rPr lang="nl-NL" dirty="0" err="1"/>
              <a:t>much</a:t>
            </a:r>
            <a:r>
              <a:rPr lang="nl-NL" dirty="0"/>
              <a:t> does clustering change </a:t>
            </a:r>
            <a:r>
              <a:rPr lang="nl-NL" dirty="0" err="1"/>
              <a:t>when</a:t>
            </a:r>
            <a:r>
              <a:rPr lang="nl-NL" dirty="0"/>
              <a:t>:</a:t>
            </a:r>
          </a:p>
          <a:p>
            <a:pPr marL="0" indent="0">
              <a:buNone/>
            </a:pPr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Changing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b="1" dirty="0"/>
              <a:t>hyperparameters</a:t>
            </a:r>
            <a:r>
              <a:rPr lang="nl-NL" dirty="0"/>
              <a:t>	(</a:t>
            </a:r>
            <a:r>
              <a:rPr lang="nl-NL" dirty="0" err="1"/>
              <a:t>distance</a:t>
            </a:r>
            <a:r>
              <a:rPr lang="nl-NL" dirty="0"/>
              <a:t> </a:t>
            </a:r>
            <a:r>
              <a:rPr lang="nl-NL" dirty="0" err="1"/>
              <a:t>metric</a:t>
            </a:r>
            <a:r>
              <a:rPr lang="nl-NL" dirty="0"/>
              <a:t>, </a:t>
            </a:r>
            <a:r>
              <a:rPr lang="nl-NL" dirty="0" err="1"/>
              <a:t>linkage</a:t>
            </a:r>
            <a:r>
              <a:rPr lang="nl-NL" dirty="0"/>
              <a:t>, K, ...)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Changing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b="1" dirty="0" err="1"/>
              <a:t>observations</a:t>
            </a:r>
            <a:r>
              <a:rPr lang="nl-NL" dirty="0"/>
              <a:t> 	(bootstrapping, </a:t>
            </a:r>
            <a:r>
              <a:rPr lang="nl-NL" sz="2200" dirty="0">
                <a:hlinkClick r:id="rId2"/>
              </a:rPr>
              <a:t>Hennig, 2007</a:t>
            </a:r>
            <a:r>
              <a:rPr lang="nl-NL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Changing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b="1" dirty="0"/>
              <a:t>features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Check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observations</a:t>
            </a:r>
            <a:r>
              <a:rPr lang="nl-NL" dirty="0"/>
              <a:t> are </a:t>
            </a:r>
            <a:r>
              <a:rPr lang="nl-NL" dirty="0" err="1"/>
              <a:t>classified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cluster </a:t>
            </a:r>
            <a:r>
              <a:rPr lang="nl-NL" dirty="0" err="1"/>
              <a:t>across</a:t>
            </a:r>
            <a:r>
              <a:rPr lang="nl-NL" dirty="0"/>
              <a:t> </a:t>
            </a:r>
            <a:r>
              <a:rPr lang="nl-NL" dirty="0" err="1"/>
              <a:t>choices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e.g.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Jaccard</a:t>
            </a:r>
            <a:r>
              <a:rPr lang="nl-NL" dirty="0"/>
              <a:t> index, Rand index</a:t>
            </a:r>
          </a:p>
        </p:txBody>
      </p:sp>
    </p:spTree>
    <p:extLst>
      <p:ext uri="{BB962C8B-B14F-4D97-AF65-F5344CB8AC3E}">
        <p14:creationId xmlns:p14="http://schemas.microsoft.com/office/powerpoint/2010/main" val="2214281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4DB94-0F2A-E94F-B40A-B66F6E8A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Clusterwise</a:t>
            </a:r>
            <a:r>
              <a:rPr lang="en-US" dirty="0"/>
              <a:t> stability in </a:t>
            </a:r>
            <a:r>
              <a:rPr lang="en-US" dirty="0">
                <a:latin typeface="Courier" pitchFamily="2" charset="0"/>
              </a:rPr>
              <a:t>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C1917-FAD0-D34D-A347-3F4CDA121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99469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library(</a:t>
            </a:r>
            <a:r>
              <a:rPr lang="en-US" dirty="0" err="1">
                <a:latin typeface="Courier" pitchFamily="2" charset="0"/>
              </a:rPr>
              <a:t>fpc</a:t>
            </a:r>
            <a:r>
              <a:rPr lang="en-US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data(iris)</a:t>
            </a:r>
          </a:p>
          <a:p>
            <a:pPr marL="0" indent="0">
              <a:buNone/>
            </a:pPr>
            <a:r>
              <a:rPr lang="en-US" dirty="0" err="1">
                <a:latin typeface="Courier" pitchFamily="2" charset="0"/>
              </a:rPr>
              <a:t>clusterboot</a:t>
            </a:r>
            <a:r>
              <a:rPr lang="en-US" dirty="0">
                <a:latin typeface="Courier" pitchFamily="2" charset="0"/>
              </a:rPr>
              <a:t>(iris[, 1:4],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      </a:t>
            </a:r>
            <a:r>
              <a:rPr lang="en-US" dirty="0" err="1">
                <a:latin typeface="Courier" pitchFamily="2" charset="0"/>
              </a:rPr>
              <a:t>clustermethod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hclustCBI</a:t>
            </a:r>
            <a:r>
              <a:rPr lang="en-US" dirty="0">
                <a:latin typeface="Courier" pitchFamily="2" charset="0"/>
              </a:rPr>
              <a:t>,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      method = "complete", k = 3)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D084024-B1F8-034F-BA6A-57A8F53FA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938" y="0"/>
            <a:ext cx="3548062" cy="354806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561ACD-FF7A-C949-AB91-2786194E7055}"/>
              </a:ext>
            </a:extLst>
          </p:cNvPr>
          <p:cNvSpPr txBox="1">
            <a:spLocks/>
          </p:cNvSpPr>
          <p:nvPr/>
        </p:nvSpPr>
        <p:spPr>
          <a:xfrm>
            <a:off x="838200" y="4357688"/>
            <a:ext cx="11063288" cy="183673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 err="1">
                <a:latin typeface="Courier" pitchFamily="2" charset="0"/>
              </a:rPr>
              <a:t>Clusterwise</a:t>
            </a:r>
            <a:r>
              <a:rPr lang="en-US" sz="3000" dirty="0">
                <a:latin typeface="Courier" pitchFamily="2" charset="0"/>
              </a:rPr>
              <a:t> Jaccard bootstrap (omitting multiple points) mean:</a:t>
            </a:r>
          </a:p>
          <a:p>
            <a:pPr marL="0" indent="0">
              <a:buNone/>
            </a:pPr>
            <a:r>
              <a:rPr lang="en-US" sz="3000" dirty="0">
                <a:latin typeface="Courier" pitchFamily="2" charset="0"/>
              </a:rPr>
              <a:t>[1] 0.891 </a:t>
            </a:r>
            <a:r>
              <a:rPr lang="en-US" sz="3000" b="1" dirty="0">
                <a:latin typeface="Courier" pitchFamily="2" charset="0"/>
              </a:rPr>
              <a:t>0.459</a:t>
            </a:r>
            <a:r>
              <a:rPr lang="en-US" sz="3000" dirty="0">
                <a:latin typeface="Courier" pitchFamily="2" charset="0"/>
              </a:rPr>
              <a:t> 0.719</a:t>
            </a:r>
          </a:p>
        </p:txBody>
      </p:sp>
    </p:spTree>
    <p:extLst>
      <p:ext uri="{BB962C8B-B14F-4D97-AF65-F5344CB8AC3E}">
        <p14:creationId xmlns:p14="http://schemas.microsoft.com/office/powerpoint/2010/main" val="33704310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52E2E-8942-264F-B428-BEF89B86A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Internal validation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F2008-7AED-3448-92F3-598854E66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look at “unsupervised” bit: data and clustering</a:t>
            </a:r>
          </a:p>
          <a:p>
            <a:r>
              <a:rPr lang="en-US" dirty="0"/>
              <a:t>Quantify how “successful” the clustering is in some sense</a:t>
            </a:r>
          </a:p>
          <a:p>
            <a:r>
              <a:rPr lang="en-US" dirty="0"/>
              <a:t>Popular </a:t>
            </a:r>
            <a:r>
              <a:rPr lang="en-US" b="1" dirty="0"/>
              <a:t>measures</a:t>
            </a:r>
            <a:r>
              <a:rPr lang="en-US" dirty="0"/>
              <a:t>:</a:t>
            </a:r>
          </a:p>
          <a:p>
            <a:pPr lvl="1"/>
            <a:r>
              <a:rPr lang="en-US" sz="2600" dirty="0"/>
              <a:t>Average </a:t>
            </a:r>
            <a:r>
              <a:rPr lang="en-US" sz="2600" dirty="0" err="1"/>
              <a:t>sihouette</a:t>
            </a:r>
            <a:r>
              <a:rPr lang="en-US" sz="2600" dirty="0"/>
              <a:t> width (</a:t>
            </a:r>
            <a:r>
              <a:rPr lang="en-US" sz="2600" b="1" dirty="0"/>
              <a:t>ASW</a:t>
            </a:r>
            <a:r>
              <a:rPr lang="en-US" sz="2600" dirty="0"/>
              <a:t>)	</a:t>
            </a:r>
            <a:r>
              <a:rPr lang="en-US" dirty="0"/>
              <a:t>(</a:t>
            </a:r>
            <a:r>
              <a:rPr lang="en-US" i="1" dirty="0"/>
              <a:t>how close are points to other clusters</a:t>
            </a:r>
            <a:r>
              <a:rPr lang="en-US" dirty="0"/>
              <a:t>)</a:t>
            </a:r>
          </a:p>
          <a:p>
            <a:pPr lvl="1"/>
            <a:r>
              <a:rPr lang="en-US" sz="2600" dirty="0"/>
              <a:t>“Gap statistic” 			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Tibshirani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 2001)</a:t>
            </a:r>
          </a:p>
          <a:p>
            <a:pPr lvl="1"/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(measures from model-based clustering </a:t>
            </a: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itchFamily="2" charset="2"/>
              </a:rPr>
              <a:t></a:t>
            </a: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tomorrow)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Disadvantage</a:t>
            </a:r>
            <a:r>
              <a:rPr lang="en-US" dirty="0"/>
              <a:t>: don’t take account of the clustering </a:t>
            </a:r>
            <a:r>
              <a:rPr lang="en-US" b="1" dirty="0"/>
              <a:t>aim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383914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2B18-C17B-0345-B93B-11D1EA9B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Silhouette analysis in </a:t>
            </a:r>
            <a:r>
              <a:rPr lang="en-US" dirty="0">
                <a:latin typeface="Courier" pitchFamily="2" charset="0"/>
                <a:cs typeface="Calibri" panose="020F0502020204030204" pitchFamily="34" charset="0"/>
              </a:rPr>
              <a:t>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4D1992-9746-DC40-A88C-F3F0B9839AE2}"/>
              </a:ext>
            </a:extLst>
          </p:cNvPr>
          <p:cNvSpPr/>
          <p:nvPr/>
        </p:nvSpPr>
        <p:spPr>
          <a:xfrm>
            <a:off x="0" y="1690688"/>
            <a:ext cx="12192000" cy="246221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 err="1">
                <a:latin typeface="Courier" pitchFamily="2" charset="0"/>
              </a:rPr>
              <a:t>distmat_faithful</a:t>
            </a:r>
            <a:r>
              <a:rPr lang="en-US" sz="2200" dirty="0">
                <a:latin typeface="Courier" pitchFamily="2" charset="0"/>
              </a:rPr>
              <a:t> &lt;- </a:t>
            </a:r>
            <a:r>
              <a:rPr lang="en-US" sz="2200" dirty="0" err="1">
                <a:latin typeface="Courier" pitchFamily="2" charset="0"/>
              </a:rPr>
              <a:t>dist</a:t>
            </a:r>
            <a:r>
              <a:rPr lang="en-US" sz="2200" dirty="0">
                <a:latin typeface="Courier" pitchFamily="2" charset="0"/>
              </a:rPr>
              <a:t>(faithful)</a:t>
            </a:r>
          </a:p>
          <a:p>
            <a:r>
              <a:rPr lang="en-US" sz="2200" dirty="0" err="1">
                <a:latin typeface="Courier" pitchFamily="2" charset="0"/>
              </a:rPr>
              <a:t>hclust_faithful</a:t>
            </a:r>
            <a:r>
              <a:rPr lang="en-US" sz="2200" dirty="0">
                <a:latin typeface="Courier" pitchFamily="2" charset="0"/>
              </a:rPr>
              <a:t> &lt;- </a:t>
            </a:r>
            <a:r>
              <a:rPr lang="en-US" sz="2200" dirty="0" err="1">
                <a:latin typeface="Courier" pitchFamily="2" charset="0"/>
              </a:rPr>
              <a:t>hclust</a:t>
            </a:r>
            <a:r>
              <a:rPr lang="en-US" sz="2200" dirty="0">
                <a:latin typeface="Courier" pitchFamily="2" charset="0"/>
              </a:rPr>
              <a:t>(</a:t>
            </a:r>
            <a:r>
              <a:rPr lang="en-US" sz="2200" dirty="0" err="1">
                <a:latin typeface="Courier" pitchFamily="2" charset="0"/>
              </a:rPr>
              <a:t>distmat_faithful</a:t>
            </a:r>
            <a:r>
              <a:rPr lang="en-US" sz="2200" dirty="0">
                <a:latin typeface="Courier" pitchFamily="2" charset="0"/>
              </a:rPr>
              <a:t>)</a:t>
            </a:r>
          </a:p>
          <a:p>
            <a:endParaRPr lang="en-US" sz="2200" dirty="0">
              <a:latin typeface="Courier" pitchFamily="2" charset="0"/>
            </a:endParaRPr>
          </a:p>
          <a:p>
            <a:r>
              <a:rPr lang="en-US" sz="2200" dirty="0" err="1">
                <a:latin typeface="Courier" pitchFamily="2" charset="0"/>
              </a:rPr>
              <a:t>clustering_faithful</a:t>
            </a:r>
            <a:r>
              <a:rPr lang="en-US" sz="2200" dirty="0">
                <a:latin typeface="Courier" pitchFamily="2" charset="0"/>
              </a:rPr>
              <a:t> &lt;- </a:t>
            </a:r>
            <a:r>
              <a:rPr lang="en-US" sz="2200" dirty="0" err="1">
                <a:latin typeface="Courier" pitchFamily="2" charset="0"/>
              </a:rPr>
              <a:t>cutree</a:t>
            </a:r>
            <a:r>
              <a:rPr lang="en-US" sz="2200" dirty="0">
                <a:latin typeface="Courier" pitchFamily="2" charset="0"/>
              </a:rPr>
              <a:t>(</a:t>
            </a:r>
            <a:r>
              <a:rPr lang="en-US" sz="2200" dirty="0" err="1">
                <a:latin typeface="Courier" pitchFamily="2" charset="0"/>
              </a:rPr>
              <a:t>hclust_faithful</a:t>
            </a:r>
            <a:r>
              <a:rPr lang="en-US" sz="2200" dirty="0">
                <a:latin typeface="Courier" pitchFamily="2" charset="0"/>
              </a:rPr>
              <a:t>, 2)</a:t>
            </a:r>
          </a:p>
          <a:p>
            <a:r>
              <a:rPr lang="en-US" sz="2200" dirty="0" err="1">
                <a:latin typeface="Courier" pitchFamily="2" charset="0"/>
              </a:rPr>
              <a:t>silhouette_scores</a:t>
            </a:r>
            <a:r>
              <a:rPr lang="en-US" sz="2200" dirty="0">
                <a:latin typeface="Courier" pitchFamily="2" charset="0"/>
              </a:rPr>
              <a:t> &lt;- silhouette(</a:t>
            </a:r>
            <a:r>
              <a:rPr lang="en-US" sz="2200" dirty="0" err="1">
                <a:latin typeface="Courier" pitchFamily="2" charset="0"/>
              </a:rPr>
              <a:t>clustering_faithful</a:t>
            </a:r>
            <a:r>
              <a:rPr lang="en-US" sz="2200" dirty="0">
                <a:latin typeface="Courier" pitchFamily="2" charset="0"/>
              </a:rPr>
              <a:t>, </a:t>
            </a:r>
            <a:r>
              <a:rPr lang="en-US" sz="2200" dirty="0" err="1">
                <a:latin typeface="Courier" pitchFamily="2" charset="0"/>
              </a:rPr>
              <a:t>distmat_faithful</a:t>
            </a:r>
            <a:r>
              <a:rPr lang="en-US" sz="2200" dirty="0">
                <a:latin typeface="Courier" pitchFamily="2" charset="0"/>
              </a:rPr>
              <a:t>)</a:t>
            </a:r>
          </a:p>
          <a:p>
            <a:endParaRPr lang="en-US" sz="2200" dirty="0">
              <a:latin typeface="Courier" pitchFamily="2" charset="0"/>
            </a:endParaRPr>
          </a:p>
          <a:p>
            <a:r>
              <a:rPr lang="en-US" sz="2200" dirty="0">
                <a:latin typeface="Courier" pitchFamily="2" charset="0"/>
              </a:rPr>
              <a:t>plot(</a:t>
            </a:r>
            <a:r>
              <a:rPr lang="en-US" sz="2200" dirty="0" err="1">
                <a:latin typeface="Courier" pitchFamily="2" charset="0"/>
              </a:rPr>
              <a:t>silhouette_scores</a:t>
            </a:r>
            <a:r>
              <a:rPr lang="en-US" sz="2200" dirty="0">
                <a:latin typeface="Courier" pitchFamily="2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CFA48-7F43-E043-8AA0-459474F52D6B}"/>
              </a:ext>
            </a:extLst>
          </p:cNvPr>
          <p:cNvSpPr txBox="1"/>
          <p:nvPr/>
        </p:nvSpPr>
        <p:spPr>
          <a:xfrm>
            <a:off x="838200" y="4751813"/>
            <a:ext cx="91768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i="1" dirty="0"/>
              <a:t>Note that this works for any type of clustering!</a:t>
            </a:r>
          </a:p>
        </p:txBody>
      </p:sp>
    </p:spTree>
    <p:extLst>
      <p:ext uri="{BB962C8B-B14F-4D97-AF65-F5344CB8AC3E}">
        <p14:creationId xmlns:p14="http://schemas.microsoft.com/office/powerpoint/2010/main" val="40216126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3AE9B57-EE8C-EA44-B684-421213BA5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00" y="0"/>
            <a:ext cx="8229600" cy="5486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235E14-EEBB-CD4A-974B-A592FEDCC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0" y="0"/>
            <a:ext cx="457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247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FB31D7-13B2-A84F-8398-5D1F0E5A0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00" y="0"/>
            <a:ext cx="8229600" cy="548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B4985-27A8-8049-BEAB-7D09B3634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0" y="0"/>
            <a:ext cx="457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840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3F8B16-43DC-4A45-9E7B-57470DA26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00" y="0"/>
            <a:ext cx="8229600" cy="5486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3FE834-366D-354B-896A-2CAD0473A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0" y="0"/>
            <a:ext cx="457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422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DD86-DC85-4149-B13D-344EF943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36D2C-39ED-0A42-8496-EA2989978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13641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 you think the average silhouette width (ASW) of this solution will approximately be?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F7F48FB1-283A-EE42-9AD2-05A3A601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410" y="1825625"/>
            <a:ext cx="5487390" cy="4389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BD5898-04E6-3646-9089-A5CCEE390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8000" y="2140265"/>
            <a:ext cx="6606034" cy="40752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1FF022-06A2-6449-9439-345A4C99CC9D}"/>
              </a:ext>
            </a:extLst>
          </p:cNvPr>
          <p:cNvSpPr/>
          <p:nvPr/>
        </p:nvSpPr>
        <p:spPr>
          <a:xfrm>
            <a:off x="1919190" y="6441874"/>
            <a:ext cx="3723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https://www.menti.com/uf9b1miv22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28466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3879-E34E-4C82-BA87-1C33C360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dirty="0" err="1"/>
              <a:t>Conclusion</a:t>
            </a:r>
            <a:r>
              <a:rPr lang="nl-NL" b="1" dirty="0"/>
              <a:t>: clustering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AC194-1F0C-432A-8FC7-5A9E8044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Clustering</a:t>
            </a:r>
            <a:r>
              <a:rPr lang="nl-NL" b="1" dirty="0"/>
              <a:t> </a:t>
            </a:r>
            <a:r>
              <a:rPr lang="nl-NL" dirty="0"/>
              <a:t>looks </a:t>
            </a:r>
            <a:r>
              <a:rPr lang="nl-NL" dirty="0" err="1"/>
              <a:t>for</a:t>
            </a:r>
            <a:r>
              <a:rPr lang="nl-NL" dirty="0"/>
              <a:t> “</a:t>
            </a:r>
            <a:r>
              <a:rPr lang="nl-NL" dirty="0" err="1"/>
              <a:t>similar</a:t>
            </a:r>
            <a:r>
              <a:rPr lang="nl-NL" dirty="0"/>
              <a:t>” </a:t>
            </a:r>
            <a:r>
              <a:rPr lang="nl-NL" dirty="0" err="1"/>
              <a:t>groups</a:t>
            </a:r>
            <a:r>
              <a:rPr lang="nl-NL" dirty="0"/>
              <a:t> of </a:t>
            </a:r>
            <a:r>
              <a:rPr lang="nl-NL" dirty="0" err="1"/>
              <a:t>observations</a:t>
            </a:r>
            <a:endParaRPr lang="nl-NL" dirty="0"/>
          </a:p>
          <a:p>
            <a:r>
              <a:rPr lang="nl-NL" dirty="0" err="1"/>
              <a:t>T</a:t>
            </a:r>
            <a:r>
              <a:rPr lang="nl-NL" i="1" dirty="0" err="1"/>
              <a:t>wo</a:t>
            </a:r>
            <a:r>
              <a:rPr lang="nl-NL" i="1" dirty="0"/>
              <a:t> </a:t>
            </a:r>
            <a:r>
              <a:rPr lang="nl-NL" dirty="0"/>
              <a:t>basic clustering </a:t>
            </a:r>
            <a:r>
              <a:rPr lang="nl-NL" dirty="0" err="1"/>
              <a:t>methods</a:t>
            </a:r>
            <a:r>
              <a:rPr lang="nl-NL" dirty="0"/>
              <a:t>: 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NL" b="1" dirty="0" err="1"/>
              <a:t>Hierarchical</a:t>
            </a:r>
            <a:r>
              <a:rPr lang="nl-NL" dirty="0"/>
              <a:t> clustering (e.g. bottom-up </a:t>
            </a:r>
            <a:r>
              <a:rPr lang="nl-NL" dirty="0" err="1"/>
              <a:t>agglomerative</a:t>
            </a:r>
            <a:r>
              <a:rPr lang="nl-NL" dirty="0"/>
              <a:t>, top-down </a:t>
            </a:r>
            <a:r>
              <a:rPr lang="nl-NL" dirty="0" err="1"/>
              <a:t>divisive</a:t>
            </a:r>
            <a:r>
              <a:rPr lang="nl-NL" dirty="0"/>
              <a:t>, …)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NL" b="1" dirty="0" err="1"/>
              <a:t>Partitional</a:t>
            </a:r>
            <a:r>
              <a:rPr lang="nl-NL" dirty="0"/>
              <a:t> clustering (e.g. k-means, DBSCAN, …).</a:t>
            </a:r>
          </a:p>
          <a:p>
            <a:r>
              <a:rPr lang="nl-NL" dirty="0"/>
              <a:t>Cluster </a:t>
            </a:r>
            <a:r>
              <a:rPr lang="nl-NL" dirty="0" err="1"/>
              <a:t>evaluation</a:t>
            </a:r>
            <a:r>
              <a:rPr lang="nl-NL" dirty="0"/>
              <a:t> is </a:t>
            </a:r>
            <a:r>
              <a:rPr lang="nl-NL" dirty="0" err="1"/>
              <a:t>an</a:t>
            </a:r>
            <a:r>
              <a:rPr lang="nl-NL" dirty="0"/>
              <a:t> important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subtle</a:t>
            </a:r>
            <a:r>
              <a:rPr lang="nl-NL" dirty="0"/>
              <a:t> topic;</a:t>
            </a:r>
          </a:p>
          <a:p>
            <a:r>
              <a:rPr lang="nl-NL" dirty="0"/>
              <a:t>No way </a:t>
            </a:r>
            <a:r>
              <a:rPr lang="nl-NL" dirty="0" err="1"/>
              <a:t>to</a:t>
            </a:r>
            <a:r>
              <a:rPr lang="nl-NL" dirty="0"/>
              <a:t> get </a:t>
            </a:r>
            <a:r>
              <a:rPr lang="nl-NL" dirty="0" err="1"/>
              <a:t>rid</a:t>
            </a:r>
            <a:r>
              <a:rPr lang="nl-NL" dirty="0"/>
              <a:t> of </a:t>
            </a:r>
            <a:r>
              <a:rPr lang="nl-NL" dirty="0" err="1"/>
              <a:t>critical</a:t>
            </a:r>
            <a:r>
              <a:rPr lang="nl-NL" dirty="0"/>
              <a:t> </a:t>
            </a:r>
            <a:r>
              <a:rPr lang="nl-NL" dirty="0" err="1"/>
              <a:t>thought</a:t>
            </a:r>
            <a:r>
              <a:rPr lang="nl-NL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7888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73D4E-B70B-4136-B747-E79AAA180FB8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5032e021-b0cf-43e6-828a-5b682824f23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ef284efa-1316-4307-b1a8-b157427e423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9256</TotalTime>
  <Words>1754</Words>
  <Application>Microsoft Macintosh PowerPoint</Application>
  <PresentationFormat>Widescreen</PresentationFormat>
  <Paragraphs>285</Paragraphs>
  <Slides>61</Slides>
  <Notes>9</Notes>
  <HiddenSlides>17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Consolas</vt:lpstr>
      <vt:lpstr>Courier</vt:lpstr>
      <vt:lpstr>Helvetica Neue</vt:lpstr>
      <vt:lpstr>Times New Roman</vt:lpstr>
      <vt:lpstr>Wingdings</vt:lpstr>
      <vt:lpstr>Office Theme</vt:lpstr>
      <vt:lpstr>PowerPoint Presentation</vt:lpstr>
      <vt:lpstr>PowerPoint Presentation</vt:lpstr>
      <vt:lpstr>Reading materials about  clustering (this week &amp; next)</vt:lpstr>
      <vt:lpstr>Optional, much more in-depth material</vt:lpstr>
      <vt:lpstr>Clustering</vt:lpstr>
      <vt:lpstr>Why clustering?</vt:lpstr>
      <vt:lpstr>Some applications of clustering</vt:lpstr>
      <vt:lpstr>PowerPoint Presentation</vt:lpstr>
      <vt:lpstr>PowerPoint Presentation</vt:lpstr>
      <vt:lpstr>Clustering types</vt:lpstr>
      <vt:lpstr>PowerPoint Presentation</vt:lpstr>
      <vt:lpstr>PowerPoint Presentation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PowerPoint Presentation</vt:lpstr>
      <vt:lpstr>Note: scaling</vt:lpstr>
      <vt:lpstr>“Distance” matrix</vt:lpstr>
      <vt:lpstr>PowerPoint Presentation</vt:lpstr>
      <vt:lpstr>“Distance” can mean lots of things</vt:lpstr>
      <vt:lpstr>PowerPoint Presentation</vt:lpstr>
      <vt:lpstr>Hierarchical clustering: conclusion</vt:lpstr>
      <vt:lpstr>Clustering types</vt:lpstr>
      <vt:lpstr>K-means clustering algorithm</vt:lpstr>
      <vt:lpstr>K-means  clustering</vt:lpstr>
      <vt:lpstr>K-means clustering</vt:lpstr>
      <vt:lpstr>K-means clustering</vt:lpstr>
      <vt:lpstr>K-means clustering</vt:lpstr>
      <vt:lpstr>PowerPoint Presentation</vt:lpstr>
      <vt:lpstr>Original</vt:lpstr>
      <vt:lpstr>Original</vt:lpstr>
      <vt:lpstr>Original</vt:lpstr>
      <vt:lpstr>Original</vt:lpstr>
      <vt:lpstr>Original</vt:lpstr>
      <vt:lpstr>Original</vt:lpstr>
      <vt:lpstr>Original</vt:lpstr>
      <vt:lpstr>Original</vt:lpstr>
      <vt:lpstr>Original</vt:lpstr>
      <vt:lpstr>Original</vt:lpstr>
      <vt:lpstr>Original</vt:lpstr>
      <vt:lpstr>PowerPoint Presentation</vt:lpstr>
      <vt:lpstr>PowerPoint Presentation</vt:lpstr>
      <vt:lpstr>Which of these is the best and why?</vt:lpstr>
      <vt:lpstr>PowerPoint Presentation</vt:lpstr>
      <vt:lpstr>How to evaluate clustering results</vt:lpstr>
      <vt:lpstr>1. External validation</vt:lpstr>
      <vt:lpstr>2. Visual exploration</vt:lpstr>
      <vt:lpstr>2. Visual exploration (using “manifold”)</vt:lpstr>
      <vt:lpstr>3. Stability assessment</vt:lpstr>
      <vt:lpstr>PowerPoint Presentation</vt:lpstr>
      <vt:lpstr>3. Cluster “stability”</vt:lpstr>
      <vt:lpstr>3. Clusterwise stability in R</vt:lpstr>
      <vt:lpstr>4. Internal validation indices</vt:lpstr>
      <vt:lpstr>Silhouette analysis in R</vt:lpstr>
      <vt:lpstr>PowerPoint Presentation</vt:lpstr>
      <vt:lpstr>PowerPoint Presentation</vt:lpstr>
      <vt:lpstr>PowerPoint Presentation</vt:lpstr>
      <vt:lpstr>PowerPoint Presentation</vt:lpstr>
      <vt:lpstr>Conclusion: clustering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Kesteren, E. van (Erik-Jan)</dc:creator>
  <cp:lastModifiedBy>Oberski, D.L. (Daniel)</cp:lastModifiedBy>
  <cp:revision>316</cp:revision>
  <dcterms:created xsi:type="dcterms:W3CDTF">2020-03-31T13:53:26Z</dcterms:created>
  <dcterms:modified xsi:type="dcterms:W3CDTF">2025-10-17T12:00:47Z</dcterms:modified>
</cp:coreProperties>
</file>