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98" r:id="rId2"/>
    <p:sldId id="262" r:id="rId3"/>
    <p:sldId id="365" r:id="rId4"/>
    <p:sldId id="366" r:id="rId5"/>
    <p:sldId id="586" r:id="rId6"/>
    <p:sldId id="587" r:id="rId7"/>
    <p:sldId id="588" r:id="rId8"/>
    <p:sldId id="589" r:id="rId9"/>
    <p:sldId id="590" r:id="rId10"/>
    <p:sldId id="591" r:id="rId11"/>
    <p:sldId id="367" r:id="rId12"/>
    <p:sldId id="379" r:id="rId13"/>
    <p:sldId id="381" r:id="rId14"/>
    <p:sldId id="380" r:id="rId15"/>
    <p:sldId id="368" r:id="rId16"/>
    <p:sldId id="593" r:id="rId17"/>
    <p:sldId id="370" r:id="rId18"/>
    <p:sldId id="382" r:id="rId19"/>
    <p:sldId id="383" r:id="rId20"/>
    <p:sldId id="371" r:id="rId21"/>
    <p:sldId id="372" r:id="rId22"/>
    <p:sldId id="373" r:id="rId23"/>
    <p:sldId id="374" r:id="rId24"/>
    <p:sldId id="375" r:id="rId25"/>
    <p:sldId id="376" r:id="rId26"/>
    <p:sldId id="377" r:id="rId27"/>
    <p:sldId id="378" r:id="rId28"/>
    <p:sldId id="410" r:id="rId29"/>
    <p:sldId id="424" r:id="rId30"/>
    <p:sldId id="432" r:id="rId31"/>
    <p:sldId id="427" r:id="rId32"/>
    <p:sldId id="411" r:id="rId33"/>
    <p:sldId id="433" r:id="rId34"/>
    <p:sldId id="420" r:id="rId35"/>
    <p:sldId id="423" r:id="rId36"/>
    <p:sldId id="421" r:id="rId37"/>
    <p:sldId id="428" r:id="rId38"/>
    <p:sldId id="425" r:id="rId39"/>
    <p:sldId id="412" r:id="rId40"/>
    <p:sldId id="413" r:id="rId41"/>
    <p:sldId id="414" r:id="rId42"/>
    <p:sldId id="415" r:id="rId43"/>
    <p:sldId id="388" r:id="rId44"/>
    <p:sldId id="416" r:id="rId45"/>
    <p:sldId id="417" r:id="rId46"/>
    <p:sldId id="429" r:id="rId47"/>
    <p:sldId id="419" r:id="rId48"/>
    <p:sldId id="369" r:id="rId49"/>
    <p:sldId id="386" r:id="rId50"/>
    <p:sldId id="387" r:id="rId51"/>
    <p:sldId id="389" r:id="rId52"/>
    <p:sldId id="390" r:id="rId53"/>
    <p:sldId id="592" r:id="rId54"/>
    <p:sldId id="392" r:id="rId55"/>
    <p:sldId id="391" r:id="rId56"/>
    <p:sldId id="393" r:id="rId57"/>
    <p:sldId id="394" r:id="rId58"/>
    <p:sldId id="395" r:id="rId59"/>
    <p:sldId id="397" r:id="rId60"/>
    <p:sldId id="398" r:id="rId61"/>
    <p:sldId id="399" r:id="rId62"/>
    <p:sldId id="401" r:id="rId63"/>
    <p:sldId id="400" r:id="rId64"/>
    <p:sldId id="402" r:id="rId65"/>
    <p:sldId id="403" r:id="rId66"/>
    <p:sldId id="404" r:id="rId67"/>
    <p:sldId id="405" r:id="rId68"/>
    <p:sldId id="406" r:id="rId69"/>
    <p:sldId id="430" r:id="rId70"/>
    <p:sldId id="431" r:id="rId71"/>
    <p:sldId id="407" r:id="rId72"/>
    <p:sldId id="408" r:id="rId73"/>
    <p:sldId id="409" r:id="rId74"/>
    <p:sldId id="361" r:id="rId75"/>
    <p:sldId id="385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615BF26-EBFD-6D46-AA66-5E3EFC19A793}">
          <p14:sldIdLst>
            <p14:sldId id="298"/>
            <p14:sldId id="262"/>
            <p14:sldId id="365"/>
            <p14:sldId id="366"/>
            <p14:sldId id="586"/>
            <p14:sldId id="587"/>
            <p14:sldId id="588"/>
            <p14:sldId id="589"/>
            <p14:sldId id="590"/>
            <p14:sldId id="591"/>
            <p14:sldId id="367"/>
            <p14:sldId id="379"/>
            <p14:sldId id="381"/>
            <p14:sldId id="380"/>
            <p14:sldId id="368"/>
            <p14:sldId id="593"/>
            <p14:sldId id="370"/>
            <p14:sldId id="382"/>
            <p14:sldId id="383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410"/>
            <p14:sldId id="424"/>
            <p14:sldId id="432"/>
            <p14:sldId id="427"/>
            <p14:sldId id="411"/>
            <p14:sldId id="433"/>
            <p14:sldId id="420"/>
            <p14:sldId id="423"/>
            <p14:sldId id="421"/>
            <p14:sldId id="428"/>
            <p14:sldId id="425"/>
            <p14:sldId id="412"/>
            <p14:sldId id="413"/>
            <p14:sldId id="414"/>
            <p14:sldId id="415"/>
            <p14:sldId id="388"/>
            <p14:sldId id="416"/>
            <p14:sldId id="417"/>
            <p14:sldId id="429"/>
            <p14:sldId id="419"/>
            <p14:sldId id="369"/>
            <p14:sldId id="386"/>
            <p14:sldId id="387"/>
            <p14:sldId id="389"/>
            <p14:sldId id="390"/>
            <p14:sldId id="592"/>
            <p14:sldId id="392"/>
            <p14:sldId id="391"/>
            <p14:sldId id="393"/>
            <p14:sldId id="394"/>
            <p14:sldId id="395"/>
            <p14:sldId id="397"/>
            <p14:sldId id="398"/>
            <p14:sldId id="399"/>
            <p14:sldId id="401"/>
            <p14:sldId id="400"/>
            <p14:sldId id="402"/>
            <p14:sldId id="403"/>
            <p14:sldId id="404"/>
            <p14:sldId id="405"/>
            <p14:sldId id="406"/>
            <p14:sldId id="430"/>
            <p14:sldId id="431"/>
            <p14:sldId id="407"/>
            <p14:sldId id="408"/>
            <p14:sldId id="409"/>
          </p14:sldIdLst>
        </p14:section>
        <p14:section name="Conclusion" id="{95A6686D-93B8-074B-8A45-8EA1CBBAB260}">
          <p14:sldIdLst>
            <p14:sldId id="361"/>
            <p14:sldId id="3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2ABF"/>
    <a:srgbClr val="FFD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88621"/>
  </p:normalViewPr>
  <p:slideViewPr>
    <p:cSldViewPr snapToGrid="0" snapToObjects="1">
      <p:cViewPr varScale="1">
        <p:scale>
          <a:sx n="111" d="100"/>
          <a:sy n="111" d="100"/>
        </p:scale>
        <p:origin x="7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15673-2FFB-A743-8FB0-62D49EB18BD5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0FAE5-F8F5-2C4C-A101-836A1F844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97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92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05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28592-1E4F-3348-AB87-33F0F95FF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98CD0-DA50-0B84-E7C7-ABF863349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F91E89-90EF-E6AD-3D9D-DB0B76020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561E1-A994-1A35-F5AB-76CD51483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47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56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87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15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325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Think of the weather forecast: when the prediction says there’s a 24% chance of rain, does it really rain on 24% of such days?” If yes → the forecast is well calibrated. If not → it’s poorly calibrated.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876FE-68BF-7F45-B567-2A03CA78D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22D0C-5251-2F46-92DD-CA249AE75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B01B3-5306-4648-A2D2-BB033F18B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F5B11-EF43-D944-8DAE-4BACBCA7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65FEA-7A86-E44F-92C5-89CBB833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5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A9040-A7B1-754B-ACF3-4FE726DB6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6C9A0-B5CE-1F43-81C6-3E3820E5F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2B57B-0CBF-BA44-8E5A-A18499676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55552-6AED-D44C-B734-70D6B8E9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CF53F-41FA-7543-AC50-751A0770E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88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A628-19B6-D949-8B9E-34403663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B186C-9455-5645-822C-8693DEBD4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FA0BC-A2A0-ED47-9E02-6B64081B0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284DD-0110-064F-9763-2596B8700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9443B-5147-954D-8D78-65FDE55E3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71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0BDA-D5C4-124A-9CA0-9EC3D27AD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A7504-14DE-CC4D-9498-ED9235305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48717-D27C-DC4C-A36A-D2B303C57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1A3C5-4512-1044-A4CC-D5D7EDBC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F6587-4C8B-1042-B395-CF5BDEBD1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FF56E-13F6-AB42-A1E5-AD313B98F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7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5A57B-B9DF-734D-A59E-B570DED75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414ED-95AF-DE46-AEB9-A624830B7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74C67-442F-2F49-A65F-FA7CE1EBD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23741-4776-934B-A8F8-5CE61F818B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5C5EDC-7F17-8C46-8A21-1026A7E6BB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7D691A-B084-184B-89C8-0A131AD12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7BFED-F77A-374D-8D06-9AE556E83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D715C0-73AB-2D47-B8FC-07778BDC7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4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C468-E361-C649-86D7-8DAA4E3FC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4AF73B-BA54-104A-AED2-75D99CD8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26DA5-7AE1-5D40-BA4F-E0C33873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1EF61C-D518-B542-9434-19928E76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556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E578B9-0868-4647-9527-B5DE1709C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3090FF-B347-334A-A8E1-151B784F0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E2E9E-959E-1C48-AC1F-0EB41F81C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30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2BCB-070F-A547-8CBD-BA40C44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DFF92-8808-5B4E-97F1-910261ECE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E132E-3695-D645-999C-3FA2F77A6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DBCC1-B367-E248-ACA9-8C676E50F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F32A0-766C-1D4E-BEBD-E629A312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E8F35-3310-D64E-9DB0-A3574C78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0001D-5D69-2847-8402-F325AB93E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E8B711-E856-0349-92B4-DFFED5CB7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321D1-A5D0-A544-901D-6CF2D2240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A2E0E-519D-9A4B-8302-7048C5F03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F381A-EFC0-D745-B375-B87A98EF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ED620-7E7D-F240-8B0F-9AA90353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56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0631-639C-724B-93AA-C65FB12B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3DD95-21EC-EC46-890B-2A0A8AEDD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D2BB9-E26E-174F-A112-66ABEFFA2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BEC20-D798-2E47-8BDB-6B06CED6B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36EB8-D4B0-0A4C-AE1A-78310E40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7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3E9365-6EE4-8D47-A8CC-ABC8CAE9F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80537-BFA8-2B46-9400-C22B6B2AF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1F2E0-4981-E84B-AF71-A24A23242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64DE8-BBD0-B64A-B78F-37DA8195E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BF9F9-51C0-3F41-9E98-B6A3E229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9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CE6B2-F391-4540-8264-87341E2A8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B78C5-1C07-D44D-AB1C-32156DCCC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5406-9F49-5044-8FCE-DD0F147FB0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CB9143B4-ABBD-3F4F-ABBF-571D1C04B152}" type="datetimeFigureOut">
              <a:rPr lang="en-US" smtClean="0"/>
              <a:pPr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DB19B-6D59-1749-B687-2781D52D5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78E9E-8DE7-744A-A640-44ADDE88D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C0CFAB1C-9E21-544A-AC94-1FD108BE15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6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cross_validation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hyperlink" Target="https://keras.rstudio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F-score" TargetMode="External"/><Relationship Id="rId4" Type="http://schemas.openxmlformats.org/officeDocument/2006/relationships/image" Target="../media/image3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ensitivity_and_specificity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imbalanced-learn.org/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7D5AF9D-B0DC-43A3-AAC6-1547D97B9220}"/>
              </a:ext>
            </a:extLst>
          </p:cNvPr>
          <p:cNvSpPr txBox="1">
            <a:spLocks/>
          </p:cNvSpPr>
          <p:nvPr/>
        </p:nvSpPr>
        <p:spPr>
          <a:xfrm>
            <a:off x="3275597" y="5316032"/>
            <a:ext cx="5643960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Daniel Oberski, Ayoub Bagheri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A0C7FD2C-79F4-4035-B87B-567FCDEE550A}"/>
              </a:ext>
            </a:extLst>
          </p:cNvPr>
          <p:cNvSpPr txBox="1">
            <a:spLocks/>
          </p:cNvSpPr>
          <p:nvPr/>
        </p:nvSpPr>
        <p:spPr>
          <a:xfrm>
            <a:off x="2407508" y="5754848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Methodology &amp; Statistics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and Data Analysis</a:t>
            </a: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learning!</a:t>
            </a: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#3 mostly classification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BF607D-33F4-3B42-956B-9399AB3EE085}"/>
              </a:ext>
            </a:extLst>
          </p:cNvPr>
          <p:cNvSpPr txBox="1"/>
          <p:nvPr/>
        </p:nvSpPr>
        <p:spPr>
          <a:xfrm>
            <a:off x="9931253" y="6488668"/>
            <a:ext cx="2257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VERSION: 2025-10-08 </a:t>
            </a: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9C55-34D9-482F-BBFF-61B54E82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DD480-0341-4559-8FD9-6D53A7A87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GB" sz="3400" b="1" dirty="0"/>
          </a:p>
          <a:p>
            <a:pPr marL="514350" indent="-514350">
              <a:buFont typeface="+mj-lt"/>
              <a:buAutoNum type="arabicPeriod"/>
            </a:pPr>
            <a:r>
              <a:rPr lang="en-GB" sz="3400" dirty="0"/>
              <a:t>Regression (predicting continuous outcomes)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400" dirty="0"/>
              <a:t>Regression 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400" b="1" dirty="0"/>
              <a:t>Classification (predicting discrete outcomes)</a:t>
            </a:r>
          </a:p>
          <a:p>
            <a:pPr marL="514350" indent="-514350">
              <a:buFont typeface="+mj-lt"/>
              <a:buAutoNum type="arabicPeriod"/>
            </a:pPr>
            <a:endParaRPr lang="en-GB" sz="3400" dirty="0"/>
          </a:p>
          <a:p>
            <a:pPr marL="514350" indent="-514350">
              <a:buFont typeface="+mj-lt"/>
              <a:buAutoNum type="arabicPeriod"/>
            </a:pP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259226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EC4B0-E370-F943-B680-65600A7CE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0B579-18D2-C540-B800-B5A406E3C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Supervised learning</a:t>
            </a:r>
            <a:r>
              <a:rPr lang="en-US" dirty="0"/>
              <a:t>: Learning a function that maps an input to an output based on example input-output pairs.</a:t>
            </a:r>
          </a:p>
          <a:p>
            <a:pPr lvl="1"/>
            <a:r>
              <a:rPr lang="en-US" dirty="0"/>
              <a:t>infer a function from labeled training data</a:t>
            </a:r>
          </a:p>
          <a:p>
            <a:pPr lvl="1"/>
            <a:r>
              <a:rPr lang="en-US" dirty="0"/>
              <a:t>use the inferred function to label new instances</a:t>
            </a:r>
          </a:p>
          <a:p>
            <a:pPr marL="457200" lvl="1" indent="0">
              <a:buNone/>
            </a:pPr>
            <a:endParaRPr lang="en-US" dirty="0">
              <a:latin typeface="Fira Sans" panose="020B0503050000020004" pitchFamily="34" charset="0"/>
            </a:endParaRPr>
          </a:p>
        </p:txBody>
      </p:sp>
      <p:pic>
        <p:nvPicPr>
          <p:cNvPr id="1026" name="Picture 2" descr="Regression vs. Classification in Machine Learning for Beginners |  Simplilearn">
            <a:extLst>
              <a:ext uri="{FF2B5EF4-FFF2-40B4-BE49-F238E27FC236}">
                <a16:creationId xmlns:a16="http://schemas.microsoft.com/office/drawing/2014/main" id="{1021B79D-3682-5734-0B47-96508AC2D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1300" y="3571081"/>
            <a:ext cx="6032500" cy="339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090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0FD9E-C7D4-DB41-98D6-1FCE2856C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29D99-E85E-124C-94CE-51DC8CC47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/>
              <a:t>The thing you’re trying to predict is </a:t>
            </a:r>
            <a:r>
              <a:rPr lang="en-IE" b="1" dirty="0"/>
              <a:t>discrete</a:t>
            </a:r>
            <a:r>
              <a:rPr lang="en-IE" dirty="0"/>
              <a:t>:</a:t>
            </a:r>
          </a:p>
          <a:p>
            <a:pPr lvl="1"/>
            <a:r>
              <a:rPr lang="en-IE" sz="2800" i="1" dirty="0"/>
              <a:t>Titanic</a:t>
            </a:r>
            <a:r>
              <a:rPr lang="en-IE" sz="2800" dirty="0"/>
              <a:t>: Survival/</a:t>
            </a:r>
            <a:r>
              <a:rPr lang="en-IE" sz="2800" dirty="0" err="1"/>
              <a:t>Nonsurvival</a:t>
            </a:r>
            <a:endParaRPr lang="en-IE" sz="2800" dirty="0"/>
          </a:p>
          <a:p>
            <a:pPr lvl="1"/>
            <a:r>
              <a:rPr lang="en-IE" sz="2800" dirty="0"/>
              <a:t>Banking data: Default on/payment of debt</a:t>
            </a:r>
          </a:p>
          <a:p>
            <a:pPr lvl="1"/>
            <a:r>
              <a:rPr lang="en-IE" sz="2800" dirty="0"/>
              <a:t>GPS/Accelerometer data: Work/Home/Friend/Parking/Other</a:t>
            </a:r>
          </a:p>
          <a:p>
            <a:pPr lvl="1"/>
            <a:r>
              <a:rPr lang="en-IE" sz="2800" dirty="0" err="1"/>
              <a:t>Imagenet</a:t>
            </a:r>
            <a:r>
              <a:rPr lang="en-IE" sz="2800" dirty="0"/>
              <a:t>: gazelle/tank/pirate/sea lion/tandem bicycle/: : :</a:t>
            </a:r>
          </a:p>
          <a:p>
            <a:pPr lvl="1"/>
            <a:r>
              <a:rPr lang="en-IE" sz="28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372085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844E4-0406-8104-73CF-8AFCE7333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7ACA7-CED3-CC34-2CF2-E64485F2591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Classification types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096EF-DBA7-DEA2-0D7C-D498703A4B0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08660" y="1690689"/>
            <a:ext cx="10645143" cy="4802182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GB" b="1" dirty="0"/>
              <a:t>Binary classification</a:t>
            </a:r>
            <a:r>
              <a:rPr lang="en-GB" dirty="0"/>
              <a:t>: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Definition</a:t>
            </a:r>
            <a:r>
              <a:rPr lang="en-GB" dirty="0"/>
              <a:t>: Involves two categories or classes.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Examples</a:t>
            </a:r>
            <a:r>
              <a:rPr lang="en-GB" dirty="0"/>
              <a:t>: True/False, Yes/No, Spam/Not Spam, Positive/Negative sentiment.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GB" b="1" dirty="0"/>
              <a:t>Multiclass classification</a:t>
            </a:r>
            <a:r>
              <a:rPr lang="en-GB" dirty="0"/>
              <a:t>: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Definition</a:t>
            </a:r>
            <a:r>
              <a:rPr lang="en-GB" dirty="0"/>
              <a:t>: Involves more than two categories or classes.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Examples</a:t>
            </a:r>
            <a:r>
              <a:rPr lang="en-GB" dirty="0"/>
              <a:t>: Classifying animal images into Cats/Dogs/Birds, predicting the genre of a book (e.g., Fiction/Non-fiction/Science/History).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GB" b="1" dirty="0"/>
              <a:t>Multilabel classification</a:t>
            </a:r>
            <a:r>
              <a:rPr lang="en-GB" dirty="0"/>
              <a:t>: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Definition</a:t>
            </a:r>
            <a:r>
              <a:rPr lang="en-GB" dirty="0"/>
              <a:t>: Each instance can belong to multiple classes simultaneously.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Examples</a:t>
            </a:r>
            <a:r>
              <a:rPr lang="en-GB" dirty="0"/>
              <a:t>: Tagging a research article with multiple topics like "Machine Learning," "Natural Language Processing," and "Healthcare.”, Assigning multiple genres to a book.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19B80-428C-DD46-6833-5C51B268F37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n-NL"/>
            </a:defPPr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4F52093B-0720-486A-B874-975A27BF69CF}" type="slidenum">
              <a:rPr lang="en-NL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60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GB" sz="3600" dirty="0">
                <a:solidFill>
                  <a:prstClr val="black"/>
                </a:solidFill>
              </a:rPr>
              <a:t>From Data collection </a:t>
            </a:r>
            <a:r>
              <a:rPr lang="en-GB" sz="3600" dirty="0">
                <a:solidFill>
                  <a:prstClr val="black"/>
                </a:solidFill>
                <a:sym typeface="Wingdings" pitchFamily="2" charset="2"/>
              </a:rPr>
              <a:t>to </a:t>
            </a:r>
            <a:r>
              <a:rPr lang="en-GB" sz="3600" dirty="0">
                <a:solidFill>
                  <a:prstClr val="black"/>
                </a:solidFill>
              </a:rPr>
              <a:t>K-fold cross 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n-NL"/>
            </a:defPPr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4F52093B-0720-486A-B874-975A27BF69CF}" type="slidenum">
              <a:rPr lang="en-NL" smtClean="0"/>
              <a:pPr/>
              <a:t>6</a:t>
            </a:fld>
            <a:endParaRPr lang="en-US"/>
          </a:p>
        </p:txBody>
      </p:sp>
      <p:pic>
        <p:nvPicPr>
          <p:cNvPr id="5" name="Picture 2" descr="3.1. Cross-validation: evaluating estimator performance — scikit-learn  0.24.1 documentation">
            <a:extLst>
              <a:ext uri="{FF2B5EF4-FFF2-40B4-BE49-F238E27FC236}">
                <a16:creationId xmlns:a16="http://schemas.microsoft.com/office/drawing/2014/main" id="{D9B863A0-EE24-4CB5-A810-01B1BEA64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5138" y="1801270"/>
            <a:ext cx="6773861" cy="469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BEAC94-EEDF-4F88-831B-BEF1DC3CD8BF}"/>
              </a:ext>
            </a:extLst>
          </p:cNvPr>
          <p:cNvSpPr txBox="1"/>
          <p:nvPr/>
        </p:nvSpPr>
        <p:spPr>
          <a:xfrm>
            <a:off x="1163639" y="6102435"/>
            <a:ext cx="14554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hlinkClick r:id="rId3"/>
              </a:rPr>
              <a:t>https://scikit-learn.org/stable/modules/cross_validation.html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03630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prstClr val="black"/>
                </a:solidFill>
              </a:rPr>
              <a:t>How to classify? 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n-NL"/>
            </a:defPPr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4F52093B-0720-486A-B874-975A27BF69CF}" type="slidenum">
              <a:rPr lang="en-NL" smtClean="0"/>
              <a:pPr/>
              <a:t>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05630B-DD2C-4882-92CE-E97736A7C678}"/>
              </a:ext>
            </a:extLst>
          </p:cNvPr>
          <p:cNvSpPr/>
          <p:nvPr/>
        </p:nvSpPr>
        <p:spPr>
          <a:xfrm>
            <a:off x="3379932" y="2529683"/>
            <a:ext cx="210416" cy="210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74F855-017F-41F6-97A2-6AFA8DE36DC8}"/>
              </a:ext>
            </a:extLst>
          </p:cNvPr>
          <p:cNvSpPr/>
          <p:nvPr/>
        </p:nvSpPr>
        <p:spPr>
          <a:xfrm>
            <a:off x="3037032" y="3005067"/>
            <a:ext cx="210416" cy="210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68D830-2387-4FB8-97A4-DB9D12B4164D}"/>
              </a:ext>
            </a:extLst>
          </p:cNvPr>
          <p:cNvSpPr/>
          <p:nvPr/>
        </p:nvSpPr>
        <p:spPr>
          <a:xfrm>
            <a:off x="3777384" y="3254449"/>
            <a:ext cx="210416" cy="210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577753-0EF6-4148-9567-DF39951872AD}"/>
              </a:ext>
            </a:extLst>
          </p:cNvPr>
          <p:cNvSpPr/>
          <p:nvPr/>
        </p:nvSpPr>
        <p:spPr>
          <a:xfrm>
            <a:off x="4096904" y="2389406"/>
            <a:ext cx="210416" cy="210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89A431-ECEA-4DCB-AEA9-FCC8E4410E26}"/>
              </a:ext>
            </a:extLst>
          </p:cNvPr>
          <p:cNvSpPr/>
          <p:nvPr/>
        </p:nvSpPr>
        <p:spPr>
          <a:xfrm>
            <a:off x="4346286" y="3067412"/>
            <a:ext cx="210416" cy="210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0F48584A-F58E-47F2-B7A1-D4417F433039}"/>
              </a:ext>
            </a:extLst>
          </p:cNvPr>
          <p:cNvSpPr/>
          <p:nvPr/>
        </p:nvSpPr>
        <p:spPr>
          <a:xfrm>
            <a:off x="6045199" y="2864789"/>
            <a:ext cx="244083" cy="21041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E742E4F1-A8DA-443B-82B3-B089F6CF99B4}"/>
              </a:ext>
            </a:extLst>
          </p:cNvPr>
          <p:cNvSpPr/>
          <p:nvPr/>
        </p:nvSpPr>
        <p:spPr>
          <a:xfrm>
            <a:off x="5834783" y="3238862"/>
            <a:ext cx="244083" cy="21041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AA04295-3458-4C70-A246-721016AA5D6A}"/>
              </a:ext>
            </a:extLst>
          </p:cNvPr>
          <p:cNvSpPr/>
          <p:nvPr/>
        </p:nvSpPr>
        <p:spPr>
          <a:xfrm>
            <a:off x="5788024" y="3714246"/>
            <a:ext cx="244083" cy="21041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862ECC60-BC10-4634-AA53-23A90FA92FD0}"/>
              </a:ext>
            </a:extLst>
          </p:cNvPr>
          <p:cNvSpPr/>
          <p:nvPr/>
        </p:nvSpPr>
        <p:spPr>
          <a:xfrm>
            <a:off x="6715412" y="3542796"/>
            <a:ext cx="244083" cy="21041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807AB2D1-13FB-4550-828D-281BEB302F7C}"/>
              </a:ext>
            </a:extLst>
          </p:cNvPr>
          <p:cNvSpPr/>
          <p:nvPr/>
        </p:nvSpPr>
        <p:spPr>
          <a:xfrm>
            <a:off x="6458237" y="3254448"/>
            <a:ext cx="244083" cy="21041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A4DC20D-FEA6-4254-B484-58F83FA706A0}"/>
              </a:ext>
            </a:extLst>
          </p:cNvPr>
          <p:cNvSpPr/>
          <p:nvPr/>
        </p:nvSpPr>
        <p:spPr>
          <a:xfrm>
            <a:off x="6271201" y="3620728"/>
            <a:ext cx="244083" cy="21041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F4FAEC5-E75A-41B0-AFB4-70693F7E75CC}"/>
              </a:ext>
            </a:extLst>
          </p:cNvPr>
          <p:cNvSpPr/>
          <p:nvPr/>
        </p:nvSpPr>
        <p:spPr>
          <a:xfrm>
            <a:off x="3574762" y="3932455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C47A0A1-8028-47EC-87D0-F7C6F9AE1429}"/>
              </a:ext>
            </a:extLst>
          </p:cNvPr>
          <p:cNvSpPr/>
          <p:nvPr/>
        </p:nvSpPr>
        <p:spPr>
          <a:xfrm>
            <a:off x="4135871" y="4080526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F8A36E2-BB7C-4F78-833F-C5D812DC90BE}"/>
              </a:ext>
            </a:extLst>
          </p:cNvPr>
          <p:cNvSpPr/>
          <p:nvPr/>
        </p:nvSpPr>
        <p:spPr>
          <a:xfrm>
            <a:off x="4595669" y="4345494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14179B5-1544-4635-A6F0-43A4F2D9A2E9}"/>
              </a:ext>
            </a:extLst>
          </p:cNvPr>
          <p:cNvSpPr/>
          <p:nvPr/>
        </p:nvSpPr>
        <p:spPr>
          <a:xfrm>
            <a:off x="4525530" y="4844258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49F2616-12F9-4796-A4DD-7322E4F69C74}"/>
              </a:ext>
            </a:extLst>
          </p:cNvPr>
          <p:cNvSpPr/>
          <p:nvPr/>
        </p:nvSpPr>
        <p:spPr>
          <a:xfrm>
            <a:off x="3894283" y="4844258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CAC477F-D991-407D-BEF1-49E729EABFEE}"/>
              </a:ext>
            </a:extLst>
          </p:cNvPr>
          <p:cNvSpPr/>
          <p:nvPr/>
        </p:nvSpPr>
        <p:spPr>
          <a:xfrm>
            <a:off x="3590348" y="4446806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84D1A0F-2AE4-453E-8FB5-F12F93441D1B}"/>
              </a:ext>
            </a:extLst>
          </p:cNvPr>
          <p:cNvSpPr/>
          <p:nvPr/>
        </p:nvSpPr>
        <p:spPr>
          <a:xfrm>
            <a:off x="5032087" y="4002594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C9DB3A8-BDD8-4B13-BB2F-EA0FB9A6ECEC}"/>
              </a:ext>
            </a:extLst>
          </p:cNvPr>
          <p:cNvSpPr/>
          <p:nvPr/>
        </p:nvSpPr>
        <p:spPr>
          <a:xfrm>
            <a:off x="5047673" y="4516944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F96793-F3AE-44CC-926D-0D78F28ACB66}"/>
              </a:ext>
            </a:extLst>
          </p:cNvPr>
          <p:cNvSpPr txBox="1"/>
          <p:nvPr/>
        </p:nvSpPr>
        <p:spPr>
          <a:xfrm>
            <a:off x="5211329" y="2352683"/>
            <a:ext cx="615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Fira Sans" panose="020B0503050000020004" pitchFamily="34" charset="0"/>
              </a:rPr>
              <a:t>?</a:t>
            </a:r>
          </a:p>
        </p:txBody>
      </p:sp>
      <p:sp>
        <p:nvSpPr>
          <p:cNvPr id="25" name="Regular Pentagon 27">
            <a:extLst>
              <a:ext uri="{FF2B5EF4-FFF2-40B4-BE49-F238E27FC236}">
                <a16:creationId xmlns:a16="http://schemas.microsoft.com/office/drawing/2014/main" id="{1E43C80E-0E45-451D-B961-049DA8564079}"/>
              </a:ext>
            </a:extLst>
          </p:cNvPr>
          <p:cNvSpPr/>
          <p:nvPr/>
        </p:nvSpPr>
        <p:spPr>
          <a:xfrm>
            <a:off x="4899601" y="2709976"/>
            <a:ext cx="280555" cy="267195"/>
          </a:xfrm>
          <a:prstGeom prst="pentagon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BEE7744-3CFD-4E84-83ED-4BA8E45FB340}"/>
              </a:ext>
            </a:extLst>
          </p:cNvPr>
          <p:cNvGrpSpPr/>
          <p:nvPr/>
        </p:nvGrpSpPr>
        <p:grpSpPr>
          <a:xfrm>
            <a:off x="6785552" y="4177941"/>
            <a:ext cx="1317048" cy="1052080"/>
            <a:chOff x="7304807" y="1818409"/>
            <a:chExt cx="1756064" cy="140277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FB619A5-2111-4834-BA84-298A63C8DD6D}"/>
                </a:ext>
              </a:extLst>
            </p:cNvPr>
            <p:cNvGrpSpPr/>
            <p:nvPr/>
          </p:nvGrpSpPr>
          <p:grpSpPr>
            <a:xfrm>
              <a:off x="7450280" y="1918316"/>
              <a:ext cx="1610591" cy="1171002"/>
              <a:chOff x="7450280" y="1918316"/>
              <a:chExt cx="1610591" cy="117100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8A1BD61-337D-41BC-A2AC-451576B4B43E}"/>
                  </a:ext>
                </a:extLst>
              </p:cNvPr>
              <p:cNvGrpSpPr/>
              <p:nvPr/>
            </p:nvGrpSpPr>
            <p:grpSpPr>
              <a:xfrm>
                <a:off x="7450280" y="1918316"/>
                <a:ext cx="1610591" cy="338555"/>
                <a:chOff x="7450280" y="1838603"/>
                <a:chExt cx="1610591" cy="338555"/>
              </a:xfrm>
            </p:grpSpPr>
            <p:sp>
              <p:nvSpPr>
                <p:cNvPr id="36" name="Isosceles Triangle 35">
                  <a:extLst>
                    <a:ext uri="{FF2B5EF4-FFF2-40B4-BE49-F238E27FC236}">
                      <a16:creationId xmlns:a16="http://schemas.microsoft.com/office/drawing/2014/main" id="{E6B985F3-71A0-4E63-BF92-1D1231C25723}"/>
                    </a:ext>
                  </a:extLst>
                </p:cNvPr>
                <p:cNvSpPr/>
                <p:nvPr/>
              </p:nvSpPr>
              <p:spPr>
                <a:xfrm>
                  <a:off x="7450280" y="1839191"/>
                  <a:ext cx="325444" cy="280555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>
                    <a:latin typeface="Fira Sans" panose="020B0503050000020004" pitchFamily="34" charset="0"/>
                  </a:endParaRP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861A106-07BA-46D0-A5B3-2ABC69D7D195}"/>
                    </a:ext>
                  </a:extLst>
                </p:cNvPr>
                <p:cNvSpPr txBox="1"/>
                <p:nvPr/>
              </p:nvSpPr>
              <p:spPr>
                <a:xfrm>
                  <a:off x="7793180" y="1838603"/>
                  <a:ext cx="1267691" cy="338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>
                      <a:latin typeface="Fira Sans" panose="020B0503050000020004" pitchFamily="34" charset="0"/>
                    </a:rPr>
                    <a:t>Sports</a:t>
                  </a: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50508FFA-A9E3-41E7-B87A-6EF0C23D759F}"/>
                  </a:ext>
                </a:extLst>
              </p:cNvPr>
              <p:cNvGrpSpPr/>
              <p:nvPr/>
            </p:nvGrpSpPr>
            <p:grpSpPr>
              <a:xfrm>
                <a:off x="7460673" y="2327933"/>
                <a:ext cx="1600198" cy="338554"/>
                <a:chOff x="7460673" y="2327933"/>
                <a:chExt cx="1600198" cy="338554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5D1A9D32-04DF-46B4-94AA-3C8E40B11216}"/>
                    </a:ext>
                  </a:extLst>
                </p:cNvPr>
                <p:cNvSpPr/>
                <p:nvPr/>
              </p:nvSpPr>
              <p:spPr>
                <a:xfrm>
                  <a:off x="7460673" y="2379518"/>
                  <a:ext cx="259772" cy="259772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>
                    <a:latin typeface="Fira Sans" panose="020B0503050000020004" pitchFamily="34" charset="0"/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CCB946E-365D-4CD5-98B7-BAFD35CC4785}"/>
                    </a:ext>
                  </a:extLst>
                </p:cNvPr>
                <p:cNvSpPr txBox="1"/>
                <p:nvPr/>
              </p:nvSpPr>
              <p:spPr>
                <a:xfrm>
                  <a:off x="7793180" y="2327933"/>
                  <a:ext cx="126769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>
                      <a:latin typeface="Fira Sans" panose="020B0503050000020004" pitchFamily="34" charset="0"/>
                    </a:rPr>
                    <a:t>Politics</a:t>
                  </a: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ACED9464-7BAC-4802-8294-8328990158F3}"/>
                  </a:ext>
                </a:extLst>
              </p:cNvPr>
              <p:cNvGrpSpPr/>
              <p:nvPr/>
            </p:nvGrpSpPr>
            <p:grpSpPr>
              <a:xfrm>
                <a:off x="7450280" y="2750763"/>
                <a:ext cx="1593135" cy="338555"/>
                <a:chOff x="7450280" y="2854673"/>
                <a:chExt cx="1593135" cy="338555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4CFD1D4D-0B64-4B40-A062-8CEF7CACA9B7}"/>
                    </a:ext>
                  </a:extLst>
                </p:cNvPr>
                <p:cNvSpPr/>
                <p:nvPr/>
              </p:nvSpPr>
              <p:spPr>
                <a:xfrm>
                  <a:off x="7450280" y="2899062"/>
                  <a:ext cx="280555" cy="28055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>
                    <a:latin typeface="Fira Sans" panose="020B0503050000020004" pitchFamily="34" charset="0"/>
                  </a:endParaRP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7ACB7AD-7BA4-4142-8C3B-EC535C607D29}"/>
                    </a:ext>
                  </a:extLst>
                </p:cNvPr>
                <p:cNvSpPr txBox="1"/>
                <p:nvPr/>
              </p:nvSpPr>
              <p:spPr>
                <a:xfrm>
                  <a:off x="7775724" y="2854673"/>
                  <a:ext cx="1267691" cy="338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>
                      <a:latin typeface="Fira Sans" panose="020B0503050000020004" pitchFamily="34" charset="0"/>
                    </a:rPr>
                    <a:t>Finance</a:t>
                  </a:r>
                </a:p>
              </p:txBody>
            </p:sp>
          </p:grp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8F921A5-95C9-4A39-8FDC-4740B52E765A}"/>
                </a:ext>
              </a:extLst>
            </p:cNvPr>
            <p:cNvSpPr/>
            <p:nvPr/>
          </p:nvSpPr>
          <p:spPr>
            <a:xfrm>
              <a:off x="7304807" y="1818409"/>
              <a:ext cx="1416488" cy="140277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latin typeface="Fira Sans" panose="020B05030500000200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4594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dirty="0">
                <a:solidFill>
                  <a:prstClr val="black"/>
                </a:solidFill>
              </a:rPr>
              <a:t>Classification: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r>
              <a:rPr lang="en-US" sz="3200" i="1" dirty="0"/>
              <a:t>Input</a:t>
            </a:r>
            <a:r>
              <a:rPr lang="en-US" sz="3200" dirty="0"/>
              <a:t>:</a:t>
            </a:r>
          </a:p>
          <a:p>
            <a:pPr lvl="1"/>
            <a:r>
              <a:rPr lang="en-US" sz="2800" dirty="0"/>
              <a:t> a sample </a:t>
            </a:r>
            <a:r>
              <a:rPr lang="en-US" sz="2800" i="1" dirty="0">
                <a:solidFill>
                  <a:srgbClr val="FF0000"/>
                </a:solidFill>
              </a:rPr>
              <a:t>d</a:t>
            </a:r>
          </a:p>
          <a:p>
            <a:pPr lvl="1"/>
            <a:r>
              <a:rPr lang="en-US" sz="2800" i="1" dirty="0"/>
              <a:t> </a:t>
            </a:r>
            <a:r>
              <a:rPr lang="en-US" sz="2800" dirty="0"/>
              <a:t>a fixed set of classes  </a:t>
            </a:r>
            <a:r>
              <a:rPr lang="en-US" sz="2800" i="1" dirty="0">
                <a:solidFill>
                  <a:srgbClr val="FF0000"/>
                </a:solidFill>
              </a:rPr>
              <a:t>C </a:t>
            </a:r>
            <a:r>
              <a:rPr lang="en-US" sz="2800" dirty="0">
                <a:solidFill>
                  <a:srgbClr val="FF0000"/>
                </a:solidFill>
              </a:rPr>
              <a:t>=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  <a:sym typeface="Symbol" charset="0"/>
              </a:rPr>
              <a:t>{</a:t>
            </a:r>
            <a:r>
              <a:rPr lang="en-US" sz="2800" i="1" dirty="0">
                <a:solidFill>
                  <a:srgbClr val="FF0000"/>
                </a:solidFill>
                <a:sym typeface="Symbol" charset="0"/>
              </a:rPr>
              <a:t>c</a:t>
            </a:r>
            <a:r>
              <a:rPr lang="en-US" sz="28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en-US" sz="2800" dirty="0">
                <a:solidFill>
                  <a:srgbClr val="FF0000"/>
                </a:solidFill>
                <a:sym typeface="Symbol" charset="0"/>
              </a:rPr>
              <a:t>, </a:t>
            </a:r>
            <a:r>
              <a:rPr lang="en-US" sz="2800" i="1" dirty="0">
                <a:solidFill>
                  <a:srgbClr val="FF0000"/>
                </a:solidFill>
                <a:sym typeface="Symbol" charset="0"/>
              </a:rPr>
              <a:t>c</a:t>
            </a:r>
            <a:r>
              <a:rPr lang="en-US" sz="2800" baseline="-25000" dirty="0">
                <a:solidFill>
                  <a:srgbClr val="FF0000"/>
                </a:solidFill>
                <a:sym typeface="Symbol" charset="0"/>
              </a:rPr>
              <a:t>2</a:t>
            </a:r>
            <a:r>
              <a:rPr lang="en-US" sz="2800" dirty="0">
                <a:solidFill>
                  <a:srgbClr val="FF0000"/>
                </a:solidFill>
                <a:sym typeface="Symbol" charset="0"/>
              </a:rPr>
              <a:t>,…, </a:t>
            </a:r>
            <a:r>
              <a:rPr lang="en-US" sz="2800" i="1" dirty="0" err="1">
                <a:solidFill>
                  <a:srgbClr val="FF0000"/>
                </a:solidFill>
                <a:sym typeface="Symbol" charset="0"/>
              </a:rPr>
              <a:t>c</a:t>
            </a:r>
            <a:r>
              <a:rPr lang="en-US" sz="2800" i="1" baseline="-25000" dirty="0" err="1">
                <a:solidFill>
                  <a:srgbClr val="FF0000"/>
                </a:solidFill>
                <a:sym typeface="Symbol" charset="0"/>
              </a:rPr>
              <a:t>J</a:t>
            </a:r>
            <a:r>
              <a:rPr lang="en-US" sz="2800" dirty="0">
                <a:solidFill>
                  <a:srgbClr val="FF0000"/>
                </a:solidFill>
                <a:sym typeface="Symbol" charset="0"/>
              </a:rPr>
              <a:t>}</a:t>
            </a:r>
          </a:p>
          <a:p>
            <a:pPr lvl="1"/>
            <a:endParaRPr lang="en-US" sz="2800" i="1" dirty="0"/>
          </a:p>
          <a:p>
            <a:r>
              <a:rPr lang="en-US" sz="3200" i="1" dirty="0"/>
              <a:t>Output</a:t>
            </a:r>
            <a:r>
              <a:rPr lang="en-US" sz="3200" dirty="0"/>
              <a:t>: a predicted class </a:t>
            </a:r>
            <a:r>
              <a:rPr lang="en-US" sz="3200" i="1" dirty="0">
                <a:solidFill>
                  <a:srgbClr val="FF0000"/>
                </a:solidFill>
              </a:rPr>
              <a:t>c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>
                <a:solidFill>
                  <a:srgbClr val="FF0000"/>
                </a:solidFill>
                <a:sym typeface="Symbol" charset="0"/>
              </a:rPr>
              <a:t> </a:t>
            </a:r>
            <a:r>
              <a:rPr lang="en-US" sz="3200" i="1" dirty="0">
                <a:solidFill>
                  <a:srgbClr val="FF0000"/>
                </a:solidFill>
                <a:sym typeface="Symbol" charset="0"/>
              </a:rPr>
              <a:t>C</a:t>
            </a:r>
            <a:endParaRPr lang="en-US" sz="3200" i="1" baseline="-25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n-NL"/>
            </a:defPPr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4F52093B-0720-486A-B874-975A27BF69CF}" type="slidenum">
              <a:rPr lang="en-NL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01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dirty="0">
                <a:solidFill>
                  <a:prstClr val="black"/>
                </a:solidFill>
              </a:rPr>
              <a:t>Common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r>
              <a:rPr lang="en-US" sz="2800" dirty="0"/>
              <a:t>K-nearest neighbors</a:t>
            </a:r>
          </a:p>
          <a:p>
            <a:r>
              <a:rPr lang="en-US" dirty="0"/>
              <a:t>Classification trees (decision trees)</a:t>
            </a:r>
            <a:endParaRPr lang="en-GB" sz="2800" dirty="0"/>
          </a:p>
          <a:p>
            <a:pPr lvl="0"/>
            <a:r>
              <a:rPr lang="en-US" sz="2800" dirty="0"/>
              <a:t>Logistic regression</a:t>
            </a:r>
          </a:p>
          <a:p>
            <a:pPr lvl="0"/>
            <a:r>
              <a:rPr lang="en-US" sz="2800" dirty="0"/>
              <a:t>Support vector machines</a:t>
            </a:r>
          </a:p>
          <a:p>
            <a:pPr lvl="0"/>
            <a:r>
              <a:rPr lang="en-US" sz="2800" dirty="0"/>
              <a:t>Neural networks</a:t>
            </a:r>
          </a:p>
          <a:p>
            <a:pPr lvl="0"/>
            <a:r>
              <a:rPr lang="en-US" dirty="0"/>
              <a:t>Deep learning</a:t>
            </a:r>
          </a:p>
          <a:p>
            <a:pPr lvl="0"/>
            <a:r>
              <a:rPr lang="en-US" sz="2800" dirty="0"/>
              <a:t>And …</a:t>
            </a:r>
            <a:endParaRPr lang="en-GB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n-NL"/>
            </a:defPPr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4F52093B-0720-486A-B874-975A27BF69CF}" type="slidenum">
              <a:rPr lang="en-NL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66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dirty="0">
                <a:solidFill>
                  <a:prstClr val="black"/>
                </a:solidFill>
              </a:rPr>
              <a:t>K-nearest </a:t>
            </a:r>
            <a:r>
              <a:rPr lang="en-GB" dirty="0" err="1">
                <a:solidFill>
                  <a:prstClr val="black"/>
                </a:solidFill>
              </a:rPr>
              <a:t>neighbors</a:t>
            </a:r>
            <a:r>
              <a:rPr lang="en-GB" dirty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n-NL"/>
            </a:defPPr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4F52093B-0720-486A-B874-975A27BF69CF}" type="slidenum">
              <a:rPr lang="en-NL" smtClean="0"/>
              <a:pPr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1CBA0-07BE-4681-A4DE-365FEDFE5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458" y="1748749"/>
            <a:ext cx="5314770" cy="46672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27885-F4D8-5426-7D54-35FFF565C7D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060126" cy="46672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200" b="1" i="0" u="none" strike="noStrike" dirty="0">
                <a:solidFill>
                  <a:srgbClr val="000000"/>
                </a:solidFill>
                <a:effectLst/>
              </a:rPr>
              <a:t>K-Nearest </a:t>
            </a:r>
            <a:r>
              <a:rPr lang="en-GB" sz="2200" b="1" i="0" u="none" strike="noStrike" dirty="0" err="1">
                <a:solidFill>
                  <a:srgbClr val="000000"/>
                </a:solidFill>
                <a:effectLst/>
              </a:rPr>
              <a:t>Neighbors</a:t>
            </a:r>
            <a:r>
              <a:rPr lang="en-GB" sz="2200" b="1" i="0" u="none" strike="noStrike" dirty="0">
                <a:solidFill>
                  <a:srgbClr val="000000"/>
                </a:solidFill>
                <a:effectLst/>
              </a:rPr>
              <a:t> (KNN)</a:t>
            </a:r>
            <a:r>
              <a:rPr lang="en-GB" sz="2200" b="0" i="0" u="none" strike="noStrike" dirty="0">
                <a:solidFill>
                  <a:srgbClr val="000000"/>
                </a:solidFill>
                <a:effectLst/>
              </a:rPr>
              <a:t> is a simple, non-parametric algorithm that classifies data points based on the majority class of their K nearest </a:t>
            </a:r>
            <a:r>
              <a:rPr lang="en-GB" sz="2200" b="0" i="0" u="none" strike="noStrike" dirty="0" err="1">
                <a:solidFill>
                  <a:srgbClr val="000000"/>
                </a:solidFill>
                <a:effectLst/>
              </a:rPr>
              <a:t>neighbors</a:t>
            </a:r>
            <a:r>
              <a:rPr lang="en-GB" sz="2200" b="0" i="0" u="none" strike="noStrike" dirty="0">
                <a:solidFill>
                  <a:srgbClr val="000000"/>
                </a:solidFill>
                <a:effectLst/>
              </a:rPr>
              <a:t> in feature space, using a distance metric such as Euclidean distance.</a:t>
            </a:r>
          </a:p>
          <a:p>
            <a:pPr>
              <a:lnSpc>
                <a:spcPct val="100000"/>
              </a:lnSpc>
            </a:pPr>
            <a:endParaRPr lang="en-GB" sz="2200" dirty="0"/>
          </a:p>
          <a:p>
            <a:pPr>
              <a:lnSpc>
                <a:spcPct val="100000"/>
              </a:lnSpc>
            </a:pPr>
            <a:r>
              <a:rPr lang="en-GB" sz="2200" dirty="0"/>
              <a:t>Non-parametric methods: make no strong assumptions about the data's underlying distribution.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99739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C2145-D765-964F-9624-24A3FD6C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from the book: ISLR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2E810E-7FB1-B349-92A1-64CA879BF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4150" y="1825625"/>
            <a:ext cx="7443699" cy="4351338"/>
          </a:xfrm>
        </p:spPr>
      </p:pic>
    </p:spTree>
    <p:extLst>
      <p:ext uri="{BB962C8B-B14F-4D97-AF65-F5344CB8AC3E}">
        <p14:creationId xmlns:p14="http://schemas.microsoft.com/office/powerpoint/2010/main" val="519226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8D933-7535-2943-A7D1-D1C78B841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300" b="1" dirty="0"/>
              <a:t>Classification trees</a:t>
            </a:r>
          </a:p>
        </p:txBody>
      </p:sp>
    </p:spTree>
    <p:extLst>
      <p:ext uri="{BB962C8B-B14F-4D97-AF65-F5344CB8AC3E}">
        <p14:creationId xmlns:p14="http://schemas.microsoft.com/office/powerpoint/2010/main" val="3858751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8A644-21C9-A142-A442-5C89CA12A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4D40F-A8D8-124F-9DD4-CDCF84526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0DBB7B-9447-0F4C-876C-D5F84AFC6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260350"/>
            <a:ext cx="12166600" cy="633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46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637F7-4FD6-204B-A779-E1DE8981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Titanic data</a:t>
            </a:r>
          </a:p>
        </p:txBody>
      </p:sp>
      <p:pic>
        <p:nvPicPr>
          <p:cNvPr id="1026" name="Picture 2" descr="Model Comparison on the Titanic Data Set | by Robert Watkins | Towards Data  Science">
            <a:extLst>
              <a:ext uri="{FF2B5EF4-FFF2-40B4-BE49-F238E27FC236}">
                <a16:creationId xmlns:a16="http://schemas.microsoft.com/office/drawing/2014/main" id="{C768ED50-6B12-0A4B-8159-480529820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2320" y="2210763"/>
            <a:ext cx="11807360" cy="3634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7095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6A227E1-7705-214D-95AA-217B9B5C5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702733"/>
            <a:ext cx="10905066" cy="545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19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FFE2E-8FA6-CCBF-A1CD-0DB82ED3F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63FED6-2900-C8C9-04A7-2FB99B97F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702733"/>
            <a:ext cx="10905066" cy="54525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C7B8AA-C096-B203-1070-E4803068F194}"/>
              </a:ext>
            </a:extLst>
          </p:cNvPr>
          <p:cNvSpPr txBox="1"/>
          <p:nvPr/>
        </p:nvSpPr>
        <p:spPr>
          <a:xfrm>
            <a:off x="388620" y="994410"/>
            <a:ext cx="42096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</a:t>
            </a:r>
            <a:r>
              <a:rPr lang="en-NL" dirty="0"/>
              <a:t>redicted class: most males did not survive</a:t>
            </a:r>
          </a:p>
          <a:p>
            <a:r>
              <a:rPr lang="en-GB" dirty="0"/>
              <a:t>C</a:t>
            </a:r>
            <a:r>
              <a:rPr lang="en-NL" dirty="0"/>
              <a:t>lass probability: 81% died, 19% survived</a:t>
            </a:r>
          </a:p>
          <a:p>
            <a:r>
              <a:rPr lang="en-GB" dirty="0"/>
              <a:t>P</a:t>
            </a:r>
            <a:r>
              <a:rPr lang="en-NL" dirty="0"/>
              <a:t>roportion of dataset: 65% were male</a:t>
            </a:r>
          </a:p>
        </p:txBody>
      </p:sp>
    </p:spTree>
    <p:extLst>
      <p:ext uri="{BB962C8B-B14F-4D97-AF65-F5344CB8AC3E}">
        <p14:creationId xmlns:p14="http://schemas.microsoft.com/office/powerpoint/2010/main" val="3381634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560F296-D54B-4D4A-A7FD-8D0D05D7C8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02733"/>
            <a:ext cx="10905066" cy="54525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1AB39A-C1E0-F20B-1470-A80C93893045}"/>
              </a:ext>
            </a:extLst>
          </p:cNvPr>
          <p:cNvSpPr txBox="1"/>
          <p:nvPr/>
        </p:nvSpPr>
        <p:spPr>
          <a:xfrm>
            <a:off x="816014" y="6155266"/>
            <a:ext cx="6939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 err="1">
                <a:solidFill>
                  <a:schemeClr val="accent6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set.seed</a:t>
            </a:r>
            <a:r>
              <a:rPr lang="en-GB" b="0" i="0" u="none" strike="noStrike" dirty="0">
                <a:solidFill>
                  <a:schemeClr val="accent6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(73) </a:t>
            </a:r>
            <a:r>
              <a:rPr lang="en-GB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To make your tree reproducible</a:t>
            </a:r>
            <a:endParaRPr lang="en-NL" dirty="0">
              <a:solidFill>
                <a:schemeClr val="bg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971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C8349-CC48-0240-A214-84BBDF703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E9B73-2559-E840-8FC6-CB674135E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i="1" dirty="0"/>
              <a:t>Recursive partitioning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Find the split that makes observations (data points) as similar as possible on the outcome within that split;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Within each resulting group, do (1).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584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C8349-CC48-0240-A214-84BBDF703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Recursive partitioning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E9B73-2559-E840-8FC6-CB674135E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Find the split that makes observations as similar as possible on the outcome within that split;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Within each resulting group, do (1).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b="1" dirty="0"/>
              <a:t>Criteria </a:t>
            </a:r>
            <a:r>
              <a:rPr lang="en-IE" dirty="0"/>
              <a:t>for “as similar as possible”: Purity, MSE reduction, ...</a:t>
            </a:r>
          </a:p>
          <a:p>
            <a:r>
              <a:rPr lang="en-IE" b="1" dirty="0"/>
              <a:t>Early stopping</a:t>
            </a:r>
            <a:r>
              <a:rPr lang="en-IE" dirty="0"/>
              <a:t>: add after (2): </a:t>
            </a:r>
          </a:p>
          <a:p>
            <a:pPr lvl="1"/>
            <a:r>
              <a:rPr lang="en-IE" dirty="0"/>
              <a:t>“unless fewer than </a:t>
            </a:r>
            <a:r>
              <a:rPr lang="en-IE" dirty="0" err="1">
                <a:latin typeface="Fira Code" panose="020B0809050000020004" pitchFamily="49" charset="0"/>
                <a:ea typeface="Fira Code" panose="020B0809050000020004" pitchFamily="49" charset="0"/>
              </a:rPr>
              <a:t>nmin</a:t>
            </a:r>
            <a:r>
              <a:rPr lang="en-IE" dirty="0"/>
              <a:t> observations in the group” (typically 10);</a:t>
            </a:r>
          </a:p>
          <a:p>
            <a:pPr lvl="1"/>
            <a:r>
              <a:rPr lang="en-IE" dirty="0"/>
              <a:t>“unless improvement less than </a:t>
            </a:r>
            <a:r>
              <a:rPr lang="en-IE" dirty="0">
                <a:latin typeface="Fira Code" panose="020B0809050000020004" pitchFamily="49" charset="0"/>
                <a:ea typeface="Fira Code" panose="020B0809050000020004" pitchFamily="49" charset="0"/>
              </a:rPr>
              <a:t>cp</a:t>
            </a:r>
            <a:r>
              <a:rPr lang="en-IE" dirty="0"/>
              <a:t>” (typically 0.05);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438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78B257-2DC2-5C4A-B3E6-F8E64EB2D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1316" y="643466"/>
            <a:ext cx="974936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1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78B257-2DC2-5C4A-B3E6-F8E64EB2D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221316" y="643466"/>
            <a:ext cx="974936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862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78B257-2DC2-5C4A-B3E6-F8E64EB2D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221317" y="643466"/>
            <a:ext cx="974936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413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78B257-2DC2-5C4A-B3E6-F8E64EB2D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221317" y="643466"/>
            <a:ext cx="9749365" cy="557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855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78B257-2DC2-5C4A-B3E6-F8E64EB2D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221318" y="643466"/>
            <a:ext cx="9749363" cy="557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17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78B257-2DC2-5C4A-B3E6-F8E64EB2D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221318" y="643466"/>
            <a:ext cx="9749363" cy="557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849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78B257-2DC2-5C4A-B3E6-F8E64EB2D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221318" y="643466"/>
            <a:ext cx="9749362" cy="557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310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78B257-2DC2-5C4A-B3E6-F8E64EB2D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484632" y="2237668"/>
            <a:ext cx="4169663" cy="2382664"/>
          </a:xfrm>
          <a:prstGeom prst="rect">
            <a:avLst/>
          </a:prstGeom>
        </p:spPr>
      </p:pic>
      <p:pic>
        <p:nvPicPr>
          <p:cNvPr id="3" name="Content Placeholder 8">
            <a:extLst>
              <a:ext uri="{FF2B5EF4-FFF2-40B4-BE49-F238E27FC236}">
                <a16:creationId xmlns:a16="http://schemas.microsoft.com/office/drawing/2014/main" id="{92434C4A-A94B-9D4A-A36C-11753D100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029" y="1746166"/>
            <a:ext cx="6731338" cy="336566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14B3E72-9B29-0947-933D-AF45D77F3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E" dirty="0"/>
              <a:t>These are the same!</a:t>
            </a:r>
          </a:p>
        </p:txBody>
      </p:sp>
    </p:spTree>
    <p:extLst>
      <p:ext uri="{BB962C8B-B14F-4D97-AF65-F5344CB8AC3E}">
        <p14:creationId xmlns:p14="http://schemas.microsoft.com/office/powerpoint/2010/main" val="1792002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7AE33-A6A2-6745-8A9D-1DDE94E2F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300" b="1" dirty="0"/>
              <a:t>Ensemble learners based on trees</a:t>
            </a:r>
          </a:p>
          <a:p>
            <a:pPr marL="0" indent="0">
              <a:buNone/>
            </a:pPr>
            <a:r>
              <a:rPr lang="en-US" sz="3300" dirty="0"/>
              <a:t>ensemble methods use multiple learning algorithms to obtain better predictive performance (Wikipedia)</a:t>
            </a:r>
          </a:p>
        </p:txBody>
      </p:sp>
    </p:spTree>
    <p:extLst>
      <p:ext uri="{BB962C8B-B14F-4D97-AF65-F5344CB8AC3E}">
        <p14:creationId xmlns:p14="http://schemas.microsoft.com/office/powerpoint/2010/main" val="3257932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E350-80E4-CA4D-BDF6-9B4F6E85E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with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FE6F8-94F1-5D4D-BBD1-756D0EEA6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E" dirty="0"/>
              <a:t>Trees are not a bad idea, but in practice they tend to overfit</a:t>
            </a:r>
          </a:p>
          <a:p>
            <a:pPr marL="0" indent="0">
              <a:buNone/>
            </a:pPr>
            <a:r>
              <a:rPr lang="en-IE" dirty="0"/>
              <a:t>→ Use them as </a:t>
            </a:r>
            <a:r>
              <a:rPr lang="en-IE" b="1" dirty="0"/>
              <a:t>basic building block </a:t>
            </a:r>
            <a:r>
              <a:rPr lang="en-IE" dirty="0"/>
              <a:t>for </a:t>
            </a:r>
            <a:r>
              <a:rPr lang="en-IE" b="1" dirty="0"/>
              <a:t>ensembles</a:t>
            </a:r>
          </a:p>
          <a:p>
            <a:endParaRPr lang="en-IE" dirty="0"/>
          </a:p>
          <a:p>
            <a:r>
              <a:rPr lang="en-IE" b="1" dirty="0"/>
              <a:t>Random forests</a:t>
            </a:r>
            <a:r>
              <a:rPr lang="en-IE" dirty="0"/>
              <a:t>: “bagged trees with feature sampling”</a:t>
            </a:r>
          </a:p>
          <a:p>
            <a:pPr lvl="1"/>
            <a:r>
              <a:rPr lang="en-IE" dirty="0"/>
              <a:t>Make trees that are too complex (low bias, high variance);</a:t>
            </a:r>
          </a:p>
          <a:p>
            <a:pPr lvl="1"/>
            <a:r>
              <a:rPr lang="en-IE" dirty="0"/>
              <a:t>Average over bootstrapped samples to cancel out the overfitting parts.</a:t>
            </a:r>
          </a:p>
          <a:p>
            <a:pPr lvl="1"/>
            <a:endParaRPr lang="en-IE" dirty="0"/>
          </a:p>
          <a:p>
            <a:r>
              <a:rPr lang="en-IE" b="1" dirty="0"/>
              <a:t>Boosting</a:t>
            </a:r>
            <a:r>
              <a:rPr lang="en-IE" dirty="0"/>
              <a:t>: “ensemble of weak learners”</a:t>
            </a:r>
          </a:p>
          <a:p>
            <a:pPr lvl="1"/>
            <a:r>
              <a:rPr lang="en-IE" dirty="0"/>
              <a:t>Make trees that are too simple (high bias, low variance);</a:t>
            </a:r>
          </a:p>
          <a:p>
            <a:pPr lvl="1"/>
            <a:r>
              <a:rPr lang="en-IE" dirty="0"/>
              <a:t>Make more of them for observations with big residuals;</a:t>
            </a:r>
          </a:p>
          <a:p>
            <a:pPr lvl="1"/>
            <a:r>
              <a:rPr lang="en-IE" dirty="0"/>
              <a:t>Average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768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Diagram&#10;&#10;Description automatically generated">
            <a:extLst>
              <a:ext uri="{FF2B5EF4-FFF2-40B4-BE49-F238E27FC236}">
                <a16:creationId xmlns:a16="http://schemas.microsoft.com/office/drawing/2014/main" id="{CFB93ED9-6F72-7C4E-BB71-C2DC0612A7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2134" y="1825625"/>
            <a:ext cx="6627732" cy="4351338"/>
          </a:xfr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21F884D-66F4-D34B-83D6-0813D2CD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“Bagged” trees</a:t>
            </a:r>
          </a:p>
        </p:txBody>
      </p:sp>
    </p:spTree>
    <p:extLst>
      <p:ext uri="{BB962C8B-B14F-4D97-AF65-F5344CB8AC3E}">
        <p14:creationId xmlns:p14="http://schemas.microsoft.com/office/powerpoint/2010/main" val="3717153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835F-BF15-E245-95B0-72FC8AF6B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“Bagged” trees with feature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0437C-96B8-4F4F-8589-2D598E1D2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11644" y="2870200"/>
            <a:ext cx="2280356" cy="1117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/>
              <a:t>Note: features are sampled at each </a:t>
            </a:r>
            <a:r>
              <a:rPr lang="en-US" sz="1800" i="1"/>
              <a:t>node</a:t>
            </a:r>
          </a:p>
        </p:txBody>
      </p:sp>
      <p:pic>
        <p:nvPicPr>
          <p:cNvPr id="4" name="Content Placeholder 13" descr="Diagram&#10;&#10;Description automatically generated">
            <a:extLst>
              <a:ext uri="{FF2B5EF4-FFF2-40B4-BE49-F238E27FC236}">
                <a16:creationId xmlns:a16="http://schemas.microsoft.com/office/drawing/2014/main" id="{7736BBFE-9058-D94D-A240-5CCC52BEAEF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6050" y="1825625"/>
            <a:ext cx="67399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1313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3AFEA-7C9E-3A46-B10E-A78F99BE4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D4749-B9C4-B74F-899E-6662B7068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Start with “</a:t>
            </a:r>
            <a:r>
              <a:rPr lang="en-US" b="1" dirty="0"/>
              <a:t>weak learner</a:t>
            </a:r>
            <a:r>
              <a:rPr lang="en-US" dirty="0"/>
              <a:t>” (e.g. tree stump)</a:t>
            </a:r>
          </a:p>
          <a:p>
            <a:pPr marL="0" indent="0">
              <a:buNone/>
            </a:pPr>
            <a:r>
              <a:rPr lang="en-US" dirty="0"/>
              <a:t>Repeat for </a:t>
            </a:r>
            <a:r>
              <a:rPr lang="en-US" sz="2200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nrounds</a:t>
            </a:r>
            <a:r>
              <a:rPr lang="en-US" dirty="0"/>
              <a:t> “rounds”: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↑ </a:t>
            </a:r>
            <a:r>
              <a:rPr lang="en-US" dirty="0"/>
              <a:t>Upweight the </a:t>
            </a:r>
            <a:r>
              <a:rPr lang="en-US" b="1" dirty="0"/>
              <a:t>mistakes</a:t>
            </a:r>
            <a:r>
              <a:rPr lang="en-US" dirty="0"/>
              <a:t>, </a:t>
            </a:r>
            <a:r>
              <a:rPr lang="en-IE" dirty="0"/>
              <a:t>↓ </a:t>
            </a:r>
            <a:r>
              <a:rPr lang="en-US" dirty="0"/>
              <a:t>Downweight the </a:t>
            </a:r>
            <a:r>
              <a:rPr lang="en-US" b="1" dirty="0"/>
              <a:t>correct</a:t>
            </a:r>
            <a:r>
              <a:rPr lang="en-US" dirty="0"/>
              <a:t> classifications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Train another </a:t>
            </a:r>
            <a:r>
              <a:rPr lang="en-US" b="1" dirty="0"/>
              <a:t>weak learner </a:t>
            </a:r>
            <a:r>
              <a:rPr lang="en-US" dirty="0"/>
              <a:t>on the mistake-upweighted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Back to step 1</a:t>
            </a:r>
          </a:p>
          <a:p>
            <a:endParaRPr lang="en-US" dirty="0"/>
          </a:p>
          <a:p>
            <a:r>
              <a:rPr lang="en-US" dirty="0"/>
              <a:t>Final prediction is </a:t>
            </a:r>
            <a:r>
              <a:rPr lang="en-US" b="1" dirty="0"/>
              <a:t>weighted sum of the weak learners</a:t>
            </a:r>
          </a:p>
          <a:p>
            <a:r>
              <a:rPr lang="en-US" dirty="0"/>
              <a:t>By combining many “weak learners”, a </a:t>
            </a:r>
            <a:r>
              <a:rPr lang="en-US" b="1" dirty="0"/>
              <a:t>strong learner </a:t>
            </a:r>
            <a:r>
              <a:rPr lang="en-US" dirty="0"/>
              <a:t>is created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6019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9555D-9307-49A7-A964-160B0B2E8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D2F1D-EEBD-502E-70C0-B5CD40284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Diagram depicting boosting in the context of ensemble learning.">
            <a:extLst>
              <a:ext uri="{FF2B5EF4-FFF2-40B4-BE49-F238E27FC236}">
                <a16:creationId xmlns:a16="http://schemas.microsoft.com/office/drawing/2014/main" id="{CB86492F-E987-8CB1-DE10-1B0E48D54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" y="-183078"/>
            <a:ext cx="12520523" cy="703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E4BC63-02DF-7710-E8BA-92660BB7B777}"/>
              </a:ext>
            </a:extLst>
          </p:cNvPr>
          <p:cNvSpPr txBox="1"/>
          <p:nvPr/>
        </p:nvSpPr>
        <p:spPr>
          <a:xfrm>
            <a:off x="1882588" y="6485493"/>
            <a:ext cx="5583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Source</a:t>
            </a: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  <a:r>
              <a:rPr lang="en-US"/>
              <a:t> </a:t>
            </a:r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https://www.ibm.com/think/topics/gradient-boosting</a:t>
            </a:r>
          </a:p>
        </p:txBody>
      </p:sp>
    </p:spTree>
    <p:extLst>
      <p:ext uri="{BB962C8B-B14F-4D97-AF65-F5344CB8AC3E}">
        <p14:creationId xmlns:p14="http://schemas.microsoft.com/office/powerpoint/2010/main" val="18334843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98E8F9-4EF4-B143-AA0F-AAD68D5CC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7018" y="643466"/>
            <a:ext cx="10037963" cy="55710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F78EC4C-76B1-4B40-AD32-993A30824017}"/>
              </a:ext>
            </a:extLst>
          </p:cNvPr>
          <p:cNvSpPr/>
          <p:nvPr/>
        </p:nvSpPr>
        <p:spPr>
          <a:xfrm>
            <a:off x="6095999" y="321732"/>
            <a:ext cx="6444343" cy="6214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EDE2CE-9E6D-5F43-A65D-D42F075D7F37}"/>
              </a:ext>
            </a:extLst>
          </p:cNvPr>
          <p:cNvSpPr txBox="1"/>
          <p:nvPr/>
        </p:nvSpPr>
        <p:spPr>
          <a:xfrm>
            <a:off x="1077018" y="6457890"/>
            <a:ext cx="8623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Source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Schapire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&amp; Freund (2012). </a:t>
            </a:r>
            <a:r>
              <a:rPr lang="en-US" sz="20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Boosting: Foundations and Algorithms.</a:t>
            </a:r>
            <a:endParaRPr lang="en-US" sz="2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60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98E8F9-4EF4-B143-AA0F-AAD68D5CC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077018" y="418132"/>
            <a:ext cx="10037963" cy="556452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C82CC3-8594-B349-995A-D8DBC0E8F4FA}"/>
              </a:ext>
            </a:extLst>
          </p:cNvPr>
          <p:cNvSpPr/>
          <p:nvPr/>
        </p:nvSpPr>
        <p:spPr>
          <a:xfrm>
            <a:off x="6095999" y="321732"/>
            <a:ext cx="6444343" cy="6214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430AB6-6B67-054B-87A5-CF2E4D882205}"/>
              </a:ext>
            </a:extLst>
          </p:cNvPr>
          <p:cNvSpPr txBox="1"/>
          <p:nvPr/>
        </p:nvSpPr>
        <p:spPr>
          <a:xfrm>
            <a:off x="1077018" y="6457890"/>
            <a:ext cx="8623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Source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Schapire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&amp; Freund (2012). </a:t>
            </a:r>
            <a:r>
              <a:rPr lang="en-US" sz="20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Boosting: Foundations and Algorithms.</a:t>
            </a:r>
            <a:endParaRPr lang="en-US" sz="2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09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98E8F9-4EF4-B143-AA0F-AAD68D5CC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077018" y="189532"/>
            <a:ext cx="10037963" cy="556452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791D9F-8DF7-3446-AB0D-4F86B9056434}"/>
              </a:ext>
            </a:extLst>
          </p:cNvPr>
          <p:cNvSpPr/>
          <p:nvPr/>
        </p:nvSpPr>
        <p:spPr>
          <a:xfrm>
            <a:off x="5747657" y="501346"/>
            <a:ext cx="6444343" cy="6214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3EA68-B0C2-BC40-92E0-2F8515076135}"/>
              </a:ext>
            </a:extLst>
          </p:cNvPr>
          <p:cNvSpPr txBox="1"/>
          <p:nvPr/>
        </p:nvSpPr>
        <p:spPr>
          <a:xfrm>
            <a:off x="1077018" y="6457890"/>
            <a:ext cx="8623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Source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Schapire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&amp; Freund (2012). </a:t>
            </a:r>
            <a:r>
              <a:rPr lang="en-US" sz="20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Boosting: Foundations and Algorithms.</a:t>
            </a:r>
            <a:endParaRPr lang="en-US" sz="2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64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B764F-D379-8B47-A979-79F310E1B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final prediction model </a:t>
            </a:r>
            <a:r>
              <a:rPr lang="en-US" b="0" dirty="0"/>
              <a:t>(classifier)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F09446-701F-124C-A8D8-FE80637C35D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590" y="1490663"/>
            <a:ext cx="7445016" cy="536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6662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8FFD-38E8-DB4C-8D45-02A5B6FC5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593C-B3FE-974B-9249-97AF1D86B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go-to implementation is </a:t>
            </a:r>
            <a:r>
              <a:rPr lang="en-US" dirty="0" err="1">
                <a:latin typeface="Fira Code" panose="020B0809050000020004" pitchFamily="49" charset="0"/>
                <a:ea typeface="Fira Code" panose="020B0809050000020004" pitchFamily="49" charset="0"/>
              </a:rPr>
              <a:t>xgboost</a:t>
            </a:r>
            <a:endParaRPr lang="en-US" dirty="0"/>
          </a:p>
          <a:p>
            <a:r>
              <a:rPr lang="en-US" dirty="0"/>
              <a:t>Very powerful idea and easy to apply to other things than classification trees</a:t>
            </a:r>
          </a:p>
          <a:p>
            <a:r>
              <a:rPr lang="en-US" dirty="0"/>
              <a:t>Regression boosting, Survival boosting, etc.</a:t>
            </a:r>
          </a:p>
          <a:p>
            <a:r>
              <a:rPr lang="en-US" dirty="0"/>
              <a:t>Often </a:t>
            </a:r>
            <a:r>
              <a:rPr lang="en-US" dirty="0" err="1"/>
              <a:t>SotA</a:t>
            </a:r>
            <a:r>
              <a:rPr lang="en-US" dirty="0"/>
              <a:t> in tabular data challenges, …</a:t>
            </a:r>
          </a:p>
          <a:p>
            <a:r>
              <a:rPr lang="en-US" dirty="0"/>
              <a:t>… </a:t>
            </a:r>
            <a:r>
              <a:rPr lang="en-US" i="1" dirty="0"/>
              <a:t>after </a:t>
            </a:r>
            <a:r>
              <a:rPr lang="en-US" dirty="0"/>
              <a:t>extensive hyperparameter tuning</a:t>
            </a:r>
          </a:p>
        </p:txBody>
      </p:sp>
    </p:spTree>
    <p:extLst>
      <p:ext uri="{BB962C8B-B14F-4D97-AF65-F5344CB8AC3E}">
        <p14:creationId xmlns:p14="http://schemas.microsoft.com/office/powerpoint/2010/main" val="34572318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5020B-4C19-8F41-8788-6325B739F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300" b="1" dirty="0"/>
              <a:t>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7151117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FAE5A-CB9D-F244-80A5-BAC6ACC2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networks, “deep learning”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2D797-CA60-3A46-A0F1-36B2A5008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E" sz="3300" dirty="0"/>
              <a:t>Compositional approach to curve-fitting;</a:t>
            </a:r>
          </a:p>
          <a:p>
            <a:r>
              <a:rPr lang="en-IE" sz="3300" dirty="0"/>
              <a:t>“Biologically inspired” </a:t>
            </a:r>
          </a:p>
          <a:p>
            <a:pPr marL="0" indent="0">
              <a:buNone/>
            </a:pPr>
            <a:r>
              <a:rPr lang="en-IE" sz="3300" dirty="0"/>
              <a:t>	(but don’t take that too seriously);</a:t>
            </a:r>
          </a:p>
          <a:p>
            <a:pPr>
              <a:lnSpc>
                <a:spcPct val="150000"/>
              </a:lnSpc>
            </a:pPr>
            <a:r>
              <a:rPr lang="en-IE" sz="3300" dirty="0"/>
              <a:t>Sound cool.</a:t>
            </a:r>
          </a:p>
        </p:txBody>
      </p:sp>
    </p:spTree>
    <p:extLst>
      <p:ext uri="{BB962C8B-B14F-4D97-AF65-F5344CB8AC3E}">
        <p14:creationId xmlns:p14="http://schemas.microsoft.com/office/powerpoint/2010/main" val="36276762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17A0-8362-C54C-B631-92888C6C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E7EF2-D3E8-0142-BAFC-10B7256FB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8855E86-22F3-D740-8737-A30A66F19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32496" y="1825625"/>
            <a:ext cx="652700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3547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17A0-8362-C54C-B631-92888C6C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Neural network </a:t>
            </a:r>
            <a:r>
              <a:rPr lang="en-GB" b="0" noProof="0" dirty="0"/>
              <a:t>(topic of tomorrow)</a:t>
            </a:r>
            <a:br>
              <a:rPr lang="en-GB" b="0" noProof="0" dirty="0"/>
            </a:br>
            <a:r>
              <a:rPr lang="en-GB" noProof="0" dirty="0"/>
              <a:t>Deep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E7EF2-D3E8-0142-BAFC-10B7256FBE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89511" y="1825625"/>
                <a:ext cx="580249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i="1" dirty="0">
                    <a:latin typeface="Cambria Math" panose="02040503050406030204" pitchFamily="18" charset="0"/>
                  </a:rPr>
                  <a:t>“Hidden” nodes:</a:t>
                </a:r>
              </a:p>
              <a:p>
                <a:pPr marL="0" indent="0">
                  <a:buNone/>
                </a:pPr>
                <a:r>
                  <a:rPr lang="en-US" i="1" dirty="0">
                    <a:latin typeface="Cambria Math" panose="02040503050406030204" pitchFamily="18" charset="0"/>
                  </a:rPr>
                  <a:t>Example: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b="1" dirty="0"/>
                  <a:t>Output</a:t>
                </a:r>
                <a:r>
                  <a:rPr lang="en-US" dirty="0"/>
                  <a:t>:</a:t>
                </a: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b="1" dirty="0"/>
                  <a:t>“Activation function”: </a:t>
                </a:r>
              </a:p>
              <a:p>
                <a:r>
                  <a:rPr lang="en-US" dirty="0" err="1"/>
                  <a:t>RElu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…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E7EF2-D3E8-0142-BAFC-10B7256FBE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9511" y="1825625"/>
                <a:ext cx="5802490" cy="4351338"/>
              </a:xfrm>
              <a:blipFill>
                <a:blip r:embed="rId2"/>
                <a:stretch>
                  <a:fillRect l="-1965" t="-2616" b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C8855E86-22F3-D740-8737-A30A66F19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0281" y="1991335"/>
            <a:ext cx="6029876" cy="4019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What is the Dying ReLU problem in Neural Networks? - knowledge Transfer">
            <a:extLst>
              <a:ext uri="{FF2B5EF4-FFF2-40B4-BE49-F238E27FC236}">
                <a16:creationId xmlns:a16="http://schemas.microsoft.com/office/drawing/2014/main" id="{E3971384-99E8-8342-B9F6-369F02E3D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75714" y="5146432"/>
            <a:ext cx="1710729" cy="1500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1362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368D7-0F6F-A740-B121-91B4FD45B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neural net “deep”?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D7982-6AA7-0747-927E-BD9678AEA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eep learning diagram. | Download Scientific Diagram">
            <a:extLst>
              <a:ext uri="{FF2B5EF4-FFF2-40B4-BE49-F238E27FC236}">
                <a16:creationId xmlns:a16="http://schemas.microsoft.com/office/drawing/2014/main" id="{EFFD10E9-F4CC-EC41-B1FD-311A31BB2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1" y="2615207"/>
            <a:ext cx="10515599" cy="2772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38286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368D7-0F6F-A740-B121-91B4FD45B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neural net “deep”?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D7982-6AA7-0747-927E-BD9678AEA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eep learning diagram. | Download Scientific Diagram">
            <a:extLst>
              <a:ext uri="{FF2B5EF4-FFF2-40B4-BE49-F238E27FC236}">
                <a16:creationId xmlns:a16="http://schemas.microsoft.com/office/drawing/2014/main" id="{EFFD10E9-F4CC-EC41-B1FD-311A31BB2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3367" y="681037"/>
            <a:ext cx="10515599" cy="2772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B6969B-5BE6-394D-AD64-DA4CDA251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67" y="3588147"/>
            <a:ext cx="9283700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2359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88E34-F2D8-884C-9B9C-B69E6BC52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C1BF3-A2C9-CC44-826F-4863F5B7C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E" sz="3000" dirty="0"/>
              <a:t>Output of each hidden layer is input to subsequent one</a:t>
            </a:r>
          </a:p>
          <a:p>
            <a:r>
              <a:rPr lang="en-IE" sz="3000" dirty="0"/>
              <a:t>Allow representation learning by building complex features out of simpler ones</a:t>
            </a:r>
          </a:p>
          <a:p>
            <a:r>
              <a:rPr lang="en-IE" sz="3000" dirty="0"/>
              <a:t>Go deep: exponential advantages, less overfitting</a:t>
            </a:r>
          </a:p>
          <a:p>
            <a:r>
              <a:rPr lang="en-IE" sz="3000" dirty="0"/>
              <a:t>Aggressive parameterization + aggressive regularization</a:t>
            </a:r>
          </a:p>
          <a:p>
            <a:r>
              <a:rPr lang="en-IE" sz="3000" dirty="0"/>
              <a:t>Compositional: efficient parametrization</a:t>
            </a:r>
          </a:p>
          <a:p>
            <a:r>
              <a:rPr lang="en-IE" sz="3000" dirty="0"/>
              <a:t>Learn relevant features: “End-to-end”</a:t>
            </a:r>
          </a:p>
        </p:txBody>
      </p:sp>
    </p:spTree>
    <p:extLst>
      <p:ext uri="{BB962C8B-B14F-4D97-AF65-F5344CB8AC3E}">
        <p14:creationId xmlns:p14="http://schemas.microsoft.com/office/powerpoint/2010/main" val="14176905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A9EE9-927D-3A48-9119-32E4507E8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8FFC7-C377-0546-9F2D-5D6BD333A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5059" cy="4351338"/>
          </a:xfrm>
        </p:spPr>
        <p:txBody>
          <a:bodyPr/>
          <a:lstStyle/>
          <a:p>
            <a:r>
              <a:rPr lang="en-US" dirty="0"/>
              <a:t>By adjusting the arrows, layers, and activation functions, you can create models that are tailored to specific data, e.g. </a:t>
            </a:r>
          </a:p>
          <a:p>
            <a:r>
              <a:rPr lang="en-US" dirty="0"/>
              <a:t>Convolutional (CNN): images, text, sound</a:t>
            </a:r>
          </a:p>
          <a:p>
            <a:r>
              <a:rPr lang="en-US" dirty="0"/>
              <a:t>Recurrent (RNN): time series, text</a:t>
            </a:r>
          </a:p>
          <a:p>
            <a:r>
              <a:rPr lang="en-US" dirty="0"/>
              <a:t>Graph (GNN): networks</a:t>
            </a:r>
          </a:p>
          <a:p>
            <a:r>
              <a:rPr lang="en-US" dirty="0"/>
              <a:t>…</a:t>
            </a:r>
          </a:p>
        </p:txBody>
      </p:sp>
      <p:pic>
        <p:nvPicPr>
          <p:cNvPr id="8194" name="Picture 2" descr="Concise Visual Summary of Deep Learning Architectures - Data Science Central">
            <a:extLst>
              <a:ext uri="{FF2B5EF4-FFF2-40B4-BE49-F238E27FC236}">
                <a16:creationId xmlns:a16="http://schemas.microsoft.com/office/drawing/2014/main" id="{BBA01400-EA8A-3445-9B0D-18D657EBF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78750" y="1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40495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3D51-A832-3D42-BA97-6E1F711D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1DFA3-11B5-F643-991B-F2F63B186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places to start: </a:t>
            </a:r>
          </a:p>
          <a:p>
            <a:pPr lvl="1"/>
            <a:r>
              <a:rPr lang="en-US" dirty="0">
                <a:latin typeface="Fira Code" panose="020B0809050000020004" pitchFamily="49" charset="0"/>
                <a:ea typeface="Fira Code" panose="020B0809050000020004" pitchFamily="49" charset="0"/>
                <a:hlinkClick r:id="rId2"/>
              </a:rPr>
              <a:t>https://keras.rstudio.com/</a:t>
            </a:r>
            <a:endParaRPr lang="en-US" dirty="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r>
              <a:rPr lang="en-US" dirty="0"/>
              <a:t>ISLR Chapter 10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 descr="Deep Learning (Adaptive Computation and Machine Learning series) (English  Edition) eBook : Goodfellow, Ian, Bengio, Yoshua, Courville, Aaron:  Amazon.es: Tienda Kindle">
            <a:extLst>
              <a:ext uri="{FF2B5EF4-FFF2-40B4-BE49-F238E27FC236}">
                <a16:creationId xmlns:a16="http://schemas.microsoft.com/office/drawing/2014/main" id="{6816A384-7541-5346-9F40-8824B251B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71260" y="2743602"/>
            <a:ext cx="2737757" cy="360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anning | Deep Learning with R">
            <a:extLst>
              <a:ext uri="{FF2B5EF4-FFF2-40B4-BE49-F238E27FC236}">
                <a16:creationId xmlns:a16="http://schemas.microsoft.com/office/drawing/2014/main" id="{A24ABCCD-8582-A945-9211-FE3940160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40064" y="2760323"/>
            <a:ext cx="2844783" cy="3574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C5C3B8-5A89-2941-8FB3-8B4F987CFA9D}"/>
              </a:ext>
            </a:extLst>
          </p:cNvPr>
          <p:cNvSpPr txBox="1"/>
          <p:nvPr/>
        </p:nvSpPr>
        <p:spPr>
          <a:xfrm>
            <a:off x="5771260" y="6488668"/>
            <a:ext cx="192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Goodfellow et 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21F743-BB2F-544C-ABC8-5317EA13A236}"/>
              </a:ext>
            </a:extLst>
          </p:cNvPr>
          <p:cNvSpPr txBox="1"/>
          <p:nvPr/>
        </p:nvSpPr>
        <p:spPr>
          <a:xfrm>
            <a:off x="8721563" y="6487326"/>
            <a:ext cx="2863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Chollet (R/Python version)</a:t>
            </a:r>
          </a:p>
        </p:txBody>
      </p:sp>
    </p:spTree>
    <p:extLst>
      <p:ext uri="{BB962C8B-B14F-4D97-AF65-F5344CB8AC3E}">
        <p14:creationId xmlns:p14="http://schemas.microsoft.com/office/powerpoint/2010/main" val="22520971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C7142-C6C4-6848-82E3-85FF69F11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300" b="1" dirty="0"/>
              <a:t>Evaluating classifiers</a:t>
            </a:r>
          </a:p>
        </p:txBody>
      </p:sp>
    </p:spTree>
    <p:extLst>
      <p:ext uri="{BB962C8B-B14F-4D97-AF65-F5344CB8AC3E}">
        <p14:creationId xmlns:p14="http://schemas.microsoft.com/office/powerpoint/2010/main" val="5010195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23C8-F25A-5A48-AD84-A0DF912C0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Confusion matrix: Counts</a:t>
            </a:r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4C830E5-FB48-E74B-8BF3-5BF427527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1950244"/>
            <a:ext cx="11455400" cy="41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622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D29E0-E568-4849-9D21-1E5E6C2EE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matrix: counts</a:t>
            </a:r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35EA0FAD-CE87-D047-A415-13B05706E6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668" y="1990678"/>
            <a:ext cx="8479547" cy="4867322"/>
          </a:xfrm>
        </p:spPr>
      </p:pic>
    </p:spTree>
    <p:extLst>
      <p:ext uri="{BB962C8B-B14F-4D97-AF65-F5344CB8AC3E}">
        <p14:creationId xmlns:p14="http://schemas.microsoft.com/office/powerpoint/2010/main" val="19262064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79A7-956D-2A43-B230-672BDC9A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Confusion matrix: </a:t>
            </a:r>
            <a:br>
              <a:rPr lang="en-IE" dirty="0"/>
            </a:br>
            <a:r>
              <a:rPr lang="en-IE" b="0" dirty="0"/>
              <a:t>Sensitivity (“recall”) and Specificity</a:t>
            </a:r>
            <a:endParaRPr lang="en-US" b="0" dirty="0"/>
          </a:p>
        </p:txBody>
      </p:sp>
      <p:pic>
        <p:nvPicPr>
          <p:cNvPr id="5" name="Content Placeholder 4" descr="A picture containing text&#10;&#10;Description automatically generated">
            <a:extLst>
              <a:ext uri="{FF2B5EF4-FFF2-40B4-BE49-F238E27FC236}">
                <a16:creationId xmlns:a16="http://schemas.microsoft.com/office/drawing/2014/main" id="{237A058D-E7A2-2645-90EA-99C60378F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1690688"/>
            <a:ext cx="7485185" cy="5049224"/>
          </a:xfrm>
        </p:spPr>
      </p:pic>
    </p:spTree>
    <p:extLst>
      <p:ext uri="{BB962C8B-B14F-4D97-AF65-F5344CB8AC3E}">
        <p14:creationId xmlns:p14="http://schemas.microsoft.com/office/powerpoint/2010/main" val="35472466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5CE29-B782-FD41-B327-B36C5A45B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Confusion matrix: </a:t>
            </a:r>
            <a:br>
              <a:rPr lang="en-IE" dirty="0"/>
            </a:br>
            <a:r>
              <a:rPr lang="en-IE" b="0" dirty="0"/>
              <a:t>Negative &amp; positive predictive value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907D3F-1CDA-8845-BB9F-722C17C6BA4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1690688"/>
            <a:ext cx="8997462" cy="517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81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dirty="0"/>
              <a:t>Confusion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n-NL"/>
            </a:defPPr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4F52093B-0720-486A-B874-975A27BF69CF}" type="slidenum">
              <a:rPr lang="en-NL" smtClean="0"/>
              <a:pPr lvl="0"/>
              <a:t>53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84464-F4A4-4BA6-9276-A19EC2855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697" y="1690688"/>
            <a:ext cx="8940247" cy="515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6378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4C955-EE68-8E44-A516-450D30758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2696B-5445-E747-BB52-CCD15F326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549523E-3DB3-9E45-A470-2CF9923A3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5498123" cy="999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3B6AA9F-351F-DC46-BAEB-7A254CFD66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4" b="-175368"/>
          <a:stretch/>
        </p:blipFill>
        <p:spPr bwMode="auto">
          <a:xfrm>
            <a:off x="5275385" y="868340"/>
            <a:ext cx="7505699" cy="1307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2FF33A-94A7-EA42-8178-7171596DF7D9}"/>
              </a:ext>
            </a:extLst>
          </p:cNvPr>
          <p:cNvSpPr txBox="1"/>
          <p:nvPr/>
        </p:nvSpPr>
        <p:spPr>
          <a:xfrm>
            <a:off x="5498122" y="6308209"/>
            <a:ext cx="6464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Source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n-US" dirty="0"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  <a:hlinkClick r:id="rId5"/>
              </a:rPr>
              <a:t>https://en.wikipedia.org/wiki/F-score</a:t>
            </a:r>
            <a:r>
              <a:rPr lang="en-US" dirty="0"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36323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EDA4D-BAF8-F54B-9180-FB43DEC0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baseline="-25000" dirty="0"/>
              <a:t>1</a:t>
            </a:r>
            <a:r>
              <a:rPr lang="en-US" dirty="0"/>
              <a:t>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C01646-0EE5-E846-B798-50305F26F9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IE" dirty="0"/>
                  <a:t>The </a:t>
                </a:r>
                <a:r>
                  <a:rPr lang="en-IE" b="1" dirty="0"/>
                  <a:t>F</a:t>
                </a:r>
                <a:r>
                  <a:rPr lang="en-IE" b="1" baseline="-25000" dirty="0"/>
                  <a:t>1</a:t>
                </a:r>
                <a:r>
                  <a:rPr lang="en-IE" b="1" dirty="0"/>
                  <a:t> score </a:t>
                </a:r>
                <a:r>
                  <a:rPr lang="en-IE" dirty="0"/>
                  <a:t>is the “harmonic mean” of precision and recall: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precision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recall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IE" dirty="0"/>
              </a:p>
              <a:p>
                <a:r>
                  <a:rPr lang="en-IE" b="1" dirty="0"/>
                  <a:t>Like</a:t>
                </a:r>
                <a:r>
                  <a:rPr lang="en-IE" dirty="0"/>
                  <a:t> accuracy, the F</a:t>
                </a:r>
                <a:r>
                  <a:rPr lang="en-IE" baseline="-25000" dirty="0"/>
                  <a:t>1</a:t>
                </a:r>
                <a:r>
                  <a:rPr lang="en-IE" dirty="0"/>
                  <a:t> quantifies overall amount of error</a:t>
                </a:r>
              </a:p>
              <a:p>
                <a:r>
                  <a:rPr lang="en-IE" b="1" dirty="0"/>
                  <a:t>Unlike</a:t>
                </a:r>
                <a:r>
                  <a:rPr lang="en-IE" dirty="0"/>
                  <a:t> accuracy, F</a:t>
                </a:r>
                <a:r>
                  <a:rPr lang="en-IE" baseline="-25000" dirty="0"/>
                  <a:t>1</a:t>
                </a:r>
                <a:r>
                  <a:rPr lang="en-IE" dirty="0"/>
                  <a:t> is not as affected by uneven class distributions</a:t>
                </a:r>
              </a:p>
              <a:p>
                <a:endParaRPr lang="en-IE" dirty="0"/>
              </a:p>
              <a:p>
                <a:pPr marL="0" indent="0">
                  <a:buNone/>
                </a:pPr>
                <a:r>
                  <a:rPr lang="en-IE" dirty="0">
                    <a:solidFill>
                      <a:schemeClr val="bg2">
                        <a:lumMod val="50000"/>
                      </a:schemeClr>
                    </a:solidFill>
                  </a:rPr>
                  <a:t>Titanic 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f>
                          <m:fPr>
                            <m:type m:val="skw"/>
                            <m:ctrlPr>
                              <a:rPr lang="en-US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0.798</m:t>
                            </m:r>
                          </m:den>
                        </m:f>
                        <m:r>
                          <a:rPr lang="en-US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f>
                          <m:fPr>
                            <m:type m:val="skw"/>
                            <m:ctrlPr>
                              <a:rPr lang="en-US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0.652</m:t>
                            </m:r>
                          </m:den>
                        </m:f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=0.718</m:t>
                    </m:r>
                  </m:oMath>
                </a14:m>
                <a:r>
                  <a:rPr lang="en-IE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C01646-0EE5-E846-B798-50305F26F9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 b="-15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09601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B7D79-196F-034E-8577-B6583A4EF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some classification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47EDE-6BE5-FB47-8D72-00925AB97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  <a:p>
            <a:r>
              <a:rPr lang="en-IE" dirty="0"/>
              <a:t>Sensitivity (=Recall)</a:t>
            </a:r>
          </a:p>
          <a:p>
            <a:r>
              <a:rPr lang="en-IE" dirty="0"/>
              <a:t>Specificity</a:t>
            </a:r>
          </a:p>
          <a:p>
            <a:r>
              <a:rPr lang="en-IE" dirty="0"/>
              <a:t>Positive predictive value (=Precision)</a:t>
            </a:r>
          </a:p>
          <a:p>
            <a:r>
              <a:rPr lang="en-IE" dirty="0"/>
              <a:t>Negative predictive value</a:t>
            </a:r>
          </a:p>
          <a:p>
            <a:r>
              <a:rPr lang="en-IE" dirty="0"/>
              <a:t>Accuracy</a:t>
            </a:r>
          </a:p>
          <a:p>
            <a:r>
              <a:rPr lang="en-IE" dirty="0"/>
              <a:t>Many! more: </a:t>
            </a:r>
            <a:r>
              <a:rPr lang="en-IE" sz="2200" dirty="0">
                <a:latin typeface="Fira Code" panose="020B0809050000020004" pitchFamily="49" charset="0"/>
                <a:ea typeface="Fira Code" panose="020B0809050000020004" pitchFamily="49" charset="0"/>
                <a:hlinkClick r:id="rId2"/>
              </a:rPr>
              <a:t>https://en.wikipedia.org/wiki/Sensitivity_and_specificity</a:t>
            </a:r>
            <a:r>
              <a:rPr lang="en-US" sz="2200" dirty="0"/>
              <a:t> </a:t>
            </a:r>
            <a:endParaRPr lang="en-IE" sz="2200" dirty="0"/>
          </a:p>
        </p:txBody>
      </p:sp>
    </p:spTree>
    <p:extLst>
      <p:ext uri="{BB962C8B-B14F-4D97-AF65-F5344CB8AC3E}">
        <p14:creationId xmlns:p14="http://schemas.microsoft.com/office/powerpoint/2010/main" val="40914377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135F-45B1-FD4B-BFCB-F00318EA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thresholds than 0.5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CA72-D7FF-FA45-966D-BEE136174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132556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Moving around the threshold affects sensitivity and specificity!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0F6AB7-A817-8546-AD86-B759DDD92BA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239168"/>
            <a:ext cx="10792810" cy="450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780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F6CE8B-839A-BA41-A8B8-E03C83B99B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4883" y="-4234"/>
            <a:ext cx="6862234" cy="686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601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F6CE8B-839A-BA41-A8B8-E03C83B99B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664883" y="-4234"/>
            <a:ext cx="6862234" cy="686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2346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887D493-831A-A844-B1CD-4ACA8A2434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10466" y="643466"/>
            <a:ext cx="5571067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1490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B953C-9225-1C41-ACB7-FA6705E1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726A8-4E9A-DD4C-A317-7EDF63DCA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3300" dirty="0"/>
              <a:t>Besides the quality of a single-shot predicted class (“yes/no”, “survive/not survive”, ...),</a:t>
            </a:r>
          </a:p>
          <a:p>
            <a:r>
              <a:rPr lang="en-IE" sz="3300" dirty="0"/>
              <a:t>We could also be interested in the </a:t>
            </a:r>
            <a:r>
              <a:rPr lang="en-IE" sz="3300" b="1" dirty="0"/>
              <a:t>predicted probability.</a:t>
            </a:r>
          </a:p>
          <a:p>
            <a:r>
              <a:rPr lang="en-IE" sz="3300" dirty="0"/>
              <a:t>E.g.: “</a:t>
            </a:r>
            <a:r>
              <a:rPr lang="en-IE" sz="3300" dirty="0" err="1"/>
              <a:t>casemix</a:t>
            </a:r>
            <a:r>
              <a:rPr lang="en-IE" sz="3300" dirty="0"/>
              <a:t> adjustment” for hospital/school evaluation, risk scores in medicine, betting, ...</a:t>
            </a:r>
          </a:p>
        </p:txBody>
      </p:sp>
    </p:spTree>
    <p:extLst>
      <p:ext uri="{BB962C8B-B14F-4D97-AF65-F5344CB8AC3E}">
        <p14:creationId xmlns:p14="http://schemas.microsoft.com/office/powerpoint/2010/main" val="12307475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B78A9-EEC9-614A-B9BA-BF239E385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days like today, </a:t>
            </a:r>
            <a:br>
              <a:rPr lang="en-US" dirty="0"/>
            </a:br>
            <a:r>
              <a:rPr lang="en-US" dirty="0"/>
              <a:t>	how often does it rain?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CEA80-15B6-8F49-9EB4-23ED2A139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DC0CED-DB01-B143-A747-EAACBE645C7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33452"/>
            <a:ext cx="12192000" cy="447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27114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78D9-6C3B-CD40-ADF9-362E8CFDE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7C1A-CE71-F445-8ACD-6FAE72092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1603375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Probability</a:t>
            </a:r>
          </a:p>
          <a:p>
            <a:pPr marL="0" indent="0">
              <a:buNone/>
            </a:pPr>
            <a:r>
              <a:rPr lang="en-IE" dirty="0"/>
              <a:t>A </a:t>
            </a:r>
            <a:r>
              <a:rPr lang="en-IE" i="1" dirty="0"/>
              <a:t>probability </a:t>
            </a:r>
            <a:r>
              <a:rPr lang="en-IE" dirty="0"/>
              <a:t>is a number </a:t>
            </a:r>
            <a:r>
              <a:rPr lang="en-IE" i="1" dirty="0"/>
              <a:t>p</a:t>
            </a:r>
            <a:r>
              <a:rPr lang="en-IE" dirty="0"/>
              <a:t> such that the proportion of events given that number is about </a:t>
            </a:r>
            <a:r>
              <a:rPr lang="en-IE" i="1" dirty="0"/>
              <a:t>p</a:t>
            </a:r>
            <a:r>
              <a:rPr lang="en-IE"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42FD65-B0C3-7C4E-8A3D-41AB1D239A01}"/>
              </a:ext>
            </a:extLst>
          </p:cNvPr>
          <p:cNvSpPr txBox="1">
            <a:spLocks/>
          </p:cNvSpPr>
          <p:nvPr/>
        </p:nvSpPr>
        <p:spPr>
          <a:xfrm>
            <a:off x="838200" y="2400300"/>
            <a:ext cx="10515600" cy="4092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Ideally</a:t>
            </a:r>
            <a:r>
              <a:rPr lang="en-US" dirty="0"/>
              <a:t>, the classification procedure (e.g. classification tree) outputs a predicted probability directly.</a:t>
            </a:r>
          </a:p>
          <a:p>
            <a:r>
              <a:rPr lang="en-US" b="1" dirty="0"/>
              <a:t>Unfortunately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Not all classifiers output a predicted probability (e.g. SVM);</a:t>
            </a:r>
          </a:p>
          <a:p>
            <a:pPr lvl="1"/>
            <a:r>
              <a:rPr lang="en-US" dirty="0"/>
              <a:t>Many classifiers that do give a number between 0 and 1 called a “predicted probability”, the predicted probability does not give the correct proportion of events.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This is the “</a:t>
            </a:r>
            <a:r>
              <a:rPr lang="en-US" b="1" dirty="0"/>
              <a:t>calibration problem</a:t>
            </a:r>
            <a:r>
              <a:rPr lang="en-US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57711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78D9-6C3B-CD40-ADF9-362E8CFDE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Calibration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7C1A-CE71-F445-8ACD-6FAE72092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5483"/>
            <a:ext cx="10515600" cy="1603375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Probability</a:t>
            </a:r>
          </a:p>
          <a:p>
            <a:pPr marL="0" indent="0">
              <a:buNone/>
            </a:pPr>
            <a:r>
              <a:rPr lang="en-IE" dirty="0"/>
              <a:t>A </a:t>
            </a:r>
            <a:r>
              <a:rPr lang="en-IE" i="1" dirty="0"/>
              <a:t>probability </a:t>
            </a:r>
            <a:r>
              <a:rPr lang="en-IE" dirty="0"/>
              <a:t>is a number </a:t>
            </a:r>
            <a:r>
              <a:rPr lang="en-IE" i="1" dirty="0"/>
              <a:t>p</a:t>
            </a:r>
            <a:r>
              <a:rPr lang="en-IE" dirty="0"/>
              <a:t> such that the proportion of events given that number is about </a:t>
            </a:r>
            <a:r>
              <a:rPr lang="en-IE" i="1" dirty="0"/>
              <a:t>p</a:t>
            </a:r>
            <a:r>
              <a:rPr lang="en-IE"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42FD65-B0C3-7C4E-8A3D-41AB1D239A01}"/>
              </a:ext>
            </a:extLst>
          </p:cNvPr>
          <p:cNvSpPr txBox="1">
            <a:spLocks/>
          </p:cNvSpPr>
          <p:nvPr/>
        </p:nvSpPr>
        <p:spPr>
          <a:xfrm>
            <a:off x="838200" y="4555671"/>
            <a:ext cx="10515600" cy="19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3300" dirty="0"/>
              <a:t>A predicted probability is </a:t>
            </a:r>
            <a:r>
              <a:rPr lang="en-IE" sz="3300" b="1" dirty="0"/>
              <a:t>calibrated</a:t>
            </a:r>
            <a:r>
              <a:rPr lang="en-IE" sz="3300" dirty="0"/>
              <a:t> when it conforms to the definition above;</a:t>
            </a:r>
          </a:p>
          <a:p>
            <a:r>
              <a:rPr lang="en-IE" sz="3300" dirty="0"/>
              <a:t>Check this using a </a:t>
            </a:r>
            <a:r>
              <a:rPr lang="en-IE" sz="3300" b="1" dirty="0"/>
              <a:t>calibration plot</a:t>
            </a:r>
          </a:p>
        </p:txBody>
      </p:sp>
    </p:spTree>
    <p:extLst>
      <p:ext uri="{BB962C8B-B14F-4D97-AF65-F5344CB8AC3E}">
        <p14:creationId xmlns:p14="http://schemas.microsoft.com/office/powerpoint/2010/main" val="17207858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4DD44B-4882-1044-ADDB-E6FE222342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55954" y="783933"/>
            <a:ext cx="5571067" cy="55710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372919-3DE7-6D9A-17BA-E9F7B6A65EF1}"/>
              </a:ext>
            </a:extLst>
          </p:cNvPr>
          <p:cNvSpPr txBox="1"/>
          <p:nvPr/>
        </p:nvSpPr>
        <p:spPr>
          <a:xfrm>
            <a:off x="329985" y="2854481"/>
            <a:ext cx="461240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When the model says there’s a 60% chance of survival, that should mean that about 60% of people with that same prediction actually survived.</a:t>
            </a:r>
          </a:p>
          <a:p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 the points lie on the diagonal, our model’s probabilities are well calibrated. If they fall below, the model is overconfident , it predicts higher probabilities than observed. If they lie above, it’s underconfident.</a:t>
            </a:r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8658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DD736-EEEA-424B-8470-A9811607A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Post-hoc probability calibration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326D1-A338-7343-B652-33BF74898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3300" dirty="0"/>
              <a:t>Some libraries allow you to tweak the predicted probabilities so they fit on the curve. This is called “probability calibration”.</a:t>
            </a:r>
          </a:p>
          <a:p>
            <a:r>
              <a:rPr lang="en-IE" sz="3300" dirty="0"/>
              <a:t>There are many methods, but the most commonly used one takes a classification model we know is calibrated (“logistic regression”) and applies it to the uncalibrated scores outputted by the classifier;</a:t>
            </a:r>
          </a:p>
          <a:p>
            <a:r>
              <a:rPr lang="en-IE" sz="3300" dirty="0"/>
              <a:t>You may encounter this in your readings.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30950685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E9526CA8-8066-CC4C-AED7-94B8B0FE8F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0466" y="643466"/>
            <a:ext cx="557106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805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96086-7F66-0D4D-8CAE-DF95B2F35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MSE (“Brier score”)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74CFF2-80DD-5D48-A335-CAA795E7A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GB" dirty="0"/>
                  <a:t>We can also measure calibration numerically with the </a:t>
                </a:r>
                <a:r>
                  <a:rPr lang="en-GB" b="1" dirty="0"/>
                  <a:t>Brier score:</a:t>
                </a:r>
                <a:r>
                  <a:rPr lang="en-GB" dirty="0"/>
                  <a:t> it’s the mean squared error between predicted probabilities and actual outcomes (0 or 1).</a:t>
                </a:r>
                <a:endParaRPr lang="en-US" dirty="0"/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MSE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average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MSE can be reworked into two terms: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MSE</m:t>
                      </m:r>
                      <m:r>
                        <m:rPr>
                          <m:nor/>
                        </m:rPr>
                        <a:rPr lang="en-US" dirty="0"/>
                        <m:t> = </m:t>
                      </m:r>
                      <m:r>
                        <m:rPr>
                          <m:nor/>
                        </m:rPr>
                        <a:rPr lang="en-US" dirty="0"/>
                        <m:t>Calibration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term</m:t>
                      </m:r>
                      <m:r>
                        <m:rPr>
                          <m:nor/>
                        </m:rPr>
                        <a:rPr lang="en-US" dirty="0"/>
                        <m:t> + </m:t>
                      </m:r>
                      <m:r>
                        <m:rPr>
                          <m:nor/>
                        </m:rPr>
                        <a:rPr lang="en-US" dirty="0"/>
                        <m:t>AUC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term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74CFF2-80DD-5D48-A335-CAA795E7A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3084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8FF15-661A-F224-1882-83307E71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124"/>
            <a:ext cx="10515600" cy="607655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sz="4400" dirty="0"/>
              <a:t>MSE can be reworked into two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B7FB51-EB69-A45A-C22E-D05FF47A46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72780"/>
                <a:ext cx="10515600" cy="552009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100"/>
                  <a:t>Suppose there are </a:t>
                </a:r>
                <a14:m>
                  <m:oMath xmlns:m="http://schemas.openxmlformats.org/officeDocument/2006/math">
                    <m:r>
                      <a:rPr lang="en-US" sz="2100" b="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100"/>
                  <a:t> bins of unique(ish) values for our prediction,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sz="2100"/>
                  <a:t>. </a:t>
                </a:r>
              </a:p>
              <a:p>
                <a:pPr marL="0" indent="0">
                  <a:buNone/>
                </a:pPr>
                <a:r>
                  <a:rPr lang="en-US" sz="2100"/>
                  <a:t>Then the </a:t>
                </a:r>
                <a:r>
                  <a:rPr lang="en-US" sz="2100" b="1"/>
                  <a:t>calibration score </a:t>
                </a:r>
                <a14:m>
                  <m:oMath xmlns:m="http://schemas.openxmlformats.org/officeDocument/2006/math">
                    <m:r>
                      <a:rPr lang="en-US" sz="2100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1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100"/>
                  <a:t>is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100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1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00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US" sz="21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100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100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sz="21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1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1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1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1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1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100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1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100" b="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1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100"/>
              </a:p>
              <a:p>
                <a:pPr marL="457200" lvl="1" indent="0">
                  <a:buNone/>
                </a:pPr>
                <a:r>
                  <a:rPr lang="en-US" sz="2100"/>
                  <a:t>The calibration score is the squared deviation in the calibration plot showed earlier. Perfect (</a:t>
                </a:r>
                <a14:m>
                  <m:oMath xmlns:m="http://schemas.openxmlformats.org/officeDocument/2006/math">
                    <m:r>
                      <a:rPr lang="en-US" sz="2100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100" b="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100"/>
                  <a:t>) when predicted probabilities equal observed proportion of events. </a:t>
                </a:r>
              </a:p>
              <a:p>
                <a:pPr marL="0" indent="0">
                  <a:buNone/>
                </a:pPr>
                <a:endParaRPr lang="en-US" sz="2100"/>
              </a:p>
              <a:p>
                <a:pPr marL="0" indent="0">
                  <a:buNone/>
                </a:pPr>
                <a:r>
                  <a:rPr lang="en-US" sz="2100"/>
                  <a:t>The </a:t>
                </a:r>
                <a:r>
                  <a:rPr lang="en-US" sz="2100" b="1"/>
                  <a:t>discrimination</a:t>
                </a:r>
                <a:r>
                  <a:rPr lang="en-US" sz="2100"/>
                  <a:t> (”refinement”) score is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100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1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00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US" sz="21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100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100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sz="21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1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b="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1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100" b="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100"/>
              </a:p>
              <a:p>
                <a:pPr marL="457200" lvl="1" indent="0">
                  <a:buNone/>
                </a:pPr>
                <a:r>
                  <a:rPr lang="en-US" sz="2100"/>
                  <a:t>Perfect (</a:t>
                </a:r>
                <a14:m>
                  <m:oMath xmlns:m="http://schemas.openxmlformats.org/officeDocument/2006/math">
                    <m:r>
                      <a:rPr lang="en-US" sz="21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100" b="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100"/>
                  <a:t>) when each prediction bin corresponds to a 1 or a 0. Equivalent to AUC. Same as “Gini node impurity” used in CART tree learning.</a:t>
                </a:r>
                <a:endParaRPr lang="en-US" sz="2100" b="1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b="1"/>
                  <a:t>And now: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000" b="0" i="0">
                          <a:latin typeface="Cambria Math" panose="02040503050406030204" pitchFamily="18" charset="0"/>
                        </a:rPr>
                        <m:t>MSE</m:t>
                      </m:r>
                      <m:r>
                        <a:rPr lang="en-US" sz="30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000" b="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30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000" b="0" i="1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3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B7FB51-EB69-A45A-C22E-D05FF47A46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72780"/>
                <a:ext cx="10515600" cy="5520095"/>
              </a:xfrm>
              <a:blipFill>
                <a:blip r:embed="rId2"/>
                <a:stretch>
                  <a:fillRect l="-724" t="-5505" r="-1206" b="-3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3FE0D79-738C-7D47-BFDB-68BD94FD6BA3}"/>
              </a:ext>
            </a:extLst>
          </p:cNvPr>
          <p:cNvSpPr txBox="1"/>
          <p:nvPr/>
        </p:nvSpPr>
        <p:spPr>
          <a:xfrm>
            <a:off x="838200" y="0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OPTIONAL!! Not assessed.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602F8-DD93-9A3A-B0F6-50319396208E}"/>
              </a:ext>
            </a:extLst>
          </p:cNvPr>
          <p:cNvSpPr txBox="1"/>
          <p:nvPr/>
        </p:nvSpPr>
        <p:spPr>
          <a:xfrm>
            <a:off x="9877136" y="6550223"/>
            <a:ext cx="23148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[</a:t>
            </a:r>
            <a:r>
              <a:rPr lang="en-IE" sz="1400" i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Blattenberger &amp; Lad 1985]</a:t>
            </a:r>
            <a:endParaRPr lang="en-US" sz="1400" i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824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C342-61E7-7E4E-D633-BE1828332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Calibration in evaluation of ML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779C1-D8BC-27F9-9129-F02FD7195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Calibration answers the question: when my model predicts a probability, can I trust that number?</a:t>
            </a:r>
          </a:p>
          <a:p>
            <a:r>
              <a:rPr lang="en-US" dirty="0"/>
              <a:t>Important for downstream decision-making</a:t>
            </a:r>
          </a:p>
          <a:p>
            <a:r>
              <a:rPr lang="en-US" dirty="0"/>
              <a:t>Sometimes overlooked in ML model evaluation</a:t>
            </a:r>
          </a:p>
          <a:p>
            <a:r>
              <a:rPr lang="en-US" dirty="0"/>
              <a:t>Many (most?) high-capacity models are not calibrated by default</a:t>
            </a:r>
          </a:p>
          <a:p>
            <a:r>
              <a:rPr lang="en-US" dirty="0"/>
              <a:t>Evaluate using more advanced methods in standard software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31008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A6694-4E4C-7949-BE3A-988B51E21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imbalance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6B681-8B00-FE4F-9862-1D67A403A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300" dirty="0"/>
              <a:t>In the Titanic example, the outcome classes are pretty evenly </a:t>
            </a:r>
            <a:r>
              <a:rPr lang="en-US" sz="3300" b="1" dirty="0"/>
              <a:t>balanced</a:t>
            </a:r>
            <a:r>
              <a:rPr lang="en-US" sz="3300" dirty="0"/>
              <a:t>;</a:t>
            </a:r>
          </a:p>
          <a:p>
            <a:r>
              <a:rPr lang="en-US" sz="3300" dirty="0"/>
              <a:t>That is </a:t>
            </a:r>
            <a:r>
              <a:rPr lang="en-US" sz="3300" i="1" dirty="0"/>
              <a:t>not </a:t>
            </a:r>
            <a:r>
              <a:rPr lang="en-US" sz="3300" dirty="0"/>
              <a:t>typical of many applications: debt default; illness; activity; buy/don’t buy; tank/dog/selfie/..; solid/liquid/gas/plasma; ...</a:t>
            </a:r>
          </a:p>
          <a:p>
            <a:r>
              <a:rPr lang="en-US" sz="3300" dirty="0"/>
              <a:t>When at least one class has very few observations, this is called </a:t>
            </a:r>
            <a:r>
              <a:rPr lang="en-US" sz="3300" b="1" dirty="0"/>
              <a:t>class imbalance</a:t>
            </a:r>
            <a:r>
              <a:rPr lang="en-US" sz="3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66676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F640C-4E6B-0A4A-BA43-4F0669395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imbalance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5CA0A-8CDC-D449-ACBC-5209EF644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b="1" dirty="0"/>
              <a:t>Problem:</a:t>
            </a:r>
          </a:p>
          <a:p>
            <a:r>
              <a:rPr lang="en-IE" dirty="0"/>
              <a:t>Measures such as SEN/SPE/ACC/F1 emphasize larger classes;</a:t>
            </a:r>
          </a:p>
          <a:p>
            <a:r>
              <a:rPr lang="en-IE" dirty="0"/>
              <a:t>What if the </a:t>
            </a:r>
            <a:r>
              <a:rPr lang="en-IE" i="1" dirty="0"/>
              <a:t>smaller</a:t>
            </a:r>
            <a:r>
              <a:rPr lang="en-IE" dirty="0"/>
              <a:t> classes are the most/equally interesting?</a:t>
            </a:r>
          </a:p>
          <a:p>
            <a:endParaRPr lang="en-IE" dirty="0"/>
          </a:p>
          <a:p>
            <a:pPr marL="0" indent="0">
              <a:buNone/>
            </a:pPr>
            <a:r>
              <a:rPr lang="en-IE" dirty="0"/>
              <a:t>Some </a:t>
            </a:r>
            <a:r>
              <a:rPr lang="en-IE" b="1" dirty="0"/>
              <a:t>solutions</a:t>
            </a:r>
            <a:r>
              <a:rPr lang="en-IE" dirty="0"/>
              <a:t>:</a:t>
            </a:r>
          </a:p>
          <a:p>
            <a:r>
              <a:rPr lang="en-IE" dirty="0"/>
              <a:t>Oversampling minority/</a:t>
            </a:r>
            <a:r>
              <a:rPr lang="en-IE" dirty="0" err="1"/>
              <a:t>undersampling</a:t>
            </a:r>
            <a:r>
              <a:rPr lang="en-IE" dirty="0"/>
              <a:t> majority</a:t>
            </a:r>
          </a:p>
          <a:p>
            <a:r>
              <a:rPr lang="en-IE" dirty="0"/>
              <a:t>Weighting</a:t>
            </a:r>
          </a:p>
          <a:p>
            <a:r>
              <a:rPr lang="en-IE" dirty="0"/>
              <a:t>“Embedded”: </a:t>
            </a:r>
            <a:r>
              <a:rPr lang="en-IE" dirty="0" err="1"/>
              <a:t>class_weight</a:t>
            </a:r>
            <a:r>
              <a:rPr lang="en-IE" dirty="0"/>
              <a:t>='balanced’ in boosting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1538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A346A-A578-F244-AD4C-58A1F678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7028B-801A-7544-88CC-9946FAE62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1385" y="6433457"/>
            <a:ext cx="4370615" cy="424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Fira Code" panose="020B0809050000020004" pitchFamily="49" charset="0"/>
                <a:ea typeface="Fira Code" panose="020B0809050000020004" pitchFamily="49" charset="0"/>
                <a:hlinkClick r:id="rId2"/>
              </a:rPr>
              <a:t>https://imbalanced-learn.org</a:t>
            </a:r>
            <a:endParaRPr lang="en-US" sz="1800" dirty="0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30B88BB-F1DD-CB43-BDA1-7C26DC705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9261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1AF8F-8C28-2C48-B028-BCB941D12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Conclusion: Supervised learning is a large field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458AA-75D9-5043-9911-F8861030B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E" sz="3000" dirty="0"/>
              <a:t>We have emphasized </a:t>
            </a:r>
          </a:p>
          <a:p>
            <a:pPr lvl="1"/>
            <a:r>
              <a:rPr lang="en-IE" sz="3000" dirty="0"/>
              <a:t>Pluralistic approach, </a:t>
            </a:r>
            <a:r>
              <a:rPr lang="en-IE" sz="3000" b="1" dirty="0"/>
              <a:t>coupled with </a:t>
            </a:r>
          </a:p>
          <a:p>
            <a:pPr lvl="1"/>
            <a:r>
              <a:rPr lang="en-IE" sz="3000" dirty="0"/>
              <a:t>Honest model evaluation </a:t>
            </a:r>
          </a:p>
          <a:p>
            <a:r>
              <a:rPr lang="en-IE" sz="3000" dirty="0"/>
              <a:t>This includes thinking about the task, performance metric, and training and testing data</a:t>
            </a:r>
          </a:p>
          <a:p>
            <a:r>
              <a:rPr lang="en-IE" sz="3000" dirty="0"/>
              <a:t>Some of these lead to specific issues in classification (e.g. calibration, class imbalance) discussed today (&amp; in book)</a:t>
            </a:r>
          </a:p>
          <a:p>
            <a:r>
              <a:rPr lang="en-IE" sz="3000" b="1" dirty="0">
                <a:solidFill>
                  <a:srgbClr val="7030A0"/>
                </a:solidFill>
              </a:rPr>
              <a:t>You should now be equipped to start using supervised learning in practice!</a:t>
            </a:r>
          </a:p>
        </p:txBody>
      </p:sp>
    </p:spTree>
    <p:extLst>
      <p:ext uri="{BB962C8B-B14F-4D97-AF65-F5344CB8AC3E}">
        <p14:creationId xmlns:p14="http://schemas.microsoft.com/office/powerpoint/2010/main" val="68687024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C6F69-FB84-6B4F-80D9-50A31F89A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39D4C8C-4D4D-8140-ACC1-D0303611E9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7441094"/>
              </p:ext>
            </p:extLst>
          </p:nvPr>
        </p:nvGraphicFramePr>
        <p:xfrm>
          <a:off x="838200" y="1825625"/>
          <a:ext cx="6962424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606">
                  <a:extLst>
                    <a:ext uri="{9D8B030D-6E8A-4147-A177-3AD203B41FA5}">
                      <a16:colId xmlns:a16="http://schemas.microsoft.com/office/drawing/2014/main" val="3073419605"/>
                    </a:ext>
                  </a:extLst>
                </a:gridCol>
                <a:gridCol w="1740606">
                  <a:extLst>
                    <a:ext uri="{9D8B030D-6E8A-4147-A177-3AD203B41FA5}">
                      <a16:colId xmlns:a16="http://schemas.microsoft.com/office/drawing/2014/main" val="1515094412"/>
                    </a:ext>
                  </a:extLst>
                </a:gridCol>
                <a:gridCol w="1740606">
                  <a:extLst>
                    <a:ext uri="{9D8B030D-6E8A-4147-A177-3AD203B41FA5}">
                      <a16:colId xmlns:a16="http://schemas.microsoft.com/office/drawing/2014/main" val="1653707891"/>
                    </a:ext>
                  </a:extLst>
                </a:gridCol>
                <a:gridCol w="1740606">
                  <a:extLst>
                    <a:ext uri="{9D8B030D-6E8A-4147-A177-3AD203B41FA5}">
                      <a16:colId xmlns:a16="http://schemas.microsoft.com/office/drawing/2014/main" val="6032610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1" dirty="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0" i="1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Survived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24579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i="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No.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Yes.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69359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i="1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Predicted to survive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8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8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156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“No”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238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921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“Yes”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685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5674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3275</TotalTime>
  <Words>2057</Words>
  <Application>Microsoft Macintosh PowerPoint</Application>
  <PresentationFormat>Widescreen</PresentationFormat>
  <Paragraphs>279</Paragraphs>
  <Slides>75</Slides>
  <Notes>9</Notes>
  <HiddenSlides>14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5" baseType="lpstr">
      <vt:lpstr>Arial</vt:lpstr>
      <vt:lpstr>Calibri</vt:lpstr>
      <vt:lpstr>Cambria Math</vt:lpstr>
      <vt:lpstr>Fira Code</vt:lpstr>
      <vt:lpstr>Fira Sans</vt:lpstr>
      <vt:lpstr>Helvetica Neue</vt:lpstr>
      <vt:lpstr>Symbol</vt:lpstr>
      <vt:lpstr>Times New Roman</vt:lpstr>
      <vt:lpstr>Wingdings</vt:lpstr>
      <vt:lpstr>Office Theme</vt:lpstr>
      <vt:lpstr>PowerPoint Presentation</vt:lpstr>
      <vt:lpstr>Supervised machine learning</vt:lpstr>
      <vt:lpstr>Classification</vt:lpstr>
      <vt:lpstr>Classification</vt:lpstr>
      <vt:lpstr>Classification types</vt:lpstr>
      <vt:lpstr>From Data collection to K-fold cross validation</vt:lpstr>
      <vt:lpstr>How to classify? </vt:lpstr>
      <vt:lpstr>Classification: definition</vt:lpstr>
      <vt:lpstr>Common algorithms</vt:lpstr>
      <vt:lpstr>K-nearest neighbors </vt:lpstr>
      <vt:lpstr>Example from the book: ISLR</vt:lpstr>
      <vt:lpstr>PowerPoint Presentation</vt:lpstr>
      <vt:lpstr>PowerPoint Presentation</vt:lpstr>
      <vt:lpstr>Titanic data</vt:lpstr>
      <vt:lpstr>PowerPoint Presentation</vt:lpstr>
      <vt:lpstr>PowerPoint Presentation</vt:lpstr>
      <vt:lpstr>PowerPoint Presentation</vt:lpstr>
      <vt:lpstr>Learning algorithm</vt:lpstr>
      <vt:lpstr>Recursive partitioning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These are the same!</vt:lpstr>
      <vt:lpstr>PowerPoint Presentation</vt:lpstr>
      <vt:lpstr>The problem with trees</vt:lpstr>
      <vt:lpstr>“Bagged” trees</vt:lpstr>
      <vt:lpstr>“Bagged” trees with feature sampling</vt:lpstr>
      <vt:lpstr>Boosting</vt:lpstr>
      <vt:lpstr>PowerPoint Presentation</vt:lpstr>
      <vt:lpstr>PowerPoint Presentation</vt:lpstr>
      <vt:lpstr>PowerPoint Presentation</vt:lpstr>
      <vt:lpstr>PowerPoint Presentation</vt:lpstr>
      <vt:lpstr>The final prediction model (classifier)</vt:lpstr>
      <vt:lpstr>Boosting</vt:lpstr>
      <vt:lpstr>PowerPoint Presentation</vt:lpstr>
      <vt:lpstr>Neural networks, “deep learning”</vt:lpstr>
      <vt:lpstr>Neural network</vt:lpstr>
      <vt:lpstr>Neural network (topic of tomorrow) Deep learning</vt:lpstr>
      <vt:lpstr>What makes a neural net “deep”?</vt:lpstr>
      <vt:lpstr>What makes a neural net “deep”?</vt:lpstr>
      <vt:lpstr>Deep learning</vt:lpstr>
      <vt:lpstr>Different architectures</vt:lpstr>
      <vt:lpstr>Deep learning in practice</vt:lpstr>
      <vt:lpstr>PowerPoint Presentation</vt:lpstr>
      <vt:lpstr>Confusion matrix: Counts</vt:lpstr>
      <vt:lpstr>Confusion matrix: counts</vt:lpstr>
      <vt:lpstr>Confusion matrix:  Sensitivity (“recall”) and Specificity</vt:lpstr>
      <vt:lpstr>Confusion matrix:  Negative &amp; positive predictive value</vt:lpstr>
      <vt:lpstr>Confusion matrix</vt:lpstr>
      <vt:lpstr>PowerPoint Presentation</vt:lpstr>
      <vt:lpstr>F1 score</vt:lpstr>
      <vt:lpstr>Overview: some classification metrics</vt:lpstr>
      <vt:lpstr>Different thresholds than 0.5</vt:lpstr>
      <vt:lpstr>PowerPoint Presentation</vt:lpstr>
      <vt:lpstr>PowerPoint Presentation</vt:lpstr>
      <vt:lpstr>PowerPoint Presentation</vt:lpstr>
      <vt:lpstr>Calibration</vt:lpstr>
      <vt:lpstr>On days like today,   how often does it rain?</vt:lpstr>
      <vt:lpstr>PowerPoint Presentation</vt:lpstr>
      <vt:lpstr>Calibration plot</vt:lpstr>
      <vt:lpstr>PowerPoint Presentation</vt:lpstr>
      <vt:lpstr>Post-hoc probability calibration</vt:lpstr>
      <vt:lpstr>PowerPoint Presentation</vt:lpstr>
      <vt:lpstr>MSE (“Brier score”)</vt:lpstr>
      <vt:lpstr>MSE can be reworked into two terms</vt:lpstr>
      <vt:lpstr>Calibration in evaluation of ML models</vt:lpstr>
      <vt:lpstr>Class imbalance</vt:lpstr>
      <vt:lpstr>Class imbalance</vt:lpstr>
      <vt:lpstr>PowerPoint Presentation</vt:lpstr>
      <vt:lpstr>Conclusion: Supervised learning is a large field</vt:lpstr>
      <vt:lpstr>Confusion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Oberski, D.L. (Daniel)</dc:creator>
  <cp:lastModifiedBy>Bagheri, A. (Ayoub)</cp:lastModifiedBy>
  <cp:revision>607</cp:revision>
  <dcterms:created xsi:type="dcterms:W3CDTF">2021-10-10T09:46:48Z</dcterms:created>
  <dcterms:modified xsi:type="dcterms:W3CDTF">2025-10-08T18:52:41Z</dcterms:modified>
</cp:coreProperties>
</file>