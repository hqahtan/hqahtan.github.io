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98" r:id="rId2"/>
    <p:sldId id="262" r:id="rId3"/>
    <p:sldId id="403" r:id="rId4"/>
    <p:sldId id="350" r:id="rId5"/>
    <p:sldId id="404" r:id="rId6"/>
    <p:sldId id="402" r:id="rId7"/>
    <p:sldId id="401" r:id="rId8"/>
    <p:sldId id="405" r:id="rId9"/>
    <p:sldId id="429" r:id="rId10"/>
    <p:sldId id="354" r:id="rId11"/>
    <p:sldId id="356" r:id="rId12"/>
    <p:sldId id="357" r:id="rId13"/>
    <p:sldId id="358" r:id="rId14"/>
    <p:sldId id="359" r:id="rId15"/>
    <p:sldId id="360" r:id="rId16"/>
    <p:sldId id="365" r:id="rId17"/>
    <p:sldId id="366" r:id="rId18"/>
    <p:sldId id="367" r:id="rId19"/>
    <p:sldId id="369" r:id="rId20"/>
    <p:sldId id="368" r:id="rId21"/>
    <p:sldId id="406" r:id="rId22"/>
    <p:sldId id="430" r:id="rId23"/>
    <p:sldId id="407" r:id="rId24"/>
    <p:sldId id="408" r:id="rId25"/>
    <p:sldId id="364" r:id="rId26"/>
    <p:sldId id="410" r:id="rId27"/>
    <p:sldId id="378" r:id="rId28"/>
    <p:sldId id="376" r:id="rId29"/>
    <p:sldId id="379" r:id="rId30"/>
    <p:sldId id="380" r:id="rId31"/>
    <p:sldId id="427" r:id="rId32"/>
    <p:sldId id="431" r:id="rId33"/>
    <p:sldId id="382" r:id="rId34"/>
    <p:sldId id="428" r:id="rId35"/>
    <p:sldId id="389" r:id="rId36"/>
    <p:sldId id="388" r:id="rId37"/>
    <p:sldId id="392" r:id="rId38"/>
    <p:sldId id="432" r:id="rId39"/>
    <p:sldId id="394" r:id="rId40"/>
    <p:sldId id="395" r:id="rId41"/>
    <p:sldId id="398" r:id="rId42"/>
    <p:sldId id="385" r:id="rId43"/>
    <p:sldId id="426" r:id="rId44"/>
    <p:sldId id="396" r:id="rId45"/>
    <p:sldId id="397" r:id="rId46"/>
    <p:sldId id="36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15BF26-EBFD-6D46-AA66-5E3EFC19A793}">
          <p14:sldIdLst>
            <p14:sldId id="298"/>
            <p14:sldId id="262"/>
            <p14:sldId id="403"/>
            <p14:sldId id="350"/>
            <p14:sldId id="404"/>
            <p14:sldId id="402"/>
            <p14:sldId id="401"/>
            <p14:sldId id="405"/>
            <p14:sldId id="429"/>
            <p14:sldId id="354"/>
            <p14:sldId id="356"/>
            <p14:sldId id="357"/>
            <p14:sldId id="358"/>
            <p14:sldId id="359"/>
            <p14:sldId id="360"/>
            <p14:sldId id="365"/>
            <p14:sldId id="366"/>
            <p14:sldId id="367"/>
            <p14:sldId id="369"/>
            <p14:sldId id="368"/>
            <p14:sldId id="406"/>
            <p14:sldId id="430"/>
            <p14:sldId id="407"/>
            <p14:sldId id="408"/>
            <p14:sldId id="364"/>
            <p14:sldId id="410"/>
          </p14:sldIdLst>
        </p14:section>
        <p14:section name="some models" id="{98C3CD99-EBCF-A84E-890C-B2222B99CDE2}">
          <p14:sldIdLst>
            <p14:sldId id="378"/>
            <p14:sldId id="376"/>
            <p14:sldId id="379"/>
            <p14:sldId id="380"/>
            <p14:sldId id="427"/>
            <p14:sldId id="431"/>
            <p14:sldId id="382"/>
            <p14:sldId id="428"/>
            <p14:sldId id="389"/>
            <p14:sldId id="388"/>
            <p14:sldId id="392"/>
            <p14:sldId id="432"/>
            <p14:sldId id="394"/>
            <p14:sldId id="395"/>
            <p14:sldId id="398"/>
            <p14:sldId id="385"/>
            <p14:sldId id="426"/>
            <p14:sldId id="396"/>
            <p14:sldId id="397"/>
          </p14:sldIdLst>
        </p14:section>
        <p14:section name="Conclusion" id="{95A6686D-93B8-074B-8A45-8EA1CBBAB260}">
          <p14:sldIdLst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165F"/>
    <a:srgbClr val="FF3700"/>
    <a:srgbClr val="E303FC"/>
    <a:srgbClr val="F5EC10"/>
    <a:srgbClr val="FFDBF9"/>
    <a:srgbClr val="E32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9"/>
    <p:restoredTop sz="95755"/>
  </p:normalViewPr>
  <p:slideViewPr>
    <p:cSldViewPr snapToGrid="0" snapToObjects="1">
      <p:cViewPr varScale="1">
        <p:scale>
          <a:sx n="105" d="100"/>
          <a:sy n="105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15673-2FFB-A743-8FB0-62D49EB18BD5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0FAE5-F8F5-2C4C-A101-836A1F844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9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could you go about attacking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81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4070-D1DE-BB5F-4CBD-EC5A285D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CF858-9FCD-7519-E400-D18D92D5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CE9F3-B5D5-C71F-E3C7-C9445B2B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could you go about attacking 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8934A-FF59-EFE5-30E2-50678D727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55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0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7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2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806C-3F77-B685-5639-32922A83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C32FF-D28C-B36F-1E13-E3F2944A5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A286F-1038-4EFD-00BD-A089D0890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F7D3-4D22-2619-BAF8-DE5D7093A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7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76FE-68BF-7F45-B567-2A03CA78D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22D0C-5251-2F46-92DD-CA249AE75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01B3-5306-4648-A2D2-BB033F18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F5B11-EF43-D944-8DAE-4BACBCA7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65FEA-7A86-E44F-92C5-89CBB833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9040-A7B1-754B-ACF3-4FE726DB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C9A0-B5CE-1F43-81C6-3E3820E5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B57B-0CBF-BA44-8E5A-A1849967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55552-6AED-D44C-B734-70D6B8E9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CF53F-41FA-7543-AC50-751A0770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A628-19B6-D949-8B9E-34403663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B186C-9455-5645-822C-8693DEBD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A0BC-A2A0-ED47-9E02-6B64081B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84DD-0110-064F-9763-2596B870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443B-5147-954D-8D78-65FDE55E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0BDA-D5C4-124A-9CA0-9EC3D27A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7504-14DE-CC4D-9498-ED9235305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48717-D27C-DC4C-A36A-D2B303C57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1A3C5-4512-1044-A4CC-D5D7EDBC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F6587-4C8B-1042-B395-CF5BDEBD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FF56E-13F6-AB42-A1E5-AD313B98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7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A57B-B9DF-734D-A59E-B570DED7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14ED-95AF-DE46-AEB9-A624830B7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4C67-442F-2F49-A65F-FA7CE1EBD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23741-4776-934B-A8F8-5CE61F818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C5EDC-7F17-8C46-8A21-1026A7E6B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D691A-B084-184B-89C8-0A131AD1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7BFED-F77A-374D-8D06-9AE556E8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715C0-73AB-2D47-B8FC-07778BDC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4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468-E361-C649-86D7-8DAA4E3F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AF73B-BA54-104A-AED2-75D99CD8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26DA5-7AE1-5D40-BA4F-E0C33873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EF61C-D518-B542-9434-19928E76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5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578B9-0868-4647-9527-B5DE1709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090FF-B347-334A-A8E1-151B784F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2E9E-959E-1C48-AC1F-0EB41F81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2BCB-070F-A547-8CBD-BA40C44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FF92-8808-5B4E-97F1-910261EC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E132E-3695-D645-999C-3FA2F77A6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DBCC1-B367-E248-ACA9-8C676E50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32A0-766C-1D4E-BEBD-E629A312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E8F35-3310-D64E-9DB0-A3574C78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001D-5D69-2847-8402-F325AB9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8B711-E856-0349-92B4-DFFED5CB7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321D1-A5D0-A544-901D-6CF2D2240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2E0E-519D-9A4B-8302-7048C5F0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F381A-EFC0-D745-B375-B87A98EF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D620-7E7D-F240-8B0F-9AA90353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5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0631-639C-724B-93AA-C65FB12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DD95-21EC-EC46-890B-2A0A8AEDD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2BB9-E26E-174F-A112-66ABEFFA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EC20-D798-2E47-8BDB-6B06CED6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6EB8-D4B0-0A4C-AE1A-78310E40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7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E9365-6EE4-8D47-A8CC-ABC8CAE9F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80537-BFA8-2B46-9400-C22B6B2AF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1F2E0-4981-E84B-AF71-A24A2324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64DE8-BBD0-B64A-B78F-37DA8195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F9F9-51C0-3F41-9E98-B6A3E229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CE6B2-F391-4540-8264-87341E2A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B78C5-1C07-D44D-AB1C-32156DCC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5406-9F49-5044-8FCE-DD0F147FB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B9143B4-ABBD-3F4F-ABBF-571D1C04B152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B19B-6D59-1749-B687-2781D52D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8E9E-8DE7-744A-A640-44ADDE88D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0CFAB1C-9E21-544A-AC94-1FD108BE1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iindex.stanford.edu/wp-content/uploads/2021/03/2021-AI-Index-Report_Master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275597" y="5316032"/>
            <a:ext cx="564396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learning!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BF607D-33F4-3B42-956B-9399AB3EE085}"/>
              </a:ext>
            </a:extLst>
          </p:cNvPr>
          <p:cNvSpPr txBox="1"/>
          <p:nvPr/>
        </p:nvSpPr>
        <p:spPr>
          <a:xfrm>
            <a:off x="9931253" y="6488668"/>
            <a:ext cx="225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VERSION: 2025-10-06 </a:t>
            </a: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GB" sz="3400" b="1" dirty="0"/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Regression (predicting continuous outcomes)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b="1" dirty="0"/>
              <a:t>Regression: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Classification (predicting discrete outcomes)</a:t>
            </a:r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1A86-EBA4-E3BC-7CFD-9D1125C5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/>
              <a:t>Recap</a:t>
            </a:r>
            <a:r>
              <a:rPr lang="en-US"/>
              <a:t>: 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683A2-C176-CF8B-6735-1128169F8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683A2-C176-CF8B-6735-1128169F8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CF1CABDF-2E14-03AD-67D7-44D64375AF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020731"/>
            <a:ext cx="3938769" cy="3156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F73DB0-6362-5FE3-E5E3-262600DC6E41}"/>
              </a:ext>
            </a:extLst>
          </p:cNvPr>
          <p:cNvSpPr txBox="1"/>
          <p:nvPr/>
        </p:nvSpPr>
        <p:spPr>
          <a:xfrm>
            <a:off x="10048514" y="4523562"/>
            <a:ext cx="2411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2D9E5-F522-F0B0-147F-39CBA08F4707}"/>
              </a:ext>
            </a:extLst>
          </p:cNvPr>
          <p:cNvSpPr txBox="1"/>
          <p:nvPr/>
        </p:nvSpPr>
        <p:spPr>
          <a:xfrm>
            <a:off x="10048514" y="5027831"/>
            <a:ext cx="176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Deep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0C4D6-E3A7-2B3D-80DF-ED744F872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2" y="3020731"/>
            <a:ext cx="5266962" cy="315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898B-2AF9-EB4B-8139-99A5003D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9C1C2-DD9B-7E46-800D-F6FD90C8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Even with true model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there is irreducible error</a:t>
                </a:r>
              </a:p>
              <a:p>
                <a:r>
                  <a:rPr lang="en-US" i="1" dirty="0"/>
                  <a:t>Regression</a:t>
                </a:r>
                <a:r>
                  <a:rPr lang="en-US" dirty="0"/>
                  <a:t> tries to find a “good”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 dirty="0"/>
                  <a:t>Bias-variance tradeoff (capacity vs. stability)</a:t>
                </a:r>
              </a:p>
              <a:p>
                <a:r>
                  <a:rPr lang="en-US" dirty="0"/>
                  <a:t>With higher-capacity model, need more data to learn stable patterns</a:t>
                </a:r>
              </a:p>
              <a:p>
                <a:r>
                  <a:rPr lang="en-US" dirty="0"/>
                  <a:t>Cannot use training performance to evaluate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9C1C2-DD9B-7E46-800D-F6FD90C8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63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B059-90BD-4A71-4638-3EFECC83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DB2-EEF2-74E4-EEFA-80867A56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my model succeed?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1C60C-65BE-6919-34A9-D4A2907AF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These factors </a:t>
                </a:r>
                <a:r>
                  <a:rPr lang="en-US" b="1" dirty="0">
                    <a:solidFill>
                      <a:srgbClr val="E32ABF"/>
                    </a:solidFill>
                  </a:rPr>
                  <a:t>should</a:t>
                </a:r>
                <a:r>
                  <a:rPr lang="en-US" b="1" dirty="0"/>
                  <a:t> determine your success: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doable the problem is in the first place: </a:t>
                </a:r>
                <a:r>
                  <a:rPr lang="en-US" dirty="0">
                    <a:solidFill>
                      <a:srgbClr val="E32ABF"/>
                    </a:solidFill>
                  </a:rPr>
                  <a:t>irreducible error</a:t>
                </a:r>
                <a:r>
                  <a:rPr lang="en-US" dirty="0"/>
                  <a:t>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complex the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complex the </a:t>
                </a:r>
                <a:r>
                  <a:rPr lang="en-US" dirty="0">
                    <a:solidFill>
                      <a:srgbClr val="E32ABF"/>
                    </a:solidFill>
                  </a:rPr>
                  <a:t>true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is;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The sample size.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All tricks of the trade attack one or more of these!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1C60C-65BE-6919-34A9-D4A2907AF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726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0382-466F-F74A-8823-57DB9DE6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52796D-C570-1B49-B933-554F7933C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92565"/>
              </p:ext>
            </p:extLst>
          </p:nvPr>
        </p:nvGraphicFramePr>
        <p:xfrm>
          <a:off x="157163" y="77900"/>
          <a:ext cx="11915775" cy="6757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764">
                  <a:extLst>
                    <a:ext uri="{9D8B030D-6E8A-4147-A177-3AD203B41FA5}">
                      <a16:colId xmlns:a16="http://schemas.microsoft.com/office/drawing/2014/main" val="608364492"/>
                    </a:ext>
                  </a:extLst>
                </a:gridCol>
                <a:gridCol w="5323259">
                  <a:extLst>
                    <a:ext uri="{9D8B030D-6E8A-4147-A177-3AD203B41FA5}">
                      <a16:colId xmlns:a16="http://schemas.microsoft.com/office/drawing/2014/main" val="1436350118"/>
                    </a:ext>
                  </a:extLst>
                </a:gridCol>
                <a:gridCol w="3142752">
                  <a:extLst>
                    <a:ext uri="{9D8B030D-6E8A-4147-A177-3AD203B41FA5}">
                      <a16:colId xmlns:a16="http://schemas.microsoft.com/office/drawing/2014/main" val="724037143"/>
                    </a:ext>
                  </a:extLst>
                </a:gridCol>
              </a:tblGrid>
              <a:tr h="1103221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Problem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Some ideas for plan of attack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89526"/>
                  </a:ext>
                </a:extLst>
              </a:tr>
              <a:tr h="1594217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Irreducible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Get more features;</a:t>
                      </a:r>
                    </a:p>
                    <a:p>
                      <a:pPr algn="l"/>
                      <a:r>
                        <a:rPr lang="en-US" sz="2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Reduce measurement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LIDAR on car;</a:t>
                      </a:r>
                    </a:p>
                    <a:p>
                      <a:pPr algn="l"/>
                      <a:r>
                        <a:rPr lang="en-US" sz="26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Multiple rating radiologists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36012"/>
                  </a:ext>
                </a:extLst>
              </a:tr>
              <a:tr h="1103221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Model 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600" b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Try models with range of capacities;</a:t>
                      </a:r>
                    </a:p>
                    <a:p>
                      <a:pPr algn="l"/>
                      <a:r>
                        <a:rPr lang="en-IE" sz="2600" b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Include prior knowledge in the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600" b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Download pretrained model and use that as starting 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988533"/>
                  </a:ext>
                </a:extLst>
              </a:tr>
              <a:tr h="1103221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Task 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6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Choose something easier;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6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Influence the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6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Paint road signs for self-driving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945436"/>
                  </a:ext>
                </a:extLst>
              </a:tr>
              <a:tr h="1103221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Sample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6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Get more 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6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Illegally download all digital books and pay fine later.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127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2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BCE2-1C5D-F04A-AB7D-5B1317C7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4056A80-0F18-1945-BC36-C3E5FA80A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2711" y="365125"/>
            <a:ext cx="8066577" cy="6197821"/>
          </a:xfrm>
        </p:spPr>
      </p:pic>
    </p:spTree>
    <p:extLst>
      <p:ext uri="{BB962C8B-B14F-4D97-AF65-F5344CB8AC3E}">
        <p14:creationId xmlns:p14="http://schemas.microsoft.com/office/powerpoint/2010/main" val="149859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918244-9CB9-D98C-88C4-8EEBE137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6" y="2251922"/>
            <a:ext cx="5854910" cy="3159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A8D0-92C4-8C2F-9564-5FA35E60D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6" y="2251922"/>
            <a:ext cx="5854910" cy="3159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C5B0879-7975-A8DD-AF92-0D47861D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LLM #parameters and dataset size </a:t>
            </a:r>
          </a:p>
        </p:txBody>
      </p:sp>
    </p:spTree>
    <p:extLst>
      <p:ext uri="{BB962C8B-B14F-4D97-AF65-F5344CB8AC3E}">
        <p14:creationId xmlns:p14="http://schemas.microsoft.com/office/powerpoint/2010/main" val="19397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C866-B86D-5CBF-1816-40878B75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5BAF-EDF0-3CB7-E6B5-D5C2632C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387314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C89B-C034-C14F-B980-007007F8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0" i="1" dirty="0"/>
              <a:t>Reminder:</a:t>
            </a:r>
            <a:r>
              <a:rPr lang="en-IE" dirty="0"/>
              <a:t> Train/dev/test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0F3F0-1FCA-5F42-88DF-D2F6C9855D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E" b="1" dirty="0"/>
                  <a:t>Training data:</a:t>
                </a:r>
              </a:p>
              <a:p>
                <a:pPr marL="0" indent="0">
                  <a:buNone/>
                </a:pPr>
                <a:r>
                  <a:rPr lang="en-IE" dirty="0"/>
                  <a:t>	Observations used to train (“fit”, ”estimate”)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dirty="0"/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b="1" dirty="0"/>
                  <a:t>Validation data</a:t>
                </a:r>
                <a:r>
                  <a:rPr lang="en-IE" dirty="0"/>
                  <a:t> (or “dev” data):</a:t>
                </a:r>
              </a:p>
              <a:p>
                <a:pPr marL="0" indent="0">
                  <a:buNone/>
                </a:pPr>
                <a:r>
                  <a:rPr lang="en-IE" dirty="0"/>
                  <a:t>	New observations from the same source as training data</a:t>
                </a:r>
              </a:p>
              <a:p>
                <a:pPr marL="0" indent="0">
                  <a:buNone/>
                </a:pPr>
                <a:r>
                  <a:rPr lang="en-IE" dirty="0"/>
                  <a:t>	Used several times to select model complexity)</a:t>
                </a:r>
              </a:p>
              <a:p>
                <a:pPr marL="0" indent="0">
                  <a:buNone/>
                </a:pPr>
                <a:endParaRPr lang="en-IE" b="1" dirty="0"/>
              </a:p>
              <a:p>
                <a:pPr marL="0" indent="0">
                  <a:buNone/>
                </a:pPr>
                <a:r>
                  <a:rPr lang="en-IE" b="1" dirty="0"/>
                  <a:t>Test data:</a:t>
                </a:r>
              </a:p>
              <a:p>
                <a:pPr marL="0" indent="0">
                  <a:buNone/>
                </a:pPr>
                <a:r>
                  <a:rPr lang="en-IE" dirty="0"/>
                  <a:t>	New observations from the intended prediction situation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0F3F0-1FCA-5F42-88DF-D2F6C9855D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BF4285A-47F4-1649-89E7-D388AB3A86E4}"/>
              </a:ext>
            </a:extLst>
          </p:cNvPr>
          <p:cNvSpPr txBox="1"/>
          <p:nvPr/>
        </p:nvSpPr>
        <p:spPr>
          <a:xfrm>
            <a:off x="838200" y="6311900"/>
            <a:ext cx="6585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Question: Why don’t these give the same average MSE?</a:t>
            </a:r>
          </a:p>
        </p:txBody>
      </p:sp>
    </p:spTree>
    <p:extLst>
      <p:ext uri="{BB962C8B-B14F-4D97-AF65-F5344CB8AC3E}">
        <p14:creationId xmlns:p14="http://schemas.microsoft.com/office/powerpoint/2010/main" val="283642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B34D-0B92-8248-8290-CE2D1DFF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Drawbacks of train/dev/test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DA594-E680-C142-B6B4-4907BD084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validation estimate of the test error is based on a single sample and can therefore be </a:t>
            </a:r>
            <a:r>
              <a:rPr lang="en-IE" b="1" dirty="0"/>
              <a:t>highly variable</a:t>
            </a:r>
            <a:endParaRPr lang="en-IE" dirty="0"/>
          </a:p>
          <a:p>
            <a:r>
              <a:rPr lang="en-IE" dirty="0"/>
              <a:t>Only a subset of observations are used to train the model (model could have learned more)</a:t>
            </a:r>
          </a:p>
          <a:p>
            <a:r>
              <a:rPr lang="en-IE" dirty="0"/>
              <a:t>This suggests that the validation set error may tend to </a:t>
            </a:r>
            <a:r>
              <a:rPr lang="en-IE" b="1" dirty="0"/>
              <a:t>overestimate the test error </a:t>
            </a:r>
            <a:r>
              <a:rPr lang="en-IE" dirty="0"/>
              <a:t>for the model fit on the entire data set.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20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FCAA-C3C8-1B4E-918A-A2E77743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</a:t>
            </a:r>
            <a:r>
              <a:rPr lang="en-US" dirty="0" err="1"/>
              <a:t>crossvalidation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FE4EA-FA2E-1049-B82B-64F37FD46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IE" dirty="0"/>
              <a:t>“Cross-validation” replaces single dev set approach;</a:t>
            </a:r>
          </a:p>
          <a:p>
            <a:r>
              <a:rPr lang="en-IE" dirty="0"/>
              <a:t>Perform the train/dev split several times, average the result.</a:t>
            </a:r>
          </a:p>
          <a:p>
            <a:r>
              <a:rPr lang="en-IE" dirty="0"/>
              <a:t>Usually K = 5 or K =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1ABB0-EA36-A3BA-6543-24294494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83" y="4048046"/>
            <a:ext cx="4859203" cy="2467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78926-55C5-5DB6-51D3-DAAA40A1A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82" y="4048045"/>
            <a:ext cx="4706218" cy="2467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35065-890F-03EC-5409-B83A66E11A3E}"/>
              </a:ext>
            </a:extLst>
          </p:cNvPr>
          <p:cNvSpPr txBox="1"/>
          <p:nvPr/>
        </p:nvSpPr>
        <p:spPr>
          <a:xfrm>
            <a:off x="7426381" y="3584098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K = n, “leave-one-out”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3CE7C-3686-19C7-78A5-93EC8FA517D3}"/>
              </a:ext>
            </a:extLst>
          </p:cNvPr>
          <p:cNvSpPr txBox="1"/>
          <p:nvPr/>
        </p:nvSpPr>
        <p:spPr>
          <a:xfrm>
            <a:off x="1879496" y="3584098"/>
            <a:ext cx="3082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Here, K = 5 as is more usual</a:t>
            </a:r>
          </a:p>
        </p:txBody>
      </p:sp>
    </p:spTree>
    <p:extLst>
      <p:ext uri="{BB962C8B-B14F-4D97-AF65-F5344CB8AC3E}">
        <p14:creationId xmlns:p14="http://schemas.microsoft.com/office/powerpoint/2010/main" val="2075704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3.1. Cross-validation: evaluating estimator performance — scikit-learn 1.0  documentation">
            <a:extLst>
              <a:ext uri="{FF2B5EF4-FFF2-40B4-BE49-F238E27FC236}">
                <a16:creationId xmlns:a16="http://schemas.microsoft.com/office/drawing/2014/main" id="{5EC433A9-430C-6141-A84B-0B0AD979E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67644" y="223212"/>
            <a:ext cx="9256712" cy="641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8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28797-6E2D-994A-9C65-13EED6F6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975"/>
            <a:ext cx="10515600" cy="52509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E" dirty="0"/>
              <a:t>Consider a simple regression used to predict an outcome: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E" dirty="0"/>
              <a:t>Starting with 5000 predictors and 500 cases, find the 100 predictors having the largest correlation with the outcome;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E" dirty="0"/>
              <a:t>We then fit a linear regression, using only these 100 predictors.</a:t>
            </a:r>
          </a:p>
          <a:p>
            <a:pPr marL="0" indent="0">
              <a:lnSpc>
                <a:spcPct val="100000"/>
              </a:lnSpc>
              <a:buNone/>
            </a:pPr>
            <a:endParaRPr lang="en-IE" dirty="0"/>
          </a:p>
          <a:p>
            <a:pPr marL="0" indent="0">
              <a:lnSpc>
                <a:spcPct val="100000"/>
              </a:lnSpc>
              <a:buNone/>
            </a:pPr>
            <a:r>
              <a:rPr lang="en-IE" b="1" dirty="0"/>
              <a:t>Class exercise:</a:t>
            </a:r>
          </a:p>
          <a:p>
            <a:pPr>
              <a:lnSpc>
                <a:spcPct val="100000"/>
              </a:lnSpc>
            </a:pPr>
            <a:r>
              <a:rPr lang="en-IE" dirty="0"/>
              <a:t>How do we estimate the test set performance of this classifier?</a:t>
            </a:r>
          </a:p>
          <a:p>
            <a:pPr>
              <a:lnSpc>
                <a:spcPct val="100000"/>
              </a:lnSpc>
            </a:pPr>
            <a:r>
              <a:rPr lang="en-IE" dirty="0"/>
              <a:t>Can we apply cross-validation in step 2, forgetting about step 1?</a:t>
            </a:r>
          </a:p>
        </p:txBody>
      </p:sp>
    </p:spTree>
    <p:extLst>
      <p:ext uri="{BB962C8B-B14F-4D97-AF65-F5344CB8AC3E}">
        <p14:creationId xmlns:p14="http://schemas.microsoft.com/office/powerpoint/2010/main" val="3748919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53D0-1508-354C-9D60-D6203F61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83490-B861-8944-A834-3CD8AD2C1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E" b="1" dirty="0"/>
              <a:t>Answer</a:t>
            </a:r>
            <a:r>
              <a:rPr lang="en-IE" dirty="0"/>
              <a:t>: In Step 1, the procedure has already seen the labels of the training data, and made use of them. This is a form of training and must be included in the validation process!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30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C4B0-E370-F943-B680-65600A7C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0B579-18D2-C540-B800-B5A406E3C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300" b="1" dirty="0"/>
              <a:t>Common task framework (CTF)</a:t>
            </a:r>
          </a:p>
          <a:p>
            <a:pPr marL="0" indent="0">
              <a:buNone/>
            </a:pPr>
            <a:r>
              <a:rPr lang="en-US" sz="3300" dirty="0"/>
              <a:t>a.k.a. “benchmarking”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9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B38E-5ED9-A34D-BF92-32A00B06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Common Task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B239-9518-B242-AA37-5ECED13BB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(a) A </a:t>
            </a:r>
            <a:r>
              <a:rPr lang="en-IE" b="1" dirty="0"/>
              <a:t>publicly available training dataset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(b) A set of </a:t>
            </a:r>
            <a:r>
              <a:rPr lang="en-IE" b="1" dirty="0"/>
              <a:t>enrolled competitors </a:t>
            </a:r>
            <a:r>
              <a:rPr lang="en-IE" dirty="0"/>
              <a:t>whose common task is to infer a class prediction rule from the training data. </a:t>
            </a:r>
          </a:p>
          <a:p>
            <a:pPr marL="0" indent="0">
              <a:buNone/>
            </a:pPr>
            <a:r>
              <a:rPr lang="en-IE" dirty="0"/>
              <a:t>(c) A </a:t>
            </a:r>
            <a:r>
              <a:rPr lang="en-IE" b="1" dirty="0"/>
              <a:t>scoring referee</a:t>
            </a:r>
            <a:r>
              <a:rPr lang="en-IE" dirty="0"/>
              <a:t>, to which competitors can submit their prediction rule. </a:t>
            </a:r>
          </a:p>
          <a:p>
            <a:r>
              <a:rPr lang="en-IE" dirty="0"/>
              <a:t>The referee runs the prediction rule against a testing dataset, which is sequestered behind a Chinese wall.</a:t>
            </a:r>
          </a:p>
          <a:p>
            <a:r>
              <a:rPr lang="en-IE" dirty="0"/>
              <a:t>The referee objectively and automatically reports the score achieved by the submitted rule.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6F4724-1945-D047-B7BE-ECC10C03B6DC}"/>
              </a:ext>
            </a:extLst>
          </p:cNvPr>
          <p:cNvSpPr/>
          <p:nvPr/>
        </p:nvSpPr>
        <p:spPr>
          <a:xfrm>
            <a:off x="838200" y="6176963"/>
            <a:ext cx="6859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Donoho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(2017). </a:t>
            </a:r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50 years of data science.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J Comp Graphical Stat.</a:t>
            </a:r>
          </a:p>
        </p:txBody>
      </p:sp>
    </p:spTree>
    <p:extLst>
      <p:ext uri="{BB962C8B-B14F-4D97-AF65-F5344CB8AC3E}">
        <p14:creationId xmlns:p14="http://schemas.microsoft.com/office/powerpoint/2010/main" val="2670079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E291-0F05-AE4D-BF28-2FDB08F8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CTF/benchmarking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FB56-8BE4-5349-BC8E-08A6EE74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1. Error rates decline by a fixed percentage each year, to an asymptote depending on task and data quality. </a:t>
            </a:r>
          </a:p>
          <a:p>
            <a:pPr marL="0" indent="0">
              <a:buNone/>
            </a:pPr>
            <a:r>
              <a:rPr lang="en-IE" dirty="0"/>
              <a:t>2. Progress usually comes from many small improvements; a change of 1% can be a reason to break out the champagne. </a:t>
            </a:r>
          </a:p>
          <a:p>
            <a:pPr marL="0" indent="0">
              <a:buNone/>
            </a:pPr>
            <a:r>
              <a:rPr lang="en-IE" dirty="0"/>
              <a:t>3. Shared data plays a crucial role.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7558A-E337-67C3-FE82-29855547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3737739"/>
            <a:ext cx="4008120" cy="299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16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A940-812E-354D-A382-764E6627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Imagenet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2410-CA33-CB42-90DD-407AE1392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0289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7D807-3622-6941-B5A6-049E47E0D3B2}"/>
              </a:ext>
            </a:extLst>
          </p:cNvPr>
          <p:cNvSpPr txBox="1"/>
          <p:nvPr/>
        </p:nvSpPr>
        <p:spPr>
          <a:xfrm>
            <a:off x="7164211" y="6311900"/>
            <a:ext cx="3731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Future Nobel (?) Fei-Fei Li</a:t>
            </a:r>
          </a:p>
        </p:txBody>
      </p:sp>
      <p:pic>
        <p:nvPicPr>
          <p:cNvPr id="1028" name="Picture 4" descr="ImageNet">
            <a:extLst>
              <a:ext uri="{FF2B5EF4-FFF2-40B4-BE49-F238E27FC236}">
                <a16:creationId xmlns:a16="http://schemas.microsoft.com/office/drawing/2014/main" id="{205AE694-9E1B-AE43-BC7F-6528EE2EF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10795000" cy="48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ei-Fei Li">
            <a:extLst>
              <a:ext uri="{FF2B5EF4-FFF2-40B4-BE49-F238E27FC236}">
                <a16:creationId xmlns:a16="http://schemas.microsoft.com/office/drawing/2014/main" id="{0FF7D30F-437C-C040-938D-15C30F3BB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10" y="1389062"/>
            <a:ext cx="4864099" cy="486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774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39F8-A735-3442-8FD5-50D2D9DF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CF6CF-D86C-3F47-B6A3-6054ADBBB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3436"/>
            <a:ext cx="10515600" cy="814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https://aiindex.stanford.edu/wp-content/uploads/2021/03/2021-AI-Index-Report_Master.pdf</a:t>
            </a:r>
            <a:endParaRPr lang="en-US" sz="180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66506-ABFF-6549-B1E9-E9590F87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10542226" cy="54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8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92F6-164A-0893-BFC8-3180C114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1731B-DA59-419E-039A-54CDBAF21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833721-D2C0-32C7-D0C4-10CFAE0C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97" y="0"/>
            <a:ext cx="8958805" cy="675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17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DF7D70-329A-E06D-9ADC-1EC4244A1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36" y="87826"/>
            <a:ext cx="8948928" cy="66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34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9435-1005-5C7D-9F7E-98CB3A53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“Humanity’s last exam”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146A-9893-FCF4-BA3A-42E8D8481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F1C57-AE65-5D4A-1731-E2FC3AD7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121" y="1593960"/>
            <a:ext cx="5927203" cy="516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1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0244-E9EE-272A-F293-AAF04107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E11D-000C-33A5-98B3-2FEF31E6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41A5C-5A03-426B-C44A-F1878F18B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7"/>
            <a:ext cx="10553726" cy="546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57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F77715-891F-714E-8953-FE2C68B05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1" y="0"/>
            <a:ext cx="117293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45EA8C-0DE0-984E-95C2-86E84458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F01F654-F469-F043-B358-51A447B58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2787" y="1"/>
            <a:ext cx="5869213" cy="6857999"/>
          </a:xfrm>
        </p:spPr>
      </p:pic>
    </p:spTree>
    <p:extLst>
      <p:ext uri="{BB962C8B-B14F-4D97-AF65-F5344CB8AC3E}">
        <p14:creationId xmlns:p14="http://schemas.microsoft.com/office/powerpoint/2010/main" val="2425654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10A6-AB31-C262-8AC1-2E45CAEA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4E054-61F6-2519-37DC-AC513CA95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BB088-310A-2794-8C54-249D3F63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8669"/>
            <a:ext cx="7772400" cy="636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26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3620-4893-7340-A5C6-3A49992D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5F700-03D8-C24F-B1EB-E5F6D3EF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Some models</a:t>
            </a:r>
          </a:p>
        </p:txBody>
      </p:sp>
    </p:spTree>
    <p:extLst>
      <p:ext uri="{BB962C8B-B14F-4D97-AF65-F5344CB8AC3E}">
        <p14:creationId xmlns:p14="http://schemas.microsoft.com/office/powerpoint/2010/main" val="3017342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7003-3616-F74A-9BE8-A9C470BC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019A9-9AF1-4541-951F-55D49A8EAB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E" b="1" dirty="0"/>
                  <a:t>Goal</a:t>
                </a:r>
                <a:r>
                  <a:rPr lang="en-IE" dirty="0"/>
                  <a:t>: given a new, </a:t>
                </a:r>
                <a:r>
                  <a:rPr lang="en-IE" b="1" i="1" dirty="0"/>
                  <a:t>unseen</a:t>
                </a:r>
                <a:r>
                  <a:rPr lang="en-IE" dirty="0"/>
                  <a:t>, vector data point </a:t>
                </a:r>
                <a:r>
                  <a:rPr lang="en-IE" b="1" dirty="0"/>
                  <a:t>x</a:t>
                </a:r>
                <a:r>
                  <a:rPr lang="en-IE" baseline="-25000" dirty="0"/>
                  <a:t>𝑖</a:t>
                </a:r>
                <a:r>
                  <a:rPr lang="en-IE" dirty="0"/>
                  <a:t> (with potentially many dimensions), predict a scalar (single value) </a:t>
                </a:r>
                <a:r>
                  <a:rPr lang="en-IE" dirty="0" err="1"/>
                  <a:t>y</a:t>
                </a:r>
                <a:r>
                  <a:rPr lang="en-IE" baseline="-25000" dirty="0" err="1"/>
                  <a:t>i</a:t>
                </a:r>
                <a:r>
                  <a:rPr lang="en-IE" dirty="0"/>
                  <a:t> ;</a:t>
                </a:r>
              </a:p>
              <a:p>
                <a:r>
                  <a:rPr lang="en-IE" dirty="0"/>
                  <a:t>To achieve this task, we will learn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 (model) using an algorithm (estimator, learner) from </a:t>
                </a:r>
                <a:r>
                  <a:rPr lang="en-IE" dirty="0" err="1"/>
                  <a:t>labeled</a:t>
                </a:r>
                <a:r>
                  <a:rPr lang="en-IE" dirty="0"/>
                  <a:t> training data points (</a:t>
                </a:r>
                <a:r>
                  <a:rPr lang="en-IE" b="1" dirty="0"/>
                  <a:t>x</a:t>
                </a:r>
                <a:r>
                  <a:rPr lang="en-IE" dirty="0"/>
                  <a:t>, 𝑦);</a:t>
                </a:r>
              </a:p>
              <a:p>
                <a:r>
                  <a:rPr lang="en-IE" dirty="0"/>
                  <a:t>When asked to perform the task on new, unseen, data, we will output the prediction function learned earlier,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.</a:t>
                </a:r>
              </a:p>
              <a:p>
                <a:r>
                  <a:rPr lang="en-IE" dirty="0"/>
                  <a:t>We will now look at some of these functions (models) and how they can be learned (estimated)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019A9-9AF1-4541-951F-55D49A8EA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791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8958-A364-8047-8E95-D8E9A97E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17D1-4DFA-C449-8CA8-A711690C0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Linear regression</a:t>
            </a:r>
          </a:p>
          <a:p>
            <a:r>
              <a:rPr lang="en-IE" dirty="0" err="1"/>
              <a:t>kNN</a:t>
            </a:r>
            <a:endParaRPr lang="en-IE" dirty="0"/>
          </a:p>
          <a:p>
            <a:r>
              <a:rPr lang="en-IE" dirty="0"/>
              <a:t>Trees</a:t>
            </a:r>
          </a:p>
          <a:p>
            <a:r>
              <a:rPr lang="en-IE" dirty="0"/>
              <a:t>Random forests</a:t>
            </a:r>
          </a:p>
          <a:p>
            <a:r>
              <a:rPr lang="en-IE" dirty="0"/>
              <a:t>Boosting (e.g. </a:t>
            </a:r>
            <a:r>
              <a:rPr lang="en-IE" sz="2400" dirty="0" err="1">
                <a:latin typeface="Fira Code" pitchFamily="49" charset="0"/>
                <a:ea typeface="Fira Code" pitchFamily="49" charset="0"/>
                <a:cs typeface="Fira Code" pitchFamily="49" charset="0"/>
              </a:rPr>
              <a:t>xgboost</a:t>
            </a:r>
            <a:r>
              <a:rPr lang="en-IE" dirty="0"/>
              <a:t>)</a:t>
            </a:r>
          </a:p>
          <a:p>
            <a:r>
              <a:rPr lang="en-IE" dirty="0"/>
              <a:t>Support vector regression (SVR) </a:t>
            </a:r>
          </a:p>
          <a:p>
            <a:r>
              <a:rPr lang="en-IE" dirty="0"/>
              <a:t>Neural networks / Deep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25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1E27-B398-7A4D-9557-1FB2FB3C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regression (k = 30)</a:t>
            </a:r>
          </a:p>
        </p:txBody>
      </p:sp>
      <p:pic>
        <p:nvPicPr>
          <p:cNvPr id="8" name="Picture 7" descr="A graph showing a line&#10;&#10;AI-generated content may be incorrect.">
            <a:extLst>
              <a:ext uri="{FF2B5EF4-FFF2-40B4-BE49-F238E27FC236}">
                <a16:creationId xmlns:a16="http://schemas.microsoft.com/office/drawing/2014/main" id="{BC901A4F-0112-075C-2C3F-7BC37678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199"/>
            <a:ext cx="9785350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92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E860E7-EC87-709A-EA55-4540F16E7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759" y="-617561"/>
            <a:ext cx="7708790" cy="7417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37C2E6-C0AD-8666-10B1-C79CE52F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469"/>
            <a:ext cx="4648200" cy="1325563"/>
          </a:xfrm>
        </p:spPr>
        <p:txBody>
          <a:bodyPr/>
          <a:lstStyle/>
          <a:p>
            <a:r>
              <a:rPr lang="en-US"/>
              <a:t>Regression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0761F-B1F3-D2B0-A0AC-421A7ABD45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33968"/>
                <a:ext cx="3388463" cy="4824031"/>
              </a:xfrm>
              <a:ln>
                <a:noFill/>
              </a:ln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/>
                  <a:t>Prediction</a:t>
                </a:r>
                <a:r>
                  <a:rPr lang="en-US"/>
                  <a:t> for:</a:t>
                </a:r>
              </a:p>
              <a:p>
                <a:r>
                  <a:rPr lang="en-US" sz="1800">
                    <a:solidFill>
                      <a:srgbClr val="E303FC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garage_cars</a:t>
                </a:r>
                <a:r>
                  <a:rPr lang="en-US" sz="1800">
                    <a:solidFill>
                      <a:srgbClr val="E303FC"/>
                    </a:solidFill>
                  </a:rPr>
                  <a:t> = 3</a:t>
                </a:r>
              </a:p>
              <a:p>
                <a:r>
                  <a:rPr lang="en-US" sz="1800">
                    <a:solidFill>
                      <a:srgbClr val="FF3700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mas_vnr_area </a:t>
                </a:r>
                <a:r>
                  <a:rPr lang="en-US" sz="1800">
                    <a:solidFill>
                      <a:srgbClr val="FF3700"/>
                    </a:solidFill>
                  </a:rPr>
                  <a:t>= 104</a:t>
                </a:r>
              </a:p>
              <a:p>
                <a:r>
                  <a:rPr lang="en-US" sz="1800">
                    <a:solidFill>
                      <a:srgbClr val="80165F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open_porch_sf</a:t>
                </a:r>
                <a:r>
                  <a:rPr lang="en-US" sz="1800">
                    <a:solidFill>
                      <a:srgbClr val="80165F"/>
                    </a:solidFill>
                  </a:rPr>
                  <a:t> = 10</a:t>
                </a:r>
              </a:p>
              <a:p>
                <a:pPr marL="0" indent="0">
                  <a:buNone/>
                </a:pPr>
                <a:r>
                  <a:rPr lang="en-US" sz="1800">
                    <a:solidFill>
                      <a:srgbClr val="80165F"/>
                    </a:solidFill>
                  </a:rPr>
                  <a:t>	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>
                  <a:solidFill>
                    <a:srgbClr val="80165F"/>
                  </a:solidFill>
                </a:endParaRP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What about </a:t>
                </a:r>
                <a:r>
                  <a:rPr lang="en-US"/>
                  <a:t>for</a:t>
                </a:r>
                <a:r>
                  <a:rPr lang="en-US" b="1"/>
                  <a:t>:</a:t>
                </a:r>
                <a:endParaRPr lang="en-US"/>
              </a:p>
              <a:p>
                <a:r>
                  <a:rPr lang="en-US" sz="1800"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garage_cars</a:t>
                </a:r>
                <a:r>
                  <a:rPr lang="en-US" sz="1800"/>
                  <a:t> = 4</a:t>
                </a:r>
              </a:p>
              <a:p>
                <a:r>
                  <a:rPr lang="en-US" sz="1800"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mas_vnr_area </a:t>
                </a:r>
                <a:r>
                  <a:rPr lang="en-US" sz="1800"/>
                  <a:t>= 200</a:t>
                </a:r>
              </a:p>
              <a:p>
                <a:r>
                  <a:rPr lang="en-US" sz="1800"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kitchen_qual </a:t>
                </a:r>
                <a:r>
                  <a:rPr lang="en-US" sz="1800"/>
                  <a:t>= Ex</a:t>
                </a:r>
              </a:p>
              <a:p>
                <a:r>
                  <a:rPr lang="en-US" sz="1800"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open_porch_sf</a:t>
                </a:r>
                <a:r>
                  <a:rPr lang="en-US" sz="1800"/>
                  <a:t> = 10</a:t>
                </a:r>
              </a:p>
              <a:p>
                <a:endParaRPr lang="en-US" sz="180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800">
                  <a:solidFill>
                    <a:srgbClr val="80165F"/>
                  </a:solidFill>
                </a:endParaRPr>
              </a:p>
              <a:p>
                <a:pPr marL="457200" lvl="1" indent="0">
                  <a:buNone/>
                </a:pPr>
                <a:endParaRPr lang="en-US" sz="2800">
                  <a:solidFill>
                    <a:srgbClr val="80165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0761F-B1F3-D2B0-A0AC-421A7ABD4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33968"/>
                <a:ext cx="3388463" cy="4824031"/>
              </a:xfrm>
              <a:blipFill>
                <a:blip r:embed="rId4"/>
                <a:stretch>
                  <a:fillRect l="-3371" t="-3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FCC2E-86F9-9861-1340-4D2CB4CFBD17}"/>
              </a:ext>
            </a:extLst>
          </p:cNvPr>
          <p:cNvCxnSpPr>
            <a:cxnSpLocks/>
          </p:cNvCxnSpPr>
          <p:nvPr/>
        </p:nvCxnSpPr>
        <p:spPr>
          <a:xfrm>
            <a:off x="8546939" y="775504"/>
            <a:ext cx="568121" cy="440184"/>
          </a:xfrm>
          <a:prstGeom prst="line">
            <a:avLst/>
          </a:prstGeom>
          <a:ln w="57150">
            <a:solidFill>
              <a:srgbClr val="E30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729C88-612B-7C6F-C342-98BFFBF34420}"/>
              </a:ext>
            </a:extLst>
          </p:cNvPr>
          <p:cNvCxnSpPr>
            <a:cxnSpLocks/>
          </p:cNvCxnSpPr>
          <p:nvPr/>
        </p:nvCxnSpPr>
        <p:spPr>
          <a:xfrm flipH="1">
            <a:off x="9745884" y="2199133"/>
            <a:ext cx="225703" cy="358874"/>
          </a:xfrm>
          <a:prstGeom prst="line">
            <a:avLst/>
          </a:prstGeom>
          <a:ln w="57150">
            <a:solidFill>
              <a:srgbClr val="FF3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DAA750-244F-4489-0C54-E93AC9251ABE}"/>
              </a:ext>
            </a:extLst>
          </p:cNvPr>
          <p:cNvCxnSpPr>
            <a:cxnSpLocks/>
          </p:cNvCxnSpPr>
          <p:nvPr/>
        </p:nvCxnSpPr>
        <p:spPr>
          <a:xfrm flipH="1">
            <a:off x="8915397" y="3667093"/>
            <a:ext cx="231493" cy="704779"/>
          </a:xfrm>
          <a:prstGeom prst="line">
            <a:avLst/>
          </a:prstGeom>
          <a:ln w="57150">
            <a:solidFill>
              <a:srgbClr val="801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B52585-5A8A-D193-69EE-9B16EABD3A74}"/>
              </a:ext>
            </a:extLst>
          </p:cNvPr>
          <p:cNvCxnSpPr>
            <a:cxnSpLocks/>
          </p:cNvCxnSpPr>
          <p:nvPr/>
        </p:nvCxnSpPr>
        <p:spPr>
          <a:xfrm>
            <a:off x="9358130" y="1377386"/>
            <a:ext cx="486136" cy="393887"/>
          </a:xfrm>
          <a:prstGeom prst="line">
            <a:avLst/>
          </a:prstGeom>
          <a:ln w="57150">
            <a:solidFill>
              <a:srgbClr val="E30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1CE59-C7A3-4FD7-583B-49385AFEB643}"/>
              </a:ext>
            </a:extLst>
          </p:cNvPr>
          <p:cNvSpPr/>
          <p:nvPr/>
        </p:nvSpPr>
        <p:spPr>
          <a:xfrm>
            <a:off x="8310623" y="4433096"/>
            <a:ext cx="821801" cy="2424903"/>
          </a:xfrm>
          <a:prstGeom prst="rect">
            <a:avLst/>
          </a:prstGeom>
          <a:noFill/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16B883-CBA8-372A-9D73-9086402E7F4C}"/>
              </a:ext>
            </a:extLst>
          </p:cNvPr>
          <p:cNvCxnSpPr>
            <a:cxnSpLocks/>
          </p:cNvCxnSpPr>
          <p:nvPr/>
        </p:nvCxnSpPr>
        <p:spPr>
          <a:xfrm flipH="1">
            <a:off x="9358130" y="2777924"/>
            <a:ext cx="243068" cy="405956"/>
          </a:xfrm>
          <a:prstGeom prst="line">
            <a:avLst/>
          </a:prstGeom>
          <a:ln w="57150">
            <a:solidFill>
              <a:srgbClr val="FF3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692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D0D96-82C3-5FDB-B581-E54B2DCC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B15383-00CE-44FB-C8B3-E0506FB2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759" y="-617561"/>
            <a:ext cx="7708790" cy="7417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327291-3588-FC80-9351-55A5D492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469"/>
            <a:ext cx="4648200" cy="1325563"/>
          </a:xfrm>
        </p:spPr>
        <p:txBody>
          <a:bodyPr/>
          <a:lstStyle/>
          <a:p>
            <a:r>
              <a:rPr lang="en-US"/>
              <a:t>Regression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DBA7C-A4E7-F364-1C9A-04C9A0516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33968"/>
                <a:ext cx="3388463" cy="4824031"/>
              </a:xfrm>
              <a:ln>
                <a:noFill/>
              </a:ln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>
                    <a:solidFill>
                      <a:schemeClr val="bg2">
                        <a:lumMod val="50000"/>
                      </a:schemeClr>
                    </a:solidFill>
                  </a:rPr>
                  <a:t>Prediction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 for:</a:t>
                </a:r>
              </a:p>
              <a:p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garage_cars</a:t>
                </a:r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</a:rPr>
                  <a:t> = 3</a:t>
                </a:r>
              </a:p>
              <a:p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mas_vnr_area </a:t>
                </a:r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</a:rPr>
                  <a:t>= 104</a:t>
                </a:r>
              </a:p>
              <a:p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open_porch_sf</a:t>
                </a:r>
                <a:r>
                  <a:rPr lang="en-US" sz="1800">
                    <a:solidFill>
                      <a:schemeClr val="bg2">
                        <a:lumMod val="50000"/>
                      </a:schemeClr>
                    </a:solidFill>
                  </a:rPr>
                  <a:t> = 10</a:t>
                </a:r>
              </a:p>
              <a:p>
                <a:pPr marL="0" indent="0">
                  <a:buNone/>
                </a:pPr>
                <a:r>
                  <a:rPr lang="en-US" sz="1800">
                    <a:solidFill>
                      <a:srgbClr val="80165F"/>
                    </a:solidFill>
                  </a:rPr>
                  <a:t>	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What about </a:t>
                </a:r>
                <a:r>
                  <a:rPr lang="en-US"/>
                  <a:t>for</a:t>
                </a:r>
                <a:r>
                  <a:rPr lang="en-US" b="1"/>
                  <a:t>:</a:t>
                </a:r>
                <a:endParaRPr lang="en-US"/>
              </a:p>
              <a:p>
                <a:r>
                  <a:rPr lang="en-US" sz="1800">
                    <a:solidFill>
                      <a:srgbClr val="E303FC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garage_cars</a:t>
                </a:r>
                <a:r>
                  <a:rPr lang="en-US" sz="1800">
                    <a:solidFill>
                      <a:srgbClr val="E303FC"/>
                    </a:solidFill>
                  </a:rPr>
                  <a:t> = 4</a:t>
                </a:r>
              </a:p>
              <a:p>
                <a:r>
                  <a:rPr lang="en-US" sz="1800">
                    <a:solidFill>
                      <a:srgbClr val="FF3700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mas_vnr_area </a:t>
                </a:r>
                <a:r>
                  <a:rPr lang="en-US" sz="1800">
                    <a:solidFill>
                      <a:srgbClr val="FF3700"/>
                    </a:solidFill>
                  </a:rPr>
                  <a:t>= 200</a:t>
                </a:r>
              </a:p>
              <a:p>
                <a:r>
                  <a:rPr lang="en-US" sz="1800">
                    <a:solidFill>
                      <a:srgbClr val="80165F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kitchen_qual </a:t>
                </a:r>
                <a:r>
                  <a:rPr lang="en-US" sz="1800">
                    <a:solidFill>
                      <a:srgbClr val="80165F"/>
                    </a:solidFill>
                  </a:rPr>
                  <a:t>= Ex</a:t>
                </a:r>
              </a:p>
              <a:p>
                <a:r>
                  <a:rPr lang="en-US" sz="1800"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open_porch_sf</a:t>
                </a:r>
                <a:r>
                  <a:rPr lang="en-US" sz="1800"/>
                  <a:t> = 10</a:t>
                </a:r>
              </a:p>
              <a:p>
                <a:endParaRPr lang="en-US" sz="180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400</m:t>
                      </m:r>
                    </m:oMath>
                  </m:oMathPara>
                </a14:m>
                <a:endParaRPr lang="en-US" sz="2800">
                  <a:solidFill>
                    <a:srgbClr val="80165F"/>
                  </a:solidFill>
                </a:endParaRPr>
              </a:p>
              <a:p>
                <a:pPr marL="457200" lvl="1" indent="0">
                  <a:buNone/>
                </a:pPr>
                <a:endParaRPr lang="en-US" sz="2800">
                  <a:solidFill>
                    <a:srgbClr val="80165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DBA7C-A4E7-F364-1C9A-04C9A0516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33968"/>
                <a:ext cx="3388463" cy="4824031"/>
              </a:xfrm>
              <a:blipFill>
                <a:blip r:embed="rId4"/>
                <a:stretch>
                  <a:fillRect l="-3371" t="-3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3F414B-A9C9-C25F-F3F5-D662F8D581E4}"/>
              </a:ext>
            </a:extLst>
          </p:cNvPr>
          <p:cNvCxnSpPr>
            <a:cxnSpLocks/>
          </p:cNvCxnSpPr>
          <p:nvPr/>
        </p:nvCxnSpPr>
        <p:spPr>
          <a:xfrm>
            <a:off x="8546939" y="775504"/>
            <a:ext cx="568121" cy="440184"/>
          </a:xfrm>
          <a:prstGeom prst="line">
            <a:avLst/>
          </a:prstGeom>
          <a:ln w="57150">
            <a:solidFill>
              <a:srgbClr val="E30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15C47F-11BE-DA5F-1E8F-27701366580C}"/>
              </a:ext>
            </a:extLst>
          </p:cNvPr>
          <p:cNvCxnSpPr>
            <a:cxnSpLocks/>
          </p:cNvCxnSpPr>
          <p:nvPr/>
        </p:nvCxnSpPr>
        <p:spPr>
          <a:xfrm>
            <a:off x="10325155" y="2211325"/>
            <a:ext cx="220925" cy="397763"/>
          </a:xfrm>
          <a:prstGeom prst="line">
            <a:avLst/>
          </a:prstGeom>
          <a:ln w="57150">
            <a:solidFill>
              <a:srgbClr val="FF3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0A5089-14C4-66F6-C817-86044B229281}"/>
              </a:ext>
            </a:extLst>
          </p:cNvPr>
          <p:cNvCxnSpPr>
            <a:cxnSpLocks/>
          </p:cNvCxnSpPr>
          <p:nvPr/>
        </p:nvCxnSpPr>
        <p:spPr>
          <a:xfrm flipH="1">
            <a:off x="10729115" y="3675889"/>
            <a:ext cx="231493" cy="704779"/>
          </a:xfrm>
          <a:prstGeom prst="line">
            <a:avLst/>
          </a:prstGeom>
          <a:ln w="57150">
            <a:solidFill>
              <a:srgbClr val="801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6FE6EC-2F64-58DF-67BA-8BC3CF3F41EC}"/>
              </a:ext>
            </a:extLst>
          </p:cNvPr>
          <p:cNvCxnSpPr>
            <a:cxnSpLocks/>
          </p:cNvCxnSpPr>
          <p:nvPr/>
        </p:nvCxnSpPr>
        <p:spPr>
          <a:xfrm>
            <a:off x="9358130" y="1377386"/>
            <a:ext cx="486136" cy="393887"/>
          </a:xfrm>
          <a:prstGeom prst="line">
            <a:avLst/>
          </a:prstGeom>
          <a:ln w="57150">
            <a:solidFill>
              <a:srgbClr val="E303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34F934-DD67-9F23-9947-5C6307C3566D}"/>
              </a:ext>
            </a:extLst>
          </p:cNvPr>
          <p:cNvSpPr/>
          <p:nvPr/>
        </p:nvSpPr>
        <p:spPr>
          <a:xfrm>
            <a:off x="8310623" y="4433096"/>
            <a:ext cx="821801" cy="2424903"/>
          </a:xfrm>
          <a:prstGeom prst="rect">
            <a:avLst/>
          </a:prstGeom>
          <a:noFill/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B24258-DDAB-2864-D0A0-D55DC7EA3F6B}"/>
              </a:ext>
            </a:extLst>
          </p:cNvPr>
          <p:cNvCxnSpPr>
            <a:cxnSpLocks/>
          </p:cNvCxnSpPr>
          <p:nvPr/>
        </p:nvCxnSpPr>
        <p:spPr>
          <a:xfrm>
            <a:off x="10667614" y="2752341"/>
            <a:ext cx="292994" cy="429771"/>
          </a:xfrm>
          <a:prstGeom prst="line">
            <a:avLst/>
          </a:prstGeom>
          <a:ln w="57150">
            <a:solidFill>
              <a:srgbClr val="FF3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263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350-80E4-CA4D-BDF6-9B4F6E85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E6F8-94F1-5D4D-BBD1-756D0EEA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dirty="0"/>
              <a:t>Trees are not a bad idea, but in practice they tend to overfit</a:t>
            </a:r>
          </a:p>
          <a:p>
            <a:pPr marL="0" indent="0">
              <a:buNone/>
            </a:pPr>
            <a:r>
              <a:rPr lang="en-IE" dirty="0"/>
              <a:t>→ Use them as </a:t>
            </a:r>
            <a:r>
              <a:rPr lang="en-IE" b="1" dirty="0"/>
              <a:t>basic building block </a:t>
            </a:r>
            <a:r>
              <a:rPr lang="en-IE" dirty="0"/>
              <a:t>for </a:t>
            </a:r>
            <a:r>
              <a:rPr lang="en-IE" b="1" dirty="0"/>
              <a:t>ensembles</a:t>
            </a:r>
          </a:p>
          <a:p>
            <a:endParaRPr lang="en-IE" dirty="0"/>
          </a:p>
          <a:p>
            <a:r>
              <a:rPr lang="en-IE" b="1" dirty="0"/>
              <a:t>Random forests</a:t>
            </a:r>
            <a:r>
              <a:rPr lang="en-IE" dirty="0"/>
              <a:t>: “bagged trees with feature sampling”</a:t>
            </a:r>
          </a:p>
          <a:p>
            <a:pPr lvl="1"/>
            <a:r>
              <a:rPr lang="en-IE" dirty="0"/>
              <a:t>Make trees that are too complex (low bias, high variance);</a:t>
            </a:r>
          </a:p>
          <a:p>
            <a:pPr lvl="1"/>
            <a:r>
              <a:rPr lang="en-IE" dirty="0"/>
              <a:t>Average over bootstrapped samples to cancel out the overfitting parts.</a:t>
            </a:r>
          </a:p>
          <a:p>
            <a:pPr lvl="1"/>
            <a:endParaRPr lang="en-IE" dirty="0"/>
          </a:p>
          <a:p>
            <a:r>
              <a:rPr lang="en-IE" b="1" dirty="0"/>
              <a:t>Boosting</a:t>
            </a:r>
            <a:r>
              <a:rPr lang="en-IE" dirty="0"/>
              <a:t>: “ensemble of weak learners”</a:t>
            </a:r>
          </a:p>
          <a:p>
            <a:pPr lvl="1"/>
            <a:r>
              <a:rPr lang="en-IE" dirty="0"/>
              <a:t>Make trees that are too simple (high bias, low variance);</a:t>
            </a:r>
          </a:p>
          <a:p>
            <a:pPr lvl="1"/>
            <a:r>
              <a:rPr lang="en-IE" dirty="0"/>
              <a:t>Make more of them for observations with big residuals;</a:t>
            </a:r>
          </a:p>
          <a:p>
            <a:pPr lvl="1"/>
            <a:r>
              <a:rPr lang="en-IE" dirty="0"/>
              <a:t>Average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More about random forests and boosting next time!</a:t>
            </a:r>
          </a:p>
        </p:txBody>
      </p:sp>
    </p:spTree>
    <p:extLst>
      <p:ext uri="{BB962C8B-B14F-4D97-AF65-F5344CB8AC3E}">
        <p14:creationId xmlns:p14="http://schemas.microsoft.com/office/powerpoint/2010/main" val="1233768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0BACB2-E89C-F67F-8245-66FABEE2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769" y="1690688"/>
            <a:ext cx="3814902" cy="343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6191E-3151-AB35-BB0C-C1C7D6B29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974" y="1690688"/>
            <a:ext cx="3814902" cy="3434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F09D38-A5AB-FA95-D49D-7F6E7B4CC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79" y="1690688"/>
            <a:ext cx="3814902" cy="34345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F8A2014-E39F-4944-6D69-57246CAC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F7C2E-D048-0F0D-5B83-D374A1E74064}"/>
              </a:ext>
            </a:extLst>
          </p:cNvPr>
          <p:cNvSpPr txBox="1"/>
          <p:nvPr/>
        </p:nvSpPr>
        <p:spPr>
          <a:xfrm>
            <a:off x="707136" y="5535168"/>
            <a:ext cx="111129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Fit many trees, each to a different </a:t>
            </a:r>
            <a:r>
              <a:rPr lang="en-US" sz="2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random sample of the training data</a:t>
            </a: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US" sz="2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randomly sampling </a:t>
            </a: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small set of </a:t>
            </a:r>
            <a:r>
              <a:rPr lang="en-US" sz="2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features </a:t>
            </a: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each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final random forest prediction is the </a:t>
            </a:r>
            <a:r>
              <a:rPr lang="en-US" sz="2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of the individual tree predictions</a:t>
            </a:r>
            <a:r>
              <a:rPr lang="en-US" sz="2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911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7A0-8362-C54C-B631-92888C6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E7EF2-D3E8-0142-BAFC-10B7256FB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855E86-22F3-D740-8737-A30A66F19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354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68D7-0F6F-A740-B121-91B4FD45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neural net “deep”?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D7982-6AA7-0747-927E-BD9678AE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eep learning diagram. | Download Scientific Diagram">
            <a:extLst>
              <a:ext uri="{FF2B5EF4-FFF2-40B4-BE49-F238E27FC236}">
                <a16:creationId xmlns:a16="http://schemas.microsoft.com/office/drawing/2014/main" id="{EFFD10E9-F4CC-EC41-B1FD-311A31BB2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615207"/>
            <a:ext cx="10515599" cy="277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828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8E34-F2D8-884C-9B9C-B69E6BC5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1BF3-A2C9-CC44-826F-4863F5B7C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Output of each hidden layer is input to subsequent one</a:t>
            </a:r>
          </a:p>
          <a:p>
            <a:r>
              <a:rPr lang="en-IE" dirty="0"/>
              <a:t>Allow representation learning by building complex features out of simpler ones</a:t>
            </a:r>
          </a:p>
          <a:p>
            <a:r>
              <a:rPr lang="en-IE" dirty="0"/>
              <a:t>Aggressive parameterization + aggressive regularization </a:t>
            </a:r>
          </a:p>
          <a:p>
            <a:pPr marL="0" indent="0">
              <a:buNone/>
            </a:pPr>
            <a:r>
              <a:rPr lang="en-IE" dirty="0"/>
              <a:t>	(“top-down” nonparametric approach)</a:t>
            </a:r>
          </a:p>
          <a:p>
            <a:r>
              <a:rPr lang="en-IE" dirty="0"/>
              <a:t>Compositional: efficient parametrization</a:t>
            </a:r>
          </a:p>
          <a:p>
            <a:r>
              <a:rPr lang="en-IE" dirty="0"/>
              <a:t>Learn relevant features: “End-to-end”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b="1" dirty="0"/>
              <a:t>More about deep learning later!</a:t>
            </a:r>
          </a:p>
        </p:txBody>
      </p:sp>
    </p:spTree>
    <p:extLst>
      <p:ext uri="{BB962C8B-B14F-4D97-AF65-F5344CB8AC3E}">
        <p14:creationId xmlns:p14="http://schemas.microsoft.com/office/powerpoint/2010/main" val="1417690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D6D9-A8E6-7BC5-AC11-B83F87AB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0">
                <a:latin typeface="Fira Code" pitchFamily="49" charset="0"/>
                <a:ea typeface="Fira Code" pitchFamily="49" charset="0"/>
                <a:cs typeface="Fira Code" pitchFamily="49" charset="0"/>
              </a:rPr>
              <a:t>https://playground.tensorflow.org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6C639-94D6-F814-AB74-B18211C4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525256" cy="451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50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F803-ADB9-1146-8894-C997B1D8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free lunch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B3BB-AE82-BE41-A0EC-B4AD117D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5000" dirty="0"/>
              <a:t>”Any two optimization algorithms are equivalent when their performance is averaged across all possible problems”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(Wolpert &amp; </a:t>
            </a:r>
            <a:r>
              <a:rPr lang="en-US" dirty="0" err="1"/>
              <a:t>MacReady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9266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8DB4-D41A-1548-935E-E2B522F7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housing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97E96-293B-174E-9710-F29D8F697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2FEA9-22E4-3145-8F37-5E9CFCFE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290538" cy="51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06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78A4-C0F6-F043-9CEA-3B74B077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064F1-19F8-1C41-ADAA-644DFA1D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Learners (models) have “hyperparameters”</a:t>
            </a:r>
          </a:p>
          <a:p>
            <a:r>
              <a:rPr lang="en-US" dirty="0"/>
              <a:t>Example: number of trees in RF, depth of neural network</a:t>
            </a:r>
          </a:p>
          <a:p>
            <a:r>
              <a:rPr lang="en-US" dirty="0"/>
              <a:t>General idea is to use </a:t>
            </a:r>
            <a:r>
              <a:rPr lang="en-US" b="1" dirty="0"/>
              <a:t>cross-validation </a:t>
            </a:r>
            <a:r>
              <a:rPr lang="en-US" dirty="0"/>
              <a:t>to select hyperparameters</a:t>
            </a:r>
          </a:p>
          <a:p>
            <a:r>
              <a:rPr lang="en-US" dirty="0"/>
              <a:t>Some models more sensitive to good choice of </a:t>
            </a:r>
            <a:r>
              <a:rPr lang="en-US" dirty="0" err="1"/>
              <a:t>hyperparamters</a:t>
            </a:r>
            <a:endParaRPr lang="en-US" dirty="0"/>
          </a:p>
          <a:p>
            <a:r>
              <a:rPr lang="en-US" dirty="0"/>
              <a:t>Examples are boosting and neural nets</a:t>
            </a:r>
          </a:p>
        </p:txBody>
      </p:sp>
    </p:spTree>
    <p:extLst>
      <p:ext uri="{BB962C8B-B14F-4D97-AF65-F5344CB8AC3E}">
        <p14:creationId xmlns:p14="http://schemas.microsoft.com/office/powerpoint/2010/main" val="2147900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1D4A6DE2-267F-A541-B29F-9D777714A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266" y="329163"/>
            <a:ext cx="8025468" cy="6199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E03B7-74DF-5144-BEC4-AE43AEDBE71E}"/>
              </a:ext>
            </a:extLst>
          </p:cNvPr>
          <p:cNvSpPr txBox="1"/>
          <p:nvPr/>
        </p:nvSpPr>
        <p:spPr>
          <a:xfrm>
            <a:off x="9929446" y="6447692"/>
            <a:ext cx="20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Probst et al. JMLR</a:t>
            </a:r>
          </a:p>
        </p:txBody>
      </p:sp>
    </p:spTree>
    <p:extLst>
      <p:ext uri="{BB962C8B-B14F-4D97-AF65-F5344CB8AC3E}">
        <p14:creationId xmlns:p14="http://schemas.microsoft.com/office/powerpoint/2010/main" val="4098690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3E03B7-74DF-5144-BEC4-AE43AEDBE71E}"/>
              </a:ext>
            </a:extLst>
          </p:cNvPr>
          <p:cNvSpPr txBox="1"/>
          <p:nvPr/>
        </p:nvSpPr>
        <p:spPr>
          <a:xfrm>
            <a:off x="9334486" y="6488668"/>
            <a:ext cx="2857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Probst et al. (2019). JMLR</a:t>
            </a:r>
          </a:p>
        </p:txBody>
      </p:sp>
      <p:pic>
        <p:nvPicPr>
          <p:cNvPr id="7" name="Content Placeholder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B971211D-696A-CC48-9B26-F63D81EB4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8179366" cy="6858001"/>
          </a:xfrm>
        </p:spPr>
      </p:pic>
    </p:spTree>
    <p:extLst>
      <p:ext uri="{BB962C8B-B14F-4D97-AF65-F5344CB8AC3E}">
        <p14:creationId xmlns:p14="http://schemas.microsoft.com/office/powerpoint/2010/main" val="36319982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791A-DC0E-2E47-9CC8-AA52BC88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C894-9A2D-2843-A4BE-F1C989375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is to perform all the steps of comparing different models using cross-validation, choosing hyperparameters </a:t>
            </a:r>
            <a:r>
              <a:rPr lang="en-US" dirty="0" err="1"/>
              <a:t>etc</a:t>
            </a:r>
            <a:r>
              <a:rPr lang="en-US" dirty="0"/>
              <a:t> automatically. </a:t>
            </a:r>
          </a:p>
          <a:p>
            <a:r>
              <a:rPr lang="en-US" dirty="0"/>
              <a:t>Very “black box”</a:t>
            </a:r>
          </a:p>
          <a:p>
            <a:r>
              <a:rPr lang="en-US" dirty="0"/>
              <a:t>Many cloud platforms offer some </a:t>
            </a:r>
            <a:r>
              <a:rPr lang="en-US" dirty="0" err="1"/>
              <a:t>autoML</a:t>
            </a:r>
            <a:r>
              <a:rPr lang="en-US" dirty="0"/>
              <a:t> option nowadays</a:t>
            </a:r>
          </a:p>
        </p:txBody>
      </p:sp>
    </p:spTree>
    <p:extLst>
      <p:ext uri="{BB962C8B-B14F-4D97-AF65-F5344CB8AC3E}">
        <p14:creationId xmlns:p14="http://schemas.microsoft.com/office/powerpoint/2010/main" val="2659317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B2A2-F5AF-9342-AE2B-07808605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AutoML</a:t>
            </a:r>
            <a:r>
              <a:rPr lang="en-US" dirty="0"/>
              <a:t> for our example </a:t>
            </a:r>
            <a:r>
              <a:rPr lang="en-US" sz="3000" b="0" dirty="0"/>
              <a:t>using h2o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1FCE4-C4D6-E34B-BFC6-2ECF8ABA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Fira Code" panose="020B0809050000020004" pitchFamily="49" charset="0"/>
                <a:ea typeface="Fira Code" panose="020B0809050000020004" pitchFamily="49" charset="0"/>
              </a:rPr>
              <a:t>fit_aml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 &lt;- h2o.automl(</a:t>
            </a:r>
          </a:p>
          <a:p>
            <a:pPr marL="0" indent="0">
              <a:buNone/>
            </a:pP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	y = "</a:t>
            </a:r>
            <a:r>
              <a:rPr lang="en-US" dirty="0" err="1">
                <a:latin typeface="Fira Code" panose="020B0809050000020004" pitchFamily="49" charset="0"/>
                <a:ea typeface="Fira Code" panose="020B0809050000020004" pitchFamily="49" charset="0"/>
              </a:rPr>
              <a:t>SalePrice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", </a:t>
            </a:r>
          </a:p>
          <a:p>
            <a:pPr marL="0" indent="0">
              <a:buNone/>
            </a:pP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	</a:t>
            </a:r>
            <a:r>
              <a:rPr lang="en-US" dirty="0" err="1">
                <a:latin typeface="Fira Code" panose="020B0809050000020004" pitchFamily="49" charset="0"/>
                <a:ea typeface="Fira Code" panose="020B0809050000020004" pitchFamily="49" charset="0"/>
              </a:rPr>
              <a:t>training_frame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 = dat_h2o_train)</a:t>
            </a:r>
          </a:p>
          <a:p>
            <a:pPr marL="0" indent="0">
              <a:buNone/>
            </a:pPr>
            <a:endParaRPr lang="en-US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dirty="0"/>
              <a:t>Achieves about 18,000 on held out test data, better than RF</a:t>
            </a:r>
          </a:p>
          <a:p>
            <a:pPr marL="0" indent="0">
              <a:buNone/>
            </a:pPr>
            <a:r>
              <a:rPr lang="en-US" dirty="0"/>
              <a:t>Selects very highly tuned boosting model</a:t>
            </a:r>
          </a:p>
        </p:txBody>
      </p:sp>
    </p:spTree>
    <p:extLst>
      <p:ext uri="{BB962C8B-B14F-4D97-AF65-F5344CB8AC3E}">
        <p14:creationId xmlns:p14="http://schemas.microsoft.com/office/powerpoint/2010/main" val="3763953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AF8F-8C28-2C48-B028-BCB941D1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58AA-75D9-5043-9911-F8861030B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new model is being invented, literally every day</a:t>
            </a:r>
          </a:p>
          <a:p>
            <a:r>
              <a:rPr lang="en-IE" dirty="0"/>
              <a:t>The most important skill you should practice these weeks is </a:t>
            </a:r>
          </a:p>
          <a:p>
            <a:pPr marL="0" indent="0">
              <a:buNone/>
            </a:pPr>
            <a:r>
              <a:rPr lang="en-IE" b="1" dirty="0"/>
              <a:t>	How to learn about a model you did not know about yet</a:t>
            </a:r>
          </a:p>
          <a:p>
            <a:r>
              <a:rPr lang="en-IE" dirty="0"/>
              <a:t>The practical should help you do this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8687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7503</TotalTime>
  <Words>1470</Words>
  <Application>Microsoft Macintosh PowerPoint</Application>
  <PresentationFormat>Widescreen</PresentationFormat>
  <Paragraphs>215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Cambria Math</vt:lpstr>
      <vt:lpstr>Fira Code</vt:lpstr>
      <vt:lpstr>Helvetica Neue</vt:lpstr>
      <vt:lpstr>Times New Roman</vt:lpstr>
      <vt:lpstr>Office Theme</vt:lpstr>
      <vt:lpstr>PowerPoint Presentation</vt:lpstr>
      <vt:lpstr>Supervised machine learning</vt:lpstr>
      <vt:lpstr>Recap: regression </vt:lpstr>
      <vt:lpstr>Recap: regression</vt:lpstr>
      <vt:lpstr>Will my model succeed?</vt:lpstr>
      <vt:lpstr>PowerPoint Presentation</vt:lpstr>
      <vt:lpstr>PowerPoint Presentation</vt:lpstr>
      <vt:lpstr>LLM #parameters and dataset size </vt:lpstr>
      <vt:lpstr>PowerPoint Presentation</vt:lpstr>
      <vt:lpstr>Reminder: Train/dev/test</vt:lpstr>
      <vt:lpstr>Drawbacks of train/dev/test</vt:lpstr>
      <vt:lpstr>K-fold crossvalidation</vt:lpstr>
      <vt:lpstr>PowerPoint Presentation</vt:lpstr>
      <vt:lpstr>PowerPoint Presentation</vt:lpstr>
      <vt:lpstr>PowerPoint Presentation</vt:lpstr>
      <vt:lpstr>PowerPoint Presentation</vt:lpstr>
      <vt:lpstr>The Common Task Framework</vt:lpstr>
      <vt:lpstr>CTF/benchmarking advantages</vt:lpstr>
      <vt:lpstr>Imagenet</vt:lpstr>
      <vt:lpstr>PowerPoint Presentation</vt:lpstr>
      <vt:lpstr>PowerPoint Presentation</vt:lpstr>
      <vt:lpstr>PowerPoint Presentation</vt:lpstr>
      <vt:lpstr>“Humanity’s last exam”</vt:lpstr>
      <vt:lpstr>PowerPoint Presentation</vt:lpstr>
      <vt:lpstr>PowerPoint Presentation</vt:lpstr>
      <vt:lpstr>PowerPoint Presentation</vt:lpstr>
      <vt:lpstr>PowerPoint Presentation</vt:lpstr>
      <vt:lpstr>Reminder</vt:lpstr>
      <vt:lpstr>Some models</vt:lpstr>
      <vt:lpstr>kNN regression (k = 30)</vt:lpstr>
      <vt:lpstr>Regression tree</vt:lpstr>
      <vt:lpstr>Regression tree</vt:lpstr>
      <vt:lpstr>The problem with trees</vt:lpstr>
      <vt:lpstr>Random forests</vt:lpstr>
      <vt:lpstr>Neural network</vt:lpstr>
      <vt:lpstr>What makes a neural net “deep”?</vt:lpstr>
      <vt:lpstr>Deep learning</vt:lpstr>
      <vt:lpstr>https://playground.tensorflow.org </vt:lpstr>
      <vt:lpstr>No free lunch</vt:lpstr>
      <vt:lpstr>Our housing example</vt:lpstr>
      <vt:lpstr>Tuning</vt:lpstr>
      <vt:lpstr>PowerPoint Presentation</vt:lpstr>
      <vt:lpstr>PowerPoint Presentation</vt:lpstr>
      <vt:lpstr>AutoML</vt:lpstr>
      <vt:lpstr>AutoML for our example using h2o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Oberski, D.L. (Daniel)</dc:creator>
  <cp:lastModifiedBy>Oberski, D.L. (Daniel)</cp:lastModifiedBy>
  <cp:revision>496</cp:revision>
  <dcterms:created xsi:type="dcterms:W3CDTF">2021-10-10T09:46:48Z</dcterms:created>
  <dcterms:modified xsi:type="dcterms:W3CDTF">2025-10-06T14:37:13Z</dcterms:modified>
</cp:coreProperties>
</file>