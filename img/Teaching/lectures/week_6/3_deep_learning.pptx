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9"/>
  </p:notesMasterIdLst>
  <p:sldIdLst>
    <p:sldId id="256" r:id="rId2"/>
    <p:sldId id="262" r:id="rId3"/>
    <p:sldId id="296" r:id="rId4"/>
    <p:sldId id="289" r:id="rId5"/>
    <p:sldId id="297" r:id="rId6"/>
    <p:sldId id="299" r:id="rId7"/>
    <p:sldId id="305" r:id="rId8"/>
    <p:sldId id="302" r:id="rId9"/>
    <p:sldId id="301" r:id="rId10"/>
    <p:sldId id="309" r:id="rId11"/>
    <p:sldId id="310" r:id="rId12"/>
    <p:sldId id="311" r:id="rId13"/>
    <p:sldId id="312" r:id="rId14"/>
    <p:sldId id="314" r:id="rId15"/>
    <p:sldId id="321" r:id="rId16"/>
    <p:sldId id="322" r:id="rId17"/>
    <p:sldId id="317" r:id="rId18"/>
    <p:sldId id="323" r:id="rId19"/>
    <p:sldId id="319" r:id="rId20"/>
    <p:sldId id="315" r:id="rId21"/>
    <p:sldId id="318" r:id="rId22"/>
    <p:sldId id="295" r:id="rId23"/>
    <p:sldId id="326" r:id="rId24"/>
    <p:sldId id="325" r:id="rId25"/>
    <p:sldId id="329" r:id="rId26"/>
    <p:sldId id="308" r:id="rId27"/>
    <p:sldId id="327" r:id="rId28"/>
    <p:sldId id="330" r:id="rId29"/>
    <p:sldId id="328" r:id="rId30"/>
    <p:sldId id="335" r:id="rId31"/>
    <p:sldId id="307" r:id="rId32"/>
    <p:sldId id="380" r:id="rId33"/>
    <p:sldId id="333" r:id="rId34"/>
    <p:sldId id="338" r:id="rId35"/>
    <p:sldId id="337" r:id="rId36"/>
    <p:sldId id="429" r:id="rId37"/>
    <p:sldId id="340" r:id="rId38"/>
    <p:sldId id="349" r:id="rId39"/>
    <p:sldId id="346" r:id="rId40"/>
    <p:sldId id="347" r:id="rId41"/>
    <p:sldId id="348" r:id="rId42"/>
    <p:sldId id="350" r:id="rId43"/>
    <p:sldId id="351" r:id="rId44"/>
    <p:sldId id="355" r:id="rId45"/>
    <p:sldId id="344" r:id="rId46"/>
    <p:sldId id="354" r:id="rId47"/>
    <p:sldId id="357" r:id="rId48"/>
    <p:sldId id="358" r:id="rId49"/>
    <p:sldId id="359" r:id="rId50"/>
    <p:sldId id="360" r:id="rId51"/>
    <p:sldId id="361" r:id="rId52"/>
    <p:sldId id="362" r:id="rId53"/>
    <p:sldId id="363" r:id="rId54"/>
    <p:sldId id="352" r:id="rId55"/>
    <p:sldId id="364" r:id="rId56"/>
    <p:sldId id="365" r:id="rId57"/>
    <p:sldId id="342" r:id="rId58"/>
    <p:sldId id="369" r:id="rId59"/>
    <p:sldId id="366" r:id="rId60"/>
    <p:sldId id="298" r:id="rId61"/>
    <p:sldId id="372" r:id="rId62"/>
    <p:sldId id="370" r:id="rId63"/>
    <p:sldId id="375" r:id="rId64"/>
    <p:sldId id="373" r:id="rId65"/>
    <p:sldId id="376" r:id="rId66"/>
    <p:sldId id="419" r:id="rId67"/>
    <p:sldId id="368" r:id="rId68"/>
  </p:sldIdLst>
  <p:sldSz cx="12192000" cy="6858000"/>
  <p:notesSz cx="6858000" cy="9144000"/>
  <p:embeddedFontLst>
    <p:embeddedFont>
      <p:font typeface="Cambria Math" panose="02040503050406030204" pitchFamily="18" charset="0"/>
      <p:regular r:id="rId70"/>
    </p:embeddedFont>
    <p:embeddedFont>
      <p:font typeface="Fira Code" pitchFamily="49" charset="0"/>
      <p:regular r:id="rId71"/>
      <p:bold r:id="rId72"/>
    </p:embeddedFont>
    <p:embeddedFont>
      <p:font typeface="Fira Sans" panose="020B0503050000020004" pitchFamily="34" charset="0"/>
      <p:regular r:id="rId73"/>
      <p:bold r:id="rId74"/>
      <p:italic r:id="rId75"/>
      <p:boldItalic r:id="rId76"/>
    </p:embeddedFont>
  </p:embeddedFontLst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3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/>
    <p:restoredTop sz="94733"/>
  </p:normalViewPr>
  <p:slideViewPr>
    <p:cSldViewPr snapToGrid="0">
      <p:cViewPr varScale="1">
        <p:scale>
          <a:sx n="104" d="100"/>
          <a:sy n="104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5.fntdata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3.fntdata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1.fntdata"/><Relationship Id="rId75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4.fntdata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71159DD-8E3A-4E5B-94F3-2C463B318E9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8D5743-FA1C-4EF1-8B15-D085DA8AD3B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D1603CA-E0EB-4C7E-9913-AEA36A117DC5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C623DF-71D1-4D56-B2ED-F09B7276F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EA282FE-243D-46E9-8DBD-2879346656D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5EAE9-8A66-41EC-815F-7973D056CFD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99639-55D3-485B-BD02-D8BB410FDDF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FD4072C2-61A7-4011-81A8-90D25028E4C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47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3540-B32D-46D3-8A00-AC8948711CE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69567-F111-47AE-872D-2CFF051B60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3C000-A2E4-4F21-BFDA-30B3CB211E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052EB6F-F01A-4C7F-8837-494AA6F5600D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3F97F-4B2A-4920-A849-387B61F5B92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C54A-FB31-44A8-8692-2F0A1070466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B9929F-084D-4E07-ACED-BED149780FD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42711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A80C4-B5E2-46DC-ADC0-D6C557EC958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68E1A-522F-4D6F-860D-C8047D74E38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7576-2994-42F5-AA45-C0D455651C2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41FCA5-6C9D-48F9-858C-EAF4952FFB00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9E8E3-CAFB-4C04-9B1A-AA7F6E36BB9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E07C4-0230-4131-AC81-D9A06668702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9C6A3C-F0DE-4587-B6A6-8E7EE78CBA8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9848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824A-05C5-4F78-BD21-1605B7FD72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C134A-D0E5-4A39-92B5-7734670FB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FCF32-2B36-4AA2-8E0D-4B25DE0DFE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9E7514-152E-4C65-9651-D19642D7E55C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9D001-46B6-498C-A127-096E8E36EE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CA5A3-958C-4DF8-BB35-1FE5BCC531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B6D386-3FA7-4CC8-B32B-C4D73DDCC5D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761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2DE1-CAB8-4ABA-8F3B-B0471A4962B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FEBA-FABD-4A22-99B7-F6732EBE2E7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36175-3FE7-49EF-A0DA-CDD1501475E3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76EE0-CF86-4E3E-B1AB-D880EE061BB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2B03DF-B078-440C-ABC1-115D1F362B78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7BDC1-4FF2-42AC-8F6D-DFD9310B333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64C9A-8708-4E6F-9E45-820BC2E98AE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AF393FD-3DF8-42A5-A8FA-A2BF771A37E3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239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4D1E-CDD8-40B0-8055-433F1CDFE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23DB5-474F-4F7F-86B8-462E7571A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7EADC-8ACC-47D1-A0CC-53E314C5013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2531E8-EB75-428F-ACAF-D019895796E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C596C-DE5E-4BA0-8BD9-E0555E4DB520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28B078-B553-4CC2-9691-9CA862EF476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948724-37EA-469B-8ACD-BD155539800E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111F6-7239-4273-A090-67FDD2D97E3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007E5-88A4-4C84-9A6B-BA27790EC03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4BEE48-1C25-40B6-AE13-9BE115420C0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66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775EA-C5BB-49E3-A7CB-3CDF5692E44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026EA4-C3DB-4EBB-9B75-37F28C227B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A18A16-F1AD-4500-8ABF-A49673BC476C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CD739B-620B-4FC7-8C7C-436452377E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C5685-31DB-4D15-A371-92CB77CB975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2D5E88-FC20-4906-A394-9A34973A1498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01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E9D22-4F00-4EE0-B7B0-422A8BD80F7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CB92B84-8FAE-43D9-8D8A-6E4BE2F733B6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52F5F-3A4D-49DA-9207-47165B44C0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782FC-5AF5-4376-A793-DFD8C88F0C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4ACD8D-4760-40C1-A03F-2AB959AC94D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02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5227-3650-4BE5-928E-B8F065EEA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82FD-96C7-458F-B658-355287FE77A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9504B-4CF0-4F23-9961-1B6EA9DA90E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F869E-68A4-4740-869B-FF45DFCCB34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27A4E3-BE7C-4F18-BDF9-48672C247F0A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A7771-215E-4C76-A2A8-2ED7AD2682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9D1387-4226-4FDF-91FF-F320AC9B9AD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465267D-83F7-4B9F-BBD4-9A4596A6A63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075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0ACC-BF7D-4F50-9C92-D7737697E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85E16-9FCC-4D42-89FD-B4B663DBF2A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52121-155B-4DAF-BBBD-B10A86F3DB4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2D9F2-865D-41A7-A136-E02DD60A9F6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E98F98-FAC1-4257-AE64-62F41D2CE614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EED4B-F2B8-44D8-A31B-C48F01E4F46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A8D40-9E49-44F7-8F5D-59740800C3B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48D8A2-74D8-442D-94C6-6912883BE7D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77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6F42-F256-4D34-85D3-0E65D07A19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C3520-607E-4D7D-8917-F602459E29D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D9E15-154B-4753-AD3D-2453AD9B1C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E92B8EF-51BF-451E-8853-3192661CB532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8E49F-2407-4872-BBE9-9F94721E39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9EE0-5C82-4BC2-B69D-DEED5FE44C5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78320DF-69DC-4D5D-BA7C-727CD9A1572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459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294B2-FD52-4021-968C-126C9430674B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C47CAD-1132-4AEF-A919-14BEF0CD207C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049A-0302-482F-91D1-C051B82991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4687C2-DC16-4038-9B1F-C825568F6269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A094E-A02F-4B22-AB90-9AB6592C0E7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AFEBE-D085-4598-AE2B-AA774741BA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F4BC80-48B4-4EAB-AAEB-9F4F8AD0735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4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10BCE-8C57-47C5-93D2-77A66D0D17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33111-9254-45A2-85C8-1D148F6658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23FE-8F58-4E7C-8ABA-EAFB89703381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BB18FF1D-8D7C-4B61-8FC7-67D805AFEAF6}" type="datetime1">
              <a:rPr lang="en-GB"/>
              <a:pPr lvl="0"/>
              <a:t>09/10/2025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AD92E-EB7F-4EDD-A8BA-6E41F7FA7EE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7734-5447-4810-ABF9-4AD0CF8E5A0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73C4C76D-D1C5-4B7E-B9C9-BC66F5CDE924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youtube.com/playlist?list=PLZHQObOWTQDNU6R1_67000Dx_ZCJB-3pi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hyperlink" Target="http://www.cns.nyu.edu/~david/courses/perception/lecturenotes/V1/lgn-V1.html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hyperlink" Target="https://keras.rstudio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13B44552-A843-48DB-A2FC-DB612E4C255A}"/>
              </a:ext>
            </a:extLst>
          </p:cNvPr>
          <p:cNvSpPr txBox="1"/>
          <p:nvPr/>
        </p:nvSpPr>
        <p:spPr>
          <a:xfrm>
            <a:off x="1258433" y="1680100"/>
            <a:ext cx="9675138" cy="92333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5400" b="1" i="0" u="none" strike="noStrike" kern="1200" cap="none" spc="0" baseline="0" dirty="0">
                <a:solidFill>
                  <a:srgbClr val="006388"/>
                </a:solidFill>
                <a:uFillTx/>
                <a:latin typeface="Fira Sans" pitchFamily="34"/>
                <a:ea typeface="Fira Code" pitchFamily="49"/>
              </a:rPr>
              <a:t>Deep learning</a:t>
            </a: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656CC4E4-9A51-46BA-BD9A-4E3DEED8411A}"/>
              </a:ext>
            </a:extLst>
          </p:cNvPr>
          <p:cNvSpPr txBox="1"/>
          <p:nvPr/>
        </p:nvSpPr>
        <p:spPr>
          <a:xfrm>
            <a:off x="1258433" y="5507239"/>
            <a:ext cx="7361779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2800" b="0" i="1" u="none" strike="noStrike" kern="1200" cap="none" spc="0" baseline="0" dirty="0">
                <a:solidFill>
                  <a:srgbClr val="7F7F7F"/>
                </a:solidFill>
                <a:uFillTx/>
                <a:latin typeface="Fira Sans" pitchFamily="34"/>
              </a:rPr>
              <a:t>Erik-Jan van Kesteren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0CD5E3-12D1-4ACB-9D69-C2553EC673BB}"/>
              </a:ext>
            </a:extLst>
          </p:cNvPr>
          <p:cNvSpPr txBox="1"/>
          <p:nvPr/>
        </p:nvSpPr>
        <p:spPr>
          <a:xfrm>
            <a:off x="1258433" y="2532412"/>
            <a:ext cx="9675138" cy="13255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rmAutofit fontScale="92500"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400" b="1" i="0" u="none" strike="noStrike" kern="0" cap="none" spc="0" baseline="0" dirty="0">
                <a:solidFill>
                  <a:srgbClr val="7F7F7F"/>
                </a:solidFill>
                <a:uFillTx/>
                <a:latin typeface="Fira Sans" pitchFamily="34"/>
                <a:ea typeface="Fira Code" pitchFamily="49"/>
              </a:rPr>
              <a:t>Feed-forward and convolutional neural networks for image recognition</a:t>
            </a:r>
            <a:endParaRPr lang="en-GB" sz="4400" b="0" i="0" u="none" strike="noStrike" kern="1200" cap="none" spc="0" baseline="0" dirty="0">
              <a:solidFill>
                <a:srgbClr val="7F7F7F"/>
              </a:solidFill>
              <a:uFillTx/>
              <a:latin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9C55-34D9-482F-BBFF-61B54E82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Supervised machine learning</a:t>
            </a:r>
            <a:endParaRPr lang="en-GB" b="1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D480-0341-4559-8FD9-6D53A7A87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GB" sz="3400" b="1" dirty="0"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3400" dirty="0">
                <a:latin typeface="Fira Sans" panose="020B0503050000020004" pitchFamily="34" charset="0"/>
                <a:ea typeface="Fira Sans" panose="020B0503050000020004" pitchFamily="34" charset="0"/>
              </a:rPr>
              <a:t>Regression (predicting continuous outcomes)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dirty="0">
                <a:latin typeface="Fira Sans" panose="020B0503050000020004" pitchFamily="34" charset="0"/>
                <a:ea typeface="Fira Sans" panose="020B0503050000020004" pitchFamily="34" charset="0"/>
              </a:rPr>
              <a:t>Model 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dirty="0">
                <a:latin typeface="Fira Sans" panose="020B0503050000020004" pitchFamily="34" charset="0"/>
                <a:ea typeface="Fira Sans" panose="020B0503050000020004" pitchFamily="34" charset="0"/>
              </a:rPr>
              <a:t>Classification (predicting discrete outcomes)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400" b="1" dirty="0">
                <a:latin typeface="Fira Sans" panose="020B0503050000020004" pitchFamily="34" charset="0"/>
                <a:ea typeface="Fira Sans" panose="020B0503050000020004" pitchFamily="34" charset="0"/>
              </a:rPr>
              <a:t>Deep learning</a:t>
            </a:r>
          </a:p>
          <a:p>
            <a:pPr marL="514350" indent="-514350">
              <a:buFont typeface="+mj-lt"/>
              <a:buAutoNum type="arabicPeriod"/>
            </a:pPr>
            <a:endParaRPr lang="en-GB" sz="3400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6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Today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Introduction to neural networks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Feed-forward &amp; deep neural networks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Estimation / optimization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Convolutional neural networks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Battling the curse of dimensionality</a:t>
            </a:r>
          </a:p>
          <a:p>
            <a:pPr lvl="0"/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22551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Introduction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Why should we learn this?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GB" sz="3200" b="1" dirty="0">
                <a:solidFill>
                  <a:srgbClr val="404040"/>
                </a:solidFill>
                <a:latin typeface="Fira Sans" pitchFamily="34"/>
              </a:rPr>
              <a:t>State-of-the-art performance on various tasks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Text prediction (your phone’s keyboard)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Text mining (at the end of this course!)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Forecasting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Object recognition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Sound recognition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Spam filtering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Image generation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Style transfer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Image denoising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Compression (dimension reduction)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…</a:t>
            </a:r>
          </a:p>
          <a:p>
            <a:pPr lvl="1"/>
            <a:endParaRPr lang="en-GB" sz="2800" dirty="0">
              <a:solidFill>
                <a:srgbClr val="404040"/>
              </a:solidFill>
              <a:latin typeface="Fira Sans" pitchFamily="34"/>
            </a:endParaRPr>
          </a:p>
          <a:p>
            <a:pPr lvl="1"/>
            <a:endParaRPr lang="en-GB" sz="28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16494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“Hello world” of neural networks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3709080" cy="4667243"/>
          </a:xfrm>
        </p:spPr>
        <p:txBody>
          <a:bodyPr>
            <a:normAutofit fontScale="92500"/>
          </a:bodyPr>
          <a:lstStyle/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MNIST </a:t>
            </a:r>
            <a:r>
              <a:rPr lang="en-GB" sz="3200" dirty="0">
                <a:solidFill>
                  <a:schemeClr val="bg2">
                    <a:lumMod val="75000"/>
                  </a:schemeClr>
                </a:solidFill>
                <a:latin typeface="Fira Sans" pitchFamily="34"/>
              </a:rPr>
              <a:t>(</a:t>
            </a:r>
            <a:r>
              <a:rPr lang="en-US" sz="3200" dirty="0">
                <a:solidFill>
                  <a:schemeClr val="bg2">
                    <a:lumMod val="75000"/>
                  </a:schemeClr>
                </a:solidFill>
                <a:latin typeface="Fira Sans" pitchFamily="34"/>
              </a:rPr>
              <a:t>Modified National Institute of Standards and Technology)</a:t>
            </a:r>
            <a:endParaRPr lang="en-GB" sz="3200" dirty="0">
              <a:solidFill>
                <a:schemeClr val="bg2">
                  <a:lumMod val="75000"/>
                </a:schemeClr>
              </a:solidFill>
              <a:latin typeface="Fira Sans" pitchFamily="34"/>
            </a:endParaRPr>
          </a:p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Handwritten digits</a:t>
            </a:r>
          </a:p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28 * 28 pixels</a:t>
            </a:r>
          </a:p>
          <a:p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60 000 training images and 10 000 testing images</a:t>
            </a: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CCE88512-6A87-4D7C-8620-6B91A7E83F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7283" y="1825627"/>
            <a:ext cx="6806514" cy="408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7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So what is a neural network?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24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Neural networks</a:t>
            </a:r>
            <a:endParaRPr lang="en-GB" sz="1800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</p:spPr>
            <p:txBody>
              <a:bodyPr/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GB" sz="3200" b="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Neural networks are a way to specify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You can display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graphically</a:t>
                </a:r>
              </a:p>
              <a:p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Let’s graphically represent linear regression!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  <a:blipFill>
                <a:blip r:embed="rId2"/>
                <a:stretch>
                  <a:fillRect l="-1327" t="-813" b="-47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8028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FEFF8C5D-CC31-4EE4-B1BC-8AB81F21E9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9358" y="1849576"/>
            <a:ext cx="7359616" cy="466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Linear regression as neural net</a:t>
            </a:r>
            <a:endParaRPr lang="en-GB" sz="1800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F5746-98B5-4C94-8D74-47A750EA6812}"/>
                  </a:ext>
                </a:extLst>
              </p:cNvPr>
              <p:cNvSpPr txBox="1"/>
              <p:nvPr/>
            </p:nvSpPr>
            <p:spPr>
              <a:xfrm>
                <a:off x="5211480" y="1849576"/>
                <a:ext cx="6096000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8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8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F5746-98B5-4C94-8D74-47A750EA6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480" y="1849576"/>
                <a:ext cx="6096000" cy="689676"/>
              </a:xfrm>
              <a:prstGeom prst="rect">
                <a:avLst/>
              </a:prstGeom>
              <a:blipFill>
                <a:blip r:embed="rId3"/>
                <a:stretch>
                  <a:fillRect t="-132143" b="-194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17EF15E-6B33-4859-8D31-1C11CFA4B98A}"/>
              </a:ext>
            </a:extLst>
          </p:cNvPr>
          <p:cNvSpPr txBox="1">
            <a:spLocks/>
          </p:cNvSpPr>
          <p:nvPr/>
        </p:nvSpPr>
        <p:spPr>
          <a:xfrm>
            <a:off x="838203" y="1825627"/>
            <a:ext cx="5500604" cy="4667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itchFamily="34"/>
              <a:buNone/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Graphical representation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Parameters are arrows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Arrows ending in a node are summed together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Intercept is not drawn</a:t>
            </a:r>
          </a:p>
          <a:p>
            <a:pPr marL="0" indent="0">
              <a:lnSpc>
                <a:spcPct val="100000"/>
              </a:lnSpc>
              <a:buNone/>
            </a:pP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6284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Linear regression as neural net</a:t>
            </a:r>
            <a:endParaRPr lang="en-GB" sz="1800" kern="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B4CB37-5B4F-4DE4-B4E3-FCA404A84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69358" y="1849576"/>
            <a:ext cx="7359616" cy="4667249"/>
          </a:xfr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F5746-98B5-4C94-8D74-47A750EA6812}"/>
                  </a:ext>
                </a:extLst>
              </p:cNvPr>
              <p:cNvSpPr txBox="1"/>
              <p:nvPr/>
            </p:nvSpPr>
            <p:spPr>
              <a:xfrm>
                <a:off x="5211480" y="1849576"/>
                <a:ext cx="6096000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8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1" i="1" smtClean="0">
                          <a:solidFill>
                            <a:srgbClr val="006388"/>
                          </a:solidFill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sz="18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GB" sz="18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rgbClr val="006388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8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FF5746-98B5-4C94-8D74-47A750EA6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480" y="1849576"/>
                <a:ext cx="6096000" cy="689676"/>
              </a:xfrm>
              <a:prstGeom prst="rect">
                <a:avLst/>
              </a:prstGeom>
              <a:blipFill>
                <a:blip r:embed="rId3"/>
                <a:stretch>
                  <a:fillRect t="-132143" b="-194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17EF15E-6B33-4859-8D31-1C11CFA4B98A}"/>
              </a:ext>
            </a:extLst>
          </p:cNvPr>
          <p:cNvSpPr txBox="1">
            <a:spLocks/>
          </p:cNvSpPr>
          <p:nvPr/>
        </p:nvSpPr>
        <p:spPr>
          <a:xfrm>
            <a:off x="838203" y="1825628"/>
            <a:ext cx="5500604" cy="4667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itchFamily="34"/>
              <a:buNone/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Neural network jargon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Parameter = </a:t>
            </a:r>
            <a:r>
              <a:rPr lang="en-GB" sz="3200" b="1" dirty="0">
                <a:solidFill>
                  <a:srgbClr val="006388"/>
                </a:solidFill>
                <a:latin typeface="Fira Sans" pitchFamily="34"/>
              </a:rPr>
              <a:t>weight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Intercept = </a:t>
            </a:r>
            <a:r>
              <a:rPr lang="en-GB" sz="3200" b="1" dirty="0">
                <a:solidFill>
                  <a:srgbClr val="006388"/>
                </a:solidFill>
                <a:latin typeface="Fira Sans" pitchFamily="34"/>
              </a:rPr>
              <a:t>bias</a:t>
            </a:r>
          </a:p>
          <a:p>
            <a:pPr marL="0" indent="0">
              <a:lnSpc>
                <a:spcPct val="100000"/>
              </a:lnSpc>
              <a:buNone/>
            </a:pP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223574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Single layer neural networks</a:t>
            </a:r>
            <a:endParaRPr lang="en-GB" sz="1800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r>
                        <m:rPr>
                          <m:sty m:val="p"/>
                        </m:rPr>
                        <a:rPr lang="en-GB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ϵ</m:t>
                      </m:r>
                    </m:oMath>
                  </m:oMathPara>
                </a14:m>
                <a:endParaRPr lang="en-GB" sz="3200" b="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Specify a layer with K </a:t>
                </a:r>
                <a:r>
                  <a:rPr lang="en-GB" sz="3200" i="1" dirty="0">
                    <a:solidFill>
                      <a:srgbClr val="404040"/>
                    </a:solidFill>
                    <a:latin typeface="Fira Sans" pitchFamily="34"/>
                  </a:rPr>
                  <a:t>hidden units</a:t>
                </a:r>
                <a:r>
                  <a:rPr lang="en-GB" sz="3200" b="1" i="1" dirty="0">
                    <a:solidFill>
                      <a:srgbClr val="404040"/>
                    </a:solidFill>
                    <a:latin typeface="Fira Sans" pitchFamily="34"/>
                  </a:rPr>
                  <a:t> </a:t>
                </a: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called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GB" sz="3200" i="1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:endParaRPr lang="en-GB" sz="3200" i="1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indent="0">
                  <a:buNone/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Where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  <a:blipFill>
                <a:blip r:embed="rId2"/>
                <a:stretch>
                  <a:fillRect l="-1568" t="-813" b="-50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631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Single layer neural networks</a:t>
            </a:r>
            <a:endParaRPr lang="en-GB" sz="1800" kern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2908D5-6B6F-41CE-AC3E-E116AC3BE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1428" y="1825625"/>
            <a:ext cx="4889143" cy="4351338"/>
          </a:xfrm>
        </p:spPr>
      </p:pic>
    </p:spTree>
    <p:extLst>
      <p:ext uri="{BB962C8B-B14F-4D97-AF65-F5344CB8AC3E}">
        <p14:creationId xmlns:p14="http://schemas.microsoft.com/office/powerpoint/2010/main" val="2037167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Single layer neural networks</a:t>
            </a:r>
            <a:endParaRPr lang="en-GB" sz="1800" kern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</p:spPr>
            <p:txBody>
              <a:bodyPr>
                <a:normAutofit/>
              </a:bodyPr>
              <a:lstStyle/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What about the function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40404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40404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?</a:t>
                </a: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This is called the </a:t>
                </a:r>
                <a:r>
                  <a:rPr lang="en-GB" sz="3200" b="1" dirty="0">
                    <a:solidFill>
                      <a:srgbClr val="006388"/>
                    </a:solidFill>
                    <a:latin typeface="Fira Sans" pitchFamily="34"/>
                  </a:rPr>
                  <a:t>activation function</a:t>
                </a:r>
                <a:endParaRPr lang="en-GB" sz="3200" dirty="0">
                  <a:solidFill>
                    <a:srgbClr val="006388"/>
                  </a:solidFill>
                  <a:latin typeface="Fira Sans" pitchFamily="34"/>
                </a:endParaRPr>
              </a:p>
              <a:p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A transformation of the linear combination of predictors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rgbClr val="40404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3200" b="0" i="1" smtClean="0">
                              <a:solidFill>
                                <a:srgbClr val="404040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solidFill>
                                    <a:srgbClr val="40404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200" b="0" i="1" smtClean="0">
                                      <a:solidFill>
                                        <a:srgbClr val="40404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indent="0">
                  <a:buNone/>
                </a:pPr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marL="0" indent="0">
                  <a:buNone/>
                </a:pPr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  <a:blipFill>
                <a:blip r:embed="rId2"/>
                <a:stretch>
                  <a:fillRect l="-1327" t="-2710" b="-20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385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picture containing red, bright, colorful, tiled&#10;&#10;Description automatically generated">
            <a:extLst>
              <a:ext uri="{FF2B5EF4-FFF2-40B4-BE49-F238E27FC236}">
                <a16:creationId xmlns:a16="http://schemas.microsoft.com/office/drawing/2014/main" id="{A594553A-72A6-444A-9005-83F12D23E38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96" y="4308783"/>
            <a:ext cx="4651589" cy="2325795"/>
          </a:xfrm>
          <a:prstGeom prst="rect">
            <a:avLst/>
          </a:prstGeom>
        </p:spPr>
      </p:pic>
      <p:pic>
        <p:nvPicPr>
          <p:cNvPr id="12" name="Picture 11" descr="Chart, line chart&#10;&#10;Description automatically generated">
            <a:extLst>
              <a:ext uri="{FF2B5EF4-FFF2-40B4-BE49-F238E27FC236}">
                <a16:creationId xmlns:a16="http://schemas.microsoft.com/office/drawing/2014/main" id="{2B1948BD-8D9E-472F-98C7-2385F6D34B1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2202" y="1690687"/>
            <a:ext cx="4651595" cy="2325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Activation functions</a:t>
            </a:r>
            <a:endParaRPr lang="en-GB" sz="1800" kern="0" dirty="0"/>
          </a:p>
        </p:txBody>
      </p:sp>
      <p:pic>
        <p:nvPicPr>
          <p:cNvPr id="7" name="Content Placeholder 6" descr="A black and white checkered background&#10;&#10;Description automatically generated with low confidence">
            <a:extLst>
              <a:ext uri="{FF2B5EF4-FFF2-40B4-BE49-F238E27FC236}">
                <a16:creationId xmlns:a16="http://schemas.microsoft.com/office/drawing/2014/main" id="{32849E59-5D85-4FC0-91C9-3A366A476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97" y="1690688"/>
            <a:ext cx="4651589" cy="232579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FBC714-83BF-4158-8C76-22A966F4F593}"/>
                  </a:ext>
                </a:extLst>
              </p:cNvPr>
              <p:cNvSpPr txBox="1"/>
              <p:nvPr/>
            </p:nvSpPr>
            <p:spPr>
              <a:xfrm>
                <a:off x="954438" y="1775693"/>
                <a:ext cx="1619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1" dirty="0"/>
                  <a:t>Linear: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NL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FBC714-83BF-4158-8C76-22A966F4F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438" y="1775693"/>
                <a:ext cx="1619867" cy="276999"/>
              </a:xfrm>
              <a:prstGeom prst="rect">
                <a:avLst/>
              </a:prstGeom>
              <a:blipFill>
                <a:blip r:embed="rId5"/>
                <a:stretch>
                  <a:fillRect l="-9057" t="-28261" r="-3396" b="-5000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E9BFDB-24D8-47CA-994A-FAB2D89E9E05}"/>
                  </a:ext>
                </a:extLst>
              </p:cNvPr>
              <p:cNvSpPr txBox="1"/>
              <p:nvPr/>
            </p:nvSpPr>
            <p:spPr>
              <a:xfrm>
                <a:off x="6841211" y="1775693"/>
                <a:ext cx="2170274" cy="400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1" dirty="0"/>
                  <a:t>Sigmoid: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sup>
                        </m:sSup>
                      </m:den>
                    </m:f>
                  </m:oMath>
                </a14:m>
                <a:endParaRPr lang="en-NL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6E9BFDB-24D8-47CA-994A-FAB2D89E9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1211" y="1775693"/>
                <a:ext cx="2170274" cy="400174"/>
              </a:xfrm>
              <a:prstGeom prst="rect">
                <a:avLst/>
              </a:prstGeom>
              <a:blipFill>
                <a:blip r:embed="rId6"/>
                <a:stretch>
                  <a:fillRect l="-6461" t="-3030" r="-562" b="-2121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AC54D4-3D03-46A8-8172-A4FA494D2B09}"/>
                  </a:ext>
                </a:extLst>
              </p:cNvPr>
              <p:cNvSpPr txBox="1"/>
              <p:nvPr/>
            </p:nvSpPr>
            <p:spPr>
              <a:xfrm>
                <a:off x="954438" y="4393788"/>
                <a:ext cx="24019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GB" b="1" dirty="0" err="1"/>
                  <a:t>ReLu</a:t>
                </a:r>
                <a:r>
                  <a:rPr lang="en-GB" b="1" dirty="0"/>
                  <a:t>: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𝒈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𝒎𝒂𝒙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NL" b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AC54D4-3D03-46A8-8172-A4FA494D2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438" y="4393788"/>
                <a:ext cx="2401940" cy="276999"/>
              </a:xfrm>
              <a:prstGeom prst="rect">
                <a:avLst/>
              </a:prstGeom>
              <a:blipFill>
                <a:blip r:embed="rId7"/>
                <a:stretch>
                  <a:fillRect l="-6091" t="-28889" r="-3807" b="-5111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CBEE3E9-63AD-458F-8D04-7A6B220A2961}"/>
              </a:ext>
            </a:extLst>
          </p:cNvPr>
          <p:cNvSpPr txBox="1">
            <a:spLocks/>
          </p:cNvSpPr>
          <p:nvPr/>
        </p:nvSpPr>
        <p:spPr>
          <a:xfrm>
            <a:off x="6702202" y="4308784"/>
            <a:ext cx="4651600" cy="232579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 fontScale="85000" lnSpcReduction="20000"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Rectified linear (</a:t>
            </a:r>
            <a:r>
              <a:rPr lang="en-GB" sz="3200" dirty="0" err="1">
                <a:solidFill>
                  <a:srgbClr val="404040"/>
                </a:solidFill>
                <a:latin typeface="Fira Sans" pitchFamily="34"/>
              </a:rPr>
              <a:t>ReLu</a:t>
            </a: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) is most popular nowadays</a:t>
            </a:r>
          </a:p>
          <a:p>
            <a:pPr>
              <a:lnSpc>
                <a:spcPct val="12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Nonlinearity necessary! Otherwise: collapse to linear regression</a:t>
            </a:r>
            <a:endParaRPr lang="ar-AE" sz="3200" dirty="0">
              <a:solidFill>
                <a:srgbClr val="404040"/>
              </a:solidFill>
              <a:latin typeface="Fira Sans" pitchFamily="34"/>
            </a:endParaRPr>
          </a:p>
          <a:p>
            <a:pPr marL="0" indent="0">
              <a:lnSpc>
                <a:spcPct val="120000"/>
              </a:lnSpc>
              <a:buFont typeface="Arial" pitchFamily="34"/>
              <a:buNone/>
            </a:pPr>
            <a:endParaRPr lang="ar-AE" sz="3200" dirty="0">
              <a:solidFill>
                <a:srgbClr val="404040"/>
              </a:solidFill>
              <a:latin typeface="Fira Sans" pitchFamily="34"/>
            </a:endParaRPr>
          </a:p>
          <a:p>
            <a:pPr marL="0" indent="0">
              <a:lnSpc>
                <a:spcPct val="120000"/>
              </a:lnSpc>
              <a:buFont typeface="Arial" pitchFamily="34"/>
              <a:buNone/>
            </a:pPr>
            <a:endParaRPr lang="ar-AE" sz="32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982073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Activation functions</a:t>
            </a:r>
            <a:endParaRPr lang="en-GB" sz="1800" kern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E053F-2873-4818-AF69-933CECFE7BBD}"/>
              </a:ext>
            </a:extLst>
          </p:cNvPr>
          <p:cNvSpPr txBox="1"/>
          <p:nvPr/>
        </p:nvSpPr>
        <p:spPr>
          <a:xfrm>
            <a:off x="838197" y="1690688"/>
            <a:ext cx="10515600" cy="4808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We can go wider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More hidden units -&gt; more transformations of input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Similar to basis functions, feature engineering</a:t>
            </a:r>
          </a:p>
          <a:p>
            <a:pPr>
              <a:lnSpc>
                <a:spcPct val="110000"/>
              </a:lnSpc>
            </a:pPr>
            <a:endParaRPr lang="en-GB" sz="2800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10000"/>
              </a:lnSpc>
            </a:pPr>
            <a:endParaRPr lang="en-GB" sz="2800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Universal function approximation theorem</a:t>
            </a:r>
          </a:p>
          <a:p>
            <a:pPr>
              <a:lnSpc>
                <a:spcPct val="110000"/>
              </a:lnSpc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Any “well-behaved” function can be represented by neural net of sufficient width with nonlinear activation function</a:t>
            </a:r>
          </a:p>
          <a:p>
            <a:pPr>
              <a:lnSpc>
                <a:spcPct val="110000"/>
              </a:lnSpc>
            </a:pPr>
            <a:endParaRPr lang="en-GB" sz="2800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10000"/>
              </a:lnSpc>
            </a:pPr>
            <a:r>
              <a:rPr lang="en-GB" sz="2800" dirty="0">
                <a:solidFill>
                  <a:schemeClr val="bg1">
                    <a:lumMod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(you may need an inconvenient number of hidden units!)</a:t>
            </a:r>
          </a:p>
        </p:txBody>
      </p:sp>
    </p:spTree>
    <p:extLst>
      <p:ext uri="{BB962C8B-B14F-4D97-AF65-F5344CB8AC3E}">
        <p14:creationId xmlns:p14="http://schemas.microsoft.com/office/powerpoint/2010/main" val="3333713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Single layer neural networks</a:t>
            </a:r>
            <a:endParaRPr lang="en-GB" sz="1800" kern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2908D5-6B6F-41CE-AC3E-E116AC3BE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51428" y="1825625"/>
            <a:ext cx="4889143" cy="4351338"/>
          </a:xfrm>
        </p:spPr>
      </p:pic>
    </p:spTree>
    <p:extLst>
      <p:ext uri="{BB962C8B-B14F-4D97-AF65-F5344CB8AC3E}">
        <p14:creationId xmlns:p14="http://schemas.microsoft.com/office/powerpoint/2010/main" val="2189194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Let’s take it further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0813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Feed-forward neural networks</a:t>
            </a:r>
            <a:endParaRPr lang="en-GB" sz="1800" kern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E053F-2873-4818-AF69-933CECFE7BBD}"/>
              </a:ext>
            </a:extLst>
          </p:cNvPr>
          <p:cNvSpPr txBox="1"/>
          <p:nvPr/>
        </p:nvSpPr>
        <p:spPr>
          <a:xfrm>
            <a:off x="838197" y="1690688"/>
            <a:ext cx="10515600" cy="4808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We can go deeper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More hidden layers after one another</a:t>
            </a:r>
          </a:p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Higher-order features composed of lower-order features</a:t>
            </a:r>
          </a:p>
          <a:p>
            <a:pPr>
              <a:lnSpc>
                <a:spcPct val="110000"/>
              </a:lnSpc>
            </a:pPr>
            <a:endParaRPr lang="en-GB" sz="2800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10000"/>
              </a:lnSpc>
            </a:pPr>
            <a:endParaRPr lang="en-GB" sz="2800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10000"/>
              </a:lnSpc>
            </a:pPr>
            <a:r>
              <a:rPr lang="en-GB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Universal function approximation theorem, version 2</a:t>
            </a:r>
          </a:p>
          <a:p>
            <a:pPr>
              <a:lnSpc>
                <a:spcPct val="110000"/>
              </a:lnSpc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Any “well-behaved” function can be represented by neural net of sufficient </a:t>
            </a:r>
            <a:r>
              <a:rPr lang="en-GB" sz="28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depth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 with nonlinear activation function</a:t>
            </a:r>
          </a:p>
          <a:p>
            <a:pPr>
              <a:lnSpc>
                <a:spcPct val="110000"/>
              </a:lnSpc>
            </a:pPr>
            <a:endParaRPr lang="en-GB" sz="2800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10000"/>
              </a:lnSpc>
            </a:pPr>
            <a:r>
              <a:rPr lang="en-GB" sz="2800" dirty="0">
                <a:solidFill>
                  <a:schemeClr val="bg1">
                    <a:lumMod val="7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(deep neural nets may be more tractable than wide)</a:t>
            </a:r>
          </a:p>
        </p:txBody>
      </p:sp>
    </p:spTree>
    <p:extLst>
      <p:ext uri="{BB962C8B-B14F-4D97-AF65-F5344CB8AC3E}">
        <p14:creationId xmlns:p14="http://schemas.microsoft.com/office/powerpoint/2010/main" val="2285541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Feed-forward neural networks</a:t>
            </a:r>
            <a:endParaRPr lang="en-GB" sz="1800" kern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7BFF40F-7343-4248-BD40-3279F6961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6706" y="1825625"/>
            <a:ext cx="4518587" cy="4351338"/>
          </a:xfrm>
        </p:spPr>
      </p:pic>
    </p:spTree>
    <p:extLst>
      <p:ext uri="{BB962C8B-B14F-4D97-AF65-F5344CB8AC3E}">
        <p14:creationId xmlns:p14="http://schemas.microsoft.com/office/powerpoint/2010/main" val="8961267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Feed-forward neural networks</a:t>
            </a:r>
            <a:endParaRPr lang="en-GB" sz="1800" kern="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92908D5-6B6F-41CE-AC3E-E116AC3BE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68281" y="1996106"/>
            <a:ext cx="4518588" cy="4351338"/>
          </a:xfr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89EEB5-32A7-4415-A3D7-D515E20ECFC3}"/>
              </a:ext>
            </a:extLst>
          </p:cNvPr>
          <p:cNvSpPr txBox="1">
            <a:spLocks/>
          </p:cNvSpPr>
          <p:nvPr/>
        </p:nvSpPr>
        <p:spPr>
          <a:xfrm>
            <a:off x="838203" y="1825628"/>
            <a:ext cx="5159641" cy="4667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228600" marR="0" lvl="0" indent="-22860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L="685800" marR="0" lvl="1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L="1143000" marR="0" lvl="2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2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L="1600200" marR="0" lvl="3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L="2057400" marR="0" lvl="4" indent="-228600" algn="l" defTabSz="914400" rtl="0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200" b="1" dirty="0">
                <a:solidFill>
                  <a:srgbClr val="404040"/>
                </a:solidFill>
                <a:latin typeface="Fira Sans" pitchFamily="34"/>
              </a:rPr>
              <a:t>Feed-forward network </a:t>
            </a:r>
            <a:r>
              <a:rPr lang="en-GB" sz="3200" b="1" dirty="0">
                <a:solidFill>
                  <a:srgbClr val="006388"/>
                </a:solidFill>
                <a:latin typeface="Fira Sans" pitchFamily="34"/>
              </a:rPr>
              <a:t>architecture</a:t>
            </a:r>
            <a:r>
              <a:rPr lang="en-GB" sz="3200" b="1" dirty="0">
                <a:solidFill>
                  <a:srgbClr val="404040"/>
                </a:solidFill>
                <a:latin typeface="Fira Sans" pitchFamily="34"/>
              </a:rPr>
              <a:t> defined by:</a:t>
            </a:r>
          </a:p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Number of layers</a:t>
            </a:r>
          </a:p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Number of hidden units in each layer</a:t>
            </a:r>
          </a:p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Activation function for each layer</a:t>
            </a:r>
          </a:p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Activation function for output layer</a:t>
            </a:r>
            <a:endParaRPr lang="ar-AE" sz="3200" dirty="0">
              <a:solidFill>
                <a:srgbClr val="404040"/>
              </a:solidFill>
              <a:latin typeface="Fira Sans" pitchFamily="34"/>
            </a:endParaRPr>
          </a:p>
          <a:p>
            <a:pPr marL="0" indent="0">
              <a:buFont typeface="Arial" pitchFamily="34"/>
              <a:buNone/>
            </a:pPr>
            <a:endParaRPr lang="ar-AE" sz="3200" dirty="0">
              <a:solidFill>
                <a:srgbClr val="404040"/>
              </a:solidFill>
              <a:latin typeface="Fira Sans" pitchFamily="34"/>
            </a:endParaRPr>
          </a:p>
          <a:p>
            <a:pPr marL="0" indent="0">
              <a:buFont typeface="Arial" pitchFamily="34"/>
              <a:buNone/>
            </a:pPr>
            <a:endParaRPr lang="ar-AE" sz="32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1863137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Prediction for MNIST</a:t>
            </a:r>
            <a:endParaRPr lang="en-GB" sz="1800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8FA7C-9847-4A01-AACD-A5BFD1053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7"/>
            <a:ext cx="5667211" cy="435133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>
                <a:latin typeface="Fira Sans" panose="020B0503050000020004" pitchFamily="34" charset="0"/>
                <a:ea typeface="Fira Sans" panose="020B0503050000020004" pitchFamily="34" charset="0"/>
              </a:rPr>
              <a:t>Each example has: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28*28 = 784 input features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Values between 0-255 (8 bit)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Usually normalized to be 0-1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1 = black, 0 = white, 0.5 = grey</a:t>
            </a:r>
          </a:p>
          <a:p>
            <a:pPr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10 outcome categories (0-9)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One-hot encoding for outcome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(cool way to say dummy coding)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1 = 0 1 0 0 0 0 0 0 0 0 </a:t>
            </a:r>
          </a:p>
          <a:p>
            <a:pPr lvl="1">
              <a:lnSpc>
                <a:spcPct val="100000"/>
              </a:lnSpc>
            </a:pPr>
            <a:r>
              <a:rPr lang="en-GB" dirty="0">
                <a:latin typeface="Fira Sans" panose="020B0503050000020004" pitchFamily="34" charset="0"/>
                <a:ea typeface="Fira Sans" panose="020B0503050000020004" pitchFamily="34" charset="0"/>
              </a:rPr>
              <a:t>5 = 0 0 0 0 0 1 0 0 0 0</a:t>
            </a:r>
          </a:p>
          <a:p>
            <a:pPr>
              <a:lnSpc>
                <a:spcPct val="100000"/>
              </a:lnSpc>
            </a:pPr>
            <a:endParaRPr lang="en-GB" dirty="0"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 lvl="1">
              <a:lnSpc>
                <a:spcPct val="100000"/>
              </a:lnSpc>
            </a:pPr>
            <a:endParaRPr lang="en-GB" dirty="0"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00000"/>
              </a:lnSpc>
            </a:pPr>
            <a:endParaRPr lang="en-GB" dirty="0"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00000"/>
              </a:lnSpc>
            </a:pPr>
            <a:endParaRPr lang="en-NL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6" name="Picture 5" descr="Text, letter&#10;&#10;Description automatically generated">
            <a:extLst>
              <a:ext uri="{FF2B5EF4-FFF2-40B4-BE49-F238E27FC236}">
                <a16:creationId xmlns:a16="http://schemas.microsoft.com/office/drawing/2014/main" id="{95FCE4F9-D1FA-401C-A706-D2FC950FAE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636"/>
          <a:stretch/>
        </p:blipFill>
        <p:spPr>
          <a:xfrm>
            <a:off x="6292311" y="1825627"/>
            <a:ext cx="5061485" cy="408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71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Keras</a:t>
            </a: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!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library(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keras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</a:t>
            </a:r>
            <a:endParaRPr lang="en-GB" sz="2400" dirty="0">
              <a:solidFill>
                <a:srgbClr val="767171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endParaRPr lang="en-GB" sz="2400" dirty="0">
              <a:solidFill>
                <a:srgbClr val="767171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model_dff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&lt;-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keras_model_sequential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()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layer_flatten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input_shape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= c(28, 28))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layer_dense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(units = 256, activation = "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relu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")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layer_dense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(units = 128, activation = "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relu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")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layer_dense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(10, activation = "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softmax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 err="1">
                <a:solidFill>
                  <a:srgbClr val="006388"/>
                </a:solidFill>
                <a:latin typeface="Fira Sans" pitchFamily="34"/>
                <a:ea typeface="Fira Code" pitchFamily="49"/>
              </a:rPr>
              <a:t>Keras</a:t>
            </a: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!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summary(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model_dff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</a:t>
            </a:r>
            <a:endParaRPr lang="en-US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 (type)                          Output Shape                       Param #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======================================================================================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flatten (Flatten)                     (None, 784)                        0     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dense_1 (Dense)                       (None, 256)                        200960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dense_2 (Dense)                       (None, 128)                        32896 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dense_3 (Dense)                       (None, 10)                         1290  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======================================================================================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Total params: 235,146</a:t>
            </a:r>
          </a:p>
          <a:p>
            <a:pPr marL="0" lvl="0" indent="0">
              <a:buNone/>
            </a:pPr>
            <a:r>
              <a:rPr lang="fr-FR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Trainable</a:t>
            </a: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params: 235,146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Non-</a:t>
            </a:r>
            <a:r>
              <a:rPr lang="fr-FR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trainable</a:t>
            </a: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params: 0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  <a:endParaRPr lang="en-GB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291332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/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How to estimate parameters?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378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Estimating parameters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We need some way to measure how well the network does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Parameters that make the network perform well are good!</a:t>
                </a:r>
              </a:p>
              <a:p>
                <a:pPr>
                  <a:lnSpc>
                    <a:spcPct val="100000"/>
                  </a:lnSpc>
                </a:pPr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Remember ML estimation: finding</a:t>
                </a:r>
                <a:r>
                  <a:rPr lang="en-GB" dirty="0">
                    <a:ea typeface="Fira Sans" panose="020B05030500000200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dirty="0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acc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 maximizing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𝑝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𝑦</m:t>
                        </m:r>
                      </m:e>
                      <m:e>
                        <m:acc>
                          <m:accPr>
                            <m:chr m:val="̂"/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Remember OLS estimation: finding</a:t>
                </a:r>
                <a:r>
                  <a:rPr lang="en-GB" dirty="0">
                    <a:ea typeface="Fira Sans" panose="020B05030500000200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b="0" i="1" dirty="0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acc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 minimizing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∑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  <m:t>𝑦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  <m:t> 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  <m:t>𝑋</m:t>
                            </m:r>
                            <m:acc>
                              <m:accPr>
                                <m:chr m:val="̂"/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  <m:t>𝛽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 </m:t>
                    </m:r>
                  </m:oMath>
                </a14:m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Same for neural nets: we minimize some loss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𝐿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𝜃</m:t>
                        </m:r>
                      </m:e>
                    </m:d>
                  </m:oMath>
                </a14:m>
                <a:endParaRPr lang="en-NL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8692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Loss function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For continuous outcomes you can use squared error</a:t>
                </a:r>
                <a:b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</a:br>
                <a:r>
                  <a:rPr lang="en-GB" dirty="0">
                    <a:solidFill>
                      <a:schemeClr val="bg1">
                        <a:lumMod val="75000"/>
                      </a:schemeClr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(same as linear regression!)</a:t>
                </a:r>
                <a:endParaRPr lang="en-GB" i="1" dirty="0">
                  <a:solidFill>
                    <a:schemeClr val="bg1">
                      <a:lumMod val="75000"/>
                    </a:schemeClr>
                  </a:solidFill>
                  <a:latin typeface="Cambria Math" panose="02040503050406030204" pitchFamily="18" charset="0"/>
                  <a:ea typeface="Fira Sans" panose="020B0503050000020004" pitchFamily="34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𝐿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𝜃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Fira Sans" panose="020B05030500000200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Fira Sans" panose="020B0503050000020004" pitchFamily="34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Fira Sans" panose="020B05030500000200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  <m:t>;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  <m:t>𝜃</m:t>
                                </m:r>
                              </m:e>
                            </m:d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Fira Sans" panose="020B0503050000020004" pitchFamily="34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Fira Sans" panose="020B0503050000020004" pitchFamily="34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For binary outcomes you can use binary cross-entropy</a:t>
                </a:r>
                <a:b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</a:br>
                <a:r>
                  <a:rPr lang="en-GB" dirty="0">
                    <a:solidFill>
                      <a:schemeClr val="bg1">
                        <a:lumMod val="75000"/>
                      </a:schemeClr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(same as logistic regression!)</a:t>
                </a:r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𝐿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=−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b="0" i="1" smtClean="0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GB" b="0" i="1" smtClean="0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  <m:t>;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GB" i="1"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GB" i="1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GB" i="1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GB" i="1">
                                              <a:latin typeface="Cambria Math" panose="02040503050406030204" pitchFamily="18" charset="0"/>
                                              <a:ea typeface="Fira Sans" panose="020B0503050000020004" pitchFamily="34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  <m:t>;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Fira Sans" panose="020B0503050000020004" pitchFamily="34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endParaRPr lang="en-NL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143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Loss function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What do the parameters need to be in order to minimize loss?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We don’t know this!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But we might know the </a:t>
                </a:r>
                <a:r>
                  <a:rPr lang="en-GB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direction</a:t>
                </a: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 in which we need to move to increase the loss</a:t>
                </a:r>
              </a:p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This direction is called the </a:t>
                </a:r>
                <a:r>
                  <a:rPr lang="en-GB" b="1" dirty="0">
                    <a:solidFill>
                      <a:srgbClr val="006388"/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gradient </a:t>
                </a:r>
                <a:r>
                  <a:rPr lang="en-GB" dirty="0">
                    <a:solidFill>
                      <a:schemeClr val="bg1">
                        <a:lumMod val="75000"/>
                      </a:schemeClr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(of loss w.r.t parameters)</a:t>
                </a:r>
                <a:r>
                  <a:rPr lang="en-GB" b="1" dirty="0">
                    <a:solidFill>
                      <a:srgbClr val="006388"/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𝑔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∇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𝜕</m:t>
                          </m:r>
                          <m:r>
                            <a:rPr lang="en-GB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den>
                      </m:f>
                      <m:r>
                        <a:rPr lang="en-GB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𝐿</m:t>
                      </m:r>
                      <m:d>
                        <m:dPr>
                          <m:ctrlPr>
                            <a:rPr lang="en-GB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GB" dirty="0">
                  <a:solidFill>
                    <a:srgbClr val="006388"/>
                  </a:solidFill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>
                  <a:lnSpc>
                    <a:spcPct val="100000"/>
                  </a:lnSpc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(Looks scary, but it’s just a number for each parameter)</a:t>
                </a:r>
              </a:p>
              <a:p>
                <a:pPr>
                  <a:lnSpc>
                    <a:spcPct val="100000"/>
                  </a:lnSpc>
                </a:pPr>
                <a:endParaRPr lang="en-NL" dirty="0"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401" r="-52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0938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Gradient descent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3" y="1800914"/>
                <a:ext cx="10270521" cy="435133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b="1" dirty="0">
                    <a:solidFill>
                      <a:srgbClr val="006388"/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Iteration</a:t>
                </a:r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: step of size 𝜆 in the direction of the negative gradient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GB" sz="32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  <a:ea typeface="Fira Sans" panose="020B0503050000020004" pitchFamily="34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e>
                        <m:sup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𝑗</m:t>
                              </m:r>
                              <m: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sSupPr>
                        <m:e>
                          <m: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  <m:t>𝜃</m:t>
                          </m:r>
                        </m:e>
                        <m:sup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−</m:t>
                      </m:r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𝜆</m:t>
                      </m:r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⋅</m:t>
                      </m:r>
                      <m:r>
                        <a:rPr lang="en-GB" sz="3200" b="0" i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  <a:ea typeface="Fira Sans" panose="020B0503050000020004" pitchFamily="34" charset="0"/>
                        </a:rPr>
                        <m:t>𝑔</m:t>
                      </m:r>
                      <m:d>
                        <m:dPr>
                          <m:ctrlPr>
                            <a:rPr lang="en-GB" sz="3200" b="0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Fira Sans" panose="020B05030500000200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</m:ctrlPr>
                            </m:sSupPr>
                            <m:e>
                              <m:r>
                                <a:rPr lang="en-GB" sz="3200" b="0" i="1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Fira Sans" panose="020B0503050000020004" pitchFamily="34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32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3200" b="0" i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Fira Sans" panose="020B0503050000020004" pitchFamily="34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sz="32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endParaRPr lang="en-GB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GB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Fira Sans" panose="020B0503050000020004" pitchFamily="34" charset="0"/>
                    <a:ea typeface="Fira Sans" panose="020B0503050000020004" pitchFamily="34" charset="0"/>
                  </a:rPr>
                  <a:t>Let’s try it out with a simple example!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𝐿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𝜃</m:t>
                        </m:r>
                      </m:e>
                    </m:d>
                    <m:r>
                      <a:rPr lang="en-US" b="0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−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+0.25</m:t>
                    </m:r>
                  </m:oMath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𝑔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dPr>
                      <m:e>
                        <m:r>
                          <a:rPr lang="en-GB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=2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−1</m:t>
                    </m:r>
                  </m:oMath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𝜆</m:t>
                    </m:r>
                    <m:r>
                      <a:rPr lang="en-US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=0.25</m:t>
                    </m:r>
                  </m:oMath>
                </a14:m>
                <a:endParaRPr lang="en-US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Fira Sans" panose="020B0503050000020004" pitchFamily="34" charset="0"/>
                  <a:ea typeface="Fira Sans" panose="020B0503050000020004" pitchFamily="34" charset="0"/>
                </a:endParaRP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GB" dirty="0">
                    <a:latin typeface="Fira Sans" panose="020B0503050000020004" pitchFamily="34" charset="0"/>
                    <a:ea typeface="Fira Sans" panose="020B05030500000200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A6D7164-BE9A-41E3-B469-2866919B4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00914"/>
                <a:ext cx="10270521" cy="4351336"/>
              </a:xfrm>
              <a:blipFill>
                <a:blip r:embed="rId2"/>
                <a:stretch>
                  <a:fillRect l="-1069" t="-23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8794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diagram&#10;&#10;Description automatically generated">
            <a:extLst>
              <a:ext uri="{FF2B5EF4-FFF2-40B4-BE49-F238E27FC236}">
                <a16:creationId xmlns:a16="http://schemas.microsoft.com/office/drawing/2014/main" id="{A3305ABD-F7E6-4C82-AAC2-A10442704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843" y="277158"/>
            <a:ext cx="10806313" cy="6303683"/>
          </a:xfrm>
        </p:spPr>
      </p:pic>
    </p:spTree>
    <p:extLst>
      <p:ext uri="{BB962C8B-B14F-4D97-AF65-F5344CB8AC3E}">
        <p14:creationId xmlns:p14="http://schemas.microsoft.com/office/powerpoint/2010/main" val="40578549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Stochastic gradient descent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Instead of computing the gradients </a:t>
            </a:r>
            <a:r>
              <a:rPr lang="en-US" sz="3200" dirty="0" err="1">
                <a:solidFill>
                  <a:srgbClr val="404040"/>
                </a:solidFill>
                <a:latin typeface="Fira Sans" pitchFamily="34"/>
              </a:rPr>
              <a:t>w.r.t.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the entire loss function, only use a random </a:t>
            </a:r>
            <a:r>
              <a:rPr lang="en-US" sz="3200" b="1" dirty="0">
                <a:solidFill>
                  <a:srgbClr val="006388"/>
                </a:solidFill>
                <a:latin typeface="Fira Sans" pitchFamily="34"/>
              </a:rPr>
              <a:t>batch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of data</a:t>
            </a: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Take a step after each batch (e.g., 32 rows)</a:t>
            </a: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If batch size = 1, take a step after each example </a:t>
            </a: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Common batch sizes: 32, 64, 128, 256, 512</a:t>
            </a: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One look at the full data = 1 </a:t>
            </a:r>
            <a:r>
              <a:rPr lang="en-US" sz="3200" b="1" dirty="0">
                <a:solidFill>
                  <a:srgbClr val="006388"/>
                </a:solidFill>
                <a:latin typeface="Fira Sans" pitchFamily="34"/>
              </a:rPr>
              <a:t>epoch</a:t>
            </a:r>
          </a:p>
          <a:p>
            <a:pPr lvl="0">
              <a:lnSpc>
                <a:spcPct val="120000"/>
              </a:lnSpc>
            </a:pP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755450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Gradient computation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But in neural networks, how do we compute gradients? </a:t>
            </a: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We have functions of functions!</a:t>
            </a: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Software like </a:t>
            </a:r>
            <a:r>
              <a:rPr lang="en-US" sz="3200" dirty="0" err="1">
                <a:solidFill>
                  <a:srgbClr val="404040"/>
                </a:solidFill>
                <a:latin typeface="Fira Sans" pitchFamily="34"/>
              </a:rPr>
              <a:t>tensorflow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/ </a:t>
            </a:r>
            <a:r>
              <a:rPr lang="en-US" sz="3200" dirty="0" err="1">
                <a:solidFill>
                  <a:srgbClr val="404040"/>
                </a:solidFill>
                <a:latin typeface="Fira Sans" pitchFamily="34"/>
              </a:rPr>
              <a:t>Keras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 / torch does this for you!</a:t>
            </a:r>
          </a:p>
          <a:p>
            <a:pPr lvl="0">
              <a:lnSpc>
                <a:spcPct val="120000"/>
              </a:lnSpc>
            </a:pPr>
            <a:r>
              <a:rPr lang="en-US" sz="3200" b="1" dirty="0">
                <a:solidFill>
                  <a:srgbClr val="006388"/>
                </a:solidFill>
                <a:latin typeface="Fira Sans" pitchFamily="34"/>
              </a:rPr>
              <a:t>Backpropagation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: smart repeated use of the </a:t>
            </a:r>
            <a:r>
              <a:rPr lang="en-US" sz="3200" i="1" dirty="0">
                <a:solidFill>
                  <a:srgbClr val="404040"/>
                </a:solidFill>
                <a:latin typeface="Fira Sans" pitchFamily="34"/>
              </a:rPr>
              <a:t>chain rule </a:t>
            </a: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to compute derivatives</a:t>
            </a:r>
          </a:p>
          <a:p>
            <a:pPr lvl="0">
              <a:lnSpc>
                <a:spcPct val="120000"/>
              </a:lnSpc>
            </a:pPr>
            <a:endParaRPr lang="en-US" sz="3200" dirty="0">
              <a:solidFill>
                <a:srgbClr val="404040"/>
              </a:solidFill>
              <a:latin typeface="Fira Sans" pitchFamily="34"/>
            </a:endParaRPr>
          </a:p>
          <a:p>
            <a:pPr lvl="0">
              <a:lnSpc>
                <a:spcPct val="120000"/>
              </a:lnSpc>
            </a:pPr>
            <a:endParaRPr lang="en-US" sz="3200" dirty="0">
              <a:solidFill>
                <a:srgbClr val="404040"/>
              </a:solidFill>
              <a:latin typeface="Fira Sans" pitchFamily="34"/>
            </a:endParaRPr>
          </a:p>
          <a:p>
            <a:pPr lvl="0">
              <a:lnSpc>
                <a:spcPct val="120000"/>
              </a:lnSpc>
            </a:pPr>
            <a:endParaRPr lang="en-US" sz="3200" dirty="0">
              <a:solidFill>
                <a:srgbClr val="404040"/>
              </a:solidFill>
              <a:latin typeface="Fira Sans" pitchFamily="34"/>
            </a:endParaRPr>
          </a:p>
          <a:p>
            <a:pPr lvl="0">
              <a:lnSpc>
                <a:spcPct val="120000"/>
              </a:lnSpc>
            </a:pPr>
            <a:r>
              <a:rPr lang="en-US" sz="3200" dirty="0">
                <a:solidFill>
                  <a:srgbClr val="404040"/>
                </a:solidFill>
                <a:latin typeface="Fira Sans" pitchFamily="34"/>
              </a:rPr>
              <a:t>Software also implements gradient descent (and friends)</a:t>
            </a:r>
          </a:p>
          <a:p>
            <a:pPr lvl="0">
              <a:lnSpc>
                <a:spcPct val="120000"/>
              </a:lnSpc>
            </a:pP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102968D-68B0-4360-9587-E5E7F4765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0983" y="4248319"/>
            <a:ext cx="2390033" cy="90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40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8AFE-A6D1-63B6-80EE-6CF60DEB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Fira Sans" panose="020B0503050000020004" pitchFamily="34" charset="0"/>
                <a:ea typeface="Fira Sans" panose="020B0503050000020004" pitchFamily="34" charset="0"/>
              </a:rPr>
              <a:t>Nice visual 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95BDC-F89A-19B5-6D58-A19421C94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https://www.youtube.com/playlist?list=PLZHQObOWTQDNU6R1_67000Dx_ZCJB-3pi</a:t>
            </a:r>
            <a:r>
              <a:rPr lang="en-US">
                <a:latin typeface="Fira Code" panose="020B0809050000020004" pitchFamily="49" charset="0"/>
                <a:ea typeface="Fira Code" panose="020B0809050000020004" pitchFamily="49" charset="0"/>
              </a:rPr>
              <a:t>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84F72-C8E2-D4F1-C681-29CB9CB43F4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197" y="3535619"/>
            <a:ext cx="7772400" cy="163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24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iagram&#10;&#10;Description automatically generated">
            <a:extLst>
              <a:ext uri="{FF2B5EF4-FFF2-40B4-BE49-F238E27FC236}">
                <a16:creationId xmlns:a16="http://schemas.microsoft.com/office/drawing/2014/main" id="{09EA8E67-8222-4A10-A804-727D18B06AF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086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Programming pattern: training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47334"/>
            <a:ext cx="10515600" cy="4645535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model_dff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compile(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loss = "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sparse_categorical_crossentropy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",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optimizer = "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adam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) </a:t>
            </a:r>
          </a:p>
          <a:p>
            <a:pPr marL="0" lvl="0" indent="0">
              <a:buNone/>
            </a:pPr>
            <a:endParaRPr lang="en-GB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model_dff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%&gt;% 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fit(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x = X,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y = y,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batch_size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= 32,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epochs = 10</a:t>
            </a:r>
          </a:p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)</a:t>
            </a:r>
          </a:p>
        </p:txBody>
      </p:sp>
    </p:spTree>
    <p:extLst>
      <p:ext uri="{BB962C8B-B14F-4D97-AF65-F5344CB8AC3E}">
        <p14:creationId xmlns:p14="http://schemas.microsoft.com/office/powerpoint/2010/main" val="2013486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Conclusion: training</a:t>
            </a:r>
            <a:endParaRPr lang="en-GB" sz="1800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</p:spPr>
            <p:txBody>
              <a:bodyPr>
                <a:normAutofit/>
              </a:bodyPr>
              <a:lstStyle/>
              <a:p>
                <a:pPr lvl="0">
                  <a:lnSpc>
                    <a:spcPct val="100000"/>
                  </a:lnSpc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We need a loss function (e.g., squared error)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We need gradients (how to change </a:t>
                </a:r>
                <a14:m>
                  <m:oMath xmlns:m="http://schemas.openxmlformats.org/officeDocument/2006/math">
                    <m:r>
                      <a:rPr lang="en-GB" sz="32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𝜃</m:t>
                    </m:r>
                  </m:oMath>
                </a14:m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 to reduce</a:t>
                </a:r>
                <a:r>
                  <a:rPr lang="en-GB" sz="3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Fira Sans" panose="020B05030500000200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32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Fira Sans" panose="020B0503050000020004" pitchFamily="34" charset="0"/>
                      </a:rPr>
                      <m:t>𝐿</m:t>
                    </m:r>
                    <m:d>
                      <m:dPr>
                        <m:ctrlPr>
                          <a:rPr lang="en-GB" sz="32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</m:ctrlPr>
                      </m:dPr>
                      <m:e>
                        <m:r>
                          <a:rPr lang="en-GB" sz="32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ea typeface="Fira Sans" panose="020B0503050000020004" pitchFamily="34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)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Gradient descent: take steps in direction of -gradient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Stochastic GD: do this with data batches</a:t>
                </a:r>
              </a:p>
              <a:p>
                <a:pPr lvl="0">
                  <a:lnSpc>
                    <a:spcPct val="100000"/>
                  </a:lnSpc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Software handles all of this (</a:t>
                </a:r>
                <a:r>
                  <a:rPr lang="en-GB" sz="3200" b="1" dirty="0">
                    <a:solidFill>
                      <a:srgbClr val="404040"/>
                    </a:solidFill>
                    <a:latin typeface="Fira Sans" pitchFamily="34"/>
                  </a:rPr>
                  <a:t>black box!!</a:t>
                </a: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)</a:t>
                </a:r>
              </a:p>
              <a:p>
                <a:pPr lvl="0">
                  <a:lnSpc>
                    <a:spcPct val="100000"/>
                  </a:lnSpc>
                </a:pPr>
                <a:endParaRPr lang="en-GB" sz="3200" dirty="0">
                  <a:solidFill>
                    <a:srgbClr val="404040"/>
                  </a:solidFill>
                  <a:latin typeface="Fira Sans" pitchFamily="34"/>
                </a:endParaRPr>
              </a:p>
              <a:p>
                <a:pPr lvl="0">
                  <a:lnSpc>
                    <a:spcPct val="100000"/>
                  </a:lnSpc>
                </a:pPr>
                <a:r>
                  <a:rPr lang="en-GB" sz="3200" dirty="0">
                    <a:solidFill>
                      <a:srgbClr val="404040"/>
                    </a:solidFill>
                    <a:latin typeface="Fira Sans" pitchFamily="34"/>
                  </a:rPr>
                  <a:t>Advantage: we can focus on the </a:t>
                </a:r>
                <a:r>
                  <a:rPr lang="en-GB" sz="3200" b="1" dirty="0">
                    <a:solidFill>
                      <a:srgbClr val="006388"/>
                    </a:solidFill>
                    <a:latin typeface="Fira Sans" pitchFamily="34"/>
                  </a:rPr>
                  <a:t>architecture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1F9E2-0CED-4424-B61F-ED70164FA7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3" y="1825627"/>
                <a:ext cx="10515600" cy="4667243"/>
              </a:xfrm>
              <a:blipFill>
                <a:blip r:embed="rId2"/>
                <a:stretch>
                  <a:fillRect l="-1333" t="-169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72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A9EE9-927D-3A48-9119-32E4507E8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ira Sans" panose="020B0503050000020004" pitchFamily="34" charset="0"/>
                <a:ea typeface="Fira Sans" panose="020B0503050000020004" pitchFamily="34" charset="0"/>
              </a:rPr>
              <a:t>Different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8FFC7-C377-0546-9F2D-5D6BD333A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5059" cy="4351338"/>
          </a:xfrm>
        </p:spPr>
        <p:txBody>
          <a:bodyPr/>
          <a:lstStyle/>
          <a:p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</a:rPr>
              <a:t>By adjusting the arrows, layers, and activation functions, you can create models that are tailored to specific data, e.g. </a:t>
            </a:r>
          </a:p>
          <a:p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</a:rPr>
              <a:t>Convolutional (CNN): images, text, sound</a:t>
            </a:r>
          </a:p>
          <a:p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</a:rPr>
              <a:t>Recurrent (RNN): time series, text</a:t>
            </a:r>
          </a:p>
          <a:p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</a:rPr>
              <a:t>Graph (GNN): networks</a:t>
            </a:r>
          </a:p>
          <a:p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</a:rPr>
              <a:t>…</a:t>
            </a:r>
          </a:p>
        </p:txBody>
      </p:sp>
      <p:pic>
        <p:nvPicPr>
          <p:cNvPr id="8194" name="Picture 2" descr="Concise Visual Summary of Deep Learning Architectures - Data Science Central">
            <a:extLst>
              <a:ext uri="{FF2B5EF4-FFF2-40B4-BE49-F238E27FC236}">
                <a16:creationId xmlns:a16="http://schemas.microsoft.com/office/drawing/2014/main" id="{BBA01400-EA8A-3445-9B0D-18D657EBF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78750" y="1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40495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Image processing with convolutional neural networks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161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is a convolution</a:t>
            </a:r>
            <a:endParaRPr lang="en-GB" sz="1800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4DFCD-58F4-4B07-B0A6-C8EDB8DC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Convolution is applying a </a:t>
            </a:r>
            <a:r>
              <a:rPr lang="en-GB" b="1" dirty="0">
                <a:solidFill>
                  <a:srgbClr val="006388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kernel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 (</a:t>
            </a:r>
            <a:r>
              <a:rPr lang="en-GB" dirty="0">
                <a:solidFill>
                  <a:srgbClr val="006388"/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filter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) over an image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Filter defines which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feature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 is important in the image</a:t>
            </a:r>
          </a:p>
          <a:p>
            <a:endParaRPr lang="en-NL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3" name="Content Placeholder 8" descr="Shape&#10;&#10;Description automatically generated">
            <a:extLst>
              <a:ext uri="{FF2B5EF4-FFF2-40B4-BE49-F238E27FC236}">
                <a16:creationId xmlns:a16="http://schemas.microsoft.com/office/drawing/2014/main" id="{FB1C9EBD-EDBA-89A8-6ED1-35FD9A3C183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9161" y="3000376"/>
            <a:ext cx="3393678" cy="38576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E5FB62-06C0-32F5-255C-A0ECAF8F3CA5}"/>
              </a:ext>
            </a:extLst>
          </p:cNvPr>
          <p:cNvSpPr txBox="1"/>
          <p:nvPr/>
        </p:nvSpPr>
        <p:spPr>
          <a:xfrm>
            <a:off x="6685005" y="6421664"/>
            <a:ext cx="5377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NL" sz="1600" dirty="0">
                <a:solidFill>
                  <a:schemeClr val="bg2">
                    <a:lumMod val="50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https://github.com/vdumoulin/conv_arithmetic</a:t>
            </a:r>
          </a:p>
        </p:txBody>
      </p:sp>
    </p:spTree>
    <p:extLst>
      <p:ext uri="{BB962C8B-B14F-4D97-AF65-F5344CB8AC3E}">
        <p14:creationId xmlns:p14="http://schemas.microsoft.com/office/powerpoint/2010/main" val="8749657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A7A632-1024-416B-942B-A1E4C1BD9C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4"/>
          <a:stretch/>
        </p:blipFill>
        <p:spPr>
          <a:xfrm>
            <a:off x="1172701" y="1322262"/>
            <a:ext cx="9846598" cy="54699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is a convolution</a:t>
            </a:r>
            <a:endParaRPr lang="en-GB" sz="1800" kern="0" dirty="0"/>
          </a:p>
        </p:txBody>
      </p:sp>
    </p:spTree>
    <p:extLst>
      <p:ext uri="{BB962C8B-B14F-4D97-AF65-F5344CB8AC3E}">
        <p14:creationId xmlns:p14="http://schemas.microsoft.com/office/powerpoint/2010/main" val="17373258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Back to MNIST</a:t>
            </a:r>
            <a:endParaRPr lang="en-GB" sz="1800" kern="0" dirty="0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CCE88512-6A87-4D7C-8620-6B91A7E83F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2743" y="1961552"/>
            <a:ext cx="6806514" cy="408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903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2DD5117-719E-43CC-8D57-DC61FF9BE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49060" y="1462082"/>
            <a:ext cx="8093880" cy="539591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Detecting diagonal lines with convolution</a:t>
            </a:r>
            <a:endParaRPr lang="en-GB" sz="1800" kern="0" dirty="0"/>
          </a:p>
        </p:txBody>
      </p:sp>
    </p:spTree>
    <p:extLst>
      <p:ext uri="{BB962C8B-B14F-4D97-AF65-F5344CB8AC3E}">
        <p14:creationId xmlns:p14="http://schemas.microsoft.com/office/powerpoint/2010/main" val="3118070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Convolution layers</a:t>
            </a:r>
            <a:endParaRPr lang="en-GB" sz="1800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4DFCD-58F4-4B07-B0A6-C8EDB8DC2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6"/>
            <a:ext cx="4994186" cy="46060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A convolutional neural network is a NN with one or more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convolution layers</a:t>
            </a:r>
          </a:p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The parameters / weights in a convolution layer are the elements of the filter</a:t>
            </a:r>
          </a:p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The filter is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learnt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by the network!</a:t>
            </a:r>
          </a:p>
          <a:p>
            <a:pPr>
              <a:lnSpc>
                <a:spcPct val="110000"/>
              </a:lnSpc>
            </a:pPr>
            <a:endParaRPr lang="en-NL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6E821-DB10-4377-B7C4-5D199A3A7E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4363" y="1491655"/>
            <a:ext cx="3889762" cy="444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129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Convolution layers</a:t>
            </a:r>
            <a:endParaRPr lang="en-GB" sz="1800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4DFCD-58F4-4B07-B0A6-C8EDB8DC2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6"/>
            <a:ext cx="4994186" cy="46060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In each convolution layer, you can create multiple filters</a:t>
            </a:r>
          </a:p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Number of parameters is function of:</a:t>
            </a:r>
          </a:p>
          <a:p>
            <a:pPr lvl="1"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Number of filters (e.g. 6)</a:t>
            </a:r>
          </a:p>
          <a:p>
            <a:pPr lvl="1"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Size of each filter (e.g. 2x2)</a:t>
            </a:r>
          </a:p>
          <a:p>
            <a:pPr lvl="1"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NOT the input dimension!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Parameter sharing</a:t>
            </a:r>
          </a:p>
          <a:p>
            <a:pPr>
              <a:lnSpc>
                <a:spcPct val="110000"/>
              </a:lnSpc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pPr>
              <a:lnSpc>
                <a:spcPct val="110000"/>
              </a:lnSpc>
            </a:pPr>
            <a:endParaRPr lang="en-NL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6E821-DB10-4377-B7C4-5D199A3A7E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84363" y="1491655"/>
            <a:ext cx="3889762" cy="444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495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Pooling layer</a:t>
            </a:r>
            <a:endParaRPr lang="en-GB" sz="1800" kern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4DFCD-58F4-4B07-B0A6-C8EDB8DC2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1825626"/>
            <a:ext cx="4994186" cy="460606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Convolution layers are usually followed by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pooling layer</a:t>
            </a:r>
          </a:p>
          <a:p>
            <a:pPr>
              <a:lnSpc>
                <a:spcPct val="110000"/>
              </a:lnSpc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Reduces dimensionality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Location invariance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: Robustness against pixel shift / small rotations</a:t>
            </a:r>
          </a:p>
          <a:p>
            <a:pPr>
              <a:lnSpc>
                <a:spcPct val="110000"/>
              </a:lnSpc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Max pool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most common</a:t>
            </a:r>
          </a:p>
          <a:p>
            <a:pPr>
              <a:lnSpc>
                <a:spcPct val="110000"/>
              </a:lnSpc>
            </a:pPr>
            <a:endParaRPr lang="en-NL" dirty="0">
              <a:solidFill>
                <a:schemeClr val="tx1">
                  <a:lumMod val="75000"/>
                  <a:lumOff val="2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6E821-DB10-4377-B7C4-5D199A3A7E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46160" y="1355730"/>
            <a:ext cx="5207637" cy="44486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AE4E50-E969-4A43-8264-BCBEF03B3371}"/>
              </a:ext>
            </a:extLst>
          </p:cNvPr>
          <p:cNvSpPr/>
          <p:nvPr/>
        </p:nvSpPr>
        <p:spPr>
          <a:xfrm>
            <a:off x="10997514" y="1445741"/>
            <a:ext cx="902043" cy="1099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DF1B59-ADD8-4E84-A843-F3AFE4FBCA32}"/>
              </a:ext>
            </a:extLst>
          </p:cNvPr>
          <p:cNvSpPr/>
          <p:nvPr/>
        </p:nvSpPr>
        <p:spPr>
          <a:xfrm>
            <a:off x="11140346" y="1568215"/>
            <a:ext cx="902043" cy="1099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9CF73D-1AC2-405B-BC1F-17D17D452748}"/>
              </a:ext>
            </a:extLst>
          </p:cNvPr>
          <p:cNvSpPr/>
          <p:nvPr/>
        </p:nvSpPr>
        <p:spPr>
          <a:xfrm>
            <a:off x="11235444" y="1690689"/>
            <a:ext cx="902043" cy="1099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B2E3BD-9A0A-4882-9A70-085536155C3B}"/>
              </a:ext>
            </a:extLst>
          </p:cNvPr>
          <p:cNvSpPr/>
          <p:nvPr/>
        </p:nvSpPr>
        <p:spPr>
          <a:xfrm>
            <a:off x="11140346" y="3517685"/>
            <a:ext cx="902043" cy="1099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374480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Pooling layer</a:t>
            </a:r>
            <a:endParaRPr lang="en-GB" sz="1800" kern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D18EF-358D-41C1-BD05-C7DF51D32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2517651"/>
            <a:ext cx="7192379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447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Architecture of a CNN</a:t>
            </a:r>
            <a:endParaRPr lang="en-GB" sz="1800" kern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7C5A35-D0C3-4D10-AC5E-53BDB0402BA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1" y="1781106"/>
            <a:ext cx="11353797" cy="444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5581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Applying CNN to MNIST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model_cnn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&lt;- 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keras_model_sequential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input_shape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= c(28, 28, 1)) %&gt;% 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layer_conv_2d(6, c(5, 5)) %&gt;% 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layer_max_pooling_2d(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pool_size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= c(4, 4)) %&gt;%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layer_flatten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() %&gt;% 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layer_dense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(units = 32, activation = "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relu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") %&gt;% 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layer_dense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(10, activation = "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softmax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0284949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Model summary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GB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summary(</a:t>
            </a:r>
            <a:r>
              <a:rPr lang="en-GB" sz="12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model_cnn</a:t>
            </a:r>
            <a:r>
              <a:rPr lang="en-GB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</a:t>
            </a:r>
            <a:endParaRPr lang="en-US" sz="12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 (type)                                  Output Shape                             Param #         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=======================================================================================================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conv2d_2 (Conv2D)                             (None, 24, 24, 6)                        156             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max_pooling2d_2 (MaxPooling2D)                (None, 6, 6, 6)                          0               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flatten_3 (Flatten)                           (None, 216)                              0               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dense_8 (Dense)                               (None, 32)                               6944            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dense_7 (Dense)                               (None, 10)                               330             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=======================================================================================================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Total params: 7,430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Trainable params: 7,430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Non-trainable params: 0</a:t>
            </a:r>
            <a:endParaRPr lang="en-GB" sz="12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5920466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Compare to feed-forward model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fontScale="62500" lnSpcReduction="20000"/>
          </a:bodyPr>
          <a:lstStyle/>
          <a:p>
            <a:pPr marL="0" lvl="0" indent="0">
              <a:buNone/>
            </a:pP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summary(</a:t>
            </a:r>
            <a:r>
              <a:rPr lang="en-GB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model_dff</a:t>
            </a:r>
            <a:r>
              <a:rPr lang="en-GB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</a:t>
            </a:r>
            <a:endParaRPr lang="en-US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endParaRPr lang="en-US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Layer (type)                          Output Shape                       Param #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======================================================================================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flatten (Flatten)                     (None, 784)                        0     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dense_1 (Dense)                       (None, 256)                        200960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dense_2 (Dense)                       (None, 128)                        32896 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dense_3 (Dense)                       (None, 10)                         1290         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======================================================================================</a:t>
            </a:r>
          </a:p>
          <a:p>
            <a:pPr marL="0" lvl="0" indent="0">
              <a:buNone/>
            </a:pPr>
            <a:r>
              <a:rPr lang="en-US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Total params: 235,146</a:t>
            </a:r>
          </a:p>
          <a:p>
            <a:pPr marL="0" lvl="0" indent="0">
              <a:buNone/>
            </a:pPr>
            <a:r>
              <a:rPr lang="fr-FR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Trainable</a:t>
            </a: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params: 235,146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Non-</a:t>
            </a:r>
            <a:r>
              <a:rPr lang="fr-FR" sz="24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trainable</a:t>
            </a: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params: 0</a:t>
            </a:r>
          </a:p>
          <a:p>
            <a:pPr marL="0" lvl="0" indent="0">
              <a:buNone/>
            </a:pPr>
            <a:r>
              <a:rPr lang="fr-FR" sz="24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______________________________________________________________________________________</a:t>
            </a:r>
            <a:endParaRPr lang="en-GB" sz="24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10499137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Applying CNN to MNIST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model_cnn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%&gt;% 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compile(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loss = "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sparse_categorical_crossentropy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",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optimizer = "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adam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"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)</a:t>
            </a:r>
          </a:p>
          <a:p>
            <a:pPr marL="0" lvl="0" indent="0">
              <a:buNone/>
            </a:pPr>
            <a:endParaRPr lang="en-GB" sz="20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model_cnn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%&gt;% 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fit(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x = 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mnist$train$x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, 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y = 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mnist$train$y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,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epochs = 10,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</a:t>
            </a:r>
            <a:r>
              <a:rPr lang="en-GB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validation_split</a:t>
            </a: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= 0.2,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verbose = 2</a:t>
            </a:r>
          </a:p>
          <a:p>
            <a:pPr marL="0" lvl="0" indent="0">
              <a:buNone/>
            </a:pPr>
            <a:r>
              <a:rPr lang="en-GB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)</a:t>
            </a:r>
          </a:p>
        </p:txBody>
      </p:sp>
    </p:spTree>
    <p:extLst>
      <p:ext uri="{BB962C8B-B14F-4D97-AF65-F5344CB8AC3E}">
        <p14:creationId xmlns:p14="http://schemas.microsoft.com/office/powerpoint/2010/main" val="4121087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Performance comparison: DFF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pred</a:t>
            </a:r>
          </a:p>
          <a:p>
            <a:pPr marL="0" lvl="0" indent="0">
              <a:buNone/>
            </a:pPr>
            <a:r>
              <a:rPr lang="en-US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obs</a:t>
            </a: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0    1    2    3    4    5    6    7    8    9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0  975    0    1    0    0    1    0    0    2    1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1    0 1129    1    1    0    1    1    2    0    0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2    4    0 1015    2    0    0    3    2    6    0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3    0    0    6  991    0    4    0    4    1    4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4    3    2    2    0  952    0    5    2    0   16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5    3    0    0   10    0  869    4    0    3    3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6    6    2    0    1    2    4  942    0    1    0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7    2    5    6    2    0    0    0 1004    3    6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8    6    0    2    3    2    4    1    4  946    6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9    4    3    0    2    3    1    1    3    1  991</a:t>
            </a:r>
            <a:endParaRPr lang="en-GB" sz="20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1437106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Performance comparison: CNN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pred</a:t>
            </a:r>
          </a:p>
          <a:p>
            <a:pPr marL="0" lvl="0" indent="0">
              <a:buNone/>
            </a:pPr>
            <a:r>
              <a:rPr lang="en-US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obs</a:t>
            </a: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  0    1    2    3    4    5    6    7    8    9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0  971    0    1    0    1    1    2    1    2    1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1    0 1126    2    1    0    0    2    0    4    0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2    1    1 1020    1    1    0    0    1    6    1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3    0    0    2  997    0    5    0    1    2    3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4    0    0    1    0  970    0    0    0    1   10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5    2    0    0    3    0  881    3    0    2    1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6    5    2    0    0    5    2  941    0    3    0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7    1    3   15    3    0    1    0  994    3    8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8    5    0    3    2    0    0    2    2  956    4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  9    1    1    0    1    4    5    0    2    6  989</a:t>
            </a:r>
            <a:endParaRPr lang="en-GB" sz="20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</p:txBody>
      </p:sp>
    </p:spTree>
    <p:extLst>
      <p:ext uri="{BB962C8B-B14F-4D97-AF65-F5344CB8AC3E}">
        <p14:creationId xmlns:p14="http://schemas.microsoft.com/office/powerpoint/2010/main" val="32809710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54A1-3211-4218-9AC8-EE38B7D1B1CD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Performance comparison: CNN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CE971F-9A72-4AA1-9D4A-9DAD276968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Fira Code" pitchFamily="49"/>
                <a:ea typeface="Fira Code" pitchFamily="49"/>
              </a:rPr>
              <a:t># accuracy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sum(</a:t>
            </a:r>
            <a:r>
              <a:rPr lang="en-US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diag</a:t>
            </a: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</a:t>
            </a:r>
            <a:r>
              <a:rPr lang="en-US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cmat_dff</a:t>
            </a: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)) / sum(</a:t>
            </a:r>
            <a:r>
              <a:rPr lang="en-US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cmat_dff</a:t>
            </a: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</a:t>
            </a:r>
          </a:p>
          <a:p>
            <a:pPr marL="0" lvl="0" indent="0">
              <a:buNone/>
            </a:pPr>
            <a:endParaRPr lang="en-US" sz="20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Fira Code" pitchFamily="49"/>
                <a:ea typeface="Fira Code" pitchFamily="49"/>
              </a:rPr>
              <a:t>#&gt; [1] 0.9814</a:t>
            </a:r>
          </a:p>
          <a:p>
            <a:pPr marL="0" lvl="0" indent="0">
              <a:buNone/>
            </a:pPr>
            <a:endParaRPr lang="en-US" sz="20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sum(</a:t>
            </a:r>
            <a:r>
              <a:rPr lang="en-US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diag</a:t>
            </a: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(</a:t>
            </a:r>
            <a:r>
              <a:rPr lang="en-US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cmat_cnn</a:t>
            </a: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)) / sum(</a:t>
            </a:r>
            <a:r>
              <a:rPr lang="en-US" sz="2000" dirty="0" err="1">
                <a:solidFill>
                  <a:srgbClr val="404040"/>
                </a:solidFill>
                <a:latin typeface="Fira Code" pitchFamily="49"/>
                <a:ea typeface="Fira Code" pitchFamily="49"/>
              </a:rPr>
              <a:t>cmat_cnn</a:t>
            </a:r>
            <a:r>
              <a:rPr lang="en-US" sz="2000" dirty="0">
                <a:solidFill>
                  <a:srgbClr val="404040"/>
                </a:solidFill>
                <a:latin typeface="Fira Code" pitchFamily="49"/>
                <a:ea typeface="Fira Code" pitchFamily="49"/>
              </a:rPr>
              <a:t>)</a:t>
            </a:r>
          </a:p>
          <a:p>
            <a:pPr marL="0" lvl="0" indent="0">
              <a:buNone/>
            </a:pPr>
            <a:endParaRPr lang="en-US" sz="2000" dirty="0">
              <a:solidFill>
                <a:srgbClr val="404040"/>
              </a:solidFill>
              <a:latin typeface="Fira Code" pitchFamily="49"/>
              <a:ea typeface="Fira Code" pitchFamily="49"/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Fira Code" pitchFamily="49"/>
                <a:ea typeface="Fira Code" pitchFamily="49"/>
              </a:rPr>
              <a:t>#&gt; </a:t>
            </a:r>
            <a:r>
              <a:rPr lang="en-GB" sz="2000" dirty="0">
                <a:solidFill>
                  <a:schemeClr val="bg2">
                    <a:lumMod val="50000"/>
                  </a:schemeClr>
                </a:solidFill>
                <a:latin typeface="Fira Code" pitchFamily="49"/>
                <a:ea typeface="Fira Code" pitchFamily="49"/>
              </a:rPr>
              <a:t>[1] 0.9845</a:t>
            </a:r>
          </a:p>
        </p:txBody>
      </p:sp>
    </p:spTree>
    <p:extLst>
      <p:ext uri="{BB962C8B-B14F-4D97-AF65-F5344CB8AC3E}">
        <p14:creationId xmlns:p14="http://schemas.microsoft.com/office/powerpoint/2010/main" val="34479294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What about the features?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3200" b="1" dirty="0">
                <a:solidFill>
                  <a:srgbClr val="404040"/>
                </a:solidFill>
                <a:latin typeface="Fira Sans" pitchFamily="34"/>
              </a:rPr>
              <a:t>Unboxing the black box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Extract the weights of the convolution layer to find the features (filters) that were learnt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Apply the filters to some example images to get an idea of which features are discriminative for the different numbers</a:t>
            </a:r>
          </a:p>
          <a:p>
            <a:pPr>
              <a:lnSpc>
                <a:spcPct val="100000"/>
              </a:lnSpc>
            </a:pPr>
            <a:endParaRPr lang="en-GB" sz="3200" dirty="0">
              <a:solidFill>
                <a:srgbClr val="404040"/>
              </a:solidFill>
              <a:latin typeface="Fira Sans" pitchFamily="34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solidFill>
                  <a:srgbClr val="404040"/>
                </a:solidFill>
                <a:latin typeface="Fira Sans" pitchFamily="34"/>
              </a:rPr>
              <a:t>(There are other advanced methods, like </a:t>
            </a:r>
            <a:r>
              <a:rPr lang="en-GB" dirty="0" err="1">
                <a:solidFill>
                  <a:srgbClr val="404040"/>
                </a:solidFill>
                <a:latin typeface="Fira Sans" pitchFamily="34"/>
              </a:rPr>
              <a:t>layerwise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 relevance propagation, </a:t>
            </a:r>
            <a:r>
              <a:rPr lang="en-GB" dirty="0" err="1">
                <a:solidFill>
                  <a:srgbClr val="404040"/>
                </a:solidFill>
                <a:latin typeface="Fira Sans" pitchFamily="34"/>
              </a:rPr>
              <a:t>shapley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 values, …)</a:t>
            </a:r>
          </a:p>
          <a:p>
            <a:pPr marL="0" lvl="0" indent="0">
              <a:lnSpc>
                <a:spcPct val="100000"/>
              </a:lnSpc>
              <a:buNone/>
            </a:pP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1701334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and white checkered surface&#10;&#10;Description automatically generated with medium confidence">
            <a:extLst>
              <a:ext uri="{FF2B5EF4-FFF2-40B4-BE49-F238E27FC236}">
                <a16:creationId xmlns:a16="http://schemas.microsoft.com/office/drawing/2014/main" id="{999748C5-CC6F-4589-9836-AD97923AAD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3603" y="380736"/>
            <a:ext cx="9144793" cy="609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897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9748C5-CC6F-4589-9836-AD97923AAD0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3603" y="685562"/>
            <a:ext cx="9144793" cy="548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542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Similarity to visual brain area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4253492" cy="4667243"/>
          </a:xfrm>
        </p:spPr>
        <p:txBody>
          <a:bodyPr/>
          <a:lstStyle/>
          <a:p>
            <a:pPr marL="0" lvl="0" indent="0">
              <a:buNone/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These learnt filters are similar to monkey visual area 1 (V1) neuron sensitivities </a:t>
            </a:r>
          </a:p>
          <a:p>
            <a:pPr marL="0" lvl="0" indent="0">
              <a:buNone/>
            </a:pPr>
            <a:endParaRPr lang="en-GB" sz="3200" dirty="0">
              <a:solidFill>
                <a:srgbClr val="404040"/>
              </a:solidFill>
              <a:latin typeface="Fira Sans" pitchFamily="34"/>
              <a:hlinkClick r:id="rId2"/>
            </a:endParaRPr>
          </a:p>
          <a:p>
            <a:pPr marL="0" lvl="0" indent="0">
              <a:buNone/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  <a:hlinkClick r:id="rId2"/>
              </a:rPr>
              <a:t>http://www.cns.nyu.edu/~david/courses/perception/lecturenotes/V1/lgn-V1.html</a:t>
            </a: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 </a:t>
            </a: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2DEC1664-3170-4847-B532-F41FADE1B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9498" y="1587498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769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Cool hack: pretrained CNNs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8"/>
            <a:ext cx="10515600" cy="4667243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2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Download the convolutional layer weights from existing neural network trained on many images</a:t>
            </a:r>
          </a:p>
          <a:p>
            <a:pPr lvl="0">
              <a:lnSpc>
                <a:spcPct val="12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Apply them to your own images</a:t>
            </a:r>
          </a:p>
          <a:p>
            <a:pPr lvl="0">
              <a:lnSpc>
                <a:spcPct val="12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Result: a feature vector per image</a:t>
            </a:r>
          </a:p>
          <a:p>
            <a:pPr lvl="0">
              <a:lnSpc>
                <a:spcPct val="12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Use these feature vectors as input dataset for:</a:t>
            </a:r>
          </a:p>
          <a:p>
            <a:pPr lvl="1">
              <a:lnSpc>
                <a:spcPct val="120000"/>
              </a:lnSpc>
            </a:pPr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Deep feedforward neural network</a:t>
            </a:r>
          </a:p>
          <a:p>
            <a:pPr lvl="1">
              <a:lnSpc>
                <a:spcPct val="120000"/>
              </a:lnSpc>
            </a:pPr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Logistic regression</a:t>
            </a:r>
          </a:p>
          <a:p>
            <a:pPr lvl="1">
              <a:lnSpc>
                <a:spcPct val="120000"/>
              </a:lnSpc>
            </a:pPr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Support vector machine</a:t>
            </a:r>
          </a:p>
          <a:p>
            <a:pPr lvl="1">
              <a:lnSpc>
                <a:spcPct val="120000"/>
              </a:lnSpc>
            </a:pPr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…</a:t>
            </a:r>
          </a:p>
          <a:p>
            <a:pPr>
              <a:lnSpc>
                <a:spcPct val="12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This can work really well!!</a:t>
            </a:r>
          </a:p>
        </p:txBody>
      </p:sp>
    </p:spTree>
    <p:extLst>
      <p:ext uri="{BB962C8B-B14F-4D97-AF65-F5344CB8AC3E}">
        <p14:creationId xmlns:p14="http://schemas.microsoft.com/office/powerpoint/2010/main" val="5372575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Conclusion: CNN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Convolution = applying kernel (filter) over an image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CNNs employ convolution layers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Parameter sharing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Feature detection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Followed by pooling layers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location invariance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State-of-the art in image recognition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Use pretrained networks as a quick proxy</a:t>
            </a:r>
          </a:p>
        </p:txBody>
      </p:sp>
    </p:spTree>
    <p:extLst>
      <p:ext uri="{BB962C8B-B14F-4D97-AF65-F5344CB8AC3E}">
        <p14:creationId xmlns:p14="http://schemas.microsoft.com/office/powerpoint/2010/main" val="32346189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 fontScale="90000"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Battling the curse of dimensionality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2790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Regularization in NNs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We may have thousands or even millions of parameters</a:t>
            </a:r>
          </a:p>
          <a:p>
            <a:pPr lvl="0"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How can we avoid overfitting? </a:t>
            </a:r>
          </a:p>
          <a:p>
            <a:pPr lvl="0"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How can we fight the curse of dimensionality? </a:t>
            </a:r>
          </a:p>
          <a:p>
            <a:pPr lvl="0">
              <a:lnSpc>
                <a:spcPct val="100000"/>
              </a:lnSpc>
            </a:pPr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NNs are not magic: we need </a:t>
            </a:r>
            <a:r>
              <a:rPr lang="en-GB" sz="3200" b="1" dirty="0">
                <a:solidFill>
                  <a:srgbClr val="404040"/>
                </a:solidFill>
                <a:latin typeface="Fira Sans" pitchFamily="34"/>
              </a:rPr>
              <a:t>regularization.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rgbClr val="404040"/>
                </a:solidFill>
                <a:latin typeface="Fira Sans" pitchFamily="34"/>
              </a:rPr>
              <a:t>Regularization is anything which introduces bias in the parameters to improve generalization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Fira Sans" pitchFamily="34"/>
              </a:rPr>
              <a:t>(Goodfellow et al., 2016)</a:t>
            </a:r>
            <a:endParaRPr lang="en-GB" sz="2800" dirty="0">
              <a:solidFill>
                <a:schemeClr val="bg2">
                  <a:lumMod val="50000"/>
                </a:schemeClr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3615389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Regularization in NNs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00000"/>
              </a:lnSpc>
            </a:pPr>
            <a:r>
              <a:rPr lang="en-GB" b="1" dirty="0">
                <a:solidFill>
                  <a:srgbClr val="404040"/>
                </a:solidFill>
                <a:latin typeface="Fira Sans" pitchFamily="34"/>
              </a:rPr>
              <a:t>Convolution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: parameters are set to be equal to one another in different areas of image (parameter sharing)</a:t>
            </a:r>
          </a:p>
          <a:p>
            <a:pPr lvl="0">
              <a:lnSpc>
                <a:spcPct val="100000"/>
              </a:lnSpc>
            </a:pPr>
            <a:r>
              <a:rPr lang="en-GB" b="1" dirty="0">
                <a:solidFill>
                  <a:srgbClr val="404040"/>
                </a:solidFill>
                <a:latin typeface="Fira Sans" pitchFamily="34"/>
              </a:rPr>
              <a:t>L1 or L2 penalty 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applied to weights is common in neural networks (</a:t>
            </a:r>
            <a:r>
              <a:rPr lang="en-GB" dirty="0" err="1">
                <a:solidFill>
                  <a:srgbClr val="404040"/>
                </a:solidFill>
                <a:latin typeface="Fira Sans" pitchFamily="34"/>
              </a:rPr>
              <a:t>keras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 can do it!)</a:t>
            </a:r>
          </a:p>
          <a:p>
            <a:pPr lvl="0">
              <a:lnSpc>
                <a:spcPct val="100000"/>
              </a:lnSpc>
            </a:pPr>
            <a:r>
              <a:rPr lang="en-GB" b="1" dirty="0">
                <a:solidFill>
                  <a:srgbClr val="404040"/>
                </a:solidFill>
                <a:latin typeface="Fira Sans" pitchFamily="34"/>
              </a:rPr>
              <a:t>Dropout regularization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: In each iteration, only update a subset of the parameters</a:t>
            </a:r>
          </a:p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404040"/>
                </a:solidFill>
                <a:latin typeface="Fira Sans" pitchFamily="34"/>
              </a:rPr>
              <a:t>Early stopping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: Do not train for many epochs, but only until validation set loss does not improve</a:t>
            </a:r>
          </a:p>
          <a:p>
            <a:pPr>
              <a:lnSpc>
                <a:spcPct val="100000"/>
              </a:lnSpc>
            </a:pPr>
            <a:r>
              <a:rPr lang="en-GB" b="1" dirty="0">
                <a:solidFill>
                  <a:srgbClr val="404040"/>
                </a:solidFill>
                <a:latin typeface="Fira Sans" pitchFamily="34"/>
              </a:rPr>
              <a:t>Data augmentation</a:t>
            </a:r>
            <a:r>
              <a:rPr lang="en-GB" dirty="0">
                <a:solidFill>
                  <a:srgbClr val="404040"/>
                </a:solidFill>
                <a:latin typeface="Fira Sans" pitchFamily="34"/>
              </a:rPr>
              <a:t>: Add shifted / rotated versions of images to input (upside-down tiger is still a tiger!)</a:t>
            </a:r>
          </a:p>
        </p:txBody>
      </p:sp>
    </p:spTree>
    <p:extLst>
      <p:ext uri="{BB962C8B-B14F-4D97-AF65-F5344CB8AC3E}">
        <p14:creationId xmlns:p14="http://schemas.microsoft.com/office/powerpoint/2010/main" val="14926530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Conclusion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/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Introduction to neural networks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Feed-forward &amp; deep neural networks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Estimation / optimization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Convolutional neural networks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Battling the curse of dimensionality</a:t>
            </a:r>
          </a:p>
        </p:txBody>
      </p:sp>
    </p:spTree>
    <p:extLst>
      <p:ext uri="{BB962C8B-B14F-4D97-AF65-F5344CB8AC3E}">
        <p14:creationId xmlns:p14="http://schemas.microsoft.com/office/powerpoint/2010/main" val="19946959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3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3136-3CE2-4372-9CD9-CAAA784CC7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766215"/>
            <a:ext cx="10515600" cy="1325559"/>
          </a:xfrm>
        </p:spPr>
        <p:txBody>
          <a:bodyPr anchorCtr="1">
            <a:normAutofit/>
          </a:bodyPr>
          <a:lstStyle/>
          <a:p>
            <a:pPr lvl="0" algn="ctr">
              <a:lnSpc>
                <a:spcPct val="100000"/>
              </a:lnSpc>
            </a:pPr>
            <a:r>
              <a:rPr lang="en-GB" sz="5400" b="1" kern="0" dirty="0">
                <a:solidFill>
                  <a:srgbClr val="FFFFFF"/>
                </a:solidFill>
                <a:latin typeface="Fira Sans" pitchFamily="34"/>
                <a:ea typeface="Fira Code" pitchFamily="49"/>
              </a:rPr>
              <a:t>Epilogue: neural network zoo</a:t>
            </a:r>
            <a:endParaRPr lang="en-GB" sz="1800" kern="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9912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Neural network zoo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7259829" cy="4667243"/>
          </a:xfrm>
        </p:spPr>
        <p:txBody>
          <a:bodyPr>
            <a:normAutofit/>
          </a:bodyPr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You can see how far we got: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Perceptron (nonlinear regression)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Feed forward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Deep feed forward</a:t>
            </a:r>
          </a:p>
          <a:p>
            <a:pPr lvl="1"/>
            <a:r>
              <a:rPr lang="en-GB" sz="2800" dirty="0">
                <a:solidFill>
                  <a:srgbClr val="404040"/>
                </a:solidFill>
                <a:latin typeface="Fira Sans" pitchFamily="34"/>
              </a:rPr>
              <a:t>Deep convolutional network</a:t>
            </a:r>
          </a:p>
          <a:p>
            <a:pPr lvl="1"/>
            <a:endParaRPr lang="en-GB" sz="2800" dirty="0">
              <a:solidFill>
                <a:srgbClr val="404040"/>
              </a:solidFill>
              <a:latin typeface="Fira Sans" pitchFamily="34"/>
            </a:endParaRPr>
          </a:p>
          <a:p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There is much more </a:t>
            </a:r>
            <a:r>
              <a:rPr lang="en-GB" sz="3200" dirty="0">
                <a:solidFill>
                  <a:srgbClr val="404040"/>
                </a:solidFill>
                <a:latin typeface="Fira Sans" pitchFamily="34"/>
                <a:sym typeface="Wingdings" panose="05000000000000000000" pitchFamily="2" charset="2"/>
              </a:rPr>
              <a:t></a:t>
            </a: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  <p:pic>
        <p:nvPicPr>
          <p:cNvPr id="5" name="Picture 4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17285360-4422-41CF-9731-24B3858B72A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34216" y="0"/>
            <a:ext cx="4034118" cy="6858000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5B47AD1-110B-40FB-8790-13EC11F763C3}"/>
              </a:ext>
            </a:extLst>
          </p:cNvPr>
          <p:cNvSpPr/>
          <p:nvPr/>
        </p:nvSpPr>
        <p:spPr>
          <a:xfrm>
            <a:off x="7176775" y="3731741"/>
            <a:ext cx="704335" cy="2594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61EB8E8-C6E7-4778-82CE-FB9799A6CA50}"/>
              </a:ext>
            </a:extLst>
          </p:cNvPr>
          <p:cNvSpPr/>
          <p:nvPr/>
        </p:nvSpPr>
        <p:spPr>
          <a:xfrm rot="2672178">
            <a:off x="8614279" y="235384"/>
            <a:ext cx="704335" cy="2594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6764C2E3-54AA-4C52-AE5F-8782704DE470}"/>
              </a:ext>
            </a:extLst>
          </p:cNvPr>
          <p:cNvSpPr/>
          <p:nvPr/>
        </p:nvSpPr>
        <p:spPr>
          <a:xfrm rot="8013001">
            <a:off x="10084733" y="240539"/>
            <a:ext cx="704335" cy="2594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3B0FE78-48AB-4061-9C5A-4AE33CCD0AA8}"/>
              </a:ext>
            </a:extLst>
          </p:cNvPr>
          <p:cNvSpPr/>
          <p:nvPr/>
        </p:nvSpPr>
        <p:spPr>
          <a:xfrm rot="19155000">
            <a:off x="10703259" y="1141833"/>
            <a:ext cx="704335" cy="25949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27851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83D51-A832-3D42-BA97-6E1F711D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Fira Sans" panose="020B0503050000020004" pitchFamily="34" charset="0"/>
                <a:ea typeface="Fira Sans" panose="020B0503050000020004" pitchFamily="34" charset="0"/>
              </a:rPr>
              <a:t>Deep learning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1DFA3-11B5-F643-991B-F2F63B186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</a:rPr>
              <a:t>Good places to start: </a:t>
            </a:r>
          </a:p>
          <a:p>
            <a:pPr lvl="1"/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  <a:hlinkClick r:id="rId2"/>
              </a:rPr>
              <a:t>https://keras.rstudio.com/</a:t>
            </a: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</a:rPr>
              <a:t>ISLR Chapter 10</a:t>
            </a:r>
          </a:p>
          <a:p>
            <a:pPr marL="0" indent="0">
              <a:buNone/>
            </a:pPr>
            <a:endParaRPr lang="en-US" dirty="0"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5122" name="Picture 2" descr="Deep Learning (Adaptive Computation and Machine Learning series) (English  Edition) eBook : Goodfellow, Ian, Bengio, Yoshua, Courville, Aaron:  Amazon.es: Tienda Kindle">
            <a:extLst>
              <a:ext uri="{FF2B5EF4-FFF2-40B4-BE49-F238E27FC236}">
                <a16:creationId xmlns:a16="http://schemas.microsoft.com/office/drawing/2014/main" id="{6816A384-7541-5346-9F40-8824B251B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71260" y="2743602"/>
            <a:ext cx="2737757" cy="36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C5C3B8-5A89-2941-8FB3-8B4F987CFA9D}"/>
              </a:ext>
            </a:extLst>
          </p:cNvPr>
          <p:cNvSpPr txBox="1"/>
          <p:nvPr/>
        </p:nvSpPr>
        <p:spPr>
          <a:xfrm>
            <a:off x="5771260" y="6488668"/>
            <a:ext cx="1955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  <a:cs typeface="Helvetica Neue" panose="02000503000000020004" pitchFamily="2" charset="0"/>
              </a:rPr>
              <a:t>Goodfellow et al.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1F743-BB2F-544C-ABC8-5317EA13A236}"/>
              </a:ext>
            </a:extLst>
          </p:cNvPr>
          <p:cNvSpPr txBox="1"/>
          <p:nvPr/>
        </p:nvSpPr>
        <p:spPr>
          <a:xfrm>
            <a:off x="8721563" y="6487326"/>
            <a:ext cx="2969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  <a:ea typeface="Fira Sans" panose="020B0503050000020004" pitchFamily="34" charset="0"/>
                <a:cs typeface="Helvetica Neue" panose="02000503000000020004" pitchFamily="2" charset="0"/>
              </a:rPr>
              <a:t>Chollet (R/Python version)</a:t>
            </a:r>
          </a:p>
        </p:txBody>
      </p:sp>
      <p:pic>
        <p:nvPicPr>
          <p:cNvPr id="1026" name="Picture 2" descr="Deep Learning with Python, Third Edition - François Chollet and Matthew ...">
            <a:extLst>
              <a:ext uri="{FF2B5EF4-FFF2-40B4-BE49-F238E27FC236}">
                <a16:creationId xmlns:a16="http://schemas.microsoft.com/office/drawing/2014/main" id="{D573AF43-E775-FCAC-2C2D-9EEC24D73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21563" y="2743602"/>
            <a:ext cx="3075459" cy="1729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eep Learning with R, Third Edition - François Chollet, Tomasz Kalinowski">
            <a:extLst>
              <a:ext uri="{FF2B5EF4-FFF2-40B4-BE49-F238E27FC236}">
                <a16:creationId xmlns:a16="http://schemas.microsoft.com/office/drawing/2014/main" id="{55EC50AA-CD30-C95C-6CA9-453129284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21562" y="4621693"/>
            <a:ext cx="3075459" cy="1729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0306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8703-4760-4B9B-85FC-9A16836F31B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GB" sz="5400" b="1" kern="0" dirty="0">
                <a:solidFill>
                  <a:srgbClr val="006388"/>
                </a:solidFill>
                <a:latin typeface="Fira Sans" pitchFamily="34"/>
                <a:ea typeface="Fira Code" pitchFamily="49"/>
              </a:rPr>
              <a:t>This was just the start</a:t>
            </a:r>
            <a:endParaRPr lang="en-GB" sz="1800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F9E2-0CED-4424-B61F-ED70164FA7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10515600" cy="4667243"/>
          </a:xfrm>
        </p:spPr>
        <p:txBody>
          <a:bodyPr>
            <a:normAutofit/>
          </a:bodyPr>
          <a:lstStyle/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Recurrent neural networks: for sequences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Transformers (basis of all current LLMs)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Autoencoders (nonlinear dimension reduction)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Graph neural networks (GNNs; for “graph data”) 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Diffusion models</a:t>
            </a:r>
          </a:p>
          <a:p>
            <a:pPr lvl="0"/>
            <a:r>
              <a:rPr lang="en-GB" sz="3200" dirty="0">
                <a:solidFill>
                  <a:srgbClr val="404040"/>
                </a:solidFill>
                <a:latin typeface="Fira Sans" pitchFamily="34"/>
              </a:rPr>
              <a:t>…</a:t>
            </a:r>
          </a:p>
          <a:p>
            <a:pPr marL="0" lvl="0" indent="0">
              <a:buNone/>
            </a:pPr>
            <a:endParaRPr lang="en-GB" sz="3200" dirty="0">
              <a:solidFill>
                <a:srgbClr val="404040"/>
              </a:solidFill>
              <a:latin typeface="Fira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1853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2578</Words>
  <Application>Microsoft Macintosh PowerPoint</Application>
  <PresentationFormat>Widescreen</PresentationFormat>
  <Paragraphs>407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Calibri Light</vt:lpstr>
      <vt:lpstr>Arial</vt:lpstr>
      <vt:lpstr>Fira Sans</vt:lpstr>
      <vt:lpstr>Fira Code</vt:lpstr>
      <vt:lpstr>Cambria Math</vt:lpstr>
      <vt:lpstr>Calibri</vt:lpstr>
      <vt:lpstr>Office Theme</vt:lpstr>
      <vt:lpstr>PowerPoint Presentation</vt:lpstr>
      <vt:lpstr>Supervised machine learning</vt:lpstr>
      <vt:lpstr>Today</vt:lpstr>
      <vt:lpstr>Introduction</vt:lpstr>
      <vt:lpstr>Why should we learn this?</vt:lpstr>
      <vt:lpstr>“Hello world” of neural networks</vt:lpstr>
      <vt:lpstr>So what is a neural network?</vt:lpstr>
      <vt:lpstr>Neural networks</vt:lpstr>
      <vt:lpstr>Linear regression as neural net</vt:lpstr>
      <vt:lpstr>Linear regression as neural net</vt:lpstr>
      <vt:lpstr>Single layer neural networks</vt:lpstr>
      <vt:lpstr>Single layer neural networks</vt:lpstr>
      <vt:lpstr>Single layer neural networks</vt:lpstr>
      <vt:lpstr>Activation functions</vt:lpstr>
      <vt:lpstr>Activation functions</vt:lpstr>
      <vt:lpstr>Single layer neural networks</vt:lpstr>
      <vt:lpstr>Let’s take it further</vt:lpstr>
      <vt:lpstr>Feed-forward neural networks</vt:lpstr>
      <vt:lpstr>Feed-forward neural networks</vt:lpstr>
      <vt:lpstr>Feed-forward neural networks</vt:lpstr>
      <vt:lpstr>Prediction for MNIST</vt:lpstr>
      <vt:lpstr>Keras!</vt:lpstr>
      <vt:lpstr>Keras!</vt:lpstr>
      <vt:lpstr>How to estimate parameters?</vt:lpstr>
      <vt:lpstr>Estimating parameters</vt:lpstr>
      <vt:lpstr>Loss function</vt:lpstr>
      <vt:lpstr>Loss function</vt:lpstr>
      <vt:lpstr>Gradient descent</vt:lpstr>
      <vt:lpstr>PowerPoint Presentation</vt:lpstr>
      <vt:lpstr>Stochastic gradient descent</vt:lpstr>
      <vt:lpstr>Gradient computation</vt:lpstr>
      <vt:lpstr>Nice visual explanations</vt:lpstr>
      <vt:lpstr>PowerPoint Presentation</vt:lpstr>
      <vt:lpstr>Programming pattern: training</vt:lpstr>
      <vt:lpstr>Conclusion: training</vt:lpstr>
      <vt:lpstr>Different architectures</vt:lpstr>
      <vt:lpstr>Image processing with convolutional neural networks</vt:lpstr>
      <vt:lpstr>What is a convolution</vt:lpstr>
      <vt:lpstr>What is a convolution</vt:lpstr>
      <vt:lpstr>Back to MNIST</vt:lpstr>
      <vt:lpstr>Detecting diagonal lines with convolution</vt:lpstr>
      <vt:lpstr>Convolution layers</vt:lpstr>
      <vt:lpstr>Convolution layers</vt:lpstr>
      <vt:lpstr>Pooling layer</vt:lpstr>
      <vt:lpstr>Pooling layer</vt:lpstr>
      <vt:lpstr>Architecture of a CNN</vt:lpstr>
      <vt:lpstr>Applying CNN to MNIST</vt:lpstr>
      <vt:lpstr>Model summary</vt:lpstr>
      <vt:lpstr>Compare to feed-forward model</vt:lpstr>
      <vt:lpstr>Applying CNN to MNIST</vt:lpstr>
      <vt:lpstr>Performance comparison: DFF</vt:lpstr>
      <vt:lpstr>Performance comparison: CNN</vt:lpstr>
      <vt:lpstr>Performance comparison: CNN</vt:lpstr>
      <vt:lpstr>What about the features?</vt:lpstr>
      <vt:lpstr>PowerPoint Presentation</vt:lpstr>
      <vt:lpstr>PowerPoint Presentation</vt:lpstr>
      <vt:lpstr>Similarity to visual brain area</vt:lpstr>
      <vt:lpstr>Cool hack: pretrained CNNs</vt:lpstr>
      <vt:lpstr>Conclusion: CNN</vt:lpstr>
      <vt:lpstr>Battling the curse of dimensionality</vt:lpstr>
      <vt:lpstr>Regularization in NNs</vt:lpstr>
      <vt:lpstr>Regularization in NNs</vt:lpstr>
      <vt:lpstr>Conclusion</vt:lpstr>
      <vt:lpstr>Epilogue: neural network zoo</vt:lpstr>
      <vt:lpstr>Neural network zoo</vt:lpstr>
      <vt:lpstr>Deep learning in practice</vt:lpstr>
      <vt:lpstr>This was just the start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Kesteren, E. van (Erik-Jan)</dc:creator>
  <cp:lastModifiedBy>Oberski, D.L. (Daniel)</cp:lastModifiedBy>
  <cp:revision>95</cp:revision>
  <dcterms:created xsi:type="dcterms:W3CDTF">2020-09-17T14:27:00Z</dcterms:created>
  <dcterms:modified xsi:type="dcterms:W3CDTF">2025-10-09T19:30:39Z</dcterms:modified>
</cp:coreProperties>
</file>