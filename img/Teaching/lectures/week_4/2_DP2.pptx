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sldIdLst>
    <p:sldId id="256" r:id="rId5"/>
    <p:sldId id="2245" r:id="rId6"/>
    <p:sldId id="257" r:id="rId7"/>
    <p:sldId id="1081" r:id="rId8"/>
    <p:sldId id="1082" r:id="rId9"/>
    <p:sldId id="1083" r:id="rId10"/>
    <p:sldId id="1107" r:id="rId11"/>
    <p:sldId id="1108" r:id="rId12"/>
    <p:sldId id="1109" r:id="rId13"/>
    <p:sldId id="1110" r:id="rId14"/>
    <p:sldId id="1111" r:id="rId15"/>
    <p:sldId id="1112" r:id="rId16"/>
    <p:sldId id="1113" r:id="rId17"/>
    <p:sldId id="1084" r:id="rId18"/>
    <p:sldId id="1085" r:id="rId19"/>
    <p:sldId id="1086" r:id="rId20"/>
    <p:sldId id="1090" r:id="rId21"/>
    <p:sldId id="2238" r:id="rId22"/>
    <p:sldId id="2239" r:id="rId23"/>
    <p:sldId id="2240" r:id="rId24"/>
    <p:sldId id="2241" r:id="rId25"/>
    <p:sldId id="2242" r:id="rId26"/>
    <p:sldId id="2243" r:id="rId27"/>
    <p:sldId id="1088" r:id="rId28"/>
    <p:sldId id="1089" r:id="rId29"/>
    <p:sldId id="1091" r:id="rId30"/>
    <p:sldId id="1092" r:id="rId31"/>
    <p:sldId id="1093" r:id="rId32"/>
    <p:sldId id="1094" r:id="rId33"/>
    <p:sldId id="1095" r:id="rId34"/>
    <p:sldId id="1096" r:id="rId35"/>
    <p:sldId id="1097" r:id="rId36"/>
    <p:sldId id="1098" r:id="rId37"/>
    <p:sldId id="1099" r:id="rId38"/>
    <p:sldId id="1101" r:id="rId39"/>
    <p:sldId id="1100" r:id="rId40"/>
    <p:sldId id="1102" r:id="rId41"/>
    <p:sldId id="1105" r:id="rId42"/>
    <p:sldId id="1114" r:id="rId43"/>
    <p:sldId id="1115" r:id="rId44"/>
    <p:sldId id="1116" r:id="rId45"/>
    <p:sldId id="1117" r:id="rId46"/>
    <p:sldId id="1118" r:id="rId47"/>
    <p:sldId id="1119" r:id="rId48"/>
    <p:sldId id="1120" r:id="rId49"/>
    <p:sldId id="2244" r:id="rId50"/>
    <p:sldId id="363" r:id="rId51"/>
    <p:sldId id="910" r:id="rId5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ahtan, A.A.A. (Hakim)" userId="2e0f559b-8f84-4ffd-87e2-eac7fe92b5e6" providerId="ADAL" clId="{4FEFF963-22A2-4D86-B7B4-B4BAD7C6CD8C}"/>
    <pc:docChg chg="undo delSld modSld">
      <pc:chgData name="Qahtan, A.A.A. (Hakim)" userId="2e0f559b-8f84-4ffd-87e2-eac7fe92b5e6" providerId="ADAL" clId="{4FEFF963-22A2-4D86-B7B4-B4BAD7C6CD8C}" dt="2020-04-11T22:15:52.659" v="21" actId="20577"/>
      <pc:docMkLst>
        <pc:docMk/>
      </pc:docMkLst>
      <pc:sldChg chg="modSp">
        <pc:chgData name="Qahtan, A.A.A. (Hakim)" userId="2e0f559b-8f84-4ffd-87e2-eac7fe92b5e6" providerId="ADAL" clId="{4FEFF963-22A2-4D86-B7B4-B4BAD7C6CD8C}" dt="2020-04-11T21:22:39.953" v="4" actId="20577"/>
        <pc:sldMkLst>
          <pc:docMk/>
          <pc:sldMk cId="2171332194" sldId="1089"/>
        </pc:sldMkLst>
        <pc:spChg chg="mod">
          <ac:chgData name="Qahtan, A.A.A. (Hakim)" userId="2e0f559b-8f84-4ffd-87e2-eac7fe92b5e6" providerId="ADAL" clId="{4FEFF963-22A2-4D86-B7B4-B4BAD7C6CD8C}" dt="2020-04-11T21:22:39.953" v="4" actId="20577"/>
          <ac:spMkLst>
            <pc:docMk/>
            <pc:sldMk cId="2171332194" sldId="1089"/>
            <ac:spMk id="3" creationId="{C1825166-E312-42E3-86E9-D4580053EAA4}"/>
          </ac:spMkLst>
        </pc:spChg>
      </pc:sldChg>
      <pc:sldChg chg="modSp">
        <pc:chgData name="Qahtan, A.A.A. (Hakim)" userId="2e0f559b-8f84-4ffd-87e2-eac7fe92b5e6" providerId="ADAL" clId="{4FEFF963-22A2-4D86-B7B4-B4BAD7C6CD8C}" dt="2020-04-11T03:30:59.461" v="2" actId="20577"/>
        <pc:sldMkLst>
          <pc:docMk/>
          <pc:sldMk cId="1062252283" sldId="1090"/>
        </pc:sldMkLst>
        <pc:spChg chg="mod">
          <ac:chgData name="Qahtan, A.A.A. (Hakim)" userId="2e0f559b-8f84-4ffd-87e2-eac7fe92b5e6" providerId="ADAL" clId="{4FEFF963-22A2-4D86-B7B4-B4BAD7C6CD8C}" dt="2020-04-11T03:30:59.461" v="2" actId="20577"/>
          <ac:spMkLst>
            <pc:docMk/>
            <pc:sldMk cId="1062252283" sldId="1090"/>
            <ac:spMk id="3" creationId="{C1825166-E312-42E3-86E9-D4580053EAA4}"/>
          </ac:spMkLst>
        </pc:spChg>
      </pc:sldChg>
      <pc:sldChg chg="del">
        <pc:chgData name="Qahtan, A.A.A. (Hakim)" userId="2e0f559b-8f84-4ffd-87e2-eac7fe92b5e6" providerId="ADAL" clId="{4FEFF963-22A2-4D86-B7B4-B4BAD7C6CD8C}" dt="2020-04-11T03:05:13.341" v="0" actId="2696"/>
        <pc:sldMkLst>
          <pc:docMk/>
          <pc:sldMk cId="2960165591" sldId="1106"/>
        </pc:sldMkLst>
      </pc:sldChg>
      <pc:sldChg chg="modSp">
        <pc:chgData name="Qahtan, A.A.A. (Hakim)" userId="2e0f559b-8f84-4ffd-87e2-eac7fe92b5e6" providerId="ADAL" clId="{4FEFF963-22A2-4D86-B7B4-B4BAD7C6CD8C}" dt="2020-04-11T22:15:52.659" v="21" actId="20577"/>
        <pc:sldMkLst>
          <pc:docMk/>
          <pc:sldMk cId="247878691" sldId="1120"/>
        </pc:sldMkLst>
        <pc:spChg chg="mod">
          <ac:chgData name="Qahtan, A.A.A. (Hakim)" userId="2e0f559b-8f84-4ffd-87e2-eac7fe92b5e6" providerId="ADAL" clId="{4FEFF963-22A2-4D86-B7B4-B4BAD7C6CD8C}" dt="2020-04-11T22:15:52.659" v="21" actId="20577"/>
          <ac:spMkLst>
            <pc:docMk/>
            <pc:sldMk cId="247878691" sldId="1120"/>
            <ac:spMk id="3" creationId="{C1825166-E312-42E3-86E9-D4580053EAA4}"/>
          </ac:spMkLst>
        </pc:spChg>
      </pc:sldChg>
    </pc:docChg>
  </pc:docChgLst>
  <pc:docChgLst>
    <pc:chgData name="Qahtan, A.A.A. (Hakim)" userId="2e0f559b-8f84-4ffd-87e2-eac7fe92b5e6" providerId="ADAL" clId="{B114F31B-0C4A-4A3D-929F-21A5B4F8DDC1}"/>
    <pc:docChg chg="modSld">
      <pc:chgData name="Qahtan, A.A.A. (Hakim)" userId="2e0f559b-8f84-4ffd-87e2-eac7fe92b5e6" providerId="ADAL" clId="{B114F31B-0C4A-4A3D-929F-21A5B4F8DDC1}" dt="2020-04-29T16:39:33.206" v="5" actId="6549"/>
      <pc:docMkLst>
        <pc:docMk/>
      </pc:docMkLst>
      <pc:sldChg chg="modSp">
        <pc:chgData name="Qahtan, A.A.A. (Hakim)" userId="2e0f559b-8f84-4ffd-87e2-eac7fe92b5e6" providerId="ADAL" clId="{B114F31B-0C4A-4A3D-929F-21A5B4F8DDC1}" dt="2020-04-29T16:38:49.446" v="3" actId="20577"/>
        <pc:sldMkLst>
          <pc:docMk/>
          <pc:sldMk cId="1715568721" sldId="256"/>
        </pc:sldMkLst>
        <pc:spChg chg="mod">
          <ac:chgData name="Qahtan, A.A.A. (Hakim)" userId="2e0f559b-8f84-4ffd-87e2-eac7fe92b5e6" providerId="ADAL" clId="{B114F31B-0C4A-4A3D-929F-21A5B4F8DDC1}" dt="2020-04-29T16:38:49.446" v="3" actId="20577"/>
          <ac:spMkLst>
            <pc:docMk/>
            <pc:sldMk cId="1715568721" sldId="256"/>
            <ac:spMk id="6" creationId="{B95150EB-C963-4057-9C23-EDF2C9EC6773}"/>
          </ac:spMkLst>
        </pc:spChg>
      </pc:sldChg>
      <pc:sldChg chg="modSp">
        <pc:chgData name="Qahtan, A.A.A. (Hakim)" userId="2e0f559b-8f84-4ffd-87e2-eac7fe92b5e6" providerId="ADAL" clId="{B114F31B-0C4A-4A3D-929F-21A5B4F8DDC1}" dt="2020-04-29T16:39:33.206" v="5" actId="6549"/>
        <pc:sldMkLst>
          <pc:docMk/>
          <pc:sldMk cId="4287762621" sldId="1084"/>
        </pc:sldMkLst>
        <pc:spChg chg="mod">
          <ac:chgData name="Qahtan, A.A.A. (Hakim)" userId="2e0f559b-8f84-4ffd-87e2-eac7fe92b5e6" providerId="ADAL" clId="{B114F31B-0C4A-4A3D-929F-21A5B4F8DDC1}" dt="2020-04-29T16:39:33.206" v="5" actId="6549"/>
          <ac:spMkLst>
            <pc:docMk/>
            <pc:sldMk cId="4287762621" sldId="1084"/>
            <ac:spMk id="3" creationId="{C1825166-E312-42E3-86E9-D4580053EAA4}"/>
          </ac:spMkLst>
        </pc:spChg>
      </pc:sldChg>
    </pc:docChg>
  </pc:docChgLst>
  <pc:docChgLst>
    <pc:chgData name="Qahtan, A.A.A. (Hakim)" userId="2e0f559b-8f84-4ffd-87e2-eac7fe92b5e6" providerId="ADAL" clId="{3B649067-C090-42C3-8CC0-6B61F46DDD8A}"/>
    <pc:docChg chg="modSld">
      <pc:chgData name="Qahtan, A.A.A. (Hakim)" userId="2e0f559b-8f84-4ffd-87e2-eac7fe92b5e6" providerId="ADAL" clId="{3B649067-C090-42C3-8CC0-6B61F46DDD8A}" dt="2020-03-23T12:23:16.652" v="1" actId="20577"/>
      <pc:docMkLst>
        <pc:docMk/>
      </pc:docMkLst>
      <pc:sldChg chg="modSp">
        <pc:chgData name="Qahtan, A.A.A. (Hakim)" userId="2e0f559b-8f84-4ffd-87e2-eac7fe92b5e6" providerId="ADAL" clId="{3B649067-C090-42C3-8CC0-6B61F46DDD8A}" dt="2020-03-23T12:23:16.652" v="1" actId="20577"/>
        <pc:sldMkLst>
          <pc:docMk/>
          <pc:sldMk cId="2571538080" sldId="335"/>
        </pc:sldMkLst>
        <pc:spChg chg="mod">
          <ac:chgData name="Qahtan, A.A.A. (Hakim)" userId="2e0f559b-8f84-4ffd-87e2-eac7fe92b5e6" providerId="ADAL" clId="{3B649067-C090-42C3-8CC0-6B61F46DDD8A}" dt="2020-03-23T12:23:16.652" v="1" actId="20577"/>
          <ac:spMkLst>
            <pc:docMk/>
            <pc:sldMk cId="2571538080" sldId="335"/>
            <ac:spMk id="3" creationId="{C3DBC05C-E7E5-4AD4-ABEB-21FB4CACCF9E}"/>
          </ac:spMkLst>
        </pc:spChg>
      </pc:sldChg>
    </pc:docChg>
  </pc:docChgLst>
  <pc:docChgLst>
    <pc:chgData name="Qahtan, A.A.A. (Hakim)" userId="2e0f559b-8f84-4ffd-87e2-eac7fe92b5e6" providerId="ADAL" clId="{13CC65BD-843C-4A3B-98C3-94852964BE3C}"/>
    <pc:docChg chg="custSel delSld modSld">
      <pc:chgData name="Qahtan, A.A.A. (Hakim)" userId="2e0f559b-8f84-4ffd-87e2-eac7fe92b5e6" providerId="ADAL" clId="{13CC65BD-843C-4A3B-98C3-94852964BE3C}" dt="2020-03-23T12:20:48.253" v="48" actId="2696"/>
      <pc:docMkLst>
        <pc:docMk/>
      </pc:docMkLst>
      <pc:sldChg chg="modSp">
        <pc:chgData name="Qahtan, A.A.A. (Hakim)" userId="2e0f559b-8f84-4ffd-87e2-eac7fe92b5e6" providerId="ADAL" clId="{13CC65BD-843C-4A3B-98C3-94852964BE3C}" dt="2020-03-23T12:20:22.302" v="2" actId="14"/>
        <pc:sldMkLst>
          <pc:docMk/>
          <pc:sldMk cId="4206597098" sldId="257"/>
        </pc:sldMkLst>
        <pc:spChg chg="mod">
          <ac:chgData name="Qahtan, A.A.A. (Hakim)" userId="2e0f559b-8f84-4ffd-87e2-eac7fe92b5e6" providerId="ADAL" clId="{13CC65BD-843C-4A3B-98C3-94852964BE3C}" dt="2020-03-23T12:20:22.302" v="2" actId="14"/>
          <ac:spMkLst>
            <pc:docMk/>
            <pc:sldMk cId="4206597098" sldId="257"/>
            <ac:spMk id="3" creationId="{C1825166-E312-42E3-86E9-D4580053EAA4}"/>
          </ac:spMkLst>
        </pc:spChg>
      </pc:sldChg>
      <pc:sldChg chg="del">
        <pc:chgData name="Qahtan, A.A.A. (Hakim)" userId="2e0f559b-8f84-4ffd-87e2-eac7fe92b5e6" providerId="ADAL" clId="{13CC65BD-843C-4A3B-98C3-94852964BE3C}" dt="2020-03-23T12:20:27.272" v="6" actId="2696"/>
        <pc:sldMkLst>
          <pc:docMk/>
          <pc:sldMk cId="2658942175" sldId="261"/>
        </pc:sldMkLst>
      </pc:sldChg>
      <pc:sldChg chg="del">
        <pc:chgData name="Qahtan, A.A.A. (Hakim)" userId="2e0f559b-8f84-4ffd-87e2-eac7fe92b5e6" providerId="ADAL" clId="{13CC65BD-843C-4A3B-98C3-94852964BE3C}" dt="2020-03-23T12:20:28.600" v="13" actId="2696"/>
        <pc:sldMkLst>
          <pc:docMk/>
          <pc:sldMk cId="507035026" sldId="262"/>
        </pc:sldMkLst>
      </pc:sldChg>
      <pc:sldChg chg="del">
        <pc:chgData name="Qahtan, A.A.A. (Hakim)" userId="2e0f559b-8f84-4ffd-87e2-eac7fe92b5e6" providerId="ADAL" clId="{13CC65BD-843C-4A3B-98C3-94852964BE3C}" dt="2020-03-23T12:20:30.257" v="19" actId="2696"/>
        <pc:sldMkLst>
          <pc:docMk/>
          <pc:sldMk cId="1218226864" sldId="264"/>
        </pc:sldMkLst>
      </pc:sldChg>
      <pc:sldChg chg="del">
        <pc:chgData name="Qahtan, A.A.A. (Hakim)" userId="2e0f559b-8f84-4ffd-87e2-eac7fe92b5e6" providerId="ADAL" clId="{13CC65BD-843C-4A3B-98C3-94852964BE3C}" dt="2020-03-23T12:20:28.384" v="12" actId="2696"/>
        <pc:sldMkLst>
          <pc:docMk/>
          <pc:sldMk cId="2009740882" sldId="274"/>
        </pc:sldMkLst>
      </pc:sldChg>
      <pc:sldChg chg="del">
        <pc:chgData name="Qahtan, A.A.A. (Hakim)" userId="2e0f559b-8f84-4ffd-87e2-eac7fe92b5e6" providerId="ADAL" clId="{13CC65BD-843C-4A3B-98C3-94852964BE3C}" dt="2020-03-23T12:20:29.543" v="16" actId="2696"/>
        <pc:sldMkLst>
          <pc:docMk/>
          <pc:sldMk cId="663169788" sldId="364"/>
        </pc:sldMkLst>
      </pc:sldChg>
      <pc:sldChg chg="del">
        <pc:chgData name="Qahtan, A.A.A. (Hakim)" userId="2e0f559b-8f84-4ffd-87e2-eac7fe92b5e6" providerId="ADAL" clId="{13CC65BD-843C-4A3B-98C3-94852964BE3C}" dt="2020-03-23T12:20:29.747" v="17" actId="2696"/>
        <pc:sldMkLst>
          <pc:docMk/>
          <pc:sldMk cId="769554929" sldId="371"/>
        </pc:sldMkLst>
      </pc:sldChg>
      <pc:sldChg chg="del">
        <pc:chgData name="Qahtan, A.A.A. (Hakim)" userId="2e0f559b-8f84-4ffd-87e2-eac7fe92b5e6" providerId="ADAL" clId="{13CC65BD-843C-4A3B-98C3-94852964BE3C}" dt="2020-03-23T12:20:32.700" v="24" actId="2696"/>
        <pc:sldMkLst>
          <pc:docMk/>
          <pc:sldMk cId="1252691607" sldId="373"/>
        </pc:sldMkLst>
      </pc:sldChg>
      <pc:sldChg chg="del">
        <pc:chgData name="Qahtan, A.A.A. (Hakim)" userId="2e0f559b-8f84-4ffd-87e2-eac7fe92b5e6" providerId="ADAL" clId="{13CC65BD-843C-4A3B-98C3-94852964BE3C}" dt="2020-03-23T12:20:26.311" v="3" actId="2696"/>
        <pc:sldMkLst>
          <pc:docMk/>
          <pc:sldMk cId="4244312019" sldId="398"/>
        </pc:sldMkLst>
      </pc:sldChg>
      <pc:sldChg chg="del">
        <pc:chgData name="Qahtan, A.A.A. (Hakim)" userId="2e0f559b-8f84-4ffd-87e2-eac7fe92b5e6" providerId="ADAL" clId="{13CC65BD-843C-4A3B-98C3-94852964BE3C}" dt="2020-03-23T12:20:26.612" v="4" actId="2696"/>
        <pc:sldMkLst>
          <pc:docMk/>
          <pc:sldMk cId="3313151198" sldId="399"/>
        </pc:sldMkLst>
      </pc:sldChg>
      <pc:sldChg chg="del">
        <pc:chgData name="Qahtan, A.A.A. (Hakim)" userId="2e0f559b-8f84-4ffd-87e2-eac7fe92b5e6" providerId="ADAL" clId="{13CC65BD-843C-4A3B-98C3-94852964BE3C}" dt="2020-03-23T12:20:26.851" v="5" actId="2696"/>
        <pc:sldMkLst>
          <pc:docMk/>
          <pc:sldMk cId="2832416909" sldId="400"/>
        </pc:sldMkLst>
      </pc:sldChg>
      <pc:sldChg chg="del">
        <pc:chgData name="Qahtan, A.A.A. (Hakim)" userId="2e0f559b-8f84-4ffd-87e2-eac7fe92b5e6" providerId="ADAL" clId="{13CC65BD-843C-4A3B-98C3-94852964BE3C}" dt="2020-03-23T12:20:27.469" v="7" actId="2696"/>
        <pc:sldMkLst>
          <pc:docMk/>
          <pc:sldMk cId="2230743305" sldId="401"/>
        </pc:sldMkLst>
      </pc:sldChg>
      <pc:sldChg chg="del">
        <pc:chgData name="Qahtan, A.A.A. (Hakim)" userId="2e0f559b-8f84-4ffd-87e2-eac7fe92b5e6" providerId="ADAL" clId="{13CC65BD-843C-4A3B-98C3-94852964BE3C}" dt="2020-03-23T12:20:27.631" v="8" actId="2696"/>
        <pc:sldMkLst>
          <pc:docMk/>
          <pc:sldMk cId="572099701" sldId="402"/>
        </pc:sldMkLst>
      </pc:sldChg>
      <pc:sldChg chg="del">
        <pc:chgData name="Qahtan, A.A.A. (Hakim)" userId="2e0f559b-8f84-4ffd-87e2-eac7fe92b5e6" providerId="ADAL" clId="{13CC65BD-843C-4A3B-98C3-94852964BE3C}" dt="2020-03-23T12:20:27.834" v="9" actId="2696"/>
        <pc:sldMkLst>
          <pc:docMk/>
          <pc:sldMk cId="2970839327" sldId="403"/>
        </pc:sldMkLst>
      </pc:sldChg>
      <pc:sldChg chg="del">
        <pc:chgData name="Qahtan, A.A.A. (Hakim)" userId="2e0f559b-8f84-4ffd-87e2-eac7fe92b5e6" providerId="ADAL" clId="{13CC65BD-843C-4A3B-98C3-94852964BE3C}" dt="2020-03-23T12:20:27.994" v="10" actId="2696"/>
        <pc:sldMkLst>
          <pc:docMk/>
          <pc:sldMk cId="4075914249" sldId="404"/>
        </pc:sldMkLst>
      </pc:sldChg>
      <pc:sldChg chg="del">
        <pc:chgData name="Qahtan, A.A.A. (Hakim)" userId="2e0f559b-8f84-4ffd-87e2-eac7fe92b5e6" providerId="ADAL" clId="{13CC65BD-843C-4A3B-98C3-94852964BE3C}" dt="2020-03-23T12:20:28.182" v="11" actId="2696"/>
        <pc:sldMkLst>
          <pc:docMk/>
          <pc:sldMk cId="3365725779" sldId="405"/>
        </pc:sldMkLst>
      </pc:sldChg>
      <pc:sldChg chg="del">
        <pc:chgData name="Qahtan, A.A.A. (Hakim)" userId="2e0f559b-8f84-4ffd-87e2-eac7fe92b5e6" providerId="ADAL" clId="{13CC65BD-843C-4A3B-98C3-94852964BE3C}" dt="2020-03-23T12:20:28.770" v="14" actId="2696"/>
        <pc:sldMkLst>
          <pc:docMk/>
          <pc:sldMk cId="3579968669" sldId="406"/>
        </pc:sldMkLst>
      </pc:sldChg>
      <pc:sldChg chg="del">
        <pc:chgData name="Qahtan, A.A.A. (Hakim)" userId="2e0f559b-8f84-4ffd-87e2-eac7fe92b5e6" providerId="ADAL" clId="{13CC65BD-843C-4A3B-98C3-94852964BE3C}" dt="2020-03-23T12:20:29.288" v="15" actId="2696"/>
        <pc:sldMkLst>
          <pc:docMk/>
          <pc:sldMk cId="4170300963" sldId="407"/>
        </pc:sldMkLst>
      </pc:sldChg>
      <pc:sldChg chg="del">
        <pc:chgData name="Qahtan, A.A.A. (Hakim)" userId="2e0f559b-8f84-4ffd-87e2-eac7fe92b5e6" providerId="ADAL" clId="{13CC65BD-843C-4A3B-98C3-94852964BE3C}" dt="2020-03-23T12:20:29.968" v="18" actId="2696"/>
        <pc:sldMkLst>
          <pc:docMk/>
          <pc:sldMk cId="589255848" sldId="408"/>
        </pc:sldMkLst>
      </pc:sldChg>
      <pc:sldChg chg="del">
        <pc:chgData name="Qahtan, A.A.A. (Hakim)" userId="2e0f559b-8f84-4ffd-87e2-eac7fe92b5e6" providerId="ADAL" clId="{13CC65BD-843C-4A3B-98C3-94852964BE3C}" dt="2020-03-23T12:20:31.914" v="20" actId="2696"/>
        <pc:sldMkLst>
          <pc:docMk/>
          <pc:sldMk cId="3183771203" sldId="409"/>
        </pc:sldMkLst>
      </pc:sldChg>
      <pc:sldChg chg="del">
        <pc:chgData name="Qahtan, A.A.A. (Hakim)" userId="2e0f559b-8f84-4ffd-87e2-eac7fe92b5e6" providerId="ADAL" clId="{13CC65BD-843C-4A3B-98C3-94852964BE3C}" dt="2020-03-23T12:20:32.149" v="21" actId="2696"/>
        <pc:sldMkLst>
          <pc:docMk/>
          <pc:sldMk cId="2132904506" sldId="410"/>
        </pc:sldMkLst>
      </pc:sldChg>
      <pc:sldChg chg="del">
        <pc:chgData name="Qahtan, A.A.A. (Hakim)" userId="2e0f559b-8f84-4ffd-87e2-eac7fe92b5e6" providerId="ADAL" clId="{13CC65BD-843C-4A3B-98C3-94852964BE3C}" dt="2020-03-23T12:20:32.309" v="22" actId="2696"/>
        <pc:sldMkLst>
          <pc:docMk/>
          <pc:sldMk cId="3951643341" sldId="411"/>
        </pc:sldMkLst>
      </pc:sldChg>
      <pc:sldChg chg="del">
        <pc:chgData name="Qahtan, A.A.A. (Hakim)" userId="2e0f559b-8f84-4ffd-87e2-eac7fe92b5e6" providerId="ADAL" clId="{13CC65BD-843C-4A3B-98C3-94852964BE3C}" dt="2020-03-23T12:20:32.486" v="23" actId="2696"/>
        <pc:sldMkLst>
          <pc:docMk/>
          <pc:sldMk cId="736485696" sldId="1055"/>
        </pc:sldMkLst>
      </pc:sldChg>
      <pc:sldChg chg="del">
        <pc:chgData name="Qahtan, A.A.A. (Hakim)" userId="2e0f559b-8f84-4ffd-87e2-eac7fe92b5e6" providerId="ADAL" clId="{13CC65BD-843C-4A3B-98C3-94852964BE3C}" dt="2020-03-23T12:20:33.387" v="25" actId="2696"/>
        <pc:sldMkLst>
          <pc:docMk/>
          <pc:sldMk cId="3414100294" sldId="1056"/>
        </pc:sldMkLst>
      </pc:sldChg>
      <pc:sldChg chg="del">
        <pc:chgData name="Qahtan, A.A.A. (Hakim)" userId="2e0f559b-8f84-4ffd-87e2-eac7fe92b5e6" providerId="ADAL" clId="{13CC65BD-843C-4A3B-98C3-94852964BE3C}" dt="2020-03-23T12:20:33.713" v="26" actId="2696"/>
        <pc:sldMkLst>
          <pc:docMk/>
          <pc:sldMk cId="2981922824" sldId="1057"/>
        </pc:sldMkLst>
      </pc:sldChg>
      <pc:sldChg chg="del">
        <pc:chgData name="Qahtan, A.A.A. (Hakim)" userId="2e0f559b-8f84-4ffd-87e2-eac7fe92b5e6" providerId="ADAL" clId="{13CC65BD-843C-4A3B-98C3-94852964BE3C}" dt="2020-03-23T12:20:33.910" v="27" actId="2696"/>
        <pc:sldMkLst>
          <pc:docMk/>
          <pc:sldMk cId="654067908" sldId="1059"/>
        </pc:sldMkLst>
      </pc:sldChg>
      <pc:sldChg chg="del">
        <pc:chgData name="Qahtan, A.A.A. (Hakim)" userId="2e0f559b-8f84-4ffd-87e2-eac7fe92b5e6" providerId="ADAL" clId="{13CC65BD-843C-4A3B-98C3-94852964BE3C}" dt="2020-03-23T12:20:34.674" v="28" actId="2696"/>
        <pc:sldMkLst>
          <pc:docMk/>
          <pc:sldMk cId="2920067317" sldId="1060"/>
        </pc:sldMkLst>
      </pc:sldChg>
      <pc:sldChg chg="del">
        <pc:chgData name="Qahtan, A.A.A. (Hakim)" userId="2e0f559b-8f84-4ffd-87e2-eac7fe92b5e6" providerId="ADAL" clId="{13CC65BD-843C-4A3B-98C3-94852964BE3C}" dt="2020-03-23T12:20:34.873" v="29" actId="2696"/>
        <pc:sldMkLst>
          <pc:docMk/>
          <pc:sldMk cId="3515783062" sldId="1061"/>
        </pc:sldMkLst>
      </pc:sldChg>
      <pc:sldChg chg="del">
        <pc:chgData name="Qahtan, A.A.A. (Hakim)" userId="2e0f559b-8f84-4ffd-87e2-eac7fe92b5e6" providerId="ADAL" clId="{13CC65BD-843C-4A3B-98C3-94852964BE3C}" dt="2020-03-23T12:20:35.101" v="30" actId="2696"/>
        <pc:sldMkLst>
          <pc:docMk/>
          <pc:sldMk cId="694642340" sldId="1062"/>
        </pc:sldMkLst>
      </pc:sldChg>
      <pc:sldChg chg="del">
        <pc:chgData name="Qahtan, A.A.A. (Hakim)" userId="2e0f559b-8f84-4ffd-87e2-eac7fe92b5e6" providerId="ADAL" clId="{13CC65BD-843C-4A3B-98C3-94852964BE3C}" dt="2020-03-23T12:20:37.904" v="35" actId="2696"/>
        <pc:sldMkLst>
          <pc:docMk/>
          <pc:sldMk cId="3578433346" sldId="1063"/>
        </pc:sldMkLst>
      </pc:sldChg>
      <pc:sldChg chg="del">
        <pc:chgData name="Qahtan, A.A.A. (Hakim)" userId="2e0f559b-8f84-4ffd-87e2-eac7fe92b5e6" providerId="ADAL" clId="{13CC65BD-843C-4A3B-98C3-94852964BE3C}" dt="2020-03-23T12:20:38.361" v="36" actId="2696"/>
        <pc:sldMkLst>
          <pc:docMk/>
          <pc:sldMk cId="301022945" sldId="1064"/>
        </pc:sldMkLst>
      </pc:sldChg>
      <pc:sldChg chg="del">
        <pc:chgData name="Qahtan, A.A.A. (Hakim)" userId="2e0f559b-8f84-4ffd-87e2-eac7fe92b5e6" providerId="ADAL" clId="{13CC65BD-843C-4A3B-98C3-94852964BE3C}" dt="2020-03-23T12:20:39.919" v="37" actId="2696"/>
        <pc:sldMkLst>
          <pc:docMk/>
          <pc:sldMk cId="624390906" sldId="1065"/>
        </pc:sldMkLst>
      </pc:sldChg>
      <pc:sldChg chg="del">
        <pc:chgData name="Qahtan, A.A.A. (Hakim)" userId="2e0f559b-8f84-4ffd-87e2-eac7fe92b5e6" providerId="ADAL" clId="{13CC65BD-843C-4A3B-98C3-94852964BE3C}" dt="2020-03-23T12:20:40.416" v="38" actId="2696"/>
        <pc:sldMkLst>
          <pc:docMk/>
          <pc:sldMk cId="459008096" sldId="1066"/>
        </pc:sldMkLst>
      </pc:sldChg>
      <pc:sldChg chg="del">
        <pc:chgData name="Qahtan, A.A.A. (Hakim)" userId="2e0f559b-8f84-4ffd-87e2-eac7fe92b5e6" providerId="ADAL" clId="{13CC65BD-843C-4A3B-98C3-94852964BE3C}" dt="2020-03-23T12:20:40.653" v="39" actId="2696"/>
        <pc:sldMkLst>
          <pc:docMk/>
          <pc:sldMk cId="3510835478" sldId="1067"/>
        </pc:sldMkLst>
      </pc:sldChg>
      <pc:sldChg chg="del">
        <pc:chgData name="Qahtan, A.A.A. (Hakim)" userId="2e0f559b-8f84-4ffd-87e2-eac7fe92b5e6" providerId="ADAL" clId="{13CC65BD-843C-4A3B-98C3-94852964BE3C}" dt="2020-03-23T12:20:42.846" v="40" actId="2696"/>
        <pc:sldMkLst>
          <pc:docMk/>
          <pc:sldMk cId="1389713778" sldId="1068"/>
        </pc:sldMkLst>
      </pc:sldChg>
      <pc:sldChg chg="del">
        <pc:chgData name="Qahtan, A.A.A. (Hakim)" userId="2e0f559b-8f84-4ffd-87e2-eac7fe92b5e6" providerId="ADAL" clId="{13CC65BD-843C-4A3B-98C3-94852964BE3C}" dt="2020-03-23T12:20:42.955" v="41" actId="2696"/>
        <pc:sldMkLst>
          <pc:docMk/>
          <pc:sldMk cId="3655855791" sldId="1069"/>
        </pc:sldMkLst>
      </pc:sldChg>
      <pc:sldChg chg="del">
        <pc:chgData name="Qahtan, A.A.A. (Hakim)" userId="2e0f559b-8f84-4ffd-87e2-eac7fe92b5e6" providerId="ADAL" clId="{13CC65BD-843C-4A3B-98C3-94852964BE3C}" dt="2020-03-23T12:20:43.304" v="42" actId="2696"/>
        <pc:sldMkLst>
          <pc:docMk/>
          <pc:sldMk cId="1867136095" sldId="1070"/>
        </pc:sldMkLst>
      </pc:sldChg>
      <pc:sldChg chg="del">
        <pc:chgData name="Qahtan, A.A.A. (Hakim)" userId="2e0f559b-8f84-4ffd-87e2-eac7fe92b5e6" providerId="ADAL" clId="{13CC65BD-843C-4A3B-98C3-94852964BE3C}" dt="2020-03-23T12:20:44.380" v="43" actId="2696"/>
        <pc:sldMkLst>
          <pc:docMk/>
          <pc:sldMk cId="2176085780" sldId="1071"/>
        </pc:sldMkLst>
      </pc:sldChg>
      <pc:sldChg chg="del">
        <pc:chgData name="Qahtan, A.A.A. (Hakim)" userId="2e0f559b-8f84-4ffd-87e2-eac7fe92b5e6" providerId="ADAL" clId="{13CC65BD-843C-4A3B-98C3-94852964BE3C}" dt="2020-03-23T12:20:44.969" v="44" actId="2696"/>
        <pc:sldMkLst>
          <pc:docMk/>
          <pc:sldMk cId="773453523" sldId="1072"/>
        </pc:sldMkLst>
      </pc:sldChg>
      <pc:sldChg chg="del">
        <pc:chgData name="Qahtan, A.A.A. (Hakim)" userId="2e0f559b-8f84-4ffd-87e2-eac7fe92b5e6" providerId="ADAL" clId="{13CC65BD-843C-4A3B-98C3-94852964BE3C}" dt="2020-03-23T12:20:36.222" v="31" actId="2696"/>
        <pc:sldMkLst>
          <pc:docMk/>
          <pc:sldMk cId="4055821413" sldId="1073"/>
        </pc:sldMkLst>
      </pc:sldChg>
      <pc:sldChg chg="del">
        <pc:chgData name="Qahtan, A.A.A. (Hakim)" userId="2e0f559b-8f84-4ffd-87e2-eac7fe92b5e6" providerId="ADAL" clId="{13CC65BD-843C-4A3B-98C3-94852964BE3C}" dt="2020-03-23T12:20:36.455" v="32" actId="2696"/>
        <pc:sldMkLst>
          <pc:docMk/>
          <pc:sldMk cId="1915551059" sldId="1074"/>
        </pc:sldMkLst>
      </pc:sldChg>
      <pc:sldChg chg="del">
        <pc:chgData name="Qahtan, A.A.A. (Hakim)" userId="2e0f559b-8f84-4ffd-87e2-eac7fe92b5e6" providerId="ADAL" clId="{13CC65BD-843C-4A3B-98C3-94852964BE3C}" dt="2020-03-23T12:20:36.660" v="33" actId="2696"/>
        <pc:sldMkLst>
          <pc:docMk/>
          <pc:sldMk cId="3380121703" sldId="1075"/>
        </pc:sldMkLst>
      </pc:sldChg>
      <pc:sldChg chg="del">
        <pc:chgData name="Qahtan, A.A.A. (Hakim)" userId="2e0f559b-8f84-4ffd-87e2-eac7fe92b5e6" providerId="ADAL" clId="{13CC65BD-843C-4A3B-98C3-94852964BE3C}" dt="2020-03-23T12:20:37.201" v="34" actId="2696"/>
        <pc:sldMkLst>
          <pc:docMk/>
          <pc:sldMk cId="1084775298" sldId="1076"/>
        </pc:sldMkLst>
      </pc:sldChg>
      <pc:sldChg chg="del">
        <pc:chgData name="Qahtan, A.A.A. (Hakim)" userId="2e0f559b-8f84-4ffd-87e2-eac7fe92b5e6" providerId="ADAL" clId="{13CC65BD-843C-4A3B-98C3-94852964BE3C}" dt="2020-03-23T12:20:45.903" v="45" actId="2696"/>
        <pc:sldMkLst>
          <pc:docMk/>
          <pc:sldMk cId="259756483" sldId="1077"/>
        </pc:sldMkLst>
      </pc:sldChg>
      <pc:sldChg chg="del">
        <pc:chgData name="Qahtan, A.A.A. (Hakim)" userId="2e0f559b-8f84-4ffd-87e2-eac7fe92b5e6" providerId="ADAL" clId="{13CC65BD-843C-4A3B-98C3-94852964BE3C}" dt="2020-03-23T12:20:46.471" v="46" actId="2696"/>
        <pc:sldMkLst>
          <pc:docMk/>
          <pc:sldMk cId="1021523092" sldId="1078"/>
        </pc:sldMkLst>
      </pc:sldChg>
      <pc:sldChg chg="del">
        <pc:chgData name="Qahtan, A.A.A. (Hakim)" userId="2e0f559b-8f84-4ffd-87e2-eac7fe92b5e6" providerId="ADAL" clId="{13CC65BD-843C-4A3B-98C3-94852964BE3C}" dt="2020-03-23T12:20:47.746" v="47" actId="2696"/>
        <pc:sldMkLst>
          <pc:docMk/>
          <pc:sldMk cId="323521412" sldId="1079"/>
        </pc:sldMkLst>
      </pc:sldChg>
      <pc:sldChg chg="del">
        <pc:chgData name="Qahtan, A.A.A. (Hakim)" userId="2e0f559b-8f84-4ffd-87e2-eac7fe92b5e6" providerId="ADAL" clId="{13CC65BD-843C-4A3B-98C3-94852964BE3C}" dt="2020-03-23T12:20:48.253" v="48" actId="2696"/>
        <pc:sldMkLst>
          <pc:docMk/>
          <pc:sldMk cId="504098429" sldId="10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25-09-2025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48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0214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 </a:t>
            </a:r>
          </a:p>
          <a:p>
            <a:pPr algn="ctr"/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(2)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39CA1-9195-B340-D04C-F4ABA5BE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B6E23FF-4C97-F4C2-2690-751F6E8BE8E4}"/>
              </a:ext>
            </a:extLst>
          </p:cNvPr>
          <p:cNvSpPr txBox="1">
            <a:spLocks noChangeArrowheads="1"/>
          </p:cNvSpPr>
          <p:nvPr/>
        </p:nvSpPr>
        <p:spPr>
          <a:xfrm>
            <a:off x="619904" y="545523"/>
            <a:ext cx="6033726" cy="1985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6600" b="1" dirty="0"/>
              <a:t>Reading Material for Today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C20ADF-8E5E-641E-8457-90E0EA17559D}"/>
              </a:ext>
            </a:extLst>
          </p:cNvPr>
          <p:cNvSpPr txBox="1">
            <a:spLocks/>
          </p:cNvSpPr>
          <p:nvPr/>
        </p:nvSpPr>
        <p:spPr>
          <a:xfrm>
            <a:off x="619904" y="2946169"/>
            <a:ext cx="6136496" cy="30888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 Data Mining: Concepts and Techniques Boo</a:t>
            </a:r>
            <a:r>
              <a:rPr lang="nl-NL" sz="2400" dirty="0"/>
              <a:t>k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/>
              <a:t>	CH </a:t>
            </a:r>
            <a:r>
              <a:rPr lang="en-NL" sz="2400" dirty="0"/>
              <a:t>3.3 – 3.5</a:t>
            </a:r>
          </a:p>
          <a:p>
            <a:pPr marL="0" indent="0">
              <a:buNone/>
            </a:pPr>
            <a:endParaRPr lang="en-NL" sz="2400" dirty="0"/>
          </a:p>
          <a:p>
            <a:r>
              <a:rPr lang="en-US" sz="2400" dirty="0"/>
              <a:t>Python for Data Analysis, 3E</a:t>
            </a:r>
          </a:p>
          <a:p>
            <a:pPr marL="457200" lvl="1" indent="0">
              <a:buNone/>
            </a:pPr>
            <a:r>
              <a:rPr lang="en-US" sz="2000" dirty="0"/>
              <a:t>	CH 7.2</a:t>
            </a:r>
          </a:p>
          <a:p>
            <a:endParaRPr lang="nl-NL" sz="24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507E371-CB47-A4B5-2E42-D8206E6AD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3153" y="39184"/>
          <a:ext cx="3022646" cy="391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165" imgH="7543680" progId="Acrobat.Document.DC">
                  <p:embed/>
                </p:oleObj>
              </mc:Choice>
              <mc:Fallback>
                <p:oleObj name="Acrobat Document" r:id="rId2" imgW="5829165" imgH="7543680" progId="Acrobat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507E371-CB47-A4B5-2E42-D8206E6ADB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83153" y="39184"/>
                        <a:ext cx="3022646" cy="391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4B4D77D1-FE4B-F8B5-5DAC-B0E948043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281" y="3701933"/>
            <a:ext cx="2278347" cy="298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DE381-F0E0-4711-4DE4-E141DE71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225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for Today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lang="en-US" altLang="nl-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797" indent="-342797">
              <a:lnSpc>
                <a:spcPct val="150000"/>
              </a:lnSpc>
            </a:pPr>
            <a:r>
              <a:rPr lang="en-US" alt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</a:p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</a:t>
            </a:r>
          </a:p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discretization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5CB8B-0F3D-A116-5CAB-01E6C37E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659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Transformation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E5B39-3D1C-73A1-0F4B-84160E0F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22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A function that maps the entire set of values of a given attribute to a new set of replacement values </a:t>
            </a:r>
            <a:r>
              <a:rPr lang="en-US" altLang="nl-NL" dirty="0" err="1">
                <a:cs typeface="Times New Roman" panose="02020603050405020304" pitchFamily="18" charset="0"/>
              </a:rPr>
              <a:t>s.t.</a:t>
            </a:r>
            <a:r>
              <a:rPr lang="en-US" altLang="nl-NL" dirty="0">
                <a:cs typeface="Times New Roman" panose="02020603050405020304" pitchFamily="18" charset="0"/>
              </a:rPr>
              <a:t> each old value can be identified with one of the new values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Methods</a:t>
            </a:r>
            <a:r>
              <a:rPr lang="en-NL" altLang="nl-NL" dirty="0">
                <a:cs typeface="Times New Roman" panose="02020603050405020304" pitchFamily="18" charset="0"/>
              </a:rPr>
              <a:t> 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 data trans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m</a:t>
            </a:r>
            <a:r>
              <a:rPr lang="nl-NL" altLang="nl-NL" dirty="0">
                <a:cs typeface="Times New Roman" panose="02020603050405020304" pitchFamily="18" charset="0"/>
              </a:rPr>
              <a:t>a</a:t>
            </a:r>
            <a:r>
              <a:rPr lang="en-NL" altLang="nl-NL" dirty="0">
                <a:cs typeface="Times New Roman" panose="02020603050405020304" pitchFamily="18" charset="0"/>
              </a:rPr>
              <a:t>t</a:t>
            </a:r>
            <a:r>
              <a:rPr lang="nl-NL" altLang="nl-NL" dirty="0">
                <a:cs typeface="Times New Roman" panose="02020603050405020304" pitchFamily="18" charset="0"/>
              </a:rPr>
              <a:t>i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n</a:t>
            </a:r>
            <a:endParaRPr lang="en-US" altLang="nl-NL" dirty="0"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Smoothing: Remove noise from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Attribute/feature construction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New attributes constructed from the given ones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Aggregation: Summarization, data cube construction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A605C-89D3-1EF4-C9F7-B6524CAD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350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Methods</a:t>
            </a:r>
            <a:r>
              <a:rPr lang="en-NL" altLang="nl-NL" dirty="0">
                <a:cs typeface="Times New Roman" panose="02020603050405020304" pitchFamily="18" charset="0"/>
              </a:rPr>
              <a:t> 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 data trans</a:t>
            </a:r>
            <a:r>
              <a:rPr lang="nl-NL" altLang="nl-NL" dirty="0">
                <a:cs typeface="Times New Roman" panose="02020603050405020304" pitchFamily="18" charset="0"/>
              </a:rPr>
              <a:t>f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r</a:t>
            </a:r>
            <a:r>
              <a:rPr lang="en-NL" altLang="nl-NL" dirty="0">
                <a:cs typeface="Times New Roman" panose="02020603050405020304" pitchFamily="18" charset="0"/>
              </a:rPr>
              <a:t>m</a:t>
            </a:r>
            <a:r>
              <a:rPr lang="nl-NL" altLang="nl-NL" dirty="0">
                <a:cs typeface="Times New Roman" panose="02020603050405020304" pitchFamily="18" charset="0"/>
              </a:rPr>
              <a:t>a</a:t>
            </a:r>
            <a:r>
              <a:rPr lang="en-NL" altLang="nl-NL" dirty="0">
                <a:cs typeface="Times New Roman" panose="02020603050405020304" pitchFamily="18" charset="0"/>
              </a:rPr>
              <a:t>t</a:t>
            </a:r>
            <a:r>
              <a:rPr lang="nl-NL" altLang="nl-NL" dirty="0">
                <a:cs typeface="Times New Roman" panose="02020603050405020304" pitchFamily="18" charset="0"/>
              </a:rPr>
              <a:t>i</a:t>
            </a:r>
            <a:r>
              <a:rPr lang="en-NL" altLang="nl-NL" dirty="0">
                <a:cs typeface="Times New Roman" panose="02020603050405020304" pitchFamily="18" charset="0"/>
              </a:rPr>
              <a:t>o</a:t>
            </a:r>
            <a:r>
              <a:rPr lang="nl-NL" altLang="nl-NL" dirty="0">
                <a:cs typeface="Times New Roman" panose="02020603050405020304" pitchFamily="18" charset="0"/>
              </a:rPr>
              <a:t>n</a:t>
            </a:r>
            <a:endParaRPr lang="en-US" altLang="nl-NL" dirty="0"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Normalization: Scaled to fall within a smaller, specified range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Min-max normalization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Z-score normalization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Normalization by decimal scaling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</a:rPr>
              <a:t>Data reformatting: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</a:rPr>
              <a:t>E.g. Jack </a:t>
            </a:r>
            <a:r>
              <a:rPr lang="en-US" altLang="nl-NL" sz="2200" dirty="0" err="1">
                <a:cs typeface="Times New Roman" panose="02020603050405020304" pitchFamily="18" charset="0"/>
              </a:rPr>
              <a:t>Wilsher</a:t>
            </a:r>
            <a:r>
              <a:rPr lang="en-US" altLang="nl-NL" sz="2200" dirty="0">
                <a:cs typeface="Times New Roman" panose="02020603050405020304" pitchFamily="18" charset="0"/>
              </a:rPr>
              <a:t> </a:t>
            </a: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nl-NL" sz="2200" dirty="0" err="1">
                <a:cs typeface="Times New Roman" panose="02020603050405020304" pitchFamily="18" charset="0"/>
                <a:sym typeface="Wingdings" panose="05000000000000000000" pitchFamily="2" charset="2"/>
              </a:rPr>
              <a:t>Wilsher</a:t>
            </a: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, J.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cs typeface="Times New Roman" panose="02020603050405020304" pitchFamily="18" charset="0"/>
                <a:sym typeface="Wingdings" panose="05000000000000000000" pitchFamily="2" charset="2"/>
              </a:rPr>
              <a:t>Use the same unit: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Records in inches and cm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cs typeface="Times New Roman" panose="02020603050405020304" pitchFamily="18" charset="0"/>
                <a:sym typeface="Wingdings" panose="05000000000000000000" pitchFamily="2" charset="2"/>
              </a:rPr>
              <a:t>Records with prices in Euros and Dollars</a:t>
            </a:r>
            <a:endParaRPr lang="en-US" altLang="nl-NL" sz="22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266BF-21FB-68A3-5424-ACDBAF51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431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(Standardization)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651" y="2565779"/>
            <a:ext cx="10003809" cy="2593076"/>
          </a:xfrm>
        </p:spPr>
        <p:txBody>
          <a:bodyPr>
            <a:noAutofit/>
          </a:bodyPr>
          <a:lstStyle/>
          <a:p>
            <a:pPr marL="0" indent="0"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nl-NL" sz="3200" dirty="0">
                <a:cs typeface="Times New Roman" panose="02020603050405020304" pitchFamily="18" charset="0"/>
              </a:rPr>
              <a:t>The goal of standardization or normalization is to make an entire set of values have a particular property.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FC727-F14F-8569-ACB0-9E091E45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598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Min-Max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Transform the data from a given range with </a:t>
                </a:r>
                <a14:m>
                  <m:oMath xmlns:m="http://schemas.openxmlformats.org/officeDocument/2006/math">
                    <m:r>
                      <a:rPr lang="en-US" altLang="nl-NL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to a new interval </a:t>
                </a:r>
                <a14:m>
                  <m:oMath xmlns:m="http://schemas.openxmlformats.org/officeDocument/2006/math">
                    <m:r>
                      <a:rPr lang="en-US" altLang="nl-NL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nl-NL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for a given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: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𝑛𝑒𝑤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_</m:t>
                              </m:r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𝑛𝑒𝑤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_</m:t>
                              </m:r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sub>
                              <m:r>
                                <a:rPr lang="en-US" altLang="nl-NL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𝑛𝑒𝑤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marL="0" indent="225425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the current value of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.</a:t>
                </a:r>
                <a:endParaRPr lang="en-US" altLang="nl-NL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5116FD-7C6C-A1A2-1A29-945AE67F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703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Min-Max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Suppose that the minimum and the maximum in the attribute income are €12,000 and €98,000, respectively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We would like to map the income into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nl-NL" b="0" dirty="0"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Using min-max normalization, a value of €73,600 for income is transformed into: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nl-NL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73,600−12,000</m:t>
                          </m:r>
                        </m:num>
                        <m:den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98,000−12,000</m:t>
                          </m:r>
                        </m:den>
                      </m:f>
                      <m:d>
                        <m:d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1.0−0.0</m:t>
                          </m:r>
                        </m:e>
                      </m:d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+0.0=0.716</m:t>
                      </m:r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r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055ED-C79E-51BD-8537-C2753F2A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0495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Z-Score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Transform the data by converting the values to a common scale with an average of zero and a standard deviation of one. 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A value,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, of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normalized to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by computing: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nl-NL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altLang="nl-NL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marL="290513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are the mean and standard deviation of attribute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, respectively.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r="-585"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8D12E5-68CA-EC55-2619-BC88A6CF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3238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Z-Score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Example: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Suppose that the mean and standard deviation of the values for the feature income are 54,000 and 16,000, respectively. With z-score normalization, a value of €73,600 for income is transformed to:</a:t>
                </a:r>
              </a:p>
              <a:p>
                <a:pPr marL="457200" lvl="1"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73,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00−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,000</m:t>
                          </m:r>
                        </m:num>
                        <m:den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nl-NL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nl-NL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,000</m:t>
                          </m:r>
                        </m:den>
                      </m:f>
                      <m:r>
                        <a:rPr lang="en-US" altLang="nl-NL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nl-NL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nl-NL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225</m:t>
                      </m:r>
                    </m:oMath>
                  </m:oMathPara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endParaRPr lang="en-US" altLang="nl-N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t="-1980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119DA0-82EF-E2D4-3C51-4228D6E6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69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Transform the data by moving the decimal points of values of attribute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number of decimal points moved depends on the maximum absolute value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A value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normalized to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by computing: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sSup>
                          <m:sSup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den>
                    </m:f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marL="0" indent="225425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nl-NL" dirty="0"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the smallest integer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nl-NL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nl-NL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nl-NL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nl-NL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nl-NL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nl-NL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endParaRPr lang="en-US" altLang="nl-NL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  <a:blipFill>
                <a:blip r:embed="rId2"/>
                <a:stretch>
                  <a:fillRect l="-992" t="-1907" r="-132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9D1EDC-E072-584E-8A96-042A8247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64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–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Example: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Suppose that the recorded values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range from −986 to 917. 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maximum absolute value of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is 986. 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nl-NL" dirty="0">
                    <a:cs typeface="Times New Roman" panose="02020603050405020304" pitchFamily="18" charset="0"/>
                  </a:rPr>
                  <a:t>To normalize by decimal scaling, we divide each value by 1,000 (i.e.,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) so that −986 normalizes to −0.986 and 917 normalizes to 0.917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29C7DA-FDCF-496C-B970-6BBBD7BD5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799" y="1379622"/>
                <a:ext cx="11059459" cy="5113252"/>
              </a:xfrm>
              <a:blipFill>
                <a:blip r:embed="rId2"/>
                <a:stretch>
                  <a:fillRect l="-1033" r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6BD3F8-92BD-3194-EEE5-B2951658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5788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nl-N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flash fill of Microsoft Excel to convert set of names from the format </a:t>
            </a:r>
            <a:r>
              <a:rPr lang="en-US" altLang="nl-NL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Family_name</a:t>
            </a:r>
            <a:r>
              <a:rPr lang="en-US" altLang="nl-N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nl-NL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altLang="nl-N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l-NL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middle_initial</a:t>
            </a:r>
            <a:r>
              <a:rPr lang="en-US" altLang="nl-N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</a:t>
            </a:r>
            <a:r>
              <a:rPr lang="en-US" altLang="nl-NL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altLang="nl-N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l-NL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Family_name</a:t>
            </a:r>
            <a:endParaRPr lang="en-US" altLang="nl-NL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nl-N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altLang="nl-NL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Wilsher</a:t>
            </a:r>
            <a:r>
              <a:rPr lang="en-US" altLang="nl-NL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K. to John </a:t>
            </a:r>
            <a:r>
              <a:rPr lang="en-US" altLang="nl-NL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Wilsher</a:t>
            </a:r>
            <a:endParaRPr lang="en-US" altLang="nl-NL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253FA-51C0-928C-18A5-B66EA0A0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776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Integration (Revisited)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40439-F76A-D3E4-8603-10AE5216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5594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9915236" cy="51132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sz="3000" dirty="0">
                <a:cs typeface="Times New Roman" panose="02020603050405020304" pitchFamily="18" charset="0"/>
              </a:rPr>
              <a:t>Combines data from multiple sources into a coherent store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Schema integration: e.g., </a:t>
            </a:r>
            <a:r>
              <a:rPr lang="en-US" altLang="nl-NL" dirty="0" err="1">
                <a:cs typeface="Times New Roman" panose="02020603050405020304" pitchFamily="18" charset="0"/>
              </a:rPr>
              <a:t>A.cust</a:t>
            </a:r>
            <a:r>
              <a:rPr lang="en-US" altLang="nl-NL" dirty="0">
                <a:cs typeface="Times New Roman" panose="02020603050405020304" pitchFamily="18" charset="0"/>
              </a:rPr>
              <a:t>-id </a:t>
            </a:r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 </a:t>
            </a:r>
            <a:r>
              <a:rPr lang="en-US" altLang="nl-NL" dirty="0" err="1">
                <a:cs typeface="Times New Roman" panose="02020603050405020304" pitchFamily="18" charset="0"/>
                <a:sym typeface="Symbol" panose="05050102010706020507" pitchFamily="18" charset="2"/>
              </a:rPr>
              <a:t>B.</a:t>
            </a:r>
            <a:r>
              <a:rPr lang="en-US" altLang="nl-NL" dirty="0" err="1">
                <a:cs typeface="Times New Roman" panose="02020603050405020304" pitchFamily="18" charset="0"/>
              </a:rPr>
              <a:t>cust</a:t>
            </a:r>
            <a:r>
              <a:rPr lang="en-US" altLang="nl-NL" dirty="0">
                <a:cs typeface="Times New Roman" panose="02020603050405020304" pitchFamily="18" charset="0"/>
              </a:rPr>
              <a:t>-No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Integrate metadata from different sources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Entity identification problem: 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Identify real world entities from multiple data sources, e.g., Bill Clinton = William Clinton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Detecting and resolving data value conflicts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For the same real-world entity, attribute values from different sources are different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Possible reasons: different representations, different scales, e.g., metric vs. British units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52416-D11C-27D5-FC18-1432B150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1354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nl-NL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nl-NL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Data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Handling data redundancy is an important task of the data integration 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Duplicate records can be identified by applying entity resolution techniques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Redundant attributes can be detected by correlation and covariance analysis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Careful integration of the data from multiple sources may help reduce/avoid redundancies and inconsistencies and improve mining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E30EC-1371-FF4C-1F4F-32B60682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2252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i="1" dirty="0"/>
              <a:t>Problem of identifying and linking/grouping  different representations of the same real-world object. </a:t>
            </a:r>
          </a:p>
          <a:p>
            <a:pPr>
              <a:buNone/>
            </a:pPr>
            <a:endParaRPr lang="en-US" i="1" dirty="0"/>
          </a:p>
          <a:p>
            <a:pPr>
              <a:buNone/>
            </a:pPr>
            <a:r>
              <a:rPr lang="en-US" dirty="0"/>
              <a:t>Examples: </a:t>
            </a:r>
          </a:p>
          <a:p>
            <a:r>
              <a:rPr lang="en-US" dirty="0"/>
              <a:t>Different ways of addressing (names, email addresses, </a:t>
            </a:r>
            <a:r>
              <a:rPr lang="en-US" dirty="0" err="1"/>
              <a:t>FaceBook</a:t>
            </a:r>
            <a:r>
              <a:rPr lang="en-US" dirty="0"/>
              <a:t> accounts) the same person in text.</a:t>
            </a:r>
          </a:p>
          <a:p>
            <a:r>
              <a:rPr lang="en-US" dirty="0"/>
              <a:t>Web pages with differing descriptions of the same business.</a:t>
            </a:r>
          </a:p>
          <a:p>
            <a:r>
              <a:rPr lang="en-US" dirty="0"/>
              <a:t>Different photos of the same object.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0C3F9-046D-EC5A-168D-5897711E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0477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Ironically, Entity Resolution has Many Duplicate Names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6C8E394F-C78A-B946-BAE1-4A629DDD3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479" y="5452279"/>
            <a:ext cx="1095913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Doubles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EEC68BD-16A6-5545-91F5-657ABE2A8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1655" y="1966648"/>
            <a:ext cx="2286625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Duplicate detection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CDC9220-8245-014E-872C-5D45ACD48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857" y="1698189"/>
            <a:ext cx="1775188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Record linkage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801582CA-DAB5-9848-972E-92AE260B1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54" y="3344778"/>
            <a:ext cx="1703945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Deduplication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8B5CD394-F852-0846-95EA-C079C5352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848" y="2851729"/>
            <a:ext cx="2384578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Object identification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B33821ED-1ED8-084B-A45B-23DE692FE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528" y="2812124"/>
            <a:ext cx="2403352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Object consolidation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1F050976-0BC1-DC48-9D57-CE5C11AE7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375" y="3886200"/>
            <a:ext cx="1936236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Entity clustering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0E1DD8E1-79A2-5F45-A821-FCC9FC288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90" y="1290363"/>
            <a:ext cx="2783831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Reference reconciliation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05478F2D-6800-4743-A993-AC2E0FBA3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1" y="5562600"/>
            <a:ext cx="2318477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Reference matching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42155A08-767C-3D49-BDEB-517E5ADF6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6392" y="4694563"/>
            <a:ext cx="2396360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Household matching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18" name="AutoShape 16">
            <a:extLst>
              <a:ext uri="{FF2B5EF4-FFF2-40B4-BE49-F238E27FC236}">
                <a16:creationId xmlns:a16="http://schemas.microsoft.com/office/drawing/2014/main" id="{834CDDAB-B846-0946-BBF3-2509EC351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475" y="2436342"/>
            <a:ext cx="1514007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Fuzzy match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B200991C-BCD3-8B49-A53A-D4965679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4" y="4231909"/>
            <a:ext cx="2307990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Approximate match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21" name="AutoShape 19">
            <a:extLst>
              <a:ext uri="{FF2B5EF4-FFF2-40B4-BE49-F238E27FC236}">
                <a16:creationId xmlns:a16="http://schemas.microsoft.com/office/drawing/2014/main" id="{40809055-4353-E54B-94E7-4E7F3FA9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180" y="6110546"/>
            <a:ext cx="2916872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Hardening soft databases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C426D4B-A969-4D4B-BC8A-CB02269C9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343400"/>
            <a:ext cx="2322038" cy="44267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Identity uncertainty</a:t>
            </a:r>
            <a:endParaRPr lang="de-DE" sz="2000" b="1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46E89-2286-E7D9-D00E-CBF7BE2E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1014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Normalization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dirty="0"/>
              <a:t>Schema Normalization </a:t>
            </a:r>
          </a:p>
          <a:p>
            <a:pPr lvl="1"/>
            <a:r>
              <a:rPr lang="en-US" dirty="0"/>
              <a:t>Schema matching: e.g., Contact No. vs. Phone</a:t>
            </a:r>
          </a:p>
          <a:p>
            <a:pPr lvl="1"/>
            <a:r>
              <a:rPr lang="en-US" dirty="0"/>
              <a:t>Compound attributes: e.g., address vs. (street, city, zip)</a:t>
            </a:r>
          </a:p>
          <a:p>
            <a:r>
              <a:rPr lang="en-US" dirty="0"/>
              <a:t>Data Normalization</a:t>
            </a:r>
          </a:p>
          <a:p>
            <a:pPr lvl="1"/>
            <a:r>
              <a:rPr lang="en-US" dirty="0"/>
              <a:t>Capitalization, white-space normalization</a:t>
            </a:r>
          </a:p>
          <a:p>
            <a:pPr lvl="1"/>
            <a:r>
              <a:rPr lang="en-US" dirty="0"/>
              <a:t>Correcting typos, replacing abbreviations, variations, nick names</a:t>
            </a:r>
          </a:p>
          <a:p>
            <a:pPr lvl="2"/>
            <a:r>
              <a:rPr lang="en-US" dirty="0"/>
              <a:t>Usually done by employing dictionaries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288B8-94FE-4F33-E60A-51B9A8CF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7598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Matching Features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dirty="0"/>
              <a:t>Given two records, compute a vector of similarity scores for corresponding features</a:t>
            </a:r>
          </a:p>
          <a:p>
            <a:r>
              <a:rPr lang="en-US" dirty="0"/>
              <a:t>E.g., to match two bibliographical references, compute:</a:t>
            </a:r>
          </a:p>
          <a:p>
            <a:pPr lvl="1"/>
            <a:r>
              <a:rPr lang="en-US" dirty="0"/>
              <a:t>First author match score</a:t>
            </a:r>
          </a:p>
          <a:p>
            <a:pPr lvl="1"/>
            <a:r>
              <a:rPr lang="en-US" dirty="0"/>
              <a:t>Title match score</a:t>
            </a:r>
          </a:p>
          <a:p>
            <a:pPr lvl="1"/>
            <a:r>
              <a:rPr lang="en-US" dirty="0"/>
              <a:t>Venue match score</a:t>
            </a:r>
          </a:p>
          <a:p>
            <a:pPr lvl="1"/>
            <a:r>
              <a:rPr lang="en-US" dirty="0"/>
              <a:t>Year match score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Score can be Boolean (match/mismatch) or a continuous value based on specific similarity measure (distance function).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4FFB8-5CE6-E055-6CE9-095D8CCF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4134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Similarity Measures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dirty="0"/>
              <a:t>Atomic similarity measures</a:t>
            </a:r>
          </a:p>
          <a:p>
            <a:pPr lvl="1"/>
            <a:r>
              <a:rPr lang="en-US" dirty="0"/>
              <a:t>Difference between numerical values</a:t>
            </a:r>
          </a:p>
          <a:p>
            <a:pPr lvl="1"/>
            <a:r>
              <a:rPr lang="en-US" dirty="0" err="1"/>
              <a:t>Jaro</a:t>
            </a:r>
            <a:r>
              <a:rPr lang="en-US" dirty="0"/>
              <a:t> for comparing names</a:t>
            </a:r>
          </a:p>
          <a:p>
            <a:pPr lvl="1"/>
            <a:r>
              <a:rPr lang="en-US" dirty="0"/>
              <a:t>Edit distance for typos </a:t>
            </a:r>
          </a:p>
          <a:p>
            <a:pPr lvl="1"/>
            <a:r>
              <a:rPr lang="en-US" dirty="0"/>
              <a:t>Phonetic-based </a:t>
            </a:r>
          </a:p>
          <a:p>
            <a:pPr lvl="2"/>
            <a:r>
              <a:rPr lang="en-US" dirty="0"/>
              <a:t>Soundex</a:t>
            </a:r>
          </a:p>
          <a:p>
            <a:r>
              <a:rPr lang="en-US" dirty="0"/>
              <a:t>Set similarity</a:t>
            </a:r>
          </a:p>
          <a:p>
            <a:pPr lvl="1"/>
            <a:r>
              <a:rPr lang="en-US" dirty="0"/>
              <a:t>Jaccard similarity</a:t>
            </a:r>
          </a:p>
          <a:p>
            <a:r>
              <a:rPr lang="en-US" dirty="0"/>
              <a:t>Vector-based</a:t>
            </a:r>
          </a:p>
          <a:p>
            <a:pPr lvl="1"/>
            <a:r>
              <a:rPr lang="en-US" dirty="0"/>
              <a:t>Cosine similarity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4B939-776D-41D5-F585-ADCC6131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2849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Resolution – Issues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Similarity measures has different scales</a:t>
                </a:r>
              </a:p>
              <a:p>
                <a:pPr lvl="1"/>
                <a:r>
                  <a:rPr lang="en-US" dirty="0"/>
                  <a:t>How to combine the different values to compare the tuples</a:t>
                </a:r>
              </a:p>
              <a:p>
                <a:r>
                  <a:rPr lang="en-US" dirty="0"/>
                  <a:t>Pairwise similarity between records is expensive</a:t>
                </a:r>
              </a:p>
              <a:p>
                <a:pPr lvl="1"/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Blocking to reduce the quadratic time complexity </a:t>
                </a:r>
              </a:p>
              <a:p>
                <a:pPr lvl="1"/>
                <a:r>
                  <a:rPr lang="en-US" dirty="0"/>
                  <a:t>Divide the records into blocks </a:t>
                </a:r>
              </a:p>
              <a:p>
                <a:pPr lvl="1"/>
                <a:r>
                  <a:rPr lang="en-US" dirty="0"/>
                  <a:t>Perform pairwise comparison between records within the same block only</a:t>
                </a:r>
              </a:p>
              <a:p>
                <a:pPr lvl="1"/>
                <a:r>
                  <a:rPr lang="en-US" dirty="0" err="1"/>
                  <a:t>When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𝑏𝑙𝑜𝑐𝑘𝑠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block size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, the time complexity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839824" cy="5113252"/>
              </a:xfrm>
              <a:blipFill>
                <a:blip r:embed="rId2"/>
                <a:stretch>
                  <a:fillRect l="-1054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F6312-EDFC-A15B-8202-7F5F541B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7390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Reduction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5B7C1-38DA-0D1C-0E30-C84A4009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8431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r>
              <a:rPr lang="en-US" altLang="nl-NL" b="1" dirty="0">
                <a:cs typeface="Times New Roman" panose="02020603050405020304" pitchFamily="18" charset="0"/>
              </a:rPr>
              <a:t>Data reduction</a:t>
            </a:r>
            <a:r>
              <a:rPr lang="en-US" altLang="nl-NL" dirty="0">
                <a:cs typeface="Times New Roman" panose="02020603050405020304" pitchFamily="18" charset="0"/>
              </a:rPr>
              <a:t>: obtain a reduced representation of the dataset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Much smaller in volume but yet produces the same (or almost the same) analytical results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Why data reduction?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A dataset could be extremely large – Complex data analysis may take a very long time to run on the complete dataset.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Data reduction strategies (attribute level)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Dimensionality reduction, e.g., remove unimportant attributes</a:t>
            </a:r>
          </a:p>
          <a:p>
            <a:pPr lvl="2"/>
            <a:r>
              <a:rPr lang="en-US" altLang="nl-NL" sz="2200" dirty="0">
                <a:cs typeface="Times New Roman" panose="02020603050405020304" pitchFamily="18" charset="0"/>
              </a:rPr>
              <a:t>Principal Components Analysis (PCA)</a:t>
            </a:r>
          </a:p>
          <a:p>
            <a:pPr lvl="2"/>
            <a:r>
              <a:rPr lang="en-US" altLang="nl-NL" sz="2200" dirty="0">
                <a:cs typeface="Times New Roman" panose="02020603050405020304" pitchFamily="18" charset="0"/>
              </a:rPr>
              <a:t>Singular Value Decomposition (SVD)</a:t>
            </a:r>
          </a:p>
          <a:p>
            <a:pPr lvl="2"/>
            <a:r>
              <a:rPr lang="en-US" altLang="nl-NL" sz="2200" dirty="0">
                <a:cs typeface="Times New Roman" panose="02020603050405020304" pitchFamily="18" charset="0"/>
              </a:rPr>
              <a:t>Feature subset selection, feature creation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B5AB6-6D83-2B0A-A37C-7CC0BE8D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1332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839824" cy="51132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Curse of dimensionality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When dimensionality increases, data becomes increasingly sparse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Density and distance between points, which is critical to clustering, outlier analysis, becomes less meaningful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possible combinations of subspaces will grow exponentially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Dimensionality reduction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Avoid the curse of dimensionality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Help eliminate irrelevant features and reduce noise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Reduce time and space required in data mining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Allow easier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D418F-B57A-9EE9-CB49-D58DBABC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2098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6839813" cy="511325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Find a projection that captures the largest amount of variation in data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original data are projected onto a much smaller space, resulting in dimensionality reduction. 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We find the eigenvectors of the covariance matrix, and these eigenvectors define the new space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1C1D07D-7486-454C-9A0E-97CB5B03D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409409"/>
              </p:ext>
            </p:extLst>
          </p:nvPr>
        </p:nvGraphicFramePr>
        <p:xfrm>
          <a:off x="7398613" y="2151185"/>
          <a:ext cx="4793387" cy="359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333701" imgH="4000420" progId="AcroExch.Document.DC">
                  <p:embed/>
                </p:oleObj>
              </mc:Choice>
              <mc:Fallback>
                <p:oleObj name="Acrobat Document" r:id="rId2" imgW="5333701" imgH="4000420" progId="AcroExch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1C1D07D-7486-454C-9A0E-97CB5B03D6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8613" y="2151185"/>
                        <a:ext cx="4793387" cy="3595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981B0-4FE0-369F-BE6D-114F6264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6857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(Steps)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237382"/>
                <a:ext cx="11431142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data vectors from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-dimensions, find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principal components that can accurately represent the data 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Normalize input data: each attribute falls within the same range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orthonormal (unit) vectors, i.e., principal components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Each input data (vector) is a linear combination of the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principal component vectors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principal components are sorted in order of decreasing “significance” or strength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components are sorted</a:t>
                </a:r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Reduce the data dimensionality by eliminating the weak components</a:t>
                </a:r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Weak components have low variance </a:t>
                </a:r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We can reconstruct a good approximation of the original data using strong components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Works for numeric data only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237382"/>
                <a:ext cx="11431142" cy="5113252"/>
              </a:xfrm>
              <a:blipFill>
                <a:blip r:embed="rId2"/>
                <a:stretch>
                  <a:fillRect l="-999" t="-248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F81C9-4594-BA73-2AA7-AA6755A0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7336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C506008-853B-4F70-BC4E-22E85C06E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55" y="1554321"/>
            <a:ext cx="5095545" cy="3144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for Dimensionality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237382"/>
                <a:ext cx="10668000" cy="51132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nl-NL" sz="2600" dirty="0">
                    <a:cs typeface="Times New Roman" panose="02020603050405020304" pitchFamily="18" charset="0"/>
                  </a:rPr>
                  <a:t>Can ignore the components of lesser significance.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en-US" altLang="nl-NL" sz="2400" dirty="0">
                  <a:cs typeface="Times New Roman" panose="02020603050405020304" pitchFamily="18" charset="0"/>
                </a:endParaRPr>
              </a:p>
              <a:p>
                <a:endParaRPr lang="en-US" altLang="nl-NL" sz="2000" dirty="0"/>
              </a:p>
              <a:p>
                <a:endParaRPr lang="en-US" altLang="nl-NL" sz="2000" dirty="0"/>
              </a:p>
              <a:p>
                <a:endParaRPr lang="en-US" altLang="nl-NL" sz="2000" dirty="0"/>
              </a:p>
              <a:p>
                <a:endParaRPr lang="en-US" altLang="nl-NL" sz="2000" dirty="0"/>
              </a:p>
              <a:p>
                <a:endParaRPr lang="en-US" altLang="nl-NL" sz="2400" dirty="0"/>
              </a:p>
              <a:p>
                <a:r>
                  <a:rPr lang="en-US" altLang="nl-NL" sz="2600" dirty="0"/>
                  <a:t>You </a:t>
                </a:r>
                <a:r>
                  <a:rPr lang="en-US" altLang="nl-NL" sz="2600" dirty="0">
                    <a:solidFill>
                      <a:srgbClr val="0066FF"/>
                    </a:solidFill>
                  </a:rPr>
                  <a:t>lose some information</a:t>
                </a:r>
                <a:r>
                  <a:rPr lang="en-US" altLang="nl-NL" sz="2600" dirty="0"/>
                  <a:t>, but if the eigenvalues are small, it is not much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nl-NL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nl-NL" sz="2200" dirty="0"/>
                  <a:t> dimensions in original data </a:t>
                </a:r>
              </a:p>
              <a:p>
                <a:pPr lvl="1"/>
                <a:r>
                  <a:rPr lang="en-US" altLang="nl-NL" sz="2200" dirty="0"/>
                  <a:t>calculate</a:t>
                </a:r>
                <a:r>
                  <a:rPr lang="en-US" altLang="nl-NL" sz="22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nl-NL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nl-NL" sz="2200" dirty="0"/>
                  <a:t> eigenvectors and eigenvalues</a:t>
                </a:r>
              </a:p>
              <a:p>
                <a:pPr lvl="1"/>
                <a:r>
                  <a:rPr lang="en-US" altLang="nl-NL" sz="2200" dirty="0"/>
                  <a:t>choose only the first </a:t>
                </a:r>
                <a14:m>
                  <m:oMath xmlns:m="http://schemas.openxmlformats.org/officeDocument/2006/math">
                    <m:r>
                      <a:rPr lang="en-US" altLang="nl-NL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nl-NL" sz="2200" dirty="0"/>
                  <a:t> eigenvectors, based on their eigenvalues (eigenvectors with eigenvalues greater than 1 are considered important)</a:t>
                </a:r>
              </a:p>
              <a:p>
                <a:pPr lvl="1"/>
                <a:r>
                  <a:rPr lang="en-US" altLang="nl-NL" sz="2200" dirty="0"/>
                  <a:t>final data set has only </a:t>
                </a:r>
                <a14:m>
                  <m:oMath xmlns:m="http://schemas.openxmlformats.org/officeDocument/2006/math">
                    <m:r>
                      <a:rPr lang="en-US" altLang="nl-NL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nl-NL" sz="2200" dirty="0"/>
                  <a:t> dimensions</a:t>
                </a:r>
                <a:endParaRPr lang="en-US" altLang="nl-NL" sz="22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237382"/>
                <a:ext cx="10668000" cy="5113252"/>
              </a:xfrm>
              <a:blipFill>
                <a:blip r:embed="rId3"/>
                <a:stretch>
                  <a:fillRect l="-914" t="-954" b="-333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5E095-1498-73ED-F2F9-85FB549F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2229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Subset Selection for Data Reduction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Another way to reduce dimensionality of data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Redundant attributes 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Duplicate much or all of the information contained in one or more other attributes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E.g., purchase price of a product and the amount of sales tax paid</a:t>
            </a:r>
          </a:p>
          <a:p>
            <a:pPr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Irrelevant attributes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Contain no information that is useful for the data mining task at hand</a:t>
            </a:r>
          </a:p>
          <a:p>
            <a:pPr lvl="1">
              <a:lnSpc>
                <a:spcPct val="11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E.g., students' ID is often irrelevant to the task of predicting students' GPA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A61A5-7622-F4CE-991E-2BED9C89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6355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(instances or examples level)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Linear regression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Data modeled to fit a straight line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Often uses the least-square method to fit the line</a:t>
            </a:r>
          </a:p>
          <a:p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Multiple regression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Allows a response variable Y to be modeled as a linear function of multidimensional feature vector</a:t>
            </a:r>
            <a:endParaRPr lang="en-US" altLang="nl-NL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Log-linear model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Approximate data by a function whose logarithm is linear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0FB1D-1954-0360-A994-C674DE7F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8234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for Instance Level 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6943647" cy="49710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Divide data into buckets and store average (sum) for each bucket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Partitioning rules: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Equal-width: equal bucket range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Equal-frequency (or equal-depth)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ACB769B-81EC-4037-A950-A39153A1A8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451438"/>
              </p:ext>
            </p:extLst>
          </p:nvPr>
        </p:nvGraphicFramePr>
        <p:xfrm>
          <a:off x="7502447" y="1524002"/>
          <a:ext cx="5604248" cy="2847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7915772" imgH="3848582" progId="MSGraph.Chart.8">
                  <p:embed followColorScheme="full"/>
                </p:oleObj>
              </mc:Choice>
              <mc:Fallback>
                <p:oleObj name="Chart" r:id="rId2" imgW="7915772" imgH="3848582" progId="MSGraph.Chart.8">
                  <p:embed followColorScheme="full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ACB769B-81EC-4037-A950-A39153A1A86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2447" y="1524002"/>
                        <a:ext cx="5604248" cy="2847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2F66A-F706-E008-9FCF-C7700793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7971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Clustering-Based 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Partition data set into clusters based on similarity, and store cluster representation (e.g., centroid and diameter) only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Can be very effective if data is clustered but not if data is “smeared”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There are many choices of clustering definitions and clustering algorithms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solidFill>
                  <a:srgbClr val="C00000"/>
                </a:solidFill>
                <a:cs typeface="Times New Roman" panose="02020603050405020304" pitchFamily="18" charset="0"/>
              </a:rPr>
              <a:t>Clustering will be studied in more details in weeks 7 &amp; 8</a:t>
            </a:r>
            <a:endParaRPr lang="en-US" altLang="nl-NL" dirty="0">
              <a:solidFill>
                <a:srgbClr val="C0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B1931-E834-B7EF-4368-DE398961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1275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Sampling-Based Data Reduction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795000" cy="497101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Sampling: obtaining a small sample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to represent the whole data set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endParaRPr lang="en-US" altLang="nl-NL" i="1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Allow a mining algorithm to run in complexity that is potentially sub-linear to the size of the data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Key principle: Choose a representative subset of the data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Simple random sampling may have very poor performance in the presence of skew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Develop adaptive sampling methods, e.g., stratified sampling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Note: Sampling may not reduce database I/</a:t>
                </a:r>
                <a:r>
                  <a:rPr lang="en-US" altLang="nl-NL" dirty="0" err="1">
                    <a:cs typeface="Times New Roman" panose="02020603050405020304" pitchFamily="18" charset="0"/>
                  </a:rPr>
                  <a:t>Os</a:t>
                </a:r>
                <a:r>
                  <a:rPr lang="en-US" altLang="nl-NL" dirty="0">
                    <a:cs typeface="Times New Roman" panose="02020603050405020304" pitchFamily="18" charset="0"/>
                  </a:rPr>
                  <a:t> (page at a time)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795000" cy="4971012"/>
              </a:xfrm>
              <a:blipFill>
                <a:blip r:embed="rId2"/>
                <a:stretch>
                  <a:fillRect l="-1016" t="-12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2425C-F3A4-CE5C-88EC-E8AEAEED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0318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r>
              <a:rPr lang="en-US" altLang="nl-NL" dirty="0">
                <a:cs typeface="Times New Roman" panose="02020603050405020304" pitchFamily="18" charset="0"/>
              </a:rPr>
              <a:t>Simple random sampling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There is an equal probability of selecting any particular item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Sampling without replacement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Once an object is selected, it is removed from the population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Sampling with replacement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A selected object is not removed from the population</a:t>
            </a:r>
          </a:p>
          <a:p>
            <a:r>
              <a:rPr lang="en-US" altLang="nl-NL" dirty="0">
                <a:cs typeface="Times New Roman" panose="02020603050405020304" pitchFamily="18" charset="0"/>
              </a:rPr>
              <a:t>Stratified sampling: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Partition the data set, and draw samples from each partition (proportionally, i.e., approximately the same percentage of the data) </a:t>
            </a:r>
          </a:p>
          <a:p>
            <a:pPr lvl="1"/>
            <a:r>
              <a:rPr lang="en-US" altLang="nl-NL" dirty="0">
                <a:cs typeface="Times New Roman" panose="02020603050405020304" pitchFamily="18" charset="0"/>
              </a:rPr>
              <a:t>Used in conjunction with skewed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81C2-AD8F-3533-CBC2-CE00D5A7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5700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– with or without Replacement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3D282A4E-D0E6-4D18-BC86-D7E7B3D19D91}"/>
              </a:ext>
            </a:extLst>
          </p:cNvPr>
          <p:cNvSpPr txBox="1">
            <a:spLocks noChangeArrowheads="1"/>
          </p:cNvSpPr>
          <p:nvPr/>
        </p:nvSpPr>
        <p:spPr bwMode="auto">
          <a:xfrm rot="20586437">
            <a:off x="5049252" y="2819400"/>
            <a:ext cx="22050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SRSWOR</a:t>
            </a:r>
          </a:p>
          <a:p>
            <a:r>
              <a:rPr lang="en-US" altLang="nl-NL">
                <a:latin typeface="Times New Roman" panose="02020603050405020304" pitchFamily="18" charset="0"/>
              </a:rPr>
              <a:t>(simple random</a:t>
            </a:r>
          </a:p>
          <a:p>
            <a:r>
              <a:rPr lang="en-US" altLang="nl-NL">
                <a:latin typeface="Times New Roman" panose="02020603050405020304" pitchFamily="18" charset="0"/>
              </a:rPr>
              <a:t> sample without </a:t>
            </a:r>
          </a:p>
          <a:p>
            <a:r>
              <a:rPr lang="en-US" altLang="nl-NL">
                <a:latin typeface="Times New Roman" panose="02020603050405020304" pitchFamily="18" charset="0"/>
              </a:rPr>
              <a:t>replacement)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AC759EDB-A2AB-4FB9-95A9-30E18D2C60B0}"/>
              </a:ext>
            </a:extLst>
          </p:cNvPr>
          <p:cNvGrpSpPr>
            <a:grpSpLocks/>
          </p:cNvGrpSpPr>
          <p:nvPr/>
        </p:nvGrpSpPr>
        <p:grpSpPr bwMode="auto">
          <a:xfrm>
            <a:off x="7011402" y="1771650"/>
            <a:ext cx="2438400" cy="1676400"/>
            <a:chOff x="3588" y="1116"/>
            <a:chExt cx="1536" cy="1056"/>
          </a:xfrm>
        </p:grpSpPr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CD6AD051-B139-44CE-8417-E9F338916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116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13C371CF-DF66-4C18-86F2-6B4F16247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" y="1788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7C2D3A8E-1D0C-4890-9B1C-0EA7FF546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632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974EF61F-3585-415B-A143-D4679693D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668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</p:grpSp>
      <p:sp>
        <p:nvSpPr>
          <p:cNvPr id="13" name="Text Box 9">
            <a:extLst>
              <a:ext uri="{FF2B5EF4-FFF2-40B4-BE49-F238E27FC236}">
                <a16:creationId xmlns:a16="http://schemas.microsoft.com/office/drawing/2014/main" id="{B3E029E6-9447-4A45-AAB8-39E1A9430C48}"/>
              </a:ext>
            </a:extLst>
          </p:cNvPr>
          <p:cNvSpPr txBox="1">
            <a:spLocks noChangeArrowheads="1"/>
          </p:cNvSpPr>
          <p:nvPr/>
        </p:nvSpPr>
        <p:spPr bwMode="auto">
          <a:xfrm rot="848056">
            <a:off x="5277852" y="5105400"/>
            <a:ext cx="121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SRSWR</a:t>
            </a:r>
          </a:p>
        </p:txBody>
      </p:sp>
      <p:grpSp>
        <p:nvGrpSpPr>
          <p:cNvPr id="14" name="Group 10">
            <a:extLst>
              <a:ext uri="{FF2B5EF4-FFF2-40B4-BE49-F238E27FC236}">
                <a16:creationId xmlns:a16="http://schemas.microsoft.com/office/drawing/2014/main" id="{F288210A-A8F7-4BA7-8CC7-AD9A81D378E7}"/>
              </a:ext>
            </a:extLst>
          </p:cNvPr>
          <p:cNvGrpSpPr>
            <a:grpSpLocks/>
          </p:cNvGrpSpPr>
          <p:nvPr/>
        </p:nvGrpSpPr>
        <p:grpSpPr bwMode="auto">
          <a:xfrm>
            <a:off x="7087602" y="4457700"/>
            <a:ext cx="2438400" cy="1676400"/>
            <a:chOff x="3636" y="2808"/>
            <a:chExt cx="1536" cy="1056"/>
          </a:xfrm>
        </p:grpSpPr>
        <p:sp>
          <p:nvSpPr>
            <p:cNvPr id="15" name="AutoShape 11">
              <a:extLst>
                <a:ext uri="{FF2B5EF4-FFF2-40B4-BE49-F238E27FC236}">
                  <a16:creationId xmlns:a16="http://schemas.microsoft.com/office/drawing/2014/main" id="{C0827BD9-8E09-4AD8-BCA6-5FFC4A99E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808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5FA1EA73-E21E-48B6-982C-CF309C49A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372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09EF5F7E-8B76-4E89-9896-363EFC3E4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3480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6B4F95EB-C951-4700-B2F9-C5C9C9C9B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288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B155EC6A-B22A-4924-BDA8-855D08EF46BC}"/>
              </a:ext>
            </a:extLst>
          </p:cNvPr>
          <p:cNvGrpSpPr>
            <a:grpSpLocks/>
          </p:cNvGrpSpPr>
          <p:nvPr/>
        </p:nvGrpSpPr>
        <p:grpSpPr bwMode="auto">
          <a:xfrm>
            <a:off x="2191752" y="1905000"/>
            <a:ext cx="2724150" cy="4556125"/>
            <a:chOff x="564" y="1284"/>
            <a:chExt cx="1716" cy="2870"/>
          </a:xfrm>
        </p:grpSpPr>
        <p:sp>
          <p:nvSpPr>
            <p:cNvPr id="20" name="AutoShape 16">
              <a:extLst>
                <a:ext uri="{FF2B5EF4-FFF2-40B4-BE49-F238E27FC236}">
                  <a16:creationId xmlns:a16="http://schemas.microsoft.com/office/drawing/2014/main" id="{66650A75-1D99-4BD7-A903-7675B8E85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1284"/>
              <a:ext cx="1716" cy="2616"/>
            </a:xfrm>
            <a:prstGeom prst="can">
              <a:avLst>
                <a:gd name="adj" fmla="val 381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1" name="Oval 17">
              <a:extLst>
                <a:ext uri="{FF2B5EF4-FFF2-40B4-BE49-F238E27FC236}">
                  <a16:creationId xmlns:a16="http://schemas.microsoft.com/office/drawing/2014/main" id="{C2136C06-6BC9-47E0-A74E-BD5FA6B5E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336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2" name="Oval 18">
              <a:extLst>
                <a:ext uri="{FF2B5EF4-FFF2-40B4-BE49-F238E27FC236}">
                  <a16:creationId xmlns:a16="http://schemas.microsoft.com/office/drawing/2014/main" id="{F93DDED9-78E7-46D4-B2FA-E7E68393C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2916"/>
              <a:ext cx="540" cy="360"/>
            </a:xfrm>
            <a:prstGeom prst="ellipse">
              <a:avLst/>
            </a:prstGeom>
            <a:solidFill>
              <a:srgbClr val="006666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4D3E325B-590B-4D7C-BC13-D5EB17D82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3468"/>
              <a:ext cx="564" cy="396"/>
            </a:xfrm>
            <a:prstGeom prst="ellipse">
              <a:avLst/>
            </a:prstGeom>
            <a:solidFill>
              <a:srgbClr val="1213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4" name="Oval 20">
              <a:extLst>
                <a:ext uri="{FF2B5EF4-FFF2-40B4-BE49-F238E27FC236}">
                  <a16:creationId xmlns:a16="http://schemas.microsoft.com/office/drawing/2014/main" id="{14FC355C-BE89-40F8-9B9D-D7D4CA728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3240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5" name="Oval 21">
              <a:extLst>
                <a:ext uri="{FF2B5EF4-FFF2-40B4-BE49-F238E27FC236}">
                  <a16:creationId xmlns:a16="http://schemas.microsoft.com/office/drawing/2014/main" id="{52785442-D153-43A4-9D25-79D8E64D7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3084"/>
              <a:ext cx="468" cy="372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6" name="Oval 22">
              <a:extLst>
                <a:ext uri="{FF2B5EF4-FFF2-40B4-BE49-F238E27FC236}">
                  <a16:creationId xmlns:a16="http://schemas.microsoft.com/office/drawing/2014/main" id="{8D3B0668-EDBD-47E6-BF3D-E84DA10B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08"/>
              <a:ext cx="540" cy="36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7" name="Oval 23">
              <a:extLst>
                <a:ext uri="{FF2B5EF4-FFF2-40B4-BE49-F238E27FC236}">
                  <a16:creationId xmlns:a16="http://schemas.microsoft.com/office/drawing/2014/main" id="{A75C1624-43B8-40F5-88F4-478A444F0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64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8" name="Oval 24">
              <a:extLst>
                <a:ext uri="{FF2B5EF4-FFF2-40B4-BE49-F238E27FC236}">
                  <a16:creationId xmlns:a16="http://schemas.microsoft.com/office/drawing/2014/main" id="{E26F1AD8-DE94-4A1E-9BB8-1B67A935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2556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29" name="Oval 25">
              <a:extLst>
                <a:ext uri="{FF2B5EF4-FFF2-40B4-BE49-F238E27FC236}">
                  <a16:creationId xmlns:a16="http://schemas.microsoft.com/office/drawing/2014/main" id="{0C4E76A4-6D94-40AC-961A-E8BF90754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424"/>
              <a:ext cx="540" cy="360"/>
            </a:xfrm>
            <a:prstGeom prst="ellipse">
              <a:avLst/>
            </a:prstGeom>
            <a:solidFill>
              <a:srgbClr val="423E7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57A340BC-9808-40FF-AF76-37CB4AC7C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3866"/>
              <a:ext cx="8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nl-NL">
                  <a:latin typeface="Times New Roman" panose="02020603050405020304" pitchFamily="18" charset="0"/>
                </a:rPr>
                <a:t>Raw Data</a:t>
              </a:r>
            </a:p>
          </p:txBody>
        </p:sp>
      </p:grpSp>
      <p:sp>
        <p:nvSpPr>
          <p:cNvPr id="31" name="Line 28">
            <a:extLst>
              <a:ext uri="{FF2B5EF4-FFF2-40B4-BE49-F238E27FC236}">
                <a16:creationId xmlns:a16="http://schemas.microsoft.com/office/drawing/2014/main" id="{C00217F7-5AC5-42B0-BF65-AC123B808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4502" y="4895850"/>
            <a:ext cx="17907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34F362-EBB0-8418-BC3A-08307F1E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7893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– Cluster or Stratified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3">
            <a:extLst>
              <a:ext uri="{FF2B5EF4-FFF2-40B4-BE49-F238E27FC236}">
                <a16:creationId xmlns:a16="http://schemas.microsoft.com/office/drawing/2014/main" id="{7D245F68-7971-4F70-8A6E-1BDBB814E44A}"/>
              </a:ext>
            </a:extLst>
          </p:cNvPr>
          <p:cNvGrpSpPr>
            <a:grpSpLocks/>
          </p:cNvGrpSpPr>
          <p:nvPr/>
        </p:nvGrpSpPr>
        <p:grpSpPr bwMode="auto">
          <a:xfrm>
            <a:off x="1852192" y="2698750"/>
            <a:ext cx="3751263" cy="3348038"/>
            <a:chOff x="274" y="1418"/>
            <a:chExt cx="2363" cy="2109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DE9FDD71-DBD6-472D-A32A-0510B1F58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" y="1418"/>
              <a:ext cx="2363" cy="21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763663A1-7BF7-4E24-92DA-30BD9ED3C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993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4DE98AEF-BC36-4AF8-84B0-AE2CD7152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" y="2316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6" name="AutoShape 7">
              <a:extLst>
                <a:ext uri="{FF2B5EF4-FFF2-40B4-BE49-F238E27FC236}">
                  <a16:creationId xmlns:a16="http://schemas.microsoft.com/office/drawing/2014/main" id="{1CED4065-F819-4222-BC19-AA24B78AA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213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7" name="AutoShape 8">
              <a:extLst>
                <a:ext uri="{FF2B5EF4-FFF2-40B4-BE49-F238E27FC236}">
                  <a16:creationId xmlns:a16="http://schemas.microsoft.com/office/drawing/2014/main" id="{F1689C5B-FD1D-44E9-A35B-C47207404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0" y="2168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ACB66FB9-2CDA-428E-93A3-B1DD5082A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19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D9496CE6-1849-4697-9619-02CB98837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35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79FAF30C-794C-4E72-9A05-6D4FAB2BD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2393"/>
              <a:ext cx="57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12F58C1B-0D8A-4241-A8BE-5ECD65AB0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184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0FC3F3B3-6CA1-4D6A-B8CC-1AD3D8308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763"/>
              <a:ext cx="686" cy="877"/>
            </a:xfrm>
            <a:custGeom>
              <a:avLst/>
              <a:gdLst>
                <a:gd name="T0" fmla="*/ 61 w 1101"/>
                <a:gd name="T1" fmla="*/ 86 h 1077"/>
                <a:gd name="T2" fmla="*/ 63 w 1101"/>
                <a:gd name="T3" fmla="*/ 141 h 1077"/>
                <a:gd name="T4" fmla="*/ 59 w 1101"/>
                <a:gd name="T5" fmla="*/ 271 h 1077"/>
                <a:gd name="T6" fmla="*/ 55 w 1101"/>
                <a:gd name="T7" fmla="*/ 304 h 1077"/>
                <a:gd name="T8" fmla="*/ 50 w 1101"/>
                <a:gd name="T9" fmla="*/ 314 h 1077"/>
                <a:gd name="T10" fmla="*/ 35 w 1101"/>
                <a:gd name="T11" fmla="*/ 304 h 1077"/>
                <a:gd name="T12" fmla="*/ 29 w 1101"/>
                <a:gd name="T13" fmla="*/ 290 h 1077"/>
                <a:gd name="T14" fmla="*/ 27 w 1101"/>
                <a:gd name="T15" fmla="*/ 287 h 1077"/>
                <a:gd name="T16" fmla="*/ 19 w 1101"/>
                <a:gd name="T17" fmla="*/ 256 h 1077"/>
                <a:gd name="T18" fmla="*/ 14 w 1101"/>
                <a:gd name="T19" fmla="*/ 234 h 1077"/>
                <a:gd name="T20" fmla="*/ 6 w 1101"/>
                <a:gd name="T21" fmla="*/ 200 h 1077"/>
                <a:gd name="T22" fmla="*/ 1 w 1101"/>
                <a:gd name="T23" fmla="*/ 131 h 1077"/>
                <a:gd name="T24" fmla="*/ 1 w 1101"/>
                <a:gd name="T25" fmla="*/ 37 h 1077"/>
                <a:gd name="T26" fmla="*/ 11 w 1101"/>
                <a:gd name="T27" fmla="*/ 6 h 1077"/>
                <a:gd name="T28" fmla="*/ 13 w 1101"/>
                <a:gd name="T29" fmla="*/ 4 h 1077"/>
                <a:gd name="T30" fmla="*/ 25 w 1101"/>
                <a:gd name="T31" fmla="*/ 9 h 1077"/>
                <a:gd name="T32" fmla="*/ 34 w 1101"/>
                <a:gd name="T33" fmla="*/ 30 h 1077"/>
                <a:gd name="T34" fmla="*/ 40 w 1101"/>
                <a:gd name="T35" fmla="*/ 51 h 1077"/>
                <a:gd name="T36" fmla="*/ 45 w 1101"/>
                <a:gd name="T37" fmla="*/ 59 h 1077"/>
                <a:gd name="T38" fmla="*/ 61 w 1101"/>
                <a:gd name="T39" fmla="*/ 86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3" name="AutoShape 14">
              <a:extLst>
                <a:ext uri="{FF2B5EF4-FFF2-40B4-BE49-F238E27FC236}">
                  <a16:creationId xmlns:a16="http://schemas.microsoft.com/office/drawing/2014/main" id="{E8DB6E5C-9BFF-4701-A61A-D480A3386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84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4" name="AutoShape 15">
              <a:extLst>
                <a:ext uri="{FF2B5EF4-FFF2-40B4-BE49-F238E27FC236}">
                  <a16:creationId xmlns:a16="http://schemas.microsoft.com/office/drawing/2014/main" id="{B7897925-99C2-45A4-8694-B95553C8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1" y="2647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5" name="AutoShape 16">
              <a:extLst>
                <a:ext uri="{FF2B5EF4-FFF2-40B4-BE49-F238E27FC236}">
                  <a16:creationId xmlns:a16="http://schemas.microsoft.com/office/drawing/2014/main" id="{0004E794-1E13-4ACD-B83C-B678DA38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903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6" name="AutoShape 17">
              <a:extLst>
                <a:ext uri="{FF2B5EF4-FFF2-40B4-BE49-F238E27FC236}">
                  <a16:creationId xmlns:a16="http://schemas.microsoft.com/office/drawing/2014/main" id="{7B799E45-64AC-4838-9776-17D8538C8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795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7" name="AutoShape 18">
              <a:extLst>
                <a:ext uri="{FF2B5EF4-FFF2-40B4-BE49-F238E27FC236}">
                  <a16:creationId xmlns:a16="http://schemas.microsoft.com/office/drawing/2014/main" id="{3FCBBF1E-627D-4CD4-AE24-D67AB5D1C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" y="2752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8" name="AutoShape 19">
              <a:extLst>
                <a:ext uri="{FF2B5EF4-FFF2-40B4-BE49-F238E27FC236}">
                  <a16:creationId xmlns:a16="http://schemas.microsoft.com/office/drawing/2014/main" id="{58F91AC4-B7D5-4705-826C-402F33A8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875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49" name="AutoShape 20">
              <a:extLst>
                <a:ext uri="{FF2B5EF4-FFF2-40B4-BE49-F238E27FC236}">
                  <a16:creationId xmlns:a16="http://schemas.microsoft.com/office/drawing/2014/main" id="{EEB3E2FA-8076-4464-97D1-D4464CE9C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504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50" name="AutoShape 21">
              <a:extLst>
                <a:ext uri="{FF2B5EF4-FFF2-40B4-BE49-F238E27FC236}">
                  <a16:creationId xmlns:a16="http://schemas.microsoft.com/office/drawing/2014/main" id="{BDDAC612-8930-4117-936E-8BBAA101E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628"/>
              <a:ext cx="56" cy="74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51" name="AutoShape 22">
              <a:extLst>
                <a:ext uri="{FF2B5EF4-FFF2-40B4-BE49-F238E27FC236}">
                  <a16:creationId xmlns:a16="http://schemas.microsoft.com/office/drawing/2014/main" id="{93950F8D-89AB-4B8F-9D2D-A72E5BAED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882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41E69720-9FE8-4E70-A22C-DFD0E803B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373"/>
              <a:ext cx="573" cy="785"/>
            </a:xfrm>
            <a:custGeom>
              <a:avLst/>
              <a:gdLst>
                <a:gd name="T0" fmla="*/ 14 w 918"/>
                <a:gd name="T1" fmla="*/ 237 h 965"/>
                <a:gd name="T2" fmla="*/ 11 w 918"/>
                <a:gd name="T3" fmla="*/ 226 h 965"/>
                <a:gd name="T4" fmla="*/ 7 w 918"/>
                <a:gd name="T5" fmla="*/ 214 h 965"/>
                <a:gd name="T6" fmla="*/ 4 w 918"/>
                <a:gd name="T7" fmla="*/ 203 h 965"/>
                <a:gd name="T8" fmla="*/ 2 w 918"/>
                <a:gd name="T9" fmla="*/ 187 h 965"/>
                <a:gd name="T10" fmla="*/ 0 w 918"/>
                <a:gd name="T11" fmla="*/ 134 h 965"/>
                <a:gd name="T12" fmla="*/ 1 w 918"/>
                <a:gd name="T13" fmla="*/ 59 h 965"/>
                <a:gd name="T14" fmla="*/ 4 w 918"/>
                <a:gd name="T15" fmla="*/ 39 h 965"/>
                <a:gd name="T16" fmla="*/ 17 w 918"/>
                <a:gd name="T17" fmla="*/ 0 h 965"/>
                <a:gd name="T18" fmla="*/ 23 w 918"/>
                <a:gd name="T19" fmla="*/ 6 h 965"/>
                <a:gd name="T20" fmla="*/ 29 w 918"/>
                <a:gd name="T21" fmla="*/ 16 h 965"/>
                <a:gd name="T22" fmla="*/ 41 w 918"/>
                <a:gd name="T23" fmla="*/ 48 h 965"/>
                <a:gd name="T24" fmla="*/ 42 w 918"/>
                <a:gd name="T25" fmla="*/ 63 h 965"/>
                <a:gd name="T26" fmla="*/ 44 w 918"/>
                <a:gd name="T27" fmla="*/ 72 h 965"/>
                <a:gd name="T28" fmla="*/ 48 w 918"/>
                <a:gd name="T29" fmla="*/ 100 h 965"/>
                <a:gd name="T30" fmla="*/ 50 w 918"/>
                <a:gd name="T31" fmla="*/ 123 h 965"/>
                <a:gd name="T32" fmla="*/ 51 w 918"/>
                <a:gd name="T33" fmla="*/ 150 h 965"/>
                <a:gd name="T34" fmla="*/ 52 w 918"/>
                <a:gd name="T35" fmla="*/ 177 h 965"/>
                <a:gd name="T36" fmla="*/ 54 w 918"/>
                <a:gd name="T37" fmla="*/ 224 h 965"/>
                <a:gd name="T38" fmla="*/ 49 w 918"/>
                <a:gd name="T39" fmla="*/ 268 h 965"/>
                <a:gd name="T40" fmla="*/ 45 w 918"/>
                <a:gd name="T41" fmla="*/ 274 h 965"/>
                <a:gd name="T42" fmla="*/ 42 w 918"/>
                <a:gd name="T43" fmla="*/ 277 h 965"/>
                <a:gd name="T44" fmla="*/ 21 w 918"/>
                <a:gd name="T45" fmla="*/ 272 h 965"/>
                <a:gd name="T46" fmla="*/ 14 w 918"/>
                <a:gd name="T47" fmla="*/ 250 h 965"/>
                <a:gd name="T48" fmla="*/ 14 w 918"/>
                <a:gd name="T49" fmla="*/ 237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grpSp>
          <p:nvGrpSpPr>
            <p:cNvPr id="53" name="Group 24">
              <a:extLst>
                <a:ext uri="{FF2B5EF4-FFF2-40B4-BE49-F238E27FC236}">
                  <a16:creationId xmlns:a16="http://schemas.microsoft.com/office/drawing/2014/main" id="{86D89109-2B48-4055-99A7-DDACE9268B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" y="1796"/>
              <a:ext cx="542" cy="954"/>
              <a:chOff x="551" y="1796"/>
              <a:chExt cx="542" cy="954"/>
            </a:xfrm>
          </p:grpSpPr>
          <p:sp>
            <p:nvSpPr>
              <p:cNvPr id="54" name="AutoShape 25">
                <a:extLst>
                  <a:ext uri="{FF2B5EF4-FFF2-40B4-BE49-F238E27FC236}">
                    <a16:creationId xmlns:a16="http://schemas.microsoft.com/office/drawing/2014/main" id="{8886B267-343D-4DCC-90CD-F7736DF2C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7" y="2492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5" name="AutoShape 26">
                <a:extLst>
                  <a:ext uri="{FF2B5EF4-FFF2-40B4-BE49-F238E27FC236}">
                    <a16:creationId xmlns:a16="http://schemas.microsoft.com/office/drawing/2014/main" id="{C25DF015-1D73-4AF6-A2C4-BA6009D5F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" y="2392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6" name="AutoShape 27">
                <a:extLst>
                  <a:ext uri="{FF2B5EF4-FFF2-40B4-BE49-F238E27FC236}">
                    <a16:creationId xmlns:a16="http://schemas.microsoft.com/office/drawing/2014/main" id="{761EB75E-CEFD-4C0A-9773-1728D5055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8" y="2405"/>
                <a:ext cx="56" cy="74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7" name="AutoShape 28">
                <a:extLst>
                  <a:ext uri="{FF2B5EF4-FFF2-40B4-BE49-F238E27FC236}">
                    <a16:creationId xmlns:a16="http://schemas.microsoft.com/office/drawing/2014/main" id="{4E85DC08-69C8-4C41-BCA9-9B0432372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" y="2230"/>
                <a:ext cx="57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8" name="AutoShape 29">
                <a:extLst>
                  <a:ext uri="{FF2B5EF4-FFF2-40B4-BE49-F238E27FC236}">
                    <a16:creationId xmlns:a16="http://schemas.microsoft.com/office/drawing/2014/main" id="{F37B3315-F673-4B39-9F50-E667EE70F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08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59" name="AutoShape 30">
                <a:extLst>
                  <a:ext uri="{FF2B5EF4-FFF2-40B4-BE49-F238E27FC236}">
                    <a16:creationId xmlns:a16="http://schemas.microsoft.com/office/drawing/2014/main" id="{2C445323-ADC4-444E-A195-9A50D7A9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" y="2268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0" name="AutoShape 31">
                <a:extLst>
                  <a:ext uri="{FF2B5EF4-FFF2-40B4-BE49-F238E27FC236}">
                    <a16:creationId xmlns:a16="http://schemas.microsoft.com/office/drawing/2014/main" id="{E278519E-53F3-44C9-AB0B-E94BB7785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" y="2566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1" name="AutoShape 32">
                <a:extLst>
                  <a:ext uri="{FF2B5EF4-FFF2-40B4-BE49-F238E27FC236}">
                    <a16:creationId xmlns:a16="http://schemas.microsoft.com/office/drawing/2014/main" id="{D2DA3616-E50C-4244-81DD-D387FAF51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2260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2" name="AutoShape 33">
                <a:extLst>
                  <a:ext uri="{FF2B5EF4-FFF2-40B4-BE49-F238E27FC236}">
                    <a16:creationId xmlns:a16="http://schemas.microsoft.com/office/drawing/2014/main" id="{E9A6366D-A3DF-4FC5-9273-569E5F5E6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2092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3" name="AutoShape 34">
                <a:extLst>
                  <a:ext uri="{FF2B5EF4-FFF2-40B4-BE49-F238E27FC236}">
                    <a16:creationId xmlns:a16="http://schemas.microsoft.com/office/drawing/2014/main" id="{CC8A4FF5-488B-4A95-B112-501852C87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" y="1945"/>
                <a:ext cx="56" cy="75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nl-NL" altLang="nl-NL"/>
              </a:p>
            </p:txBody>
          </p:sp>
          <p:sp>
            <p:nvSpPr>
              <p:cNvPr id="64" name="Freeform 35">
                <a:extLst>
                  <a:ext uri="{FF2B5EF4-FFF2-40B4-BE49-F238E27FC236}">
                    <a16:creationId xmlns:a16="http://schemas.microsoft.com/office/drawing/2014/main" id="{9D5D0F3B-29B2-4FD5-B323-A2788094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" y="1796"/>
                <a:ext cx="542" cy="954"/>
              </a:xfrm>
              <a:custGeom>
                <a:avLst/>
                <a:gdLst>
                  <a:gd name="T0" fmla="*/ 44 w 869"/>
                  <a:gd name="T1" fmla="*/ 229 h 1173"/>
                  <a:gd name="T2" fmla="*/ 41 w 869"/>
                  <a:gd name="T3" fmla="*/ 273 h 1173"/>
                  <a:gd name="T4" fmla="*/ 39 w 869"/>
                  <a:gd name="T5" fmla="*/ 313 h 1173"/>
                  <a:gd name="T6" fmla="*/ 37 w 869"/>
                  <a:gd name="T7" fmla="*/ 329 h 1173"/>
                  <a:gd name="T8" fmla="*/ 37 w 869"/>
                  <a:gd name="T9" fmla="*/ 334 h 1173"/>
                  <a:gd name="T10" fmla="*/ 33 w 869"/>
                  <a:gd name="T11" fmla="*/ 339 h 1173"/>
                  <a:gd name="T12" fmla="*/ 17 w 869"/>
                  <a:gd name="T13" fmla="*/ 331 h 1173"/>
                  <a:gd name="T14" fmla="*/ 7 w 869"/>
                  <a:gd name="T15" fmla="*/ 310 h 1173"/>
                  <a:gd name="T16" fmla="*/ 2 w 869"/>
                  <a:gd name="T17" fmla="*/ 292 h 1173"/>
                  <a:gd name="T18" fmla="*/ 0 w 869"/>
                  <a:gd name="T19" fmla="*/ 277 h 1173"/>
                  <a:gd name="T20" fmla="*/ 4 w 869"/>
                  <a:gd name="T21" fmla="*/ 145 h 1173"/>
                  <a:gd name="T22" fmla="*/ 6 w 869"/>
                  <a:gd name="T23" fmla="*/ 68 h 1173"/>
                  <a:gd name="T24" fmla="*/ 9 w 869"/>
                  <a:gd name="T25" fmla="*/ 48 h 1173"/>
                  <a:gd name="T26" fmla="*/ 12 w 869"/>
                  <a:gd name="T27" fmla="*/ 39 h 1173"/>
                  <a:gd name="T28" fmla="*/ 18 w 869"/>
                  <a:gd name="T29" fmla="*/ 21 h 1173"/>
                  <a:gd name="T30" fmla="*/ 21 w 869"/>
                  <a:gd name="T31" fmla="*/ 13 h 1173"/>
                  <a:gd name="T32" fmla="*/ 26 w 869"/>
                  <a:gd name="T33" fmla="*/ 0 h 1173"/>
                  <a:gd name="T34" fmla="*/ 42 w 869"/>
                  <a:gd name="T35" fmla="*/ 24 h 1173"/>
                  <a:gd name="T36" fmla="*/ 47 w 869"/>
                  <a:gd name="T37" fmla="*/ 59 h 1173"/>
                  <a:gd name="T38" fmla="*/ 50 w 869"/>
                  <a:gd name="T39" fmla="*/ 73 h 1173"/>
                  <a:gd name="T40" fmla="*/ 51 w 869"/>
                  <a:gd name="T41" fmla="*/ 89 h 1173"/>
                  <a:gd name="T42" fmla="*/ 46 w 869"/>
                  <a:gd name="T43" fmla="*/ 205 h 1173"/>
                  <a:gd name="T44" fmla="*/ 44 w 869"/>
                  <a:gd name="T45" fmla="*/ 229 h 1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69"/>
                  <a:gd name="T70" fmla="*/ 0 h 1173"/>
                  <a:gd name="T71" fmla="*/ 869 w 869"/>
                  <a:gd name="T72" fmla="*/ 1173 h 1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69" h="1173">
                    <a:moveTo>
                      <a:pt x="754" y="791"/>
                    </a:moveTo>
                    <a:cubicBezTo>
                      <a:pt x="743" y="846"/>
                      <a:pt x="731" y="899"/>
                      <a:pt x="699" y="945"/>
                    </a:cubicBezTo>
                    <a:cubicBezTo>
                      <a:pt x="684" y="991"/>
                      <a:pt x="669" y="1036"/>
                      <a:pt x="654" y="1082"/>
                    </a:cubicBezTo>
                    <a:cubicBezTo>
                      <a:pt x="648" y="1100"/>
                      <a:pt x="649" y="1122"/>
                      <a:pt x="636" y="1136"/>
                    </a:cubicBezTo>
                    <a:cubicBezTo>
                      <a:pt x="630" y="1142"/>
                      <a:pt x="626" y="1151"/>
                      <a:pt x="618" y="1155"/>
                    </a:cubicBezTo>
                    <a:cubicBezTo>
                      <a:pt x="601" y="1164"/>
                      <a:pt x="563" y="1173"/>
                      <a:pt x="563" y="1173"/>
                    </a:cubicBezTo>
                    <a:cubicBezTo>
                      <a:pt x="471" y="1168"/>
                      <a:pt x="379" y="1170"/>
                      <a:pt x="290" y="1145"/>
                    </a:cubicBezTo>
                    <a:cubicBezTo>
                      <a:pt x="231" y="1129"/>
                      <a:pt x="182" y="1097"/>
                      <a:pt x="127" y="1073"/>
                    </a:cubicBezTo>
                    <a:cubicBezTo>
                      <a:pt x="93" y="1058"/>
                      <a:pt x="60" y="1039"/>
                      <a:pt x="36" y="1009"/>
                    </a:cubicBezTo>
                    <a:cubicBezTo>
                      <a:pt x="23" y="992"/>
                      <a:pt x="0" y="955"/>
                      <a:pt x="0" y="955"/>
                    </a:cubicBezTo>
                    <a:cubicBezTo>
                      <a:pt x="11" y="805"/>
                      <a:pt x="33" y="644"/>
                      <a:pt x="81" y="500"/>
                    </a:cubicBezTo>
                    <a:cubicBezTo>
                      <a:pt x="92" y="412"/>
                      <a:pt x="99" y="324"/>
                      <a:pt x="109" y="236"/>
                    </a:cubicBezTo>
                    <a:cubicBezTo>
                      <a:pt x="113" y="197"/>
                      <a:pt x="118" y="176"/>
                      <a:pt x="154" y="164"/>
                    </a:cubicBezTo>
                    <a:cubicBezTo>
                      <a:pt x="193" y="123"/>
                      <a:pt x="147" y="165"/>
                      <a:pt x="200" y="136"/>
                    </a:cubicBezTo>
                    <a:cubicBezTo>
                      <a:pt x="241" y="114"/>
                      <a:pt x="266" y="87"/>
                      <a:pt x="309" y="73"/>
                    </a:cubicBezTo>
                    <a:cubicBezTo>
                      <a:pt x="343" y="37"/>
                      <a:pt x="308" y="68"/>
                      <a:pt x="354" y="45"/>
                    </a:cubicBezTo>
                    <a:cubicBezTo>
                      <a:pt x="383" y="30"/>
                      <a:pt x="395" y="11"/>
                      <a:pt x="427" y="0"/>
                    </a:cubicBezTo>
                    <a:cubicBezTo>
                      <a:pt x="520" y="23"/>
                      <a:pt x="626" y="29"/>
                      <a:pt x="709" y="82"/>
                    </a:cubicBezTo>
                    <a:cubicBezTo>
                      <a:pt x="738" y="125"/>
                      <a:pt x="765" y="172"/>
                      <a:pt x="809" y="200"/>
                    </a:cubicBezTo>
                    <a:cubicBezTo>
                      <a:pt x="821" y="218"/>
                      <a:pt x="838" y="234"/>
                      <a:pt x="845" y="255"/>
                    </a:cubicBezTo>
                    <a:cubicBezTo>
                      <a:pt x="851" y="273"/>
                      <a:pt x="863" y="309"/>
                      <a:pt x="863" y="309"/>
                    </a:cubicBezTo>
                    <a:cubicBezTo>
                      <a:pt x="858" y="436"/>
                      <a:pt x="869" y="596"/>
                      <a:pt x="790" y="709"/>
                    </a:cubicBezTo>
                    <a:cubicBezTo>
                      <a:pt x="787" y="717"/>
                      <a:pt x="776" y="791"/>
                      <a:pt x="754" y="791"/>
                    </a:cubicBez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</p:grpSp>
      <p:sp>
        <p:nvSpPr>
          <p:cNvPr id="65" name="Rectangle 36">
            <a:extLst>
              <a:ext uri="{FF2B5EF4-FFF2-40B4-BE49-F238E27FC236}">
                <a16:creationId xmlns:a16="http://schemas.microsoft.com/office/drawing/2014/main" id="{9347BB86-B707-4FAA-A0C5-6F31EFD36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680" y="2678113"/>
            <a:ext cx="3751262" cy="3348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nl-NL" altLang="nl-NL"/>
          </a:p>
        </p:txBody>
      </p:sp>
      <p:sp>
        <p:nvSpPr>
          <p:cNvPr id="66" name="Text Box 54">
            <a:extLst>
              <a:ext uri="{FF2B5EF4-FFF2-40B4-BE49-F238E27FC236}">
                <a16:creationId xmlns:a16="http://schemas.microsoft.com/office/drawing/2014/main" id="{08BCAB40-CC24-4047-8A74-CA85515CE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167" y="1897063"/>
            <a:ext cx="147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Raw Data </a:t>
            </a:r>
          </a:p>
        </p:txBody>
      </p:sp>
      <p:sp>
        <p:nvSpPr>
          <p:cNvPr id="67" name="Text Box 55">
            <a:extLst>
              <a:ext uri="{FF2B5EF4-FFF2-40B4-BE49-F238E27FC236}">
                <a16:creationId xmlns:a16="http://schemas.microsoft.com/office/drawing/2014/main" id="{F52AEAD9-6A84-4E3F-BF98-0D9BC48D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980" y="1839913"/>
            <a:ext cx="326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nl-NL">
                <a:latin typeface="Times New Roman" panose="02020603050405020304" pitchFamily="18" charset="0"/>
              </a:rPr>
              <a:t>Cluster/Stratified Sample</a:t>
            </a:r>
          </a:p>
        </p:txBody>
      </p:sp>
      <p:grpSp>
        <p:nvGrpSpPr>
          <p:cNvPr id="68" name="Group 37">
            <a:extLst>
              <a:ext uri="{FF2B5EF4-FFF2-40B4-BE49-F238E27FC236}">
                <a16:creationId xmlns:a16="http://schemas.microsoft.com/office/drawing/2014/main" id="{B584D7DC-CD54-4E30-95EB-B092A50FC629}"/>
              </a:ext>
            </a:extLst>
          </p:cNvPr>
          <p:cNvGrpSpPr>
            <a:grpSpLocks/>
          </p:cNvGrpSpPr>
          <p:nvPr/>
        </p:nvGrpSpPr>
        <p:grpSpPr bwMode="auto">
          <a:xfrm>
            <a:off x="6573417" y="3225800"/>
            <a:ext cx="2398713" cy="2214563"/>
            <a:chOff x="3302" y="2032"/>
            <a:chExt cx="1511" cy="1395"/>
          </a:xfrm>
        </p:grpSpPr>
        <p:sp>
          <p:nvSpPr>
            <p:cNvPr id="69" name="AutoShape 38">
              <a:extLst>
                <a:ext uri="{FF2B5EF4-FFF2-40B4-BE49-F238E27FC236}">
                  <a16:creationId xmlns:a16="http://schemas.microsoft.com/office/drawing/2014/main" id="{900D3DAA-F319-4AB2-BAED-5DA858773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6" y="2777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0" name="AutoShape 39">
              <a:extLst>
                <a:ext uri="{FF2B5EF4-FFF2-40B4-BE49-F238E27FC236}">
                  <a16:creationId xmlns:a16="http://schemas.microsoft.com/office/drawing/2014/main" id="{B5684202-BABD-4854-802D-F0347D59F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537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1" name="AutoShape 40">
              <a:extLst>
                <a:ext uri="{FF2B5EF4-FFF2-40B4-BE49-F238E27FC236}">
                  <a16:creationId xmlns:a16="http://schemas.microsoft.com/office/drawing/2014/main" id="{E5455DD7-0F28-44B0-ADDA-DF0B1F0D4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2262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2" name="AutoShape 41">
              <a:extLst>
                <a:ext uri="{FF2B5EF4-FFF2-40B4-BE49-F238E27FC236}">
                  <a16:creationId xmlns:a16="http://schemas.microsoft.com/office/drawing/2014/main" id="{3A55E184-FF55-49D5-9FFE-D7722D3F7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" y="2585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3" name="AutoShape 42">
              <a:extLst>
                <a:ext uri="{FF2B5EF4-FFF2-40B4-BE49-F238E27FC236}">
                  <a16:creationId xmlns:a16="http://schemas.microsoft.com/office/drawing/2014/main" id="{4834C173-3D42-4E41-814E-044A44708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46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4" name="AutoShape 43">
              <a:extLst>
                <a:ext uri="{FF2B5EF4-FFF2-40B4-BE49-F238E27FC236}">
                  <a16:creationId xmlns:a16="http://schemas.microsoft.com/office/drawing/2014/main" id="{F794C1C8-DC19-4002-AD1E-D48FAB67C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35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5" name="AutoShape 44">
              <a:extLst>
                <a:ext uri="{FF2B5EF4-FFF2-40B4-BE49-F238E27FC236}">
                  <a16:creationId xmlns:a16="http://schemas.microsoft.com/office/drawing/2014/main" id="{6C08B034-E1F2-44A4-8D87-9AA100E17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3172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6" name="AutoShape 45">
              <a:extLst>
                <a:ext uri="{FF2B5EF4-FFF2-40B4-BE49-F238E27FC236}">
                  <a16:creationId xmlns:a16="http://schemas.microsoft.com/office/drawing/2014/main" id="{A7AEC27B-D27D-4770-AE8B-BF9ECBA83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3064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7" name="AutoShape 46">
              <a:extLst>
                <a:ext uri="{FF2B5EF4-FFF2-40B4-BE49-F238E27FC236}">
                  <a16:creationId xmlns:a16="http://schemas.microsoft.com/office/drawing/2014/main" id="{7C0D3449-DDD4-4644-A8D6-5B3B0504F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" y="2529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8" name="AutoShape 47">
              <a:extLst>
                <a:ext uri="{FF2B5EF4-FFF2-40B4-BE49-F238E27FC236}">
                  <a16:creationId xmlns:a16="http://schemas.microsoft.com/office/drawing/2014/main" id="{7B679106-62EA-4899-8064-17CD65685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3021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79" name="AutoShape 48">
              <a:extLst>
                <a:ext uri="{FF2B5EF4-FFF2-40B4-BE49-F238E27FC236}">
                  <a16:creationId xmlns:a16="http://schemas.microsoft.com/office/drawing/2014/main" id="{D63487BA-BF4D-447E-A196-5F6032859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361"/>
              <a:ext cx="56" cy="75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80" name="AutoShape 49">
              <a:extLst>
                <a:ext uri="{FF2B5EF4-FFF2-40B4-BE49-F238E27FC236}">
                  <a16:creationId xmlns:a16="http://schemas.microsoft.com/office/drawing/2014/main" id="{24862029-2164-4379-BAA0-021AF9635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11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4898A9A1-27B1-442A-9002-21F957757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2773"/>
              <a:ext cx="56" cy="75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nl-NL" altLang="nl-NL"/>
            </a:p>
          </p:txBody>
        </p:sp>
        <p:sp>
          <p:nvSpPr>
            <p:cNvPr id="82" name="Freeform 51">
              <a:extLst>
                <a:ext uri="{FF2B5EF4-FFF2-40B4-BE49-F238E27FC236}">
                  <a16:creationId xmlns:a16="http://schemas.microsoft.com/office/drawing/2014/main" id="{81E561A7-AF0B-4F5D-A611-C3E8A2369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2032"/>
              <a:ext cx="686" cy="877"/>
            </a:xfrm>
            <a:custGeom>
              <a:avLst/>
              <a:gdLst>
                <a:gd name="T0" fmla="*/ 61 w 1101"/>
                <a:gd name="T1" fmla="*/ 86 h 1077"/>
                <a:gd name="T2" fmla="*/ 63 w 1101"/>
                <a:gd name="T3" fmla="*/ 141 h 1077"/>
                <a:gd name="T4" fmla="*/ 59 w 1101"/>
                <a:gd name="T5" fmla="*/ 271 h 1077"/>
                <a:gd name="T6" fmla="*/ 55 w 1101"/>
                <a:gd name="T7" fmla="*/ 304 h 1077"/>
                <a:gd name="T8" fmla="*/ 50 w 1101"/>
                <a:gd name="T9" fmla="*/ 314 h 1077"/>
                <a:gd name="T10" fmla="*/ 35 w 1101"/>
                <a:gd name="T11" fmla="*/ 304 h 1077"/>
                <a:gd name="T12" fmla="*/ 29 w 1101"/>
                <a:gd name="T13" fmla="*/ 290 h 1077"/>
                <a:gd name="T14" fmla="*/ 27 w 1101"/>
                <a:gd name="T15" fmla="*/ 287 h 1077"/>
                <a:gd name="T16" fmla="*/ 19 w 1101"/>
                <a:gd name="T17" fmla="*/ 256 h 1077"/>
                <a:gd name="T18" fmla="*/ 14 w 1101"/>
                <a:gd name="T19" fmla="*/ 234 h 1077"/>
                <a:gd name="T20" fmla="*/ 6 w 1101"/>
                <a:gd name="T21" fmla="*/ 200 h 1077"/>
                <a:gd name="T22" fmla="*/ 1 w 1101"/>
                <a:gd name="T23" fmla="*/ 131 h 1077"/>
                <a:gd name="T24" fmla="*/ 1 w 1101"/>
                <a:gd name="T25" fmla="*/ 37 h 1077"/>
                <a:gd name="T26" fmla="*/ 11 w 1101"/>
                <a:gd name="T27" fmla="*/ 6 h 1077"/>
                <a:gd name="T28" fmla="*/ 13 w 1101"/>
                <a:gd name="T29" fmla="*/ 4 h 1077"/>
                <a:gd name="T30" fmla="*/ 25 w 1101"/>
                <a:gd name="T31" fmla="*/ 9 h 1077"/>
                <a:gd name="T32" fmla="*/ 34 w 1101"/>
                <a:gd name="T33" fmla="*/ 30 h 1077"/>
                <a:gd name="T34" fmla="*/ 40 w 1101"/>
                <a:gd name="T35" fmla="*/ 51 h 1077"/>
                <a:gd name="T36" fmla="*/ 45 w 1101"/>
                <a:gd name="T37" fmla="*/ 59 h 1077"/>
                <a:gd name="T38" fmla="*/ 61 w 1101"/>
                <a:gd name="T39" fmla="*/ 86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3" name="Freeform 52">
              <a:extLst>
                <a:ext uri="{FF2B5EF4-FFF2-40B4-BE49-F238E27FC236}">
                  <a16:creationId xmlns:a16="http://schemas.microsoft.com/office/drawing/2014/main" id="{92D9348B-EDF1-4818-94EE-753B90A97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642"/>
              <a:ext cx="573" cy="785"/>
            </a:xfrm>
            <a:custGeom>
              <a:avLst/>
              <a:gdLst>
                <a:gd name="T0" fmla="*/ 14 w 918"/>
                <a:gd name="T1" fmla="*/ 237 h 965"/>
                <a:gd name="T2" fmla="*/ 11 w 918"/>
                <a:gd name="T3" fmla="*/ 226 h 965"/>
                <a:gd name="T4" fmla="*/ 7 w 918"/>
                <a:gd name="T5" fmla="*/ 214 h 965"/>
                <a:gd name="T6" fmla="*/ 4 w 918"/>
                <a:gd name="T7" fmla="*/ 203 h 965"/>
                <a:gd name="T8" fmla="*/ 2 w 918"/>
                <a:gd name="T9" fmla="*/ 187 h 965"/>
                <a:gd name="T10" fmla="*/ 0 w 918"/>
                <a:gd name="T11" fmla="*/ 134 h 965"/>
                <a:gd name="T12" fmla="*/ 1 w 918"/>
                <a:gd name="T13" fmla="*/ 59 h 965"/>
                <a:gd name="T14" fmla="*/ 4 w 918"/>
                <a:gd name="T15" fmla="*/ 39 h 965"/>
                <a:gd name="T16" fmla="*/ 17 w 918"/>
                <a:gd name="T17" fmla="*/ 0 h 965"/>
                <a:gd name="T18" fmla="*/ 23 w 918"/>
                <a:gd name="T19" fmla="*/ 6 h 965"/>
                <a:gd name="T20" fmla="*/ 29 w 918"/>
                <a:gd name="T21" fmla="*/ 16 h 965"/>
                <a:gd name="T22" fmla="*/ 41 w 918"/>
                <a:gd name="T23" fmla="*/ 48 h 965"/>
                <a:gd name="T24" fmla="*/ 42 w 918"/>
                <a:gd name="T25" fmla="*/ 63 h 965"/>
                <a:gd name="T26" fmla="*/ 44 w 918"/>
                <a:gd name="T27" fmla="*/ 72 h 965"/>
                <a:gd name="T28" fmla="*/ 48 w 918"/>
                <a:gd name="T29" fmla="*/ 100 h 965"/>
                <a:gd name="T30" fmla="*/ 50 w 918"/>
                <a:gd name="T31" fmla="*/ 123 h 965"/>
                <a:gd name="T32" fmla="*/ 51 w 918"/>
                <a:gd name="T33" fmla="*/ 150 h 965"/>
                <a:gd name="T34" fmla="*/ 52 w 918"/>
                <a:gd name="T35" fmla="*/ 177 h 965"/>
                <a:gd name="T36" fmla="*/ 54 w 918"/>
                <a:gd name="T37" fmla="*/ 224 h 965"/>
                <a:gd name="T38" fmla="*/ 49 w 918"/>
                <a:gd name="T39" fmla="*/ 268 h 965"/>
                <a:gd name="T40" fmla="*/ 45 w 918"/>
                <a:gd name="T41" fmla="*/ 274 h 965"/>
                <a:gd name="T42" fmla="*/ 42 w 918"/>
                <a:gd name="T43" fmla="*/ 277 h 965"/>
                <a:gd name="T44" fmla="*/ 21 w 918"/>
                <a:gd name="T45" fmla="*/ 272 h 965"/>
                <a:gd name="T46" fmla="*/ 14 w 918"/>
                <a:gd name="T47" fmla="*/ 250 h 965"/>
                <a:gd name="T48" fmla="*/ 14 w 918"/>
                <a:gd name="T49" fmla="*/ 237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4" name="Freeform 53">
              <a:extLst>
                <a:ext uri="{FF2B5EF4-FFF2-40B4-BE49-F238E27FC236}">
                  <a16:creationId xmlns:a16="http://schemas.microsoft.com/office/drawing/2014/main" id="{B2838E03-0DE4-485B-B24B-15E2E155F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2065"/>
              <a:ext cx="542" cy="954"/>
            </a:xfrm>
            <a:custGeom>
              <a:avLst/>
              <a:gdLst>
                <a:gd name="T0" fmla="*/ 44 w 869"/>
                <a:gd name="T1" fmla="*/ 229 h 1173"/>
                <a:gd name="T2" fmla="*/ 41 w 869"/>
                <a:gd name="T3" fmla="*/ 273 h 1173"/>
                <a:gd name="T4" fmla="*/ 39 w 869"/>
                <a:gd name="T5" fmla="*/ 313 h 1173"/>
                <a:gd name="T6" fmla="*/ 37 w 869"/>
                <a:gd name="T7" fmla="*/ 329 h 1173"/>
                <a:gd name="T8" fmla="*/ 37 w 869"/>
                <a:gd name="T9" fmla="*/ 334 h 1173"/>
                <a:gd name="T10" fmla="*/ 33 w 869"/>
                <a:gd name="T11" fmla="*/ 339 h 1173"/>
                <a:gd name="T12" fmla="*/ 17 w 869"/>
                <a:gd name="T13" fmla="*/ 331 h 1173"/>
                <a:gd name="T14" fmla="*/ 7 w 869"/>
                <a:gd name="T15" fmla="*/ 310 h 1173"/>
                <a:gd name="T16" fmla="*/ 2 w 869"/>
                <a:gd name="T17" fmla="*/ 292 h 1173"/>
                <a:gd name="T18" fmla="*/ 0 w 869"/>
                <a:gd name="T19" fmla="*/ 277 h 1173"/>
                <a:gd name="T20" fmla="*/ 4 w 869"/>
                <a:gd name="T21" fmla="*/ 145 h 1173"/>
                <a:gd name="T22" fmla="*/ 6 w 869"/>
                <a:gd name="T23" fmla="*/ 68 h 1173"/>
                <a:gd name="T24" fmla="*/ 9 w 869"/>
                <a:gd name="T25" fmla="*/ 48 h 1173"/>
                <a:gd name="T26" fmla="*/ 12 w 869"/>
                <a:gd name="T27" fmla="*/ 39 h 1173"/>
                <a:gd name="T28" fmla="*/ 18 w 869"/>
                <a:gd name="T29" fmla="*/ 21 h 1173"/>
                <a:gd name="T30" fmla="*/ 21 w 869"/>
                <a:gd name="T31" fmla="*/ 13 h 1173"/>
                <a:gd name="T32" fmla="*/ 26 w 869"/>
                <a:gd name="T33" fmla="*/ 0 h 1173"/>
                <a:gd name="T34" fmla="*/ 42 w 869"/>
                <a:gd name="T35" fmla="*/ 24 h 1173"/>
                <a:gd name="T36" fmla="*/ 47 w 869"/>
                <a:gd name="T37" fmla="*/ 59 h 1173"/>
                <a:gd name="T38" fmla="*/ 50 w 869"/>
                <a:gd name="T39" fmla="*/ 73 h 1173"/>
                <a:gd name="T40" fmla="*/ 51 w 869"/>
                <a:gd name="T41" fmla="*/ 89 h 1173"/>
                <a:gd name="T42" fmla="*/ 46 w 869"/>
                <a:gd name="T43" fmla="*/ 205 h 1173"/>
                <a:gd name="T44" fmla="*/ 44 w 869"/>
                <a:gd name="T45" fmla="*/ 229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69"/>
                <a:gd name="T70" fmla="*/ 0 h 1173"/>
                <a:gd name="T71" fmla="*/ 869 w 869"/>
                <a:gd name="T72" fmla="*/ 1173 h 117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2809D9-9EAC-C6F7-4BCB-E4D01E04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4219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Hierarchy Generation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4A3B56-4EF4-44AC-86FF-F61459ED75F0}"/>
              </a:ext>
            </a:extLst>
          </p:cNvPr>
          <p:cNvGrpSpPr>
            <a:grpSpLocks/>
          </p:cNvGrpSpPr>
          <p:nvPr/>
        </p:nvGrpSpPr>
        <p:grpSpPr bwMode="auto">
          <a:xfrm>
            <a:off x="4478768" y="3429000"/>
            <a:ext cx="7156450" cy="2933700"/>
            <a:chOff x="672" y="2400"/>
            <a:chExt cx="4508" cy="184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B51E7E1-E52E-4338-B160-1FC259B88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2256" cy="312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 i="1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16" name="Oval 6">
              <a:extLst>
                <a:ext uri="{FF2B5EF4-FFF2-40B4-BE49-F238E27FC236}">
                  <a16:creationId xmlns:a16="http://schemas.microsoft.com/office/drawing/2014/main" id="{9E22B76F-FB98-4F61-8E50-B07E49C9F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2952"/>
              <a:ext cx="2256" cy="312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 i="1" dirty="0" err="1">
                  <a:latin typeface="Times New Roman" panose="02020603050405020304" pitchFamily="18" charset="0"/>
                </a:rPr>
                <a:t>province_or_state</a:t>
              </a:r>
              <a:endParaRPr lang="en-US" altLang="nl-NL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DE0791EC-2028-4398-B91C-4BA946E9A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" y="3384"/>
              <a:ext cx="2256" cy="288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 i="1">
                  <a:latin typeface="Times New Roman" panose="02020603050405020304" pitchFamily="18" charset="0"/>
                </a:rPr>
                <a:t>city</a:t>
              </a:r>
            </a:p>
          </p:txBody>
        </p:sp>
        <p:sp>
          <p:nvSpPr>
            <p:cNvPr id="18" name="Oval 8">
              <a:extLst>
                <a:ext uri="{FF2B5EF4-FFF2-40B4-BE49-F238E27FC236}">
                  <a16:creationId xmlns:a16="http://schemas.microsoft.com/office/drawing/2014/main" id="{36E0A230-9676-475C-9B03-C16A47190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3936"/>
              <a:ext cx="2256" cy="312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 i="1">
                  <a:latin typeface="Times New Roman" panose="02020603050405020304" pitchFamily="18" charset="0"/>
                </a:rPr>
                <a:t>street</a:t>
              </a: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8FBDA9E2-9AF5-4072-8B56-70022FBFB7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2706"/>
              <a:ext cx="0" cy="24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C47BD10E-428C-43F2-BC39-59CB98559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3270"/>
              <a:ext cx="0" cy="11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B1BB8B26-5C7C-4786-A2E2-1D47E4B79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3672"/>
              <a:ext cx="0" cy="26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4A8EA5E1-1131-4E80-9DF7-FFF519FAF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2438"/>
              <a:ext cx="1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 dirty="0">
                  <a:latin typeface="Times New Roman" panose="02020603050405020304" pitchFamily="18" charset="0"/>
                </a:rPr>
                <a:t>15 distinct values</a:t>
              </a:r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93E34EBF-38EC-4CC1-AF97-219DBB1CB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942"/>
              <a:ext cx="15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>
                  <a:latin typeface="Times New Roman" panose="02020603050405020304" pitchFamily="18" charset="0"/>
                </a:rPr>
                <a:t>365 distinct values</a:t>
              </a: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id="{FD5DA3F4-F647-4425-A7DE-A8FBCD139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3410"/>
              <a:ext cx="1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>
                  <a:latin typeface="Times New Roman" panose="02020603050405020304" pitchFamily="18" charset="0"/>
                </a:rPr>
                <a:t>3567 distinct values</a:t>
              </a:r>
            </a:p>
          </p:txBody>
        </p:sp>
        <p:sp>
          <p:nvSpPr>
            <p:cNvPr id="25" name="Text Box 15">
              <a:extLst>
                <a:ext uri="{FF2B5EF4-FFF2-40B4-BE49-F238E27FC236}">
                  <a16:creationId xmlns:a16="http://schemas.microsoft.com/office/drawing/2014/main" id="{85663D87-E470-4DF5-8D15-F7C4B21E1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3866"/>
              <a:ext cx="18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nl-NL">
                  <a:latin typeface="Times New Roman" panose="02020603050405020304" pitchFamily="18" charset="0"/>
                </a:rPr>
                <a:t>674,339 distinct values</a:t>
              </a:r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F1EFA4D-7337-49EB-8BD7-AF10A445E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24145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Some hierarchies can be automatically generated based on the analysis of the number of distinct values per attribute in the data set 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The attribute with the most distinct values is placed at the lowest level of the hierarchy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848DF0-7BD9-9446-A7A1-164AC872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83717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00960"/>
            <a:ext cx="8277726" cy="628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Discretization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4F601-11B6-B12F-5334-46510CCE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91003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Discretization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Three types of attributes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Nominal: values from an unordered set, e.g., color, profession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Ordinal: values from an ordered set, e.g., military or academic rank 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Numeric: real numbers, e.g., integer or real numbers</a:t>
            </a:r>
          </a:p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Discretization: Divide the range of a continuous attribute into intervals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Interval labels can be used to replace actual data values 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Supervised vs. unsupervised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Split (top-down) vs. merge (bottom-up)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4568F-CEE7-3749-8E92-31F16728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7131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Methods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Typical methods: All the methods can be applied recursively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Binning – Histograms 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Clustering 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Classification (e.g. Decision-trees)</a:t>
            </a:r>
          </a:p>
          <a:p>
            <a:pPr lvl="1">
              <a:lnSpc>
                <a:spcPct val="120000"/>
              </a:lnSpc>
            </a:pPr>
            <a:r>
              <a:rPr lang="en-US" altLang="nl-NL" dirty="0">
                <a:cs typeface="Times New Roman" panose="02020603050405020304" pitchFamily="18" charset="0"/>
                <a:sym typeface="Symbol" panose="05050102010706020507" pitchFamily="18" charset="2"/>
              </a:rPr>
              <a:t>Correlation</a:t>
            </a:r>
            <a:endParaRPr lang="en-US" altLang="nl-NL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D65B8-7BFB-B4E9-65D2-C49D86DF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91718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Methods – Binning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1379622"/>
                <a:ext cx="10795000" cy="497101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nl-NL" dirty="0">
                    <a:cs typeface="Times New Roman" panose="02020603050405020304" pitchFamily="18" charset="0"/>
                  </a:rPr>
                  <a:t>Equal-width (distance) partitioning</a:t>
                </a:r>
              </a:p>
              <a:p>
                <a:pPr lvl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Divides the range into </a:t>
                </a:r>
                <a14:m>
                  <m:oMath xmlns:m="http://schemas.openxmlformats.org/officeDocument/2006/math">
                    <m:r>
                      <a:rPr lang="en-US" altLang="nl-NL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nl-NL" dirty="0">
                    <a:cs typeface="Times New Roman" panose="02020603050405020304" pitchFamily="18" charset="0"/>
                  </a:rPr>
                  <a:t> intervals of equal size: uniform grid</a:t>
                </a:r>
              </a:p>
              <a:p>
                <a:pPr lvl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If </a:t>
                </a:r>
                <a:r>
                  <a:rPr lang="en-US" altLang="nl-NL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nl-NL" dirty="0">
                    <a:cs typeface="Times New Roman" panose="02020603050405020304" pitchFamily="18" charset="0"/>
                  </a:rPr>
                  <a:t> and </a:t>
                </a:r>
                <a:r>
                  <a:rPr lang="en-US" altLang="nl-NL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nl-NL" dirty="0">
                    <a:cs typeface="Times New Roman" panose="02020603050405020304" pitchFamily="18" charset="0"/>
                  </a:rPr>
                  <a:t> are the smallest and largest values of the attribute, the width of intervals will be: </a:t>
                </a:r>
                <a14:m>
                  <m:oMath xmlns:m="http://schemas.openxmlformats.org/officeDocument/2006/math"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)/</m:t>
                    </m:r>
                    <m:r>
                      <a:rPr lang="en-US" altLang="nl-NL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nl-NL" i="1" dirty="0">
                    <a:cs typeface="Times New Roman" panose="02020603050405020304" pitchFamily="18" charset="0"/>
                  </a:rPr>
                  <a:t>.</a:t>
                </a:r>
                <a:endParaRPr lang="en-US" altLang="nl-NL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The most straightforward, but outliers may dominate presentation</a:t>
                </a:r>
              </a:p>
              <a:p>
                <a:pPr lvl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nl-NL" dirty="0">
                    <a:cs typeface="Times New Roman" panose="02020603050405020304" pitchFamily="18" charset="0"/>
                  </a:rPr>
                  <a:t>Skewed data is not handled well</a:t>
                </a:r>
                <a:endParaRPr lang="en-US" altLang="nl-NL" i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1379622"/>
                <a:ext cx="10795000" cy="4971012"/>
              </a:xfrm>
              <a:blipFill>
                <a:blip r:embed="rId2"/>
                <a:stretch>
                  <a:fillRect l="-10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E7882-391F-DF74-F1CB-A6EB7D7C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460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Methods – Binning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Equal-depth (frequency) partitioning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nl-NL" dirty="0">
                <a:cs typeface="Times New Roman" panose="02020603050405020304" pitchFamily="18" charset="0"/>
              </a:rPr>
              <a:t>Divides the range into </a:t>
            </a:r>
            <a:r>
              <a:rPr lang="en-US" altLang="nl-NL" i="1" dirty="0">
                <a:cs typeface="Times New Roman" panose="02020603050405020304" pitchFamily="18" charset="0"/>
              </a:rPr>
              <a:t>N</a:t>
            </a:r>
            <a:r>
              <a:rPr lang="en-US" altLang="nl-NL" dirty="0">
                <a:cs typeface="Times New Roman" panose="02020603050405020304" pitchFamily="18" charset="0"/>
              </a:rPr>
              <a:t> intervals, each containing approximately same number of samples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nl-NL" dirty="0">
                <a:cs typeface="Times New Roman" panose="02020603050405020304" pitchFamily="18" charset="0"/>
              </a:rPr>
              <a:t>Good data scaling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altLang="nl-NL" dirty="0">
                <a:cs typeface="Times New Roman" panose="02020603050405020304" pitchFamily="18" charset="0"/>
              </a:rPr>
              <a:t>Managing categorical attributes can be tricky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21249-D24E-E48D-5B4F-C89E8209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3263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Methods – Binning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354EEE5-7F5D-4794-A94A-5210CF7F5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79" y="1699260"/>
            <a:ext cx="3026787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B6098AC-F094-43D9-8016-C88A1D4B6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566" y="4192465"/>
            <a:ext cx="2997200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4EBFE1B5-125A-42A4-ADD8-4E875271B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992" y="1809539"/>
            <a:ext cx="3040842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3BF02FAA-B187-4A5D-BA83-A0BC4105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270" y="3731934"/>
            <a:ext cx="71925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nl-NL" sz="1400" b="1" dirty="0"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888742D2-D68B-4DFB-9620-A5AA5E9D8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166" y="624576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nl-NL" sz="1400" b="1" dirty="0">
                <a:latin typeface="Arial" panose="020B0604020202020204" pitchFamily="34" charset="0"/>
              </a:rPr>
              <a:t>Equal width (binning)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745A2D12-8783-4A9C-B92D-FF6995F29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113" y="3799049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nl-NL" sz="1400" b="1" dirty="0">
                <a:latin typeface="Arial" panose="020B0604020202020204" pitchFamily="34" charset="0"/>
              </a:rPr>
              <a:t>Equal frequency (binning)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70EF95-D880-4CF1-81A1-7F6BD72C2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992" y="4192465"/>
            <a:ext cx="3040842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9">
            <a:extLst>
              <a:ext uri="{FF2B5EF4-FFF2-40B4-BE49-F238E27FC236}">
                <a16:creationId xmlns:a16="http://schemas.microsoft.com/office/drawing/2014/main" id="{ABFE6933-34BC-4EDC-B742-C0D2D3055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113" y="6242065"/>
            <a:ext cx="39134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nl-NL" sz="1400" b="1" dirty="0">
                <a:latin typeface="Arial" panose="020B0604020202020204" pitchFamily="34" charset="0"/>
              </a:rPr>
              <a:t>Clustering-based discretization leads to better results (for this dataset)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F7C7E-E2A8-F4D1-EB74-ED0782AA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4393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Methods – Classification &amp; Correlation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79622"/>
            <a:ext cx="10795000" cy="49710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Classification (e.g., decision tree analysis)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Supervised: Given class labels, e.g., cancerous vs. benign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Using entropy to determine split point (discretization point)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Top-down, recursive split</a:t>
            </a:r>
          </a:p>
          <a:p>
            <a:pPr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Correlation analysis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Supervised: use class information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Bottom-up merge: find the best neighboring intervals (those having similar distributions of classes) to merge</a:t>
            </a:r>
          </a:p>
          <a:p>
            <a:pPr lvl="1">
              <a:lnSpc>
                <a:spcPct val="100000"/>
              </a:lnSpc>
            </a:pPr>
            <a:r>
              <a:rPr lang="en-US" altLang="nl-NL" dirty="0">
                <a:cs typeface="Times New Roman" panose="02020603050405020304" pitchFamily="18" charset="0"/>
              </a:rPr>
              <a:t>Merge performed recursively, until a predefined stopping condition is satisfied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F3F25-7410-E96B-B85B-D8DD56BD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878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Data Preparation Techniques</a:t>
            </a:r>
            <a:endParaRPr lang="nl-NL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724E80A-FF94-1A4D-B6C5-9C744369F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2" y="2789518"/>
            <a:ext cx="4457251" cy="2785781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6108700" cy="4775200"/>
          </a:xfrm>
        </p:spPr>
        <p:txBody>
          <a:bodyPr>
            <a:normAutofit/>
          </a:bodyPr>
          <a:lstStyle/>
          <a:p>
            <a:r>
              <a:rPr lang="en-GB" sz="2400" dirty="0"/>
              <a:t>Transforming categorical data into numerical data (See the Figure)</a:t>
            </a:r>
          </a:p>
          <a:p>
            <a:pPr lvl="1"/>
            <a:r>
              <a:rPr lang="en-GB" sz="2000" dirty="0"/>
              <a:t>Label encoding </a:t>
            </a:r>
          </a:p>
          <a:p>
            <a:pPr lvl="1"/>
            <a:r>
              <a:rPr lang="en-GB" sz="2000" dirty="0"/>
              <a:t>One-hot encoding</a:t>
            </a:r>
          </a:p>
          <a:p>
            <a:r>
              <a:rPr lang="en-GB" sz="2400" dirty="0">
                <a:cs typeface="Times New Roman" panose="02020603050405020304" pitchFamily="18" charset="0"/>
              </a:rPr>
              <a:t>Data Enrichment </a:t>
            </a:r>
          </a:p>
          <a:p>
            <a:pPr lvl="1"/>
            <a:r>
              <a:rPr lang="en-US" altLang="nl-NL" sz="2000" dirty="0"/>
              <a:t>Augmentation </a:t>
            </a:r>
          </a:p>
          <a:p>
            <a:pPr lvl="1"/>
            <a:r>
              <a:rPr lang="en-US" altLang="nl-NL" sz="2000" dirty="0"/>
              <a:t>Join &amp; Union</a:t>
            </a:r>
          </a:p>
          <a:p>
            <a:r>
              <a:rPr lang="en-US" altLang="nl-NL" sz="2400" dirty="0">
                <a:cs typeface="Times New Roman" panose="02020603050405020304" pitchFamily="18" charset="0"/>
              </a:rPr>
              <a:t>Data Validation</a:t>
            </a:r>
          </a:p>
          <a:p>
            <a:pPr lvl="1"/>
            <a:r>
              <a:rPr lang="en-US" altLang="nl-NL" sz="2000" dirty="0">
                <a:cs typeface="Times New Roman" panose="02020603050405020304" pitchFamily="18" charset="0"/>
              </a:rPr>
              <a:t>Check Permitted Characters</a:t>
            </a:r>
          </a:p>
          <a:p>
            <a:pPr lvl="1"/>
            <a:r>
              <a:rPr lang="en-US" altLang="nl-NL" sz="2000" dirty="0">
                <a:cs typeface="Times New Roman" panose="02020603050405020304" pitchFamily="18" charset="0"/>
              </a:rPr>
              <a:t>Find Type-Mismatched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43E99-C68E-D4A3-C260-0FA1003B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5578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rap gifts sustainably | Official HÖGL Webshop">
            <a:extLst>
              <a:ext uri="{FF2B5EF4-FFF2-40B4-BE49-F238E27FC236}">
                <a16:creationId xmlns:a16="http://schemas.microsoft.com/office/drawing/2014/main" id="{22BD9D60-C944-FD4F-9D3A-B57BB3D54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-1" y="10"/>
            <a:ext cx="12192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2355" y="2869446"/>
            <a:ext cx="4204137" cy="13427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Wrap-Up 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165920" y="3429000"/>
            <a:ext cx="4593021" cy="2619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Summarize what you learned </a:t>
            </a:r>
          </a:p>
          <a:p>
            <a:pPr marL="0" indent="0">
              <a:buNone/>
            </a:pPr>
            <a:r>
              <a:rPr lang="en-US" sz="1800" dirty="0"/>
              <a:t>today in 2-minutes</a:t>
            </a:r>
            <a:endParaRPr lang="en-US" alt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E23227-B17A-F52F-AB3F-81BC2E07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175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48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1811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73D4E-B70B-4136-B747-E79AAA180FB8}">
  <ds:schemaRefs>
    <ds:schemaRef ds:uri="http://purl.org/dc/dcmitype/"/>
    <ds:schemaRef ds:uri="http://schemas.microsoft.com/office/infopath/2007/PartnerControls"/>
    <ds:schemaRef ds:uri="5032e021-b0cf-43e6-828a-5b682824f23c"/>
    <ds:schemaRef ds:uri="http://schemas.microsoft.com/office/2006/documentManagement/types"/>
    <ds:schemaRef ds:uri="http://purl.org/dc/elements/1.1/"/>
    <ds:schemaRef ds:uri="http://purl.org/dc/terms/"/>
    <ds:schemaRef ds:uri="ef284efa-1316-4307-b1a8-b157427e4237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4271</TotalTime>
  <Words>2381</Words>
  <Application>Microsoft Macintosh PowerPoint</Application>
  <PresentationFormat>Widescreen</PresentationFormat>
  <Paragraphs>366</Paragraphs>
  <Slides>48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Times New Roman</vt:lpstr>
      <vt:lpstr>Office Theme</vt:lpstr>
      <vt:lpstr>Acrobat Document</vt:lpstr>
      <vt:lpstr>Chart</vt:lpstr>
      <vt:lpstr>PowerPoint Presentation</vt:lpstr>
      <vt:lpstr>PowerPoint Presentation</vt:lpstr>
      <vt:lpstr>Topics for Today</vt:lpstr>
      <vt:lpstr>PowerPoint Presentation</vt:lpstr>
      <vt:lpstr>Data Transformation</vt:lpstr>
      <vt:lpstr>Data Transformation (Cont.)</vt:lpstr>
      <vt:lpstr>Data Normalization (Standardization)</vt:lpstr>
      <vt:lpstr>Data Normalization – Min-Max Normalization </vt:lpstr>
      <vt:lpstr>Data Normalization – Min-Max Normalization </vt:lpstr>
      <vt:lpstr>Data Normalization – Z-Score Normalization </vt:lpstr>
      <vt:lpstr>Data Normalization – Z-Score Normalization </vt:lpstr>
      <vt:lpstr>Data Normalization – Decimal Scaling Normalization </vt:lpstr>
      <vt:lpstr>Data Normalization – Decimal Scaling Normalization </vt:lpstr>
      <vt:lpstr>Data Transformation (Cont.)</vt:lpstr>
      <vt:lpstr>PowerPoint Presentation</vt:lpstr>
      <vt:lpstr>Data Integration</vt:lpstr>
      <vt:lpstr>Handling Redundancy when Integrating Data</vt:lpstr>
      <vt:lpstr>Entity Resolution </vt:lpstr>
      <vt:lpstr>Ironically, Entity Resolution has Many Duplicate Names</vt:lpstr>
      <vt:lpstr>Entity Resolution – Normalization </vt:lpstr>
      <vt:lpstr>Entity Resolution – Matching Features </vt:lpstr>
      <vt:lpstr>Entity Resolution – Similarity Measures</vt:lpstr>
      <vt:lpstr>Entity Resolution – Issues</vt:lpstr>
      <vt:lpstr>PowerPoint Presentation</vt:lpstr>
      <vt:lpstr>Data Reduction </vt:lpstr>
      <vt:lpstr>Dimensionality Reduction</vt:lpstr>
      <vt:lpstr>Principal Component Analysis (PCA)</vt:lpstr>
      <vt:lpstr>Principal Component Analysis (Steps)</vt:lpstr>
      <vt:lpstr>PCA for Dimensionality Reduction</vt:lpstr>
      <vt:lpstr>Attribute Subset Selection for Data Reduction </vt:lpstr>
      <vt:lpstr>Data Reduction (instances or examples level)</vt:lpstr>
      <vt:lpstr>Histograms for Instance Level Data Reduction</vt:lpstr>
      <vt:lpstr>Clustering-Based Data Reduction</vt:lpstr>
      <vt:lpstr>Sampling-Based Data Reduction</vt:lpstr>
      <vt:lpstr>Types of Sampling</vt:lpstr>
      <vt:lpstr>Sampling – with or without Replacement</vt:lpstr>
      <vt:lpstr>Sampling – Cluster or Stratified Sampling</vt:lpstr>
      <vt:lpstr>Concept Hierarchy Generation</vt:lpstr>
      <vt:lpstr>PowerPoint Presentation</vt:lpstr>
      <vt:lpstr>Data Discretization</vt:lpstr>
      <vt:lpstr>Discretization Methods</vt:lpstr>
      <vt:lpstr>Discretization Methods – Binning </vt:lpstr>
      <vt:lpstr>Discretization Methods – Binning (Cont.)</vt:lpstr>
      <vt:lpstr>Discretization Methods – Binning (Cont.)</vt:lpstr>
      <vt:lpstr>Discretization Methods – Classification &amp; Correlation</vt:lpstr>
      <vt:lpstr>Other Data Preparation Techniques</vt:lpstr>
      <vt:lpstr>Wrap-Up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196</cp:revision>
  <cp:lastPrinted>2025-09-25T09:57:34Z</cp:lastPrinted>
  <dcterms:created xsi:type="dcterms:W3CDTF">2020-02-17T15:53:26Z</dcterms:created>
  <dcterms:modified xsi:type="dcterms:W3CDTF">2025-09-25T10:14:11Z</dcterms:modified>
</cp:coreProperties>
</file>