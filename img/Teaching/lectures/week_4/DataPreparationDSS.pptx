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5"/>
  </p:notesMasterIdLst>
  <p:sldIdLst>
    <p:sldId id="256" r:id="rId5"/>
    <p:sldId id="1263" r:id="rId6"/>
    <p:sldId id="335" r:id="rId7"/>
    <p:sldId id="367" r:id="rId8"/>
    <p:sldId id="370" r:id="rId9"/>
    <p:sldId id="1264" r:id="rId10"/>
    <p:sldId id="372" r:id="rId11"/>
    <p:sldId id="2233" r:id="rId12"/>
    <p:sldId id="399" r:id="rId13"/>
    <p:sldId id="400" r:id="rId14"/>
    <p:sldId id="398" r:id="rId15"/>
    <p:sldId id="261" r:id="rId16"/>
    <p:sldId id="2236" r:id="rId17"/>
    <p:sldId id="2234" r:id="rId18"/>
    <p:sldId id="401" r:id="rId19"/>
    <p:sldId id="402" r:id="rId20"/>
    <p:sldId id="403" r:id="rId21"/>
    <p:sldId id="404" r:id="rId22"/>
    <p:sldId id="405" r:id="rId23"/>
    <p:sldId id="274" r:id="rId24"/>
    <p:sldId id="262" r:id="rId25"/>
    <p:sldId id="406" r:id="rId26"/>
    <p:sldId id="2235" r:id="rId27"/>
    <p:sldId id="407" r:id="rId28"/>
    <p:sldId id="364" r:id="rId29"/>
    <p:sldId id="371" r:id="rId30"/>
    <p:sldId id="408" r:id="rId31"/>
    <p:sldId id="264" r:id="rId32"/>
    <p:sldId id="409" r:id="rId33"/>
    <p:sldId id="410" r:id="rId34"/>
    <p:sldId id="411" r:id="rId35"/>
    <p:sldId id="2237" r:id="rId36"/>
    <p:sldId id="373" r:id="rId37"/>
    <p:sldId id="1056" r:id="rId38"/>
    <p:sldId id="1057" r:id="rId39"/>
    <p:sldId id="1059" r:id="rId40"/>
    <p:sldId id="1060" r:id="rId41"/>
    <p:sldId id="1061" r:id="rId42"/>
    <p:sldId id="1062" r:id="rId43"/>
    <p:sldId id="1073" r:id="rId44"/>
    <p:sldId id="1075" r:id="rId45"/>
    <p:sldId id="1076" r:id="rId46"/>
    <p:sldId id="1063" r:id="rId47"/>
    <p:sldId id="1064" r:id="rId48"/>
    <p:sldId id="1066" r:id="rId49"/>
    <p:sldId id="1069" r:id="rId50"/>
    <p:sldId id="1081" r:id="rId51"/>
    <p:sldId id="1082" r:id="rId52"/>
    <p:sldId id="1083" r:id="rId53"/>
    <p:sldId id="1107" r:id="rId54"/>
    <p:sldId id="1108" r:id="rId55"/>
    <p:sldId id="1109" r:id="rId56"/>
    <p:sldId id="1110" r:id="rId57"/>
    <p:sldId id="1111" r:id="rId58"/>
    <p:sldId id="1112" r:id="rId59"/>
    <p:sldId id="1113" r:id="rId60"/>
    <p:sldId id="1085" r:id="rId61"/>
    <p:sldId id="1086" r:id="rId62"/>
    <p:sldId id="1090" r:id="rId63"/>
    <p:sldId id="2238" r:id="rId64"/>
    <p:sldId id="2239" r:id="rId65"/>
    <p:sldId id="2240" r:id="rId66"/>
    <p:sldId id="2241" r:id="rId67"/>
    <p:sldId id="2242" r:id="rId68"/>
    <p:sldId id="2243" r:id="rId69"/>
    <p:sldId id="1088" r:id="rId70"/>
    <p:sldId id="1089" r:id="rId71"/>
    <p:sldId id="1091" r:id="rId72"/>
    <p:sldId id="1092" r:id="rId73"/>
    <p:sldId id="1094" r:id="rId74"/>
    <p:sldId id="1095" r:id="rId75"/>
    <p:sldId id="1096" r:id="rId76"/>
    <p:sldId id="1097" r:id="rId77"/>
    <p:sldId id="1099" r:id="rId78"/>
    <p:sldId id="1101" r:id="rId79"/>
    <p:sldId id="1100" r:id="rId80"/>
    <p:sldId id="1102" r:id="rId81"/>
    <p:sldId id="2244" r:id="rId82"/>
    <p:sldId id="1262" r:id="rId83"/>
    <p:sldId id="910" r:id="rId8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  <a:srgbClr val="DEDEDE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DCDDC-971D-6046-A0D0-915DF96B7694}" v="1" dt="2024-09-25T09:57:04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39" autoAdjust="0"/>
    <p:restoredTop sz="96301"/>
  </p:normalViewPr>
  <p:slideViewPr>
    <p:cSldViewPr snapToGrid="0">
      <p:cViewPr varScale="1">
        <p:scale>
          <a:sx n="118" d="100"/>
          <a:sy n="118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microsoft.com/office/2016/11/relationships/changesInfo" Target="changesInfos/changesInfo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htan, A.A.A. (Hakim)" userId="2e0f559b-8f84-4ffd-87e2-eac7fe92b5e6" providerId="ADAL" clId="{13CC65BD-843C-4A3B-98C3-94852964BE3C}"/>
    <pc:docChg chg="delSld">
      <pc:chgData name="Qahtan, A.A.A. (Hakim)" userId="2e0f559b-8f84-4ffd-87e2-eac7fe92b5e6" providerId="ADAL" clId="{13CC65BD-843C-4A3B-98C3-94852964BE3C}" dt="2020-03-23T12:18:35.498" v="39" actId="2696"/>
      <pc:docMkLst>
        <pc:docMk/>
      </pc:docMkLst>
      <pc:sldChg chg="del">
        <pc:chgData name="Qahtan, A.A.A. (Hakim)" userId="2e0f559b-8f84-4ffd-87e2-eac7fe92b5e6" providerId="ADAL" clId="{13CC65BD-843C-4A3B-98C3-94852964BE3C}" dt="2020-03-23T12:18:17.231" v="0" actId="2696"/>
        <pc:sldMkLst>
          <pc:docMk/>
          <pc:sldMk cId="291229494" sldId="1081"/>
        </pc:sldMkLst>
      </pc:sldChg>
      <pc:sldChg chg="del">
        <pc:chgData name="Qahtan, A.A.A. (Hakim)" userId="2e0f559b-8f84-4ffd-87e2-eac7fe92b5e6" providerId="ADAL" clId="{13CC65BD-843C-4A3B-98C3-94852964BE3C}" dt="2020-03-23T12:18:19.753" v="1" actId="2696"/>
        <pc:sldMkLst>
          <pc:docMk/>
          <pc:sldMk cId="3163506799" sldId="1082"/>
        </pc:sldMkLst>
      </pc:sldChg>
      <pc:sldChg chg="del">
        <pc:chgData name="Qahtan, A.A.A. (Hakim)" userId="2e0f559b-8f84-4ffd-87e2-eac7fe92b5e6" providerId="ADAL" clId="{13CC65BD-843C-4A3B-98C3-94852964BE3C}" dt="2020-03-23T12:18:20.445" v="2" actId="2696"/>
        <pc:sldMkLst>
          <pc:docMk/>
          <pc:sldMk cId="2554313806" sldId="1083"/>
        </pc:sldMkLst>
      </pc:sldChg>
      <pc:sldChg chg="del">
        <pc:chgData name="Qahtan, A.A.A. (Hakim)" userId="2e0f559b-8f84-4ffd-87e2-eac7fe92b5e6" providerId="ADAL" clId="{13CC65BD-843C-4A3B-98C3-94852964BE3C}" dt="2020-03-23T12:18:22.403" v="11" actId="2696"/>
        <pc:sldMkLst>
          <pc:docMk/>
          <pc:sldMk cId="4287762621" sldId="1084"/>
        </pc:sldMkLst>
      </pc:sldChg>
      <pc:sldChg chg="del">
        <pc:chgData name="Qahtan, A.A.A. (Hakim)" userId="2e0f559b-8f84-4ffd-87e2-eac7fe92b5e6" providerId="ADAL" clId="{13CC65BD-843C-4A3B-98C3-94852964BE3C}" dt="2020-03-23T12:18:22.565" v="12" actId="2696"/>
        <pc:sldMkLst>
          <pc:docMk/>
          <pc:sldMk cId="495594847" sldId="1085"/>
        </pc:sldMkLst>
      </pc:sldChg>
      <pc:sldChg chg="del">
        <pc:chgData name="Qahtan, A.A.A. (Hakim)" userId="2e0f559b-8f84-4ffd-87e2-eac7fe92b5e6" providerId="ADAL" clId="{13CC65BD-843C-4A3B-98C3-94852964BE3C}" dt="2020-03-23T12:18:22.755" v="13" actId="2696"/>
        <pc:sldMkLst>
          <pc:docMk/>
          <pc:sldMk cId="1001354965" sldId="1086"/>
        </pc:sldMkLst>
      </pc:sldChg>
      <pc:sldChg chg="del">
        <pc:chgData name="Qahtan, A.A.A. (Hakim)" userId="2e0f559b-8f84-4ffd-87e2-eac7fe92b5e6" providerId="ADAL" clId="{13CC65BD-843C-4A3B-98C3-94852964BE3C}" dt="2020-03-23T12:18:23.320" v="15" actId="2696"/>
        <pc:sldMkLst>
          <pc:docMk/>
          <pc:sldMk cId="3858431177" sldId="1088"/>
        </pc:sldMkLst>
      </pc:sldChg>
      <pc:sldChg chg="del">
        <pc:chgData name="Qahtan, A.A.A. (Hakim)" userId="2e0f559b-8f84-4ffd-87e2-eac7fe92b5e6" providerId="ADAL" clId="{13CC65BD-843C-4A3B-98C3-94852964BE3C}" dt="2020-03-23T12:18:23.528" v="16" actId="2696"/>
        <pc:sldMkLst>
          <pc:docMk/>
          <pc:sldMk cId="2171332194" sldId="1089"/>
        </pc:sldMkLst>
      </pc:sldChg>
      <pc:sldChg chg="del">
        <pc:chgData name="Qahtan, A.A.A. (Hakim)" userId="2e0f559b-8f84-4ffd-87e2-eac7fe92b5e6" providerId="ADAL" clId="{13CC65BD-843C-4A3B-98C3-94852964BE3C}" dt="2020-03-23T12:18:23.083" v="14" actId="2696"/>
        <pc:sldMkLst>
          <pc:docMk/>
          <pc:sldMk cId="1062252283" sldId="1090"/>
        </pc:sldMkLst>
      </pc:sldChg>
      <pc:sldChg chg="del">
        <pc:chgData name="Qahtan, A.A.A. (Hakim)" userId="2e0f559b-8f84-4ffd-87e2-eac7fe92b5e6" providerId="ADAL" clId="{13CC65BD-843C-4A3B-98C3-94852964BE3C}" dt="2020-03-23T12:18:23.750" v="17" actId="2696"/>
        <pc:sldMkLst>
          <pc:docMk/>
          <pc:sldMk cId="1602098250" sldId="1091"/>
        </pc:sldMkLst>
      </pc:sldChg>
      <pc:sldChg chg="del">
        <pc:chgData name="Qahtan, A.A.A. (Hakim)" userId="2e0f559b-8f84-4ffd-87e2-eac7fe92b5e6" providerId="ADAL" clId="{13CC65BD-843C-4A3B-98C3-94852964BE3C}" dt="2020-03-23T12:18:24.028" v="18" actId="2696"/>
        <pc:sldMkLst>
          <pc:docMk/>
          <pc:sldMk cId="3706857891" sldId="1092"/>
        </pc:sldMkLst>
      </pc:sldChg>
      <pc:sldChg chg="del">
        <pc:chgData name="Qahtan, A.A.A. (Hakim)" userId="2e0f559b-8f84-4ffd-87e2-eac7fe92b5e6" providerId="ADAL" clId="{13CC65BD-843C-4A3B-98C3-94852964BE3C}" dt="2020-03-23T12:18:24.356" v="19" actId="2696"/>
        <pc:sldMkLst>
          <pc:docMk/>
          <pc:sldMk cId="3657336332" sldId="1093"/>
        </pc:sldMkLst>
      </pc:sldChg>
      <pc:sldChg chg="del">
        <pc:chgData name="Qahtan, A.A.A. (Hakim)" userId="2e0f559b-8f84-4ffd-87e2-eac7fe92b5e6" providerId="ADAL" clId="{13CC65BD-843C-4A3B-98C3-94852964BE3C}" dt="2020-03-23T12:18:24.500" v="20" actId="2696"/>
        <pc:sldMkLst>
          <pc:docMk/>
          <pc:sldMk cId="1722229024" sldId="1094"/>
        </pc:sldMkLst>
      </pc:sldChg>
      <pc:sldChg chg="del">
        <pc:chgData name="Qahtan, A.A.A. (Hakim)" userId="2e0f559b-8f84-4ffd-87e2-eac7fe92b5e6" providerId="ADAL" clId="{13CC65BD-843C-4A3B-98C3-94852964BE3C}" dt="2020-03-23T12:18:24.583" v="21" actId="2696"/>
        <pc:sldMkLst>
          <pc:docMk/>
          <pc:sldMk cId="4256355823" sldId="1095"/>
        </pc:sldMkLst>
      </pc:sldChg>
      <pc:sldChg chg="del">
        <pc:chgData name="Qahtan, A.A.A. (Hakim)" userId="2e0f559b-8f84-4ffd-87e2-eac7fe92b5e6" providerId="ADAL" clId="{13CC65BD-843C-4A3B-98C3-94852964BE3C}" dt="2020-03-23T12:18:24.788" v="22" actId="2696"/>
        <pc:sldMkLst>
          <pc:docMk/>
          <pc:sldMk cId="2518234483" sldId="1096"/>
        </pc:sldMkLst>
      </pc:sldChg>
      <pc:sldChg chg="del">
        <pc:chgData name="Qahtan, A.A.A. (Hakim)" userId="2e0f559b-8f84-4ffd-87e2-eac7fe92b5e6" providerId="ADAL" clId="{13CC65BD-843C-4A3B-98C3-94852964BE3C}" dt="2020-03-23T12:18:25.317" v="23" actId="2696"/>
        <pc:sldMkLst>
          <pc:docMk/>
          <pc:sldMk cId="3737971764" sldId="1097"/>
        </pc:sldMkLst>
      </pc:sldChg>
      <pc:sldChg chg="del">
        <pc:chgData name="Qahtan, A.A.A. (Hakim)" userId="2e0f559b-8f84-4ffd-87e2-eac7fe92b5e6" providerId="ADAL" clId="{13CC65BD-843C-4A3B-98C3-94852964BE3C}" dt="2020-03-23T12:18:25.568" v="24" actId="2696"/>
        <pc:sldMkLst>
          <pc:docMk/>
          <pc:sldMk cId="3291275678" sldId="1098"/>
        </pc:sldMkLst>
      </pc:sldChg>
      <pc:sldChg chg="del">
        <pc:chgData name="Qahtan, A.A.A. (Hakim)" userId="2e0f559b-8f84-4ffd-87e2-eac7fe92b5e6" providerId="ADAL" clId="{13CC65BD-843C-4A3B-98C3-94852964BE3C}" dt="2020-03-23T12:18:25.938" v="25" actId="2696"/>
        <pc:sldMkLst>
          <pc:docMk/>
          <pc:sldMk cId="3400318586" sldId="1099"/>
        </pc:sldMkLst>
      </pc:sldChg>
      <pc:sldChg chg="del">
        <pc:chgData name="Qahtan, A.A.A. (Hakim)" userId="2e0f559b-8f84-4ffd-87e2-eac7fe92b5e6" providerId="ADAL" clId="{13CC65BD-843C-4A3B-98C3-94852964BE3C}" dt="2020-03-23T12:18:26.410" v="27" actId="2696"/>
        <pc:sldMkLst>
          <pc:docMk/>
          <pc:sldMk cId="3877893763" sldId="1100"/>
        </pc:sldMkLst>
      </pc:sldChg>
      <pc:sldChg chg="del">
        <pc:chgData name="Qahtan, A.A.A. (Hakim)" userId="2e0f559b-8f84-4ffd-87e2-eac7fe92b5e6" providerId="ADAL" clId="{13CC65BD-843C-4A3B-98C3-94852964BE3C}" dt="2020-03-23T12:18:26.105" v="26" actId="2696"/>
        <pc:sldMkLst>
          <pc:docMk/>
          <pc:sldMk cId="985700354" sldId="1101"/>
        </pc:sldMkLst>
      </pc:sldChg>
      <pc:sldChg chg="del">
        <pc:chgData name="Qahtan, A.A.A. (Hakim)" userId="2e0f559b-8f84-4ffd-87e2-eac7fe92b5e6" providerId="ADAL" clId="{13CC65BD-843C-4A3B-98C3-94852964BE3C}" dt="2020-03-23T12:18:26.914" v="28" actId="2696"/>
        <pc:sldMkLst>
          <pc:docMk/>
          <pc:sldMk cId="2904219264" sldId="1102"/>
        </pc:sldMkLst>
      </pc:sldChg>
      <pc:sldChg chg="del">
        <pc:chgData name="Qahtan, A.A.A. (Hakim)" userId="2e0f559b-8f84-4ffd-87e2-eac7fe92b5e6" providerId="ADAL" clId="{13CC65BD-843C-4A3B-98C3-94852964BE3C}" dt="2020-03-23T12:18:27.006" v="29" actId="2696"/>
        <pc:sldMkLst>
          <pc:docMk/>
          <pc:sldMk cId="786646970" sldId="1103"/>
        </pc:sldMkLst>
      </pc:sldChg>
      <pc:sldChg chg="del">
        <pc:chgData name="Qahtan, A.A.A. (Hakim)" userId="2e0f559b-8f84-4ffd-87e2-eac7fe92b5e6" providerId="ADAL" clId="{13CC65BD-843C-4A3B-98C3-94852964BE3C}" dt="2020-03-23T12:18:27.305" v="30" actId="2696"/>
        <pc:sldMkLst>
          <pc:docMk/>
          <pc:sldMk cId="550208015" sldId="1104"/>
        </pc:sldMkLst>
      </pc:sldChg>
      <pc:sldChg chg="del">
        <pc:chgData name="Qahtan, A.A.A. (Hakim)" userId="2e0f559b-8f84-4ffd-87e2-eac7fe92b5e6" providerId="ADAL" clId="{13CC65BD-843C-4A3B-98C3-94852964BE3C}" dt="2020-03-23T12:18:27.527" v="31" actId="2696"/>
        <pc:sldMkLst>
          <pc:docMk/>
          <pc:sldMk cId="3148371749" sldId="1105"/>
        </pc:sldMkLst>
      </pc:sldChg>
      <pc:sldChg chg="del">
        <pc:chgData name="Qahtan, A.A.A. (Hakim)" userId="2e0f559b-8f84-4ffd-87e2-eac7fe92b5e6" providerId="ADAL" clId="{13CC65BD-843C-4A3B-98C3-94852964BE3C}" dt="2020-03-23T12:18:20.867" v="3" actId="2696"/>
        <pc:sldMkLst>
          <pc:docMk/>
          <pc:sldMk cId="2960165591" sldId="1106"/>
        </pc:sldMkLst>
      </pc:sldChg>
      <pc:sldChg chg="del">
        <pc:chgData name="Qahtan, A.A.A. (Hakim)" userId="2e0f559b-8f84-4ffd-87e2-eac7fe92b5e6" providerId="ADAL" clId="{13CC65BD-843C-4A3B-98C3-94852964BE3C}" dt="2020-03-23T12:18:21.208" v="4" actId="2696"/>
        <pc:sldMkLst>
          <pc:docMk/>
          <pc:sldMk cId="465984472" sldId="1107"/>
        </pc:sldMkLst>
      </pc:sldChg>
      <pc:sldChg chg="del">
        <pc:chgData name="Qahtan, A.A.A. (Hakim)" userId="2e0f559b-8f84-4ffd-87e2-eac7fe92b5e6" providerId="ADAL" clId="{13CC65BD-843C-4A3B-98C3-94852964BE3C}" dt="2020-03-23T12:18:21.544" v="5" actId="2696"/>
        <pc:sldMkLst>
          <pc:docMk/>
          <pc:sldMk cId="4130703618" sldId="1108"/>
        </pc:sldMkLst>
      </pc:sldChg>
      <pc:sldChg chg="del">
        <pc:chgData name="Qahtan, A.A.A. (Hakim)" userId="2e0f559b-8f84-4ffd-87e2-eac7fe92b5e6" providerId="ADAL" clId="{13CC65BD-843C-4A3B-98C3-94852964BE3C}" dt="2020-03-23T12:18:21.734" v="6" actId="2696"/>
        <pc:sldMkLst>
          <pc:docMk/>
          <pc:sldMk cId="2170495588" sldId="1109"/>
        </pc:sldMkLst>
      </pc:sldChg>
      <pc:sldChg chg="del">
        <pc:chgData name="Qahtan, A.A.A. (Hakim)" userId="2e0f559b-8f84-4ffd-87e2-eac7fe92b5e6" providerId="ADAL" clId="{13CC65BD-843C-4A3B-98C3-94852964BE3C}" dt="2020-03-23T12:18:21.899" v="7" actId="2696"/>
        <pc:sldMkLst>
          <pc:docMk/>
          <pc:sldMk cId="1143238543" sldId="1110"/>
        </pc:sldMkLst>
      </pc:sldChg>
      <pc:sldChg chg="del">
        <pc:chgData name="Qahtan, A.A.A. (Hakim)" userId="2e0f559b-8f84-4ffd-87e2-eac7fe92b5e6" providerId="ADAL" clId="{13CC65BD-843C-4A3B-98C3-94852964BE3C}" dt="2020-03-23T12:18:22.045" v="8" actId="2696"/>
        <pc:sldMkLst>
          <pc:docMk/>
          <pc:sldMk cId="272692862" sldId="1111"/>
        </pc:sldMkLst>
      </pc:sldChg>
      <pc:sldChg chg="del">
        <pc:chgData name="Qahtan, A.A.A. (Hakim)" userId="2e0f559b-8f84-4ffd-87e2-eac7fe92b5e6" providerId="ADAL" clId="{13CC65BD-843C-4A3B-98C3-94852964BE3C}" dt="2020-03-23T12:18:22.197" v="9" actId="2696"/>
        <pc:sldMkLst>
          <pc:docMk/>
          <pc:sldMk cId="389647025" sldId="1112"/>
        </pc:sldMkLst>
      </pc:sldChg>
      <pc:sldChg chg="del">
        <pc:chgData name="Qahtan, A.A.A. (Hakim)" userId="2e0f559b-8f84-4ffd-87e2-eac7fe92b5e6" providerId="ADAL" clId="{13CC65BD-843C-4A3B-98C3-94852964BE3C}" dt="2020-03-23T12:18:22.317" v="10" actId="2696"/>
        <pc:sldMkLst>
          <pc:docMk/>
          <pc:sldMk cId="1065788880" sldId="1113"/>
        </pc:sldMkLst>
      </pc:sldChg>
      <pc:sldChg chg="del">
        <pc:chgData name="Qahtan, A.A.A. (Hakim)" userId="2e0f559b-8f84-4ffd-87e2-eac7fe92b5e6" providerId="ADAL" clId="{13CC65BD-843C-4A3B-98C3-94852964BE3C}" dt="2020-03-23T12:18:27.902" v="32" actId="2696"/>
        <pc:sldMkLst>
          <pc:docMk/>
          <pc:sldMk cId="889100306" sldId="1114"/>
        </pc:sldMkLst>
      </pc:sldChg>
      <pc:sldChg chg="del">
        <pc:chgData name="Qahtan, A.A.A. (Hakim)" userId="2e0f559b-8f84-4ffd-87e2-eac7fe92b5e6" providerId="ADAL" clId="{13CC65BD-843C-4A3B-98C3-94852964BE3C}" dt="2020-03-23T12:18:28.523" v="33" actId="2696"/>
        <pc:sldMkLst>
          <pc:docMk/>
          <pc:sldMk cId="1687131174" sldId="1115"/>
        </pc:sldMkLst>
      </pc:sldChg>
      <pc:sldChg chg="del">
        <pc:chgData name="Qahtan, A.A.A. (Hakim)" userId="2e0f559b-8f84-4ffd-87e2-eac7fe92b5e6" providerId="ADAL" clId="{13CC65BD-843C-4A3B-98C3-94852964BE3C}" dt="2020-03-23T12:18:28.808" v="34" actId="2696"/>
        <pc:sldMkLst>
          <pc:docMk/>
          <pc:sldMk cId="3169171861" sldId="1116"/>
        </pc:sldMkLst>
      </pc:sldChg>
      <pc:sldChg chg="del">
        <pc:chgData name="Qahtan, A.A.A. (Hakim)" userId="2e0f559b-8f84-4ffd-87e2-eac7fe92b5e6" providerId="ADAL" clId="{13CC65BD-843C-4A3B-98C3-94852964BE3C}" dt="2020-03-23T12:18:29.210" v="35" actId="2696"/>
        <pc:sldMkLst>
          <pc:docMk/>
          <pc:sldMk cId="97460913" sldId="1117"/>
        </pc:sldMkLst>
      </pc:sldChg>
      <pc:sldChg chg="del">
        <pc:chgData name="Qahtan, A.A.A. (Hakim)" userId="2e0f559b-8f84-4ffd-87e2-eac7fe92b5e6" providerId="ADAL" clId="{13CC65BD-843C-4A3B-98C3-94852964BE3C}" dt="2020-03-23T12:18:29.422" v="36" actId="2696"/>
        <pc:sldMkLst>
          <pc:docMk/>
          <pc:sldMk cId="3583263098" sldId="1118"/>
        </pc:sldMkLst>
      </pc:sldChg>
      <pc:sldChg chg="del">
        <pc:chgData name="Qahtan, A.A.A. (Hakim)" userId="2e0f559b-8f84-4ffd-87e2-eac7fe92b5e6" providerId="ADAL" clId="{13CC65BD-843C-4A3B-98C3-94852964BE3C}" dt="2020-03-23T12:18:29.800" v="37" actId="2696"/>
        <pc:sldMkLst>
          <pc:docMk/>
          <pc:sldMk cId="1984393103" sldId="1119"/>
        </pc:sldMkLst>
      </pc:sldChg>
      <pc:sldChg chg="del">
        <pc:chgData name="Qahtan, A.A.A. (Hakim)" userId="2e0f559b-8f84-4ffd-87e2-eac7fe92b5e6" providerId="ADAL" clId="{13CC65BD-843C-4A3B-98C3-94852964BE3C}" dt="2020-03-23T12:18:30.561" v="38" actId="2696"/>
        <pc:sldMkLst>
          <pc:docMk/>
          <pc:sldMk cId="247878691" sldId="1120"/>
        </pc:sldMkLst>
      </pc:sldChg>
      <pc:sldChg chg="del">
        <pc:chgData name="Qahtan, A.A.A. (Hakim)" userId="2e0f559b-8f84-4ffd-87e2-eac7fe92b5e6" providerId="ADAL" clId="{13CC65BD-843C-4A3B-98C3-94852964BE3C}" dt="2020-03-23T12:18:35.498" v="39" actId="2696"/>
        <pc:sldMkLst>
          <pc:docMk/>
          <pc:sldMk cId="2345571238" sldId="1121"/>
        </pc:sldMkLst>
      </pc:sldChg>
    </pc:docChg>
  </pc:docChgLst>
  <pc:docChgLst>
    <pc:chgData name="Qahtan, A.A.A. (Hakim)" userId="2e0f559b-8f84-4ffd-87e2-eac7fe92b5e6" providerId="ADAL" clId="{BBCDCDDC-971D-6046-A0D0-915DF96B7694}"/>
    <pc:docChg chg="addSld modSld">
      <pc:chgData name="Qahtan, A.A.A. (Hakim)" userId="2e0f559b-8f84-4ffd-87e2-eac7fe92b5e6" providerId="ADAL" clId="{BBCDCDDC-971D-6046-A0D0-915DF96B7694}" dt="2024-09-25T09:57:04.022" v="0"/>
      <pc:docMkLst>
        <pc:docMk/>
      </pc:docMkLst>
      <pc:sldChg chg="add">
        <pc:chgData name="Qahtan, A.A.A. (Hakim)" userId="2e0f559b-8f84-4ffd-87e2-eac7fe92b5e6" providerId="ADAL" clId="{BBCDCDDC-971D-6046-A0D0-915DF96B7694}" dt="2024-09-25T09:57:04.022" v="0"/>
        <pc:sldMkLst>
          <pc:docMk/>
          <pc:sldMk cId="1557177851" sldId="910"/>
        </pc:sldMkLst>
      </pc:sldChg>
    </pc:docChg>
  </pc:docChgLst>
  <pc:docChgLst>
    <pc:chgData name="Qahtan, A.A.A. (Hakim)" userId="2e0f559b-8f84-4ffd-87e2-eac7fe92b5e6" providerId="ADAL" clId="{9F92DAC1-9246-4107-A871-0E47AEA90CD9}"/>
    <pc:docChg chg="custSel modSld">
      <pc:chgData name="Qahtan, A.A.A. (Hakim)" userId="2e0f559b-8f84-4ffd-87e2-eac7fe92b5e6" providerId="ADAL" clId="{9F92DAC1-9246-4107-A871-0E47AEA90CD9}" dt="2020-03-23T12:22:32.515" v="39" actId="20577"/>
      <pc:docMkLst>
        <pc:docMk/>
      </pc:docMkLst>
      <pc:sldChg chg="modSp">
        <pc:chgData name="Qahtan, A.A.A. (Hakim)" userId="2e0f559b-8f84-4ffd-87e2-eac7fe92b5e6" providerId="ADAL" clId="{9F92DAC1-9246-4107-A871-0E47AEA90CD9}" dt="2020-03-23T12:22:32.515" v="39" actId="20577"/>
        <pc:sldMkLst>
          <pc:docMk/>
          <pc:sldMk cId="4206597098" sldId="257"/>
        </pc:sldMkLst>
        <pc:spChg chg="mod">
          <ac:chgData name="Qahtan, A.A.A. (Hakim)" userId="2e0f559b-8f84-4ffd-87e2-eac7fe92b5e6" providerId="ADAL" clId="{9F92DAC1-9246-4107-A871-0E47AEA90CD9}" dt="2020-03-23T12:22:32.515" v="39" actId="20577"/>
          <ac:spMkLst>
            <pc:docMk/>
            <pc:sldMk cId="4206597098" sldId="257"/>
            <ac:spMk id="3" creationId="{C1825166-E312-42E3-86E9-D4580053EAA4}"/>
          </ac:spMkLst>
        </pc:spChg>
      </pc:sldChg>
    </pc:docChg>
  </pc:docChgLst>
  <pc:docChgLst>
    <pc:chgData name="Qahtan, A.A.A. (Hakim)" userId="2e0f559b-8f84-4ffd-87e2-eac7fe92b5e6" providerId="ADAL" clId="{D60DEE89-9CA4-4ED3-9958-20DE248A0756}"/>
    <pc:docChg chg="delSld modSld">
      <pc:chgData name="Qahtan, A.A.A. (Hakim)" userId="2e0f559b-8f84-4ffd-87e2-eac7fe92b5e6" providerId="ADAL" clId="{D60DEE89-9CA4-4ED3-9958-20DE248A0756}" dt="2020-04-12T01:54:11.916" v="124" actId="2696"/>
      <pc:docMkLst>
        <pc:docMk/>
      </pc:docMkLst>
      <pc:sldChg chg="modSp">
        <pc:chgData name="Qahtan, A.A.A. (Hakim)" userId="2e0f559b-8f84-4ffd-87e2-eac7fe92b5e6" providerId="ADAL" clId="{D60DEE89-9CA4-4ED3-9958-20DE248A0756}" dt="2020-04-11T01:05:01.908" v="41" actId="20577"/>
        <pc:sldMkLst>
          <pc:docMk/>
          <pc:sldMk cId="2132904506" sldId="410"/>
        </pc:sldMkLst>
        <pc:spChg chg="mod">
          <ac:chgData name="Qahtan, A.A.A. (Hakim)" userId="2e0f559b-8f84-4ffd-87e2-eac7fe92b5e6" providerId="ADAL" clId="{D60DEE89-9CA4-4ED3-9958-20DE248A0756}" dt="2020-04-11T01:05:01.908" v="41" actId="20577"/>
          <ac:spMkLst>
            <pc:docMk/>
            <pc:sldMk cId="2132904506" sldId="410"/>
            <ac:spMk id="3" creationId="{C1825166-E312-42E3-86E9-D4580053EAA4}"/>
          </ac:spMkLst>
        </pc:spChg>
      </pc:sldChg>
      <pc:sldChg chg="modSp">
        <pc:chgData name="Qahtan, A.A.A. (Hakim)" userId="2e0f559b-8f84-4ffd-87e2-eac7fe92b5e6" providerId="ADAL" clId="{D60DEE89-9CA4-4ED3-9958-20DE248A0756}" dt="2020-04-11T23:16:22.062" v="123" actId="20577"/>
        <pc:sldMkLst>
          <pc:docMk/>
          <pc:sldMk cId="459008096" sldId="1066"/>
        </pc:sldMkLst>
        <pc:spChg chg="mod">
          <ac:chgData name="Qahtan, A.A.A. (Hakim)" userId="2e0f559b-8f84-4ffd-87e2-eac7fe92b5e6" providerId="ADAL" clId="{D60DEE89-9CA4-4ED3-9958-20DE248A0756}" dt="2020-04-11T23:16:22.062" v="123" actId="20577"/>
          <ac:spMkLst>
            <pc:docMk/>
            <pc:sldMk cId="459008096" sldId="1066"/>
            <ac:spMk id="3" creationId="{C1825166-E312-42E3-86E9-D4580053EAA4}"/>
          </ac:spMkLst>
        </pc:spChg>
      </pc:sldChg>
      <pc:sldChg chg="modSp">
        <pc:chgData name="Qahtan, A.A.A. (Hakim)" userId="2e0f559b-8f84-4ffd-87e2-eac7fe92b5e6" providerId="ADAL" clId="{D60DEE89-9CA4-4ED3-9958-20DE248A0756}" dt="2020-04-11T02:52:36.458" v="59" actId="20577"/>
        <pc:sldMkLst>
          <pc:docMk/>
          <pc:sldMk cId="3655855791" sldId="1069"/>
        </pc:sldMkLst>
        <pc:spChg chg="mod">
          <ac:chgData name="Qahtan, A.A.A. (Hakim)" userId="2e0f559b-8f84-4ffd-87e2-eac7fe92b5e6" providerId="ADAL" clId="{D60DEE89-9CA4-4ED3-9958-20DE248A0756}" dt="2020-04-11T02:52:36.458" v="59" actId="20577"/>
          <ac:spMkLst>
            <pc:docMk/>
            <pc:sldMk cId="3655855791" sldId="1069"/>
            <ac:spMk id="25" creationId="{3B759A7E-B026-4A89-A9F6-63BBC93C445D}"/>
          </ac:spMkLst>
        </pc:spChg>
      </pc:sldChg>
      <pc:sldChg chg="del">
        <pc:chgData name="Qahtan, A.A.A. (Hakim)" userId="2e0f559b-8f84-4ffd-87e2-eac7fe92b5e6" providerId="ADAL" clId="{D60DEE89-9CA4-4ED3-9958-20DE248A0756}" dt="2020-04-12T01:54:11.916" v="124" actId="2696"/>
        <pc:sldMkLst>
          <pc:docMk/>
          <pc:sldMk cId="1915551059" sldId="1074"/>
        </pc:sldMkLst>
      </pc:sldChg>
      <pc:sldChg chg="modSp">
        <pc:chgData name="Qahtan, A.A.A. (Hakim)" userId="2e0f559b-8f84-4ffd-87e2-eac7fe92b5e6" providerId="ADAL" clId="{D60DEE89-9CA4-4ED3-9958-20DE248A0756}" dt="2020-04-11T02:25:55.839" v="48" actId="20577"/>
        <pc:sldMkLst>
          <pc:docMk/>
          <pc:sldMk cId="1084775298" sldId="1076"/>
        </pc:sldMkLst>
        <pc:spChg chg="mod">
          <ac:chgData name="Qahtan, A.A.A. (Hakim)" userId="2e0f559b-8f84-4ffd-87e2-eac7fe92b5e6" providerId="ADAL" clId="{D60DEE89-9CA4-4ED3-9958-20DE248A0756}" dt="2020-04-11T02:25:55.839" v="48" actId="20577"/>
          <ac:spMkLst>
            <pc:docMk/>
            <pc:sldMk cId="1084775298" sldId="1076"/>
            <ac:spMk id="3" creationId="{C1825166-E312-42E3-86E9-D4580053EAA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F3-4B30-B6AD-77AC53DB0B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F3-4B30-B6AD-77AC53DB0B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F3-4B30-B6AD-77AC53DB0BE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F3-4B30-B6AD-77AC53DB0BE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2F3-4B30-B6AD-77AC53DB0BE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2F3-4B30-B6AD-77AC53DB0BE8}"/>
              </c:ext>
            </c:extLst>
          </c:dPt>
          <c:dLbls>
            <c:dLbl>
              <c:idx val="0"/>
              <c:layout>
                <c:manualLayout>
                  <c:x val="-0.12367264310622815"/>
                  <c:y val="-8.044816100133316E-2"/>
                </c:manualLayout>
              </c:layout>
              <c:tx>
                <c:rich>
                  <a:bodyPr/>
                  <a:lstStyle/>
                  <a:p>
                    <a:fld id="{01150C84-A3FC-4AC1-BA79-D7486FA32435}" type="VALUE">
                      <a:rPr lang="en-US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2F3-4B30-B6AD-77AC53DB0BE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D59B92-885D-4DC2-9D46-B3CD2C24C74D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2F3-4B30-B6AD-77AC53DB0BE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CC11EF0-F80D-4912-BD3E-5D49765769F2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2F3-4B30-B6AD-77AC53DB0BE8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A43AEF0-87F1-466E-9F02-9054EBF42D00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2F3-4B30-B6AD-77AC53DB0BE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9C11A39-3B28-4139-86FF-11A2086355F0}" type="VALUE">
                      <a:rPr lang="en-US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2F3-4B30-B6AD-77AC53DB0BE8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6969267-B81E-4A65-BFB9-E1FEA9FFE089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D2F3-4B30-B6AD-77AC53DB0B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Sheet1!$F$3:$F$8</c:f>
              <c:strCache>
                <c:ptCount val="6"/>
                <c:pt idx="0">
                  <c:v>Collecting datasets</c:v>
                </c:pt>
                <c:pt idx="1">
                  <c:v>Cleaning and organizing the data</c:v>
                </c:pt>
                <c:pt idx="2">
                  <c:v>mining data for patterns </c:v>
                </c:pt>
                <c:pt idx="3">
                  <c:v>Refining algorithms</c:v>
                </c:pt>
                <c:pt idx="4">
                  <c:v>Other</c:v>
                </c:pt>
                <c:pt idx="5">
                  <c:v>Building training sets</c:v>
                </c:pt>
              </c:strCache>
            </c:strRef>
          </c:cat>
          <c:val>
            <c:numRef>
              <c:f>Sheet1!$E$3:$E$8</c:f>
              <c:numCache>
                <c:formatCode>General</c:formatCode>
                <c:ptCount val="6"/>
                <c:pt idx="0">
                  <c:v>60</c:v>
                </c:pt>
                <c:pt idx="1">
                  <c:v>19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2F3-4B30-B6AD-77AC53DB0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7264246764817004"/>
          <c:y val="0.17672120776143385"/>
          <c:w val="0.32586599198563887"/>
          <c:h val="0.521432906836429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25-09-2024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noProof="0" dirty="0">
              <a:solidFill>
                <a:schemeClr val="tx1"/>
              </a:solidFill>
              <a:effectLst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11CA4-2CAE-4AA3-9455-6345782AD4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5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80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25-09-2024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tiff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.png"/><Relationship Id="rId12" Type="http://schemas.openxmlformats.org/officeDocument/2006/relationships/image" Target="../media/image21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5.jp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&amp; Society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for Today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pPr marL="342797" indent="-342797">
              <a:lnSpc>
                <a:spcPct val="150000"/>
              </a:lnSpc>
            </a:pPr>
            <a:r>
              <a:rPr lang="en-US" alt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797" indent="-342797">
              <a:lnSpc>
                <a:spcPct val="150000"/>
              </a:lnSpc>
            </a:pPr>
            <a:r>
              <a:rPr lang="en-US" alt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data</a:t>
            </a:r>
          </a:p>
          <a:p>
            <a:pPr marL="799997" lvl="1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en-US" altLang="nl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797" indent="-342797">
              <a:lnSpc>
                <a:spcPct val="150000"/>
              </a:lnSpc>
            </a:pPr>
            <a:r>
              <a:rPr lang="en-US" alt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</a:p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</a:t>
            </a:r>
          </a:p>
        </p:txBody>
      </p:sp>
    </p:spTree>
    <p:extLst>
      <p:ext uri="{BB962C8B-B14F-4D97-AF65-F5344CB8AC3E}">
        <p14:creationId xmlns:p14="http://schemas.microsoft.com/office/powerpoint/2010/main" val="288758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E31A-2E87-4F8E-9C08-60AB736A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Material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C05C-E7E5-4AD4-ABEB-21FB4CAC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3720" cy="4351338"/>
          </a:xfrm>
        </p:spPr>
        <p:txBody>
          <a:bodyPr/>
          <a:lstStyle/>
          <a:p>
            <a:r>
              <a:rPr lang="nl-NL" dirty="0" err="1"/>
              <a:t>Chapters</a:t>
            </a:r>
            <a:r>
              <a:rPr lang="nl-NL" dirty="0"/>
              <a:t> 3, 12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en-US" dirty="0"/>
              <a:t>Data Mining: Concepts and Techniques Boo</a:t>
            </a:r>
            <a:r>
              <a:rPr lang="nl-NL" dirty="0"/>
              <a:t>k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5E3C14C-8270-4125-AB77-B31E74C04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589300"/>
              </p:ext>
            </p:extLst>
          </p:nvPr>
        </p:nvGraphicFramePr>
        <p:xfrm>
          <a:off x="7192007" y="659712"/>
          <a:ext cx="4568193" cy="5912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165" imgH="7543680" progId="Acrobat.Document.DC">
                  <p:embed/>
                </p:oleObj>
              </mc:Choice>
              <mc:Fallback>
                <p:oleObj name="Acrobat Document" r:id="rId2" imgW="5829165" imgH="7543680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5E3C14C-8270-4125-AB77-B31E74C046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92007" y="659712"/>
                        <a:ext cx="4568193" cy="59124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016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21C3E0B-EB05-EB4C-8769-6D582E91E966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pic>
        <p:nvPicPr>
          <p:cNvPr id="29" name="Picture 28" descr="A picture containing music&#10;&#10;Description automatically generated">
            <a:extLst>
              <a:ext uri="{FF2B5EF4-FFF2-40B4-BE49-F238E27FC236}">
                <a16:creationId xmlns:a16="http://schemas.microsoft.com/office/drawing/2014/main" id="{53C58E4A-73C5-8D48-934F-200FB80FB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63" y="1913087"/>
            <a:ext cx="5607050" cy="303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8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 Huge Amount of Data</a:t>
            </a:r>
            <a:endParaRPr lang="nl-NL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AAB26-966D-5E46-97E3-D45D7419B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259" y="1730781"/>
            <a:ext cx="2314575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E9FF2-F00B-904B-AD63-2A0199054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82" y="1730781"/>
            <a:ext cx="1964948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F9D2D-5647-3546-9B08-DA07731CD6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2656" r="64789" b="24844"/>
          <a:stretch/>
        </p:blipFill>
        <p:spPr>
          <a:xfrm>
            <a:off x="1930902" y="4414260"/>
            <a:ext cx="2514600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07B95-CBF0-8C44-97C6-B772255875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667" y="1893277"/>
            <a:ext cx="1541711" cy="13716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B659B1-8CC8-2F4C-A906-1F4DE2AFBA51}"/>
              </a:ext>
            </a:extLst>
          </p:cNvPr>
          <p:cNvSpPr/>
          <p:nvPr/>
        </p:nvSpPr>
        <p:spPr>
          <a:xfrm>
            <a:off x="4758966" y="3432487"/>
            <a:ext cx="1981200" cy="764095"/>
          </a:xfrm>
          <a:prstGeom prst="roundRect">
            <a:avLst/>
          </a:prstGeom>
          <a:gradFill>
            <a:gsLst>
              <a:gs pos="0">
                <a:schemeClr val="bg1"/>
              </a:gs>
              <a:gs pos="35000">
                <a:schemeClr val="bg1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Data Streams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D1AE1F-88DE-774E-9776-0FCE8841BA12}"/>
              </a:ext>
            </a:extLst>
          </p:cNvPr>
          <p:cNvSpPr/>
          <p:nvPr/>
        </p:nvSpPr>
        <p:spPr>
          <a:xfrm>
            <a:off x="4870171" y="4987211"/>
            <a:ext cx="1075287" cy="764095"/>
          </a:xfrm>
          <a:prstGeom prst="roundRect">
            <a:avLst/>
          </a:prstGeom>
          <a:gradFill>
            <a:gsLst>
              <a:gs pos="0">
                <a:schemeClr val="bg1"/>
              </a:gs>
              <a:gs pos="35000">
                <a:schemeClr val="bg1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Static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38131F-BD61-2649-B4BB-22FD8402D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612884" y="3096564"/>
            <a:ext cx="222413" cy="361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EDDE1C-6F57-0A4C-BB64-28E0B2B43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119916" flipH="1">
            <a:off x="4188996" y="2665411"/>
            <a:ext cx="225372" cy="1022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981C9B-5D29-694B-8C6A-407E497B2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558246">
            <a:off x="7122395" y="2612846"/>
            <a:ext cx="223872" cy="1304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01F0E0-3827-DA43-A465-D17E6C888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44876">
            <a:off x="4436980" y="5030700"/>
            <a:ext cx="216727" cy="67055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8A59B-F97B-D747-8CF5-CC30945C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9819" y="4196582"/>
            <a:ext cx="3336435" cy="239714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en-US" sz="14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Merck (a pharma company) has: </a:t>
            </a:r>
          </a:p>
          <a:p>
            <a:pPr marL="619125" lvl="1" indent="-219075">
              <a:lnSpc>
                <a:spcPct val="150000"/>
              </a:lnSpc>
              <a:buFontTx/>
              <a:buChar char="•"/>
            </a:pPr>
            <a:r>
              <a:rPr lang="en-US" altLang="en-US" sz="13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~ 4000 Oracle databases </a:t>
            </a:r>
          </a:p>
          <a:p>
            <a:pPr marL="619125" lvl="1" indent="-219075">
              <a:lnSpc>
                <a:spcPct val="150000"/>
              </a:lnSpc>
              <a:buFontTx/>
              <a:buChar char="•"/>
            </a:pPr>
            <a:r>
              <a:rPr lang="en-US" altLang="en-US" sz="13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a data lake</a:t>
            </a:r>
          </a:p>
          <a:p>
            <a:pPr marL="619125" lvl="1" indent="-219075">
              <a:lnSpc>
                <a:spcPct val="150000"/>
              </a:lnSpc>
              <a:buFontTx/>
              <a:buChar char="•"/>
            </a:pPr>
            <a:r>
              <a:rPr lang="en-US" altLang="en-US" sz="13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untold files </a:t>
            </a:r>
          </a:p>
          <a:p>
            <a:pPr marL="619125" lvl="1" indent="-219075">
              <a:lnSpc>
                <a:spcPct val="150000"/>
              </a:lnSpc>
              <a:buFontTx/>
              <a:buChar char="•"/>
            </a:pPr>
            <a:r>
              <a:rPr lang="en-US" altLang="en-US" sz="13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untold spreadsheets</a:t>
            </a:r>
          </a:p>
          <a:p>
            <a:pPr marL="619125" lvl="1" indent="-219075">
              <a:lnSpc>
                <a:spcPct val="150000"/>
              </a:lnSpc>
              <a:buFontTx/>
              <a:buChar char="•"/>
            </a:pPr>
            <a:r>
              <a:rPr lang="en-US" altLang="en-US" sz="13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they are interested in public data from the web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DCC847-EEF4-4449-A181-F57A51AFB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232732" y="4972078"/>
            <a:ext cx="216727" cy="79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Value from the Data</a:t>
            </a:r>
            <a:endParaRPr lang="nl-NL" sz="3200" b="1" dirty="0"/>
          </a:p>
        </p:txBody>
      </p:sp>
      <p:pic>
        <p:nvPicPr>
          <p:cNvPr id="3" name="Shape 105">
            <a:extLst>
              <a:ext uri="{FF2B5EF4-FFF2-40B4-BE49-F238E27FC236}">
                <a16:creationId xmlns:a16="http://schemas.microsoft.com/office/drawing/2014/main" id="{85499235-21D7-A145-9022-BE0422AE3B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2" t="11574" r="13251" b="57478"/>
          <a:stretch>
            <a:fillRect/>
          </a:stretch>
        </p:blipFill>
        <p:spPr bwMode="auto">
          <a:xfrm>
            <a:off x="7383189" y="2240730"/>
            <a:ext cx="2338388" cy="159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Shape 106">
            <a:extLst>
              <a:ext uri="{FF2B5EF4-FFF2-40B4-BE49-F238E27FC236}">
                <a16:creationId xmlns:a16="http://schemas.microsoft.com/office/drawing/2014/main" id="{D86AB12A-8566-E648-A8C2-6255531857D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3"/>
          <a:stretch>
            <a:fillRect/>
          </a:stretch>
        </p:blipFill>
        <p:spPr bwMode="auto">
          <a:xfrm>
            <a:off x="2496864" y="2388368"/>
            <a:ext cx="2217738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Shape 107">
            <a:extLst>
              <a:ext uri="{FF2B5EF4-FFF2-40B4-BE49-F238E27FC236}">
                <a16:creationId xmlns:a16="http://schemas.microsoft.com/office/drawing/2014/main" id="{09FB33D1-1BC3-6E41-AAF9-202F0D8A994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t="19753" r="52547" b="60233"/>
          <a:stretch>
            <a:fillRect/>
          </a:stretch>
        </p:blipFill>
        <p:spPr bwMode="auto">
          <a:xfrm>
            <a:off x="2819127" y="3380555"/>
            <a:ext cx="31591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hape 108">
            <a:extLst>
              <a:ext uri="{FF2B5EF4-FFF2-40B4-BE49-F238E27FC236}">
                <a16:creationId xmlns:a16="http://schemas.microsoft.com/office/drawing/2014/main" id="{11EE6C4A-C9B9-9B49-B40E-BF90D1F2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789" y="2797942"/>
            <a:ext cx="1911350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A5B6F-F4F2-4646-ADC4-671B25EAAB4B}"/>
              </a:ext>
            </a:extLst>
          </p:cNvPr>
          <p:cNvSpPr/>
          <p:nvPr/>
        </p:nvSpPr>
        <p:spPr>
          <a:xfrm>
            <a:off x="5198789" y="2544102"/>
            <a:ext cx="1464381" cy="327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Analytics</a:t>
            </a:r>
            <a:endParaRPr lang="nl-N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19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21C3E0B-EB05-EB4C-8769-6D582E91E966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7CDD3C2-3092-3244-9559-17146E147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274" y="293918"/>
            <a:ext cx="4831333" cy="631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1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C4D2BA-2097-2446-A903-427F73D3A9AD}"/>
              </a:ext>
            </a:extLst>
          </p:cNvPr>
          <p:cNvSpPr/>
          <p:nvPr/>
        </p:nvSpPr>
        <p:spPr bwMode="auto">
          <a:xfrm>
            <a:off x="2695389" y="2845809"/>
            <a:ext cx="833717" cy="2101103"/>
          </a:xfrm>
          <a:prstGeom prst="ellipse">
            <a:avLst/>
          </a:prstGeom>
          <a:noFill/>
          <a:ln w="88900" cap="flat" cmpd="sng" algn="ctr">
            <a:solidFill>
              <a:srgbClr val="9A02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C981F-5ECF-CA45-A348-D564C1A2BBB3}"/>
              </a:ext>
            </a:extLst>
          </p:cNvPr>
          <p:cNvSpPr/>
          <p:nvPr/>
        </p:nvSpPr>
        <p:spPr bwMode="auto">
          <a:xfrm>
            <a:off x="3128750" y="2823508"/>
            <a:ext cx="658905" cy="2175027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4D0C5BB-DE3D-1F43-9D8F-54F3EB22DB51}"/>
              </a:ext>
            </a:extLst>
          </p:cNvPr>
          <p:cNvSpPr/>
          <p:nvPr/>
        </p:nvSpPr>
        <p:spPr bwMode="auto">
          <a:xfrm>
            <a:off x="3054169" y="1628162"/>
            <a:ext cx="2275601" cy="1258849"/>
          </a:xfrm>
          <a:prstGeom prst="parallelogram">
            <a:avLst>
              <a:gd name="adj" fmla="val 62306"/>
            </a:avLst>
          </a:prstGeom>
          <a:solidFill>
            <a:srgbClr val="9A02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A25BE-DFBC-944F-893B-93949D8FAC57}"/>
              </a:ext>
            </a:extLst>
          </p:cNvPr>
          <p:cNvSpPr txBox="1"/>
          <p:nvPr/>
        </p:nvSpPr>
        <p:spPr>
          <a:xfrm rot="18086065">
            <a:off x="3518947" y="1675289"/>
            <a:ext cx="13067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Acquisition</a:t>
            </a:r>
            <a:r>
              <a:rPr lang="it-IT" b="1" dirty="0">
                <a:solidFill>
                  <a:schemeClr val="bg1"/>
                </a:solidFill>
              </a:rPr>
              <a:t> </a:t>
            </a:r>
          </a:p>
          <a:p>
            <a:r>
              <a:rPr lang="it-IT" b="1" dirty="0">
                <a:solidFill>
                  <a:schemeClr val="bg1"/>
                </a:solidFill>
              </a:rPr>
              <a:t>&amp; </a:t>
            </a:r>
          </a:p>
          <a:p>
            <a:r>
              <a:rPr lang="it-IT" b="1" dirty="0">
                <a:solidFill>
                  <a:schemeClr val="bg1"/>
                </a:solidFill>
              </a:rPr>
              <a:t>Storage</a:t>
            </a:r>
          </a:p>
          <a:p>
            <a:pPr algn="l"/>
            <a:endParaRPr lang="it-IT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0B606B-051C-BF46-9EEA-31F82A77F4C5}"/>
              </a:ext>
            </a:extLst>
          </p:cNvPr>
          <p:cNvSpPr/>
          <p:nvPr/>
        </p:nvSpPr>
        <p:spPr bwMode="auto">
          <a:xfrm>
            <a:off x="4417897" y="1627929"/>
            <a:ext cx="2356308" cy="1259081"/>
          </a:xfrm>
          <a:prstGeom prst="parallelogram">
            <a:avLst>
              <a:gd name="adj" fmla="val 62306"/>
            </a:avLst>
          </a:prstGeom>
          <a:solidFill>
            <a:srgbClr val="F633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9E496-08A5-8B41-A42B-6B6913267FDF}"/>
              </a:ext>
            </a:extLst>
          </p:cNvPr>
          <p:cNvSpPr txBox="1"/>
          <p:nvPr/>
        </p:nvSpPr>
        <p:spPr>
          <a:xfrm rot="18086065">
            <a:off x="4442062" y="220363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Cleaning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D16A2-8B56-7143-965F-BDCE0C3309A3}"/>
              </a:ext>
            </a:extLst>
          </p:cNvPr>
          <p:cNvSpPr txBox="1"/>
          <p:nvPr/>
        </p:nvSpPr>
        <p:spPr>
          <a:xfrm rot="18086065">
            <a:off x="4695551" y="2121719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Annotation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624C2-E1F9-BA46-AEB5-1C10C6C97DF5}"/>
              </a:ext>
            </a:extLst>
          </p:cNvPr>
          <p:cNvSpPr txBox="1"/>
          <p:nvPr/>
        </p:nvSpPr>
        <p:spPr>
          <a:xfrm rot="18086065">
            <a:off x="5037809" y="2108572"/>
            <a:ext cx="1240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D4BD38-2912-DD4E-8D9A-BEF56B3DE9C4}"/>
              </a:ext>
            </a:extLst>
          </p:cNvPr>
          <p:cNvSpPr txBox="1"/>
          <p:nvPr/>
        </p:nvSpPr>
        <p:spPr>
          <a:xfrm rot="18086065">
            <a:off x="5315301" y="2063609"/>
            <a:ext cx="133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Aggregation</a:t>
            </a:r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3FE6A3CB-47E1-C345-A76D-4D67964C4220}"/>
              </a:ext>
            </a:extLst>
          </p:cNvPr>
          <p:cNvSpPr/>
          <p:nvPr/>
        </p:nvSpPr>
        <p:spPr bwMode="auto">
          <a:xfrm>
            <a:off x="5893562" y="1626648"/>
            <a:ext cx="2526973" cy="1260866"/>
          </a:xfrm>
          <a:prstGeom prst="parallelogram">
            <a:avLst>
              <a:gd name="adj" fmla="val 62306"/>
            </a:avLst>
          </a:prstGeom>
          <a:solidFill>
            <a:srgbClr val="1F68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9A670-F2BE-AA4A-8239-BA1B4F153541}"/>
              </a:ext>
            </a:extLst>
          </p:cNvPr>
          <p:cNvSpPr txBox="1"/>
          <p:nvPr/>
        </p:nvSpPr>
        <p:spPr>
          <a:xfrm rot="18086065">
            <a:off x="6088353" y="2096289"/>
            <a:ext cx="127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Exploration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6BF3D39-DD01-9242-B0F3-F53908CA3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75" y="3218032"/>
            <a:ext cx="945373" cy="58038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92E949F-2C5E-0F44-A36E-C082C08035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458" y="3574739"/>
            <a:ext cx="564776" cy="5647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A3042E0-7EA4-004C-ABFE-3AB0196DD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986" y="4283974"/>
            <a:ext cx="567687" cy="56768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57FF7DE-C827-8647-AD48-317655A1C0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56" y="2836220"/>
            <a:ext cx="891697" cy="604278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E4A63BC-A30A-1B4B-9E16-5DDD6D639EA4}"/>
              </a:ext>
            </a:extLst>
          </p:cNvPr>
          <p:cNvCxnSpPr>
            <a:cxnSpLocks/>
            <a:stCxn id="62" idx="3"/>
          </p:cNvCxnSpPr>
          <p:nvPr/>
        </p:nvCxnSpPr>
        <p:spPr bwMode="auto">
          <a:xfrm>
            <a:off x="2610052" y="3138360"/>
            <a:ext cx="406016" cy="80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8B778A-F59F-D74A-B20F-ED7A880BB575}"/>
              </a:ext>
            </a:extLst>
          </p:cNvPr>
          <p:cNvCxnSpPr>
            <a:cxnSpLocks/>
            <a:stCxn id="58" idx="3"/>
          </p:cNvCxnSpPr>
          <p:nvPr/>
        </p:nvCxnSpPr>
        <p:spPr bwMode="auto">
          <a:xfrm>
            <a:off x="2370234" y="3857127"/>
            <a:ext cx="6458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198EE9F-D69C-2248-BCB8-E70573B2CAA6}"/>
              </a:ext>
            </a:extLst>
          </p:cNvPr>
          <p:cNvCxnSpPr>
            <a:cxnSpLocks/>
            <a:stCxn id="60" idx="3"/>
          </p:cNvCxnSpPr>
          <p:nvPr/>
        </p:nvCxnSpPr>
        <p:spPr bwMode="auto">
          <a:xfrm>
            <a:off x="2420672" y="4567817"/>
            <a:ext cx="62310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1554F72-52B6-4743-91EA-5AAAD667BD53}"/>
              </a:ext>
            </a:extLst>
          </p:cNvPr>
          <p:cNvSpPr txBox="1"/>
          <p:nvPr/>
        </p:nvSpPr>
        <p:spPr>
          <a:xfrm rot="18086065">
            <a:off x="6894627" y="215525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&amp;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F202FC-90F4-BA42-B96B-374D6C8552B3}"/>
              </a:ext>
            </a:extLst>
          </p:cNvPr>
          <p:cNvSpPr txBox="1"/>
          <p:nvPr/>
        </p:nvSpPr>
        <p:spPr>
          <a:xfrm rot="18086065">
            <a:off x="6976824" y="2118043"/>
            <a:ext cx="111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Querying </a:t>
            </a:r>
          </a:p>
        </p:txBody>
      </p:sp>
      <p:sp>
        <p:nvSpPr>
          <p:cNvPr id="85" name="Right Brace 84">
            <a:extLst>
              <a:ext uri="{FF2B5EF4-FFF2-40B4-BE49-F238E27FC236}">
                <a16:creationId xmlns:a16="http://schemas.microsoft.com/office/drawing/2014/main" id="{C4CD0C17-0CD6-8844-91DF-212B215D38FB}"/>
              </a:ext>
            </a:extLst>
          </p:cNvPr>
          <p:cNvSpPr/>
          <p:nvPr/>
        </p:nvSpPr>
        <p:spPr bwMode="auto">
          <a:xfrm rot="5400000">
            <a:off x="5188598" y="3041343"/>
            <a:ext cx="326994" cy="4479697"/>
          </a:xfrm>
          <a:prstGeom prst="rightBrace">
            <a:avLst>
              <a:gd name="adj1" fmla="val 26264"/>
              <a:gd name="adj2" fmla="val 49682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0E6C85-AF5C-1745-A691-B83FC6524B7F}"/>
              </a:ext>
            </a:extLst>
          </p:cNvPr>
          <p:cNvSpPr txBox="1"/>
          <p:nvPr/>
        </p:nvSpPr>
        <p:spPr>
          <a:xfrm>
            <a:off x="1439917" y="5821181"/>
            <a:ext cx="8177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sz="1400" dirty="0"/>
              <a:t>Data scientists, according to interviews and expert estimates, spend </a:t>
            </a:r>
            <a:r>
              <a:rPr kumimoji="1" lang="en-US" sz="1400" b="1" dirty="0"/>
              <a:t>50% to 80%</a:t>
            </a:r>
            <a:r>
              <a:rPr kumimoji="1" lang="en-US" sz="1400" dirty="0"/>
              <a:t> of their time mired in the mundane labor of collecting and preparing unruly digital data, before it can be explored for useful nuggets</a:t>
            </a:r>
          </a:p>
          <a:p>
            <a:pPr algn="just"/>
            <a:endParaRPr kumimoji="1" lang="en-US" sz="1400" dirty="0"/>
          </a:p>
          <a:p>
            <a:pPr algn="r"/>
            <a:r>
              <a:rPr lang="it-IT" sz="1400" i="1" dirty="0"/>
              <a:t>(New York Times)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A7D63879-DECF-1A43-B49B-CE8A04D93010}"/>
              </a:ext>
            </a:extLst>
          </p:cNvPr>
          <p:cNvSpPr/>
          <p:nvPr/>
        </p:nvSpPr>
        <p:spPr bwMode="auto">
          <a:xfrm>
            <a:off x="7547710" y="1626648"/>
            <a:ext cx="2314304" cy="1260379"/>
          </a:xfrm>
          <a:prstGeom prst="parallelogram">
            <a:avLst>
              <a:gd name="adj" fmla="val 62306"/>
            </a:avLst>
          </a:prstGeom>
          <a:solidFill>
            <a:srgbClr val="6633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17AB3D-50F7-134C-B351-1D38EAB292A4}"/>
              </a:ext>
            </a:extLst>
          </p:cNvPr>
          <p:cNvSpPr txBox="1"/>
          <p:nvPr/>
        </p:nvSpPr>
        <p:spPr>
          <a:xfrm rot="18086065">
            <a:off x="7752063" y="2091307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Modeling &amp;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25AF9-B76B-6D4D-8993-2109D1487467}"/>
              </a:ext>
            </a:extLst>
          </p:cNvPr>
          <p:cNvSpPr txBox="1"/>
          <p:nvPr/>
        </p:nvSpPr>
        <p:spPr>
          <a:xfrm rot="18086065">
            <a:off x="8236095" y="2076779"/>
            <a:ext cx="1069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Data 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  Analysis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143C26-8CAB-A94D-A850-DE80E95C1232}"/>
              </a:ext>
            </a:extLst>
          </p:cNvPr>
          <p:cNvCxnSpPr>
            <a:cxnSpLocks/>
            <a:stCxn id="2" idx="4"/>
            <a:endCxn id="7" idx="4"/>
          </p:cNvCxnSpPr>
          <p:nvPr/>
        </p:nvCxnSpPr>
        <p:spPr bwMode="auto">
          <a:xfrm>
            <a:off x="3112247" y="4946912"/>
            <a:ext cx="1372596" cy="10085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9A02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8480A49-F3DF-BE49-9B98-0F0E4D24142E}"/>
              </a:ext>
            </a:extLst>
          </p:cNvPr>
          <p:cNvSpPr/>
          <p:nvPr/>
        </p:nvSpPr>
        <p:spPr bwMode="auto">
          <a:xfrm>
            <a:off x="4067985" y="2845808"/>
            <a:ext cx="833717" cy="2111188"/>
          </a:xfrm>
          <a:prstGeom prst="ellipse">
            <a:avLst/>
          </a:prstGeom>
          <a:noFill/>
          <a:ln w="88900" cap="flat" cmpd="sng" algn="ctr">
            <a:solidFill>
              <a:srgbClr val="F633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16844E-DE3D-1F48-B341-B824FD0831B6}"/>
              </a:ext>
            </a:extLst>
          </p:cNvPr>
          <p:cNvSpPr/>
          <p:nvPr/>
        </p:nvSpPr>
        <p:spPr bwMode="auto">
          <a:xfrm>
            <a:off x="4483846" y="2887008"/>
            <a:ext cx="658905" cy="2111526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B2384F-FBB7-4E40-8513-C2FB49781823}"/>
              </a:ext>
            </a:extLst>
          </p:cNvPr>
          <p:cNvCxnSpPr>
            <a:cxnSpLocks/>
            <a:stCxn id="7" idx="4"/>
            <a:endCxn id="13" idx="4"/>
          </p:cNvCxnSpPr>
          <p:nvPr/>
        </p:nvCxnSpPr>
        <p:spPr bwMode="auto">
          <a:xfrm>
            <a:off x="4484844" y="4956996"/>
            <a:ext cx="1478599" cy="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633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E3DB22A-DB8C-EF46-845A-6C0F69E5851B}"/>
              </a:ext>
            </a:extLst>
          </p:cNvPr>
          <p:cNvSpPr/>
          <p:nvPr/>
        </p:nvSpPr>
        <p:spPr bwMode="auto">
          <a:xfrm>
            <a:off x="5546584" y="2845808"/>
            <a:ext cx="833717" cy="2111188"/>
          </a:xfrm>
          <a:prstGeom prst="ellipse">
            <a:avLst/>
          </a:prstGeom>
          <a:noFill/>
          <a:ln w="88900" cap="flat" cmpd="sng" algn="ctr">
            <a:solidFill>
              <a:srgbClr val="1F688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3F16CA-3B77-D642-876F-915EC4F27C4C}"/>
              </a:ext>
            </a:extLst>
          </p:cNvPr>
          <p:cNvSpPr/>
          <p:nvPr/>
        </p:nvSpPr>
        <p:spPr bwMode="auto">
          <a:xfrm>
            <a:off x="5970216" y="2887009"/>
            <a:ext cx="658905" cy="2111525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DDDC016-5FAF-614F-B9C2-71214FCE76CB}"/>
              </a:ext>
            </a:extLst>
          </p:cNvPr>
          <p:cNvCxnSpPr>
            <a:cxnSpLocks/>
            <a:stCxn id="13" idx="4"/>
            <a:endCxn id="14" idx="4"/>
          </p:cNvCxnSpPr>
          <p:nvPr/>
        </p:nvCxnSpPr>
        <p:spPr bwMode="auto">
          <a:xfrm flipV="1">
            <a:off x="5963442" y="4936828"/>
            <a:ext cx="1671090" cy="20169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1F688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3D041B2-ECAE-C64F-8E49-3EF93E0DA2BD}"/>
              </a:ext>
            </a:extLst>
          </p:cNvPr>
          <p:cNvSpPr/>
          <p:nvPr/>
        </p:nvSpPr>
        <p:spPr bwMode="auto">
          <a:xfrm>
            <a:off x="7217674" y="2845809"/>
            <a:ext cx="833717" cy="2091019"/>
          </a:xfrm>
          <a:prstGeom prst="ellipse">
            <a:avLst/>
          </a:prstGeom>
          <a:noFill/>
          <a:ln w="88900" cap="flat" cmpd="sng" algn="ctr">
            <a:solidFill>
              <a:srgbClr val="66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FBAF36-1565-C64D-95BB-A9C83B74BAFB}"/>
              </a:ext>
            </a:extLst>
          </p:cNvPr>
          <p:cNvSpPr/>
          <p:nvPr/>
        </p:nvSpPr>
        <p:spPr bwMode="auto">
          <a:xfrm>
            <a:off x="7646745" y="2887008"/>
            <a:ext cx="658905" cy="2078812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EDE14C-E942-9446-BA5B-AF8A7A598977}"/>
              </a:ext>
            </a:extLst>
          </p:cNvPr>
          <p:cNvCxnSpPr>
            <a:cxnSpLocks/>
            <a:stCxn id="14" idx="4"/>
            <a:endCxn id="15" idx="4"/>
          </p:cNvCxnSpPr>
          <p:nvPr/>
        </p:nvCxnSpPr>
        <p:spPr bwMode="auto">
          <a:xfrm flipV="1">
            <a:off x="7634532" y="4914525"/>
            <a:ext cx="1442200" cy="22302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66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5A01627-B2E9-8D48-86EA-AF2DD05DDE9D}"/>
              </a:ext>
            </a:extLst>
          </p:cNvPr>
          <p:cNvSpPr/>
          <p:nvPr/>
        </p:nvSpPr>
        <p:spPr bwMode="auto">
          <a:xfrm>
            <a:off x="8659874" y="2845809"/>
            <a:ext cx="833717" cy="2068717"/>
          </a:xfrm>
          <a:prstGeom prst="ellipse">
            <a:avLst/>
          </a:prstGeom>
          <a:noFill/>
          <a:ln w="88900" cap="flat" cmpd="sng" algn="ctr">
            <a:solidFill>
              <a:srgbClr val="A47D1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A078B6-0234-9F40-8B78-E6C573B00FF2}"/>
              </a:ext>
            </a:extLst>
          </p:cNvPr>
          <p:cNvCxnSpPr>
            <a:cxnSpLocks/>
            <a:endCxn id="43" idx="1"/>
          </p:cNvCxnSpPr>
          <p:nvPr/>
        </p:nvCxnSpPr>
        <p:spPr bwMode="auto">
          <a:xfrm>
            <a:off x="9114978" y="3858927"/>
            <a:ext cx="517052" cy="565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9E9554A-B7EB-904E-B3C0-1AFBDC2C8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030" y="3508224"/>
            <a:ext cx="916346" cy="71271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0EC82D3-94F8-734B-9F1D-843E39ED88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047" y="2994474"/>
            <a:ext cx="777237" cy="77723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5871CEB6-9ACE-A24F-A017-FEB47D11D8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472" y="4051338"/>
            <a:ext cx="751296" cy="75129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4ACCE9-8EBA-184E-B170-427FCDC52F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697" y="3393731"/>
            <a:ext cx="998268" cy="84852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6608EB-9F59-5E44-B5B2-72553CA283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475" y="3193319"/>
            <a:ext cx="787262" cy="62981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E2261-6445-2345-93F6-C73B705DE1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44" y="3691098"/>
            <a:ext cx="987314" cy="958003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74812AD-E232-CA4B-AB09-34C89456660B}"/>
              </a:ext>
            </a:extLst>
          </p:cNvPr>
          <p:cNvSpPr txBox="1"/>
          <p:nvPr/>
        </p:nvSpPr>
        <p:spPr>
          <a:xfrm>
            <a:off x="4211092" y="5470740"/>
            <a:ext cx="1651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000" b="1" dirty="0"/>
              <a:t>Data </a:t>
            </a:r>
            <a:r>
              <a:rPr lang="en-US" sz="2000" b="1" dirty="0"/>
              <a:t>Curation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BFE9F35-3044-1E4E-9411-4264E7D81481}"/>
              </a:ext>
            </a:extLst>
          </p:cNvPr>
          <p:cNvCxnSpPr>
            <a:cxnSpLocks/>
          </p:cNvCxnSpPr>
          <p:nvPr/>
        </p:nvCxnSpPr>
        <p:spPr bwMode="auto">
          <a:xfrm>
            <a:off x="2749574" y="3136212"/>
            <a:ext cx="4884959" cy="102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F40C56-C5F6-A142-8F24-6C3F6D760817}"/>
              </a:ext>
            </a:extLst>
          </p:cNvPr>
          <p:cNvCxnSpPr>
            <a:cxnSpLocks/>
          </p:cNvCxnSpPr>
          <p:nvPr/>
        </p:nvCxnSpPr>
        <p:spPr bwMode="auto">
          <a:xfrm flipV="1">
            <a:off x="2509756" y="3798418"/>
            <a:ext cx="5082189" cy="565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C1D32E-F535-9848-B0E3-106ECD430AAB}"/>
              </a:ext>
            </a:extLst>
          </p:cNvPr>
          <p:cNvCxnSpPr>
            <a:cxnSpLocks/>
          </p:cNvCxnSpPr>
          <p:nvPr/>
        </p:nvCxnSpPr>
        <p:spPr bwMode="auto">
          <a:xfrm>
            <a:off x="2560194" y="4565669"/>
            <a:ext cx="498751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0" name="Picture 49" descr="A picture containing person, indoor, wall, woman&#10;&#10;Description automatically generated">
            <a:extLst>
              <a:ext uri="{FF2B5EF4-FFF2-40B4-BE49-F238E27FC236}">
                <a16:creationId xmlns:a16="http://schemas.microsoft.com/office/drawing/2014/main" id="{67A8F6B6-3A0C-974F-B7AA-03F772F235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52" y="2893346"/>
            <a:ext cx="3511876" cy="231598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9042F81-0031-6842-853D-0CA3DACC996B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4F7A33D-1DD7-0D4A-B6B6-F4D97A929FC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663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Processing Pipeline</a:t>
            </a:r>
            <a:endParaRPr lang="nl-NL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115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/>
      <p:bldP spid="10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data preparation?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A5627-04C7-4AD9-AF86-F99E988C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408" y="1222068"/>
            <a:ext cx="3733800" cy="501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FC4E2-CFD4-4067-B5A5-424250CB3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782" y="1222068"/>
            <a:ext cx="3733800" cy="5010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325B32-15CF-4F7B-86C1-88B5A2287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04" y="1222068"/>
            <a:ext cx="37338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51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data preparation?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D9B25EC-0C3B-46F7-9F4C-E911939C68EA}"/>
              </a:ext>
            </a:extLst>
          </p:cNvPr>
          <p:cNvSpPr txBox="1">
            <a:spLocks/>
          </p:cNvSpPr>
          <p:nvPr/>
        </p:nvSpPr>
        <p:spPr>
          <a:xfrm>
            <a:off x="5168417" y="1476449"/>
            <a:ext cx="5756487" cy="11008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nl-NL" sz="2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data scientists spend the most of their time doing?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D00759-1382-4029-BA14-A8AAF8A73C3D}"/>
              </a:ext>
            </a:extLst>
          </p:cNvPr>
          <p:cNvGrpSpPr/>
          <p:nvPr/>
        </p:nvGrpSpPr>
        <p:grpSpPr>
          <a:xfrm>
            <a:off x="-1993186" y="1885703"/>
            <a:ext cx="11754302" cy="5408949"/>
            <a:chOff x="-1993186" y="1885703"/>
            <a:chExt cx="11754302" cy="5408949"/>
          </a:xfrm>
        </p:grpSpPr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62958E99-2695-4C6E-AD3A-10574984E18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06553157"/>
                </p:ext>
              </p:extLst>
            </p:nvPr>
          </p:nvGraphicFramePr>
          <p:xfrm>
            <a:off x="-1993186" y="1885703"/>
            <a:ext cx="10961822" cy="54089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033410-2139-4FAB-B0D8-4AA8620B5A06}"/>
                </a:ext>
              </a:extLst>
            </p:cNvPr>
            <p:cNvSpPr txBox="1"/>
            <p:nvPr/>
          </p:nvSpPr>
          <p:spPr>
            <a:xfrm>
              <a:off x="7839456" y="2926080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60%</a:t>
              </a:r>
              <a:endParaRPr lang="nl-NL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E7601E-028C-42BB-AC22-4F197754976C}"/>
                </a:ext>
              </a:extLst>
            </p:cNvPr>
            <p:cNvSpPr txBox="1"/>
            <p:nvPr/>
          </p:nvSpPr>
          <p:spPr>
            <a:xfrm>
              <a:off x="8968636" y="3396057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19%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5CBA4A-4F18-42C8-AE32-EF498BD3F985}"/>
                </a:ext>
              </a:extLst>
            </p:cNvPr>
            <p:cNvSpPr txBox="1"/>
            <p:nvPr/>
          </p:nvSpPr>
          <p:spPr>
            <a:xfrm>
              <a:off x="8572396" y="3911328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9%</a:t>
              </a:r>
              <a:endParaRPr lang="nl-NL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D15ED8-C496-46A3-969E-27F06C5F6B65}"/>
                </a:ext>
              </a:extLst>
            </p:cNvPr>
            <p:cNvSpPr txBox="1"/>
            <p:nvPr/>
          </p:nvSpPr>
          <p:spPr>
            <a:xfrm>
              <a:off x="8388096" y="4381305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4%</a:t>
              </a:r>
              <a:endParaRPr lang="nl-NL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2FA116-AB2F-47AB-8846-A9B31E473BAE}"/>
                </a:ext>
              </a:extLst>
            </p:cNvPr>
            <p:cNvSpPr txBox="1"/>
            <p:nvPr/>
          </p:nvSpPr>
          <p:spPr>
            <a:xfrm>
              <a:off x="8374276" y="4689914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5%</a:t>
              </a:r>
              <a:endParaRPr lang="nl-NL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768AF0-0901-4A43-B7FE-EC32C3744DB7}"/>
                </a:ext>
              </a:extLst>
            </p:cNvPr>
            <p:cNvSpPr txBox="1"/>
            <p:nvPr/>
          </p:nvSpPr>
          <p:spPr>
            <a:xfrm>
              <a:off x="8275216" y="5196885"/>
              <a:ext cx="79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3%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283241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CRISP-DM</a:t>
            </a:r>
            <a:endParaRPr lang="nl-NL" sz="32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D7AD9F-A24E-4C88-8BD8-DF1E0A2E08D9}"/>
              </a:ext>
            </a:extLst>
          </p:cNvPr>
          <p:cNvGrpSpPr/>
          <p:nvPr/>
        </p:nvGrpSpPr>
        <p:grpSpPr>
          <a:xfrm>
            <a:off x="4017818" y="705110"/>
            <a:ext cx="5919391" cy="5930569"/>
            <a:chOff x="5391737" y="639080"/>
            <a:chExt cx="5919391" cy="59305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A07E80-41C8-4D70-89EF-51E3C169C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1737" y="639080"/>
              <a:ext cx="5919391" cy="5930569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91E78AF-4DE6-4CA8-9B02-4FA500D93F97}"/>
                </a:ext>
              </a:extLst>
            </p:cNvPr>
            <p:cNvSpPr/>
            <p:nvPr/>
          </p:nvSpPr>
          <p:spPr>
            <a:xfrm>
              <a:off x="9219156" y="2596492"/>
              <a:ext cx="1816274" cy="86624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24431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 An Overview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Data preparation: the process of cleaning and transforming raw data prior to processing and analysis.</a:t>
            </a:r>
          </a:p>
          <a:p>
            <a:r>
              <a:rPr lang="en-US" altLang="nl-NL" dirty="0"/>
              <a:t>Involves the following tasks:</a:t>
            </a:r>
          </a:p>
          <a:p>
            <a:pPr lvl="1"/>
            <a:r>
              <a:rPr lang="en-US" altLang="nl-NL" dirty="0"/>
              <a:t>Checking the data quality and applying correction techniques</a:t>
            </a:r>
          </a:p>
          <a:p>
            <a:pPr lvl="1"/>
            <a:r>
              <a:rPr lang="en-US" altLang="nl-NL" dirty="0"/>
              <a:t>Reformatting data</a:t>
            </a:r>
          </a:p>
          <a:p>
            <a:pPr lvl="1"/>
            <a:r>
              <a:rPr lang="en-US" altLang="nl-NL" dirty="0"/>
              <a:t>Combining datasets for the purpose of enrichment </a:t>
            </a:r>
          </a:p>
        </p:txBody>
      </p:sp>
    </p:spTree>
    <p:extLst>
      <p:ext uri="{BB962C8B-B14F-4D97-AF65-F5344CB8AC3E}">
        <p14:creationId xmlns:p14="http://schemas.microsoft.com/office/powerpoint/2010/main" val="265894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Quality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74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5A0F2E0A-6CFA-3346-B9FB-ED7D4A5AF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5" y="2049823"/>
            <a:ext cx="2541587" cy="479425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prstShdw prst="shdw17" dist="17961" dir="2700000">
              <a:srgbClr val="9900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</a:rPr>
              <a:t>Missing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3E8B0D6B-32B7-7841-873E-9C5F97A7B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672" y="1260196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Noise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F9B0DE6-8842-7543-A814-AE8A6F8B7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7256" y="3074519"/>
            <a:ext cx="2541587" cy="479425"/>
          </a:xfrm>
          <a:prstGeom prst="rect">
            <a:avLst/>
          </a:prstGeom>
          <a:solidFill>
            <a:srgbClr val="FE97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Outliers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491EF81D-B416-1C47-934C-A71B8FFC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76" y="3074520"/>
            <a:ext cx="2541587" cy="479425"/>
          </a:xfrm>
          <a:prstGeom prst="rect">
            <a:avLst/>
          </a:prstGeom>
          <a:solidFill>
            <a:srgbClr val="663300"/>
          </a:solidFill>
          <a:ln>
            <a:noFill/>
          </a:ln>
          <a:effectLst>
            <a:prstShdw prst="shdw17" dist="17961" dir="2700000">
              <a:srgbClr val="6633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Outdated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EDB21A97-37E9-8B4A-9586-60F2CE099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4" y="4099217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Inconsistent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108EB380-D1CA-E849-BE00-A5C3EAF5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1" y="4099218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Unreliable sources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2" name="Text Box 25">
            <a:extLst>
              <a:ext uri="{FF2B5EF4-FFF2-40B4-BE49-F238E27FC236}">
                <a16:creationId xmlns:a16="http://schemas.microsoft.com/office/drawing/2014/main" id="{19F176BB-8FBD-2C42-A1AC-7B21AF9F7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2" y="2049823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Duplicate Data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586785-32A6-1343-A227-279A87734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672" y="2707905"/>
            <a:ext cx="2501900" cy="1212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59C684-01D5-A64F-893D-5393D3249133}"/>
              </a:ext>
            </a:extLst>
          </p:cNvPr>
          <p:cNvSpPr txBox="1"/>
          <p:nvPr/>
        </p:nvSpPr>
        <p:spPr>
          <a:xfrm>
            <a:off x="4288877" y="5037258"/>
            <a:ext cx="5886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For any data retrieval or data analytic task, </a:t>
            </a:r>
          </a:p>
          <a:p>
            <a:pPr algn="l"/>
            <a:r>
              <a:rPr lang="en-US" b="1" dirty="0"/>
              <a:t>it is critically important to know the quality of your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E1977-80D9-1A43-9182-975FC47BF127}"/>
              </a:ext>
            </a:extLst>
          </p:cNvPr>
          <p:cNvSpPr/>
          <p:nvPr/>
        </p:nvSpPr>
        <p:spPr>
          <a:xfrm>
            <a:off x="2768600" y="6019093"/>
            <a:ext cx="511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For the US alone, poor data quality costs around US economy $3 trillions a year (2016). </a:t>
            </a:r>
          </a:p>
        </p:txBody>
      </p:sp>
    </p:spTree>
    <p:extLst>
      <p:ext uri="{BB962C8B-B14F-4D97-AF65-F5344CB8AC3E}">
        <p14:creationId xmlns:p14="http://schemas.microsoft.com/office/powerpoint/2010/main" val="73416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Data quality: checking the data from multiple perspectives </a:t>
            </a:r>
          </a:p>
          <a:p>
            <a:pPr lvl="1"/>
            <a:r>
              <a:rPr lang="en-US" altLang="nl-NL" dirty="0"/>
              <a:t>Accuracy</a:t>
            </a:r>
          </a:p>
          <a:p>
            <a:pPr lvl="2"/>
            <a:r>
              <a:rPr lang="en-US" altLang="nl-NL" dirty="0"/>
              <a:t>The data was recorded correctly.</a:t>
            </a:r>
          </a:p>
          <a:p>
            <a:pPr lvl="1"/>
            <a:r>
              <a:rPr lang="en-US" altLang="nl-NL" dirty="0"/>
              <a:t>Completeness</a:t>
            </a:r>
          </a:p>
          <a:p>
            <a:pPr lvl="2"/>
            <a:r>
              <a:rPr lang="en-US" altLang="nl-NL" dirty="0"/>
              <a:t>All relevant data was recorded.</a:t>
            </a:r>
          </a:p>
          <a:p>
            <a:pPr lvl="1"/>
            <a:r>
              <a:rPr lang="en-US" altLang="nl-NL" dirty="0"/>
              <a:t>Uniqueness</a:t>
            </a:r>
          </a:p>
          <a:p>
            <a:pPr lvl="2"/>
            <a:r>
              <a:rPr lang="en-US" altLang="nl-NL" dirty="0"/>
              <a:t>Entities are recorded once.</a:t>
            </a:r>
          </a:p>
          <a:p>
            <a:pPr lvl="1"/>
            <a:r>
              <a:rPr lang="en-US" altLang="nl-NL" dirty="0"/>
              <a:t>Timeliness</a:t>
            </a:r>
          </a:p>
          <a:p>
            <a:pPr lvl="2"/>
            <a:r>
              <a:rPr lang="en-US" altLang="nl-NL" dirty="0"/>
              <a:t>The data is kept up to date.</a:t>
            </a:r>
          </a:p>
          <a:p>
            <a:pPr lvl="3"/>
            <a:r>
              <a:rPr lang="en-US" altLang="nl-NL" dirty="0"/>
              <a:t>Special problems in federated data: time consistency.</a:t>
            </a:r>
          </a:p>
          <a:p>
            <a:pPr lvl="1"/>
            <a:r>
              <a:rPr lang="en-US" altLang="nl-NL" dirty="0"/>
              <a:t>Consistency</a:t>
            </a:r>
          </a:p>
          <a:p>
            <a:pPr lvl="2"/>
            <a:r>
              <a:rPr lang="en-US" altLang="nl-NL" dirty="0"/>
              <a:t>The data agrees with itself.</a:t>
            </a:r>
          </a:p>
        </p:txBody>
      </p:sp>
    </p:spTree>
    <p:extLst>
      <p:ext uri="{BB962C8B-B14F-4D97-AF65-F5344CB8AC3E}">
        <p14:creationId xmlns:p14="http://schemas.microsoft.com/office/powerpoint/2010/main" val="223074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561"/>
            <a:ext cx="10515600" cy="4260314"/>
          </a:xfrm>
        </p:spPr>
        <p:txBody>
          <a:bodyPr>
            <a:normAutofit/>
          </a:bodyPr>
          <a:lstStyle/>
          <a:p>
            <a:r>
              <a:rPr lang="en-US" altLang="nl-NL" dirty="0"/>
              <a:t>Can we interpret the data?</a:t>
            </a:r>
          </a:p>
          <a:p>
            <a:pPr lvl="1"/>
            <a:r>
              <a:rPr lang="en-US" altLang="nl-NL" dirty="0"/>
              <a:t>What do the fields mean?</a:t>
            </a:r>
          </a:p>
          <a:p>
            <a:pPr lvl="1"/>
            <a:r>
              <a:rPr lang="en-US" altLang="nl-NL" dirty="0"/>
              <a:t>What is the key? The measures?</a:t>
            </a:r>
          </a:p>
          <a:p>
            <a:r>
              <a:rPr lang="en-US" altLang="nl-NL" dirty="0"/>
              <a:t>Data glitches</a:t>
            </a:r>
          </a:p>
          <a:p>
            <a:pPr lvl="1"/>
            <a:r>
              <a:rPr lang="en-US" altLang="nl-NL" dirty="0"/>
              <a:t>Typos, multiple formats, missing / default values</a:t>
            </a:r>
          </a:p>
          <a:p>
            <a:r>
              <a:rPr lang="en-US" altLang="nl-NL" dirty="0"/>
              <a:t>Metadata and domain expertise</a:t>
            </a:r>
          </a:p>
          <a:p>
            <a:pPr lvl="1"/>
            <a:r>
              <a:rPr lang="en-US" altLang="nl-NL" dirty="0"/>
              <a:t>Field three is Revenue. In dollars or cents?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AFC3EAF-68C0-4778-AE09-3123E36F3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937" y="1059536"/>
            <a:ext cx="55102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2400" dirty="0"/>
              <a:t>T. Das|97336o8237|24.95|Y|-|0.0|1000</a:t>
            </a:r>
          </a:p>
          <a:p>
            <a:r>
              <a:rPr lang="en-US" altLang="nl-NL" sz="2400" dirty="0"/>
              <a:t>Ted J.|973-360-8997|2000|N|M|NY|1000</a:t>
            </a:r>
          </a:p>
        </p:txBody>
      </p:sp>
    </p:spTree>
    <p:extLst>
      <p:ext uri="{BB962C8B-B14F-4D97-AF65-F5344CB8AC3E}">
        <p14:creationId xmlns:p14="http://schemas.microsoft.com/office/powerpoint/2010/main" val="572099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Problems in previous definition of data quality:</a:t>
            </a:r>
          </a:p>
          <a:p>
            <a:pPr lvl="1"/>
            <a:r>
              <a:rPr lang="en-US" altLang="nl-NL" dirty="0"/>
              <a:t>Unmeasurable</a:t>
            </a:r>
          </a:p>
          <a:p>
            <a:pPr lvl="2"/>
            <a:r>
              <a:rPr lang="en-US" altLang="nl-NL" dirty="0"/>
              <a:t>Accuracy and completeness are extremely difficult, perhaps impossible to measure.</a:t>
            </a:r>
          </a:p>
          <a:p>
            <a:pPr lvl="1"/>
            <a:r>
              <a:rPr lang="en-US" altLang="nl-NL" dirty="0"/>
              <a:t>Context independent</a:t>
            </a:r>
          </a:p>
          <a:p>
            <a:pPr lvl="2"/>
            <a:r>
              <a:rPr lang="en-US" altLang="nl-NL" dirty="0"/>
              <a:t>No accounting for what is important.  E.g., if you are computing aggregates, you can tolerate a lot of inaccuracies.</a:t>
            </a:r>
          </a:p>
          <a:p>
            <a:pPr lvl="1"/>
            <a:r>
              <a:rPr lang="en-US" altLang="nl-NL" dirty="0"/>
              <a:t>Incomplete</a:t>
            </a:r>
          </a:p>
          <a:p>
            <a:pPr lvl="2"/>
            <a:r>
              <a:rPr lang="en-US" altLang="nl-NL" dirty="0"/>
              <a:t>What about interpretability, accessibility, metadata, analysis, etc.</a:t>
            </a:r>
          </a:p>
          <a:p>
            <a:pPr lvl="1"/>
            <a:r>
              <a:rPr lang="en-US" altLang="nl-NL" dirty="0"/>
              <a:t>Vague</a:t>
            </a:r>
          </a:p>
          <a:p>
            <a:pPr lvl="2"/>
            <a:r>
              <a:rPr lang="en-US" altLang="nl-NL" dirty="0"/>
              <a:t>The previous definition provide no guidance towards practical improvements of the data.</a:t>
            </a:r>
          </a:p>
        </p:txBody>
      </p:sp>
    </p:spTree>
    <p:extLst>
      <p:ext uri="{BB962C8B-B14F-4D97-AF65-F5344CB8AC3E}">
        <p14:creationId xmlns:p14="http://schemas.microsoft.com/office/powerpoint/2010/main" val="2970839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Sources of problems: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Manual entry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No uniform standards for content and formats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Parallel data entry (duplicates)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Approximations, surrogates – SW/HW constraints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Measurement errors.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We need a definition of data quality which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Reflects the use of the data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Leads to improvements in processes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Measurable (we can define metrics)</a:t>
            </a:r>
          </a:p>
        </p:txBody>
      </p:sp>
    </p:spTree>
    <p:extLst>
      <p:ext uri="{BB962C8B-B14F-4D97-AF65-F5344CB8AC3E}">
        <p14:creationId xmlns:p14="http://schemas.microsoft.com/office/powerpoint/2010/main" val="4075914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Data Quality metrics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Conformance to schema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Evaluate constraints on a snapshot.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Conformance to business rules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Evaluate constraints on changes in the database.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Accuracy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Perform inventory (expensive) or use proxy (track complaints).  Audit samples?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r>
              <a:rPr lang="en-US" altLang="nl-NL" dirty="0">
                <a:cs typeface="Times New Roman" panose="02020603050405020304" pitchFamily="18" charset="0"/>
              </a:rPr>
              <a:t>Glitches in analysis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Successful completion of end-to-end process</a:t>
            </a:r>
          </a:p>
        </p:txBody>
      </p:sp>
    </p:spTree>
    <p:extLst>
      <p:ext uri="{BB962C8B-B14F-4D97-AF65-F5344CB8AC3E}">
        <p14:creationId xmlns:p14="http://schemas.microsoft.com/office/powerpoint/2010/main" val="3365725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Cleaning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740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200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Data in the Real World Is Dirty: Lots of potentially incorrect data, e.g., instrument faulty, human or computer error, transmission error</a:t>
            </a:r>
          </a:p>
          <a:p>
            <a:pPr lvl="1">
              <a:lnSpc>
                <a:spcPct val="120000"/>
              </a:lnSpc>
            </a:pPr>
            <a:r>
              <a:rPr lang="en-US" altLang="nl-NL" u="sng" dirty="0">
                <a:cs typeface="Times New Roman" panose="02020603050405020304" pitchFamily="18" charset="0"/>
              </a:rPr>
              <a:t>Incomplete</a:t>
            </a:r>
            <a:r>
              <a:rPr lang="en-US" altLang="nl-NL" dirty="0">
                <a:cs typeface="Times New Roman" panose="02020603050405020304" pitchFamily="18" charset="0"/>
              </a:rPr>
              <a:t>: lacking attribute values, lacking certain attributes of interest, or containing only aggregate data</a:t>
            </a:r>
          </a:p>
          <a:p>
            <a:pPr lvl="2">
              <a:lnSpc>
                <a:spcPct val="110000"/>
              </a:lnSpc>
            </a:pPr>
            <a:r>
              <a:rPr lang="en-US" altLang="nl-NL" sz="2400" dirty="0">
                <a:cs typeface="Times New Roman" panose="02020603050405020304" pitchFamily="18" charset="0"/>
              </a:rPr>
              <a:t>e.g., </a:t>
            </a:r>
            <a:r>
              <a:rPr lang="en-US" altLang="nl-NL" sz="2400" i="1" dirty="0">
                <a:cs typeface="Times New Roman" panose="02020603050405020304" pitchFamily="18" charset="0"/>
              </a:rPr>
              <a:t>Occupation</a:t>
            </a:r>
            <a:r>
              <a:rPr lang="en-US" altLang="nl-NL" sz="2400" dirty="0">
                <a:cs typeface="Times New Roman" panose="02020603050405020304" pitchFamily="18" charset="0"/>
              </a:rPr>
              <a:t>=“ ” (missing data)</a:t>
            </a:r>
          </a:p>
          <a:p>
            <a:pPr lvl="1">
              <a:lnSpc>
                <a:spcPct val="110000"/>
              </a:lnSpc>
            </a:pPr>
            <a:r>
              <a:rPr lang="en-US" altLang="nl-NL" u="sng" dirty="0">
                <a:cs typeface="Times New Roman" panose="02020603050405020304" pitchFamily="18" charset="0"/>
              </a:rPr>
              <a:t>Noisy</a:t>
            </a:r>
            <a:r>
              <a:rPr lang="en-US" altLang="nl-NL" dirty="0">
                <a:cs typeface="Times New Roman" panose="02020603050405020304" pitchFamily="18" charset="0"/>
              </a:rPr>
              <a:t>: containing noise, errors, or outliers</a:t>
            </a:r>
          </a:p>
          <a:p>
            <a:pPr lvl="2">
              <a:lnSpc>
                <a:spcPct val="110000"/>
              </a:lnSpc>
            </a:pPr>
            <a:r>
              <a:rPr lang="en-US" altLang="nl-NL" sz="2400" dirty="0">
                <a:cs typeface="Times New Roman" panose="02020603050405020304" pitchFamily="18" charset="0"/>
              </a:rPr>
              <a:t>e.g., </a:t>
            </a:r>
            <a:r>
              <a:rPr lang="en-US" altLang="nl-NL" sz="2400" i="1" dirty="0">
                <a:cs typeface="Times New Roman" panose="02020603050405020304" pitchFamily="18" charset="0"/>
              </a:rPr>
              <a:t>Salary</a:t>
            </a:r>
            <a:r>
              <a:rPr lang="en-US" altLang="nl-NL" sz="2400" dirty="0">
                <a:cs typeface="Times New Roman" panose="02020603050405020304" pitchFamily="18" charset="0"/>
              </a:rPr>
              <a:t>=“−10” (an error)</a:t>
            </a:r>
          </a:p>
        </p:txBody>
      </p:sp>
    </p:spTree>
    <p:extLst>
      <p:ext uri="{BB962C8B-B14F-4D97-AF65-F5344CB8AC3E}">
        <p14:creationId xmlns:p14="http://schemas.microsoft.com/office/powerpoint/2010/main" val="507035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200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Data in the real world is dirty</a:t>
            </a:r>
          </a:p>
          <a:p>
            <a:pPr lvl="1">
              <a:lnSpc>
                <a:spcPct val="110000"/>
              </a:lnSpc>
            </a:pPr>
            <a:r>
              <a:rPr lang="en-US" altLang="nl-NL" u="sng" dirty="0">
                <a:cs typeface="Times New Roman" panose="02020603050405020304" pitchFamily="18" charset="0"/>
              </a:rPr>
              <a:t>Inconsistent</a:t>
            </a:r>
            <a:r>
              <a:rPr lang="en-US" altLang="nl-NL" dirty="0">
                <a:cs typeface="Times New Roman" panose="02020603050405020304" pitchFamily="18" charset="0"/>
              </a:rPr>
              <a:t>: containing discrepancies in codes or names, e.g.,</a:t>
            </a:r>
          </a:p>
          <a:p>
            <a:pPr lvl="2">
              <a:lnSpc>
                <a:spcPct val="110000"/>
              </a:lnSpc>
            </a:pPr>
            <a:r>
              <a:rPr lang="en-US" altLang="nl-NL" sz="2400" i="1" dirty="0">
                <a:cs typeface="Times New Roman" panose="02020603050405020304" pitchFamily="18" charset="0"/>
              </a:rPr>
              <a:t>Age</a:t>
            </a:r>
            <a:r>
              <a:rPr lang="en-US" altLang="nl-NL" sz="2400" dirty="0">
                <a:cs typeface="Times New Roman" panose="02020603050405020304" pitchFamily="18" charset="0"/>
              </a:rPr>
              <a:t>=“42”, </a:t>
            </a:r>
            <a:r>
              <a:rPr lang="en-US" altLang="nl-NL" sz="2400" i="1" dirty="0">
                <a:cs typeface="Times New Roman" panose="02020603050405020304" pitchFamily="18" charset="0"/>
              </a:rPr>
              <a:t>Birthday</a:t>
            </a:r>
            <a:r>
              <a:rPr lang="en-US" altLang="nl-NL" sz="2400" dirty="0">
                <a:cs typeface="Times New Roman" panose="02020603050405020304" pitchFamily="18" charset="0"/>
              </a:rPr>
              <a:t>=“03/07/2010”</a:t>
            </a:r>
          </a:p>
          <a:p>
            <a:pPr lvl="2">
              <a:lnSpc>
                <a:spcPct val="110000"/>
              </a:lnSpc>
            </a:pPr>
            <a:r>
              <a:rPr lang="en-US" altLang="nl-NL" sz="2400" dirty="0">
                <a:cs typeface="Times New Roman" panose="02020603050405020304" pitchFamily="18" charset="0"/>
              </a:rPr>
              <a:t>Was rating “1, 2, 3”, now rating “A, B, C”</a:t>
            </a:r>
          </a:p>
          <a:p>
            <a:pPr lvl="2">
              <a:lnSpc>
                <a:spcPct val="110000"/>
              </a:lnSpc>
            </a:pPr>
            <a:r>
              <a:rPr lang="en-US" altLang="nl-NL" sz="2400" dirty="0">
                <a:cs typeface="Times New Roman" panose="02020603050405020304" pitchFamily="18" charset="0"/>
              </a:rPr>
              <a:t>Discrepancy between duplicate records</a:t>
            </a:r>
          </a:p>
          <a:p>
            <a:pPr lvl="1">
              <a:lnSpc>
                <a:spcPct val="120000"/>
              </a:lnSpc>
            </a:pPr>
            <a:r>
              <a:rPr lang="en-US" altLang="nl-NL" u="sng" dirty="0">
                <a:cs typeface="Times New Roman" panose="02020603050405020304" pitchFamily="18" charset="0"/>
              </a:rPr>
              <a:t>Intentional</a:t>
            </a:r>
            <a:r>
              <a:rPr lang="en-US" altLang="nl-NL" b="1" u="sng" dirty="0">
                <a:cs typeface="Times New Roman" panose="02020603050405020304" pitchFamily="18" charset="0"/>
              </a:rPr>
              <a:t> </a:t>
            </a:r>
            <a:r>
              <a:rPr lang="en-US" altLang="nl-NL" dirty="0">
                <a:cs typeface="Times New Roman" panose="02020603050405020304" pitchFamily="18" charset="0"/>
              </a:rPr>
              <a:t>(e.g., </a:t>
            </a:r>
            <a:r>
              <a:rPr lang="en-US" altLang="nl-NL" i="1" dirty="0">
                <a:cs typeface="Times New Roman" panose="02020603050405020304" pitchFamily="18" charset="0"/>
              </a:rPr>
              <a:t>disguised missing</a:t>
            </a:r>
            <a:r>
              <a:rPr lang="en-US" altLang="nl-NL" dirty="0">
                <a:cs typeface="Times New Roman" panose="02020603050405020304" pitchFamily="18" charset="0"/>
              </a:rPr>
              <a:t> data)</a:t>
            </a:r>
          </a:p>
          <a:p>
            <a:pPr lvl="2">
              <a:lnSpc>
                <a:spcPct val="120000"/>
              </a:lnSpc>
            </a:pPr>
            <a:r>
              <a:rPr lang="en-US" altLang="nl-NL" sz="2400" dirty="0">
                <a:cs typeface="Times New Roman" panose="02020603050405020304" pitchFamily="18" charset="0"/>
              </a:rPr>
              <a:t>Jan. 1 as everyone’s birthday?</a:t>
            </a:r>
          </a:p>
        </p:txBody>
      </p:sp>
    </p:spTree>
    <p:extLst>
      <p:ext uri="{BB962C8B-B14F-4D97-AF65-F5344CB8AC3E}">
        <p14:creationId xmlns:p14="http://schemas.microsoft.com/office/powerpoint/2010/main" val="3579968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48">
            <a:extLst>
              <a:ext uri="{FF2B5EF4-FFF2-40B4-BE49-F238E27FC236}">
                <a16:creationId xmlns:a16="http://schemas.microsoft.com/office/drawing/2014/main" id="{B8D2AEEA-101D-B543-A032-898F2E255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6944" y="5030610"/>
            <a:ext cx="82296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 marL="342900" indent="-3429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lvl="1"/>
            <a:r>
              <a:rPr lang="en-US" altLang="en-US" sz="1800" b="1" i="1" dirty="0"/>
              <a:t>Real data is full of N/A or nulls, special values (99999) etc.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7F99F794-9BEC-3B46-8499-4500BA87F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770" y="1702618"/>
            <a:ext cx="4041775" cy="281146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98E6C66-FA4B-764E-9A5C-3ED20D9CB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944" y="2276519"/>
            <a:ext cx="4857750" cy="25987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0040CE6-C8ED-2D46-A01F-3469EBA10E84}"/>
              </a:ext>
            </a:extLst>
          </p:cNvPr>
          <p:cNvSpPr/>
          <p:nvPr/>
        </p:nvSpPr>
        <p:spPr>
          <a:xfrm>
            <a:off x="3752850" y="4607960"/>
            <a:ext cx="587376" cy="157715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ABC054-4CC9-654B-8705-1CEF9466BF82}"/>
              </a:ext>
            </a:extLst>
          </p:cNvPr>
          <p:cNvSpPr/>
          <p:nvPr/>
        </p:nvSpPr>
        <p:spPr>
          <a:xfrm>
            <a:off x="3717925" y="3471310"/>
            <a:ext cx="587376" cy="157715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AE8B1-2196-8C4F-9E9B-6553D237DD60}"/>
              </a:ext>
            </a:extLst>
          </p:cNvPr>
          <p:cNvSpPr/>
          <p:nvPr/>
        </p:nvSpPr>
        <p:spPr>
          <a:xfrm>
            <a:off x="3676650" y="3429000"/>
            <a:ext cx="663576" cy="6985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2F80F6-6888-6249-BFA5-2F4426F3FB23}"/>
              </a:ext>
            </a:extLst>
          </p:cNvPr>
          <p:cNvSpPr/>
          <p:nvPr/>
        </p:nvSpPr>
        <p:spPr>
          <a:xfrm>
            <a:off x="5613399" y="4116182"/>
            <a:ext cx="336550" cy="1556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210F53-7A66-6542-8296-B8B80BCCB632}"/>
              </a:ext>
            </a:extLst>
          </p:cNvPr>
          <p:cNvSpPr/>
          <p:nvPr/>
        </p:nvSpPr>
        <p:spPr>
          <a:xfrm>
            <a:off x="5635624" y="4461463"/>
            <a:ext cx="336550" cy="1556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544F99-6B39-F843-804C-04DC3F84E6A0}"/>
              </a:ext>
            </a:extLst>
          </p:cNvPr>
          <p:cNvSpPr/>
          <p:nvPr/>
        </p:nvSpPr>
        <p:spPr>
          <a:xfrm>
            <a:off x="5635624" y="4607960"/>
            <a:ext cx="336550" cy="1556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03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50844"/>
            <a:ext cx="8277726" cy="5790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Cleaning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5428FF6-6D23-DD42-88C6-660EDA71208A}"/>
              </a:ext>
            </a:extLst>
          </p:cNvPr>
          <p:cNvSpPr txBox="1">
            <a:spLocks/>
          </p:cNvSpPr>
          <p:nvPr/>
        </p:nvSpPr>
        <p:spPr>
          <a:xfrm>
            <a:off x="1202028" y="3617535"/>
            <a:ext cx="8277726" cy="5790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1- Incomplete Data</a:t>
            </a:r>
          </a:p>
        </p:txBody>
      </p:sp>
    </p:spTree>
    <p:extLst>
      <p:ext uri="{BB962C8B-B14F-4D97-AF65-F5344CB8AC3E}">
        <p14:creationId xmlns:p14="http://schemas.microsoft.com/office/powerpoint/2010/main" val="4170300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(Missing)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Data is not always available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E.g., many tuples have no recorded value for several attributes, such as customer income in sales data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Missing data may be due to 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Equipment malfunction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Inconsistent with other recorded data and thus deleted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Data not entered due to misunderstanding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Certain data values may not be considered important at the time of entry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Missing data may need to be inferred</a:t>
            </a:r>
          </a:p>
        </p:txBody>
      </p:sp>
    </p:spTree>
    <p:extLst>
      <p:ext uri="{BB962C8B-B14F-4D97-AF65-F5344CB8AC3E}">
        <p14:creationId xmlns:p14="http://schemas.microsoft.com/office/powerpoint/2010/main" val="663169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the Missing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Ignore the tuple: usually done when class label is missing (for classification problem) – not effective when the % of missing values is large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Fill in the missing value: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Manually: tedious + infeasible?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Automatically (data imputation) with</a:t>
            </a:r>
          </a:p>
          <a:p>
            <a:pPr lvl="2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 global constant : e.g., “unknown”, a new class?! </a:t>
            </a:r>
          </a:p>
          <a:p>
            <a:pPr lvl="2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attribute mean</a:t>
            </a:r>
          </a:p>
          <a:p>
            <a:pPr lvl="2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attribute mean for all samples belonging to the same class: smarter</a:t>
            </a:r>
          </a:p>
          <a:p>
            <a:pPr lvl="2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For time series, we may use the value arrived before/after the missing value</a:t>
            </a:r>
          </a:p>
        </p:txBody>
      </p:sp>
    </p:spTree>
    <p:extLst>
      <p:ext uri="{BB962C8B-B14F-4D97-AF65-F5344CB8AC3E}">
        <p14:creationId xmlns:p14="http://schemas.microsoft.com/office/powerpoint/2010/main" val="769554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Cleaning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2F7F081-41A5-4D45-A4DD-33D82E1C5E11}"/>
              </a:ext>
            </a:extLst>
          </p:cNvPr>
          <p:cNvSpPr txBox="1">
            <a:spLocks/>
          </p:cNvSpPr>
          <p:nvPr/>
        </p:nvSpPr>
        <p:spPr>
          <a:xfrm>
            <a:off x="1211264" y="3666839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2- Noisy Data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589255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Noise: random error or variance in a measured variable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Incorrect attribute values may be due to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Faulty data collection instruments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Data entry problems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Data transmission problems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Technology limitation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Inconsistency in naming convention</a:t>
            </a:r>
            <a:endParaRPr lang="en-US" altLang="nl-NL" dirty="0"/>
          </a:p>
        </p:txBody>
      </p:sp>
    </p:spTree>
    <p:extLst>
      <p:ext uri="{BB962C8B-B14F-4D97-AF65-F5344CB8AC3E}">
        <p14:creationId xmlns:p14="http://schemas.microsoft.com/office/powerpoint/2010/main" val="1218226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the Noisy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Binning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First sort data and partition into (equal-frequency) bins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Then one can smooth by bin means,  smooth by bin median, smooth by bin boundaries, etc.</a:t>
            </a:r>
          </a:p>
          <a:p>
            <a:pPr lvl="2">
              <a:lnSpc>
                <a:spcPct val="100000"/>
              </a:lnSpc>
            </a:pPr>
            <a:r>
              <a:rPr lang="en-US" altLang="nl-NL" sz="2200" dirty="0">
                <a:cs typeface="Times New Roman" panose="02020603050405020304" pitchFamily="18" charset="0"/>
              </a:rPr>
              <a:t>Smoothing by bin means : In smoothing by bin means, each value in a bin is replaced by the mean value of the bin.</a:t>
            </a:r>
          </a:p>
          <a:p>
            <a:pPr lvl="2">
              <a:lnSpc>
                <a:spcPct val="100000"/>
              </a:lnSpc>
            </a:pPr>
            <a:r>
              <a:rPr lang="en-US" altLang="nl-NL" sz="2200" dirty="0">
                <a:cs typeface="Times New Roman" panose="02020603050405020304" pitchFamily="18" charset="0"/>
              </a:rPr>
              <a:t>Smoothing by bin median : In this method each bin value is replaced by its bin median value.</a:t>
            </a:r>
          </a:p>
          <a:p>
            <a:pPr lvl="2">
              <a:lnSpc>
                <a:spcPct val="100000"/>
              </a:lnSpc>
            </a:pPr>
            <a:r>
              <a:rPr lang="en-US" altLang="nl-NL" sz="2200" dirty="0">
                <a:cs typeface="Times New Roman" panose="02020603050405020304" pitchFamily="18" charset="0"/>
              </a:rPr>
              <a:t>Smoothing by bin boundary: In smoothing by bin boundaries, the minimum and maximum values in a given bin are identified as the bin boundaries. Each bin value is then replaced by the closest boundary value.</a:t>
            </a:r>
          </a:p>
        </p:txBody>
      </p:sp>
    </p:spTree>
    <p:extLst>
      <p:ext uri="{BB962C8B-B14F-4D97-AF65-F5344CB8AC3E}">
        <p14:creationId xmlns:p14="http://schemas.microsoft.com/office/powerpoint/2010/main" val="3183771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the Noisy Data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Regression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Smooth by fitting the data into regression functions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Clustering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Detect and remove values that do not belong to any of the clusters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Combined computer and human inspection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Detect suspicious values and check by human (e.g., deal with possible outliers)</a:t>
            </a:r>
          </a:p>
        </p:txBody>
      </p:sp>
    </p:spTree>
    <p:extLst>
      <p:ext uri="{BB962C8B-B14F-4D97-AF65-F5344CB8AC3E}">
        <p14:creationId xmlns:p14="http://schemas.microsoft.com/office/powerpoint/2010/main" val="2132904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FE95C55-D6C2-4186-8D96-38D947FD4B67}"/>
              </a:ext>
            </a:extLst>
          </p:cNvPr>
          <p:cNvSpPr txBox="1">
            <a:spLocks noChangeArrowheads="1"/>
          </p:cNvSpPr>
          <p:nvPr/>
        </p:nvSpPr>
        <p:spPr>
          <a:xfrm>
            <a:off x="328474" y="1560270"/>
            <a:ext cx="6606716" cy="541584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Sorted data for </a:t>
            </a:r>
            <a:r>
              <a:rPr lang="en-NL" altLang="nl-NL" sz="2800" dirty="0">
                <a:cs typeface="Times New Roman" panose="02020603050405020304" pitchFamily="18" charset="0"/>
              </a:rPr>
              <a:t>g</a:t>
            </a:r>
            <a:r>
              <a:rPr lang="nl-NL" altLang="nl-NL" sz="2800" dirty="0">
                <a:cs typeface="Times New Roman" panose="02020603050405020304" pitchFamily="18" charset="0"/>
              </a:rPr>
              <a:t>r</a:t>
            </a:r>
            <a:r>
              <a:rPr lang="en-NL" altLang="nl-NL" sz="2800" dirty="0">
                <a:cs typeface="Times New Roman" panose="02020603050405020304" pitchFamily="18" charset="0"/>
              </a:rPr>
              <a:t>a</a:t>
            </a:r>
            <a:r>
              <a:rPr lang="nl-NL" altLang="nl-NL" sz="2800" dirty="0">
                <a:cs typeface="Times New Roman" panose="02020603050405020304" pitchFamily="18" charset="0"/>
              </a:rPr>
              <a:t>d</a:t>
            </a:r>
            <a:r>
              <a:rPr lang="en-NL" altLang="nl-NL" sz="2800" dirty="0">
                <a:cs typeface="Times New Roman" panose="02020603050405020304" pitchFamily="18" charset="0"/>
              </a:rPr>
              <a:t>e</a:t>
            </a:r>
            <a:r>
              <a:rPr lang="nl-NL" altLang="nl-NL" sz="2800" dirty="0">
                <a:cs typeface="Times New Roman" panose="02020603050405020304" pitchFamily="18" charset="0"/>
              </a:rPr>
              <a:t>s</a:t>
            </a:r>
            <a:r>
              <a:rPr lang="en-US" altLang="nl-NL" sz="2800" dirty="0">
                <a:cs typeface="Times New Roman" panose="02020603050405020304" pitchFamily="18" charset="0"/>
              </a:rPr>
              <a:t> (</a:t>
            </a:r>
            <a:r>
              <a:rPr lang="en-NL" altLang="nl-NL" sz="2800" dirty="0">
                <a:cs typeface="Times New Roman" panose="02020603050405020304" pitchFamily="18" charset="0"/>
              </a:rPr>
              <a:t>out of 50</a:t>
            </a:r>
            <a:r>
              <a:rPr lang="en-US" altLang="nl-NL" sz="2800" dirty="0">
                <a:cs typeface="Times New Roman" panose="02020603050405020304" pitchFamily="18" charset="0"/>
              </a:rPr>
              <a:t>):</a:t>
            </a:r>
            <a:endParaRPr lang="en-NL" altLang="nl-NL" sz="2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4, 8, 9</a:t>
            </a:r>
            <a:r>
              <a:rPr lang="en-NL" altLang="nl-NL" sz="2800" dirty="0">
                <a:cs typeface="Times New Roman" panose="02020603050405020304" pitchFamily="18" charset="0"/>
              </a:rPr>
              <a:t>, 11</a:t>
            </a:r>
            <a:r>
              <a:rPr lang="en-US" altLang="nl-NL" sz="2800" dirty="0">
                <a:cs typeface="Times New Roman" panose="02020603050405020304" pitchFamily="18" charset="0"/>
              </a:rPr>
              <a:t>, 15, 21, 21, 24,</a:t>
            </a:r>
            <a:r>
              <a:rPr lang="en-NL" altLang="nl-NL" sz="2800" dirty="0">
                <a:cs typeface="Times New Roman" panose="02020603050405020304" pitchFamily="18" charset="0"/>
              </a:rPr>
              <a:t> 24,</a:t>
            </a:r>
            <a:r>
              <a:rPr lang="en-US" altLang="nl-NL" sz="2800" dirty="0">
                <a:cs typeface="Times New Roman" panose="02020603050405020304" pitchFamily="18" charset="0"/>
              </a:rPr>
              <a:t> 25</a:t>
            </a:r>
            <a:r>
              <a:rPr lang="en-NL" altLang="nl-NL" sz="2800" dirty="0">
                <a:cs typeface="Times New Roman" panose="02020603050405020304" pitchFamily="18" charset="0"/>
              </a:rPr>
              <a:t>,26</a:t>
            </a:r>
            <a:r>
              <a:rPr lang="en-US" altLang="nl-NL" sz="2800" dirty="0">
                <a:cs typeface="Times New Roman" panose="02020603050405020304" pitchFamily="18" charset="0"/>
              </a:rPr>
              <a:t>, 28, 29, 34</a:t>
            </a:r>
            <a:r>
              <a:rPr lang="en-NL" altLang="nl-NL" sz="2800" dirty="0">
                <a:cs typeface="Times New Roman" panose="02020603050405020304" pitchFamily="18" charset="0"/>
              </a:rPr>
              <a:t>, 48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Partition into equal-frequency (</a:t>
            </a:r>
            <a:r>
              <a:rPr lang="en-US" altLang="nl-NL" sz="2800" b="1" dirty="0" err="1">
                <a:cs typeface="Times New Roman" panose="02020603050405020304" pitchFamily="18" charset="0"/>
              </a:rPr>
              <a:t>equidepth</a:t>
            </a:r>
            <a:r>
              <a:rPr lang="en-US" altLang="nl-NL" sz="2800" dirty="0">
                <a:cs typeface="Times New Roman" panose="02020603050405020304" pitchFamily="18" charset="0"/>
              </a:rPr>
              <a:t>) bins:</a:t>
            </a: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1: 4, 8, 9, </a:t>
            </a:r>
            <a:r>
              <a:rPr lang="en-NL" altLang="nl-NL" sz="2800" dirty="0">
                <a:cs typeface="Times New Roman" panose="02020603050405020304" pitchFamily="18" charset="0"/>
              </a:rPr>
              <a:t>11, </a:t>
            </a:r>
            <a:r>
              <a:rPr lang="en-US" altLang="nl-NL" sz="2800" dirty="0">
                <a:cs typeface="Times New Roman" panose="02020603050405020304" pitchFamily="18" charset="0"/>
              </a:rPr>
              <a:t>15</a:t>
            </a: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2: </a:t>
            </a:r>
            <a:r>
              <a:rPr lang="en-NL" altLang="nl-NL" sz="2800" dirty="0">
                <a:cs typeface="Times New Roman" panose="02020603050405020304" pitchFamily="18" charset="0"/>
              </a:rPr>
              <a:t>21, </a:t>
            </a:r>
            <a:r>
              <a:rPr lang="en-US" altLang="nl-NL" sz="2800" dirty="0">
                <a:cs typeface="Times New Roman" panose="02020603050405020304" pitchFamily="18" charset="0"/>
              </a:rPr>
              <a:t>21, 24, 2</a:t>
            </a:r>
            <a:r>
              <a:rPr lang="en-NL" altLang="nl-NL" sz="2800" dirty="0">
                <a:cs typeface="Times New Roman" panose="02020603050405020304" pitchFamily="18" charset="0"/>
              </a:rPr>
              <a:t>4, 25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3: </a:t>
            </a:r>
            <a:r>
              <a:rPr lang="en-NL" altLang="nl-NL" sz="2800" dirty="0">
                <a:cs typeface="Times New Roman" panose="02020603050405020304" pitchFamily="18" charset="0"/>
              </a:rPr>
              <a:t>26, </a:t>
            </a:r>
            <a:r>
              <a:rPr lang="en-US" altLang="nl-NL" sz="2800" dirty="0">
                <a:cs typeface="Times New Roman" panose="02020603050405020304" pitchFamily="18" charset="0"/>
              </a:rPr>
              <a:t>28, 29, 34</a:t>
            </a:r>
            <a:r>
              <a:rPr lang="en-NL" altLang="nl-NL" sz="2800" dirty="0">
                <a:cs typeface="Times New Roman" panose="02020603050405020304" pitchFamily="18" charset="0"/>
              </a:rPr>
              <a:t>, 48</a:t>
            </a:r>
            <a:endParaRPr lang="en-US" altLang="nl-NL" sz="2800" dirty="0"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DDAAE4-BFDC-4445-A63A-63B75D08C2CE}"/>
              </a:ext>
            </a:extLst>
          </p:cNvPr>
          <p:cNvSpPr txBox="1">
            <a:spLocks noChangeArrowheads="1"/>
          </p:cNvSpPr>
          <p:nvPr/>
        </p:nvSpPr>
        <p:spPr>
          <a:xfrm>
            <a:off x="6935190" y="1560270"/>
            <a:ext cx="5089491" cy="475833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Smoothing by </a:t>
            </a:r>
            <a:r>
              <a:rPr lang="en-US" altLang="nl-NL" sz="2800" b="1" dirty="0">
                <a:cs typeface="Times New Roman" panose="02020603050405020304" pitchFamily="18" charset="0"/>
              </a:rPr>
              <a:t>bin means</a:t>
            </a:r>
            <a:r>
              <a:rPr lang="en-US" altLang="nl-NL" sz="2800" dirty="0"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1: 9</a:t>
            </a:r>
            <a:r>
              <a:rPr lang="en-NL" altLang="nl-NL" sz="2800" dirty="0">
                <a:cs typeface="Times New Roman" panose="02020603050405020304" pitchFamily="18" charset="0"/>
              </a:rPr>
              <a:t>.4</a:t>
            </a:r>
            <a:r>
              <a:rPr lang="en-US" altLang="nl-NL" sz="2800" dirty="0">
                <a:cs typeface="Times New Roman" panose="02020603050405020304" pitchFamily="18" charset="0"/>
              </a:rPr>
              <a:t>, 9</a:t>
            </a:r>
            <a:r>
              <a:rPr lang="en-NL" altLang="nl-NL" sz="2800" dirty="0">
                <a:cs typeface="Times New Roman" panose="02020603050405020304" pitchFamily="18" charset="0"/>
              </a:rPr>
              <a:t>.4</a:t>
            </a:r>
            <a:r>
              <a:rPr lang="en-US" altLang="nl-NL" sz="2800" dirty="0">
                <a:cs typeface="Times New Roman" panose="02020603050405020304" pitchFamily="18" charset="0"/>
              </a:rPr>
              <a:t>, 9</a:t>
            </a:r>
            <a:r>
              <a:rPr lang="en-NL" altLang="nl-NL" sz="2800" dirty="0">
                <a:cs typeface="Times New Roman" panose="02020603050405020304" pitchFamily="18" charset="0"/>
              </a:rPr>
              <a:t>.4</a:t>
            </a:r>
            <a:r>
              <a:rPr lang="en-US" altLang="nl-NL" sz="2800" dirty="0">
                <a:cs typeface="Times New Roman" panose="02020603050405020304" pitchFamily="18" charset="0"/>
              </a:rPr>
              <a:t>, 9</a:t>
            </a:r>
            <a:r>
              <a:rPr lang="en-NL" altLang="nl-NL" sz="2800" dirty="0">
                <a:cs typeface="Times New Roman" panose="02020603050405020304" pitchFamily="18" charset="0"/>
              </a:rPr>
              <a:t>.4, 9.4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2: 23, 23, 23, 23</a:t>
            </a:r>
            <a:r>
              <a:rPr lang="en-NL" altLang="nl-NL" sz="2800" dirty="0">
                <a:cs typeface="Times New Roman" panose="02020603050405020304" pitchFamily="18" charset="0"/>
              </a:rPr>
              <a:t>, 23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3: </a:t>
            </a:r>
            <a:r>
              <a:rPr lang="en-NL" altLang="nl-NL" sz="2800" dirty="0">
                <a:cs typeface="Times New Roman" panose="02020603050405020304" pitchFamily="18" charset="0"/>
              </a:rPr>
              <a:t>33</a:t>
            </a:r>
            <a:r>
              <a:rPr lang="en-US" altLang="nl-NL" sz="2800" dirty="0">
                <a:cs typeface="Times New Roman" panose="02020603050405020304" pitchFamily="18" charset="0"/>
              </a:rPr>
              <a:t>, </a:t>
            </a:r>
            <a:r>
              <a:rPr lang="en-NL" altLang="nl-NL" sz="2800" dirty="0">
                <a:cs typeface="Times New Roman" panose="02020603050405020304" pitchFamily="18" charset="0"/>
              </a:rPr>
              <a:t>33</a:t>
            </a:r>
            <a:r>
              <a:rPr lang="en-US" altLang="nl-NL" sz="2800" dirty="0">
                <a:cs typeface="Times New Roman" panose="02020603050405020304" pitchFamily="18" charset="0"/>
              </a:rPr>
              <a:t>, </a:t>
            </a:r>
            <a:r>
              <a:rPr lang="en-NL" altLang="nl-NL" sz="2800" dirty="0">
                <a:cs typeface="Times New Roman" panose="02020603050405020304" pitchFamily="18" charset="0"/>
              </a:rPr>
              <a:t>33</a:t>
            </a:r>
            <a:r>
              <a:rPr lang="en-US" altLang="nl-NL" sz="2800" dirty="0">
                <a:cs typeface="Times New Roman" panose="02020603050405020304" pitchFamily="18" charset="0"/>
              </a:rPr>
              <a:t>, </a:t>
            </a:r>
            <a:r>
              <a:rPr lang="en-NL" altLang="nl-NL" sz="2800" dirty="0">
                <a:cs typeface="Times New Roman" panose="02020603050405020304" pitchFamily="18" charset="0"/>
              </a:rPr>
              <a:t>33, 33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Smoothing by </a:t>
            </a:r>
            <a:r>
              <a:rPr lang="en-US" altLang="nl-NL" sz="2800" b="1" dirty="0">
                <a:cs typeface="Times New Roman" panose="02020603050405020304" pitchFamily="18" charset="0"/>
              </a:rPr>
              <a:t>bin boundaries</a:t>
            </a:r>
            <a:r>
              <a:rPr lang="en-US" altLang="nl-NL" sz="2800" dirty="0"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1: 4, 4, 4, </a:t>
            </a:r>
            <a:r>
              <a:rPr lang="en-NL" altLang="nl-NL" sz="2800" dirty="0">
                <a:cs typeface="Times New Roman" panose="02020603050405020304" pitchFamily="18" charset="0"/>
              </a:rPr>
              <a:t>15, </a:t>
            </a:r>
            <a:r>
              <a:rPr lang="en-US" altLang="nl-NL" sz="2800" dirty="0">
                <a:cs typeface="Times New Roman" panose="02020603050405020304" pitchFamily="18" charset="0"/>
              </a:rPr>
              <a:t>15</a:t>
            </a: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2: 21, 21, 25, 25</a:t>
            </a:r>
            <a:r>
              <a:rPr lang="en-NL" altLang="nl-NL" sz="2800" dirty="0">
                <a:cs typeface="Times New Roman" panose="02020603050405020304" pitchFamily="18" charset="0"/>
              </a:rPr>
              <a:t>, 25</a:t>
            </a:r>
            <a:endParaRPr lang="en-US" altLang="nl-NL" sz="28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nl-NL" sz="2800" dirty="0">
                <a:cs typeface="Times New Roman" panose="02020603050405020304" pitchFamily="18" charset="0"/>
              </a:rPr>
              <a:t>      - Bin 3: 26, 26, 26, </a:t>
            </a:r>
            <a:r>
              <a:rPr lang="en-NL" altLang="nl-NL" sz="2800" dirty="0">
                <a:cs typeface="Times New Roman" panose="02020603050405020304" pitchFamily="18" charset="0"/>
              </a:rPr>
              <a:t>26, 48</a:t>
            </a:r>
            <a:endParaRPr lang="en-US" altLang="nl-NL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43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Cleaning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2F7F081-41A5-4D45-A4DD-33D82E1C5E11}"/>
              </a:ext>
            </a:extLst>
          </p:cNvPr>
          <p:cNvSpPr txBox="1">
            <a:spLocks/>
          </p:cNvSpPr>
          <p:nvPr/>
        </p:nvSpPr>
        <p:spPr>
          <a:xfrm>
            <a:off x="1211264" y="3666839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3- Outliers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188143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Consider the data points</a:t>
            </a:r>
          </a:p>
          <a:p>
            <a:pPr marL="0" indent="0">
              <a:buNone/>
            </a:pPr>
            <a:r>
              <a:rPr lang="en-US" altLang="nl-NL" dirty="0">
                <a:cs typeface="Times New Roman" panose="02020603050405020304" pitchFamily="18" charset="0"/>
              </a:rPr>
              <a:t>	3, 4, 7, 4, 8, 3, 9, 5, 7, 6, 92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“92” is suspicious - an </a:t>
            </a:r>
            <a:r>
              <a:rPr lang="en-US" altLang="nl-NL" i="1" dirty="0">
                <a:solidFill>
                  <a:srgbClr val="C00000"/>
                </a:solidFill>
                <a:cs typeface="Times New Roman" panose="02020603050405020304" pitchFamily="18" charset="0"/>
              </a:rPr>
              <a:t>outlier</a:t>
            </a:r>
            <a:endParaRPr lang="en-US" altLang="nl-NL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r>
              <a:rPr lang="en-US" altLang="nl-NL" dirty="0">
                <a:cs typeface="Times New Roman" panose="02020603050405020304" pitchFamily="18" charset="0"/>
              </a:rPr>
              <a:t>Outliers are data or model glitches</a:t>
            </a:r>
            <a:endParaRPr lang="en-US" altLang="nl-NL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20BEE8-3574-4137-BD70-4DA3B6AA1AA3}"/>
              </a:ext>
            </a:extLst>
          </p:cNvPr>
          <p:cNvSpPr/>
          <p:nvPr/>
        </p:nvSpPr>
        <p:spPr>
          <a:xfrm>
            <a:off x="838200" y="3786927"/>
            <a:ext cx="9638168" cy="2372901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Hawkins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nl-NL" sz="22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Hawkins</a:t>
            </a:r>
            <a:r>
              <a:rPr lang="nl-NL" sz="2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1980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]:</a:t>
            </a:r>
          </a:p>
          <a:p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deviates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arouse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suspicions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different </a:t>
            </a:r>
            <a:r>
              <a:rPr lang="nl-NL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lang="nl-NL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/>
            <a:endParaRPr lang="nl-NL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691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Outliers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204912"/>
            <a:ext cx="10515600" cy="5113252"/>
          </a:xfrm>
        </p:spPr>
        <p:txBody>
          <a:bodyPr>
            <a:noAutofit/>
          </a:bodyPr>
          <a:lstStyle/>
          <a:p>
            <a:r>
              <a:rPr lang="en-US" altLang="nl-NL" dirty="0"/>
              <a:t>Outliers are interesting:  they violate the mechanism that generates the normal data</a:t>
            </a:r>
          </a:p>
          <a:p>
            <a:r>
              <a:rPr lang="en-US" altLang="nl-NL" dirty="0"/>
              <a:t>Outlier detection vs. </a:t>
            </a:r>
            <a:r>
              <a:rPr lang="en-US" altLang="nl-NL" i="1" dirty="0"/>
              <a:t>novelty detection</a:t>
            </a:r>
            <a:r>
              <a:rPr lang="en-US" altLang="nl-NL" dirty="0"/>
              <a:t>: early stage, outlier; but later merged into the model</a:t>
            </a:r>
          </a:p>
          <a:p>
            <a:r>
              <a:rPr lang="en-US" altLang="nl-NL" dirty="0"/>
              <a:t>Applications:</a:t>
            </a:r>
          </a:p>
          <a:p>
            <a:pPr lvl="1"/>
            <a:r>
              <a:rPr lang="en-US" altLang="nl-NL" dirty="0"/>
              <a:t>Credit card fraud detection</a:t>
            </a:r>
          </a:p>
          <a:p>
            <a:pPr lvl="1"/>
            <a:r>
              <a:rPr lang="en-US" altLang="nl-NL" dirty="0"/>
              <a:t>Telecom fraud detection</a:t>
            </a:r>
          </a:p>
          <a:p>
            <a:pPr lvl="1"/>
            <a:r>
              <a:rPr lang="en-US" altLang="nl-NL" dirty="0"/>
              <a:t>Customer segmentation</a:t>
            </a:r>
          </a:p>
          <a:p>
            <a:pPr lvl="1"/>
            <a:r>
              <a:rPr lang="en-US" altLang="nl-NL" dirty="0"/>
              <a:t>Medical analysis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83CDAF-02B4-45BE-8F8B-B2897A59F698}"/>
              </a:ext>
            </a:extLst>
          </p:cNvPr>
          <p:cNvGrpSpPr/>
          <p:nvPr/>
        </p:nvGrpSpPr>
        <p:grpSpPr>
          <a:xfrm>
            <a:off x="9317357" y="4389062"/>
            <a:ext cx="2230064" cy="1819437"/>
            <a:chOff x="5737030" y="4311789"/>
            <a:chExt cx="2230064" cy="1819437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96861EB1-3108-4235-9D2E-8868139E80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70"/>
            <a:stretch/>
          </p:blipFill>
          <p:spPr bwMode="auto">
            <a:xfrm>
              <a:off x="5737030" y="4451651"/>
              <a:ext cx="2230064" cy="1679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24EEEC0-BE44-46A1-8AC7-B31017926556}"/>
                    </a:ext>
                  </a:extLst>
                </p:cNvPr>
                <p:cNvSpPr/>
                <p:nvPr/>
              </p:nvSpPr>
              <p:spPr>
                <a:xfrm>
                  <a:off x="6942215" y="4311789"/>
                  <a:ext cx="515155" cy="53583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nl-NL" sz="3200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824EEEC0-BE44-46A1-8AC7-B310179265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215" y="4311789"/>
                  <a:ext cx="515155" cy="53583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410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Outliers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024" y="1204912"/>
                <a:ext cx="10515600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nl-NL" dirty="0"/>
                  <a:t>Three kinds: </a:t>
                </a:r>
                <a:r>
                  <a:rPr lang="en-US" altLang="nl-NL" i="1" dirty="0"/>
                  <a:t>global, contextual</a:t>
                </a:r>
                <a:r>
                  <a:rPr lang="en-US" altLang="nl-NL" dirty="0"/>
                  <a:t> and </a:t>
                </a:r>
                <a:r>
                  <a:rPr lang="en-US" altLang="nl-NL" i="1" dirty="0"/>
                  <a:t>collective </a:t>
                </a:r>
                <a:r>
                  <a:rPr lang="en-US" altLang="nl-NL" dirty="0"/>
                  <a:t>outliers</a:t>
                </a:r>
                <a:endParaRPr lang="en-US" altLang="nl-NL" i="1" dirty="0"/>
              </a:p>
              <a:p>
                <a:r>
                  <a:rPr lang="en-US" altLang="nl-NL" b="1" dirty="0"/>
                  <a:t>Global outlier</a:t>
                </a:r>
                <a:r>
                  <a:rPr lang="en-US" altLang="nl-NL" dirty="0"/>
                  <a:t> (or point anomaly)</a:t>
                </a:r>
              </a:p>
              <a:p>
                <a:pPr lvl="1"/>
                <a:r>
                  <a:rPr lang="en-US" altLang="nl-NL" dirty="0"/>
                  <a:t>Object is a global outlier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nl-NL" dirty="0"/>
                  <a:t>) if it significantly deviates from the rest of the data set</a:t>
                </a:r>
              </a:p>
              <a:p>
                <a:pPr lvl="1"/>
                <a:r>
                  <a:rPr lang="en-US" altLang="nl-NL" dirty="0"/>
                  <a:t>Ex. Intrusion detection in computer networks</a:t>
                </a:r>
              </a:p>
              <a:p>
                <a:pPr lvl="1"/>
                <a:r>
                  <a:rPr lang="en-US" altLang="nl-NL" dirty="0"/>
                  <a:t>Issue: Find an appropriate measurement of deviation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024" y="1204912"/>
                <a:ext cx="10515600" cy="5113252"/>
              </a:xfrm>
              <a:blipFill>
                <a:blip r:embed="rId2"/>
                <a:stretch>
                  <a:fillRect l="-1043" t="-202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536A6B8-EB23-4E4F-B9DE-B4A33BD2ABE1}"/>
              </a:ext>
            </a:extLst>
          </p:cNvPr>
          <p:cNvSpPr/>
          <p:nvPr/>
        </p:nvSpPr>
        <p:spPr>
          <a:xfrm>
            <a:off x="8680862" y="3442678"/>
            <a:ext cx="3068315" cy="812429"/>
          </a:xfrm>
          <a:prstGeom prst="wedgeEllipseCallout">
            <a:avLst>
              <a:gd name="adj1" fmla="val -72374"/>
              <a:gd name="adj2" fmla="val 10503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nl-NL" sz="2400" dirty="0">
                <a:solidFill>
                  <a:schemeClr val="tx1"/>
                </a:solidFill>
              </a:rPr>
              <a:t>Global Outliers</a:t>
            </a:r>
            <a:endParaRPr lang="nl-N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7537A8-26F1-427F-9631-B0133FCE7EB8}"/>
              </a:ext>
            </a:extLst>
          </p:cNvPr>
          <p:cNvGrpSpPr/>
          <p:nvPr/>
        </p:nvGrpSpPr>
        <p:grpSpPr>
          <a:xfrm>
            <a:off x="5737030" y="4311789"/>
            <a:ext cx="2230064" cy="1819437"/>
            <a:chOff x="5737030" y="4311789"/>
            <a:chExt cx="2230064" cy="1819437"/>
          </a:xfrm>
        </p:grpSpPr>
        <p:pic>
          <p:nvPicPr>
            <p:cNvPr id="5" name="Picture 8">
              <a:extLst>
                <a:ext uri="{FF2B5EF4-FFF2-40B4-BE49-F238E27FC236}">
                  <a16:creationId xmlns:a16="http://schemas.microsoft.com/office/drawing/2014/main" id="{A4E6A368-E783-4343-9684-751359106A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70"/>
            <a:stretch/>
          </p:blipFill>
          <p:spPr bwMode="auto">
            <a:xfrm>
              <a:off x="5737030" y="4451651"/>
              <a:ext cx="2230064" cy="1679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8787AFE-0E5B-46D3-967A-008E024BE864}"/>
                    </a:ext>
                  </a:extLst>
                </p:cNvPr>
                <p:cNvSpPr/>
                <p:nvPr/>
              </p:nvSpPr>
              <p:spPr>
                <a:xfrm>
                  <a:off x="6942215" y="4311789"/>
                  <a:ext cx="515155" cy="53583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nl-NL" sz="32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8787AFE-0E5B-46D3-967A-008E024BE8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215" y="4311789"/>
                  <a:ext cx="515155" cy="53583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1922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Outliers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9622"/>
                <a:ext cx="10515600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nl-NL" b="1" dirty="0"/>
                  <a:t>Contextual outlier</a:t>
                </a:r>
                <a:r>
                  <a:rPr lang="en-US" altLang="nl-NL" dirty="0"/>
                  <a:t> (or </a:t>
                </a:r>
                <a:r>
                  <a:rPr lang="en-US" altLang="nl-NL" i="1" dirty="0"/>
                  <a:t>conditional outlier</a:t>
                </a:r>
                <a:r>
                  <a:rPr lang="en-US" altLang="nl-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/>
                  <a:t>Object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nl-NL" dirty="0"/>
                  <a:t> if it deviates significantly based on a selected context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/>
                  <a:t>Ex. 20</a:t>
                </a:r>
                <a:r>
                  <a:rPr lang="en-US" altLang="nl-NL" baseline="30000" dirty="0"/>
                  <a:t>o</a:t>
                </a:r>
                <a:r>
                  <a:rPr lang="en-US" altLang="nl-NL" dirty="0"/>
                  <a:t> C in Utrecht: outlier? (depending on summer or winter?)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/>
                  <a:t>Attributes of data objects should be divided into two groups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altLang="nl-NL" sz="2200" dirty="0"/>
                  <a:t>Contextual attributes: defines the context, e.g., time &amp; location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altLang="nl-NL" sz="2200" dirty="0"/>
                  <a:t>Behavioral attributes:  characteristics of the object, used in outlier evaluation, e.g., temperature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/>
                  <a:t>Can be viewed as a generalization of </a:t>
                </a:r>
                <a:r>
                  <a:rPr lang="en-US" altLang="nl-NL" i="1" dirty="0"/>
                  <a:t>local outliers</a:t>
                </a:r>
                <a:r>
                  <a:rPr lang="en-US" altLang="nl-NL" dirty="0">
                    <a:cs typeface="Arial" panose="020B0604020202020204" pitchFamily="34" charset="0"/>
                  </a:rPr>
                  <a:t>—</a:t>
                </a:r>
                <a:r>
                  <a:rPr lang="en-US" altLang="nl-NL" dirty="0"/>
                  <a:t>whose density significantly deviates from its local area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/>
                  <a:t>Issue: How to define or formulate meaningful context?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9622"/>
                <a:ext cx="10515600" cy="5113252"/>
              </a:xfrm>
              <a:blipFill>
                <a:blip r:embed="rId2"/>
                <a:stretch>
                  <a:fillRect l="-1086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0679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Outliers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3" y="1204912"/>
            <a:ext cx="8479917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b="1" dirty="0"/>
              <a:t>Collective Outliers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A subset of data objects </a:t>
            </a:r>
            <a:r>
              <a:rPr lang="en-US" altLang="nl-NL" i="1" dirty="0"/>
              <a:t>collectively</a:t>
            </a:r>
            <a:r>
              <a:rPr lang="en-US" altLang="nl-NL" dirty="0"/>
              <a:t> deviate significantly from the whole data set, even if the individual data objects may not be outliers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Applications: E.g., </a:t>
            </a:r>
            <a:r>
              <a:rPr lang="en-US" altLang="nl-NL" i="1" dirty="0"/>
              <a:t>intrusion detection</a:t>
            </a:r>
            <a:r>
              <a:rPr lang="en-US" altLang="nl-NL" dirty="0"/>
              <a:t>: </a:t>
            </a:r>
          </a:p>
          <a:p>
            <a:pPr lvl="2">
              <a:lnSpc>
                <a:spcPct val="110000"/>
              </a:lnSpc>
            </a:pPr>
            <a:r>
              <a:rPr lang="en-US" altLang="nl-NL" sz="2200" dirty="0"/>
              <a:t>When a number of computers keep sending denial-of-service packages to each other 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Detection of collective outliers</a:t>
            </a:r>
          </a:p>
          <a:p>
            <a:pPr lvl="2">
              <a:lnSpc>
                <a:spcPct val="110000"/>
              </a:lnSpc>
            </a:pPr>
            <a:r>
              <a:rPr lang="en-US" altLang="nl-NL" sz="2200" dirty="0"/>
              <a:t>Consider not only behavior of individual objects, but also that of groups of objects</a:t>
            </a:r>
          </a:p>
          <a:p>
            <a:pPr lvl="2">
              <a:lnSpc>
                <a:spcPct val="110000"/>
              </a:lnSpc>
            </a:pPr>
            <a:r>
              <a:rPr lang="en-US" altLang="nl-NL" sz="2200" dirty="0"/>
              <a:t>Need to have the background knowledge on the relationship among data objects, such as a distance or similarity measure on objects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26617AE-C9C5-40F0-B7A8-CE1A81869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07" y="4330862"/>
            <a:ext cx="2628819" cy="2018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60760C-9A2B-4F8D-8543-1BCB2BC2C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1" r="5744"/>
          <a:stretch/>
        </p:blipFill>
        <p:spPr bwMode="auto">
          <a:xfrm>
            <a:off x="9417707" y="1564568"/>
            <a:ext cx="2624041" cy="201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067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Outlier Detection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2"/>
            <a:ext cx="10515600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/>
              <a:t>Modeling normal objects and outliers properly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Hard to enumerate all possible normal behaviors in an application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The border between normal and outlier objects is often a gray area</a:t>
            </a:r>
          </a:p>
          <a:p>
            <a:pPr>
              <a:lnSpc>
                <a:spcPct val="110000"/>
              </a:lnSpc>
            </a:pPr>
            <a:r>
              <a:rPr lang="en-US" altLang="nl-NL" dirty="0"/>
              <a:t>Application-specific outlier detection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Choice of distance measure among objects and the model of relationship among objects are often application-dependent</a:t>
            </a:r>
          </a:p>
          <a:p>
            <a:pPr lvl="1">
              <a:lnSpc>
                <a:spcPct val="110000"/>
              </a:lnSpc>
            </a:pPr>
            <a:r>
              <a:rPr lang="en-US" altLang="nl-NL" dirty="0"/>
              <a:t>E.g., clinical data: a small deviation could be an outlier; while in marketing analysis, we observe large fluctuations as normal behavior </a:t>
            </a:r>
          </a:p>
        </p:txBody>
      </p:sp>
    </p:spTree>
    <p:extLst>
      <p:ext uri="{BB962C8B-B14F-4D97-AF65-F5344CB8AC3E}">
        <p14:creationId xmlns:p14="http://schemas.microsoft.com/office/powerpoint/2010/main" val="3515783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Outlier Detection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/>
              <a:t>Handling noise in outlier detection</a:t>
            </a:r>
          </a:p>
          <a:p>
            <a:pPr lvl="1">
              <a:lnSpc>
                <a:spcPct val="100000"/>
              </a:lnSpc>
            </a:pPr>
            <a:r>
              <a:rPr lang="en-US" altLang="nl-NL" dirty="0"/>
              <a:t>Noise may distort the normal objects and blur the distinction between normal objects and outliers.  It may help hide outliers and reduce the effectiveness of outlier detection </a:t>
            </a:r>
          </a:p>
          <a:p>
            <a:pPr>
              <a:lnSpc>
                <a:spcPct val="100000"/>
              </a:lnSpc>
            </a:pPr>
            <a:r>
              <a:rPr lang="en-US" altLang="nl-NL" dirty="0"/>
              <a:t>Understandability</a:t>
            </a:r>
          </a:p>
          <a:p>
            <a:pPr lvl="1">
              <a:lnSpc>
                <a:spcPct val="100000"/>
              </a:lnSpc>
            </a:pPr>
            <a:r>
              <a:rPr lang="en-US" altLang="nl-NL" dirty="0"/>
              <a:t>Understand why these are outliers: Justification of the detection</a:t>
            </a:r>
          </a:p>
          <a:p>
            <a:pPr lvl="1">
              <a:lnSpc>
                <a:spcPct val="100000"/>
              </a:lnSpc>
            </a:pPr>
            <a:r>
              <a:rPr lang="en-US" altLang="nl-NL" dirty="0"/>
              <a:t>Specify the degree of an outlier: the unlikelihood of the object being generated by a normal mechanism</a:t>
            </a:r>
          </a:p>
          <a:p>
            <a:pPr>
              <a:lnSpc>
                <a:spcPct val="100000"/>
              </a:lnSpc>
            </a:pPr>
            <a:r>
              <a:rPr lang="en-US" altLang="nl-NL" dirty="0"/>
              <a:t>A data set may have multiple types of outlier</a:t>
            </a:r>
          </a:p>
          <a:p>
            <a:pPr>
              <a:lnSpc>
                <a:spcPct val="100000"/>
              </a:lnSpc>
            </a:pPr>
            <a:r>
              <a:rPr lang="en-US" altLang="nl-NL" dirty="0"/>
              <a:t>One object may belong to more than one type of outlier</a:t>
            </a:r>
          </a:p>
          <a:p>
            <a:endParaRPr lang="en-US" altLang="nl-NL" dirty="0"/>
          </a:p>
        </p:txBody>
      </p:sp>
    </p:spTree>
    <p:extLst>
      <p:ext uri="{BB962C8B-B14F-4D97-AF65-F5344CB8AC3E}">
        <p14:creationId xmlns:p14="http://schemas.microsoft.com/office/powerpoint/2010/main" val="694642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Techniques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r>
              <a:rPr lang="en-US" altLang="nl-NL" dirty="0"/>
              <a:t>Many approaches, for example:</a:t>
            </a:r>
          </a:p>
          <a:p>
            <a:pPr lvl="1"/>
            <a:r>
              <a:rPr lang="en-US" altLang="nl-NL" dirty="0"/>
              <a:t>Statistical methods</a:t>
            </a:r>
          </a:p>
          <a:p>
            <a:pPr lvl="1"/>
            <a:r>
              <a:rPr lang="en-US" altLang="nl-NL" dirty="0"/>
              <a:t>Distance based methods</a:t>
            </a:r>
          </a:p>
          <a:p>
            <a:pPr lvl="1"/>
            <a:r>
              <a:rPr lang="en-US" altLang="nl-NL" dirty="0"/>
              <a:t>Density based methods </a:t>
            </a:r>
          </a:p>
          <a:p>
            <a:pPr lvl="1"/>
            <a:r>
              <a:rPr lang="en-US" altLang="nl-NL" dirty="0"/>
              <a:t>Methods based on model fitting </a:t>
            </a:r>
          </a:p>
          <a:p>
            <a:r>
              <a:rPr lang="en-US" altLang="nl-NL" dirty="0"/>
              <a:t>Local vs global approaches</a:t>
            </a:r>
          </a:p>
          <a:p>
            <a:r>
              <a:rPr lang="en-US" altLang="nl-NL" dirty="0"/>
              <a:t>Scoring vs labeling</a:t>
            </a:r>
          </a:p>
        </p:txBody>
      </p:sp>
    </p:spTree>
    <p:extLst>
      <p:ext uri="{BB962C8B-B14F-4D97-AF65-F5344CB8AC3E}">
        <p14:creationId xmlns:p14="http://schemas.microsoft.com/office/powerpoint/2010/main" val="4055821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Techniques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r>
              <a:rPr lang="en-US" altLang="nl-NL" dirty="0"/>
              <a:t>Global versus local approaches </a:t>
            </a:r>
          </a:p>
          <a:p>
            <a:pPr lvl="1"/>
            <a:r>
              <a:rPr lang="en-US" altLang="nl-NL" dirty="0"/>
              <a:t>Considers the resolution of the reference set </a:t>
            </a:r>
            <a:r>
              <a:rPr lang="en-US" altLang="nl-NL" dirty="0" err="1"/>
              <a:t>w.r.t.</a:t>
            </a:r>
            <a:r>
              <a:rPr lang="en-US" altLang="nl-NL" dirty="0"/>
              <a:t> which the “</a:t>
            </a:r>
            <a:r>
              <a:rPr lang="en-US" altLang="nl-NL" dirty="0" err="1"/>
              <a:t>outlierness</a:t>
            </a:r>
            <a:r>
              <a:rPr lang="en-US" altLang="nl-NL" dirty="0"/>
              <a:t>” of a particular data object is determined – Global approaches </a:t>
            </a:r>
          </a:p>
          <a:p>
            <a:r>
              <a:rPr lang="en-US" altLang="nl-NL" dirty="0"/>
              <a:t>Global approaches </a:t>
            </a:r>
          </a:p>
          <a:p>
            <a:pPr lvl="1"/>
            <a:r>
              <a:rPr lang="en-US" altLang="nl-NL" dirty="0"/>
              <a:t>The reference set contains all other data objects </a:t>
            </a:r>
          </a:p>
          <a:p>
            <a:pPr lvl="2"/>
            <a:r>
              <a:rPr lang="en-US" altLang="nl-NL" dirty="0"/>
              <a:t>Basic problem: other outliers are also in the reference set and may falsify the results </a:t>
            </a:r>
          </a:p>
          <a:p>
            <a:r>
              <a:rPr lang="en-US" altLang="nl-NL" dirty="0"/>
              <a:t>Local approaches </a:t>
            </a:r>
          </a:p>
          <a:p>
            <a:pPr lvl="1"/>
            <a:r>
              <a:rPr lang="en-US" altLang="nl-NL" dirty="0"/>
              <a:t>The reference contains a (small) subset of data objects </a:t>
            </a:r>
          </a:p>
          <a:p>
            <a:pPr lvl="1"/>
            <a:r>
              <a:rPr lang="en-US" altLang="nl-NL" dirty="0"/>
              <a:t>No assumption on the number of normal mechanisms </a:t>
            </a:r>
          </a:p>
          <a:p>
            <a:pPr lvl="2"/>
            <a:r>
              <a:rPr lang="en-US" altLang="nl-NL" dirty="0"/>
              <a:t>Basic problem: how to choose a proper reference set</a:t>
            </a:r>
          </a:p>
          <a:p>
            <a:r>
              <a:rPr lang="en-US" altLang="nl-NL" dirty="0"/>
              <a:t>Some approaches are somewhat in between</a:t>
            </a:r>
          </a:p>
        </p:txBody>
      </p:sp>
    </p:spTree>
    <p:extLst>
      <p:ext uri="{BB962C8B-B14F-4D97-AF65-F5344CB8AC3E}">
        <p14:creationId xmlns:p14="http://schemas.microsoft.com/office/powerpoint/2010/main" val="3380121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Techniques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Labeling versus scoring: c</a:t>
            </a:r>
            <a:r>
              <a:rPr lang="en-US" sz="2600" dirty="0">
                <a:cs typeface="Times New Roman" panose="02020603050405020304" pitchFamily="18" charset="0"/>
              </a:rPr>
              <a:t>onsiders the output of an outlier detection algorithm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Labeling approaches </a:t>
            </a:r>
          </a:p>
          <a:p>
            <a:pPr lvl="2"/>
            <a:r>
              <a:rPr lang="en-US" sz="2400" dirty="0">
                <a:cs typeface="Times New Roman" panose="02020603050405020304" pitchFamily="18" charset="0"/>
              </a:rPr>
              <a:t>Binary output </a:t>
            </a:r>
          </a:p>
          <a:p>
            <a:pPr lvl="2"/>
            <a:r>
              <a:rPr lang="en-US" sz="2400" dirty="0">
                <a:cs typeface="Times New Roman" panose="02020603050405020304" pitchFamily="18" charset="0"/>
              </a:rPr>
              <a:t>Data objects are labeled either as normal or outlier 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Scoring approaches </a:t>
            </a:r>
          </a:p>
          <a:p>
            <a:pPr lvl="2"/>
            <a:r>
              <a:rPr lang="en-US" sz="2400" dirty="0">
                <a:cs typeface="Times New Roman" panose="02020603050405020304" pitchFamily="18" charset="0"/>
              </a:rPr>
              <a:t>Continuous output </a:t>
            </a:r>
          </a:p>
          <a:p>
            <a:pPr lvl="2"/>
            <a:r>
              <a:rPr lang="en-US" sz="2400" dirty="0">
                <a:cs typeface="Times New Roman" panose="02020603050405020304" pitchFamily="18" charset="0"/>
              </a:rPr>
              <a:t>For each object an outlier score is computed (e.g. the probability for being an outlier)</a:t>
            </a:r>
          </a:p>
          <a:p>
            <a:pPr lvl="2"/>
            <a:r>
              <a:rPr lang="en-US" sz="2400" dirty="0">
                <a:cs typeface="Times New Roman" panose="02020603050405020304" pitchFamily="18" charset="0"/>
              </a:rPr>
              <a:t>Data objects can be sorted according to their scores</a:t>
            </a:r>
            <a:endParaRPr lang="en-US" altLang="nl-NL" sz="2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775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– Statistical Approaches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r>
              <a:rPr lang="en-US" altLang="nl-NL" dirty="0"/>
              <a:t>Statistical approaches assume that the objects in a data set are generated by a stochastic process (a generative model)</a:t>
            </a:r>
          </a:p>
          <a:p>
            <a:r>
              <a:rPr lang="en-US" altLang="nl-NL" dirty="0"/>
              <a:t>Idea: learn a generative model fitting the given data set, and then identify the objects in low probability regions of the model as outliers</a:t>
            </a:r>
          </a:p>
          <a:p>
            <a:r>
              <a:rPr lang="en-US" altLang="nl-NL" dirty="0"/>
              <a:t>Methods are divided into two categories: </a:t>
            </a:r>
            <a:r>
              <a:rPr lang="en-US" altLang="nl-NL" i="1" dirty="0"/>
              <a:t>parametric</a:t>
            </a:r>
            <a:r>
              <a:rPr lang="en-US" altLang="nl-NL" dirty="0"/>
              <a:t> vs. </a:t>
            </a:r>
            <a:r>
              <a:rPr lang="en-US" altLang="nl-NL" i="1" dirty="0"/>
              <a:t>non-parametric</a:t>
            </a:r>
            <a:r>
              <a:rPr lang="en-US" alt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4333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– Statistical Approaches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4938542"/>
          </a:xfrm>
        </p:spPr>
        <p:txBody>
          <a:bodyPr>
            <a:noAutofit/>
          </a:bodyPr>
          <a:lstStyle/>
          <a:p>
            <a:r>
              <a:rPr lang="en-US" altLang="nl-NL" dirty="0"/>
              <a:t>Parametric method</a:t>
            </a:r>
          </a:p>
          <a:p>
            <a:pPr lvl="1"/>
            <a:r>
              <a:rPr lang="en-US" altLang="nl-NL" dirty="0"/>
              <a:t>Assumes that the normal data is generated by a distribution with parameter </a:t>
            </a:r>
            <a:r>
              <a:rPr lang="el-GR" altLang="nl-NL" dirty="0"/>
              <a:t>θ</a:t>
            </a:r>
            <a:endParaRPr lang="en-US" altLang="nl-NL" dirty="0"/>
          </a:p>
          <a:p>
            <a:pPr lvl="1"/>
            <a:r>
              <a:rPr lang="en-US" altLang="nl-NL" dirty="0"/>
              <a:t>The probability density function of the distribution </a:t>
            </a:r>
            <a:r>
              <a:rPr lang="en-US" altLang="nl-NL" i="1" dirty="0"/>
              <a:t>f</a:t>
            </a:r>
            <a:r>
              <a:rPr lang="en-US" altLang="nl-NL" dirty="0"/>
              <a:t>(</a:t>
            </a:r>
            <a:r>
              <a:rPr lang="en-US" altLang="nl-NL" i="1" dirty="0"/>
              <a:t>x, </a:t>
            </a:r>
            <a:r>
              <a:rPr lang="el-GR" altLang="nl-NL" i="1" dirty="0"/>
              <a:t>θ</a:t>
            </a:r>
            <a:r>
              <a:rPr lang="en-US" altLang="nl-NL" dirty="0"/>
              <a:t>) gives the probability that object </a:t>
            </a:r>
            <a:r>
              <a:rPr lang="en-US" altLang="nl-NL" i="1" dirty="0"/>
              <a:t>x</a:t>
            </a:r>
            <a:r>
              <a:rPr lang="en-US" altLang="nl-NL" dirty="0"/>
              <a:t> is generated by the distribution</a:t>
            </a:r>
          </a:p>
          <a:p>
            <a:pPr lvl="1"/>
            <a:r>
              <a:rPr lang="en-US" altLang="nl-NL" dirty="0"/>
              <a:t>The smaller this value, the more likely x is an outlier</a:t>
            </a:r>
          </a:p>
          <a:p>
            <a:r>
              <a:rPr lang="en-US" altLang="nl-NL" dirty="0"/>
              <a:t>Non-parametric method</a:t>
            </a:r>
          </a:p>
          <a:p>
            <a:pPr lvl="1"/>
            <a:r>
              <a:rPr lang="en-US" altLang="nl-NL" dirty="0"/>
              <a:t>No assumptions on a-priori statistical model and determine the model from the input data</a:t>
            </a:r>
          </a:p>
          <a:p>
            <a:pPr lvl="1"/>
            <a:r>
              <a:rPr lang="en-US" altLang="nl-NL" dirty="0"/>
              <a:t>Not completely parameter free but consider the number and nature of the parameters are flexible and not fixed in advance</a:t>
            </a:r>
          </a:p>
          <a:p>
            <a:pPr lvl="1"/>
            <a:r>
              <a:rPr lang="en-US" altLang="nl-NL" dirty="0"/>
              <a:t>Examples: histogram and kernel density estimation</a:t>
            </a:r>
          </a:p>
        </p:txBody>
      </p:sp>
    </p:spTree>
    <p:extLst>
      <p:ext uri="{BB962C8B-B14F-4D97-AF65-F5344CB8AC3E}">
        <p14:creationId xmlns:p14="http://schemas.microsoft.com/office/powerpoint/2010/main" val="301022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– Statistical Approaches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024" y="1379622"/>
                <a:ext cx="10515600" cy="493854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nl-NL" dirty="0"/>
                  <a:t>Ex: Avg. temp.: {24.0, 28.9, 28.9, 29.0, 29.0, 29.1, 29.1, 29.2, 29.2, 29.3, 29.4, 29.5}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nl-NL" dirty="0">
                    <a:latin typeface="Arial" panose="020B0604020202020204" pitchFamily="34" charset="0"/>
                  </a:rPr>
                  <a:t>We derive the following maximum likelihood estimates</a:t>
                </a:r>
              </a:p>
              <a:p>
                <a:pPr marL="457200" lvl="1" indent="91440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nl-NL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nl-NL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altLang="nl-NL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nl-NL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nl-NL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nl-NL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nl-NL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nl-NL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</m:t>
                      </m:r>
                      <m:sSup>
                        <m:sSupPr>
                          <m:ctrlPr>
                            <a:rPr lang="en-US" altLang="nl-NL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nl-NL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nl-NL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nl-NL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nl-NL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nl-NL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nl-NL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nl-NL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nl-NL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nl-NL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nl-NL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nl-NL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nl-NL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nl-NL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nl-NL" sz="2200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nl-NL" dirty="0">
                    <a:latin typeface="Arial" panose="020B0604020202020204" pitchFamily="34" charset="0"/>
                  </a:rPr>
                  <a:t>For the above data with </a:t>
                </a:r>
                <a14:m>
                  <m:oMath xmlns:m="http://schemas.openxmlformats.org/officeDocument/2006/math"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nl-NL" dirty="0"/>
                      <m:t>=</m:t>
                    </m:r>
                    <m:r>
                      <m:rPr>
                        <m:nor/>
                      </m:rPr>
                      <a:rPr lang="en-US" altLang="nl-NL" b="0" i="0" dirty="0" smtClean="0"/>
                      <m:t> 10</m:t>
                    </m:r>
                  </m:oMath>
                </a14:m>
                <a:r>
                  <a:rPr lang="en-US" altLang="nl-NL" dirty="0">
                    <a:latin typeface="Arial" panose="020B0604020202020204" pitchFamily="34" charset="0"/>
                  </a:rPr>
                  <a:t>, we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=28.61</m:t>
                    </m:r>
                  </m:oMath>
                </a14:m>
                <a:r>
                  <a:rPr lang="en-US" altLang="nl-NL" sz="2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nl-N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nl-NL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nl-NL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nl-N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nl-NL" dirty="0"/>
                          <m:t>.2</m:t>
                        </m:r>
                        <m:r>
                          <m:rPr>
                            <m:nor/>
                          </m:rPr>
                          <a:rPr lang="en-US" altLang="nl-NL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altLang="nl-NL" dirty="0"/>
                          <m:t> </m:t>
                        </m:r>
                      </m:e>
                    </m:rad>
                    <m:r>
                      <m:rPr>
                        <m:nor/>
                      </m:rPr>
                      <a:rPr lang="en-US" altLang="nl-NL" dirty="0"/>
                      <m:t>= 1.</m:t>
                    </m:r>
                    <m:r>
                      <m:rPr>
                        <m:nor/>
                      </m:rPr>
                      <a:rPr lang="en-US" altLang="nl-NL" b="0" i="0" dirty="0" smtClean="0"/>
                      <m:t>497</m:t>
                    </m:r>
                  </m:oMath>
                </a14:m>
                <a:r>
                  <a:rPr lang="en-US" altLang="nl-NL" dirty="0">
                    <a:latin typeface="Arial" panose="020B060402020202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nl-NL" dirty="0">
                        <a:latin typeface="Arial" panose="020B0604020202020204" pitchFamily="34" charset="0"/>
                      </a:rPr>
                      <m:t>(24 – 28.61) /1.</m:t>
                    </m:r>
                    <m:r>
                      <m:rPr>
                        <m:nor/>
                      </m:rPr>
                      <a:rPr lang="en-US" altLang="nl-NL" b="0" i="0" dirty="0" smtClean="0">
                        <a:latin typeface="Arial" panose="020B0604020202020204" pitchFamily="34" charset="0"/>
                      </a:rPr>
                      <m:t>497</m:t>
                    </m:r>
                    <m:r>
                      <m:rPr>
                        <m:nor/>
                      </m:rPr>
                      <a:rPr lang="en-US" altLang="nl-NL" dirty="0">
                        <a:latin typeface="Arial" panose="020B0604020202020204" pitchFamily="34" charset="0"/>
                      </a:rPr>
                      <m:t> = – 3.</m:t>
                    </m:r>
                    <m:r>
                      <m:rPr>
                        <m:nor/>
                      </m:rPr>
                      <a:rPr lang="en-US" altLang="nl-NL" b="0" i="0" dirty="0" smtClean="0">
                        <a:latin typeface="Arial" panose="020B0604020202020204" pitchFamily="34" charset="0"/>
                      </a:rPr>
                      <m:t>15</m:t>
                    </m:r>
                    <m:r>
                      <m:rPr>
                        <m:nor/>
                      </m:rPr>
                      <a:rPr lang="en-US" altLang="nl-NL" dirty="0">
                        <a:latin typeface="Arial" panose="020B0604020202020204" pitchFamily="34" charset="0"/>
                      </a:rPr>
                      <m:t> &lt; –3</m:t>
                    </m:r>
                  </m:oMath>
                </a14:m>
                <a:r>
                  <a:rPr lang="en-US" altLang="nl-NL" dirty="0">
                    <a:latin typeface="Arial" panose="020B0604020202020204" pitchFamily="34" charset="0"/>
                  </a:rPr>
                  <a:t>, 24 is an outlier since </a:t>
                </a:r>
                <a:r>
                  <a:rPr lang="en-US" altLang="nl-NL" dirty="0"/>
                  <a:t>for Normal distribution,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nl-NL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nl-NL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nl-NL" dirty="0"/>
                  <a:t> region contains 99.7% of the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024" y="1379622"/>
                <a:ext cx="10515600" cy="4938542"/>
              </a:xfrm>
              <a:blipFill>
                <a:blip r:embed="rId2"/>
                <a:stretch>
                  <a:fillRect l="-1086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008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– Statistical Approaches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24" y="1379622"/>
            <a:ext cx="10515600" cy="22652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/>
              <a:t>Assuming data generated by a normal distribution could be sometimes overly simplified</a:t>
            </a:r>
          </a:p>
          <a:p>
            <a:pPr>
              <a:lnSpc>
                <a:spcPct val="100000"/>
              </a:lnSpc>
            </a:pPr>
            <a:r>
              <a:rPr lang="en-US" altLang="nl-NL" dirty="0"/>
              <a:t>Example (data in the figure): The objects between the two clusters cannot be captured as outliers since they are close to the estimated mean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C7318A8-5923-46A1-8708-D5BF2AE5FD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1" t="8956" r="4674" b="22843"/>
          <a:stretch/>
        </p:blipFill>
        <p:spPr>
          <a:xfrm>
            <a:off x="6748443" y="4102100"/>
            <a:ext cx="4695005" cy="2390774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759A7E-B026-4A89-A9F6-63BBC93C445D}"/>
              </a:ext>
            </a:extLst>
          </p:cNvPr>
          <p:cNvSpPr txBox="1">
            <a:spLocks/>
          </p:cNvSpPr>
          <p:nvPr/>
        </p:nvSpPr>
        <p:spPr>
          <a:xfrm>
            <a:off x="883024" y="3787140"/>
            <a:ext cx="5675667" cy="22652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nl-NL" dirty="0">
                <a:latin typeface="Arial" panose="020B0604020202020204" pitchFamily="34" charset="0"/>
              </a:rPr>
              <a:t>To overcome this problem, assume the normal data is generated by mixture </a:t>
            </a:r>
            <a:r>
              <a:rPr lang="en-US" altLang="nl-NL">
                <a:latin typeface="Arial" panose="020B0604020202020204" pitchFamily="34" charset="0"/>
              </a:rPr>
              <a:t>of Normal </a:t>
            </a:r>
            <a:r>
              <a:rPr lang="en-US" altLang="nl-NL" dirty="0">
                <a:latin typeface="Arial" panose="020B0604020202020204" pitchFamily="34" charset="0"/>
              </a:rPr>
              <a:t>distributions. 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5855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Transformation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29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 function that maps the entire set of values of a given attribute to a new set of replacement values </a:t>
            </a:r>
            <a:r>
              <a:rPr lang="en-US" altLang="nl-NL" dirty="0" err="1">
                <a:cs typeface="Times New Roman" panose="02020603050405020304" pitchFamily="18" charset="0"/>
              </a:rPr>
              <a:t>s.t.</a:t>
            </a:r>
            <a:r>
              <a:rPr lang="en-US" altLang="nl-NL" dirty="0">
                <a:cs typeface="Times New Roman" panose="02020603050405020304" pitchFamily="18" charset="0"/>
              </a:rPr>
              <a:t> each old value can be identified with one of the new values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Methods</a:t>
            </a:r>
            <a:r>
              <a:rPr lang="en-NL" altLang="nl-NL" dirty="0">
                <a:cs typeface="Times New Roman" panose="02020603050405020304" pitchFamily="18" charset="0"/>
              </a:rPr>
              <a:t> 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 data trans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m</a:t>
            </a:r>
            <a:r>
              <a:rPr lang="nl-NL" altLang="nl-NL" dirty="0">
                <a:cs typeface="Times New Roman" panose="02020603050405020304" pitchFamily="18" charset="0"/>
              </a:rPr>
              <a:t>a</a:t>
            </a:r>
            <a:r>
              <a:rPr lang="en-NL" altLang="nl-NL" dirty="0">
                <a:cs typeface="Times New Roman" panose="02020603050405020304" pitchFamily="18" charset="0"/>
              </a:rPr>
              <a:t>t</a:t>
            </a:r>
            <a:r>
              <a:rPr lang="nl-NL" altLang="nl-NL" dirty="0">
                <a:cs typeface="Times New Roman" panose="02020603050405020304" pitchFamily="18" charset="0"/>
              </a:rPr>
              <a:t>i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n</a:t>
            </a:r>
            <a:endParaRPr lang="en-US" altLang="nl-NL" dirty="0"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Smoothing: Remove noise from data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Attribute/feature construction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New attributes constructed from the given ones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Aggregation: Summarization, data cube construction</a:t>
            </a:r>
          </a:p>
        </p:txBody>
      </p:sp>
    </p:spTree>
    <p:extLst>
      <p:ext uri="{BB962C8B-B14F-4D97-AF65-F5344CB8AC3E}">
        <p14:creationId xmlns:p14="http://schemas.microsoft.com/office/powerpoint/2010/main" val="3163506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Methods</a:t>
            </a:r>
            <a:r>
              <a:rPr lang="en-NL" altLang="nl-NL" dirty="0">
                <a:cs typeface="Times New Roman" panose="02020603050405020304" pitchFamily="18" charset="0"/>
              </a:rPr>
              <a:t> 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 data trans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m</a:t>
            </a:r>
            <a:r>
              <a:rPr lang="nl-NL" altLang="nl-NL" dirty="0">
                <a:cs typeface="Times New Roman" panose="02020603050405020304" pitchFamily="18" charset="0"/>
              </a:rPr>
              <a:t>a</a:t>
            </a:r>
            <a:r>
              <a:rPr lang="en-NL" altLang="nl-NL" dirty="0">
                <a:cs typeface="Times New Roman" panose="02020603050405020304" pitchFamily="18" charset="0"/>
              </a:rPr>
              <a:t>t</a:t>
            </a:r>
            <a:r>
              <a:rPr lang="nl-NL" altLang="nl-NL" dirty="0">
                <a:cs typeface="Times New Roman" panose="02020603050405020304" pitchFamily="18" charset="0"/>
              </a:rPr>
              <a:t>i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n</a:t>
            </a:r>
            <a:endParaRPr lang="en-US" altLang="nl-NL" dirty="0"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Normalization (standardization): Scaling the data to fall within a specified range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Min-max normalization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Z-score normalization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Normalization by decimal scaling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Data reformatting: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E.g. Jack </a:t>
            </a:r>
            <a:r>
              <a:rPr lang="en-US" altLang="nl-NL" sz="2200" dirty="0" err="1">
                <a:cs typeface="Times New Roman" panose="02020603050405020304" pitchFamily="18" charset="0"/>
              </a:rPr>
              <a:t>Wilsher</a:t>
            </a:r>
            <a:r>
              <a:rPr lang="en-US" altLang="nl-NL" sz="2200" dirty="0">
                <a:cs typeface="Times New Roman" panose="02020603050405020304" pitchFamily="18" charset="0"/>
              </a:rPr>
              <a:t> </a:t>
            </a: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nl-NL" sz="2200" dirty="0" err="1">
                <a:cs typeface="Times New Roman" panose="02020603050405020304" pitchFamily="18" charset="0"/>
                <a:sym typeface="Wingdings" panose="05000000000000000000" pitchFamily="2" charset="2"/>
              </a:rPr>
              <a:t>Wilsher</a:t>
            </a: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, J.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  <a:sym typeface="Wingdings" panose="05000000000000000000" pitchFamily="2" charset="2"/>
              </a:rPr>
              <a:t>Use the same unit: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Records in inches and cm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Records with prices in Euros and Dollars</a:t>
            </a:r>
            <a:endParaRPr lang="en-US" altLang="nl-NL" sz="2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138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(Standardization)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651" y="2565779"/>
            <a:ext cx="10003809" cy="2593076"/>
          </a:xfrm>
        </p:spPr>
        <p:txBody>
          <a:bodyPr>
            <a:noAutofit/>
          </a:bodyPr>
          <a:lstStyle/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nl-NL" sz="3200" dirty="0">
                <a:cs typeface="Times New Roman" panose="02020603050405020304" pitchFamily="18" charset="0"/>
              </a:rPr>
              <a:t>The goal of standardization or normalization is to make an entire set of values have a particular property.</a:t>
            </a:r>
          </a:p>
        </p:txBody>
      </p:sp>
    </p:spTree>
    <p:extLst>
      <p:ext uri="{BB962C8B-B14F-4D97-AF65-F5344CB8AC3E}">
        <p14:creationId xmlns:p14="http://schemas.microsoft.com/office/powerpoint/2010/main" val="465984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Min-Max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from a given range with </a:t>
                </a:r>
                <a14:m>
                  <m:oMath xmlns:m="http://schemas.openxmlformats.org/officeDocument/2006/math">
                    <m:r>
                      <a:rPr lang="en-US" altLang="nl-NL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to a new interval </a:t>
                </a:r>
                <a14:m>
                  <m:oMath xmlns:m="http://schemas.openxmlformats.org/officeDocument/2006/math">
                    <m:r>
                      <a:rPr lang="en-US" altLang="nl-NL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for a given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𝑛𝑒𝑤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𝑛𝑒𝑤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0" indent="22542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the current value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</a:t>
                </a:r>
                <a:endParaRPr lang="en-US" altLang="nl-NL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7036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Min-Max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minimum and the maximum in the attribute income are €12,000 and €98,000, respectively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We would like to map the income into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nl-NL" b="0" dirty="0"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Using min-max normalization, a value of €73,600 for income is transformed into: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nl-NL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73,600−12,000</m:t>
                          </m:r>
                        </m:num>
                        <m:den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98,000−12,000</m:t>
                          </m:r>
                        </m:den>
                      </m:f>
                      <m:d>
                        <m:d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1.0−0.0</m:t>
                          </m:r>
                        </m:e>
                      </m:d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+0.0=0.716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r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495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Z-Score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by converting the values to a common scale with an average of zero and a standard deviation of one. 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A value,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,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normalized to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by computing: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290513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are the mean and standard deviation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, respectively.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r="-585"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238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Z-Score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mean and standard deviation of the values for the feature income are 54,000 and 16,000, respectively. With z-score normalization, a value of €73,600 for income is transformed to: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73,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00−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,000</m:t>
                          </m:r>
                        </m:num>
                        <m:den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,000</m:t>
                          </m:r>
                        </m:den>
                      </m:f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225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9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by moving the decimal points of values of attribute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number of decimal points moved depends on the maximum absolute value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A value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normalized to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by computing: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sSup>
                          <m:sSup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den>
                    </m:f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0" indent="225425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the smallest integer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nl-NL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nl-NL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  <a:blipFill>
                <a:blip r:embed="rId2"/>
                <a:stretch>
                  <a:fillRect l="-992" t="-1907" r="-132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47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recorded values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range from −986 to 917.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maximum absolute value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986.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To normalize by decimal scaling, we divide each value by 1,000 (i.e.,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) so that −986 normalizes to −0.986 and 917 normalizes to 0.917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  <a:blipFill>
                <a:blip r:embed="rId2"/>
                <a:stretch>
                  <a:fillRect l="-992" t="-1907" r="-60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7888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Integration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5948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sz="3000" dirty="0">
                <a:cs typeface="Times New Roman" panose="02020603050405020304" pitchFamily="18" charset="0"/>
              </a:rPr>
              <a:t>Combines data from multiple sources into a coherent store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Schema integration: e.g., </a:t>
            </a:r>
            <a:r>
              <a:rPr lang="en-US" altLang="nl-NL" dirty="0" err="1">
                <a:cs typeface="Times New Roman" panose="02020603050405020304" pitchFamily="18" charset="0"/>
              </a:rPr>
              <a:t>A.cust</a:t>
            </a:r>
            <a:r>
              <a:rPr lang="en-US" altLang="nl-NL" dirty="0">
                <a:cs typeface="Times New Roman" panose="02020603050405020304" pitchFamily="18" charset="0"/>
              </a:rPr>
              <a:t>-id </a:t>
            </a:r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 </a:t>
            </a:r>
            <a:r>
              <a:rPr lang="en-US" altLang="nl-NL" dirty="0" err="1">
                <a:cs typeface="Times New Roman" panose="02020603050405020304" pitchFamily="18" charset="0"/>
                <a:sym typeface="Symbol" panose="05050102010706020507" pitchFamily="18" charset="2"/>
              </a:rPr>
              <a:t>B.</a:t>
            </a:r>
            <a:r>
              <a:rPr lang="en-US" altLang="nl-NL" dirty="0" err="1">
                <a:cs typeface="Times New Roman" panose="02020603050405020304" pitchFamily="18" charset="0"/>
              </a:rPr>
              <a:t>cust</a:t>
            </a:r>
            <a:r>
              <a:rPr lang="en-US" altLang="nl-NL" dirty="0">
                <a:cs typeface="Times New Roman" panose="02020603050405020304" pitchFamily="18" charset="0"/>
              </a:rPr>
              <a:t>-No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Integrate metadata from different sources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Entity identification problem: 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Identify real world entities from multiple data sources, e.g., Bill Clinton = William Clinton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Detecting and resolving data value conflicts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For the same real-world entity, attribute values from different sources are different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Possible reasons: different representations, different scales, e.g., metric vs. British units</a:t>
            </a:r>
          </a:p>
        </p:txBody>
      </p:sp>
    </p:spTree>
    <p:extLst>
      <p:ext uri="{BB962C8B-B14F-4D97-AF65-F5344CB8AC3E}">
        <p14:creationId xmlns:p14="http://schemas.microsoft.com/office/powerpoint/2010/main" val="10013549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nl-NL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Handling data redundancy is an important task of the data integration 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Duplicate records can be identified by applying entity resolution techniques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Redundant attributes can be detected by correlation and covariance analysis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Careful integration of the data from multiple sources may help reduce/avoid redundancies and inconsistencies and improve mining quality</a:t>
            </a:r>
          </a:p>
        </p:txBody>
      </p:sp>
    </p:spTree>
    <p:extLst>
      <p:ext uri="{BB962C8B-B14F-4D97-AF65-F5344CB8AC3E}">
        <p14:creationId xmlns:p14="http://schemas.microsoft.com/office/powerpoint/2010/main" val="10622522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i="1" dirty="0"/>
              <a:t>Problem of identifying and linking/grouping  different representations of the same real-world object. </a:t>
            </a:r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dirty="0"/>
              <a:t>Examples: </a:t>
            </a:r>
          </a:p>
          <a:p>
            <a:r>
              <a:rPr lang="en-US" dirty="0"/>
              <a:t>Different ways of addressing (names, email addresses, </a:t>
            </a:r>
            <a:r>
              <a:rPr lang="en-US" dirty="0" err="1"/>
              <a:t>FaceBook</a:t>
            </a:r>
            <a:r>
              <a:rPr lang="en-US" dirty="0"/>
              <a:t> accounts) the same person in text.</a:t>
            </a:r>
          </a:p>
          <a:p>
            <a:r>
              <a:rPr lang="en-US" dirty="0"/>
              <a:t>Web pages with differing descriptions of the same business.</a:t>
            </a:r>
          </a:p>
          <a:p>
            <a:r>
              <a:rPr lang="en-US" dirty="0"/>
              <a:t>Different photos of the same object.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404770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Ironically, Entity Resolution has many duplicate names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6C8E394F-C78A-B946-BAE1-4A629DDD3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85" y="5341263"/>
            <a:ext cx="1095913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Doubles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EEC68BD-16A6-5545-91F5-657ABE2A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845" y="1379622"/>
            <a:ext cx="2286625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Duplicate detection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CDC9220-8245-014E-872C-5D45ACD48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5842" y="1394148"/>
            <a:ext cx="177518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Record linkage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801582CA-DAB5-9848-972E-92AE260B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3429000"/>
            <a:ext cx="1703945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Deduplication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8B5CD394-F852-0846-95EA-C079C5352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11" y="2986326"/>
            <a:ext cx="238457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Object identification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B33821ED-1ED8-084B-A45B-23DE692FE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667000"/>
            <a:ext cx="2403352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Object consolidation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1F050976-0BC1-DC48-9D57-CE5C11AE7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657600"/>
            <a:ext cx="1936236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Entity clustering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E1DD8E1-79A2-5F45-A821-FCC9FC288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1" y="1905000"/>
            <a:ext cx="2783831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Reference reconciliation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05478F2D-6800-4743-A993-AC2E0FBA3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1" y="5562600"/>
            <a:ext cx="2318477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Reference matching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42155A08-767C-3D49-BDEB-517E5ADF6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648200"/>
            <a:ext cx="2396360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Household matching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834CDDAB-B846-0946-BBF3-2509EC35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504" y="2590800"/>
            <a:ext cx="1514007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Fuzzy match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B200991C-BCD3-8B49-A53A-D4965679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886200"/>
            <a:ext cx="2307990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Approximate match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21" name="AutoShape 19">
            <a:extLst>
              <a:ext uri="{FF2B5EF4-FFF2-40B4-BE49-F238E27FC236}">
                <a16:creationId xmlns:a16="http://schemas.microsoft.com/office/drawing/2014/main" id="{40809055-4353-E54B-94E7-4E7F3FA9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357" y="5257800"/>
            <a:ext cx="2916872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Hardening soft databases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C426D4B-A969-4D4B-BC8A-CB02269C9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343400"/>
            <a:ext cx="232203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Identity uncertainty</a:t>
            </a:r>
            <a:endParaRPr lang="de-DE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014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Schema Normalization </a:t>
            </a:r>
          </a:p>
          <a:p>
            <a:pPr lvl="1"/>
            <a:r>
              <a:rPr lang="en-US" dirty="0"/>
              <a:t>Schema matching: e.g., Contact No. vs. Phone</a:t>
            </a:r>
          </a:p>
          <a:p>
            <a:pPr lvl="1"/>
            <a:r>
              <a:rPr lang="en-US" dirty="0"/>
              <a:t>Compound attributes: e.g., address vs. (street, city, zip)</a:t>
            </a:r>
          </a:p>
          <a:p>
            <a:r>
              <a:rPr lang="en-US" dirty="0"/>
              <a:t>Data Normalization</a:t>
            </a:r>
          </a:p>
          <a:p>
            <a:pPr lvl="1"/>
            <a:r>
              <a:rPr lang="en-US" dirty="0"/>
              <a:t>Capitalization, white-space normalization</a:t>
            </a:r>
          </a:p>
          <a:p>
            <a:pPr lvl="1"/>
            <a:r>
              <a:rPr lang="en-US" dirty="0"/>
              <a:t>Correcting typos, replacing abbreviations, variations, nick names</a:t>
            </a:r>
          </a:p>
          <a:p>
            <a:pPr lvl="2"/>
            <a:r>
              <a:rPr lang="en-US" dirty="0"/>
              <a:t>Usually done by employing dictionaries</a:t>
            </a:r>
          </a:p>
        </p:txBody>
      </p:sp>
    </p:spTree>
    <p:extLst>
      <p:ext uri="{BB962C8B-B14F-4D97-AF65-F5344CB8AC3E}">
        <p14:creationId xmlns:p14="http://schemas.microsoft.com/office/powerpoint/2010/main" val="4167598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Matching Features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Given two records, compute a vector of similarity scores for corresponding features</a:t>
            </a:r>
          </a:p>
          <a:p>
            <a:r>
              <a:rPr lang="en-US" dirty="0"/>
              <a:t>E.g., to match two bibliographical references, compute:</a:t>
            </a:r>
          </a:p>
          <a:p>
            <a:pPr lvl="1"/>
            <a:r>
              <a:rPr lang="en-US" dirty="0"/>
              <a:t>First author match score</a:t>
            </a:r>
          </a:p>
          <a:p>
            <a:pPr lvl="1"/>
            <a:r>
              <a:rPr lang="en-US" dirty="0"/>
              <a:t>Title match score</a:t>
            </a:r>
          </a:p>
          <a:p>
            <a:pPr lvl="1"/>
            <a:r>
              <a:rPr lang="en-US" dirty="0"/>
              <a:t>Venue match score</a:t>
            </a:r>
          </a:p>
          <a:p>
            <a:pPr lvl="1"/>
            <a:r>
              <a:rPr lang="en-US" dirty="0"/>
              <a:t>Year match score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Score can be Boolean (match/mismatch) or a continuous value based on specific similarity measure (distance function).</a:t>
            </a:r>
          </a:p>
        </p:txBody>
      </p:sp>
    </p:spTree>
    <p:extLst>
      <p:ext uri="{BB962C8B-B14F-4D97-AF65-F5344CB8AC3E}">
        <p14:creationId xmlns:p14="http://schemas.microsoft.com/office/powerpoint/2010/main" val="14041344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Similarity Measures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Atomic similarity measures</a:t>
            </a:r>
          </a:p>
          <a:p>
            <a:pPr lvl="1"/>
            <a:r>
              <a:rPr lang="en-US" dirty="0"/>
              <a:t>Difference between numerical values</a:t>
            </a:r>
          </a:p>
          <a:p>
            <a:pPr lvl="1"/>
            <a:r>
              <a:rPr lang="en-US" dirty="0" err="1"/>
              <a:t>Jaro</a:t>
            </a:r>
            <a:r>
              <a:rPr lang="en-US" dirty="0"/>
              <a:t> for comparing names</a:t>
            </a:r>
          </a:p>
          <a:p>
            <a:pPr lvl="1"/>
            <a:r>
              <a:rPr lang="en-US" dirty="0"/>
              <a:t>Edit distance for typos </a:t>
            </a:r>
          </a:p>
          <a:p>
            <a:pPr lvl="1"/>
            <a:r>
              <a:rPr lang="en-US" dirty="0"/>
              <a:t>Phonetic-based </a:t>
            </a:r>
          </a:p>
          <a:p>
            <a:pPr lvl="2"/>
            <a:r>
              <a:rPr lang="en-US" dirty="0"/>
              <a:t>Soundex</a:t>
            </a:r>
          </a:p>
          <a:p>
            <a:r>
              <a:rPr lang="en-US" dirty="0"/>
              <a:t>Set similarity</a:t>
            </a:r>
          </a:p>
          <a:p>
            <a:pPr lvl="1"/>
            <a:r>
              <a:rPr lang="en-US" dirty="0"/>
              <a:t>Jaccard similarity</a:t>
            </a:r>
          </a:p>
          <a:p>
            <a:r>
              <a:rPr lang="en-US" dirty="0"/>
              <a:t>Vector-based</a:t>
            </a:r>
          </a:p>
          <a:p>
            <a:pPr lvl="1"/>
            <a:r>
              <a:rPr lang="en-US" dirty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4728499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Issues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Similarity measures has different scales</a:t>
                </a:r>
              </a:p>
              <a:p>
                <a:pPr lvl="1"/>
                <a:r>
                  <a:rPr lang="en-US" dirty="0"/>
                  <a:t>How to combine the different values to compare the tuples</a:t>
                </a:r>
              </a:p>
              <a:p>
                <a:r>
                  <a:rPr lang="en-US" dirty="0"/>
                  <a:t>Pairwise similarity between records is expensive</a:t>
                </a:r>
              </a:p>
              <a:p>
                <a:pPr lvl="1"/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Blocking to reduce the quadratic time complexity </a:t>
                </a:r>
              </a:p>
              <a:p>
                <a:pPr lvl="1"/>
                <a:r>
                  <a:rPr lang="en-US" dirty="0"/>
                  <a:t>Divide the records into blocks </a:t>
                </a:r>
              </a:p>
              <a:p>
                <a:pPr lvl="1"/>
                <a:r>
                  <a:rPr lang="en-US" dirty="0"/>
                  <a:t>Perform pairwise comparison between records within the same block only</a:t>
                </a:r>
              </a:p>
              <a:p>
                <a:pPr lvl="1"/>
                <a:r>
                  <a:rPr lang="en-US" dirty="0" err="1"/>
                  <a:t>When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𝑏𝑙𝑜𝑐𝑘𝑠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block size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, the time complexity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3907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Reduction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4311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altLang="nl-NL" b="1" dirty="0">
                <a:cs typeface="Times New Roman" panose="02020603050405020304" pitchFamily="18" charset="0"/>
              </a:rPr>
              <a:t>Data reduction</a:t>
            </a:r>
            <a:r>
              <a:rPr lang="en-US" altLang="nl-NL" dirty="0">
                <a:cs typeface="Times New Roman" panose="02020603050405020304" pitchFamily="18" charset="0"/>
              </a:rPr>
              <a:t>: obtain a reduced representation of the dataset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Much smaller in volume but yet produces the same (or almost the same) analytical results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Why data reduction?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A dataset could be extremely large – Complex data analysis may take a very long time to run on the complete dataset.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Data reduction strategies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Dimensionality reduction, e.g., remove unimportant attributes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Principal Components Analysis (PCA)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Singular Value Decomposition (SVD)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Feature subset selection, feature creation</a:t>
            </a:r>
          </a:p>
        </p:txBody>
      </p:sp>
    </p:spTree>
    <p:extLst>
      <p:ext uri="{BB962C8B-B14F-4D97-AF65-F5344CB8AC3E}">
        <p14:creationId xmlns:p14="http://schemas.microsoft.com/office/powerpoint/2010/main" val="21713321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Curse of dimensionality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When dimensionality increases, data becomes increasingly sparse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Density and distance between points, which is critical to clustering, outlier analysis, becomes less meaningful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possible combinations of subspaces will grow exponentially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Dimensionality reduction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Avoid the curse of dimensionality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Help eliminate irrelevant features and reduce noise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Reduce time and space required in data mining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Allow easier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020982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6839813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Find a projection that captures the largest amount of variation in data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original data are projected onto a much smaller space, resulting in dimensionality reduction. 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We find the eigenvectors of the covariance matrix, and these eigenvectors define the new space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1C1D07D-7486-454C-9A0E-97CB5B03D6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8613" y="2151185"/>
          <a:ext cx="4793387" cy="359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333701" imgH="4000420" progId="AcroExch.Document.DC">
                  <p:embed/>
                </p:oleObj>
              </mc:Choice>
              <mc:Fallback>
                <p:oleObj name="Acrobat Document" r:id="rId2" imgW="5333701" imgH="4000420" progId="AcroExch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1C1D07D-7486-454C-9A0E-97CB5B03D6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8613" y="2151185"/>
                        <a:ext cx="4793387" cy="3595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68578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C506008-853B-4F70-BC4E-22E85C06E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55" y="1554321"/>
            <a:ext cx="5095545" cy="3144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for Dimensionality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237382"/>
                <a:ext cx="10668000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nl-NL" sz="2600" dirty="0">
                    <a:cs typeface="Times New Roman" panose="02020603050405020304" pitchFamily="18" charset="0"/>
                  </a:rPr>
                  <a:t>Can ignore the components of lesser significance.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nl-NL" sz="2400" dirty="0">
                  <a:cs typeface="Times New Roman" panose="02020603050405020304" pitchFamily="18" charset="0"/>
                </a:endParaRPr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400" dirty="0"/>
              </a:p>
              <a:p>
                <a:r>
                  <a:rPr lang="en-US" altLang="nl-NL" sz="2600" dirty="0"/>
                  <a:t>You </a:t>
                </a:r>
                <a:r>
                  <a:rPr lang="en-US" altLang="nl-NL" sz="2600" dirty="0">
                    <a:solidFill>
                      <a:srgbClr val="0066FF"/>
                    </a:solidFill>
                  </a:rPr>
                  <a:t>lose some information</a:t>
                </a:r>
                <a:r>
                  <a:rPr lang="en-US" altLang="nl-NL" sz="2600" dirty="0"/>
                  <a:t>, but if the eigenvalues are small, it is not much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nl-NL" sz="2200" dirty="0"/>
                  <a:t> dimensions in original data </a:t>
                </a:r>
              </a:p>
              <a:p>
                <a:pPr lvl="1"/>
                <a:r>
                  <a:rPr lang="en-US" altLang="nl-NL" sz="2200" dirty="0"/>
                  <a:t>calculate</a:t>
                </a:r>
                <a:r>
                  <a:rPr lang="en-US" altLang="nl-NL" sz="22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nl-NL" sz="2200" dirty="0"/>
                  <a:t> eigenvectors and eigenvalues</a:t>
                </a:r>
              </a:p>
              <a:p>
                <a:pPr lvl="1"/>
                <a:r>
                  <a:rPr lang="en-US" altLang="nl-NL" sz="2200" dirty="0"/>
                  <a:t>choose only the first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nl-NL" sz="2200" dirty="0"/>
                  <a:t> eigenvectors, based on their eigenvalues (eigenvectors with eigenvalues greater than 1 are considered important)</a:t>
                </a:r>
              </a:p>
              <a:p>
                <a:pPr lvl="1"/>
                <a:r>
                  <a:rPr lang="en-US" altLang="nl-NL" sz="2200" dirty="0"/>
                  <a:t>final data set has only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nl-NL" sz="2200" dirty="0"/>
                  <a:t> dimensions</a:t>
                </a:r>
                <a:endParaRPr lang="en-US" altLang="nl-NL" sz="22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237382"/>
                <a:ext cx="10668000" cy="5113252"/>
              </a:xfrm>
              <a:blipFill>
                <a:blip r:embed="rId3"/>
                <a:stretch>
                  <a:fillRect l="-914" t="-954" b="-333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2290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Subset Selection for Data Reduction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Another way to reduce dimensionality of data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Redundant attributes 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Duplicate much or all of the information contained in one or more other attributes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E.g., purchase price of a product and the amount of sales tax paid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Irrelevant attributes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Contain no information that is useful for the data mining task at hand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E.g., students' ID is often irrelevant to the task of predicting students' GPA</a:t>
            </a:r>
          </a:p>
        </p:txBody>
      </p:sp>
    </p:spTree>
    <p:extLst>
      <p:ext uri="{BB962C8B-B14F-4D97-AF65-F5344CB8AC3E}">
        <p14:creationId xmlns:p14="http://schemas.microsoft.com/office/powerpoint/2010/main" val="42563558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Linear regression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Data modeled to fit a straight line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Often uses the least-square method to fit the line</a:t>
            </a:r>
          </a:p>
          <a:p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Multiple regression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Allows a response variable Y to be modeled as a linear function of multidimensional feature vector</a:t>
            </a:r>
            <a:endParaRPr lang="en-US" altLang="nl-NL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Log-linear model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Approximate data by a function whose logarithm is linear</a:t>
            </a:r>
          </a:p>
        </p:txBody>
      </p:sp>
    </p:spTree>
    <p:extLst>
      <p:ext uri="{BB962C8B-B14F-4D97-AF65-F5344CB8AC3E}">
        <p14:creationId xmlns:p14="http://schemas.microsoft.com/office/powerpoint/2010/main" val="25182344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for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6943647" cy="49710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Divide data into buckets and store average (sum) for each bucket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Partitioning rules: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Equal-width: equal bucket range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Equal-frequency (or equal-depth)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ACB769B-81EC-4037-A950-A39153A1A869}"/>
              </a:ext>
            </a:extLst>
          </p:cNvPr>
          <p:cNvGraphicFramePr>
            <a:graphicFrameLocks/>
          </p:cNvGraphicFramePr>
          <p:nvPr/>
        </p:nvGraphicFramePr>
        <p:xfrm>
          <a:off x="7502447" y="1524002"/>
          <a:ext cx="5604248" cy="2847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7915772" imgH="3848582" progId="MSGraph.Chart.8">
                  <p:embed followColorScheme="full"/>
                </p:oleObj>
              </mc:Choice>
              <mc:Fallback>
                <p:oleObj name="Chart" r:id="rId2" imgW="7915772" imgH="3848582" progId="MSGraph.Chart.8">
                  <p:embed followColorScheme="full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ACB769B-81EC-4037-A950-A39153A1A86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447" y="1524002"/>
                        <a:ext cx="5604248" cy="2847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9717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Sampling-Based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Sampling: obtaining a small sample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to represent the whole data set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en-US" altLang="nl-NL" i="1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Allow a mining algorithm to run in complexity that is potentially sub-linear to the size of the data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Key principle: Choose a representative subset of the data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Simple random sampling may have very poor performance in the presence of skew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Develop adaptive sampling methods, e.g., stratified sampling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  <a:blipFill>
                <a:blip r:embed="rId2"/>
                <a:stretch>
                  <a:fillRect l="-1058" t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18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Simple random sampling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There is an equal probability of selecting any particular item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Sampling without replacement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Once an object is selected, it is removed from the population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Sampling with replacement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A selected object is not removed from the population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Stratified sampling: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Partition the data set, and draw samples from each partition (proportionally, i.e., approximately the same percentage of the data)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Used in conjunction with skewed data</a:t>
            </a:r>
          </a:p>
        </p:txBody>
      </p:sp>
    </p:spTree>
    <p:extLst>
      <p:ext uri="{BB962C8B-B14F-4D97-AF65-F5344CB8AC3E}">
        <p14:creationId xmlns:p14="http://schemas.microsoft.com/office/powerpoint/2010/main" val="9857003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– with or without Replacement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3D282A4E-D0E6-4D18-BC86-D7E7B3D19D91}"/>
              </a:ext>
            </a:extLst>
          </p:cNvPr>
          <p:cNvSpPr txBox="1">
            <a:spLocks noChangeArrowheads="1"/>
          </p:cNvSpPr>
          <p:nvPr/>
        </p:nvSpPr>
        <p:spPr bwMode="auto">
          <a:xfrm rot="20586437">
            <a:off x="5049252" y="2819400"/>
            <a:ext cx="22050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SRSWOR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(simple random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 sample without 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replacement)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AC759EDB-A2AB-4FB9-95A9-30E18D2C60B0}"/>
              </a:ext>
            </a:extLst>
          </p:cNvPr>
          <p:cNvGrpSpPr>
            <a:grpSpLocks/>
          </p:cNvGrpSpPr>
          <p:nvPr/>
        </p:nvGrpSpPr>
        <p:grpSpPr bwMode="auto">
          <a:xfrm>
            <a:off x="7011402" y="1771650"/>
            <a:ext cx="2438400" cy="1676400"/>
            <a:chOff x="3588" y="1116"/>
            <a:chExt cx="1536" cy="1056"/>
          </a:xfrm>
        </p:grpSpPr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CD6AD051-B139-44CE-8417-E9F338916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116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13C371CF-DF66-4C18-86F2-6B4F16247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" y="1788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C2D3A8E-1D0C-4890-9B1C-0EA7FF546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632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974EF61F-3585-415B-A143-D4679693D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668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</p:grpSp>
      <p:sp>
        <p:nvSpPr>
          <p:cNvPr id="13" name="Text Box 9">
            <a:extLst>
              <a:ext uri="{FF2B5EF4-FFF2-40B4-BE49-F238E27FC236}">
                <a16:creationId xmlns:a16="http://schemas.microsoft.com/office/drawing/2014/main" id="{B3E029E6-9447-4A45-AAB8-39E1A9430C48}"/>
              </a:ext>
            </a:extLst>
          </p:cNvPr>
          <p:cNvSpPr txBox="1">
            <a:spLocks noChangeArrowheads="1"/>
          </p:cNvSpPr>
          <p:nvPr/>
        </p:nvSpPr>
        <p:spPr bwMode="auto">
          <a:xfrm rot="848056">
            <a:off x="5277852" y="5105400"/>
            <a:ext cx="121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SRSWR</a:t>
            </a:r>
          </a:p>
        </p:txBody>
      </p:sp>
      <p:grpSp>
        <p:nvGrpSpPr>
          <p:cNvPr id="14" name="Group 10">
            <a:extLst>
              <a:ext uri="{FF2B5EF4-FFF2-40B4-BE49-F238E27FC236}">
                <a16:creationId xmlns:a16="http://schemas.microsoft.com/office/drawing/2014/main" id="{F288210A-A8F7-4BA7-8CC7-AD9A81D378E7}"/>
              </a:ext>
            </a:extLst>
          </p:cNvPr>
          <p:cNvGrpSpPr>
            <a:grpSpLocks/>
          </p:cNvGrpSpPr>
          <p:nvPr/>
        </p:nvGrpSpPr>
        <p:grpSpPr bwMode="auto">
          <a:xfrm>
            <a:off x="7087602" y="4457700"/>
            <a:ext cx="2438400" cy="1676400"/>
            <a:chOff x="3636" y="2808"/>
            <a:chExt cx="1536" cy="1056"/>
          </a:xfrm>
        </p:grpSpPr>
        <p:sp>
          <p:nvSpPr>
            <p:cNvPr id="15" name="AutoShape 11">
              <a:extLst>
                <a:ext uri="{FF2B5EF4-FFF2-40B4-BE49-F238E27FC236}">
                  <a16:creationId xmlns:a16="http://schemas.microsoft.com/office/drawing/2014/main" id="{C0827BD9-8E09-4AD8-BCA6-5FFC4A99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808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5FA1EA73-E21E-48B6-982C-CF309C49A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372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09EF5F7E-8B76-4E89-9896-363EFC3E4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3480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6B4F95EB-C951-4700-B2F9-C5C9C9C9B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288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B155EC6A-B22A-4924-BDA8-855D08EF46BC}"/>
              </a:ext>
            </a:extLst>
          </p:cNvPr>
          <p:cNvGrpSpPr>
            <a:grpSpLocks/>
          </p:cNvGrpSpPr>
          <p:nvPr/>
        </p:nvGrpSpPr>
        <p:grpSpPr bwMode="auto">
          <a:xfrm>
            <a:off x="2191752" y="1905000"/>
            <a:ext cx="2724150" cy="4556125"/>
            <a:chOff x="564" y="1284"/>
            <a:chExt cx="1716" cy="2870"/>
          </a:xfrm>
        </p:grpSpPr>
        <p:sp>
          <p:nvSpPr>
            <p:cNvPr id="20" name="AutoShape 16">
              <a:extLst>
                <a:ext uri="{FF2B5EF4-FFF2-40B4-BE49-F238E27FC236}">
                  <a16:creationId xmlns:a16="http://schemas.microsoft.com/office/drawing/2014/main" id="{66650A75-1D99-4BD7-A903-7675B8E85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1284"/>
              <a:ext cx="1716" cy="2616"/>
            </a:xfrm>
            <a:prstGeom prst="can">
              <a:avLst>
                <a:gd name="adj" fmla="val 381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1" name="Oval 17">
              <a:extLst>
                <a:ext uri="{FF2B5EF4-FFF2-40B4-BE49-F238E27FC236}">
                  <a16:creationId xmlns:a16="http://schemas.microsoft.com/office/drawing/2014/main" id="{C2136C06-6BC9-47E0-A74E-BD5FA6B5E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36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2" name="Oval 18">
              <a:extLst>
                <a:ext uri="{FF2B5EF4-FFF2-40B4-BE49-F238E27FC236}">
                  <a16:creationId xmlns:a16="http://schemas.microsoft.com/office/drawing/2014/main" id="{F93DDED9-78E7-46D4-B2FA-E7E68393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2916"/>
              <a:ext cx="540" cy="360"/>
            </a:xfrm>
            <a:prstGeom prst="ellipse">
              <a:avLst/>
            </a:prstGeom>
            <a:solidFill>
              <a:srgbClr val="006666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4D3E325B-590B-4D7C-BC13-D5EB17D82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468"/>
              <a:ext cx="564" cy="396"/>
            </a:xfrm>
            <a:prstGeom prst="ellipse">
              <a:avLst/>
            </a:prstGeom>
            <a:solidFill>
              <a:srgbClr val="1213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4" name="Oval 20">
              <a:extLst>
                <a:ext uri="{FF2B5EF4-FFF2-40B4-BE49-F238E27FC236}">
                  <a16:creationId xmlns:a16="http://schemas.microsoft.com/office/drawing/2014/main" id="{14FC355C-BE89-40F8-9B9D-D7D4CA728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3240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5" name="Oval 21">
              <a:extLst>
                <a:ext uri="{FF2B5EF4-FFF2-40B4-BE49-F238E27FC236}">
                  <a16:creationId xmlns:a16="http://schemas.microsoft.com/office/drawing/2014/main" id="{52785442-D153-43A4-9D25-79D8E64D7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084"/>
              <a:ext cx="468" cy="372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6" name="Oval 22">
              <a:extLst>
                <a:ext uri="{FF2B5EF4-FFF2-40B4-BE49-F238E27FC236}">
                  <a16:creationId xmlns:a16="http://schemas.microsoft.com/office/drawing/2014/main" id="{8D3B0668-EDBD-47E6-BF3D-E84DA10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08"/>
              <a:ext cx="540" cy="36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A75C1624-43B8-40F5-88F4-478A444F0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64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8" name="Oval 24">
              <a:extLst>
                <a:ext uri="{FF2B5EF4-FFF2-40B4-BE49-F238E27FC236}">
                  <a16:creationId xmlns:a16="http://schemas.microsoft.com/office/drawing/2014/main" id="{E26F1AD8-DE94-4A1E-9BB8-1B67A935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2556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9" name="Oval 25">
              <a:extLst>
                <a:ext uri="{FF2B5EF4-FFF2-40B4-BE49-F238E27FC236}">
                  <a16:creationId xmlns:a16="http://schemas.microsoft.com/office/drawing/2014/main" id="{0C4E76A4-6D94-40AC-961A-E8BF90754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424"/>
              <a:ext cx="540" cy="360"/>
            </a:xfrm>
            <a:prstGeom prst="ellipse">
              <a:avLst/>
            </a:prstGeom>
            <a:solidFill>
              <a:srgbClr val="423E7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57A340BC-9808-40FF-AF76-37CB4AC7C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3866"/>
              <a:ext cx="8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nl-NL">
                  <a:latin typeface="Times New Roman" panose="02020603050405020304" pitchFamily="18" charset="0"/>
                </a:rPr>
                <a:t>Raw Data</a:t>
              </a:r>
            </a:p>
          </p:txBody>
        </p:sp>
      </p:grpSp>
      <p:sp>
        <p:nvSpPr>
          <p:cNvPr id="31" name="Line 28">
            <a:extLst>
              <a:ext uri="{FF2B5EF4-FFF2-40B4-BE49-F238E27FC236}">
                <a16:creationId xmlns:a16="http://schemas.microsoft.com/office/drawing/2014/main" id="{C00217F7-5AC5-42B0-BF65-AC123B808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4502" y="4895850"/>
            <a:ext cx="17907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78937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– Cluster or Stratified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">
            <a:extLst>
              <a:ext uri="{FF2B5EF4-FFF2-40B4-BE49-F238E27FC236}">
                <a16:creationId xmlns:a16="http://schemas.microsoft.com/office/drawing/2014/main" id="{7D245F68-7971-4F70-8A6E-1BDBB814E44A}"/>
              </a:ext>
            </a:extLst>
          </p:cNvPr>
          <p:cNvGrpSpPr>
            <a:grpSpLocks/>
          </p:cNvGrpSpPr>
          <p:nvPr/>
        </p:nvGrpSpPr>
        <p:grpSpPr bwMode="auto">
          <a:xfrm>
            <a:off x="1852192" y="2698750"/>
            <a:ext cx="3751263" cy="3348038"/>
            <a:chOff x="274" y="1418"/>
            <a:chExt cx="2363" cy="2109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DE9FDD71-DBD6-472D-A32A-0510B1F58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" y="1418"/>
              <a:ext cx="2363" cy="21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763663A1-7BF7-4E24-92DA-30BD9ED3C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993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4DE98AEF-BC36-4AF8-84B0-AE2CD7152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316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1CED4065-F819-4222-BC19-AA24B78AA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213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7" name="AutoShape 8">
              <a:extLst>
                <a:ext uri="{FF2B5EF4-FFF2-40B4-BE49-F238E27FC236}">
                  <a16:creationId xmlns:a16="http://schemas.microsoft.com/office/drawing/2014/main" id="{F1689C5B-FD1D-44E9-A35B-C47207404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0" y="2168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ACB66FB9-2CDA-428E-93A3-B1DD5082A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19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D9496CE6-1849-4697-9619-02CB98837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35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79FAF30C-794C-4E72-9A05-6D4FAB2BD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2393"/>
              <a:ext cx="57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12F58C1B-0D8A-4241-A8BE-5ECD65AB0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184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0FC3F3B3-6CA1-4D6A-B8CC-1AD3D8308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763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3" name="AutoShape 14">
              <a:extLst>
                <a:ext uri="{FF2B5EF4-FFF2-40B4-BE49-F238E27FC236}">
                  <a16:creationId xmlns:a16="http://schemas.microsoft.com/office/drawing/2014/main" id="{E8DB6E5C-9BFF-4701-A61A-D480A33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8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4" name="AutoShape 15">
              <a:extLst>
                <a:ext uri="{FF2B5EF4-FFF2-40B4-BE49-F238E27FC236}">
                  <a16:creationId xmlns:a16="http://schemas.microsoft.com/office/drawing/2014/main" id="{B7897925-99C2-45A4-8694-B95553C8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" y="2647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5" name="AutoShape 16">
              <a:extLst>
                <a:ext uri="{FF2B5EF4-FFF2-40B4-BE49-F238E27FC236}">
                  <a16:creationId xmlns:a16="http://schemas.microsoft.com/office/drawing/2014/main" id="{0004E794-1E13-4ACD-B83C-B678DA38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903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7B799E45-64AC-4838-9776-17D8538C8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795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7" name="AutoShape 18">
              <a:extLst>
                <a:ext uri="{FF2B5EF4-FFF2-40B4-BE49-F238E27FC236}">
                  <a16:creationId xmlns:a16="http://schemas.microsoft.com/office/drawing/2014/main" id="{3FCBBF1E-627D-4CD4-AE24-D67AB5D1C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275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8" name="AutoShape 19">
              <a:extLst>
                <a:ext uri="{FF2B5EF4-FFF2-40B4-BE49-F238E27FC236}">
                  <a16:creationId xmlns:a16="http://schemas.microsoft.com/office/drawing/2014/main" id="{58F91AC4-B7D5-4705-826C-402F33A8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875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9" name="AutoShape 20">
              <a:extLst>
                <a:ext uri="{FF2B5EF4-FFF2-40B4-BE49-F238E27FC236}">
                  <a16:creationId xmlns:a16="http://schemas.microsoft.com/office/drawing/2014/main" id="{EEB3E2FA-8076-4464-97D1-D4464CE9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50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0" name="AutoShape 21">
              <a:extLst>
                <a:ext uri="{FF2B5EF4-FFF2-40B4-BE49-F238E27FC236}">
                  <a16:creationId xmlns:a16="http://schemas.microsoft.com/office/drawing/2014/main" id="{BDDAC612-8930-4117-936E-8BBAA101E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628"/>
              <a:ext cx="56" cy="74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1" name="AutoShape 22">
              <a:extLst>
                <a:ext uri="{FF2B5EF4-FFF2-40B4-BE49-F238E27FC236}">
                  <a16:creationId xmlns:a16="http://schemas.microsoft.com/office/drawing/2014/main" id="{93950F8D-89AB-4B8F-9D2D-A72E5BAED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88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41E69720-9FE8-4E70-A22C-DFD0E803B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373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grpSp>
          <p:nvGrpSpPr>
            <p:cNvPr id="53" name="Group 24">
              <a:extLst>
                <a:ext uri="{FF2B5EF4-FFF2-40B4-BE49-F238E27FC236}">
                  <a16:creationId xmlns:a16="http://schemas.microsoft.com/office/drawing/2014/main" id="{86D89109-2B48-4055-99A7-DDACE9268B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" y="1796"/>
              <a:ext cx="542" cy="954"/>
              <a:chOff x="551" y="1796"/>
              <a:chExt cx="542" cy="954"/>
            </a:xfrm>
          </p:grpSpPr>
          <p:sp>
            <p:nvSpPr>
              <p:cNvPr id="54" name="AutoShape 25">
                <a:extLst>
                  <a:ext uri="{FF2B5EF4-FFF2-40B4-BE49-F238E27FC236}">
                    <a16:creationId xmlns:a16="http://schemas.microsoft.com/office/drawing/2014/main" id="{8886B267-343D-4DCC-90CD-F7736DF2C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7" y="24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5" name="AutoShape 26">
                <a:extLst>
                  <a:ext uri="{FF2B5EF4-FFF2-40B4-BE49-F238E27FC236}">
                    <a16:creationId xmlns:a16="http://schemas.microsoft.com/office/drawing/2014/main" id="{C25DF015-1D73-4AF6-A2C4-BA6009D5F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" y="23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6" name="AutoShape 27">
                <a:extLst>
                  <a:ext uri="{FF2B5EF4-FFF2-40B4-BE49-F238E27FC236}">
                    <a16:creationId xmlns:a16="http://schemas.microsoft.com/office/drawing/2014/main" id="{761EB75E-CEFD-4C0A-9773-1728D5055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" y="2405"/>
                <a:ext cx="56" cy="74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7" name="AutoShape 28">
                <a:extLst>
                  <a:ext uri="{FF2B5EF4-FFF2-40B4-BE49-F238E27FC236}">
                    <a16:creationId xmlns:a16="http://schemas.microsoft.com/office/drawing/2014/main" id="{4E85DC08-69C8-4C41-BCA9-9B0432372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" y="2230"/>
                <a:ext cx="57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8" name="AutoShape 29">
                <a:extLst>
                  <a:ext uri="{FF2B5EF4-FFF2-40B4-BE49-F238E27FC236}">
                    <a16:creationId xmlns:a16="http://schemas.microsoft.com/office/drawing/2014/main" id="{F37B3315-F673-4B39-9F50-E667EE70F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08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9" name="AutoShape 30">
                <a:extLst>
                  <a:ext uri="{FF2B5EF4-FFF2-40B4-BE49-F238E27FC236}">
                    <a16:creationId xmlns:a16="http://schemas.microsoft.com/office/drawing/2014/main" id="{2C445323-ADC4-444E-A195-9A50D7A9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" y="2268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0" name="AutoShape 31">
                <a:extLst>
                  <a:ext uri="{FF2B5EF4-FFF2-40B4-BE49-F238E27FC236}">
                    <a16:creationId xmlns:a16="http://schemas.microsoft.com/office/drawing/2014/main" id="{E278519E-53F3-44C9-AB0B-E94BB7785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" y="2566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1" name="AutoShape 32">
                <a:extLst>
                  <a:ext uri="{FF2B5EF4-FFF2-40B4-BE49-F238E27FC236}">
                    <a16:creationId xmlns:a16="http://schemas.microsoft.com/office/drawing/2014/main" id="{D2DA3616-E50C-4244-81DD-D387FAF51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2260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2" name="AutoShape 33">
                <a:extLst>
                  <a:ext uri="{FF2B5EF4-FFF2-40B4-BE49-F238E27FC236}">
                    <a16:creationId xmlns:a16="http://schemas.microsoft.com/office/drawing/2014/main" id="{E9A6366D-A3DF-4FC5-9273-569E5F5E6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20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3" name="AutoShape 34">
                <a:extLst>
                  <a:ext uri="{FF2B5EF4-FFF2-40B4-BE49-F238E27FC236}">
                    <a16:creationId xmlns:a16="http://schemas.microsoft.com/office/drawing/2014/main" id="{CC8A4FF5-488B-4A95-B112-501852C87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1945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id="{9D5D0F3B-29B2-4FD5-B323-A2788094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" y="1796"/>
                <a:ext cx="542" cy="954"/>
              </a:xfrm>
              <a:custGeom>
                <a:avLst/>
                <a:gdLst>
                  <a:gd name="T0" fmla="*/ 44 w 869"/>
                  <a:gd name="T1" fmla="*/ 229 h 1173"/>
                  <a:gd name="T2" fmla="*/ 41 w 869"/>
                  <a:gd name="T3" fmla="*/ 273 h 1173"/>
                  <a:gd name="T4" fmla="*/ 39 w 869"/>
                  <a:gd name="T5" fmla="*/ 313 h 1173"/>
                  <a:gd name="T6" fmla="*/ 37 w 869"/>
                  <a:gd name="T7" fmla="*/ 329 h 1173"/>
                  <a:gd name="T8" fmla="*/ 37 w 869"/>
                  <a:gd name="T9" fmla="*/ 334 h 1173"/>
                  <a:gd name="T10" fmla="*/ 33 w 869"/>
                  <a:gd name="T11" fmla="*/ 339 h 1173"/>
                  <a:gd name="T12" fmla="*/ 17 w 869"/>
                  <a:gd name="T13" fmla="*/ 331 h 1173"/>
                  <a:gd name="T14" fmla="*/ 7 w 869"/>
                  <a:gd name="T15" fmla="*/ 310 h 1173"/>
                  <a:gd name="T16" fmla="*/ 2 w 869"/>
                  <a:gd name="T17" fmla="*/ 292 h 1173"/>
                  <a:gd name="T18" fmla="*/ 0 w 869"/>
                  <a:gd name="T19" fmla="*/ 277 h 1173"/>
                  <a:gd name="T20" fmla="*/ 4 w 869"/>
                  <a:gd name="T21" fmla="*/ 145 h 1173"/>
                  <a:gd name="T22" fmla="*/ 6 w 869"/>
                  <a:gd name="T23" fmla="*/ 68 h 1173"/>
                  <a:gd name="T24" fmla="*/ 9 w 869"/>
                  <a:gd name="T25" fmla="*/ 48 h 1173"/>
                  <a:gd name="T26" fmla="*/ 12 w 869"/>
                  <a:gd name="T27" fmla="*/ 39 h 1173"/>
                  <a:gd name="T28" fmla="*/ 18 w 869"/>
                  <a:gd name="T29" fmla="*/ 21 h 1173"/>
                  <a:gd name="T30" fmla="*/ 21 w 869"/>
                  <a:gd name="T31" fmla="*/ 13 h 1173"/>
                  <a:gd name="T32" fmla="*/ 26 w 869"/>
                  <a:gd name="T33" fmla="*/ 0 h 1173"/>
                  <a:gd name="T34" fmla="*/ 42 w 869"/>
                  <a:gd name="T35" fmla="*/ 24 h 1173"/>
                  <a:gd name="T36" fmla="*/ 47 w 869"/>
                  <a:gd name="T37" fmla="*/ 59 h 1173"/>
                  <a:gd name="T38" fmla="*/ 50 w 869"/>
                  <a:gd name="T39" fmla="*/ 73 h 1173"/>
                  <a:gd name="T40" fmla="*/ 51 w 869"/>
                  <a:gd name="T41" fmla="*/ 89 h 1173"/>
                  <a:gd name="T42" fmla="*/ 46 w 869"/>
                  <a:gd name="T43" fmla="*/ 205 h 1173"/>
                  <a:gd name="T44" fmla="*/ 44 w 869"/>
                  <a:gd name="T45" fmla="*/ 229 h 1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69"/>
                  <a:gd name="T70" fmla="*/ 0 h 1173"/>
                  <a:gd name="T71" fmla="*/ 869 w 869"/>
                  <a:gd name="T72" fmla="*/ 1173 h 1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69" h="1173">
                    <a:moveTo>
                      <a:pt x="754" y="791"/>
                    </a:moveTo>
                    <a:cubicBezTo>
                      <a:pt x="743" y="846"/>
                      <a:pt x="731" y="899"/>
                      <a:pt x="699" y="945"/>
                    </a:cubicBezTo>
                    <a:cubicBezTo>
                      <a:pt x="684" y="991"/>
                      <a:pt x="669" y="1036"/>
                      <a:pt x="654" y="1082"/>
                    </a:cubicBezTo>
                    <a:cubicBezTo>
                      <a:pt x="648" y="1100"/>
                      <a:pt x="649" y="1122"/>
                      <a:pt x="636" y="1136"/>
                    </a:cubicBezTo>
                    <a:cubicBezTo>
                      <a:pt x="630" y="1142"/>
                      <a:pt x="626" y="1151"/>
                      <a:pt x="618" y="1155"/>
                    </a:cubicBezTo>
                    <a:cubicBezTo>
                      <a:pt x="601" y="1164"/>
                      <a:pt x="563" y="1173"/>
                      <a:pt x="563" y="1173"/>
                    </a:cubicBezTo>
                    <a:cubicBezTo>
                      <a:pt x="471" y="1168"/>
                      <a:pt x="379" y="1170"/>
                      <a:pt x="290" y="1145"/>
                    </a:cubicBezTo>
                    <a:cubicBezTo>
                      <a:pt x="231" y="1129"/>
                      <a:pt x="182" y="1097"/>
                      <a:pt x="127" y="1073"/>
                    </a:cubicBezTo>
                    <a:cubicBezTo>
                      <a:pt x="93" y="1058"/>
                      <a:pt x="60" y="1039"/>
                      <a:pt x="36" y="1009"/>
                    </a:cubicBezTo>
                    <a:cubicBezTo>
                      <a:pt x="23" y="992"/>
                      <a:pt x="0" y="955"/>
                      <a:pt x="0" y="955"/>
                    </a:cubicBezTo>
                    <a:cubicBezTo>
                      <a:pt x="11" y="805"/>
                      <a:pt x="33" y="644"/>
                      <a:pt x="81" y="500"/>
                    </a:cubicBezTo>
                    <a:cubicBezTo>
                      <a:pt x="92" y="412"/>
                      <a:pt x="99" y="324"/>
                      <a:pt x="109" y="236"/>
                    </a:cubicBezTo>
                    <a:cubicBezTo>
                      <a:pt x="113" y="197"/>
                      <a:pt x="118" y="176"/>
                      <a:pt x="154" y="164"/>
                    </a:cubicBezTo>
                    <a:cubicBezTo>
                      <a:pt x="193" y="123"/>
                      <a:pt x="147" y="165"/>
                      <a:pt x="200" y="136"/>
                    </a:cubicBezTo>
                    <a:cubicBezTo>
                      <a:pt x="241" y="114"/>
                      <a:pt x="266" y="87"/>
                      <a:pt x="309" y="73"/>
                    </a:cubicBezTo>
                    <a:cubicBezTo>
                      <a:pt x="343" y="37"/>
                      <a:pt x="308" y="68"/>
                      <a:pt x="354" y="45"/>
                    </a:cubicBezTo>
                    <a:cubicBezTo>
                      <a:pt x="383" y="30"/>
                      <a:pt x="395" y="11"/>
                      <a:pt x="427" y="0"/>
                    </a:cubicBezTo>
                    <a:cubicBezTo>
                      <a:pt x="520" y="23"/>
                      <a:pt x="626" y="29"/>
                      <a:pt x="709" y="82"/>
                    </a:cubicBezTo>
                    <a:cubicBezTo>
                      <a:pt x="738" y="125"/>
                      <a:pt x="765" y="172"/>
                      <a:pt x="809" y="200"/>
                    </a:cubicBezTo>
                    <a:cubicBezTo>
                      <a:pt x="821" y="218"/>
                      <a:pt x="838" y="234"/>
                      <a:pt x="845" y="255"/>
                    </a:cubicBezTo>
                    <a:cubicBezTo>
                      <a:pt x="851" y="273"/>
                      <a:pt x="863" y="309"/>
                      <a:pt x="863" y="309"/>
                    </a:cubicBezTo>
                    <a:cubicBezTo>
                      <a:pt x="858" y="436"/>
                      <a:pt x="869" y="596"/>
                      <a:pt x="790" y="709"/>
                    </a:cubicBezTo>
                    <a:cubicBezTo>
                      <a:pt x="787" y="717"/>
                      <a:pt x="776" y="791"/>
                      <a:pt x="754" y="79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</p:grpSp>
      <p:sp>
        <p:nvSpPr>
          <p:cNvPr id="65" name="Rectangle 36">
            <a:extLst>
              <a:ext uri="{FF2B5EF4-FFF2-40B4-BE49-F238E27FC236}">
                <a16:creationId xmlns:a16="http://schemas.microsoft.com/office/drawing/2014/main" id="{9347BB86-B707-4FAA-A0C5-6F31EFD36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680" y="2678113"/>
            <a:ext cx="3751262" cy="3348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nl-NL" altLang="nl-NL"/>
          </a:p>
        </p:txBody>
      </p:sp>
      <p:sp>
        <p:nvSpPr>
          <p:cNvPr id="66" name="Text Box 54">
            <a:extLst>
              <a:ext uri="{FF2B5EF4-FFF2-40B4-BE49-F238E27FC236}">
                <a16:creationId xmlns:a16="http://schemas.microsoft.com/office/drawing/2014/main" id="{08BCAB40-CC24-4047-8A74-CA85515CE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167" y="1897063"/>
            <a:ext cx="147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Raw Data </a:t>
            </a:r>
          </a:p>
        </p:txBody>
      </p:sp>
      <p:sp>
        <p:nvSpPr>
          <p:cNvPr id="67" name="Text Box 55">
            <a:extLst>
              <a:ext uri="{FF2B5EF4-FFF2-40B4-BE49-F238E27FC236}">
                <a16:creationId xmlns:a16="http://schemas.microsoft.com/office/drawing/2014/main" id="{F52AEAD9-6A84-4E3F-BF98-0D9BC48D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980" y="1839913"/>
            <a:ext cx="326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Cluster/Stratified Sample</a:t>
            </a:r>
          </a:p>
        </p:txBody>
      </p:sp>
      <p:grpSp>
        <p:nvGrpSpPr>
          <p:cNvPr id="68" name="Group 37">
            <a:extLst>
              <a:ext uri="{FF2B5EF4-FFF2-40B4-BE49-F238E27FC236}">
                <a16:creationId xmlns:a16="http://schemas.microsoft.com/office/drawing/2014/main" id="{B584D7DC-CD54-4E30-95EB-B092A50FC629}"/>
              </a:ext>
            </a:extLst>
          </p:cNvPr>
          <p:cNvGrpSpPr>
            <a:grpSpLocks/>
          </p:cNvGrpSpPr>
          <p:nvPr/>
        </p:nvGrpSpPr>
        <p:grpSpPr bwMode="auto">
          <a:xfrm>
            <a:off x="6573417" y="3225800"/>
            <a:ext cx="2398713" cy="2214563"/>
            <a:chOff x="3302" y="2032"/>
            <a:chExt cx="1511" cy="1395"/>
          </a:xfrm>
        </p:grpSpPr>
        <p:sp>
          <p:nvSpPr>
            <p:cNvPr id="69" name="AutoShape 38">
              <a:extLst>
                <a:ext uri="{FF2B5EF4-FFF2-40B4-BE49-F238E27FC236}">
                  <a16:creationId xmlns:a16="http://schemas.microsoft.com/office/drawing/2014/main" id="{900D3DAA-F319-4AB2-BAED-5DA858773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6" y="2777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0" name="AutoShape 39">
              <a:extLst>
                <a:ext uri="{FF2B5EF4-FFF2-40B4-BE49-F238E27FC236}">
                  <a16:creationId xmlns:a16="http://schemas.microsoft.com/office/drawing/2014/main" id="{B5684202-BABD-4854-802D-F0347D59F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537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1" name="AutoShape 40">
              <a:extLst>
                <a:ext uri="{FF2B5EF4-FFF2-40B4-BE49-F238E27FC236}">
                  <a16:creationId xmlns:a16="http://schemas.microsoft.com/office/drawing/2014/main" id="{E5455DD7-0F28-44B0-ADDA-DF0B1F0D4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2262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2" name="AutoShape 41">
              <a:extLst>
                <a:ext uri="{FF2B5EF4-FFF2-40B4-BE49-F238E27FC236}">
                  <a16:creationId xmlns:a16="http://schemas.microsoft.com/office/drawing/2014/main" id="{3A55E184-FF55-49D5-9FFE-D7722D3F7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" y="2585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3" name="AutoShape 42">
              <a:extLst>
                <a:ext uri="{FF2B5EF4-FFF2-40B4-BE49-F238E27FC236}">
                  <a16:creationId xmlns:a16="http://schemas.microsoft.com/office/drawing/2014/main" id="{4834C173-3D42-4E41-814E-044A44708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46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4" name="AutoShape 43">
              <a:extLst>
                <a:ext uri="{FF2B5EF4-FFF2-40B4-BE49-F238E27FC236}">
                  <a16:creationId xmlns:a16="http://schemas.microsoft.com/office/drawing/2014/main" id="{F794C1C8-DC19-4002-AD1E-D48FAB67C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35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5" name="AutoShape 44">
              <a:extLst>
                <a:ext uri="{FF2B5EF4-FFF2-40B4-BE49-F238E27FC236}">
                  <a16:creationId xmlns:a16="http://schemas.microsoft.com/office/drawing/2014/main" id="{6C08B034-E1F2-44A4-8D87-9AA100E17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317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6" name="AutoShape 45">
              <a:extLst>
                <a:ext uri="{FF2B5EF4-FFF2-40B4-BE49-F238E27FC236}">
                  <a16:creationId xmlns:a16="http://schemas.microsoft.com/office/drawing/2014/main" id="{A7AEC27B-D27D-4770-AE8B-BF9ECBA83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06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7" name="AutoShape 46">
              <a:extLst>
                <a:ext uri="{FF2B5EF4-FFF2-40B4-BE49-F238E27FC236}">
                  <a16:creationId xmlns:a16="http://schemas.microsoft.com/office/drawing/2014/main" id="{7C0D3449-DDD4-4644-A8D6-5B3B0504F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" y="2529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8" name="AutoShape 47">
              <a:extLst>
                <a:ext uri="{FF2B5EF4-FFF2-40B4-BE49-F238E27FC236}">
                  <a16:creationId xmlns:a16="http://schemas.microsoft.com/office/drawing/2014/main" id="{7B679106-62EA-4899-8064-17CD65685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3021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9" name="AutoShape 48">
              <a:extLst>
                <a:ext uri="{FF2B5EF4-FFF2-40B4-BE49-F238E27FC236}">
                  <a16:creationId xmlns:a16="http://schemas.microsoft.com/office/drawing/2014/main" id="{D63487BA-BF4D-447E-A196-5F6032859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361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0" name="AutoShape 49">
              <a:extLst>
                <a:ext uri="{FF2B5EF4-FFF2-40B4-BE49-F238E27FC236}">
                  <a16:creationId xmlns:a16="http://schemas.microsoft.com/office/drawing/2014/main" id="{24862029-2164-4379-BAA0-021AF9635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1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4898A9A1-27B1-442A-9002-21F957757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2773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2" name="Freeform 51">
              <a:extLst>
                <a:ext uri="{FF2B5EF4-FFF2-40B4-BE49-F238E27FC236}">
                  <a16:creationId xmlns:a16="http://schemas.microsoft.com/office/drawing/2014/main" id="{81E561A7-AF0B-4F5D-A611-C3E8A2369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2032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3" name="Freeform 52">
              <a:extLst>
                <a:ext uri="{FF2B5EF4-FFF2-40B4-BE49-F238E27FC236}">
                  <a16:creationId xmlns:a16="http://schemas.microsoft.com/office/drawing/2014/main" id="{92D9348B-EDF1-4818-94EE-753B90A97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642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4" name="Freeform 53">
              <a:extLst>
                <a:ext uri="{FF2B5EF4-FFF2-40B4-BE49-F238E27FC236}">
                  <a16:creationId xmlns:a16="http://schemas.microsoft.com/office/drawing/2014/main" id="{B2838E03-0DE4-485B-B24B-15E2E155F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2065"/>
              <a:ext cx="542" cy="954"/>
            </a:xfrm>
            <a:custGeom>
              <a:avLst/>
              <a:gdLst>
                <a:gd name="T0" fmla="*/ 44 w 869"/>
                <a:gd name="T1" fmla="*/ 229 h 1173"/>
                <a:gd name="T2" fmla="*/ 41 w 869"/>
                <a:gd name="T3" fmla="*/ 273 h 1173"/>
                <a:gd name="T4" fmla="*/ 39 w 869"/>
                <a:gd name="T5" fmla="*/ 313 h 1173"/>
                <a:gd name="T6" fmla="*/ 37 w 869"/>
                <a:gd name="T7" fmla="*/ 329 h 1173"/>
                <a:gd name="T8" fmla="*/ 37 w 869"/>
                <a:gd name="T9" fmla="*/ 334 h 1173"/>
                <a:gd name="T10" fmla="*/ 33 w 869"/>
                <a:gd name="T11" fmla="*/ 339 h 1173"/>
                <a:gd name="T12" fmla="*/ 17 w 869"/>
                <a:gd name="T13" fmla="*/ 331 h 1173"/>
                <a:gd name="T14" fmla="*/ 7 w 869"/>
                <a:gd name="T15" fmla="*/ 310 h 1173"/>
                <a:gd name="T16" fmla="*/ 2 w 869"/>
                <a:gd name="T17" fmla="*/ 292 h 1173"/>
                <a:gd name="T18" fmla="*/ 0 w 869"/>
                <a:gd name="T19" fmla="*/ 277 h 1173"/>
                <a:gd name="T20" fmla="*/ 4 w 869"/>
                <a:gd name="T21" fmla="*/ 145 h 1173"/>
                <a:gd name="T22" fmla="*/ 6 w 869"/>
                <a:gd name="T23" fmla="*/ 68 h 1173"/>
                <a:gd name="T24" fmla="*/ 9 w 869"/>
                <a:gd name="T25" fmla="*/ 48 h 1173"/>
                <a:gd name="T26" fmla="*/ 12 w 869"/>
                <a:gd name="T27" fmla="*/ 39 h 1173"/>
                <a:gd name="T28" fmla="*/ 18 w 869"/>
                <a:gd name="T29" fmla="*/ 21 h 1173"/>
                <a:gd name="T30" fmla="*/ 21 w 869"/>
                <a:gd name="T31" fmla="*/ 13 h 1173"/>
                <a:gd name="T32" fmla="*/ 26 w 869"/>
                <a:gd name="T33" fmla="*/ 0 h 1173"/>
                <a:gd name="T34" fmla="*/ 42 w 869"/>
                <a:gd name="T35" fmla="*/ 24 h 1173"/>
                <a:gd name="T36" fmla="*/ 47 w 869"/>
                <a:gd name="T37" fmla="*/ 59 h 1173"/>
                <a:gd name="T38" fmla="*/ 50 w 869"/>
                <a:gd name="T39" fmla="*/ 73 h 1173"/>
                <a:gd name="T40" fmla="*/ 51 w 869"/>
                <a:gd name="T41" fmla="*/ 89 h 1173"/>
                <a:gd name="T42" fmla="*/ 46 w 869"/>
                <a:gd name="T43" fmla="*/ 205 h 1173"/>
                <a:gd name="T44" fmla="*/ 44 w 869"/>
                <a:gd name="T45" fmla="*/ 229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69"/>
                <a:gd name="T70" fmla="*/ 0 h 1173"/>
                <a:gd name="T71" fmla="*/ 869 w 869"/>
                <a:gd name="T72" fmla="*/ 1173 h 117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9042192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Data Preparation Techniques</a:t>
            </a:r>
            <a:endParaRPr lang="nl-NL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724E80A-FF94-1A4D-B6C5-9C744369F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2" y="2789518"/>
            <a:ext cx="4457251" cy="2785781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6108700" cy="4775200"/>
          </a:xfrm>
        </p:spPr>
        <p:txBody>
          <a:bodyPr>
            <a:normAutofit/>
          </a:bodyPr>
          <a:lstStyle/>
          <a:p>
            <a:r>
              <a:rPr lang="en-US" altLang="nl-NL" sz="2400" dirty="0">
                <a:cs typeface="Times New Roman" panose="02020603050405020304" pitchFamily="18" charset="0"/>
              </a:rPr>
              <a:t>Discretization </a:t>
            </a:r>
          </a:p>
          <a:p>
            <a:r>
              <a:rPr lang="en-GB" sz="2400" dirty="0"/>
              <a:t>Transforming categorical data into numerical data</a:t>
            </a:r>
          </a:p>
          <a:p>
            <a:pPr lvl="1"/>
            <a:r>
              <a:rPr lang="en-GB" sz="2000" dirty="0"/>
              <a:t>Label encoding </a:t>
            </a:r>
          </a:p>
          <a:p>
            <a:pPr lvl="1"/>
            <a:r>
              <a:rPr lang="en-GB" sz="2000" dirty="0"/>
              <a:t>One-hot encoding</a:t>
            </a:r>
          </a:p>
          <a:p>
            <a:r>
              <a:rPr lang="en-GB" sz="2400" dirty="0">
                <a:cs typeface="Times New Roman" panose="02020603050405020304" pitchFamily="18" charset="0"/>
              </a:rPr>
              <a:t>Data Enrichment </a:t>
            </a:r>
          </a:p>
          <a:p>
            <a:pPr lvl="1"/>
            <a:r>
              <a:rPr lang="en-US" altLang="nl-NL" sz="2000" dirty="0"/>
              <a:t>Augmentation </a:t>
            </a:r>
          </a:p>
          <a:p>
            <a:pPr lvl="1"/>
            <a:r>
              <a:rPr lang="en-US" altLang="nl-NL" sz="2000" dirty="0"/>
              <a:t>Join &amp; Union</a:t>
            </a:r>
          </a:p>
          <a:p>
            <a:r>
              <a:rPr lang="en-US" altLang="nl-NL" sz="2400" dirty="0">
                <a:cs typeface="Times New Roman" panose="02020603050405020304" pitchFamily="18" charset="0"/>
              </a:rPr>
              <a:t>Data Validation</a:t>
            </a:r>
          </a:p>
          <a:p>
            <a:pPr lvl="1"/>
            <a:r>
              <a:rPr lang="en-US" altLang="nl-NL" sz="2000" dirty="0">
                <a:cs typeface="Times New Roman" panose="02020603050405020304" pitchFamily="18" charset="0"/>
              </a:rPr>
              <a:t>Check Permitted Characters</a:t>
            </a:r>
          </a:p>
          <a:p>
            <a:pPr lvl="1"/>
            <a:r>
              <a:rPr lang="en-US" altLang="nl-NL" sz="2000" dirty="0">
                <a:cs typeface="Times New Roman" panose="02020603050405020304" pitchFamily="18" charset="0"/>
              </a:rPr>
              <a:t>Find Type-Mismatched Data</a:t>
            </a:r>
          </a:p>
        </p:txBody>
      </p:sp>
    </p:spTree>
    <p:extLst>
      <p:ext uri="{BB962C8B-B14F-4D97-AF65-F5344CB8AC3E}">
        <p14:creationId xmlns:p14="http://schemas.microsoft.com/office/powerpoint/2010/main" val="4165578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nl-NL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7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6508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80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|11.2|1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73D4E-B70B-4136-B747-E79AAA180FB8}">
  <ds:schemaRefs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5032e021-b0cf-43e6-828a-5b682824f23c"/>
    <ds:schemaRef ds:uri="http://schemas.microsoft.com/office/infopath/2007/PartnerControls"/>
    <ds:schemaRef ds:uri="ef284efa-1316-4307-b1a8-b157427e423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4128</Words>
  <Application>Microsoft Macintosh PowerPoint</Application>
  <PresentationFormat>Widescreen</PresentationFormat>
  <Paragraphs>545</Paragraphs>
  <Slides>80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Acrobat Document</vt:lpstr>
      <vt:lpstr>Chart</vt:lpstr>
      <vt:lpstr>PowerPoint Presentation</vt:lpstr>
      <vt:lpstr>Topics for Today</vt:lpstr>
      <vt:lpstr>Reading Material</vt:lpstr>
      <vt:lpstr>PowerPoint Presentation</vt:lpstr>
      <vt:lpstr>We Collect Huge Amount of Data</vt:lpstr>
      <vt:lpstr>Extracting Value from the Data</vt:lpstr>
      <vt:lpstr>PowerPoint Presentation</vt:lpstr>
      <vt:lpstr>PowerPoint Presentation</vt:lpstr>
      <vt:lpstr>Why data preparation? </vt:lpstr>
      <vt:lpstr>Why data preparation? </vt:lpstr>
      <vt:lpstr>CRISP-DM</vt:lpstr>
      <vt:lpstr>Data preparation: An Overview</vt:lpstr>
      <vt:lpstr>PowerPoint Presentation</vt:lpstr>
      <vt:lpstr>Data Quality Issues</vt:lpstr>
      <vt:lpstr>Data Quality </vt:lpstr>
      <vt:lpstr>Example</vt:lpstr>
      <vt:lpstr>Data Quality (Cont.)</vt:lpstr>
      <vt:lpstr>Data Quality (Cont.)</vt:lpstr>
      <vt:lpstr>Examples of Data Quality metrics</vt:lpstr>
      <vt:lpstr>PowerPoint Presentation</vt:lpstr>
      <vt:lpstr>Data Cleaning</vt:lpstr>
      <vt:lpstr>Data Cleaning (Cont.)</vt:lpstr>
      <vt:lpstr>PowerPoint Presentation</vt:lpstr>
      <vt:lpstr>PowerPoint Presentation</vt:lpstr>
      <vt:lpstr>Incomplete (Missing) Data</vt:lpstr>
      <vt:lpstr>Handling the Missing Data</vt:lpstr>
      <vt:lpstr>PowerPoint Presentation</vt:lpstr>
      <vt:lpstr>Noisy Data</vt:lpstr>
      <vt:lpstr>Handling the Noisy Data</vt:lpstr>
      <vt:lpstr>Handling the Noisy Data (Cont.)</vt:lpstr>
      <vt:lpstr>Binning methods for data smoothing</vt:lpstr>
      <vt:lpstr>PowerPoint Presentation</vt:lpstr>
      <vt:lpstr>Outliers</vt:lpstr>
      <vt:lpstr>Outliers (Cont.)</vt:lpstr>
      <vt:lpstr>Types of Outliers</vt:lpstr>
      <vt:lpstr>Types of Outliers (Cont.)</vt:lpstr>
      <vt:lpstr>Types of Outliers (Cont.)</vt:lpstr>
      <vt:lpstr>Challenges of Outlier Detection</vt:lpstr>
      <vt:lpstr>Challenges of Outlier Detection (Cont.)</vt:lpstr>
      <vt:lpstr>Outlier Detection Techniques</vt:lpstr>
      <vt:lpstr>Outlier Detection Techniques (Cont.)</vt:lpstr>
      <vt:lpstr>Outlier Detection Techniques (Cont.)</vt:lpstr>
      <vt:lpstr>Outlier Detection – Statistical Approaches</vt:lpstr>
      <vt:lpstr>Outlier Detection – Statistical Approaches (Cont.)</vt:lpstr>
      <vt:lpstr>Outlier Detection – Statistical Approaches (Cont.)</vt:lpstr>
      <vt:lpstr>Outlier Detection – Statistical Approaches (Cont.)</vt:lpstr>
      <vt:lpstr>PowerPoint Presentation</vt:lpstr>
      <vt:lpstr>Data Transformation</vt:lpstr>
      <vt:lpstr>Data Transformation (Cont.)</vt:lpstr>
      <vt:lpstr>Data Normalization (Standardization)</vt:lpstr>
      <vt:lpstr>Data Normalization – Min-Max Normalization </vt:lpstr>
      <vt:lpstr>Data Normalization – Min-Max Normalization </vt:lpstr>
      <vt:lpstr>Data Normalization – Z-Score Normalization </vt:lpstr>
      <vt:lpstr>Data Normalization – Z-Score Normalization </vt:lpstr>
      <vt:lpstr>Data Normalization – Decimal Scaling Normalization </vt:lpstr>
      <vt:lpstr>Data Normalization – Decimal Scaling Normalization </vt:lpstr>
      <vt:lpstr>PowerPoint Presentation</vt:lpstr>
      <vt:lpstr>Data Integration</vt:lpstr>
      <vt:lpstr>Handling Redundancy when Integrating Data</vt:lpstr>
      <vt:lpstr>Entity Resolution </vt:lpstr>
      <vt:lpstr>Ironically, Entity Resolution has many duplicate names</vt:lpstr>
      <vt:lpstr>Entity Resolution – Normalization </vt:lpstr>
      <vt:lpstr>Entity Resolution – Matching Features </vt:lpstr>
      <vt:lpstr>Entity Resolution – Similarity Measures</vt:lpstr>
      <vt:lpstr>Entity Resolution – Issues</vt:lpstr>
      <vt:lpstr>PowerPoint Presentation</vt:lpstr>
      <vt:lpstr>Data Reduction</vt:lpstr>
      <vt:lpstr>Dimensionality Reduction</vt:lpstr>
      <vt:lpstr>Principal Component Analysis (PCA)</vt:lpstr>
      <vt:lpstr>PCA for Dimensionality Reduction</vt:lpstr>
      <vt:lpstr>Attribute Subset Selection for Data Reduction </vt:lpstr>
      <vt:lpstr>Model-Based Data Reduction</vt:lpstr>
      <vt:lpstr>Histograms for Data Reduction</vt:lpstr>
      <vt:lpstr>Sampling-Based Data Reduction</vt:lpstr>
      <vt:lpstr>Types of Sampling</vt:lpstr>
      <vt:lpstr>Sampling – with or without Replacement</vt:lpstr>
      <vt:lpstr>Sampling – Cluster or Stratified Sampling</vt:lpstr>
      <vt:lpstr>Other Data Preparation Techniques</vt:lpstr>
      <vt:lpstr>Thank You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A.A.A. (Hakim)</cp:lastModifiedBy>
  <cp:revision>193</cp:revision>
  <cp:lastPrinted>2021-09-30T10:50:18Z</cp:lastPrinted>
  <dcterms:created xsi:type="dcterms:W3CDTF">2020-02-17T15:53:26Z</dcterms:created>
  <dcterms:modified xsi:type="dcterms:W3CDTF">2024-09-25T09:57:07Z</dcterms:modified>
</cp:coreProperties>
</file>