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8"/>
  </p:notesMasterIdLst>
  <p:sldIdLst>
    <p:sldId id="256" r:id="rId5"/>
    <p:sldId id="2241" r:id="rId6"/>
    <p:sldId id="886" r:id="rId7"/>
    <p:sldId id="2242" r:id="rId8"/>
    <p:sldId id="259" r:id="rId9"/>
    <p:sldId id="398" r:id="rId10"/>
    <p:sldId id="399" r:id="rId11"/>
    <p:sldId id="400" r:id="rId12"/>
    <p:sldId id="261" r:id="rId13"/>
    <p:sldId id="2236" r:id="rId14"/>
    <p:sldId id="2234" r:id="rId15"/>
    <p:sldId id="401" r:id="rId16"/>
    <p:sldId id="403" r:id="rId17"/>
    <p:sldId id="402" r:id="rId18"/>
    <p:sldId id="404" r:id="rId19"/>
    <p:sldId id="405" r:id="rId20"/>
    <p:sldId id="274" r:id="rId21"/>
    <p:sldId id="262" r:id="rId22"/>
    <p:sldId id="406" r:id="rId23"/>
    <p:sldId id="2235" r:id="rId24"/>
    <p:sldId id="2237" r:id="rId25"/>
    <p:sldId id="364" r:id="rId26"/>
    <p:sldId id="371" r:id="rId27"/>
    <p:sldId id="2238" r:id="rId28"/>
    <p:sldId id="264" r:id="rId29"/>
    <p:sldId id="409" r:id="rId30"/>
    <p:sldId id="410" r:id="rId31"/>
    <p:sldId id="411" r:id="rId32"/>
    <p:sldId id="2239" r:id="rId33"/>
    <p:sldId id="373" r:id="rId34"/>
    <p:sldId id="1056" r:id="rId35"/>
    <p:sldId id="1057" r:id="rId36"/>
    <p:sldId id="1059" r:id="rId37"/>
    <p:sldId id="1060" r:id="rId38"/>
    <p:sldId id="1061" r:id="rId39"/>
    <p:sldId id="1062" r:id="rId40"/>
    <p:sldId id="1073" r:id="rId41"/>
    <p:sldId id="1075" r:id="rId42"/>
    <p:sldId id="1076" r:id="rId43"/>
    <p:sldId id="1063" r:id="rId44"/>
    <p:sldId id="1064" r:id="rId45"/>
    <p:sldId id="2243" r:id="rId46"/>
    <p:sldId id="2240" r:id="rId47"/>
    <p:sldId id="1069" r:id="rId48"/>
    <p:sldId id="1070" r:id="rId49"/>
    <p:sldId id="1071" r:id="rId50"/>
    <p:sldId id="1072" r:id="rId51"/>
    <p:sldId id="1077" r:id="rId52"/>
    <p:sldId id="1078" r:id="rId53"/>
    <p:sldId id="1079" r:id="rId54"/>
    <p:sldId id="1080" r:id="rId55"/>
    <p:sldId id="363" r:id="rId56"/>
    <p:sldId id="910" r:id="rId5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DEE89-9CA4-4ED3-9958-20DE248A0756}" v="62" dt="2020-04-11T23:16:22.0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76" autoAdjust="0"/>
    <p:restoredTop sz="94660"/>
  </p:normalViewPr>
  <p:slideViewPr>
    <p:cSldViewPr snapToGrid="0">
      <p:cViewPr varScale="1">
        <p:scale>
          <a:sx n="115" d="100"/>
          <a:sy n="115"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ahtan, A.A.A. (Hakim)" userId="2e0f559b-8f84-4ffd-87e2-eac7fe92b5e6" providerId="ADAL" clId="{9F92DAC1-9246-4107-A871-0E47AEA90CD9}"/>
    <pc:docChg chg="custSel modSld">
      <pc:chgData name="Qahtan, A.A.A. (Hakim)" userId="2e0f559b-8f84-4ffd-87e2-eac7fe92b5e6" providerId="ADAL" clId="{9F92DAC1-9246-4107-A871-0E47AEA90CD9}" dt="2020-03-23T12:22:32.515" v="39" actId="20577"/>
      <pc:docMkLst>
        <pc:docMk/>
      </pc:docMkLst>
      <pc:sldChg chg="modSp">
        <pc:chgData name="Qahtan, A.A.A. (Hakim)" userId="2e0f559b-8f84-4ffd-87e2-eac7fe92b5e6" providerId="ADAL" clId="{9F92DAC1-9246-4107-A871-0E47AEA90CD9}" dt="2020-03-23T12:22:32.515" v="39" actId="20577"/>
        <pc:sldMkLst>
          <pc:docMk/>
          <pc:sldMk cId="4206597098" sldId="257"/>
        </pc:sldMkLst>
        <pc:spChg chg="mod">
          <ac:chgData name="Qahtan, A.A.A. (Hakim)" userId="2e0f559b-8f84-4ffd-87e2-eac7fe92b5e6" providerId="ADAL" clId="{9F92DAC1-9246-4107-A871-0E47AEA90CD9}" dt="2020-03-23T12:22:32.515" v="39" actId="20577"/>
          <ac:spMkLst>
            <pc:docMk/>
            <pc:sldMk cId="4206597098" sldId="257"/>
            <ac:spMk id="3" creationId="{C1825166-E312-42E3-86E9-D4580053EAA4}"/>
          </ac:spMkLst>
        </pc:spChg>
      </pc:sldChg>
    </pc:docChg>
  </pc:docChgLst>
  <pc:docChgLst>
    <pc:chgData name="Qahtan, A.A.A. (Hakim)" userId="2e0f559b-8f84-4ffd-87e2-eac7fe92b5e6" providerId="ADAL" clId="{D60DEE89-9CA4-4ED3-9958-20DE248A0756}"/>
    <pc:docChg chg="delSld modSld">
      <pc:chgData name="Qahtan, A.A.A. (Hakim)" userId="2e0f559b-8f84-4ffd-87e2-eac7fe92b5e6" providerId="ADAL" clId="{D60DEE89-9CA4-4ED3-9958-20DE248A0756}" dt="2020-04-12T01:54:11.916" v="124" actId="2696"/>
      <pc:docMkLst>
        <pc:docMk/>
      </pc:docMkLst>
      <pc:sldChg chg="modSp">
        <pc:chgData name="Qahtan, A.A.A. (Hakim)" userId="2e0f559b-8f84-4ffd-87e2-eac7fe92b5e6" providerId="ADAL" clId="{D60DEE89-9CA4-4ED3-9958-20DE248A0756}" dt="2020-04-11T01:05:01.908" v="41" actId="20577"/>
        <pc:sldMkLst>
          <pc:docMk/>
          <pc:sldMk cId="2132904506" sldId="410"/>
        </pc:sldMkLst>
        <pc:spChg chg="mod">
          <ac:chgData name="Qahtan, A.A.A. (Hakim)" userId="2e0f559b-8f84-4ffd-87e2-eac7fe92b5e6" providerId="ADAL" clId="{D60DEE89-9CA4-4ED3-9958-20DE248A0756}" dt="2020-04-11T01:05:01.908" v="41" actId="20577"/>
          <ac:spMkLst>
            <pc:docMk/>
            <pc:sldMk cId="2132904506" sldId="410"/>
            <ac:spMk id="3" creationId="{C1825166-E312-42E3-86E9-D4580053EAA4}"/>
          </ac:spMkLst>
        </pc:spChg>
      </pc:sldChg>
      <pc:sldChg chg="modSp">
        <pc:chgData name="Qahtan, A.A.A. (Hakim)" userId="2e0f559b-8f84-4ffd-87e2-eac7fe92b5e6" providerId="ADAL" clId="{D60DEE89-9CA4-4ED3-9958-20DE248A0756}" dt="2020-04-11T23:16:22.062" v="123" actId="20577"/>
        <pc:sldMkLst>
          <pc:docMk/>
          <pc:sldMk cId="459008096" sldId="1066"/>
        </pc:sldMkLst>
        <pc:spChg chg="mod">
          <ac:chgData name="Qahtan, A.A.A. (Hakim)" userId="2e0f559b-8f84-4ffd-87e2-eac7fe92b5e6" providerId="ADAL" clId="{D60DEE89-9CA4-4ED3-9958-20DE248A0756}" dt="2020-04-11T23:16:22.062" v="123" actId="20577"/>
          <ac:spMkLst>
            <pc:docMk/>
            <pc:sldMk cId="459008096" sldId="1066"/>
            <ac:spMk id="3" creationId="{C1825166-E312-42E3-86E9-D4580053EAA4}"/>
          </ac:spMkLst>
        </pc:spChg>
      </pc:sldChg>
      <pc:sldChg chg="modSp">
        <pc:chgData name="Qahtan, A.A.A. (Hakim)" userId="2e0f559b-8f84-4ffd-87e2-eac7fe92b5e6" providerId="ADAL" clId="{D60DEE89-9CA4-4ED3-9958-20DE248A0756}" dt="2020-04-11T02:52:36.458" v="59" actId="20577"/>
        <pc:sldMkLst>
          <pc:docMk/>
          <pc:sldMk cId="3655855791" sldId="1069"/>
        </pc:sldMkLst>
        <pc:spChg chg="mod">
          <ac:chgData name="Qahtan, A.A.A. (Hakim)" userId="2e0f559b-8f84-4ffd-87e2-eac7fe92b5e6" providerId="ADAL" clId="{D60DEE89-9CA4-4ED3-9958-20DE248A0756}" dt="2020-04-11T02:52:36.458" v="59" actId="20577"/>
          <ac:spMkLst>
            <pc:docMk/>
            <pc:sldMk cId="3655855791" sldId="1069"/>
            <ac:spMk id="25" creationId="{3B759A7E-B026-4A89-A9F6-63BBC93C445D}"/>
          </ac:spMkLst>
        </pc:spChg>
      </pc:sldChg>
      <pc:sldChg chg="del">
        <pc:chgData name="Qahtan, A.A.A. (Hakim)" userId="2e0f559b-8f84-4ffd-87e2-eac7fe92b5e6" providerId="ADAL" clId="{D60DEE89-9CA4-4ED3-9958-20DE248A0756}" dt="2020-04-12T01:54:11.916" v="124" actId="2696"/>
        <pc:sldMkLst>
          <pc:docMk/>
          <pc:sldMk cId="1915551059" sldId="1074"/>
        </pc:sldMkLst>
      </pc:sldChg>
      <pc:sldChg chg="modSp">
        <pc:chgData name="Qahtan, A.A.A. (Hakim)" userId="2e0f559b-8f84-4ffd-87e2-eac7fe92b5e6" providerId="ADAL" clId="{D60DEE89-9CA4-4ED3-9958-20DE248A0756}" dt="2020-04-11T02:25:55.839" v="48" actId="20577"/>
        <pc:sldMkLst>
          <pc:docMk/>
          <pc:sldMk cId="1084775298" sldId="1076"/>
        </pc:sldMkLst>
        <pc:spChg chg="mod">
          <ac:chgData name="Qahtan, A.A.A. (Hakim)" userId="2e0f559b-8f84-4ffd-87e2-eac7fe92b5e6" providerId="ADAL" clId="{D60DEE89-9CA4-4ED3-9958-20DE248A0756}" dt="2020-04-11T02:25:55.839" v="48" actId="20577"/>
          <ac:spMkLst>
            <pc:docMk/>
            <pc:sldMk cId="1084775298" sldId="1076"/>
            <ac:spMk id="3" creationId="{C1825166-E312-42E3-86E9-D4580053EAA4}"/>
          </ac:spMkLst>
        </pc:spChg>
      </pc:sldChg>
    </pc:docChg>
  </pc:docChgLst>
  <pc:docChgLst>
    <pc:chgData name="Qahtan, A.A.A. (Hakim)" userId="2e0f559b-8f84-4ffd-87e2-eac7fe92b5e6" providerId="ADAL" clId="{13CC65BD-843C-4A3B-98C3-94852964BE3C}"/>
    <pc:docChg chg="delSld">
      <pc:chgData name="Qahtan, A.A.A. (Hakim)" userId="2e0f559b-8f84-4ffd-87e2-eac7fe92b5e6" providerId="ADAL" clId="{13CC65BD-843C-4A3B-98C3-94852964BE3C}" dt="2020-03-23T12:18:35.498" v="39" actId="2696"/>
      <pc:docMkLst>
        <pc:docMk/>
      </pc:docMkLst>
      <pc:sldChg chg="del">
        <pc:chgData name="Qahtan, A.A.A. (Hakim)" userId="2e0f559b-8f84-4ffd-87e2-eac7fe92b5e6" providerId="ADAL" clId="{13CC65BD-843C-4A3B-98C3-94852964BE3C}" dt="2020-03-23T12:18:17.231" v="0" actId="2696"/>
        <pc:sldMkLst>
          <pc:docMk/>
          <pc:sldMk cId="291229494" sldId="1081"/>
        </pc:sldMkLst>
      </pc:sldChg>
      <pc:sldChg chg="del">
        <pc:chgData name="Qahtan, A.A.A. (Hakim)" userId="2e0f559b-8f84-4ffd-87e2-eac7fe92b5e6" providerId="ADAL" clId="{13CC65BD-843C-4A3B-98C3-94852964BE3C}" dt="2020-03-23T12:18:19.753" v="1" actId="2696"/>
        <pc:sldMkLst>
          <pc:docMk/>
          <pc:sldMk cId="3163506799" sldId="1082"/>
        </pc:sldMkLst>
      </pc:sldChg>
      <pc:sldChg chg="del">
        <pc:chgData name="Qahtan, A.A.A. (Hakim)" userId="2e0f559b-8f84-4ffd-87e2-eac7fe92b5e6" providerId="ADAL" clId="{13CC65BD-843C-4A3B-98C3-94852964BE3C}" dt="2020-03-23T12:18:20.445" v="2" actId="2696"/>
        <pc:sldMkLst>
          <pc:docMk/>
          <pc:sldMk cId="2554313806" sldId="1083"/>
        </pc:sldMkLst>
      </pc:sldChg>
      <pc:sldChg chg="del">
        <pc:chgData name="Qahtan, A.A.A. (Hakim)" userId="2e0f559b-8f84-4ffd-87e2-eac7fe92b5e6" providerId="ADAL" clId="{13CC65BD-843C-4A3B-98C3-94852964BE3C}" dt="2020-03-23T12:18:22.403" v="11" actId="2696"/>
        <pc:sldMkLst>
          <pc:docMk/>
          <pc:sldMk cId="4287762621" sldId="1084"/>
        </pc:sldMkLst>
      </pc:sldChg>
      <pc:sldChg chg="del">
        <pc:chgData name="Qahtan, A.A.A. (Hakim)" userId="2e0f559b-8f84-4ffd-87e2-eac7fe92b5e6" providerId="ADAL" clId="{13CC65BD-843C-4A3B-98C3-94852964BE3C}" dt="2020-03-23T12:18:22.565" v="12" actId="2696"/>
        <pc:sldMkLst>
          <pc:docMk/>
          <pc:sldMk cId="495594847" sldId="1085"/>
        </pc:sldMkLst>
      </pc:sldChg>
      <pc:sldChg chg="del">
        <pc:chgData name="Qahtan, A.A.A. (Hakim)" userId="2e0f559b-8f84-4ffd-87e2-eac7fe92b5e6" providerId="ADAL" clId="{13CC65BD-843C-4A3B-98C3-94852964BE3C}" dt="2020-03-23T12:18:22.755" v="13" actId="2696"/>
        <pc:sldMkLst>
          <pc:docMk/>
          <pc:sldMk cId="1001354965" sldId="1086"/>
        </pc:sldMkLst>
      </pc:sldChg>
      <pc:sldChg chg="del">
        <pc:chgData name="Qahtan, A.A.A. (Hakim)" userId="2e0f559b-8f84-4ffd-87e2-eac7fe92b5e6" providerId="ADAL" clId="{13CC65BD-843C-4A3B-98C3-94852964BE3C}" dt="2020-03-23T12:18:23.320" v="15" actId="2696"/>
        <pc:sldMkLst>
          <pc:docMk/>
          <pc:sldMk cId="3858431177" sldId="1088"/>
        </pc:sldMkLst>
      </pc:sldChg>
      <pc:sldChg chg="del">
        <pc:chgData name="Qahtan, A.A.A. (Hakim)" userId="2e0f559b-8f84-4ffd-87e2-eac7fe92b5e6" providerId="ADAL" clId="{13CC65BD-843C-4A3B-98C3-94852964BE3C}" dt="2020-03-23T12:18:23.528" v="16" actId="2696"/>
        <pc:sldMkLst>
          <pc:docMk/>
          <pc:sldMk cId="2171332194" sldId="1089"/>
        </pc:sldMkLst>
      </pc:sldChg>
      <pc:sldChg chg="del">
        <pc:chgData name="Qahtan, A.A.A. (Hakim)" userId="2e0f559b-8f84-4ffd-87e2-eac7fe92b5e6" providerId="ADAL" clId="{13CC65BD-843C-4A3B-98C3-94852964BE3C}" dt="2020-03-23T12:18:23.083" v="14" actId="2696"/>
        <pc:sldMkLst>
          <pc:docMk/>
          <pc:sldMk cId="1062252283" sldId="1090"/>
        </pc:sldMkLst>
      </pc:sldChg>
      <pc:sldChg chg="del">
        <pc:chgData name="Qahtan, A.A.A. (Hakim)" userId="2e0f559b-8f84-4ffd-87e2-eac7fe92b5e6" providerId="ADAL" clId="{13CC65BD-843C-4A3B-98C3-94852964BE3C}" dt="2020-03-23T12:18:23.750" v="17" actId="2696"/>
        <pc:sldMkLst>
          <pc:docMk/>
          <pc:sldMk cId="1602098250" sldId="1091"/>
        </pc:sldMkLst>
      </pc:sldChg>
      <pc:sldChg chg="del">
        <pc:chgData name="Qahtan, A.A.A. (Hakim)" userId="2e0f559b-8f84-4ffd-87e2-eac7fe92b5e6" providerId="ADAL" clId="{13CC65BD-843C-4A3B-98C3-94852964BE3C}" dt="2020-03-23T12:18:24.028" v="18" actId="2696"/>
        <pc:sldMkLst>
          <pc:docMk/>
          <pc:sldMk cId="3706857891" sldId="1092"/>
        </pc:sldMkLst>
      </pc:sldChg>
      <pc:sldChg chg="del">
        <pc:chgData name="Qahtan, A.A.A. (Hakim)" userId="2e0f559b-8f84-4ffd-87e2-eac7fe92b5e6" providerId="ADAL" clId="{13CC65BD-843C-4A3B-98C3-94852964BE3C}" dt="2020-03-23T12:18:24.356" v="19" actId="2696"/>
        <pc:sldMkLst>
          <pc:docMk/>
          <pc:sldMk cId="3657336332" sldId="1093"/>
        </pc:sldMkLst>
      </pc:sldChg>
      <pc:sldChg chg="del">
        <pc:chgData name="Qahtan, A.A.A. (Hakim)" userId="2e0f559b-8f84-4ffd-87e2-eac7fe92b5e6" providerId="ADAL" clId="{13CC65BD-843C-4A3B-98C3-94852964BE3C}" dt="2020-03-23T12:18:24.500" v="20" actId="2696"/>
        <pc:sldMkLst>
          <pc:docMk/>
          <pc:sldMk cId="1722229024" sldId="1094"/>
        </pc:sldMkLst>
      </pc:sldChg>
      <pc:sldChg chg="del">
        <pc:chgData name="Qahtan, A.A.A. (Hakim)" userId="2e0f559b-8f84-4ffd-87e2-eac7fe92b5e6" providerId="ADAL" clId="{13CC65BD-843C-4A3B-98C3-94852964BE3C}" dt="2020-03-23T12:18:24.583" v="21" actId="2696"/>
        <pc:sldMkLst>
          <pc:docMk/>
          <pc:sldMk cId="4256355823" sldId="1095"/>
        </pc:sldMkLst>
      </pc:sldChg>
      <pc:sldChg chg="del">
        <pc:chgData name="Qahtan, A.A.A. (Hakim)" userId="2e0f559b-8f84-4ffd-87e2-eac7fe92b5e6" providerId="ADAL" clId="{13CC65BD-843C-4A3B-98C3-94852964BE3C}" dt="2020-03-23T12:18:24.788" v="22" actId="2696"/>
        <pc:sldMkLst>
          <pc:docMk/>
          <pc:sldMk cId="2518234483" sldId="1096"/>
        </pc:sldMkLst>
      </pc:sldChg>
      <pc:sldChg chg="del">
        <pc:chgData name="Qahtan, A.A.A. (Hakim)" userId="2e0f559b-8f84-4ffd-87e2-eac7fe92b5e6" providerId="ADAL" clId="{13CC65BD-843C-4A3B-98C3-94852964BE3C}" dt="2020-03-23T12:18:25.317" v="23" actId="2696"/>
        <pc:sldMkLst>
          <pc:docMk/>
          <pc:sldMk cId="3737971764" sldId="1097"/>
        </pc:sldMkLst>
      </pc:sldChg>
      <pc:sldChg chg="del">
        <pc:chgData name="Qahtan, A.A.A. (Hakim)" userId="2e0f559b-8f84-4ffd-87e2-eac7fe92b5e6" providerId="ADAL" clId="{13CC65BD-843C-4A3B-98C3-94852964BE3C}" dt="2020-03-23T12:18:25.568" v="24" actId="2696"/>
        <pc:sldMkLst>
          <pc:docMk/>
          <pc:sldMk cId="3291275678" sldId="1098"/>
        </pc:sldMkLst>
      </pc:sldChg>
      <pc:sldChg chg="del">
        <pc:chgData name="Qahtan, A.A.A. (Hakim)" userId="2e0f559b-8f84-4ffd-87e2-eac7fe92b5e6" providerId="ADAL" clId="{13CC65BD-843C-4A3B-98C3-94852964BE3C}" dt="2020-03-23T12:18:25.938" v="25" actId="2696"/>
        <pc:sldMkLst>
          <pc:docMk/>
          <pc:sldMk cId="3400318586" sldId="1099"/>
        </pc:sldMkLst>
      </pc:sldChg>
      <pc:sldChg chg="del">
        <pc:chgData name="Qahtan, A.A.A. (Hakim)" userId="2e0f559b-8f84-4ffd-87e2-eac7fe92b5e6" providerId="ADAL" clId="{13CC65BD-843C-4A3B-98C3-94852964BE3C}" dt="2020-03-23T12:18:26.410" v="27" actId="2696"/>
        <pc:sldMkLst>
          <pc:docMk/>
          <pc:sldMk cId="3877893763" sldId="1100"/>
        </pc:sldMkLst>
      </pc:sldChg>
      <pc:sldChg chg="del">
        <pc:chgData name="Qahtan, A.A.A. (Hakim)" userId="2e0f559b-8f84-4ffd-87e2-eac7fe92b5e6" providerId="ADAL" clId="{13CC65BD-843C-4A3B-98C3-94852964BE3C}" dt="2020-03-23T12:18:26.105" v="26" actId="2696"/>
        <pc:sldMkLst>
          <pc:docMk/>
          <pc:sldMk cId="985700354" sldId="1101"/>
        </pc:sldMkLst>
      </pc:sldChg>
      <pc:sldChg chg="del">
        <pc:chgData name="Qahtan, A.A.A. (Hakim)" userId="2e0f559b-8f84-4ffd-87e2-eac7fe92b5e6" providerId="ADAL" clId="{13CC65BD-843C-4A3B-98C3-94852964BE3C}" dt="2020-03-23T12:18:26.914" v="28" actId="2696"/>
        <pc:sldMkLst>
          <pc:docMk/>
          <pc:sldMk cId="2904219264" sldId="1102"/>
        </pc:sldMkLst>
      </pc:sldChg>
      <pc:sldChg chg="del">
        <pc:chgData name="Qahtan, A.A.A. (Hakim)" userId="2e0f559b-8f84-4ffd-87e2-eac7fe92b5e6" providerId="ADAL" clId="{13CC65BD-843C-4A3B-98C3-94852964BE3C}" dt="2020-03-23T12:18:27.006" v="29" actId="2696"/>
        <pc:sldMkLst>
          <pc:docMk/>
          <pc:sldMk cId="786646970" sldId="1103"/>
        </pc:sldMkLst>
      </pc:sldChg>
      <pc:sldChg chg="del">
        <pc:chgData name="Qahtan, A.A.A. (Hakim)" userId="2e0f559b-8f84-4ffd-87e2-eac7fe92b5e6" providerId="ADAL" clId="{13CC65BD-843C-4A3B-98C3-94852964BE3C}" dt="2020-03-23T12:18:27.305" v="30" actId="2696"/>
        <pc:sldMkLst>
          <pc:docMk/>
          <pc:sldMk cId="550208015" sldId="1104"/>
        </pc:sldMkLst>
      </pc:sldChg>
      <pc:sldChg chg="del">
        <pc:chgData name="Qahtan, A.A.A. (Hakim)" userId="2e0f559b-8f84-4ffd-87e2-eac7fe92b5e6" providerId="ADAL" clId="{13CC65BD-843C-4A3B-98C3-94852964BE3C}" dt="2020-03-23T12:18:27.527" v="31" actId="2696"/>
        <pc:sldMkLst>
          <pc:docMk/>
          <pc:sldMk cId="3148371749" sldId="1105"/>
        </pc:sldMkLst>
      </pc:sldChg>
      <pc:sldChg chg="del">
        <pc:chgData name="Qahtan, A.A.A. (Hakim)" userId="2e0f559b-8f84-4ffd-87e2-eac7fe92b5e6" providerId="ADAL" clId="{13CC65BD-843C-4A3B-98C3-94852964BE3C}" dt="2020-03-23T12:18:20.867" v="3" actId="2696"/>
        <pc:sldMkLst>
          <pc:docMk/>
          <pc:sldMk cId="2960165591" sldId="1106"/>
        </pc:sldMkLst>
      </pc:sldChg>
      <pc:sldChg chg="del">
        <pc:chgData name="Qahtan, A.A.A. (Hakim)" userId="2e0f559b-8f84-4ffd-87e2-eac7fe92b5e6" providerId="ADAL" clId="{13CC65BD-843C-4A3B-98C3-94852964BE3C}" dt="2020-03-23T12:18:21.208" v="4" actId="2696"/>
        <pc:sldMkLst>
          <pc:docMk/>
          <pc:sldMk cId="465984472" sldId="1107"/>
        </pc:sldMkLst>
      </pc:sldChg>
      <pc:sldChg chg="del">
        <pc:chgData name="Qahtan, A.A.A. (Hakim)" userId="2e0f559b-8f84-4ffd-87e2-eac7fe92b5e6" providerId="ADAL" clId="{13CC65BD-843C-4A3B-98C3-94852964BE3C}" dt="2020-03-23T12:18:21.544" v="5" actId="2696"/>
        <pc:sldMkLst>
          <pc:docMk/>
          <pc:sldMk cId="4130703618" sldId="1108"/>
        </pc:sldMkLst>
      </pc:sldChg>
      <pc:sldChg chg="del">
        <pc:chgData name="Qahtan, A.A.A. (Hakim)" userId="2e0f559b-8f84-4ffd-87e2-eac7fe92b5e6" providerId="ADAL" clId="{13CC65BD-843C-4A3B-98C3-94852964BE3C}" dt="2020-03-23T12:18:21.734" v="6" actId="2696"/>
        <pc:sldMkLst>
          <pc:docMk/>
          <pc:sldMk cId="2170495588" sldId="1109"/>
        </pc:sldMkLst>
      </pc:sldChg>
      <pc:sldChg chg="del">
        <pc:chgData name="Qahtan, A.A.A. (Hakim)" userId="2e0f559b-8f84-4ffd-87e2-eac7fe92b5e6" providerId="ADAL" clId="{13CC65BD-843C-4A3B-98C3-94852964BE3C}" dt="2020-03-23T12:18:21.899" v="7" actId="2696"/>
        <pc:sldMkLst>
          <pc:docMk/>
          <pc:sldMk cId="1143238543" sldId="1110"/>
        </pc:sldMkLst>
      </pc:sldChg>
      <pc:sldChg chg="del">
        <pc:chgData name="Qahtan, A.A.A. (Hakim)" userId="2e0f559b-8f84-4ffd-87e2-eac7fe92b5e6" providerId="ADAL" clId="{13CC65BD-843C-4A3B-98C3-94852964BE3C}" dt="2020-03-23T12:18:22.045" v="8" actId="2696"/>
        <pc:sldMkLst>
          <pc:docMk/>
          <pc:sldMk cId="272692862" sldId="1111"/>
        </pc:sldMkLst>
      </pc:sldChg>
      <pc:sldChg chg="del">
        <pc:chgData name="Qahtan, A.A.A. (Hakim)" userId="2e0f559b-8f84-4ffd-87e2-eac7fe92b5e6" providerId="ADAL" clId="{13CC65BD-843C-4A3B-98C3-94852964BE3C}" dt="2020-03-23T12:18:22.197" v="9" actId="2696"/>
        <pc:sldMkLst>
          <pc:docMk/>
          <pc:sldMk cId="389647025" sldId="1112"/>
        </pc:sldMkLst>
      </pc:sldChg>
      <pc:sldChg chg="del">
        <pc:chgData name="Qahtan, A.A.A. (Hakim)" userId="2e0f559b-8f84-4ffd-87e2-eac7fe92b5e6" providerId="ADAL" clId="{13CC65BD-843C-4A3B-98C3-94852964BE3C}" dt="2020-03-23T12:18:22.317" v="10" actId="2696"/>
        <pc:sldMkLst>
          <pc:docMk/>
          <pc:sldMk cId="1065788880" sldId="1113"/>
        </pc:sldMkLst>
      </pc:sldChg>
      <pc:sldChg chg="del">
        <pc:chgData name="Qahtan, A.A.A. (Hakim)" userId="2e0f559b-8f84-4ffd-87e2-eac7fe92b5e6" providerId="ADAL" clId="{13CC65BD-843C-4A3B-98C3-94852964BE3C}" dt="2020-03-23T12:18:27.902" v="32" actId="2696"/>
        <pc:sldMkLst>
          <pc:docMk/>
          <pc:sldMk cId="889100306" sldId="1114"/>
        </pc:sldMkLst>
      </pc:sldChg>
      <pc:sldChg chg="del">
        <pc:chgData name="Qahtan, A.A.A. (Hakim)" userId="2e0f559b-8f84-4ffd-87e2-eac7fe92b5e6" providerId="ADAL" clId="{13CC65BD-843C-4A3B-98C3-94852964BE3C}" dt="2020-03-23T12:18:28.523" v="33" actId="2696"/>
        <pc:sldMkLst>
          <pc:docMk/>
          <pc:sldMk cId="1687131174" sldId="1115"/>
        </pc:sldMkLst>
      </pc:sldChg>
      <pc:sldChg chg="del">
        <pc:chgData name="Qahtan, A.A.A. (Hakim)" userId="2e0f559b-8f84-4ffd-87e2-eac7fe92b5e6" providerId="ADAL" clId="{13CC65BD-843C-4A3B-98C3-94852964BE3C}" dt="2020-03-23T12:18:28.808" v="34" actId="2696"/>
        <pc:sldMkLst>
          <pc:docMk/>
          <pc:sldMk cId="3169171861" sldId="1116"/>
        </pc:sldMkLst>
      </pc:sldChg>
      <pc:sldChg chg="del">
        <pc:chgData name="Qahtan, A.A.A. (Hakim)" userId="2e0f559b-8f84-4ffd-87e2-eac7fe92b5e6" providerId="ADAL" clId="{13CC65BD-843C-4A3B-98C3-94852964BE3C}" dt="2020-03-23T12:18:29.210" v="35" actId="2696"/>
        <pc:sldMkLst>
          <pc:docMk/>
          <pc:sldMk cId="97460913" sldId="1117"/>
        </pc:sldMkLst>
      </pc:sldChg>
      <pc:sldChg chg="del">
        <pc:chgData name="Qahtan, A.A.A. (Hakim)" userId="2e0f559b-8f84-4ffd-87e2-eac7fe92b5e6" providerId="ADAL" clId="{13CC65BD-843C-4A3B-98C3-94852964BE3C}" dt="2020-03-23T12:18:29.422" v="36" actId="2696"/>
        <pc:sldMkLst>
          <pc:docMk/>
          <pc:sldMk cId="3583263098" sldId="1118"/>
        </pc:sldMkLst>
      </pc:sldChg>
      <pc:sldChg chg="del">
        <pc:chgData name="Qahtan, A.A.A. (Hakim)" userId="2e0f559b-8f84-4ffd-87e2-eac7fe92b5e6" providerId="ADAL" clId="{13CC65BD-843C-4A3B-98C3-94852964BE3C}" dt="2020-03-23T12:18:29.800" v="37" actId="2696"/>
        <pc:sldMkLst>
          <pc:docMk/>
          <pc:sldMk cId="1984393103" sldId="1119"/>
        </pc:sldMkLst>
      </pc:sldChg>
      <pc:sldChg chg="del">
        <pc:chgData name="Qahtan, A.A.A. (Hakim)" userId="2e0f559b-8f84-4ffd-87e2-eac7fe92b5e6" providerId="ADAL" clId="{13CC65BD-843C-4A3B-98C3-94852964BE3C}" dt="2020-03-23T12:18:30.561" v="38" actId="2696"/>
        <pc:sldMkLst>
          <pc:docMk/>
          <pc:sldMk cId="247878691" sldId="1120"/>
        </pc:sldMkLst>
      </pc:sldChg>
      <pc:sldChg chg="del">
        <pc:chgData name="Qahtan, A.A.A. (Hakim)" userId="2e0f559b-8f84-4ffd-87e2-eac7fe92b5e6" providerId="ADAL" clId="{13CC65BD-843C-4A3B-98C3-94852964BE3C}" dt="2020-03-23T12:18:35.498" v="39" actId="2696"/>
        <pc:sldMkLst>
          <pc:docMk/>
          <pc:sldMk cId="2345571238" sldId="112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2F3-4B30-B6AD-77AC53DB0BE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2F3-4B30-B6AD-77AC53DB0BE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2F3-4B30-B6AD-77AC53DB0BE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2F3-4B30-B6AD-77AC53DB0BE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D2F3-4B30-B6AD-77AC53DB0BE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D2F3-4B30-B6AD-77AC53DB0BE8}"/>
              </c:ext>
            </c:extLst>
          </c:dPt>
          <c:dLbls>
            <c:dLbl>
              <c:idx val="0"/>
              <c:layout>
                <c:manualLayout>
                  <c:x val="-0.12367264310622815"/>
                  <c:y val="-8.044816100133316E-2"/>
                </c:manualLayout>
              </c:layout>
              <c:tx>
                <c:rich>
                  <a:bodyPr/>
                  <a:lstStyle/>
                  <a:p>
                    <a:fld id="{01150C84-A3FC-4AC1-BA79-D7486FA32435}" type="VALUE">
                      <a:rPr lang="en-US"/>
                      <a:pPr/>
                      <a:t>[VALUE]</a:t>
                    </a:fld>
                    <a:r>
                      <a:rPr lang="en-US"/>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2F3-4B30-B6AD-77AC53DB0BE8}"/>
                </c:ext>
              </c:extLst>
            </c:dLbl>
            <c:dLbl>
              <c:idx val="1"/>
              <c:tx>
                <c:rich>
                  <a:bodyPr/>
                  <a:lstStyle/>
                  <a:p>
                    <a:fld id="{70D59B92-885D-4DC2-9D46-B3CD2C24C74D}" type="PERCENTAGE">
                      <a:rPr lang="en-US"/>
                      <a:pPr/>
                      <a:t>[PERCENTAGE]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2F3-4B30-B6AD-77AC53DB0BE8}"/>
                </c:ext>
              </c:extLst>
            </c:dLbl>
            <c:dLbl>
              <c:idx val="2"/>
              <c:tx>
                <c:rich>
                  <a:bodyPr/>
                  <a:lstStyle/>
                  <a:p>
                    <a:fld id="{FCC11EF0-F80D-4912-BD3E-5D49765769F2}" type="PERCENTAGE">
                      <a:rPr lang="en-US"/>
                      <a:pPr/>
                      <a:t>[PERCENTAGE]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2F3-4B30-B6AD-77AC53DB0BE8}"/>
                </c:ext>
              </c:extLst>
            </c:dLbl>
            <c:dLbl>
              <c:idx val="3"/>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fld id="{8A43AEF0-87F1-466E-9F02-9054EBF42D00}" type="VALUE">
                      <a:rPr lang="en-US">
                        <a:solidFill>
                          <a:schemeClr val="tx1"/>
                        </a:solidFill>
                      </a:rPr>
                      <a:pPr>
                        <a:defRPr>
                          <a:solidFill>
                            <a:schemeClr val="tx1"/>
                          </a:solidFill>
                        </a:defRPr>
                      </a:pPr>
                      <a:t>[VALUE]</a:t>
                    </a:fld>
                    <a:r>
                      <a:rPr lang="en-US">
                        <a:solidFill>
                          <a:schemeClr val="tx1"/>
                        </a:solidFill>
                      </a:rPr>
                      <a:t>%</a:t>
                    </a:r>
                  </a:p>
                </c:rich>
              </c:tx>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D2F3-4B30-B6AD-77AC53DB0BE8}"/>
                </c:ext>
              </c:extLst>
            </c:dLbl>
            <c:dLbl>
              <c:idx val="4"/>
              <c:tx>
                <c:rich>
                  <a:bodyPr/>
                  <a:lstStyle/>
                  <a:p>
                    <a:fld id="{19C11A39-3B28-4139-86FF-11A2086355F0}" type="VALUE">
                      <a:rPr lang="en-US"/>
                      <a:pPr/>
                      <a:t>[VALUE]</a:t>
                    </a:fld>
                    <a:r>
                      <a:rPr lang="en-US"/>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D2F3-4B30-B6AD-77AC53DB0BE8}"/>
                </c:ext>
              </c:extLst>
            </c:dLbl>
            <c:dLbl>
              <c:idx val="5"/>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fld id="{E6969267-B81E-4A65-BFB9-E1FEA9FFE089}" type="VALUE">
                      <a:rPr lang="en-US">
                        <a:solidFill>
                          <a:schemeClr val="tx1"/>
                        </a:solidFill>
                      </a:rPr>
                      <a:pPr>
                        <a:defRPr>
                          <a:solidFill>
                            <a:schemeClr val="tx1"/>
                          </a:solidFill>
                        </a:defRPr>
                      </a:pPr>
                      <a:t>[VALUE]</a:t>
                    </a:fld>
                    <a:r>
                      <a:rPr lang="en-US">
                        <a:solidFill>
                          <a:schemeClr val="tx1"/>
                        </a:solidFill>
                      </a:rPr>
                      <a:t>%</a:t>
                    </a:r>
                  </a:p>
                </c:rich>
              </c:tx>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D2F3-4B30-B6AD-77AC53DB0BE8}"/>
                </c:ext>
              </c:extLst>
            </c:dLbl>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Sheet1!$F$3:$F$8</c:f>
              <c:strCache>
                <c:ptCount val="6"/>
                <c:pt idx="0">
                  <c:v>Collecting datasets</c:v>
                </c:pt>
                <c:pt idx="1">
                  <c:v>Cleaning and organizing the data</c:v>
                </c:pt>
                <c:pt idx="2">
                  <c:v>mining data for patterns </c:v>
                </c:pt>
                <c:pt idx="3">
                  <c:v>Refining algorithms</c:v>
                </c:pt>
                <c:pt idx="4">
                  <c:v>Other</c:v>
                </c:pt>
                <c:pt idx="5">
                  <c:v>Building training sets</c:v>
                </c:pt>
              </c:strCache>
            </c:strRef>
          </c:cat>
          <c:val>
            <c:numRef>
              <c:f>Sheet1!$E$3:$E$8</c:f>
              <c:numCache>
                <c:formatCode>General</c:formatCode>
                <c:ptCount val="6"/>
                <c:pt idx="0">
                  <c:v>60</c:v>
                </c:pt>
                <c:pt idx="1">
                  <c:v>19</c:v>
                </c:pt>
                <c:pt idx="2">
                  <c:v>9</c:v>
                </c:pt>
                <c:pt idx="3">
                  <c:v>4</c:v>
                </c:pt>
                <c:pt idx="4">
                  <c:v>5</c:v>
                </c:pt>
                <c:pt idx="5">
                  <c:v>3</c:v>
                </c:pt>
              </c:numCache>
            </c:numRef>
          </c:val>
          <c:extLst>
            <c:ext xmlns:c16="http://schemas.microsoft.com/office/drawing/2014/chart" uri="{C3380CC4-5D6E-409C-BE32-E72D297353CC}">
              <c16:uniqueId val="{0000000C-D2F3-4B30-B6AD-77AC53DB0BE8}"/>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67264246764817004"/>
          <c:y val="0.17672120776143385"/>
          <c:w val="0.32586599198563887"/>
          <c:h val="0.52143290683642973"/>
        </c:manualLayout>
      </c:layout>
      <c:overlay val="0"/>
      <c:spPr>
        <a:noFill/>
        <a:ln>
          <a:noFill/>
        </a:ln>
        <a:effectLst/>
      </c:spPr>
      <c:txPr>
        <a:bodyPr rot="0" spcFirstLastPara="1" vertOverflow="ellipsis" vert="horz" wrap="square" anchor="ctr" anchorCtr="1"/>
        <a:lstStyle/>
        <a:p>
          <a:pPr rtl="0">
            <a:defRPr sz="1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C72E7-1AC8-4769-8510-C8FBA4EE0D31}" type="datetimeFigureOut">
              <a:rPr lang="nl-NL" smtClean="0"/>
              <a:t>05-10-2025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06F6A5-1236-40E7-B937-7650038E63C3}" type="slidenum">
              <a:rPr lang="nl-NL" smtClean="0"/>
              <a:t>‹#›</a:t>
            </a:fld>
            <a:endParaRPr lang="nl-NL"/>
          </a:p>
        </p:txBody>
      </p:sp>
    </p:spTree>
    <p:extLst>
      <p:ext uri="{BB962C8B-B14F-4D97-AF65-F5344CB8AC3E}">
        <p14:creationId xmlns:p14="http://schemas.microsoft.com/office/powerpoint/2010/main" val="405352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C0E5B486-6A9F-DE47-872C-B95ED20BB4BE}" type="slidenum">
              <a:rPr lang="x-none" smtClean="0"/>
              <a:t>53</a:t>
            </a:fld>
            <a:endParaRPr lang="x-none"/>
          </a:p>
        </p:txBody>
      </p:sp>
    </p:spTree>
    <p:extLst>
      <p:ext uri="{BB962C8B-B14F-4D97-AF65-F5344CB8AC3E}">
        <p14:creationId xmlns:p14="http://schemas.microsoft.com/office/powerpoint/2010/main" val="1049357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F436-0D9D-46AD-BEFF-5E111B7B38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5147BDE8-4FB5-4522-BEB2-CB4D9D428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5" name="Footer Placeholder 4">
            <a:extLst>
              <a:ext uri="{FF2B5EF4-FFF2-40B4-BE49-F238E27FC236}">
                <a16:creationId xmlns:a16="http://schemas.microsoft.com/office/drawing/2014/main" id="{64C33C5D-99D5-4165-B1F8-06B37021373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6B4D59A6-9BE8-4C30-961C-4CAF7195873B}"/>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5B115A1C-F137-473C-B049-8E2E1D4382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4171098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F329-0391-403E-893E-D576018AC6DB}"/>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6C20DF60-B5C5-4B67-9C59-D776B1162E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6727592F-54D9-46E8-91E8-E3155C6AEBD9}"/>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54E3E60-7A04-4ACB-A597-49AF9D1E0152}"/>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0FE4EE32-EE92-49A9-B978-9AF46FFCEE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67821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3EC57-5DD0-4A03-BF25-28F500D6A7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A1EA68C0-D0E2-4B3B-8DF5-99D3AE482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04E84D37-B5E3-465E-AB9F-1A46C3CB818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C507BA4-8DAB-4D1A-8C7A-0034BED320AF}"/>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B4FFACBE-778B-452B-B7B2-D991B629EC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331956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4064-BB62-46B8-9CC2-D029177ED97E}"/>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320FF1E0-3B14-45A4-A725-D5051F77CA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3097A2AD-DE0E-4543-BF32-97E6165844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a:extLst>
              <a:ext uri="{FF2B5EF4-FFF2-40B4-BE49-F238E27FC236}">
                <a16:creationId xmlns:a16="http://schemas.microsoft.com/office/drawing/2014/main" id="{5C78A81F-A3D5-45B8-A8C9-BF8B43453A60}"/>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2658AD99-EEEA-444C-A59A-65F3888F1114}"/>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8" name="Afbeelding 9">
            <a:extLst>
              <a:ext uri="{FF2B5EF4-FFF2-40B4-BE49-F238E27FC236}">
                <a16:creationId xmlns:a16="http://schemas.microsoft.com/office/drawing/2014/main" id="{6E2A276F-6FEF-4ED3-85CF-E9CF754543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1499754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7D37-7754-4A9C-BCC6-11C47E9284C0}"/>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A4D75442-2125-4972-A200-5E35EC3A2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CEFCD3-FF8C-4968-9CED-85E6346B6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71DA86E1-83D0-49D4-A54B-9F17BF050F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0C060A-6098-4350-8720-54C7423C64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8" name="Footer Placeholder 7">
            <a:extLst>
              <a:ext uri="{FF2B5EF4-FFF2-40B4-BE49-F238E27FC236}">
                <a16:creationId xmlns:a16="http://schemas.microsoft.com/office/drawing/2014/main" id="{90682D38-0587-46DF-BC2F-54BCA5167C81}"/>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ACEDE6AB-74D5-42F1-A4DE-5A6E0B56C634}"/>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10" name="Afbeelding 9">
            <a:extLst>
              <a:ext uri="{FF2B5EF4-FFF2-40B4-BE49-F238E27FC236}">
                <a16:creationId xmlns:a16="http://schemas.microsoft.com/office/drawing/2014/main" id="{CC785A4D-427F-44CB-8E0A-B101B55E5B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899719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89489-85CB-4669-ACBD-78EF5FE99A63}"/>
              </a:ext>
            </a:extLst>
          </p:cNvPr>
          <p:cNvSpPr>
            <a:spLocks noGrp="1"/>
          </p:cNvSpPr>
          <p:nvPr>
            <p:ph type="title"/>
          </p:nvPr>
        </p:nvSpPr>
        <p:spPr/>
        <p:txBody>
          <a:bodyPr/>
          <a:lstStyle/>
          <a:p>
            <a:r>
              <a:rPr lang="en-US"/>
              <a:t>Click to edit Master title style</a:t>
            </a:r>
            <a:endParaRPr lang="nl-NL"/>
          </a:p>
        </p:txBody>
      </p:sp>
      <p:sp>
        <p:nvSpPr>
          <p:cNvPr id="4" name="Footer Placeholder 3">
            <a:extLst>
              <a:ext uri="{FF2B5EF4-FFF2-40B4-BE49-F238E27FC236}">
                <a16:creationId xmlns:a16="http://schemas.microsoft.com/office/drawing/2014/main" id="{35CE259A-9F68-4D64-B695-B05BF20BA964}"/>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22B55463-B67C-4CFD-B89A-A5AC40491AA7}"/>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6" name="Afbeelding 9">
            <a:extLst>
              <a:ext uri="{FF2B5EF4-FFF2-40B4-BE49-F238E27FC236}">
                <a16:creationId xmlns:a16="http://schemas.microsoft.com/office/drawing/2014/main" id="{4E1FECAE-E5B2-4686-BED7-57C4C269E9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22788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975913-F874-4ACB-BF38-06993DE482AB}"/>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9158B41A-AEDF-4412-BB53-522D256DE078}"/>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5" name="Afbeelding 9">
            <a:extLst>
              <a:ext uri="{FF2B5EF4-FFF2-40B4-BE49-F238E27FC236}">
                <a16:creationId xmlns:a16="http://schemas.microsoft.com/office/drawing/2014/main" id="{003DCD53-61B3-4260-9781-C03ECF355E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1629995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5079-FBD9-4B6E-93BC-C2C72C3D6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8FCFB345-DC72-4009-80DF-ADF36B45C8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F554BB79-2FE3-4EEC-A47B-F6AA444FC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DD404493-2A24-4F5A-99BE-DED35B9AC3CD}"/>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643EAAD-7F90-46F6-8777-C00D5AD3AD36}"/>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8" name="Afbeelding 9">
            <a:extLst>
              <a:ext uri="{FF2B5EF4-FFF2-40B4-BE49-F238E27FC236}">
                <a16:creationId xmlns:a16="http://schemas.microsoft.com/office/drawing/2014/main" id="{F5965B39-71B2-49D0-86D7-1658D734E3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010239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C5DE-40EB-400F-BB8C-DD4CE993E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BB0676FA-A76F-4435-A2C2-2AD6DBB5C9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39D88418-CE82-4860-B21C-19BC3A38A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337901AD-1CEA-40EE-8192-D18DA32CA3E6}"/>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A29D7769-3DBE-45F4-9D6C-319778BCB54D}"/>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8" name="Afbeelding 9">
            <a:extLst>
              <a:ext uri="{FF2B5EF4-FFF2-40B4-BE49-F238E27FC236}">
                <a16:creationId xmlns:a16="http://schemas.microsoft.com/office/drawing/2014/main" id="{6E6FBEF1-7C0B-499C-A27C-52802B84CB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3559820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7AE8A-1C31-4B80-8E0E-FA8EE7EA7E8E}"/>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4A7039C-9E8F-49C2-A124-D628993DB0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69DC1EB7-C34F-4E92-8B14-28B788637B7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8CBF4EAA-ABFC-4164-BDD9-D6C18344DF63}"/>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AA2390CE-E4A9-42B0-B346-6C3BF875E1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617979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0A7D13-05FB-4F56-9DD4-53C5B300C3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685630CA-2274-448F-B50F-D48D280FDE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B7717B21-54CC-48E7-894A-27142611C417}"/>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EF97B17-C995-407A-9DC9-4DE969B4F302}"/>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4359B83E-457B-4A56-97E8-EF80F651073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84889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7109B4-6259-4B71-963F-E6EF90917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86F9CCA7-0EF3-49F7-943E-25DD645B6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715F321C-7E99-47F2-9215-9A27ED0A15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nl-NL"/>
          </a:p>
        </p:txBody>
      </p:sp>
      <p:sp>
        <p:nvSpPr>
          <p:cNvPr id="5" name="Footer Placeholder 4">
            <a:extLst>
              <a:ext uri="{FF2B5EF4-FFF2-40B4-BE49-F238E27FC236}">
                <a16:creationId xmlns:a16="http://schemas.microsoft.com/office/drawing/2014/main" id="{C4A2F472-351E-4F7F-B8E9-339BDFCA7B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721653A4-AF1B-4E4A-ACF4-770CE4B004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8F54C-053C-4394-9990-70DE256B1A6D}" type="slidenum">
              <a:rPr lang="nl-NL" smtClean="0"/>
              <a:t>‹#›</a:t>
            </a:fld>
            <a:endParaRPr lang="nl-NL"/>
          </a:p>
        </p:txBody>
      </p:sp>
    </p:spTree>
    <p:extLst>
      <p:ext uri="{BB962C8B-B14F-4D97-AF65-F5344CB8AC3E}">
        <p14:creationId xmlns:p14="http://schemas.microsoft.com/office/powerpoint/2010/main" val="902710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3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4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2">
            <a:extLst>
              <a:ext uri="{FF2B5EF4-FFF2-40B4-BE49-F238E27FC236}">
                <a16:creationId xmlns:a16="http://schemas.microsoft.com/office/drawing/2014/main" id="{67D5AF9D-B0DC-43A3-AAC6-1547D97B9220}"/>
              </a:ext>
            </a:extLst>
          </p:cNvPr>
          <p:cNvSpPr txBox="1">
            <a:spLocks/>
          </p:cNvSpPr>
          <p:nvPr/>
        </p:nvSpPr>
        <p:spPr>
          <a:xfrm>
            <a:off x="3578203" y="5316032"/>
            <a:ext cx="5038747" cy="4388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b="1" dirty="0">
                <a:latin typeface="Times New Roman" panose="02020603050405020304" pitchFamily="18" charset="0"/>
                <a:cs typeface="Times New Roman" panose="02020603050405020304" pitchFamily="18" charset="0"/>
              </a:rPr>
              <a:t>Hakim Qahtan</a:t>
            </a:r>
            <a:endParaRPr lang="nl-NL" sz="2200" b="1" dirty="0">
              <a:latin typeface="Times New Roman" panose="02020603050405020304" pitchFamily="18" charset="0"/>
              <a:cs typeface="Times New Roman" panose="02020603050405020304" pitchFamily="18" charset="0"/>
            </a:endParaRPr>
          </a:p>
        </p:txBody>
      </p:sp>
      <p:sp>
        <p:nvSpPr>
          <p:cNvPr id="5" name="Tijdelijke aanduiding voor tekst 3">
            <a:extLst>
              <a:ext uri="{FF2B5EF4-FFF2-40B4-BE49-F238E27FC236}">
                <a16:creationId xmlns:a16="http://schemas.microsoft.com/office/drawing/2014/main" id="{A0C7FD2C-79F4-4035-B87B-567FCDEE550A}"/>
              </a:ext>
            </a:extLst>
          </p:cNvPr>
          <p:cNvSpPr txBox="1">
            <a:spLocks/>
          </p:cNvSpPr>
          <p:nvPr/>
        </p:nvSpPr>
        <p:spPr>
          <a:xfrm>
            <a:off x="2743201" y="5842400"/>
            <a:ext cx="7376984" cy="8673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latin typeface="Times New Roman" panose="02020603050405020304" pitchFamily="18" charset="0"/>
                <a:cs typeface="Times New Roman" panose="02020603050405020304" pitchFamily="18" charset="0"/>
              </a:rPr>
              <a:t>Department of Information and Computing Sciences</a:t>
            </a:r>
          </a:p>
          <a:p>
            <a:pPr marL="0" indent="0" algn="ctr">
              <a:buNone/>
            </a:pPr>
            <a:r>
              <a:rPr lang="en-US" sz="2000" dirty="0">
                <a:latin typeface="Times New Roman" panose="02020603050405020304" pitchFamily="18" charset="0"/>
                <a:cs typeface="Times New Roman" panose="02020603050405020304" pitchFamily="18" charset="0"/>
              </a:rPr>
              <a:t>Utrecht University</a:t>
            </a:r>
            <a:endParaRPr lang="nl-NL" sz="20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B95150EB-C963-4057-9C23-EDF2C9EC6773}"/>
              </a:ext>
            </a:extLst>
          </p:cNvPr>
          <p:cNvSpPr/>
          <p:nvPr/>
        </p:nvSpPr>
        <p:spPr>
          <a:xfrm>
            <a:off x="620785" y="1342238"/>
            <a:ext cx="11308360" cy="2360691"/>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Times New Roman" panose="02020603050405020304" pitchFamily="18" charset="0"/>
                <a:cs typeface="Times New Roman" panose="02020603050405020304" pitchFamily="18" charset="0"/>
              </a:rPr>
              <a:t>Data Wrangling and Data Analysis</a:t>
            </a:r>
          </a:p>
          <a:p>
            <a:pPr algn="ctr"/>
            <a:r>
              <a:rPr lang="en-US" sz="3600" b="1" dirty="0">
                <a:solidFill>
                  <a:schemeClr val="tx1"/>
                </a:solidFill>
                <a:latin typeface="Times New Roman" panose="02020603050405020304" pitchFamily="18" charset="0"/>
                <a:cs typeface="Times New Roman" panose="02020603050405020304" pitchFamily="18" charset="0"/>
              </a:rPr>
              <a:t> </a:t>
            </a:r>
          </a:p>
          <a:p>
            <a:pPr algn="ctr"/>
            <a:r>
              <a:rPr lang="en-US" altLang="nl-NL" sz="3600" b="1" dirty="0">
                <a:solidFill>
                  <a:schemeClr val="tx1"/>
                </a:solidFill>
                <a:latin typeface="Times New Roman" panose="02020603050405020304" pitchFamily="18" charset="0"/>
                <a:cs typeface="Times New Roman" panose="02020603050405020304" pitchFamily="18" charset="0"/>
              </a:rPr>
              <a:t>Data Preparation</a:t>
            </a:r>
          </a:p>
        </p:txBody>
      </p:sp>
      <p:sp>
        <p:nvSpPr>
          <p:cNvPr id="7" name="Rectangle 3">
            <a:extLst>
              <a:ext uri="{FF2B5EF4-FFF2-40B4-BE49-F238E27FC236}">
                <a16:creationId xmlns:a16="http://schemas.microsoft.com/office/drawing/2014/main" id="{EA95B730-DEB8-45EC-95F6-9E624B67ABF0}"/>
              </a:ext>
            </a:extLst>
          </p:cNvPr>
          <p:cNvSpPr txBox="1">
            <a:spLocks noChangeArrowheads="1"/>
          </p:cNvSpPr>
          <p:nvPr/>
        </p:nvSpPr>
        <p:spPr>
          <a:xfrm>
            <a:off x="2897187" y="3702930"/>
            <a:ext cx="6400800" cy="1199423"/>
          </a:xfrm>
          <a:prstGeom prst="rect">
            <a:avLst/>
          </a:prstGeom>
        </p:spPr>
        <p:txBody>
          <a:bodyPr/>
          <a:lstStyle>
            <a:lvl1pPr marL="0" indent="0" algn="l" defTabSz="914400" rtl="0" eaLnBrk="1" latinLnBrk="0" hangingPunct="1">
              <a:lnSpc>
                <a:spcPct val="110000"/>
              </a:lnSpc>
              <a:spcBef>
                <a:spcPts val="0"/>
              </a:spcBef>
              <a:buFont typeface="Arial" pitchFamily="34" charset="0"/>
              <a:buNone/>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0" indent="0" algn="l" defTabSz="914400" rtl="0" eaLnBrk="1" latinLnBrk="0" hangingPunct="1">
              <a:lnSpc>
                <a:spcPct val="110000"/>
              </a:lnSpc>
              <a:spcBef>
                <a:spcPts val="0"/>
              </a:spcBef>
              <a:buFont typeface="Arial" pitchFamily="34" charset="0"/>
              <a:buNone/>
              <a:defRPr sz="1600" b="1"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270000" indent="-270000" algn="l" defTabSz="914400" rtl="0" eaLnBrk="1" latinLnBrk="0" hangingPunct="1">
              <a:lnSpc>
                <a:spcPct val="110000"/>
              </a:lnSpc>
              <a:spcBef>
                <a:spcPts val="210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270000" indent="-270000" algn="l" defTabSz="914400" rtl="0" eaLnBrk="1" latinLnBrk="0" hangingPunct="1">
              <a:lnSpc>
                <a:spcPct val="110000"/>
              </a:lnSpc>
              <a:spcBef>
                <a:spcPts val="210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810000" indent="-270000" algn="l" defTabSz="914400" rtl="0" eaLnBrk="1" latinLnBrk="0" hangingPunct="1">
              <a:lnSpc>
                <a:spcPct val="110000"/>
              </a:lnSpc>
              <a:spcBef>
                <a:spcPts val="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endParaRPr lang="en-US" altLang="nl-NL"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568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sz="3200" b="1" dirty="0">
                <a:latin typeface="Times New Roman" panose="02020603050405020304" pitchFamily="18" charset="0"/>
                <a:cs typeface="Times New Roman" panose="02020603050405020304" pitchFamily="18" charset="0"/>
              </a:rPr>
              <a:t>Topics for Today</a:t>
            </a:r>
            <a:endParaRPr lang="nl-NL" sz="3200" b="1" dirty="0"/>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marL="342797" indent="-342797">
              <a:lnSpc>
                <a:spcPct val="150000"/>
              </a:lnSpc>
            </a:pPr>
            <a:r>
              <a:rPr lang="en-US" altLang="nl-NL" dirty="0">
                <a:latin typeface="Times New Roman" panose="02020603050405020304" pitchFamily="18" charset="0"/>
                <a:cs typeface="Times New Roman" panose="02020603050405020304" pitchFamily="18" charset="0"/>
              </a:rPr>
              <a:t>Data preparation: motivation and overview</a:t>
            </a:r>
          </a:p>
          <a:p>
            <a:pPr marL="342797" indent="-342797">
              <a:lnSpc>
                <a:spcPct val="150000"/>
              </a:lnSpc>
            </a:pPr>
            <a:r>
              <a:rPr lang="en-US" altLang="nl-NL" dirty="0">
                <a:latin typeface="Times New Roman" panose="02020603050405020304" pitchFamily="18" charset="0"/>
                <a:cs typeface="Times New Roman" panose="02020603050405020304" pitchFamily="18" charset="0"/>
              </a:rPr>
              <a:t>Quality of data</a:t>
            </a:r>
          </a:p>
          <a:p>
            <a:pPr marL="799997" lvl="1" indent="-342797">
              <a:lnSpc>
                <a:spcPct val="150000"/>
              </a:lnSpc>
            </a:pPr>
            <a:r>
              <a:rPr lang="en-US" dirty="0">
                <a:latin typeface="Times New Roman" panose="02020603050405020304" pitchFamily="18" charset="0"/>
                <a:cs typeface="Times New Roman" panose="02020603050405020304" pitchFamily="18" charset="0"/>
              </a:rPr>
              <a:t>Data cleaning</a:t>
            </a:r>
          </a:p>
          <a:p>
            <a:pPr marL="1257197" lvl="2" indent="-342797">
              <a:lnSpc>
                <a:spcPct val="150000"/>
              </a:lnSpc>
            </a:pPr>
            <a:r>
              <a:rPr lang="en-US" dirty="0">
                <a:latin typeface="Times New Roman" panose="02020603050405020304" pitchFamily="18" charset="0"/>
                <a:cs typeface="Times New Roman" panose="02020603050405020304" pitchFamily="18" charset="0"/>
              </a:rPr>
              <a:t>Incomplete data</a:t>
            </a:r>
          </a:p>
          <a:p>
            <a:pPr marL="1257197" lvl="2" indent="-342797">
              <a:lnSpc>
                <a:spcPct val="150000"/>
              </a:lnSpc>
            </a:pPr>
            <a:r>
              <a:rPr lang="en-US" dirty="0">
                <a:latin typeface="Times New Roman" panose="02020603050405020304" pitchFamily="18" charset="0"/>
                <a:cs typeface="Times New Roman" panose="02020603050405020304" pitchFamily="18" charset="0"/>
              </a:rPr>
              <a:t>Noisy data</a:t>
            </a:r>
          </a:p>
          <a:p>
            <a:pPr marL="1257197" lvl="2" indent="-342797">
              <a:lnSpc>
                <a:spcPct val="150000"/>
              </a:lnSpc>
            </a:pPr>
            <a:r>
              <a:rPr lang="en-US">
                <a:latin typeface="Times New Roman" panose="02020603050405020304" pitchFamily="18" charset="0"/>
                <a:cs typeface="Times New Roman" panose="02020603050405020304" pitchFamily="18" charset="0"/>
              </a:rPr>
              <a:t>Outliers</a:t>
            </a:r>
          </a:p>
          <a:p>
            <a:pPr marL="1257197" lvl="2" indent="-342797">
              <a:lnSpc>
                <a:spcPct val="150000"/>
              </a:lnSpc>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8E072BD-AD4F-9B31-1BFF-AB50BACC9730}"/>
              </a:ext>
            </a:extLst>
          </p:cNvPr>
          <p:cNvSpPr>
            <a:spLocks noGrp="1"/>
          </p:cNvSpPr>
          <p:nvPr>
            <p:ph type="sldNum" sz="quarter" idx="12"/>
          </p:nvPr>
        </p:nvSpPr>
        <p:spPr/>
        <p:txBody>
          <a:bodyPr/>
          <a:lstStyle/>
          <a:p>
            <a:fld id="{F8D8F54C-053C-4394-9990-70DE256B1A6D}" type="slidenum">
              <a:rPr lang="nl-NL" smtClean="0"/>
              <a:t>2</a:t>
            </a:fld>
            <a:endParaRPr lang="nl-NL"/>
          </a:p>
        </p:txBody>
      </p:sp>
    </p:spTree>
    <p:extLst>
      <p:ext uri="{BB962C8B-B14F-4D97-AF65-F5344CB8AC3E}">
        <p14:creationId xmlns:p14="http://schemas.microsoft.com/office/powerpoint/2010/main" val="3269545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B6E23FF-4C97-F4C2-2690-751F6E8BE8E4}"/>
              </a:ext>
            </a:extLst>
          </p:cNvPr>
          <p:cNvSpPr txBox="1">
            <a:spLocks noChangeArrowheads="1"/>
          </p:cNvSpPr>
          <p:nvPr/>
        </p:nvSpPr>
        <p:spPr>
          <a:xfrm>
            <a:off x="619904" y="545523"/>
            <a:ext cx="6033726" cy="1985870"/>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6600" b="1" dirty="0"/>
              <a:t>Reading Material for Today</a:t>
            </a:r>
          </a:p>
        </p:txBody>
      </p:sp>
      <p:sp>
        <p:nvSpPr>
          <p:cNvPr id="6" name="Content Placeholder 2">
            <a:extLst>
              <a:ext uri="{FF2B5EF4-FFF2-40B4-BE49-F238E27FC236}">
                <a16:creationId xmlns:a16="http://schemas.microsoft.com/office/drawing/2014/main" id="{68C20ADF-8E5E-641E-8457-90E0EA17559D}"/>
              </a:ext>
            </a:extLst>
          </p:cNvPr>
          <p:cNvSpPr txBox="1">
            <a:spLocks/>
          </p:cNvSpPr>
          <p:nvPr/>
        </p:nvSpPr>
        <p:spPr>
          <a:xfrm>
            <a:off x="619904" y="2946169"/>
            <a:ext cx="6136496" cy="308887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 Data Mining: Concepts and Techniques Boo</a:t>
            </a:r>
            <a:r>
              <a:rPr lang="nl-NL" sz="2400" dirty="0"/>
              <a:t>k </a:t>
            </a:r>
          </a:p>
          <a:p>
            <a:pPr marL="0" indent="0">
              <a:buNone/>
            </a:pPr>
            <a:endParaRPr lang="en-US" sz="2400" dirty="0"/>
          </a:p>
          <a:p>
            <a:pPr marL="0" indent="0">
              <a:buNone/>
            </a:pPr>
            <a:r>
              <a:rPr lang="en-US" sz="2400"/>
              <a:t>	CH </a:t>
            </a:r>
            <a:r>
              <a:rPr lang="en-NL" sz="2400" dirty="0"/>
              <a:t>3.1, 3.2, 12.1 - 12.4</a:t>
            </a:r>
          </a:p>
          <a:p>
            <a:pPr marL="0" indent="0">
              <a:buNone/>
            </a:pPr>
            <a:endParaRPr lang="en-NL" sz="2400" dirty="0"/>
          </a:p>
          <a:p>
            <a:r>
              <a:rPr lang="en-US" sz="2400" dirty="0"/>
              <a:t>Python for Data Analysis, 3E</a:t>
            </a:r>
          </a:p>
          <a:p>
            <a:pPr marL="457200" lvl="1" indent="0">
              <a:buNone/>
            </a:pPr>
            <a:r>
              <a:rPr lang="en-US" sz="2000" dirty="0"/>
              <a:t>	CH 7.1</a:t>
            </a:r>
          </a:p>
          <a:p>
            <a:endParaRPr lang="nl-NL" sz="2400" dirty="0"/>
          </a:p>
        </p:txBody>
      </p:sp>
      <p:graphicFrame>
        <p:nvGraphicFramePr>
          <p:cNvPr id="3" name="Object 2">
            <a:extLst>
              <a:ext uri="{FF2B5EF4-FFF2-40B4-BE49-F238E27FC236}">
                <a16:creationId xmlns:a16="http://schemas.microsoft.com/office/drawing/2014/main" id="{0507E371-CB47-A4B5-2E42-D8206E6ADB7B}"/>
              </a:ext>
            </a:extLst>
          </p:cNvPr>
          <p:cNvGraphicFramePr>
            <a:graphicFrameLocks noChangeAspect="1"/>
          </p:cNvGraphicFramePr>
          <p:nvPr>
            <p:extLst>
              <p:ext uri="{D42A27DB-BD31-4B8C-83A1-F6EECF244321}">
                <p14:modId xmlns:p14="http://schemas.microsoft.com/office/powerpoint/2010/main" val="1727196450"/>
              </p:ext>
            </p:extLst>
          </p:nvPr>
        </p:nvGraphicFramePr>
        <p:xfrm>
          <a:off x="9083153" y="39184"/>
          <a:ext cx="3022646" cy="3912131"/>
        </p:xfrm>
        <a:graphic>
          <a:graphicData uri="http://schemas.openxmlformats.org/presentationml/2006/ole">
            <mc:AlternateContent xmlns:mc="http://schemas.openxmlformats.org/markup-compatibility/2006">
              <mc:Choice xmlns:v="urn:schemas-microsoft-com:vml" Requires="v">
                <p:oleObj name="Acrobat Document" r:id="rId2" imgW="5829165" imgH="7543680" progId="Acrobat.Document.DC">
                  <p:embed/>
                </p:oleObj>
              </mc:Choice>
              <mc:Fallback>
                <p:oleObj name="Acrobat Document" r:id="rId2" imgW="5829165" imgH="7543680" progId="Acrobat.Document.DC">
                  <p:embed/>
                  <p:pic>
                    <p:nvPicPr>
                      <p:cNvPr id="4" name="Object 3">
                        <a:extLst>
                          <a:ext uri="{FF2B5EF4-FFF2-40B4-BE49-F238E27FC236}">
                            <a16:creationId xmlns:a16="http://schemas.microsoft.com/office/drawing/2014/main" id="{45E3C14C-8270-4125-AB77-B31E74C046AE}"/>
                          </a:ext>
                        </a:extLst>
                      </p:cNvPr>
                      <p:cNvPicPr/>
                      <p:nvPr/>
                    </p:nvPicPr>
                    <p:blipFill>
                      <a:blip r:embed="rId3"/>
                      <a:stretch>
                        <a:fillRect/>
                      </a:stretch>
                    </p:blipFill>
                    <p:spPr>
                      <a:xfrm>
                        <a:off x="9083153" y="39184"/>
                        <a:ext cx="3022646" cy="3912131"/>
                      </a:xfrm>
                      <a:prstGeom prst="rect">
                        <a:avLst/>
                      </a:prstGeom>
                    </p:spPr>
                  </p:pic>
                </p:oleObj>
              </mc:Fallback>
            </mc:AlternateContent>
          </a:graphicData>
        </a:graphic>
      </p:graphicFrame>
      <p:pic>
        <p:nvPicPr>
          <p:cNvPr id="4" name="Picture 2">
            <a:extLst>
              <a:ext uri="{FF2B5EF4-FFF2-40B4-BE49-F238E27FC236}">
                <a16:creationId xmlns:a16="http://schemas.microsoft.com/office/drawing/2014/main" id="{4B4D77D1-FE4B-F8B5-5DAC-B0E948043E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281" y="3701933"/>
            <a:ext cx="2278347" cy="298981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88B0A9C1-7790-210B-A07E-1A261B99601A}"/>
              </a:ext>
            </a:extLst>
          </p:cNvPr>
          <p:cNvSpPr>
            <a:spLocks noGrp="1"/>
          </p:cNvSpPr>
          <p:nvPr>
            <p:ph type="sldNum" sz="quarter" idx="12"/>
          </p:nvPr>
        </p:nvSpPr>
        <p:spPr/>
        <p:txBody>
          <a:bodyPr/>
          <a:lstStyle/>
          <a:p>
            <a:fld id="{F8D8F54C-053C-4394-9990-70DE256B1A6D}" type="slidenum">
              <a:rPr lang="nl-NL" smtClean="0"/>
              <a:t>3</a:t>
            </a:fld>
            <a:endParaRPr lang="nl-NL"/>
          </a:p>
        </p:txBody>
      </p:sp>
    </p:spTree>
    <p:extLst>
      <p:ext uri="{BB962C8B-B14F-4D97-AF65-F5344CB8AC3E}">
        <p14:creationId xmlns:p14="http://schemas.microsoft.com/office/powerpoint/2010/main" val="171315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For Exercise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t>https://</a:t>
            </a:r>
            <a:r>
              <a:rPr lang="en-US" altLang="nl-NL" dirty="0" err="1"/>
              <a:t>sqlzoo.net</a:t>
            </a:r>
            <a:r>
              <a:rPr lang="en-US" altLang="nl-NL" dirty="0"/>
              <a:t>/wiki/</a:t>
            </a:r>
            <a:r>
              <a:rPr lang="en-US" altLang="nl-NL" dirty="0" err="1"/>
              <a:t>SQL_Tutorial</a:t>
            </a:r>
            <a:endParaRPr lang="en-US" altLang="nl-NL" dirty="0"/>
          </a:p>
        </p:txBody>
      </p:sp>
      <p:sp>
        <p:nvSpPr>
          <p:cNvPr id="4" name="Slide Number Placeholder 3">
            <a:extLst>
              <a:ext uri="{FF2B5EF4-FFF2-40B4-BE49-F238E27FC236}">
                <a16:creationId xmlns:a16="http://schemas.microsoft.com/office/drawing/2014/main" id="{E5215A5B-2837-B5E6-BD1C-6787F6040FEE}"/>
              </a:ext>
            </a:extLst>
          </p:cNvPr>
          <p:cNvSpPr>
            <a:spLocks noGrp="1"/>
          </p:cNvSpPr>
          <p:nvPr>
            <p:ph type="sldNum" sz="quarter" idx="12"/>
          </p:nvPr>
        </p:nvSpPr>
        <p:spPr/>
        <p:txBody>
          <a:bodyPr/>
          <a:lstStyle/>
          <a:p>
            <a:fld id="{F8D8F54C-053C-4394-9990-70DE256B1A6D}" type="slidenum">
              <a:rPr lang="nl-NL" smtClean="0"/>
              <a:t>4</a:t>
            </a:fld>
            <a:endParaRPr lang="nl-NL"/>
          </a:p>
        </p:txBody>
      </p:sp>
    </p:spTree>
    <p:extLst>
      <p:ext uri="{BB962C8B-B14F-4D97-AF65-F5344CB8AC3E}">
        <p14:creationId xmlns:p14="http://schemas.microsoft.com/office/powerpoint/2010/main" val="3540468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sz="3200" b="1" dirty="0">
                <a:latin typeface="Times New Roman" panose="02020603050405020304" pitchFamily="18" charset="0"/>
                <a:cs typeface="Times New Roman" panose="02020603050405020304" pitchFamily="18" charset="0"/>
              </a:rPr>
              <a:t>Data Science Process</a:t>
            </a:r>
            <a:endParaRPr lang="nl-NL" sz="3200" b="1" dirty="0"/>
          </a:p>
        </p:txBody>
      </p:sp>
      <p:grpSp>
        <p:nvGrpSpPr>
          <p:cNvPr id="18" name="Group 17">
            <a:extLst>
              <a:ext uri="{FF2B5EF4-FFF2-40B4-BE49-F238E27FC236}">
                <a16:creationId xmlns:a16="http://schemas.microsoft.com/office/drawing/2014/main" id="{DFE769C5-70C4-4EA4-9926-8752C5FCAB05}"/>
              </a:ext>
            </a:extLst>
          </p:cNvPr>
          <p:cNvGrpSpPr/>
          <p:nvPr/>
        </p:nvGrpSpPr>
        <p:grpSpPr>
          <a:xfrm>
            <a:off x="383043" y="1717588"/>
            <a:ext cx="1927669" cy="3965104"/>
            <a:chOff x="593110" y="1717588"/>
            <a:chExt cx="1927669" cy="3965104"/>
          </a:xfrm>
        </p:grpSpPr>
        <p:grpSp>
          <p:nvGrpSpPr>
            <p:cNvPr id="16" name="Group 15">
              <a:extLst>
                <a:ext uri="{FF2B5EF4-FFF2-40B4-BE49-F238E27FC236}">
                  <a16:creationId xmlns:a16="http://schemas.microsoft.com/office/drawing/2014/main" id="{BF405D1C-6C97-4BA9-ACB6-F56379E5C198}"/>
                </a:ext>
              </a:extLst>
            </p:cNvPr>
            <p:cNvGrpSpPr/>
            <p:nvPr/>
          </p:nvGrpSpPr>
          <p:grpSpPr>
            <a:xfrm>
              <a:off x="593110" y="1717588"/>
              <a:ext cx="1927669" cy="3965104"/>
              <a:chOff x="593110" y="1717588"/>
              <a:chExt cx="1927669" cy="3965104"/>
            </a:xfrm>
          </p:grpSpPr>
          <p:sp>
            <p:nvSpPr>
              <p:cNvPr id="6" name="Rectangle: Rounded Corners 5">
                <a:extLst>
                  <a:ext uri="{FF2B5EF4-FFF2-40B4-BE49-F238E27FC236}">
                    <a16:creationId xmlns:a16="http://schemas.microsoft.com/office/drawing/2014/main" id="{E93A768A-36C6-4BFC-A0DC-86EE9BDCF302}"/>
                  </a:ext>
                </a:extLst>
              </p:cNvPr>
              <p:cNvSpPr/>
              <p:nvPr/>
            </p:nvSpPr>
            <p:spPr>
              <a:xfrm>
                <a:off x="593125" y="1717588"/>
                <a:ext cx="1927654" cy="3965104"/>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Wave 11">
                <a:extLst>
                  <a:ext uri="{FF2B5EF4-FFF2-40B4-BE49-F238E27FC236}">
                    <a16:creationId xmlns:a16="http://schemas.microsoft.com/office/drawing/2014/main" id="{91A3317F-88AD-46B9-B734-B4847F54EF7D}"/>
                  </a:ext>
                </a:extLst>
              </p:cNvPr>
              <p:cNvSpPr/>
              <p:nvPr/>
            </p:nvSpPr>
            <p:spPr>
              <a:xfrm rot="10800000" flipV="1">
                <a:off x="593122" y="2100648"/>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Wave 12">
                <a:extLst>
                  <a:ext uri="{FF2B5EF4-FFF2-40B4-BE49-F238E27FC236}">
                    <a16:creationId xmlns:a16="http://schemas.microsoft.com/office/drawing/2014/main" id="{129B4720-AA6B-4839-A30B-CCBB095399CE}"/>
                  </a:ext>
                </a:extLst>
              </p:cNvPr>
              <p:cNvSpPr/>
              <p:nvPr/>
            </p:nvSpPr>
            <p:spPr>
              <a:xfrm rot="10800000" flipV="1">
                <a:off x="593121" y="4012466"/>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Wave 13">
                <a:extLst>
                  <a:ext uri="{FF2B5EF4-FFF2-40B4-BE49-F238E27FC236}">
                    <a16:creationId xmlns:a16="http://schemas.microsoft.com/office/drawing/2014/main" id="{F974C78F-A1DB-49A7-8D14-DA89B1B9D228}"/>
                  </a:ext>
                </a:extLst>
              </p:cNvPr>
              <p:cNvSpPr/>
              <p:nvPr/>
            </p:nvSpPr>
            <p:spPr>
              <a:xfrm rot="10800000" flipV="1">
                <a:off x="593110" y="2908273"/>
                <a:ext cx="1902941" cy="1960285"/>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Gather Data from relevant sources</a:t>
                </a:r>
                <a:endParaRPr lang="nl-NL" sz="2000" dirty="0">
                  <a:solidFill>
                    <a:schemeClr val="tx1"/>
                  </a:solidFill>
                </a:endParaRPr>
              </a:p>
            </p:txBody>
          </p:sp>
          <p:sp>
            <p:nvSpPr>
              <p:cNvPr id="15" name="Rectangle 14">
                <a:extLst>
                  <a:ext uri="{FF2B5EF4-FFF2-40B4-BE49-F238E27FC236}">
                    <a16:creationId xmlns:a16="http://schemas.microsoft.com/office/drawing/2014/main" id="{A5F628D6-ED83-40EF-8E09-5C5D6BDE3A71}"/>
                  </a:ext>
                </a:extLst>
              </p:cNvPr>
              <p:cNvSpPr/>
              <p:nvPr/>
            </p:nvSpPr>
            <p:spPr>
              <a:xfrm>
                <a:off x="593118" y="2520778"/>
                <a:ext cx="1927654" cy="535780"/>
              </a:xfrm>
              <a:prstGeom prst="rect">
                <a:avLst/>
              </a:prstGeom>
              <a:gradFill flip="none" rotWithShape="1">
                <a:gsLst>
                  <a:gs pos="0">
                    <a:srgbClr val="00B0F0"/>
                  </a:gs>
                  <a:gs pos="80000">
                    <a:srgbClr val="00B0F0"/>
                  </a:gs>
                  <a:gs pos="100000">
                    <a:schemeClr val="tx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Obtain</a:t>
                </a:r>
                <a:endParaRPr lang="nl-NL" dirty="0">
                  <a:solidFill>
                    <a:schemeClr val="tx1"/>
                  </a:solidFill>
                </a:endParaRPr>
              </a:p>
            </p:txBody>
          </p:sp>
          <p:sp>
            <p:nvSpPr>
              <p:cNvPr id="7" name="Rectangle: Rounded Corners 6">
                <a:extLst>
                  <a:ext uri="{FF2B5EF4-FFF2-40B4-BE49-F238E27FC236}">
                    <a16:creationId xmlns:a16="http://schemas.microsoft.com/office/drawing/2014/main" id="{368951D2-F803-412F-BA76-AAFC9D4CE63B}"/>
                  </a:ext>
                </a:extLst>
              </p:cNvPr>
              <p:cNvSpPr/>
              <p:nvPr/>
            </p:nvSpPr>
            <p:spPr>
              <a:xfrm>
                <a:off x="593118" y="1717588"/>
                <a:ext cx="1927654" cy="396510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7" name="TextBox 16">
              <a:extLst>
                <a:ext uri="{FF2B5EF4-FFF2-40B4-BE49-F238E27FC236}">
                  <a16:creationId xmlns:a16="http://schemas.microsoft.com/office/drawing/2014/main" id="{7962EC64-E8C8-482D-AA3C-4D4111931128}"/>
                </a:ext>
              </a:extLst>
            </p:cNvPr>
            <p:cNvSpPr txBox="1"/>
            <p:nvPr/>
          </p:nvSpPr>
          <p:spPr>
            <a:xfrm>
              <a:off x="838200" y="1816443"/>
              <a:ext cx="619897" cy="430887"/>
            </a:xfrm>
            <a:prstGeom prst="rect">
              <a:avLst/>
            </a:prstGeom>
            <a:noFill/>
          </p:spPr>
          <p:txBody>
            <a:bodyPr wrap="square" rtlCol="0">
              <a:spAutoFit/>
            </a:bodyPr>
            <a:lstStyle/>
            <a:p>
              <a:r>
                <a:rPr lang="en-US" sz="2200" b="1" dirty="0">
                  <a:solidFill>
                    <a:schemeClr val="bg1"/>
                  </a:solidFill>
                </a:rPr>
                <a:t>O</a:t>
              </a:r>
              <a:endParaRPr lang="nl-NL" sz="2200" b="1" dirty="0">
                <a:solidFill>
                  <a:schemeClr val="bg1"/>
                </a:solidFill>
              </a:endParaRPr>
            </a:p>
          </p:txBody>
        </p:sp>
      </p:grpSp>
      <p:grpSp>
        <p:nvGrpSpPr>
          <p:cNvPr id="19" name="Group 18">
            <a:extLst>
              <a:ext uri="{FF2B5EF4-FFF2-40B4-BE49-F238E27FC236}">
                <a16:creationId xmlns:a16="http://schemas.microsoft.com/office/drawing/2014/main" id="{B12ACC74-52CF-468F-A8FD-457BFD1648C4}"/>
              </a:ext>
            </a:extLst>
          </p:cNvPr>
          <p:cNvGrpSpPr/>
          <p:nvPr/>
        </p:nvGrpSpPr>
        <p:grpSpPr>
          <a:xfrm>
            <a:off x="2702000" y="1717588"/>
            <a:ext cx="2026511" cy="3965104"/>
            <a:chOff x="494268" y="1717588"/>
            <a:chExt cx="2026511" cy="3965104"/>
          </a:xfrm>
        </p:grpSpPr>
        <p:grpSp>
          <p:nvGrpSpPr>
            <p:cNvPr id="20" name="Group 19">
              <a:extLst>
                <a:ext uri="{FF2B5EF4-FFF2-40B4-BE49-F238E27FC236}">
                  <a16:creationId xmlns:a16="http://schemas.microsoft.com/office/drawing/2014/main" id="{97375734-9C8D-4F44-9473-945AC28E4A2C}"/>
                </a:ext>
              </a:extLst>
            </p:cNvPr>
            <p:cNvGrpSpPr/>
            <p:nvPr/>
          </p:nvGrpSpPr>
          <p:grpSpPr>
            <a:xfrm>
              <a:off x="494268" y="1717588"/>
              <a:ext cx="2026511" cy="3965104"/>
              <a:chOff x="494268" y="1717588"/>
              <a:chExt cx="2026511" cy="3965104"/>
            </a:xfrm>
          </p:grpSpPr>
          <p:sp>
            <p:nvSpPr>
              <p:cNvPr id="22" name="Rectangle: Rounded Corners 21">
                <a:extLst>
                  <a:ext uri="{FF2B5EF4-FFF2-40B4-BE49-F238E27FC236}">
                    <a16:creationId xmlns:a16="http://schemas.microsoft.com/office/drawing/2014/main" id="{6967D2BE-DF1B-443B-9D57-E77566441321}"/>
                  </a:ext>
                </a:extLst>
              </p:cNvPr>
              <p:cNvSpPr/>
              <p:nvPr/>
            </p:nvSpPr>
            <p:spPr>
              <a:xfrm>
                <a:off x="593125" y="1717588"/>
                <a:ext cx="1927654" cy="3965104"/>
              </a:xfrm>
              <a:prstGeom prst="roundRect">
                <a:avLst/>
              </a:prstGeom>
              <a:solidFill>
                <a:schemeClr val="accent1">
                  <a:lumMod val="60000"/>
                  <a:lumOff val="4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Wave 22">
                <a:extLst>
                  <a:ext uri="{FF2B5EF4-FFF2-40B4-BE49-F238E27FC236}">
                    <a16:creationId xmlns:a16="http://schemas.microsoft.com/office/drawing/2014/main" id="{76D7DADA-90B7-475A-BE04-C48F5B1B1A70}"/>
                  </a:ext>
                </a:extLst>
              </p:cNvPr>
              <p:cNvSpPr/>
              <p:nvPr/>
            </p:nvSpPr>
            <p:spPr>
              <a:xfrm rot="10800000" flipV="1">
                <a:off x="593122" y="2100648"/>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Wave 23">
                <a:extLst>
                  <a:ext uri="{FF2B5EF4-FFF2-40B4-BE49-F238E27FC236}">
                    <a16:creationId xmlns:a16="http://schemas.microsoft.com/office/drawing/2014/main" id="{37D0D835-C46D-458C-89C5-31DD3A3AD0E6}"/>
                  </a:ext>
                </a:extLst>
              </p:cNvPr>
              <p:cNvSpPr/>
              <p:nvPr/>
            </p:nvSpPr>
            <p:spPr>
              <a:xfrm rot="10800000" flipV="1">
                <a:off x="593121" y="4012466"/>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Wave 24">
                <a:extLst>
                  <a:ext uri="{FF2B5EF4-FFF2-40B4-BE49-F238E27FC236}">
                    <a16:creationId xmlns:a16="http://schemas.microsoft.com/office/drawing/2014/main" id="{399E3E47-AFE6-49C5-855A-F66C9FF46ADD}"/>
                  </a:ext>
                </a:extLst>
              </p:cNvPr>
              <p:cNvSpPr/>
              <p:nvPr/>
            </p:nvSpPr>
            <p:spPr>
              <a:xfrm rot="10800000" flipV="1">
                <a:off x="494268" y="2908273"/>
                <a:ext cx="2026503" cy="1960285"/>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Clean data to formats that machine understands</a:t>
                </a:r>
                <a:endParaRPr lang="nl-NL" sz="2000" dirty="0">
                  <a:solidFill>
                    <a:schemeClr val="tx1"/>
                  </a:solidFill>
                </a:endParaRPr>
              </a:p>
            </p:txBody>
          </p:sp>
          <p:sp>
            <p:nvSpPr>
              <p:cNvPr id="26" name="Rectangle 25">
                <a:extLst>
                  <a:ext uri="{FF2B5EF4-FFF2-40B4-BE49-F238E27FC236}">
                    <a16:creationId xmlns:a16="http://schemas.microsoft.com/office/drawing/2014/main" id="{A3D35858-80B8-4AAB-9AC6-BF42E5E71D01}"/>
                  </a:ext>
                </a:extLst>
              </p:cNvPr>
              <p:cNvSpPr/>
              <p:nvPr/>
            </p:nvSpPr>
            <p:spPr>
              <a:xfrm>
                <a:off x="593118" y="2520778"/>
                <a:ext cx="1927654" cy="535780"/>
              </a:xfrm>
              <a:prstGeom prst="rect">
                <a:avLst/>
              </a:prstGeom>
              <a:gradFill flip="none" rotWithShape="1">
                <a:gsLst>
                  <a:gs pos="0">
                    <a:schemeClr val="accent1">
                      <a:lumMod val="60000"/>
                      <a:lumOff val="40000"/>
                    </a:schemeClr>
                  </a:gs>
                  <a:gs pos="80000">
                    <a:schemeClr val="accent1">
                      <a:lumMod val="60000"/>
                      <a:lumOff val="40000"/>
                    </a:schemeClr>
                  </a:gs>
                  <a:gs pos="100000">
                    <a:schemeClr val="tx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Prepare</a:t>
                </a:r>
                <a:endParaRPr lang="nl-NL" dirty="0">
                  <a:solidFill>
                    <a:schemeClr val="tx1"/>
                  </a:solidFill>
                </a:endParaRPr>
              </a:p>
            </p:txBody>
          </p:sp>
          <p:sp>
            <p:nvSpPr>
              <p:cNvPr id="27" name="Rectangle: Rounded Corners 26">
                <a:extLst>
                  <a:ext uri="{FF2B5EF4-FFF2-40B4-BE49-F238E27FC236}">
                    <a16:creationId xmlns:a16="http://schemas.microsoft.com/office/drawing/2014/main" id="{848ABE4D-63AE-4E82-B312-BBD0B03680DB}"/>
                  </a:ext>
                </a:extLst>
              </p:cNvPr>
              <p:cNvSpPr/>
              <p:nvPr/>
            </p:nvSpPr>
            <p:spPr>
              <a:xfrm>
                <a:off x="593118" y="1717588"/>
                <a:ext cx="1927654" cy="396510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1" name="TextBox 20">
              <a:extLst>
                <a:ext uri="{FF2B5EF4-FFF2-40B4-BE49-F238E27FC236}">
                  <a16:creationId xmlns:a16="http://schemas.microsoft.com/office/drawing/2014/main" id="{74FFC2B7-D721-4FF1-B075-B9A6030AE9B1}"/>
                </a:ext>
              </a:extLst>
            </p:cNvPr>
            <p:cNvSpPr txBox="1"/>
            <p:nvPr/>
          </p:nvSpPr>
          <p:spPr>
            <a:xfrm>
              <a:off x="838200" y="1816443"/>
              <a:ext cx="619897" cy="430887"/>
            </a:xfrm>
            <a:prstGeom prst="rect">
              <a:avLst/>
            </a:prstGeom>
            <a:noFill/>
          </p:spPr>
          <p:txBody>
            <a:bodyPr wrap="square" rtlCol="0">
              <a:spAutoFit/>
            </a:bodyPr>
            <a:lstStyle/>
            <a:p>
              <a:r>
                <a:rPr lang="en-US" sz="2200" b="1" dirty="0">
                  <a:solidFill>
                    <a:schemeClr val="bg1"/>
                  </a:solidFill>
                </a:rPr>
                <a:t>P</a:t>
              </a:r>
              <a:endParaRPr lang="nl-NL" sz="2200" b="1" dirty="0">
                <a:solidFill>
                  <a:schemeClr val="bg1"/>
                </a:solidFill>
              </a:endParaRPr>
            </a:p>
          </p:txBody>
        </p:sp>
      </p:grpSp>
      <p:grpSp>
        <p:nvGrpSpPr>
          <p:cNvPr id="28" name="Group 27">
            <a:extLst>
              <a:ext uri="{FF2B5EF4-FFF2-40B4-BE49-F238E27FC236}">
                <a16:creationId xmlns:a16="http://schemas.microsoft.com/office/drawing/2014/main" id="{F4610C3A-441F-4248-9EAA-85441F79672C}"/>
              </a:ext>
            </a:extLst>
          </p:cNvPr>
          <p:cNvGrpSpPr/>
          <p:nvPr/>
        </p:nvGrpSpPr>
        <p:grpSpPr>
          <a:xfrm>
            <a:off x="5025067" y="1717588"/>
            <a:ext cx="2026511" cy="3965104"/>
            <a:chOff x="494268" y="1717588"/>
            <a:chExt cx="2026511" cy="3965104"/>
          </a:xfrm>
        </p:grpSpPr>
        <p:grpSp>
          <p:nvGrpSpPr>
            <p:cNvPr id="29" name="Group 28">
              <a:extLst>
                <a:ext uri="{FF2B5EF4-FFF2-40B4-BE49-F238E27FC236}">
                  <a16:creationId xmlns:a16="http://schemas.microsoft.com/office/drawing/2014/main" id="{67BAA8CB-FF05-499D-B346-BF04CFA012AB}"/>
                </a:ext>
              </a:extLst>
            </p:cNvPr>
            <p:cNvGrpSpPr/>
            <p:nvPr/>
          </p:nvGrpSpPr>
          <p:grpSpPr>
            <a:xfrm>
              <a:off x="494268" y="1717588"/>
              <a:ext cx="2026511" cy="3965104"/>
              <a:chOff x="494268" y="1717588"/>
              <a:chExt cx="2026511" cy="3965104"/>
            </a:xfrm>
          </p:grpSpPr>
          <p:sp>
            <p:nvSpPr>
              <p:cNvPr id="31" name="Rectangle: Rounded Corners 30">
                <a:extLst>
                  <a:ext uri="{FF2B5EF4-FFF2-40B4-BE49-F238E27FC236}">
                    <a16:creationId xmlns:a16="http://schemas.microsoft.com/office/drawing/2014/main" id="{44F779DF-91CF-4343-96F5-4ACBA04AD472}"/>
                  </a:ext>
                </a:extLst>
              </p:cNvPr>
              <p:cNvSpPr/>
              <p:nvPr/>
            </p:nvSpPr>
            <p:spPr>
              <a:xfrm>
                <a:off x="593125" y="1717588"/>
                <a:ext cx="1927654" cy="3965104"/>
              </a:xfrm>
              <a:prstGeom prst="roundRect">
                <a:avLst/>
              </a:prstGeom>
              <a:solidFill>
                <a:schemeClr val="accent1">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Wave 31">
                <a:extLst>
                  <a:ext uri="{FF2B5EF4-FFF2-40B4-BE49-F238E27FC236}">
                    <a16:creationId xmlns:a16="http://schemas.microsoft.com/office/drawing/2014/main" id="{0BF134F7-4D64-4A6D-9423-08EEC318A4FE}"/>
                  </a:ext>
                </a:extLst>
              </p:cNvPr>
              <p:cNvSpPr/>
              <p:nvPr/>
            </p:nvSpPr>
            <p:spPr>
              <a:xfrm rot="10800000" flipV="1">
                <a:off x="593122" y="2100648"/>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Wave 32">
                <a:extLst>
                  <a:ext uri="{FF2B5EF4-FFF2-40B4-BE49-F238E27FC236}">
                    <a16:creationId xmlns:a16="http://schemas.microsoft.com/office/drawing/2014/main" id="{965887C0-C0DC-4831-96B5-F96B290FF013}"/>
                  </a:ext>
                </a:extLst>
              </p:cNvPr>
              <p:cNvSpPr/>
              <p:nvPr/>
            </p:nvSpPr>
            <p:spPr>
              <a:xfrm rot="10800000" flipV="1">
                <a:off x="593121" y="4012466"/>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4" name="Wave 33">
                <a:extLst>
                  <a:ext uri="{FF2B5EF4-FFF2-40B4-BE49-F238E27FC236}">
                    <a16:creationId xmlns:a16="http://schemas.microsoft.com/office/drawing/2014/main" id="{93DBCE3F-9F17-447E-AEAD-2BC942181D0D}"/>
                  </a:ext>
                </a:extLst>
              </p:cNvPr>
              <p:cNvSpPr/>
              <p:nvPr/>
            </p:nvSpPr>
            <p:spPr>
              <a:xfrm rot="10800000" flipV="1">
                <a:off x="494268" y="2908273"/>
                <a:ext cx="2026503" cy="1960285"/>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Find significant patterns and trends using statistical methods</a:t>
                </a:r>
                <a:endParaRPr lang="nl-NL" sz="2000" dirty="0">
                  <a:solidFill>
                    <a:schemeClr val="tx1"/>
                  </a:solidFill>
                </a:endParaRPr>
              </a:p>
            </p:txBody>
          </p:sp>
          <p:sp>
            <p:nvSpPr>
              <p:cNvPr id="35" name="Rectangle 34">
                <a:extLst>
                  <a:ext uri="{FF2B5EF4-FFF2-40B4-BE49-F238E27FC236}">
                    <a16:creationId xmlns:a16="http://schemas.microsoft.com/office/drawing/2014/main" id="{89576B69-D534-418C-98CC-B6E0EC530419}"/>
                  </a:ext>
                </a:extLst>
              </p:cNvPr>
              <p:cNvSpPr/>
              <p:nvPr/>
            </p:nvSpPr>
            <p:spPr>
              <a:xfrm>
                <a:off x="593118" y="2520778"/>
                <a:ext cx="1927654" cy="535780"/>
              </a:xfrm>
              <a:prstGeom prst="rect">
                <a:avLst/>
              </a:prstGeom>
              <a:gradFill flip="none" rotWithShape="1">
                <a:gsLst>
                  <a:gs pos="0">
                    <a:schemeClr val="accent1">
                      <a:lumMod val="75000"/>
                    </a:schemeClr>
                  </a:gs>
                  <a:gs pos="80000">
                    <a:schemeClr val="accent1">
                      <a:lumMod val="75000"/>
                    </a:schemeClr>
                  </a:gs>
                  <a:gs pos="100000">
                    <a:schemeClr val="tx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Explore</a:t>
                </a:r>
                <a:endParaRPr lang="nl-NL" dirty="0">
                  <a:solidFill>
                    <a:schemeClr val="bg1"/>
                  </a:solidFill>
                </a:endParaRPr>
              </a:p>
            </p:txBody>
          </p:sp>
          <p:sp>
            <p:nvSpPr>
              <p:cNvPr id="36" name="Rectangle: Rounded Corners 35">
                <a:extLst>
                  <a:ext uri="{FF2B5EF4-FFF2-40B4-BE49-F238E27FC236}">
                    <a16:creationId xmlns:a16="http://schemas.microsoft.com/office/drawing/2014/main" id="{C46DFF5A-9B4C-4B1A-BB28-8E812B90F4E7}"/>
                  </a:ext>
                </a:extLst>
              </p:cNvPr>
              <p:cNvSpPr/>
              <p:nvPr/>
            </p:nvSpPr>
            <p:spPr>
              <a:xfrm>
                <a:off x="593118" y="1717588"/>
                <a:ext cx="1927654" cy="396510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30" name="TextBox 29">
              <a:extLst>
                <a:ext uri="{FF2B5EF4-FFF2-40B4-BE49-F238E27FC236}">
                  <a16:creationId xmlns:a16="http://schemas.microsoft.com/office/drawing/2014/main" id="{CAD231DC-A21B-41EC-9D50-6D103855720B}"/>
                </a:ext>
              </a:extLst>
            </p:cNvPr>
            <p:cNvSpPr txBox="1"/>
            <p:nvPr/>
          </p:nvSpPr>
          <p:spPr>
            <a:xfrm>
              <a:off x="838200" y="1816443"/>
              <a:ext cx="619897" cy="430887"/>
            </a:xfrm>
            <a:prstGeom prst="rect">
              <a:avLst/>
            </a:prstGeom>
            <a:noFill/>
          </p:spPr>
          <p:txBody>
            <a:bodyPr wrap="square" rtlCol="0">
              <a:spAutoFit/>
            </a:bodyPr>
            <a:lstStyle/>
            <a:p>
              <a:r>
                <a:rPr lang="en-US" sz="2200" b="1" dirty="0">
                  <a:solidFill>
                    <a:schemeClr val="bg1"/>
                  </a:solidFill>
                </a:rPr>
                <a:t>E</a:t>
              </a:r>
              <a:endParaRPr lang="nl-NL" sz="2200" b="1" dirty="0">
                <a:solidFill>
                  <a:schemeClr val="bg1"/>
                </a:solidFill>
              </a:endParaRPr>
            </a:p>
          </p:txBody>
        </p:sp>
      </p:grpSp>
      <p:grpSp>
        <p:nvGrpSpPr>
          <p:cNvPr id="37" name="Group 36">
            <a:extLst>
              <a:ext uri="{FF2B5EF4-FFF2-40B4-BE49-F238E27FC236}">
                <a16:creationId xmlns:a16="http://schemas.microsoft.com/office/drawing/2014/main" id="{65B861C7-1A6D-4EAE-B3D4-A238B76B013D}"/>
              </a:ext>
            </a:extLst>
          </p:cNvPr>
          <p:cNvGrpSpPr/>
          <p:nvPr/>
        </p:nvGrpSpPr>
        <p:grpSpPr>
          <a:xfrm>
            <a:off x="7407858" y="1717588"/>
            <a:ext cx="2131556" cy="3965104"/>
            <a:chOff x="494266" y="1717588"/>
            <a:chExt cx="2026513" cy="3965104"/>
          </a:xfrm>
        </p:grpSpPr>
        <p:grpSp>
          <p:nvGrpSpPr>
            <p:cNvPr id="38" name="Group 37">
              <a:extLst>
                <a:ext uri="{FF2B5EF4-FFF2-40B4-BE49-F238E27FC236}">
                  <a16:creationId xmlns:a16="http://schemas.microsoft.com/office/drawing/2014/main" id="{A118AA64-D225-47BA-890C-869E23F7596F}"/>
                </a:ext>
              </a:extLst>
            </p:cNvPr>
            <p:cNvGrpSpPr/>
            <p:nvPr/>
          </p:nvGrpSpPr>
          <p:grpSpPr>
            <a:xfrm>
              <a:off x="494266" y="1717588"/>
              <a:ext cx="2026513" cy="3965104"/>
              <a:chOff x="494266" y="1717588"/>
              <a:chExt cx="2026513" cy="3965104"/>
            </a:xfrm>
          </p:grpSpPr>
          <p:sp>
            <p:nvSpPr>
              <p:cNvPr id="40" name="Rectangle: Rounded Corners 39">
                <a:extLst>
                  <a:ext uri="{FF2B5EF4-FFF2-40B4-BE49-F238E27FC236}">
                    <a16:creationId xmlns:a16="http://schemas.microsoft.com/office/drawing/2014/main" id="{59455FAA-56E8-467F-9C54-813518DC9A91}"/>
                  </a:ext>
                </a:extLst>
              </p:cNvPr>
              <p:cNvSpPr/>
              <p:nvPr/>
            </p:nvSpPr>
            <p:spPr>
              <a:xfrm>
                <a:off x="593125" y="1717588"/>
                <a:ext cx="1927654" cy="3965104"/>
              </a:xfrm>
              <a:prstGeom prst="roundRect">
                <a:avLst/>
              </a:prstGeom>
              <a:solidFill>
                <a:schemeClr val="accent6">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Wave 40">
                <a:extLst>
                  <a:ext uri="{FF2B5EF4-FFF2-40B4-BE49-F238E27FC236}">
                    <a16:creationId xmlns:a16="http://schemas.microsoft.com/office/drawing/2014/main" id="{A03FC945-7821-4BD9-80E5-02086B0A16EF}"/>
                  </a:ext>
                </a:extLst>
              </p:cNvPr>
              <p:cNvSpPr/>
              <p:nvPr/>
            </p:nvSpPr>
            <p:spPr>
              <a:xfrm rot="10800000" flipV="1">
                <a:off x="593122" y="2100648"/>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Wave 41">
                <a:extLst>
                  <a:ext uri="{FF2B5EF4-FFF2-40B4-BE49-F238E27FC236}">
                    <a16:creationId xmlns:a16="http://schemas.microsoft.com/office/drawing/2014/main" id="{7E0D10CA-7653-4259-87A6-AF0B346422F6}"/>
                  </a:ext>
                </a:extLst>
              </p:cNvPr>
              <p:cNvSpPr/>
              <p:nvPr/>
            </p:nvSpPr>
            <p:spPr>
              <a:xfrm rot="10800000" flipV="1">
                <a:off x="593121" y="4012466"/>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Wave 42">
                <a:extLst>
                  <a:ext uri="{FF2B5EF4-FFF2-40B4-BE49-F238E27FC236}">
                    <a16:creationId xmlns:a16="http://schemas.microsoft.com/office/drawing/2014/main" id="{1E4E8508-133C-4282-9FC7-C033782F2D39}"/>
                  </a:ext>
                </a:extLst>
              </p:cNvPr>
              <p:cNvSpPr/>
              <p:nvPr/>
            </p:nvSpPr>
            <p:spPr>
              <a:xfrm rot="10800000" flipV="1">
                <a:off x="494266" y="2908273"/>
                <a:ext cx="2026505" cy="1960285"/>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Construct models to predict and forecast</a:t>
                </a:r>
                <a:endParaRPr lang="nl-NL" sz="2000" dirty="0">
                  <a:solidFill>
                    <a:schemeClr val="tx1"/>
                  </a:solidFill>
                </a:endParaRPr>
              </a:p>
            </p:txBody>
          </p:sp>
          <p:sp>
            <p:nvSpPr>
              <p:cNvPr id="44" name="Rectangle 43">
                <a:extLst>
                  <a:ext uri="{FF2B5EF4-FFF2-40B4-BE49-F238E27FC236}">
                    <a16:creationId xmlns:a16="http://schemas.microsoft.com/office/drawing/2014/main" id="{38E4377D-1B50-4896-9A5C-B3BFBBFACC5A}"/>
                  </a:ext>
                </a:extLst>
              </p:cNvPr>
              <p:cNvSpPr/>
              <p:nvPr/>
            </p:nvSpPr>
            <p:spPr>
              <a:xfrm>
                <a:off x="593118" y="2520778"/>
                <a:ext cx="1927654" cy="535780"/>
              </a:xfrm>
              <a:prstGeom prst="rect">
                <a:avLst/>
              </a:prstGeom>
              <a:gradFill flip="none" rotWithShape="1">
                <a:gsLst>
                  <a:gs pos="0">
                    <a:schemeClr val="accent6">
                      <a:lumMod val="75000"/>
                    </a:schemeClr>
                  </a:gs>
                  <a:gs pos="80000">
                    <a:schemeClr val="accent6">
                      <a:lumMod val="75000"/>
                    </a:schemeClr>
                  </a:gs>
                  <a:gs pos="100000">
                    <a:schemeClr val="tx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Model</a:t>
                </a:r>
                <a:endParaRPr lang="nl-NL" dirty="0">
                  <a:solidFill>
                    <a:schemeClr val="bg1"/>
                  </a:solidFill>
                </a:endParaRPr>
              </a:p>
            </p:txBody>
          </p:sp>
          <p:sp>
            <p:nvSpPr>
              <p:cNvPr id="45" name="Rectangle: Rounded Corners 44">
                <a:extLst>
                  <a:ext uri="{FF2B5EF4-FFF2-40B4-BE49-F238E27FC236}">
                    <a16:creationId xmlns:a16="http://schemas.microsoft.com/office/drawing/2014/main" id="{F906881B-46FE-49F7-A959-B958D962B9B5}"/>
                  </a:ext>
                </a:extLst>
              </p:cNvPr>
              <p:cNvSpPr/>
              <p:nvPr/>
            </p:nvSpPr>
            <p:spPr>
              <a:xfrm>
                <a:off x="593118" y="1717588"/>
                <a:ext cx="1927654" cy="396510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39" name="TextBox 38">
              <a:extLst>
                <a:ext uri="{FF2B5EF4-FFF2-40B4-BE49-F238E27FC236}">
                  <a16:creationId xmlns:a16="http://schemas.microsoft.com/office/drawing/2014/main" id="{2AD79ACB-4D17-4C68-9B09-61576C8F7127}"/>
                </a:ext>
              </a:extLst>
            </p:cNvPr>
            <p:cNvSpPr txBox="1"/>
            <p:nvPr/>
          </p:nvSpPr>
          <p:spPr>
            <a:xfrm>
              <a:off x="838200" y="1816443"/>
              <a:ext cx="619897" cy="430887"/>
            </a:xfrm>
            <a:prstGeom prst="rect">
              <a:avLst/>
            </a:prstGeom>
            <a:noFill/>
          </p:spPr>
          <p:txBody>
            <a:bodyPr wrap="square" rtlCol="0">
              <a:spAutoFit/>
            </a:bodyPr>
            <a:lstStyle/>
            <a:p>
              <a:r>
                <a:rPr lang="en-US" sz="2200" b="1" dirty="0">
                  <a:solidFill>
                    <a:schemeClr val="bg1"/>
                  </a:solidFill>
                </a:rPr>
                <a:t>M</a:t>
              </a:r>
              <a:endParaRPr lang="nl-NL" sz="2200" b="1" dirty="0">
                <a:solidFill>
                  <a:schemeClr val="bg1"/>
                </a:solidFill>
              </a:endParaRPr>
            </a:p>
          </p:txBody>
        </p:sp>
      </p:grpSp>
      <p:grpSp>
        <p:nvGrpSpPr>
          <p:cNvPr id="47" name="Group 46">
            <a:extLst>
              <a:ext uri="{FF2B5EF4-FFF2-40B4-BE49-F238E27FC236}">
                <a16:creationId xmlns:a16="http://schemas.microsoft.com/office/drawing/2014/main" id="{2639DD5A-39B9-4BC4-80B9-077C0150BE9F}"/>
              </a:ext>
            </a:extLst>
          </p:cNvPr>
          <p:cNvGrpSpPr/>
          <p:nvPr/>
        </p:nvGrpSpPr>
        <p:grpSpPr>
          <a:xfrm>
            <a:off x="9777585" y="1717588"/>
            <a:ext cx="2131556" cy="3965104"/>
            <a:chOff x="494266" y="1717588"/>
            <a:chExt cx="2026513" cy="3965104"/>
          </a:xfrm>
        </p:grpSpPr>
        <p:grpSp>
          <p:nvGrpSpPr>
            <p:cNvPr id="48" name="Group 47">
              <a:extLst>
                <a:ext uri="{FF2B5EF4-FFF2-40B4-BE49-F238E27FC236}">
                  <a16:creationId xmlns:a16="http://schemas.microsoft.com/office/drawing/2014/main" id="{56066A28-FE44-4632-81EB-D597EEA52B4D}"/>
                </a:ext>
              </a:extLst>
            </p:cNvPr>
            <p:cNvGrpSpPr/>
            <p:nvPr/>
          </p:nvGrpSpPr>
          <p:grpSpPr>
            <a:xfrm>
              <a:off x="494266" y="1717588"/>
              <a:ext cx="2026513" cy="3965104"/>
              <a:chOff x="494266" y="1717588"/>
              <a:chExt cx="2026513" cy="3965104"/>
            </a:xfrm>
          </p:grpSpPr>
          <p:sp>
            <p:nvSpPr>
              <p:cNvPr id="50" name="Rectangle: Rounded Corners 49">
                <a:extLst>
                  <a:ext uri="{FF2B5EF4-FFF2-40B4-BE49-F238E27FC236}">
                    <a16:creationId xmlns:a16="http://schemas.microsoft.com/office/drawing/2014/main" id="{18A99385-1A2D-484D-92A6-EE4C2B83DB07}"/>
                  </a:ext>
                </a:extLst>
              </p:cNvPr>
              <p:cNvSpPr/>
              <p:nvPr/>
            </p:nvSpPr>
            <p:spPr>
              <a:xfrm>
                <a:off x="593125" y="1717588"/>
                <a:ext cx="1927654" cy="3965104"/>
              </a:xfrm>
              <a:prstGeom prst="roundRect">
                <a:avLst/>
              </a:prstGeom>
              <a:solidFill>
                <a:schemeClr val="accent6">
                  <a:lumMod val="5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1" name="Wave 50">
                <a:extLst>
                  <a:ext uri="{FF2B5EF4-FFF2-40B4-BE49-F238E27FC236}">
                    <a16:creationId xmlns:a16="http://schemas.microsoft.com/office/drawing/2014/main" id="{8938C503-E419-4899-9613-46C9B918898D}"/>
                  </a:ext>
                </a:extLst>
              </p:cNvPr>
              <p:cNvSpPr/>
              <p:nvPr/>
            </p:nvSpPr>
            <p:spPr>
              <a:xfrm rot="10800000" flipV="1">
                <a:off x="593122" y="2100648"/>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Wave 51">
                <a:extLst>
                  <a:ext uri="{FF2B5EF4-FFF2-40B4-BE49-F238E27FC236}">
                    <a16:creationId xmlns:a16="http://schemas.microsoft.com/office/drawing/2014/main" id="{46CD5E06-5D1F-4412-B55D-654021D1F563}"/>
                  </a:ext>
                </a:extLst>
              </p:cNvPr>
              <p:cNvSpPr/>
              <p:nvPr/>
            </p:nvSpPr>
            <p:spPr>
              <a:xfrm rot="10800000" flipV="1">
                <a:off x="593121" y="4012466"/>
                <a:ext cx="1927655" cy="1328351"/>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3" name="Wave 52">
                <a:extLst>
                  <a:ext uri="{FF2B5EF4-FFF2-40B4-BE49-F238E27FC236}">
                    <a16:creationId xmlns:a16="http://schemas.microsoft.com/office/drawing/2014/main" id="{338AF6AF-516D-4CC6-BA1A-94AE6C8F0351}"/>
                  </a:ext>
                </a:extLst>
              </p:cNvPr>
              <p:cNvSpPr/>
              <p:nvPr/>
            </p:nvSpPr>
            <p:spPr>
              <a:xfrm rot="10800000" flipV="1">
                <a:off x="494266" y="2908273"/>
                <a:ext cx="2026505" cy="1960285"/>
              </a:xfrm>
              <a:prstGeom prst="wav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Put the results into good use</a:t>
                </a:r>
                <a:endParaRPr lang="nl-NL" sz="2000" dirty="0">
                  <a:solidFill>
                    <a:schemeClr val="tx1"/>
                  </a:solidFill>
                </a:endParaRPr>
              </a:p>
            </p:txBody>
          </p:sp>
          <p:sp>
            <p:nvSpPr>
              <p:cNvPr id="54" name="Rectangle 53">
                <a:extLst>
                  <a:ext uri="{FF2B5EF4-FFF2-40B4-BE49-F238E27FC236}">
                    <a16:creationId xmlns:a16="http://schemas.microsoft.com/office/drawing/2014/main" id="{B64A93BB-41E6-4815-BAA1-279ED763D01E}"/>
                  </a:ext>
                </a:extLst>
              </p:cNvPr>
              <p:cNvSpPr/>
              <p:nvPr/>
            </p:nvSpPr>
            <p:spPr>
              <a:xfrm>
                <a:off x="593118" y="2520778"/>
                <a:ext cx="1927654" cy="535780"/>
              </a:xfrm>
              <a:prstGeom prst="rect">
                <a:avLst/>
              </a:prstGeom>
              <a:gradFill flip="none" rotWithShape="1">
                <a:gsLst>
                  <a:gs pos="0">
                    <a:schemeClr val="accent6">
                      <a:lumMod val="50000"/>
                    </a:schemeClr>
                  </a:gs>
                  <a:gs pos="80000">
                    <a:schemeClr val="accent6">
                      <a:lumMod val="50000"/>
                    </a:schemeClr>
                  </a:gs>
                  <a:gs pos="100000">
                    <a:schemeClr val="tx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Interpret</a:t>
                </a:r>
                <a:endParaRPr lang="nl-NL" dirty="0">
                  <a:solidFill>
                    <a:schemeClr val="bg1"/>
                  </a:solidFill>
                </a:endParaRPr>
              </a:p>
            </p:txBody>
          </p:sp>
          <p:sp>
            <p:nvSpPr>
              <p:cNvPr id="55" name="Rectangle: Rounded Corners 54">
                <a:extLst>
                  <a:ext uri="{FF2B5EF4-FFF2-40B4-BE49-F238E27FC236}">
                    <a16:creationId xmlns:a16="http://schemas.microsoft.com/office/drawing/2014/main" id="{88A20D74-2F9B-4DCB-858D-1F4C280BDF01}"/>
                  </a:ext>
                </a:extLst>
              </p:cNvPr>
              <p:cNvSpPr/>
              <p:nvPr/>
            </p:nvSpPr>
            <p:spPr>
              <a:xfrm>
                <a:off x="593118" y="1717588"/>
                <a:ext cx="1927654" cy="396510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9" name="TextBox 48">
              <a:extLst>
                <a:ext uri="{FF2B5EF4-FFF2-40B4-BE49-F238E27FC236}">
                  <a16:creationId xmlns:a16="http://schemas.microsoft.com/office/drawing/2014/main" id="{2A8EBCC1-7832-421F-BCDF-C0A3FC05454C}"/>
                </a:ext>
              </a:extLst>
            </p:cNvPr>
            <p:cNvSpPr txBox="1"/>
            <p:nvPr/>
          </p:nvSpPr>
          <p:spPr>
            <a:xfrm>
              <a:off x="838200" y="1816443"/>
              <a:ext cx="619897" cy="430887"/>
            </a:xfrm>
            <a:prstGeom prst="rect">
              <a:avLst/>
            </a:prstGeom>
            <a:noFill/>
          </p:spPr>
          <p:txBody>
            <a:bodyPr wrap="square" rtlCol="0">
              <a:spAutoFit/>
            </a:bodyPr>
            <a:lstStyle/>
            <a:p>
              <a:r>
                <a:rPr lang="en-US" sz="2200" b="1" dirty="0">
                  <a:solidFill>
                    <a:schemeClr val="bg1"/>
                  </a:solidFill>
                </a:rPr>
                <a:t>I</a:t>
              </a:r>
              <a:endParaRPr lang="nl-NL" sz="2200" b="1" dirty="0">
                <a:solidFill>
                  <a:schemeClr val="bg1"/>
                </a:solidFill>
              </a:endParaRPr>
            </a:p>
          </p:txBody>
        </p:sp>
      </p:grpSp>
      <p:sp>
        <p:nvSpPr>
          <p:cNvPr id="3" name="Slide Number Placeholder 2">
            <a:extLst>
              <a:ext uri="{FF2B5EF4-FFF2-40B4-BE49-F238E27FC236}">
                <a16:creationId xmlns:a16="http://schemas.microsoft.com/office/drawing/2014/main" id="{5663BBC6-3366-DA93-53C7-C612D0DADA54}"/>
              </a:ext>
            </a:extLst>
          </p:cNvPr>
          <p:cNvSpPr>
            <a:spLocks noGrp="1"/>
          </p:cNvSpPr>
          <p:nvPr>
            <p:ph type="sldNum" sz="quarter" idx="12"/>
          </p:nvPr>
        </p:nvSpPr>
        <p:spPr/>
        <p:txBody>
          <a:bodyPr/>
          <a:lstStyle/>
          <a:p>
            <a:fld id="{F8D8F54C-053C-4394-9990-70DE256B1A6D}" type="slidenum">
              <a:rPr lang="nl-NL" smtClean="0"/>
              <a:t>5</a:t>
            </a:fld>
            <a:endParaRPr lang="nl-NL"/>
          </a:p>
        </p:txBody>
      </p:sp>
    </p:spTree>
    <p:extLst>
      <p:ext uri="{BB962C8B-B14F-4D97-AF65-F5344CB8AC3E}">
        <p14:creationId xmlns:p14="http://schemas.microsoft.com/office/powerpoint/2010/main" val="1268839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sz="3200" b="1" dirty="0">
                <a:latin typeface="Times New Roman" panose="02020603050405020304" pitchFamily="18" charset="0"/>
                <a:cs typeface="Times New Roman" panose="02020603050405020304" pitchFamily="18" charset="0"/>
              </a:rPr>
              <a:t>CRISP-DM</a:t>
            </a:r>
            <a:endParaRPr lang="nl-NL" sz="3200" b="1" dirty="0"/>
          </a:p>
        </p:txBody>
      </p:sp>
      <p:grpSp>
        <p:nvGrpSpPr>
          <p:cNvPr id="6" name="Group 5">
            <a:extLst>
              <a:ext uri="{FF2B5EF4-FFF2-40B4-BE49-F238E27FC236}">
                <a16:creationId xmlns:a16="http://schemas.microsoft.com/office/drawing/2014/main" id="{75D7AD9F-A24E-4C88-8BD8-DF1E0A2E08D9}"/>
              </a:ext>
            </a:extLst>
          </p:cNvPr>
          <p:cNvGrpSpPr/>
          <p:nvPr/>
        </p:nvGrpSpPr>
        <p:grpSpPr>
          <a:xfrm>
            <a:off x="4017818" y="705110"/>
            <a:ext cx="5919391" cy="5930569"/>
            <a:chOff x="5391737" y="639080"/>
            <a:chExt cx="5919391" cy="5930569"/>
          </a:xfrm>
        </p:grpSpPr>
        <p:pic>
          <p:nvPicPr>
            <p:cNvPr id="7" name="Picture 6">
              <a:extLst>
                <a:ext uri="{FF2B5EF4-FFF2-40B4-BE49-F238E27FC236}">
                  <a16:creationId xmlns:a16="http://schemas.microsoft.com/office/drawing/2014/main" id="{DEA07E80-41C8-4D70-89EF-51E3C169CAA9}"/>
                </a:ext>
              </a:extLst>
            </p:cNvPr>
            <p:cNvPicPr>
              <a:picLocks noChangeAspect="1"/>
            </p:cNvPicPr>
            <p:nvPr/>
          </p:nvPicPr>
          <p:blipFill>
            <a:blip r:embed="rId2"/>
            <a:stretch>
              <a:fillRect/>
            </a:stretch>
          </p:blipFill>
          <p:spPr>
            <a:xfrm>
              <a:off x="5391737" y="639080"/>
              <a:ext cx="5919391" cy="5930569"/>
            </a:xfrm>
            <a:prstGeom prst="rect">
              <a:avLst/>
            </a:prstGeom>
          </p:spPr>
        </p:pic>
        <p:sp>
          <p:nvSpPr>
            <p:cNvPr id="8" name="Oval 7">
              <a:extLst>
                <a:ext uri="{FF2B5EF4-FFF2-40B4-BE49-F238E27FC236}">
                  <a16:creationId xmlns:a16="http://schemas.microsoft.com/office/drawing/2014/main" id="{F91E78AF-4DE6-4CA8-9B02-4FA500D93F97}"/>
                </a:ext>
              </a:extLst>
            </p:cNvPr>
            <p:cNvSpPr/>
            <p:nvPr/>
          </p:nvSpPr>
          <p:spPr>
            <a:xfrm>
              <a:off x="9219156" y="2596492"/>
              <a:ext cx="1816274" cy="866244"/>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3" name="Slide Number Placeholder 2">
            <a:extLst>
              <a:ext uri="{FF2B5EF4-FFF2-40B4-BE49-F238E27FC236}">
                <a16:creationId xmlns:a16="http://schemas.microsoft.com/office/drawing/2014/main" id="{FEA9B7D4-E384-F3A7-CBFD-F74BCEF6A948}"/>
              </a:ext>
            </a:extLst>
          </p:cNvPr>
          <p:cNvSpPr>
            <a:spLocks noGrp="1"/>
          </p:cNvSpPr>
          <p:nvPr>
            <p:ph type="sldNum" sz="quarter" idx="12"/>
          </p:nvPr>
        </p:nvSpPr>
        <p:spPr/>
        <p:txBody>
          <a:bodyPr/>
          <a:lstStyle/>
          <a:p>
            <a:fld id="{F8D8F54C-053C-4394-9990-70DE256B1A6D}" type="slidenum">
              <a:rPr lang="nl-NL" smtClean="0"/>
              <a:t>6</a:t>
            </a:fld>
            <a:endParaRPr lang="nl-NL"/>
          </a:p>
        </p:txBody>
      </p:sp>
    </p:spTree>
    <p:extLst>
      <p:ext uri="{BB962C8B-B14F-4D97-AF65-F5344CB8AC3E}">
        <p14:creationId xmlns:p14="http://schemas.microsoft.com/office/powerpoint/2010/main" val="4244312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sz="3200" b="1">
                <a:latin typeface="Times New Roman" panose="02020603050405020304" pitchFamily="18" charset="0"/>
                <a:cs typeface="Times New Roman" panose="02020603050405020304" pitchFamily="18" charset="0"/>
              </a:rPr>
              <a:t>Why data preparation? </a:t>
            </a:r>
            <a:endParaRPr lang="nl-NL" sz="3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08A5627-04C7-4AD9-AF86-F99E988C6D21}"/>
              </a:ext>
            </a:extLst>
          </p:cNvPr>
          <p:cNvPicPr>
            <a:picLocks noChangeAspect="1"/>
          </p:cNvPicPr>
          <p:nvPr/>
        </p:nvPicPr>
        <p:blipFill>
          <a:blip r:embed="rId2"/>
          <a:stretch>
            <a:fillRect/>
          </a:stretch>
        </p:blipFill>
        <p:spPr>
          <a:xfrm>
            <a:off x="8217408" y="1222068"/>
            <a:ext cx="3733800" cy="5010150"/>
          </a:xfrm>
          <a:prstGeom prst="rect">
            <a:avLst/>
          </a:prstGeom>
        </p:spPr>
      </p:pic>
      <p:pic>
        <p:nvPicPr>
          <p:cNvPr id="7" name="Picture 6">
            <a:extLst>
              <a:ext uri="{FF2B5EF4-FFF2-40B4-BE49-F238E27FC236}">
                <a16:creationId xmlns:a16="http://schemas.microsoft.com/office/drawing/2014/main" id="{F63FC4E2-CFD4-4067-B5A5-424250CB38A3}"/>
              </a:ext>
            </a:extLst>
          </p:cNvPr>
          <p:cNvPicPr>
            <a:picLocks noChangeAspect="1"/>
          </p:cNvPicPr>
          <p:nvPr/>
        </p:nvPicPr>
        <p:blipFill>
          <a:blip r:embed="rId3"/>
          <a:stretch>
            <a:fillRect/>
          </a:stretch>
        </p:blipFill>
        <p:spPr>
          <a:xfrm>
            <a:off x="4316782" y="1222068"/>
            <a:ext cx="3733800" cy="5010150"/>
          </a:xfrm>
          <a:prstGeom prst="rect">
            <a:avLst/>
          </a:prstGeom>
        </p:spPr>
      </p:pic>
      <p:pic>
        <p:nvPicPr>
          <p:cNvPr id="8" name="Picture 7">
            <a:extLst>
              <a:ext uri="{FF2B5EF4-FFF2-40B4-BE49-F238E27FC236}">
                <a16:creationId xmlns:a16="http://schemas.microsoft.com/office/drawing/2014/main" id="{40325B32-15CF-4F7B-86C1-88B5A22879F4}"/>
              </a:ext>
            </a:extLst>
          </p:cNvPr>
          <p:cNvPicPr>
            <a:picLocks noChangeAspect="1"/>
          </p:cNvPicPr>
          <p:nvPr/>
        </p:nvPicPr>
        <p:blipFill>
          <a:blip r:embed="rId4"/>
          <a:stretch>
            <a:fillRect/>
          </a:stretch>
        </p:blipFill>
        <p:spPr>
          <a:xfrm>
            <a:off x="391104" y="1222068"/>
            <a:ext cx="3733800" cy="5010150"/>
          </a:xfrm>
          <a:prstGeom prst="rect">
            <a:avLst/>
          </a:prstGeom>
        </p:spPr>
      </p:pic>
      <p:sp>
        <p:nvSpPr>
          <p:cNvPr id="3" name="Slide Number Placeholder 2">
            <a:extLst>
              <a:ext uri="{FF2B5EF4-FFF2-40B4-BE49-F238E27FC236}">
                <a16:creationId xmlns:a16="http://schemas.microsoft.com/office/drawing/2014/main" id="{7177420B-37AF-6807-BF4F-EF9E7ADF2BF9}"/>
              </a:ext>
            </a:extLst>
          </p:cNvPr>
          <p:cNvSpPr>
            <a:spLocks noGrp="1"/>
          </p:cNvSpPr>
          <p:nvPr>
            <p:ph type="sldNum" sz="quarter" idx="12"/>
          </p:nvPr>
        </p:nvSpPr>
        <p:spPr/>
        <p:txBody>
          <a:bodyPr/>
          <a:lstStyle/>
          <a:p>
            <a:fld id="{F8D8F54C-053C-4394-9990-70DE256B1A6D}" type="slidenum">
              <a:rPr lang="nl-NL" smtClean="0"/>
              <a:t>7</a:t>
            </a:fld>
            <a:endParaRPr lang="nl-NL"/>
          </a:p>
        </p:txBody>
      </p:sp>
    </p:spTree>
    <p:extLst>
      <p:ext uri="{BB962C8B-B14F-4D97-AF65-F5344CB8AC3E}">
        <p14:creationId xmlns:p14="http://schemas.microsoft.com/office/powerpoint/2010/main" val="3313151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sz="3200" b="1" dirty="0">
                <a:latin typeface="Times New Roman" panose="02020603050405020304" pitchFamily="18" charset="0"/>
                <a:cs typeface="Times New Roman" panose="02020603050405020304" pitchFamily="18" charset="0"/>
              </a:rPr>
              <a:t>Why data preparation? </a:t>
            </a:r>
            <a:endParaRPr lang="nl-NL" sz="3200" b="1" dirty="0">
              <a:latin typeface="Times New Roman" panose="02020603050405020304" pitchFamily="18" charset="0"/>
              <a:cs typeface="Times New Roman" panose="02020603050405020304" pitchFamily="18" charset="0"/>
            </a:endParaRPr>
          </a:p>
        </p:txBody>
      </p:sp>
      <p:sp>
        <p:nvSpPr>
          <p:cNvPr id="9" name="Text Placeholder 2">
            <a:extLst>
              <a:ext uri="{FF2B5EF4-FFF2-40B4-BE49-F238E27FC236}">
                <a16:creationId xmlns:a16="http://schemas.microsoft.com/office/drawing/2014/main" id="{BD9B25EC-0C3B-46F7-9F4C-E911939C68EA}"/>
              </a:ext>
            </a:extLst>
          </p:cNvPr>
          <p:cNvSpPr txBox="1">
            <a:spLocks/>
          </p:cNvSpPr>
          <p:nvPr/>
        </p:nvSpPr>
        <p:spPr>
          <a:xfrm>
            <a:off x="5168417" y="1476449"/>
            <a:ext cx="5756487" cy="110089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nl-NL" sz="2399" dirty="0">
                <a:latin typeface="Times New Roman" panose="02020603050405020304" pitchFamily="18" charset="0"/>
                <a:cs typeface="Times New Roman" panose="02020603050405020304" pitchFamily="18" charset="0"/>
              </a:rPr>
              <a:t>What data scientists spend the most of their time doing?</a:t>
            </a:r>
          </a:p>
        </p:txBody>
      </p:sp>
      <p:grpSp>
        <p:nvGrpSpPr>
          <p:cNvPr id="10" name="Group 9">
            <a:extLst>
              <a:ext uri="{FF2B5EF4-FFF2-40B4-BE49-F238E27FC236}">
                <a16:creationId xmlns:a16="http://schemas.microsoft.com/office/drawing/2014/main" id="{46D00759-1382-4029-BA14-A8AAF8A73C3D}"/>
              </a:ext>
            </a:extLst>
          </p:cNvPr>
          <p:cNvGrpSpPr/>
          <p:nvPr/>
        </p:nvGrpSpPr>
        <p:grpSpPr>
          <a:xfrm>
            <a:off x="-1993186" y="1885703"/>
            <a:ext cx="11754302" cy="5408949"/>
            <a:chOff x="-1993186" y="1885703"/>
            <a:chExt cx="11754302" cy="5408949"/>
          </a:xfrm>
        </p:grpSpPr>
        <p:graphicFrame>
          <p:nvGraphicFramePr>
            <p:cNvPr id="11" name="Chart 10">
              <a:extLst>
                <a:ext uri="{FF2B5EF4-FFF2-40B4-BE49-F238E27FC236}">
                  <a16:creationId xmlns:a16="http://schemas.microsoft.com/office/drawing/2014/main" id="{62958E99-2695-4C6E-AD3A-10574984E181}"/>
                </a:ext>
              </a:extLst>
            </p:cNvPr>
            <p:cNvGraphicFramePr>
              <a:graphicFrameLocks/>
            </p:cNvGraphicFramePr>
            <p:nvPr>
              <p:extLst>
                <p:ext uri="{D42A27DB-BD31-4B8C-83A1-F6EECF244321}">
                  <p14:modId xmlns:p14="http://schemas.microsoft.com/office/powerpoint/2010/main" val="606553157"/>
                </p:ext>
              </p:extLst>
            </p:nvPr>
          </p:nvGraphicFramePr>
          <p:xfrm>
            <a:off x="-1993186" y="1885703"/>
            <a:ext cx="10961822" cy="5408949"/>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D033410-2139-4FAB-B0D8-4AA8620B5A06}"/>
                </a:ext>
              </a:extLst>
            </p:cNvPr>
            <p:cNvSpPr txBox="1"/>
            <p:nvPr/>
          </p:nvSpPr>
          <p:spPr>
            <a:xfrm>
              <a:off x="7839456" y="2926080"/>
              <a:ext cx="792480" cy="369332"/>
            </a:xfrm>
            <a:prstGeom prst="rect">
              <a:avLst/>
            </a:prstGeom>
            <a:noFill/>
          </p:spPr>
          <p:txBody>
            <a:bodyPr wrap="square" rtlCol="0">
              <a:spAutoFit/>
            </a:bodyPr>
            <a:lstStyle/>
            <a:p>
              <a:r>
                <a:rPr lang="en-US" dirty="0"/>
                <a:t>60%</a:t>
              </a:r>
              <a:endParaRPr lang="nl-NL" dirty="0"/>
            </a:p>
          </p:txBody>
        </p:sp>
        <p:sp>
          <p:nvSpPr>
            <p:cNvPr id="13" name="TextBox 12">
              <a:extLst>
                <a:ext uri="{FF2B5EF4-FFF2-40B4-BE49-F238E27FC236}">
                  <a16:creationId xmlns:a16="http://schemas.microsoft.com/office/drawing/2014/main" id="{EDE7601E-028C-42BB-AC22-4F197754976C}"/>
                </a:ext>
              </a:extLst>
            </p:cNvPr>
            <p:cNvSpPr txBox="1"/>
            <p:nvPr/>
          </p:nvSpPr>
          <p:spPr>
            <a:xfrm>
              <a:off x="8968636" y="3396057"/>
              <a:ext cx="792480" cy="369332"/>
            </a:xfrm>
            <a:prstGeom prst="rect">
              <a:avLst/>
            </a:prstGeom>
            <a:noFill/>
          </p:spPr>
          <p:txBody>
            <a:bodyPr wrap="square" rtlCol="0">
              <a:spAutoFit/>
            </a:bodyPr>
            <a:lstStyle/>
            <a:p>
              <a:r>
                <a:rPr lang="en-US" dirty="0"/>
                <a:t>19%</a:t>
              </a:r>
              <a:endParaRPr lang="nl-NL" dirty="0"/>
            </a:p>
          </p:txBody>
        </p:sp>
        <p:sp>
          <p:nvSpPr>
            <p:cNvPr id="14" name="TextBox 13">
              <a:extLst>
                <a:ext uri="{FF2B5EF4-FFF2-40B4-BE49-F238E27FC236}">
                  <a16:creationId xmlns:a16="http://schemas.microsoft.com/office/drawing/2014/main" id="{2F5CBA4A-4F18-42C8-AE32-EF498BD3F985}"/>
                </a:ext>
              </a:extLst>
            </p:cNvPr>
            <p:cNvSpPr txBox="1"/>
            <p:nvPr/>
          </p:nvSpPr>
          <p:spPr>
            <a:xfrm>
              <a:off x="8572396" y="3911328"/>
              <a:ext cx="792480" cy="369332"/>
            </a:xfrm>
            <a:prstGeom prst="rect">
              <a:avLst/>
            </a:prstGeom>
            <a:noFill/>
          </p:spPr>
          <p:txBody>
            <a:bodyPr wrap="square" rtlCol="0">
              <a:spAutoFit/>
            </a:bodyPr>
            <a:lstStyle/>
            <a:p>
              <a:r>
                <a:rPr lang="en-US" dirty="0"/>
                <a:t>9%</a:t>
              </a:r>
              <a:endParaRPr lang="nl-NL" dirty="0"/>
            </a:p>
          </p:txBody>
        </p:sp>
        <p:sp>
          <p:nvSpPr>
            <p:cNvPr id="15" name="TextBox 14">
              <a:extLst>
                <a:ext uri="{FF2B5EF4-FFF2-40B4-BE49-F238E27FC236}">
                  <a16:creationId xmlns:a16="http://schemas.microsoft.com/office/drawing/2014/main" id="{A6D15ED8-C496-46A3-969E-27F06C5F6B65}"/>
                </a:ext>
              </a:extLst>
            </p:cNvPr>
            <p:cNvSpPr txBox="1"/>
            <p:nvPr/>
          </p:nvSpPr>
          <p:spPr>
            <a:xfrm>
              <a:off x="8388096" y="4381305"/>
              <a:ext cx="792480" cy="369332"/>
            </a:xfrm>
            <a:prstGeom prst="rect">
              <a:avLst/>
            </a:prstGeom>
            <a:noFill/>
          </p:spPr>
          <p:txBody>
            <a:bodyPr wrap="square" rtlCol="0">
              <a:spAutoFit/>
            </a:bodyPr>
            <a:lstStyle/>
            <a:p>
              <a:r>
                <a:rPr lang="en-US" dirty="0"/>
                <a:t>4%</a:t>
              </a:r>
              <a:endParaRPr lang="nl-NL" dirty="0"/>
            </a:p>
          </p:txBody>
        </p:sp>
        <p:sp>
          <p:nvSpPr>
            <p:cNvPr id="16" name="TextBox 15">
              <a:extLst>
                <a:ext uri="{FF2B5EF4-FFF2-40B4-BE49-F238E27FC236}">
                  <a16:creationId xmlns:a16="http://schemas.microsoft.com/office/drawing/2014/main" id="{B92FA116-AB2F-47AB-8846-A9B31E473BAE}"/>
                </a:ext>
              </a:extLst>
            </p:cNvPr>
            <p:cNvSpPr txBox="1"/>
            <p:nvPr/>
          </p:nvSpPr>
          <p:spPr>
            <a:xfrm>
              <a:off x="8374276" y="4689914"/>
              <a:ext cx="792480" cy="369332"/>
            </a:xfrm>
            <a:prstGeom prst="rect">
              <a:avLst/>
            </a:prstGeom>
            <a:noFill/>
          </p:spPr>
          <p:txBody>
            <a:bodyPr wrap="square" rtlCol="0">
              <a:spAutoFit/>
            </a:bodyPr>
            <a:lstStyle/>
            <a:p>
              <a:r>
                <a:rPr lang="en-US" dirty="0"/>
                <a:t>5%</a:t>
              </a:r>
              <a:endParaRPr lang="nl-NL" dirty="0"/>
            </a:p>
          </p:txBody>
        </p:sp>
        <p:sp>
          <p:nvSpPr>
            <p:cNvPr id="17" name="TextBox 16">
              <a:extLst>
                <a:ext uri="{FF2B5EF4-FFF2-40B4-BE49-F238E27FC236}">
                  <a16:creationId xmlns:a16="http://schemas.microsoft.com/office/drawing/2014/main" id="{2B768AF0-0901-4A43-B7FE-EC32C3744DB7}"/>
                </a:ext>
              </a:extLst>
            </p:cNvPr>
            <p:cNvSpPr txBox="1"/>
            <p:nvPr/>
          </p:nvSpPr>
          <p:spPr>
            <a:xfrm>
              <a:off x="8275216" y="5196885"/>
              <a:ext cx="792480" cy="369332"/>
            </a:xfrm>
            <a:prstGeom prst="rect">
              <a:avLst/>
            </a:prstGeom>
            <a:noFill/>
          </p:spPr>
          <p:txBody>
            <a:bodyPr wrap="square" rtlCol="0">
              <a:spAutoFit/>
            </a:bodyPr>
            <a:lstStyle/>
            <a:p>
              <a:r>
                <a:rPr lang="en-US" dirty="0"/>
                <a:t>3%</a:t>
              </a:r>
              <a:endParaRPr lang="nl-NL" dirty="0"/>
            </a:p>
          </p:txBody>
        </p:sp>
      </p:grpSp>
      <p:sp>
        <p:nvSpPr>
          <p:cNvPr id="3" name="Slide Number Placeholder 2">
            <a:extLst>
              <a:ext uri="{FF2B5EF4-FFF2-40B4-BE49-F238E27FC236}">
                <a16:creationId xmlns:a16="http://schemas.microsoft.com/office/drawing/2014/main" id="{40F4B328-2419-5521-F4C7-7B3647ECF928}"/>
              </a:ext>
            </a:extLst>
          </p:cNvPr>
          <p:cNvSpPr>
            <a:spLocks noGrp="1"/>
          </p:cNvSpPr>
          <p:nvPr>
            <p:ph type="sldNum" sz="quarter" idx="12"/>
          </p:nvPr>
        </p:nvSpPr>
        <p:spPr/>
        <p:txBody>
          <a:bodyPr/>
          <a:lstStyle/>
          <a:p>
            <a:fld id="{F8D8F54C-053C-4394-9990-70DE256B1A6D}" type="slidenum">
              <a:rPr lang="nl-NL" smtClean="0"/>
              <a:t>8</a:t>
            </a:fld>
            <a:endParaRPr lang="nl-NL"/>
          </a:p>
        </p:txBody>
      </p:sp>
    </p:spTree>
    <p:extLst>
      <p:ext uri="{BB962C8B-B14F-4D97-AF65-F5344CB8AC3E}">
        <p14:creationId xmlns:p14="http://schemas.microsoft.com/office/powerpoint/2010/main" val="2832416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Data preparation: An Overview</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t>Data preparation: the process of cleaning and transforming raw data prior to processing and analysis.</a:t>
            </a:r>
          </a:p>
          <a:p>
            <a:r>
              <a:rPr lang="en-US" altLang="nl-NL" dirty="0"/>
              <a:t>Involves the following tasks:</a:t>
            </a:r>
          </a:p>
          <a:p>
            <a:pPr lvl="1"/>
            <a:r>
              <a:rPr lang="en-US" altLang="nl-NL" dirty="0"/>
              <a:t>Checking the data quality and applying correction techniques</a:t>
            </a:r>
          </a:p>
          <a:p>
            <a:pPr lvl="1"/>
            <a:r>
              <a:rPr lang="en-US" altLang="nl-NL" dirty="0"/>
              <a:t>Reformatting data</a:t>
            </a:r>
          </a:p>
          <a:p>
            <a:pPr lvl="1"/>
            <a:r>
              <a:rPr lang="en-US" altLang="nl-NL" dirty="0"/>
              <a:t>Combining datasets for the purpose of enrichment </a:t>
            </a:r>
          </a:p>
        </p:txBody>
      </p:sp>
      <p:sp>
        <p:nvSpPr>
          <p:cNvPr id="4" name="Slide Number Placeholder 3">
            <a:extLst>
              <a:ext uri="{FF2B5EF4-FFF2-40B4-BE49-F238E27FC236}">
                <a16:creationId xmlns:a16="http://schemas.microsoft.com/office/drawing/2014/main" id="{2EF1C47E-E58D-0AE1-1F74-78836735EAA6}"/>
              </a:ext>
            </a:extLst>
          </p:cNvPr>
          <p:cNvSpPr>
            <a:spLocks noGrp="1"/>
          </p:cNvSpPr>
          <p:nvPr>
            <p:ph type="sldNum" sz="quarter" idx="12"/>
          </p:nvPr>
        </p:nvSpPr>
        <p:spPr/>
        <p:txBody>
          <a:bodyPr/>
          <a:lstStyle/>
          <a:p>
            <a:fld id="{F8D8F54C-053C-4394-9990-70DE256B1A6D}" type="slidenum">
              <a:rPr lang="nl-NL" smtClean="0"/>
              <a:t>9</a:t>
            </a:fld>
            <a:endParaRPr lang="nl-NL"/>
          </a:p>
        </p:txBody>
      </p:sp>
    </p:spTree>
    <p:extLst>
      <p:ext uri="{BB962C8B-B14F-4D97-AF65-F5344CB8AC3E}">
        <p14:creationId xmlns:p14="http://schemas.microsoft.com/office/powerpoint/2010/main" val="2658942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02028" y="2620260"/>
            <a:ext cx="8277726" cy="609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Data Quality</a:t>
            </a:r>
            <a:endParaRPr lang="nl-NL"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Slide Number Placeholder 3">
            <a:extLst>
              <a:ext uri="{FF2B5EF4-FFF2-40B4-BE49-F238E27FC236}">
                <a16:creationId xmlns:a16="http://schemas.microsoft.com/office/drawing/2014/main" id="{A64A3323-C6E7-E2BA-F33A-3E5D6CE51DFE}"/>
              </a:ext>
            </a:extLst>
          </p:cNvPr>
          <p:cNvSpPr>
            <a:spLocks noGrp="1"/>
          </p:cNvSpPr>
          <p:nvPr>
            <p:ph type="sldNum" sz="quarter" idx="12"/>
          </p:nvPr>
        </p:nvSpPr>
        <p:spPr/>
        <p:txBody>
          <a:bodyPr/>
          <a:lstStyle/>
          <a:p>
            <a:fld id="{F8D8F54C-053C-4394-9990-70DE256B1A6D}" type="slidenum">
              <a:rPr lang="nl-NL" smtClean="0"/>
              <a:t>10</a:t>
            </a:fld>
            <a:endParaRPr lang="nl-NL"/>
          </a:p>
        </p:txBody>
      </p:sp>
    </p:spTree>
    <p:extLst>
      <p:ext uri="{BB962C8B-B14F-4D97-AF65-F5344CB8AC3E}">
        <p14:creationId xmlns:p14="http://schemas.microsoft.com/office/powerpoint/2010/main" val="1096741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Data Quality Issues</a:t>
            </a:r>
            <a:endParaRPr lang="nl-NL" sz="3200" b="1" dirty="0">
              <a:latin typeface="Times New Roman" panose="02020603050405020304" pitchFamily="18" charset="0"/>
              <a:cs typeface="Times New Roman" panose="02020603050405020304" pitchFamily="18" charset="0"/>
            </a:endParaRPr>
          </a:p>
        </p:txBody>
      </p:sp>
      <p:sp>
        <p:nvSpPr>
          <p:cNvPr id="6" name="Text Box 19">
            <a:extLst>
              <a:ext uri="{FF2B5EF4-FFF2-40B4-BE49-F238E27FC236}">
                <a16:creationId xmlns:a16="http://schemas.microsoft.com/office/drawing/2014/main" id="{5A0F2E0A-6CFA-3346-B9FB-ED7D4A5AF8DC}"/>
              </a:ext>
            </a:extLst>
          </p:cNvPr>
          <p:cNvSpPr txBox="1">
            <a:spLocks noChangeArrowheads="1"/>
          </p:cNvSpPr>
          <p:nvPr/>
        </p:nvSpPr>
        <p:spPr bwMode="auto">
          <a:xfrm>
            <a:off x="3018085" y="2049823"/>
            <a:ext cx="2541587" cy="479425"/>
          </a:xfrm>
          <a:prstGeom prst="rect">
            <a:avLst/>
          </a:prstGeom>
          <a:solidFill>
            <a:srgbClr val="990000"/>
          </a:solidFill>
          <a:ln>
            <a:noFill/>
          </a:ln>
          <a:effectLst>
            <a:prstShdw prst="shdw17" dist="17961" dir="2700000">
              <a:srgbClr val="990000">
                <a:gamma/>
                <a:shade val="60000"/>
                <a:invGamma/>
              </a:srgbClr>
            </a:prstShdw>
          </a:effectLst>
          <a:extLst>
            <a:ext uri="{91240B29-F687-4f45-9708-019B960494DF}">
              <a14:hiddenLine xmlns:a14="http://schemas.microsoft.com/office/drawing/2010/main" xmlns="" w="9525" algn="ctr">
                <a:solidFill>
                  <a:schemeClr val="bg2"/>
                </a:solidFill>
                <a:miter lim="800000"/>
                <a:headEnd/>
                <a:tailEnd/>
              </a14:hiddenLine>
            </a:ext>
          </a:extLst>
        </p:spPr>
        <p:txBody>
          <a:bodyPr wrap="none" anchor="ctr"/>
          <a:lstStyle/>
          <a:p>
            <a:pPr algn="l">
              <a:spcBef>
                <a:spcPct val="50000"/>
              </a:spcBef>
            </a:pPr>
            <a:r>
              <a:rPr lang="en-US" b="1" dirty="0">
                <a:solidFill>
                  <a:schemeClr val="bg1"/>
                </a:solidFill>
              </a:rPr>
              <a:t>Missing Values</a:t>
            </a:r>
            <a:endParaRPr lang="el-GR" b="1" dirty="0">
              <a:solidFill>
                <a:schemeClr val="bg1"/>
              </a:solidFill>
            </a:endParaRPr>
          </a:p>
        </p:txBody>
      </p:sp>
      <p:sp>
        <p:nvSpPr>
          <p:cNvPr id="7" name="Text Box 20">
            <a:extLst>
              <a:ext uri="{FF2B5EF4-FFF2-40B4-BE49-F238E27FC236}">
                <a16:creationId xmlns:a16="http://schemas.microsoft.com/office/drawing/2014/main" id="{3E8B0D6B-32B7-7841-873E-9C5F97A7BB0D}"/>
              </a:ext>
            </a:extLst>
          </p:cNvPr>
          <p:cNvSpPr txBox="1">
            <a:spLocks noChangeArrowheads="1"/>
          </p:cNvSpPr>
          <p:nvPr/>
        </p:nvSpPr>
        <p:spPr bwMode="auto">
          <a:xfrm>
            <a:off x="5559672" y="1260196"/>
            <a:ext cx="2541587" cy="479425"/>
          </a:xfrm>
          <a:prstGeom prst="rect">
            <a:avLst/>
          </a:prstGeom>
          <a:solidFill>
            <a:srgbClr val="F43622">
              <a:alpha val="84000"/>
            </a:srgbClr>
          </a:solidFill>
          <a:ln>
            <a:noFill/>
          </a:ln>
          <a:effectLst>
            <a:prstShdw prst="shdw17" dist="17961" dir="2700000">
              <a:srgbClr val="F43622">
                <a:gamma/>
                <a:shade val="60000"/>
                <a:invGamma/>
              </a:srgbClr>
            </a:prstShdw>
          </a:effectLst>
          <a:extLst>
            <a:ext uri="{91240B29-F687-4f45-9708-019B960494DF}">
              <a14:hiddenLine xmlns:a14="http://schemas.microsoft.com/office/drawing/2010/main" xmlns="" w="9525" algn="ctr">
                <a:solidFill>
                  <a:schemeClr val="bg2"/>
                </a:solidFill>
                <a:miter lim="800000"/>
                <a:headEnd/>
                <a:tailEnd/>
              </a14:hiddenLine>
            </a:ext>
          </a:extLst>
        </p:spPr>
        <p:txBody>
          <a:bodyPr wrap="none" anchor="ctr"/>
          <a:lstStyle/>
          <a:p>
            <a:pPr algn="l"/>
            <a:r>
              <a:rPr lang="en-US" b="1" dirty="0">
                <a:solidFill>
                  <a:schemeClr val="bg1"/>
                </a:solidFill>
              </a:rPr>
              <a:t>Noise</a:t>
            </a:r>
            <a:endParaRPr lang="el-GR" b="1" dirty="0">
              <a:solidFill>
                <a:schemeClr val="bg1"/>
              </a:solidFill>
            </a:endParaRPr>
          </a:p>
        </p:txBody>
      </p:sp>
      <p:sp>
        <p:nvSpPr>
          <p:cNvPr id="8" name="Text Box 21">
            <a:extLst>
              <a:ext uri="{FF2B5EF4-FFF2-40B4-BE49-F238E27FC236}">
                <a16:creationId xmlns:a16="http://schemas.microsoft.com/office/drawing/2014/main" id="{2F9B0DE6-8842-7543-A814-AE8A6F8B7E51}"/>
              </a:ext>
            </a:extLst>
          </p:cNvPr>
          <p:cNvSpPr txBox="1">
            <a:spLocks noChangeArrowheads="1"/>
          </p:cNvSpPr>
          <p:nvPr/>
        </p:nvSpPr>
        <p:spPr bwMode="auto">
          <a:xfrm>
            <a:off x="8457256" y="3074519"/>
            <a:ext cx="2541587" cy="479425"/>
          </a:xfrm>
          <a:prstGeom prst="rect">
            <a:avLst/>
          </a:prstGeom>
          <a:solidFill>
            <a:srgbClr val="FE97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l"/>
            <a:r>
              <a:rPr lang="en-US" b="1" dirty="0">
                <a:solidFill>
                  <a:schemeClr val="bg1"/>
                </a:solidFill>
              </a:rPr>
              <a:t>Outliers</a:t>
            </a:r>
            <a:endParaRPr lang="el-GR" b="1" dirty="0">
              <a:solidFill>
                <a:schemeClr val="bg1"/>
              </a:solidFill>
            </a:endParaRPr>
          </a:p>
        </p:txBody>
      </p:sp>
      <p:sp>
        <p:nvSpPr>
          <p:cNvPr id="9" name="Text Box 22">
            <a:extLst>
              <a:ext uri="{FF2B5EF4-FFF2-40B4-BE49-F238E27FC236}">
                <a16:creationId xmlns:a16="http://schemas.microsoft.com/office/drawing/2014/main" id="{491EF81D-B416-1C47-934C-A71B8FFCB476}"/>
              </a:ext>
            </a:extLst>
          </p:cNvPr>
          <p:cNvSpPr txBox="1">
            <a:spLocks noChangeArrowheads="1"/>
          </p:cNvSpPr>
          <p:nvPr/>
        </p:nvSpPr>
        <p:spPr bwMode="auto">
          <a:xfrm>
            <a:off x="2449576" y="3074520"/>
            <a:ext cx="2541587" cy="479425"/>
          </a:xfrm>
          <a:prstGeom prst="rect">
            <a:avLst/>
          </a:prstGeom>
          <a:solidFill>
            <a:srgbClr val="663300"/>
          </a:solidFill>
          <a:ln>
            <a:noFill/>
          </a:ln>
          <a:effectLst>
            <a:prstShdw prst="shdw17" dist="17961" dir="2700000">
              <a:srgbClr val="663300">
                <a:gamma/>
                <a:shade val="60000"/>
                <a:invGamma/>
              </a:srgbClr>
            </a:prstShdw>
          </a:effectLst>
          <a:extLst>
            <a:ext uri="{91240B29-F687-4f45-9708-019B960494DF}">
              <a14:hiddenLine xmlns:a14="http://schemas.microsoft.com/office/drawing/2010/main" xmlns="" w="9525" algn="ctr">
                <a:solidFill>
                  <a:schemeClr val="bg2"/>
                </a:solidFill>
                <a:miter lim="800000"/>
                <a:headEnd/>
                <a:tailEnd/>
              </a14:hiddenLine>
            </a:ext>
          </a:extLst>
        </p:spPr>
        <p:txBody>
          <a:bodyPr wrap="none" anchor="ctr"/>
          <a:lstStyle/>
          <a:p>
            <a:pPr algn="l"/>
            <a:r>
              <a:rPr lang="en-US" b="1" dirty="0">
                <a:solidFill>
                  <a:schemeClr val="bg1"/>
                </a:solidFill>
              </a:rPr>
              <a:t>Outdated Values</a:t>
            </a:r>
            <a:endParaRPr lang="el-GR" b="1" dirty="0">
              <a:solidFill>
                <a:schemeClr val="bg1"/>
              </a:solidFill>
            </a:endParaRPr>
          </a:p>
        </p:txBody>
      </p:sp>
      <p:sp>
        <p:nvSpPr>
          <p:cNvPr id="10" name="Text Box 23">
            <a:extLst>
              <a:ext uri="{FF2B5EF4-FFF2-40B4-BE49-F238E27FC236}">
                <a16:creationId xmlns:a16="http://schemas.microsoft.com/office/drawing/2014/main" id="{EDB21A97-37E9-8B4A-9586-60F2CE099E8D}"/>
              </a:ext>
            </a:extLst>
          </p:cNvPr>
          <p:cNvSpPr txBox="1">
            <a:spLocks noChangeArrowheads="1"/>
          </p:cNvSpPr>
          <p:nvPr/>
        </p:nvSpPr>
        <p:spPr bwMode="auto">
          <a:xfrm>
            <a:off x="3018084" y="4099217"/>
            <a:ext cx="2541587" cy="479425"/>
          </a:xfrm>
          <a:prstGeom prst="rect">
            <a:avLst/>
          </a:prstGeom>
          <a:solidFill>
            <a:srgbClr val="F43622">
              <a:alpha val="84000"/>
            </a:srgbClr>
          </a:solidFill>
          <a:ln>
            <a:noFill/>
          </a:ln>
          <a:effectLst>
            <a:prstShdw prst="shdw17" dist="17961" dir="2700000">
              <a:srgbClr val="F43622">
                <a:gamma/>
                <a:shade val="60000"/>
                <a:invGamma/>
              </a:srgbClr>
            </a:prstShdw>
          </a:effectLst>
          <a:extLst>
            <a:ext uri="{91240B29-F687-4f45-9708-019B960494DF}">
              <a14:hiddenLine xmlns:a14="http://schemas.microsoft.com/office/drawing/2010/main" xmlns="" w="9525" algn="ctr">
                <a:solidFill>
                  <a:schemeClr val="bg2"/>
                </a:solidFill>
                <a:miter lim="800000"/>
                <a:headEnd/>
                <a:tailEnd/>
              </a14:hiddenLine>
            </a:ext>
          </a:extLst>
        </p:spPr>
        <p:txBody>
          <a:bodyPr wrap="none" anchor="ctr"/>
          <a:lstStyle/>
          <a:p>
            <a:pPr algn="l"/>
            <a:r>
              <a:rPr lang="en-US" b="1" dirty="0">
                <a:solidFill>
                  <a:schemeClr val="bg1"/>
                </a:solidFill>
              </a:rPr>
              <a:t>Inconsistent Values</a:t>
            </a:r>
            <a:endParaRPr lang="el-GR" b="1" dirty="0">
              <a:solidFill>
                <a:schemeClr val="bg1"/>
              </a:solidFill>
            </a:endParaRPr>
          </a:p>
        </p:txBody>
      </p:sp>
      <p:sp>
        <p:nvSpPr>
          <p:cNvPr id="11" name="Text Box 24">
            <a:extLst>
              <a:ext uri="{FF2B5EF4-FFF2-40B4-BE49-F238E27FC236}">
                <a16:creationId xmlns:a16="http://schemas.microsoft.com/office/drawing/2014/main" id="{108EB380-D1CA-E849-BE00-A5C3EAF505F9}"/>
              </a:ext>
            </a:extLst>
          </p:cNvPr>
          <p:cNvSpPr txBox="1">
            <a:spLocks noChangeArrowheads="1"/>
          </p:cNvSpPr>
          <p:nvPr/>
        </p:nvSpPr>
        <p:spPr bwMode="auto">
          <a:xfrm>
            <a:off x="8061571" y="4099218"/>
            <a:ext cx="2541587" cy="479425"/>
          </a:xfrm>
          <a:prstGeom prst="rect">
            <a:avLst/>
          </a:prstGeom>
          <a:solidFill>
            <a:srgbClr val="AD7C03">
              <a:alpha val="60001"/>
            </a:srgbClr>
          </a:solidFill>
          <a:ln>
            <a:noFill/>
          </a:ln>
          <a:effectLst>
            <a:prstShdw prst="shdw17" dist="17961" dir="2700000">
              <a:srgbClr val="AD7C03">
                <a:gamma/>
                <a:shade val="60000"/>
                <a:invGamma/>
              </a:srgbClr>
            </a:prstShdw>
          </a:effectLst>
          <a:extLst>
            <a:ext uri="{91240B29-F687-4f45-9708-019B960494DF}">
              <a14:hiddenLine xmlns:a14="http://schemas.microsoft.com/office/drawing/2010/main" xmlns="" w="9525" algn="ctr">
                <a:solidFill>
                  <a:schemeClr val="bg2"/>
                </a:solidFill>
                <a:miter lim="800000"/>
                <a:headEnd/>
                <a:tailEnd/>
              </a14:hiddenLine>
            </a:ext>
          </a:extLst>
        </p:spPr>
        <p:txBody>
          <a:bodyPr wrap="none" anchor="ctr"/>
          <a:lstStyle/>
          <a:p>
            <a:pPr algn="l"/>
            <a:r>
              <a:rPr lang="en-US" b="1" dirty="0">
                <a:solidFill>
                  <a:schemeClr val="bg1"/>
                </a:solidFill>
              </a:rPr>
              <a:t>Unreliable sources</a:t>
            </a:r>
            <a:endParaRPr lang="el-GR" b="1" dirty="0">
              <a:solidFill>
                <a:schemeClr val="bg1"/>
              </a:solidFill>
            </a:endParaRPr>
          </a:p>
        </p:txBody>
      </p:sp>
      <p:sp>
        <p:nvSpPr>
          <p:cNvPr id="12" name="Text Box 25">
            <a:extLst>
              <a:ext uri="{FF2B5EF4-FFF2-40B4-BE49-F238E27FC236}">
                <a16:creationId xmlns:a16="http://schemas.microsoft.com/office/drawing/2014/main" id="{19F176BB-8FBD-2C42-A1AC-7B21AF9F7CB4}"/>
              </a:ext>
            </a:extLst>
          </p:cNvPr>
          <p:cNvSpPr txBox="1">
            <a:spLocks noChangeArrowheads="1"/>
          </p:cNvSpPr>
          <p:nvPr/>
        </p:nvSpPr>
        <p:spPr bwMode="auto">
          <a:xfrm>
            <a:off x="8061572" y="2049823"/>
            <a:ext cx="2541587" cy="479425"/>
          </a:xfrm>
          <a:prstGeom prst="rect">
            <a:avLst/>
          </a:prstGeom>
          <a:solidFill>
            <a:srgbClr val="AD7C03">
              <a:alpha val="60001"/>
            </a:srgbClr>
          </a:solidFill>
          <a:ln>
            <a:noFill/>
          </a:ln>
          <a:effectLst>
            <a:prstShdw prst="shdw17" dist="17961" dir="2700000">
              <a:srgbClr val="AD7C03">
                <a:gamma/>
                <a:shade val="60000"/>
                <a:invGamma/>
              </a:srgbClr>
            </a:prstShdw>
          </a:effectLst>
          <a:extLst>
            <a:ext uri="{91240B29-F687-4f45-9708-019B960494DF}">
              <a14:hiddenLine xmlns:a14="http://schemas.microsoft.com/office/drawing/2010/main" xmlns="" w="9525" algn="ctr">
                <a:solidFill>
                  <a:schemeClr val="bg2"/>
                </a:solidFill>
                <a:miter lim="800000"/>
                <a:headEnd/>
                <a:tailEnd/>
              </a14:hiddenLine>
            </a:ext>
          </a:extLst>
        </p:spPr>
        <p:txBody>
          <a:bodyPr wrap="none" anchor="ctr"/>
          <a:lstStyle/>
          <a:p>
            <a:pPr algn="l"/>
            <a:r>
              <a:rPr lang="en-US" b="1" dirty="0">
                <a:solidFill>
                  <a:schemeClr val="bg1"/>
                </a:solidFill>
              </a:rPr>
              <a:t>Duplicate Data</a:t>
            </a:r>
            <a:endParaRPr lang="el-GR" b="1" dirty="0">
              <a:solidFill>
                <a:schemeClr val="bg1"/>
              </a:solidFill>
            </a:endParaRPr>
          </a:p>
        </p:txBody>
      </p:sp>
      <p:pic>
        <p:nvPicPr>
          <p:cNvPr id="13" name="Picture 12">
            <a:extLst>
              <a:ext uri="{FF2B5EF4-FFF2-40B4-BE49-F238E27FC236}">
                <a16:creationId xmlns:a16="http://schemas.microsoft.com/office/drawing/2014/main" id="{1B586785-32A6-1343-A227-279A87734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9672" y="2707905"/>
            <a:ext cx="2501900" cy="1212656"/>
          </a:xfrm>
          <a:prstGeom prst="rect">
            <a:avLst/>
          </a:prstGeom>
        </p:spPr>
      </p:pic>
      <p:sp>
        <p:nvSpPr>
          <p:cNvPr id="14" name="TextBox 13">
            <a:extLst>
              <a:ext uri="{FF2B5EF4-FFF2-40B4-BE49-F238E27FC236}">
                <a16:creationId xmlns:a16="http://schemas.microsoft.com/office/drawing/2014/main" id="{9D59C684-01D5-A64F-893D-5393D3249133}"/>
              </a:ext>
            </a:extLst>
          </p:cNvPr>
          <p:cNvSpPr txBox="1"/>
          <p:nvPr/>
        </p:nvSpPr>
        <p:spPr>
          <a:xfrm>
            <a:off x="4288877" y="5037258"/>
            <a:ext cx="5886548" cy="523220"/>
          </a:xfrm>
          <a:prstGeom prst="rect">
            <a:avLst/>
          </a:prstGeom>
          <a:noFill/>
        </p:spPr>
        <p:txBody>
          <a:bodyPr wrap="none" rtlCol="0">
            <a:spAutoFit/>
          </a:bodyPr>
          <a:lstStyle/>
          <a:p>
            <a:pPr algn="l"/>
            <a:r>
              <a:rPr lang="en-US" dirty="0"/>
              <a:t>For any data retrieval or data analytic task, </a:t>
            </a:r>
          </a:p>
          <a:p>
            <a:pPr algn="l"/>
            <a:r>
              <a:rPr lang="en-US" b="1" dirty="0"/>
              <a:t>it is critically important to know the quality of your data</a:t>
            </a:r>
          </a:p>
        </p:txBody>
      </p:sp>
      <p:sp>
        <p:nvSpPr>
          <p:cNvPr id="15" name="Rectangle 14">
            <a:extLst>
              <a:ext uri="{FF2B5EF4-FFF2-40B4-BE49-F238E27FC236}">
                <a16:creationId xmlns:a16="http://schemas.microsoft.com/office/drawing/2014/main" id="{E74E1977-80D9-1A43-9182-975FC47BF127}"/>
              </a:ext>
            </a:extLst>
          </p:cNvPr>
          <p:cNvSpPr/>
          <p:nvPr/>
        </p:nvSpPr>
        <p:spPr>
          <a:xfrm>
            <a:off x="2768600" y="6019093"/>
            <a:ext cx="5118100" cy="646331"/>
          </a:xfrm>
          <a:prstGeom prst="rect">
            <a:avLst/>
          </a:prstGeom>
        </p:spPr>
        <p:txBody>
          <a:bodyPr wrap="square">
            <a:spAutoFit/>
          </a:bodyPr>
          <a:lstStyle/>
          <a:p>
            <a:r>
              <a:rPr lang="en-US" i="1" dirty="0"/>
              <a:t>For the US alone, poor data quality costs around US economy $3 trillions a year (2016). </a:t>
            </a:r>
          </a:p>
        </p:txBody>
      </p:sp>
      <p:sp>
        <p:nvSpPr>
          <p:cNvPr id="3" name="Slide Number Placeholder 2">
            <a:extLst>
              <a:ext uri="{FF2B5EF4-FFF2-40B4-BE49-F238E27FC236}">
                <a16:creationId xmlns:a16="http://schemas.microsoft.com/office/drawing/2014/main" id="{0BEEC328-9904-A794-39F7-3BCB4D45320D}"/>
              </a:ext>
            </a:extLst>
          </p:cNvPr>
          <p:cNvSpPr>
            <a:spLocks noGrp="1"/>
          </p:cNvSpPr>
          <p:nvPr>
            <p:ph type="sldNum" sz="quarter" idx="12"/>
          </p:nvPr>
        </p:nvSpPr>
        <p:spPr/>
        <p:txBody>
          <a:bodyPr/>
          <a:lstStyle/>
          <a:p>
            <a:fld id="{F8D8F54C-053C-4394-9990-70DE256B1A6D}" type="slidenum">
              <a:rPr lang="nl-NL" smtClean="0"/>
              <a:t>11</a:t>
            </a:fld>
            <a:endParaRPr lang="nl-NL"/>
          </a:p>
        </p:txBody>
      </p:sp>
    </p:spTree>
    <p:extLst>
      <p:ext uri="{BB962C8B-B14F-4D97-AF65-F5344CB8AC3E}">
        <p14:creationId xmlns:p14="http://schemas.microsoft.com/office/powerpoint/2010/main" val="734169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Data Quality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t>Data quality: checking the data from multiple perspectives </a:t>
            </a:r>
          </a:p>
          <a:p>
            <a:pPr lvl="1"/>
            <a:r>
              <a:rPr lang="en-US" altLang="nl-NL" dirty="0"/>
              <a:t>Accuracy</a:t>
            </a:r>
          </a:p>
          <a:p>
            <a:pPr lvl="2"/>
            <a:r>
              <a:rPr lang="en-US" altLang="nl-NL" dirty="0"/>
              <a:t>The data was recorded correctly.</a:t>
            </a:r>
          </a:p>
          <a:p>
            <a:pPr lvl="1"/>
            <a:r>
              <a:rPr lang="en-US" altLang="nl-NL" dirty="0"/>
              <a:t>Completeness</a:t>
            </a:r>
          </a:p>
          <a:p>
            <a:pPr lvl="2"/>
            <a:r>
              <a:rPr lang="en-US" altLang="nl-NL" dirty="0"/>
              <a:t>All relevant data was recorded.</a:t>
            </a:r>
          </a:p>
          <a:p>
            <a:pPr lvl="1"/>
            <a:r>
              <a:rPr lang="en-US" altLang="nl-NL" dirty="0"/>
              <a:t>Uniqueness</a:t>
            </a:r>
          </a:p>
          <a:p>
            <a:pPr lvl="2"/>
            <a:r>
              <a:rPr lang="en-US" altLang="nl-NL" dirty="0"/>
              <a:t>Entities are recorded once.</a:t>
            </a:r>
          </a:p>
          <a:p>
            <a:pPr lvl="1"/>
            <a:r>
              <a:rPr lang="en-US" altLang="nl-NL" dirty="0"/>
              <a:t>Timeliness</a:t>
            </a:r>
          </a:p>
          <a:p>
            <a:pPr lvl="2"/>
            <a:r>
              <a:rPr lang="en-US" altLang="nl-NL" dirty="0"/>
              <a:t>The data is kept up to date.</a:t>
            </a:r>
          </a:p>
          <a:p>
            <a:pPr lvl="3"/>
            <a:r>
              <a:rPr lang="en-US" altLang="nl-NL" dirty="0"/>
              <a:t>Special problems in federated data: time consistency.</a:t>
            </a:r>
          </a:p>
          <a:p>
            <a:pPr lvl="1"/>
            <a:r>
              <a:rPr lang="en-US" altLang="nl-NL" dirty="0"/>
              <a:t>Consistency</a:t>
            </a:r>
          </a:p>
          <a:p>
            <a:pPr lvl="2"/>
            <a:r>
              <a:rPr lang="en-US" altLang="nl-NL" dirty="0"/>
              <a:t>The data agrees with itself.</a:t>
            </a:r>
          </a:p>
        </p:txBody>
      </p:sp>
      <p:sp>
        <p:nvSpPr>
          <p:cNvPr id="4" name="Slide Number Placeholder 3">
            <a:extLst>
              <a:ext uri="{FF2B5EF4-FFF2-40B4-BE49-F238E27FC236}">
                <a16:creationId xmlns:a16="http://schemas.microsoft.com/office/drawing/2014/main" id="{5291D51C-4C6D-BD2A-1319-C16D5EAA433A}"/>
              </a:ext>
            </a:extLst>
          </p:cNvPr>
          <p:cNvSpPr>
            <a:spLocks noGrp="1"/>
          </p:cNvSpPr>
          <p:nvPr>
            <p:ph type="sldNum" sz="quarter" idx="12"/>
          </p:nvPr>
        </p:nvSpPr>
        <p:spPr/>
        <p:txBody>
          <a:bodyPr/>
          <a:lstStyle/>
          <a:p>
            <a:fld id="{F8D8F54C-053C-4394-9990-70DE256B1A6D}" type="slidenum">
              <a:rPr lang="nl-NL" smtClean="0"/>
              <a:t>12</a:t>
            </a:fld>
            <a:endParaRPr lang="nl-NL"/>
          </a:p>
        </p:txBody>
      </p:sp>
    </p:spTree>
    <p:extLst>
      <p:ext uri="{BB962C8B-B14F-4D97-AF65-F5344CB8AC3E}">
        <p14:creationId xmlns:p14="http://schemas.microsoft.com/office/powerpoint/2010/main" val="2230743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Data Quality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t>Problems in previous definition of data quality:</a:t>
            </a:r>
          </a:p>
          <a:p>
            <a:pPr lvl="1"/>
            <a:r>
              <a:rPr lang="en-US" altLang="nl-NL" dirty="0"/>
              <a:t>Unmeasurable</a:t>
            </a:r>
          </a:p>
          <a:p>
            <a:pPr lvl="2"/>
            <a:r>
              <a:rPr lang="en-US" altLang="nl-NL" dirty="0"/>
              <a:t>Accuracy and completeness are extremely difficult, perhaps impossible to measure.</a:t>
            </a:r>
          </a:p>
          <a:p>
            <a:pPr lvl="1"/>
            <a:r>
              <a:rPr lang="en-US" altLang="nl-NL" dirty="0"/>
              <a:t>Context independent</a:t>
            </a:r>
          </a:p>
          <a:p>
            <a:pPr lvl="2"/>
            <a:r>
              <a:rPr lang="en-US" altLang="nl-NL" dirty="0"/>
              <a:t>No accounting for what is important.  E.g., if you are computing aggregates, you can tolerate a lot of inaccuracies.</a:t>
            </a:r>
          </a:p>
          <a:p>
            <a:pPr lvl="1"/>
            <a:r>
              <a:rPr lang="en-US" altLang="nl-NL" dirty="0"/>
              <a:t>Incomplete</a:t>
            </a:r>
          </a:p>
          <a:p>
            <a:pPr lvl="2"/>
            <a:r>
              <a:rPr lang="en-US" altLang="nl-NL" dirty="0"/>
              <a:t>What about interpretability, accessibility, metadata, analysis, etc.</a:t>
            </a:r>
          </a:p>
          <a:p>
            <a:pPr lvl="1"/>
            <a:r>
              <a:rPr lang="en-US" altLang="nl-NL" dirty="0"/>
              <a:t>Vague</a:t>
            </a:r>
          </a:p>
          <a:p>
            <a:pPr lvl="2"/>
            <a:r>
              <a:rPr lang="en-US" altLang="nl-NL" dirty="0"/>
              <a:t>The previous definition provide no guidance towards practical improvements of the data.</a:t>
            </a:r>
          </a:p>
        </p:txBody>
      </p:sp>
      <p:sp>
        <p:nvSpPr>
          <p:cNvPr id="4" name="Slide Number Placeholder 3">
            <a:extLst>
              <a:ext uri="{FF2B5EF4-FFF2-40B4-BE49-F238E27FC236}">
                <a16:creationId xmlns:a16="http://schemas.microsoft.com/office/drawing/2014/main" id="{2F3CA0E4-CF51-F510-D761-F53B656C2625}"/>
              </a:ext>
            </a:extLst>
          </p:cNvPr>
          <p:cNvSpPr>
            <a:spLocks noGrp="1"/>
          </p:cNvSpPr>
          <p:nvPr>
            <p:ph type="sldNum" sz="quarter" idx="12"/>
          </p:nvPr>
        </p:nvSpPr>
        <p:spPr/>
        <p:txBody>
          <a:bodyPr/>
          <a:lstStyle/>
          <a:p>
            <a:fld id="{F8D8F54C-053C-4394-9990-70DE256B1A6D}" type="slidenum">
              <a:rPr lang="nl-NL" smtClean="0"/>
              <a:t>13</a:t>
            </a:fld>
            <a:endParaRPr lang="nl-NL"/>
          </a:p>
        </p:txBody>
      </p:sp>
    </p:spTree>
    <p:extLst>
      <p:ext uri="{BB962C8B-B14F-4D97-AF65-F5344CB8AC3E}">
        <p14:creationId xmlns:p14="http://schemas.microsoft.com/office/powerpoint/2010/main" val="2970839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Example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2232561"/>
            <a:ext cx="10515600" cy="4260314"/>
          </a:xfrm>
        </p:spPr>
        <p:txBody>
          <a:bodyPr>
            <a:normAutofit/>
          </a:bodyPr>
          <a:lstStyle/>
          <a:p>
            <a:r>
              <a:rPr lang="en-US" altLang="nl-NL" dirty="0"/>
              <a:t>Can we interpret the data?</a:t>
            </a:r>
          </a:p>
          <a:p>
            <a:pPr lvl="1"/>
            <a:r>
              <a:rPr lang="en-US" altLang="nl-NL" dirty="0"/>
              <a:t>What do the fields mean?</a:t>
            </a:r>
          </a:p>
          <a:p>
            <a:pPr lvl="1"/>
            <a:r>
              <a:rPr lang="en-US" altLang="nl-NL" dirty="0"/>
              <a:t>What is the key? The measures?</a:t>
            </a:r>
          </a:p>
          <a:p>
            <a:r>
              <a:rPr lang="en-US" altLang="nl-NL" dirty="0"/>
              <a:t>Data glitches</a:t>
            </a:r>
          </a:p>
          <a:p>
            <a:pPr lvl="1"/>
            <a:r>
              <a:rPr lang="en-US" altLang="nl-NL" dirty="0"/>
              <a:t>Typos, multiple formats, missing / default values</a:t>
            </a:r>
          </a:p>
          <a:p>
            <a:r>
              <a:rPr lang="en-US" altLang="nl-NL" dirty="0"/>
              <a:t>Metadata and domain expertise</a:t>
            </a:r>
          </a:p>
          <a:p>
            <a:pPr lvl="1"/>
            <a:r>
              <a:rPr lang="en-US" altLang="nl-NL" dirty="0"/>
              <a:t>Field three is Revenue. In dollars or cents?</a:t>
            </a:r>
          </a:p>
        </p:txBody>
      </p:sp>
      <p:sp>
        <p:nvSpPr>
          <p:cNvPr id="4" name="Text Box 4">
            <a:extLst>
              <a:ext uri="{FF2B5EF4-FFF2-40B4-BE49-F238E27FC236}">
                <a16:creationId xmlns:a16="http://schemas.microsoft.com/office/drawing/2014/main" id="{9AFC3EAF-68C0-4778-AE09-3123E36F3364}"/>
              </a:ext>
            </a:extLst>
          </p:cNvPr>
          <p:cNvSpPr txBox="1">
            <a:spLocks noChangeArrowheads="1"/>
          </p:cNvSpPr>
          <p:nvPr/>
        </p:nvSpPr>
        <p:spPr bwMode="auto">
          <a:xfrm>
            <a:off x="3138937" y="1059536"/>
            <a:ext cx="55102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nl-NL" sz="2400" dirty="0"/>
              <a:t>T. Das|97336o8237|24.95|Y|-|0.0|1000</a:t>
            </a:r>
          </a:p>
          <a:p>
            <a:r>
              <a:rPr lang="en-US" altLang="nl-NL" sz="2400" dirty="0"/>
              <a:t>Ted J.|973-360-8997|2000|N|M|NY|1000</a:t>
            </a:r>
          </a:p>
        </p:txBody>
      </p:sp>
      <p:sp>
        <p:nvSpPr>
          <p:cNvPr id="5" name="Slide Number Placeholder 4">
            <a:extLst>
              <a:ext uri="{FF2B5EF4-FFF2-40B4-BE49-F238E27FC236}">
                <a16:creationId xmlns:a16="http://schemas.microsoft.com/office/drawing/2014/main" id="{E422B362-E2DA-17E8-AE31-686AFD909191}"/>
              </a:ext>
            </a:extLst>
          </p:cNvPr>
          <p:cNvSpPr>
            <a:spLocks noGrp="1"/>
          </p:cNvSpPr>
          <p:nvPr>
            <p:ph type="sldNum" sz="quarter" idx="12"/>
          </p:nvPr>
        </p:nvSpPr>
        <p:spPr/>
        <p:txBody>
          <a:bodyPr/>
          <a:lstStyle/>
          <a:p>
            <a:fld id="{F8D8F54C-053C-4394-9990-70DE256B1A6D}" type="slidenum">
              <a:rPr lang="nl-NL" smtClean="0"/>
              <a:t>14</a:t>
            </a:fld>
            <a:endParaRPr lang="nl-NL"/>
          </a:p>
        </p:txBody>
      </p:sp>
    </p:spTree>
    <p:extLst>
      <p:ext uri="{BB962C8B-B14F-4D97-AF65-F5344CB8AC3E}">
        <p14:creationId xmlns:p14="http://schemas.microsoft.com/office/powerpoint/2010/main" val="572099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Data Quality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cs typeface="Times New Roman" panose="02020603050405020304" pitchFamily="18" charset="0"/>
              </a:rPr>
              <a:t>Sources of problems: </a:t>
            </a:r>
          </a:p>
          <a:p>
            <a:pPr lvl="1"/>
            <a:r>
              <a:rPr lang="en-US" altLang="nl-NL" dirty="0">
                <a:cs typeface="Times New Roman" panose="02020603050405020304" pitchFamily="18" charset="0"/>
              </a:rPr>
              <a:t>Manual entry</a:t>
            </a:r>
          </a:p>
          <a:p>
            <a:pPr lvl="1"/>
            <a:r>
              <a:rPr lang="en-US" altLang="nl-NL" dirty="0">
                <a:cs typeface="Times New Roman" panose="02020603050405020304" pitchFamily="18" charset="0"/>
              </a:rPr>
              <a:t>No uniform standards for content and formats </a:t>
            </a:r>
          </a:p>
          <a:p>
            <a:pPr lvl="1"/>
            <a:r>
              <a:rPr lang="en-US" altLang="nl-NL" dirty="0">
                <a:cs typeface="Times New Roman" panose="02020603050405020304" pitchFamily="18" charset="0"/>
              </a:rPr>
              <a:t>Parallel data entry (duplicates)</a:t>
            </a:r>
          </a:p>
          <a:p>
            <a:pPr lvl="1"/>
            <a:r>
              <a:rPr lang="en-US" altLang="nl-NL" dirty="0">
                <a:cs typeface="Times New Roman" panose="02020603050405020304" pitchFamily="18" charset="0"/>
              </a:rPr>
              <a:t>Approximations, surrogates – SW/HW constraints</a:t>
            </a:r>
          </a:p>
          <a:p>
            <a:pPr lvl="1"/>
            <a:r>
              <a:rPr lang="en-US" altLang="nl-NL" dirty="0">
                <a:cs typeface="Times New Roman" panose="02020603050405020304" pitchFamily="18" charset="0"/>
              </a:rPr>
              <a:t>Measurement errors.</a:t>
            </a:r>
          </a:p>
          <a:p>
            <a:r>
              <a:rPr lang="en-US" altLang="nl-NL" dirty="0">
                <a:cs typeface="Times New Roman" panose="02020603050405020304" pitchFamily="18" charset="0"/>
              </a:rPr>
              <a:t>We need a definition of data quality which</a:t>
            </a:r>
          </a:p>
          <a:p>
            <a:pPr lvl="1"/>
            <a:r>
              <a:rPr lang="en-US" altLang="nl-NL" dirty="0">
                <a:cs typeface="Times New Roman" panose="02020603050405020304" pitchFamily="18" charset="0"/>
              </a:rPr>
              <a:t>Reflects the use of the data</a:t>
            </a:r>
          </a:p>
          <a:p>
            <a:pPr lvl="1"/>
            <a:r>
              <a:rPr lang="en-US" altLang="nl-NL" dirty="0">
                <a:cs typeface="Times New Roman" panose="02020603050405020304" pitchFamily="18" charset="0"/>
              </a:rPr>
              <a:t>Leads to improvements in processes</a:t>
            </a:r>
          </a:p>
          <a:p>
            <a:pPr lvl="1"/>
            <a:r>
              <a:rPr lang="en-US" altLang="nl-NL" dirty="0">
                <a:cs typeface="Times New Roman" panose="02020603050405020304" pitchFamily="18" charset="0"/>
              </a:rPr>
              <a:t>Measurable (we can define metrics)</a:t>
            </a:r>
          </a:p>
        </p:txBody>
      </p:sp>
      <p:sp>
        <p:nvSpPr>
          <p:cNvPr id="4" name="Slide Number Placeholder 3">
            <a:extLst>
              <a:ext uri="{FF2B5EF4-FFF2-40B4-BE49-F238E27FC236}">
                <a16:creationId xmlns:a16="http://schemas.microsoft.com/office/drawing/2014/main" id="{3B5151C2-2620-53C8-4A2E-22E3BAEA5690}"/>
              </a:ext>
            </a:extLst>
          </p:cNvPr>
          <p:cNvSpPr>
            <a:spLocks noGrp="1"/>
          </p:cNvSpPr>
          <p:nvPr>
            <p:ph type="sldNum" sz="quarter" idx="12"/>
          </p:nvPr>
        </p:nvSpPr>
        <p:spPr/>
        <p:txBody>
          <a:bodyPr/>
          <a:lstStyle/>
          <a:p>
            <a:fld id="{F8D8F54C-053C-4394-9990-70DE256B1A6D}" type="slidenum">
              <a:rPr lang="nl-NL" smtClean="0"/>
              <a:t>15</a:t>
            </a:fld>
            <a:endParaRPr lang="nl-NL"/>
          </a:p>
        </p:txBody>
      </p:sp>
    </p:spTree>
    <p:extLst>
      <p:ext uri="{BB962C8B-B14F-4D97-AF65-F5344CB8AC3E}">
        <p14:creationId xmlns:p14="http://schemas.microsoft.com/office/powerpoint/2010/main" val="4075914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Examples of Data Quality metrics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cs typeface="Times New Roman" panose="02020603050405020304" pitchFamily="18" charset="0"/>
              </a:rPr>
              <a:t>Conformance to schema</a:t>
            </a:r>
          </a:p>
          <a:p>
            <a:pPr lvl="1"/>
            <a:r>
              <a:rPr lang="en-US" altLang="nl-NL" dirty="0">
                <a:cs typeface="Times New Roman" panose="02020603050405020304" pitchFamily="18" charset="0"/>
              </a:rPr>
              <a:t>Evaluate constraints on a snapshot.</a:t>
            </a:r>
          </a:p>
          <a:p>
            <a:r>
              <a:rPr lang="en-US" altLang="nl-NL" dirty="0">
                <a:cs typeface="Times New Roman" panose="02020603050405020304" pitchFamily="18" charset="0"/>
              </a:rPr>
              <a:t>Conformance to business rules</a:t>
            </a:r>
          </a:p>
          <a:p>
            <a:pPr lvl="1"/>
            <a:r>
              <a:rPr lang="en-US" altLang="nl-NL" dirty="0">
                <a:cs typeface="Times New Roman" panose="02020603050405020304" pitchFamily="18" charset="0"/>
              </a:rPr>
              <a:t>Evaluate constraints on changes in the database.</a:t>
            </a:r>
          </a:p>
          <a:p>
            <a:r>
              <a:rPr lang="en-US" altLang="nl-NL" dirty="0">
                <a:cs typeface="Times New Roman" panose="02020603050405020304" pitchFamily="18" charset="0"/>
              </a:rPr>
              <a:t>Accuracy</a:t>
            </a:r>
          </a:p>
          <a:p>
            <a:pPr lvl="1"/>
            <a:r>
              <a:rPr lang="en-US" altLang="nl-NL" dirty="0">
                <a:cs typeface="Times New Roman" panose="02020603050405020304" pitchFamily="18" charset="0"/>
              </a:rPr>
              <a:t>Perform inventory (expensive), or use proxy (track complaints).  Audit samples?</a:t>
            </a:r>
            <a:endParaRPr lang="en-US" altLang="nl-NL" sz="2800" dirty="0">
              <a:cs typeface="Times New Roman" panose="02020603050405020304" pitchFamily="18" charset="0"/>
            </a:endParaRPr>
          </a:p>
          <a:p>
            <a:r>
              <a:rPr lang="en-US" altLang="nl-NL" dirty="0">
                <a:cs typeface="Times New Roman" panose="02020603050405020304" pitchFamily="18" charset="0"/>
              </a:rPr>
              <a:t>Glitches in analysis</a:t>
            </a:r>
          </a:p>
          <a:p>
            <a:r>
              <a:rPr lang="en-US" altLang="nl-NL" dirty="0">
                <a:cs typeface="Times New Roman" panose="02020603050405020304" pitchFamily="18" charset="0"/>
              </a:rPr>
              <a:t>Successful completion of end-to-end process</a:t>
            </a:r>
          </a:p>
        </p:txBody>
      </p:sp>
      <p:sp>
        <p:nvSpPr>
          <p:cNvPr id="4" name="Slide Number Placeholder 3">
            <a:extLst>
              <a:ext uri="{FF2B5EF4-FFF2-40B4-BE49-F238E27FC236}">
                <a16:creationId xmlns:a16="http://schemas.microsoft.com/office/drawing/2014/main" id="{50E6D4C0-309D-1D39-95BB-9D49AD27E612}"/>
              </a:ext>
            </a:extLst>
          </p:cNvPr>
          <p:cNvSpPr>
            <a:spLocks noGrp="1"/>
          </p:cNvSpPr>
          <p:nvPr>
            <p:ph type="sldNum" sz="quarter" idx="12"/>
          </p:nvPr>
        </p:nvSpPr>
        <p:spPr/>
        <p:txBody>
          <a:bodyPr/>
          <a:lstStyle/>
          <a:p>
            <a:fld id="{F8D8F54C-053C-4394-9990-70DE256B1A6D}" type="slidenum">
              <a:rPr lang="nl-NL" smtClean="0"/>
              <a:t>16</a:t>
            </a:fld>
            <a:endParaRPr lang="nl-NL"/>
          </a:p>
        </p:txBody>
      </p:sp>
    </p:spTree>
    <p:extLst>
      <p:ext uri="{BB962C8B-B14F-4D97-AF65-F5344CB8AC3E}">
        <p14:creationId xmlns:p14="http://schemas.microsoft.com/office/powerpoint/2010/main" val="3365725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02028" y="2620260"/>
            <a:ext cx="8277726" cy="609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Data Cleaning</a:t>
            </a:r>
            <a:endParaRPr lang="nl-NL"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Slide Number Placeholder 3">
            <a:extLst>
              <a:ext uri="{FF2B5EF4-FFF2-40B4-BE49-F238E27FC236}">
                <a16:creationId xmlns:a16="http://schemas.microsoft.com/office/drawing/2014/main" id="{3CF4EA79-6C58-D0EB-824D-63A1A8EAB2CF}"/>
              </a:ext>
            </a:extLst>
          </p:cNvPr>
          <p:cNvSpPr>
            <a:spLocks noGrp="1"/>
          </p:cNvSpPr>
          <p:nvPr>
            <p:ph type="sldNum" sz="quarter" idx="12"/>
          </p:nvPr>
        </p:nvSpPr>
        <p:spPr/>
        <p:txBody>
          <a:bodyPr/>
          <a:lstStyle/>
          <a:p>
            <a:fld id="{F8D8F54C-053C-4394-9990-70DE256B1A6D}" type="slidenum">
              <a:rPr lang="nl-NL" smtClean="0"/>
              <a:t>17</a:t>
            </a:fld>
            <a:endParaRPr lang="nl-NL"/>
          </a:p>
        </p:txBody>
      </p:sp>
    </p:spTree>
    <p:extLst>
      <p:ext uri="{BB962C8B-B14F-4D97-AF65-F5344CB8AC3E}">
        <p14:creationId xmlns:p14="http://schemas.microsoft.com/office/powerpoint/2010/main" val="2009740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Data Cleaning</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Data in the Real World is Dirty: lots of potentially incorrect data, e.g., instrument faulty, human or computer error, transmission error</a:t>
            </a:r>
          </a:p>
          <a:p>
            <a:pPr lvl="1">
              <a:lnSpc>
                <a:spcPct val="120000"/>
              </a:lnSpc>
            </a:pPr>
            <a:r>
              <a:rPr lang="en-US" altLang="nl-NL" u="sng" dirty="0">
                <a:cs typeface="Times New Roman" panose="02020603050405020304" pitchFamily="18" charset="0"/>
              </a:rPr>
              <a:t>Incomplete</a:t>
            </a:r>
            <a:r>
              <a:rPr lang="en-US" altLang="nl-NL" dirty="0">
                <a:cs typeface="Times New Roman" panose="02020603050405020304" pitchFamily="18" charset="0"/>
              </a:rPr>
              <a:t>: lacking attribute values, lacking certain attributes of interest, or containing only aggregate data</a:t>
            </a:r>
          </a:p>
          <a:p>
            <a:pPr lvl="2">
              <a:lnSpc>
                <a:spcPct val="110000"/>
              </a:lnSpc>
            </a:pPr>
            <a:r>
              <a:rPr lang="en-US" altLang="nl-NL" sz="2400" dirty="0">
                <a:cs typeface="Times New Roman" panose="02020603050405020304" pitchFamily="18" charset="0"/>
              </a:rPr>
              <a:t>e.g., </a:t>
            </a:r>
            <a:r>
              <a:rPr lang="en-US" altLang="nl-NL" sz="2400" i="1" dirty="0">
                <a:cs typeface="Times New Roman" panose="02020603050405020304" pitchFamily="18" charset="0"/>
              </a:rPr>
              <a:t>Occupation</a:t>
            </a:r>
            <a:r>
              <a:rPr lang="en-US" altLang="nl-NL" sz="2400" dirty="0">
                <a:cs typeface="Times New Roman" panose="02020603050405020304" pitchFamily="18" charset="0"/>
              </a:rPr>
              <a:t>=“ ” (missing data)</a:t>
            </a:r>
          </a:p>
          <a:p>
            <a:pPr lvl="1">
              <a:lnSpc>
                <a:spcPct val="110000"/>
              </a:lnSpc>
            </a:pPr>
            <a:r>
              <a:rPr lang="en-US" altLang="nl-NL" u="sng" dirty="0">
                <a:cs typeface="Times New Roman" panose="02020603050405020304" pitchFamily="18" charset="0"/>
              </a:rPr>
              <a:t>Noisy</a:t>
            </a:r>
            <a:r>
              <a:rPr lang="en-US" altLang="nl-NL" dirty="0">
                <a:cs typeface="Times New Roman" panose="02020603050405020304" pitchFamily="18" charset="0"/>
              </a:rPr>
              <a:t>: containing noise, errors, or outliers</a:t>
            </a:r>
          </a:p>
          <a:p>
            <a:pPr lvl="2">
              <a:lnSpc>
                <a:spcPct val="110000"/>
              </a:lnSpc>
            </a:pPr>
            <a:r>
              <a:rPr lang="en-US" altLang="nl-NL" sz="2400" dirty="0">
                <a:cs typeface="Times New Roman" panose="02020603050405020304" pitchFamily="18" charset="0"/>
              </a:rPr>
              <a:t>e.g., </a:t>
            </a:r>
            <a:r>
              <a:rPr lang="en-US" altLang="nl-NL" sz="2400" i="1" dirty="0">
                <a:cs typeface="Times New Roman" panose="02020603050405020304" pitchFamily="18" charset="0"/>
              </a:rPr>
              <a:t>Salary</a:t>
            </a:r>
            <a:r>
              <a:rPr lang="en-US" altLang="nl-NL" sz="2400" dirty="0">
                <a:cs typeface="Times New Roman" panose="02020603050405020304" pitchFamily="18" charset="0"/>
              </a:rPr>
              <a:t>=“−10” (an error)</a:t>
            </a:r>
          </a:p>
        </p:txBody>
      </p:sp>
      <p:sp>
        <p:nvSpPr>
          <p:cNvPr id="4" name="Slide Number Placeholder 3">
            <a:extLst>
              <a:ext uri="{FF2B5EF4-FFF2-40B4-BE49-F238E27FC236}">
                <a16:creationId xmlns:a16="http://schemas.microsoft.com/office/drawing/2014/main" id="{BD282982-50EC-0689-C324-81F0E412BF7D}"/>
              </a:ext>
            </a:extLst>
          </p:cNvPr>
          <p:cNvSpPr>
            <a:spLocks noGrp="1"/>
          </p:cNvSpPr>
          <p:nvPr>
            <p:ph type="sldNum" sz="quarter" idx="12"/>
          </p:nvPr>
        </p:nvSpPr>
        <p:spPr/>
        <p:txBody>
          <a:bodyPr/>
          <a:lstStyle/>
          <a:p>
            <a:fld id="{F8D8F54C-053C-4394-9990-70DE256B1A6D}" type="slidenum">
              <a:rPr lang="nl-NL" smtClean="0"/>
              <a:t>18</a:t>
            </a:fld>
            <a:endParaRPr lang="nl-NL"/>
          </a:p>
        </p:txBody>
      </p:sp>
    </p:spTree>
    <p:extLst>
      <p:ext uri="{BB962C8B-B14F-4D97-AF65-F5344CB8AC3E}">
        <p14:creationId xmlns:p14="http://schemas.microsoft.com/office/powerpoint/2010/main" val="507035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Data Cleaning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Data in the real world is dirty</a:t>
            </a:r>
          </a:p>
          <a:p>
            <a:pPr lvl="1">
              <a:lnSpc>
                <a:spcPct val="110000"/>
              </a:lnSpc>
            </a:pPr>
            <a:r>
              <a:rPr lang="en-US" altLang="nl-NL" u="sng" dirty="0">
                <a:cs typeface="Times New Roman" panose="02020603050405020304" pitchFamily="18" charset="0"/>
              </a:rPr>
              <a:t>Inconsistent</a:t>
            </a:r>
            <a:r>
              <a:rPr lang="en-US" altLang="nl-NL" dirty="0">
                <a:cs typeface="Times New Roman" panose="02020603050405020304" pitchFamily="18" charset="0"/>
              </a:rPr>
              <a:t>: containing discrepancies in codes or names, e.g.,</a:t>
            </a:r>
          </a:p>
          <a:p>
            <a:pPr lvl="2">
              <a:lnSpc>
                <a:spcPct val="110000"/>
              </a:lnSpc>
            </a:pPr>
            <a:r>
              <a:rPr lang="en-US" altLang="nl-NL" sz="2400" i="1" dirty="0">
                <a:cs typeface="Times New Roman" panose="02020603050405020304" pitchFamily="18" charset="0"/>
              </a:rPr>
              <a:t>Age</a:t>
            </a:r>
            <a:r>
              <a:rPr lang="en-US" altLang="nl-NL" sz="2400" dirty="0">
                <a:cs typeface="Times New Roman" panose="02020603050405020304" pitchFamily="18" charset="0"/>
              </a:rPr>
              <a:t>=“42”, </a:t>
            </a:r>
            <a:r>
              <a:rPr lang="en-US" altLang="nl-NL" sz="2400" i="1" dirty="0">
                <a:cs typeface="Times New Roman" panose="02020603050405020304" pitchFamily="18" charset="0"/>
              </a:rPr>
              <a:t>Birthday</a:t>
            </a:r>
            <a:r>
              <a:rPr lang="en-US" altLang="nl-NL" sz="2400" dirty="0">
                <a:cs typeface="Times New Roman" panose="02020603050405020304" pitchFamily="18" charset="0"/>
              </a:rPr>
              <a:t>=“03/07/2010”</a:t>
            </a:r>
          </a:p>
          <a:p>
            <a:pPr lvl="2">
              <a:lnSpc>
                <a:spcPct val="110000"/>
              </a:lnSpc>
            </a:pPr>
            <a:r>
              <a:rPr lang="en-US" altLang="nl-NL" sz="2400" dirty="0">
                <a:cs typeface="Times New Roman" panose="02020603050405020304" pitchFamily="18" charset="0"/>
              </a:rPr>
              <a:t>Was rating “1, 2, 3”, now rating “A, B, C”</a:t>
            </a:r>
          </a:p>
          <a:p>
            <a:pPr lvl="2">
              <a:lnSpc>
                <a:spcPct val="110000"/>
              </a:lnSpc>
            </a:pPr>
            <a:r>
              <a:rPr lang="en-US" altLang="nl-NL" sz="2400" dirty="0">
                <a:cs typeface="Times New Roman" panose="02020603050405020304" pitchFamily="18" charset="0"/>
              </a:rPr>
              <a:t>Discrepancy between duplicate records</a:t>
            </a:r>
          </a:p>
          <a:p>
            <a:pPr lvl="1">
              <a:lnSpc>
                <a:spcPct val="120000"/>
              </a:lnSpc>
            </a:pPr>
            <a:r>
              <a:rPr lang="en-US" altLang="nl-NL" u="sng" dirty="0">
                <a:cs typeface="Times New Roman" panose="02020603050405020304" pitchFamily="18" charset="0"/>
              </a:rPr>
              <a:t>Intentional</a:t>
            </a:r>
            <a:r>
              <a:rPr lang="en-US" altLang="nl-NL" b="1" u="sng" dirty="0">
                <a:cs typeface="Times New Roman" panose="02020603050405020304" pitchFamily="18" charset="0"/>
              </a:rPr>
              <a:t> </a:t>
            </a:r>
            <a:r>
              <a:rPr lang="en-US" altLang="nl-NL" dirty="0">
                <a:cs typeface="Times New Roman" panose="02020603050405020304" pitchFamily="18" charset="0"/>
              </a:rPr>
              <a:t>(e.g., </a:t>
            </a:r>
            <a:r>
              <a:rPr lang="en-US" altLang="nl-NL" i="1" dirty="0">
                <a:cs typeface="Times New Roman" panose="02020603050405020304" pitchFamily="18" charset="0"/>
              </a:rPr>
              <a:t>disguised missing</a:t>
            </a:r>
            <a:r>
              <a:rPr lang="en-US" altLang="nl-NL" dirty="0">
                <a:cs typeface="Times New Roman" panose="02020603050405020304" pitchFamily="18" charset="0"/>
              </a:rPr>
              <a:t> data)</a:t>
            </a:r>
          </a:p>
          <a:p>
            <a:pPr lvl="2">
              <a:lnSpc>
                <a:spcPct val="120000"/>
              </a:lnSpc>
            </a:pPr>
            <a:r>
              <a:rPr lang="en-US" altLang="nl-NL" sz="2400" dirty="0">
                <a:cs typeface="Times New Roman" panose="02020603050405020304" pitchFamily="18" charset="0"/>
              </a:rPr>
              <a:t>Jan. 1 as everyone’s birthday?</a:t>
            </a:r>
          </a:p>
        </p:txBody>
      </p:sp>
      <p:sp>
        <p:nvSpPr>
          <p:cNvPr id="4" name="Slide Number Placeholder 3">
            <a:extLst>
              <a:ext uri="{FF2B5EF4-FFF2-40B4-BE49-F238E27FC236}">
                <a16:creationId xmlns:a16="http://schemas.microsoft.com/office/drawing/2014/main" id="{D7ADCA55-3724-87DF-C6C1-3D278F8A1846}"/>
              </a:ext>
            </a:extLst>
          </p:cNvPr>
          <p:cNvSpPr>
            <a:spLocks noGrp="1"/>
          </p:cNvSpPr>
          <p:nvPr>
            <p:ph type="sldNum" sz="quarter" idx="12"/>
          </p:nvPr>
        </p:nvSpPr>
        <p:spPr/>
        <p:txBody>
          <a:bodyPr/>
          <a:lstStyle/>
          <a:p>
            <a:fld id="{F8D8F54C-053C-4394-9990-70DE256B1A6D}" type="slidenum">
              <a:rPr lang="nl-NL" smtClean="0"/>
              <a:t>19</a:t>
            </a:fld>
            <a:endParaRPr lang="nl-NL"/>
          </a:p>
        </p:txBody>
      </p:sp>
    </p:spTree>
    <p:extLst>
      <p:ext uri="{BB962C8B-B14F-4D97-AF65-F5344CB8AC3E}">
        <p14:creationId xmlns:p14="http://schemas.microsoft.com/office/powerpoint/2010/main" val="3579968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48">
            <a:extLst>
              <a:ext uri="{FF2B5EF4-FFF2-40B4-BE49-F238E27FC236}">
                <a16:creationId xmlns:a16="http://schemas.microsoft.com/office/drawing/2014/main" id="{B8D2AEEA-101D-B543-A032-898F2E2551D6}"/>
              </a:ext>
            </a:extLst>
          </p:cNvPr>
          <p:cNvSpPr txBox="1">
            <a:spLocks noChangeArrowheads="1"/>
          </p:cNvSpPr>
          <p:nvPr/>
        </p:nvSpPr>
        <p:spPr bwMode="auto">
          <a:xfrm>
            <a:off x="2326944" y="5030610"/>
            <a:ext cx="82296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342900" indent="-342900">
              <a:defRPr sz="1400">
                <a:solidFill>
                  <a:srgbClr val="000000"/>
                </a:solidFill>
                <a:latin typeface="Arial" charset="0"/>
                <a:ea typeface="Arial" charset="0"/>
                <a:cs typeface="Arial" charset="0"/>
                <a:sym typeface="Arial" charset="0"/>
              </a:defRPr>
            </a:lvl1pPr>
            <a:lvl2pPr>
              <a:defRPr sz="1400">
                <a:solidFill>
                  <a:srgbClr val="000000"/>
                </a:solidFill>
                <a:latin typeface="Arial" charset="0"/>
                <a:ea typeface="Arial" charset="0"/>
                <a:cs typeface="Arial" charset="0"/>
                <a:sym typeface="Arial" charset="0"/>
              </a:defRPr>
            </a:lvl2pPr>
            <a:lvl3pPr marL="1143000" indent="-228600">
              <a:defRPr sz="1400">
                <a:solidFill>
                  <a:srgbClr val="000000"/>
                </a:solidFill>
                <a:latin typeface="Arial" charset="0"/>
                <a:ea typeface="Arial" charset="0"/>
                <a:cs typeface="Arial" charset="0"/>
                <a:sym typeface="Arial" charset="0"/>
              </a:defRPr>
            </a:lvl3pPr>
            <a:lvl4pPr marL="1600200" indent="-228600">
              <a:defRPr sz="1400">
                <a:solidFill>
                  <a:srgbClr val="000000"/>
                </a:solidFill>
                <a:latin typeface="Arial" charset="0"/>
                <a:ea typeface="Arial" charset="0"/>
                <a:cs typeface="Arial" charset="0"/>
                <a:sym typeface="Arial" charset="0"/>
              </a:defRPr>
            </a:lvl4pPr>
            <a:lvl5pPr marL="2057400" indent="-228600">
              <a:defRPr sz="1400">
                <a:solidFill>
                  <a:srgbClr val="000000"/>
                </a:solidFill>
                <a:latin typeface="Arial" charset="0"/>
                <a:ea typeface="Arial" charset="0"/>
                <a:cs typeface="Arial" charset="0"/>
                <a:sym typeface="Arial" charset="0"/>
              </a:defRPr>
            </a:lvl5pPr>
            <a:lvl6pPr marL="25146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6pPr>
            <a:lvl7pPr marL="29718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7pPr>
            <a:lvl8pPr marL="34290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8pPr>
            <a:lvl9pPr marL="38862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9pPr>
          </a:lstStyle>
          <a:p>
            <a:pPr lvl="1"/>
            <a:r>
              <a:rPr lang="en-US" altLang="en-US" sz="1800" b="1" i="1" dirty="0"/>
              <a:t>Real data is full of N/A or nulls, special values (99999) etc.</a:t>
            </a:r>
          </a:p>
        </p:txBody>
      </p:sp>
      <p:pic>
        <p:nvPicPr>
          <p:cNvPr id="6" name="Picture 3">
            <a:extLst>
              <a:ext uri="{FF2B5EF4-FFF2-40B4-BE49-F238E27FC236}">
                <a16:creationId xmlns:a16="http://schemas.microsoft.com/office/drawing/2014/main" id="{7F99F794-9BEC-3B46-8499-4500BA87F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770" y="1702618"/>
            <a:ext cx="4041775" cy="2811463"/>
          </a:xfrm>
          <a:prstGeom prst="rect">
            <a:avLst/>
          </a:prstGeom>
          <a:noFill/>
          <a:ln w="38100">
            <a:solidFill>
              <a:schemeClr val="tx1"/>
            </a:solidFill>
            <a:miter lim="800000"/>
            <a:headEnd/>
            <a:tailEnd/>
          </a:ln>
          <a:effectLst>
            <a:outerShdw blurRad="63500" dist="38099" dir="2700000" algn="ctr" rotWithShape="0">
              <a:srgbClr val="000000">
                <a:alpha val="74997"/>
              </a:srgbClr>
            </a:outerShdw>
          </a:effectLst>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598E6C66-FA4B-764E-9A5C-3ED20D9CB9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6944" y="2276519"/>
            <a:ext cx="4857750" cy="2598737"/>
          </a:xfrm>
          <a:prstGeom prst="rect">
            <a:avLst/>
          </a:prstGeom>
          <a:noFill/>
          <a:ln w="38100">
            <a:solidFill>
              <a:schemeClr val="tx1"/>
            </a:solidFill>
            <a:miter lim="800000"/>
            <a:headEnd/>
            <a:tailEnd/>
          </a:ln>
          <a:effectLst>
            <a:outerShdw blurRad="63500" dist="38099" dir="2700000" algn="ctr" rotWithShape="0">
              <a:srgbClr val="000000">
                <a:alpha val="74997"/>
              </a:srgbClr>
            </a:outerShdw>
          </a:effectLst>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A0040CE6-C8ED-2D46-A01F-3469EBA10E84}"/>
              </a:ext>
            </a:extLst>
          </p:cNvPr>
          <p:cNvSpPr/>
          <p:nvPr/>
        </p:nvSpPr>
        <p:spPr>
          <a:xfrm>
            <a:off x="3752850" y="4607960"/>
            <a:ext cx="587376" cy="157715"/>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0ABC054-4CC9-654B-8705-1CEF9466BF82}"/>
              </a:ext>
            </a:extLst>
          </p:cNvPr>
          <p:cNvSpPr/>
          <p:nvPr/>
        </p:nvSpPr>
        <p:spPr>
          <a:xfrm>
            <a:off x="3717925" y="3471310"/>
            <a:ext cx="587376" cy="157715"/>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21AE8B1-2196-8C4F-9E9B-6553D237DD60}"/>
              </a:ext>
            </a:extLst>
          </p:cNvPr>
          <p:cNvSpPr/>
          <p:nvPr/>
        </p:nvSpPr>
        <p:spPr>
          <a:xfrm>
            <a:off x="3676650" y="3429000"/>
            <a:ext cx="663576" cy="69850"/>
          </a:xfrm>
          <a:prstGeom prst="rect">
            <a:avLst/>
          </a:prstGeom>
          <a:solidFill>
            <a:srgbClr val="E5E5E5"/>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F2F80F6-6888-6249-BFA5-2F4426F3FB23}"/>
              </a:ext>
            </a:extLst>
          </p:cNvPr>
          <p:cNvSpPr/>
          <p:nvPr/>
        </p:nvSpPr>
        <p:spPr>
          <a:xfrm>
            <a:off x="5613399" y="4116182"/>
            <a:ext cx="336550" cy="15567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9210F53-7A66-6542-8296-B8B80BCCB632}"/>
              </a:ext>
            </a:extLst>
          </p:cNvPr>
          <p:cNvSpPr/>
          <p:nvPr/>
        </p:nvSpPr>
        <p:spPr>
          <a:xfrm>
            <a:off x="5635624" y="4461463"/>
            <a:ext cx="336550" cy="15567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2544F99-6B39-F843-804C-04DC3F84E6A0}"/>
              </a:ext>
            </a:extLst>
          </p:cNvPr>
          <p:cNvSpPr/>
          <p:nvPr/>
        </p:nvSpPr>
        <p:spPr>
          <a:xfrm>
            <a:off x="5635624" y="4607960"/>
            <a:ext cx="336550" cy="15567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220CC7A-EF5C-AFC5-69A6-A66C5632C040}"/>
              </a:ext>
            </a:extLst>
          </p:cNvPr>
          <p:cNvSpPr>
            <a:spLocks noGrp="1"/>
          </p:cNvSpPr>
          <p:nvPr>
            <p:ph type="sldNum" sz="quarter" idx="12"/>
          </p:nvPr>
        </p:nvSpPr>
        <p:spPr/>
        <p:txBody>
          <a:bodyPr/>
          <a:lstStyle/>
          <a:p>
            <a:fld id="{F8D8F54C-053C-4394-9990-70DE256B1A6D}" type="slidenum">
              <a:rPr lang="nl-NL" smtClean="0"/>
              <a:t>20</a:t>
            </a:fld>
            <a:endParaRPr lang="nl-NL"/>
          </a:p>
        </p:txBody>
      </p:sp>
    </p:spTree>
    <p:extLst>
      <p:ext uri="{BB962C8B-B14F-4D97-AF65-F5344CB8AC3E}">
        <p14:creationId xmlns:p14="http://schemas.microsoft.com/office/powerpoint/2010/main" val="2563203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02028" y="2650844"/>
            <a:ext cx="8277726" cy="5790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Data Cleaning</a:t>
            </a:r>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6" name="Text Placeholder 1">
            <a:extLst>
              <a:ext uri="{FF2B5EF4-FFF2-40B4-BE49-F238E27FC236}">
                <a16:creationId xmlns:a16="http://schemas.microsoft.com/office/drawing/2014/main" id="{75428FF6-6D23-DD42-88C6-660EDA71208A}"/>
              </a:ext>
            </a:extLst>
          </p:cNvPr>
          <p:cNvSpPr txBox="1">
            <a:spLocks/>
          </p:cNvSpPr>
          <p:nvPr/>
        </p:nvSpPr>
        <p:spPr>
          <a:xfrm>
            <a:off x="1202028" y="3617535"/>
            <a:ext cx="8277726" cy="5790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1- Incomplete Data</a:t>
            </a:r>
          </a:p>
        </p:txBody>
      </p:sp>
      <p:sp>
        <p:nvSpPr>
          <p:cNvPr id="4" name="Slide Number Placeholder 3">
            <a:extLst>
              <a:ext uri="{FF2B5EF4-FFF2-40B4-BE49-F238E27FC236}">
                <a16:creationId xmlns:a16="http://schemas.microsoft.com/office/drawing/2014/main" id="{AD5E3235-5343-ED93-5105-5136DC5F2547}"/>
              </a:ext>
            </a:extLst>
          </p:cNvPr>
          <p:cNvSpPr>
            <a:spLocks noGrp="1"/>
          </p:cNvSpPr>
          <p:nvPr>
            <p:ph type="sldNum" sz="quarter" idx="12"/>
          </p:nvPr>
        </p:nvSpPr>
        <p:spPr/>
        <p:txBody>
          <a:bodyPr/>
          <a:lstStyle/>
          <a:p>
            <a:fld id="{F8D8F54C-053C-4394-9990-70DE256B1A6D}" type="slidenum">
              <a:rPr lang="nl-NL" smtClean="0"/>
              <a:t>21</a:t>
            </a:fld>
            <a:endParaRPr lang="nl-NL"/>
          </a:p>
        </p:txBody>
      </p:sp>
    </p:spTree>
    <p:extLst>
      <p:ext uri="{BB962C8B-B14F-4D97-AF65-F5344CB8AC3E}">
        <p14:creationId xmlns:p14="http://schemas.microsoft.com/office/powerpoint/2010/main" val="3795030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Incomplete (Missing) Data</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10000"/>
              </a:lnSpc>
            </a:pPr>
            <a:r>
              <a:rPr lang="en-US" altLang="nl-NL" dirty="0">
                <a:cs typeface="Times New Roman" panose="02020603050405020304" pitchFamily="18" charset="0"/>
              </a:rPr>
              <a:t>Data is not always available</a:t>
            </a:r>
          </a:p>
          <a:p>
            <a:pPr lvl="1">
              <a:lnSpc>
                <a:spcPct val="110000"/>
              </a:lnSpc>
            </a:pPr>
            <a:r>
              <a:rPr lang="en-US" altLang="nl-NL" dirty="0">
                <a:cs typeface="Times New Roman" panose="02020603050405020304" pitchFamily="18" charset="0"/>
              </a:rPr>
              <a:t>E.g., many tuples have no recorded value for several attributes, such as customer income in sales data</a:t>
            </a:r>
          </a:p>
          <a:p>
            <a:pPr>
              <a:lnSpc>
                <a:spcPct val="110000"/>
              </a:lnSpc>
            </a:pPr>
            <a:r>
              <a:rPr lang="en-US" altLang="nl-NL" dirty="0">
                <a:cs typeface="Times New Roman" panose="02020603050405020304" pitchFamily="18" charset="0"/>
              </a:rPr>
              <a:t>Missing data may be due to </a:t>
            </a:r>
          </a:p>
          <a:p>
            <a:pPr lvl="1">
              <a:lnSpc>
                <a:spcPct val="110000"/>
              </a:lnSpc>
            </a:pPr>
            <a:r>
              <a:rPr lang="en-US" altLang="nl-NL" dirty="0">
                <a:cs typeface="Times New Roman" panose="02020603050405020304" pitchFamily="18" charset="0"/>
              </a:rPr>
              <a:t>Equipment malfunction</a:t>
            </a:r>
          </a:p>
          <a:p>
            <a:pPr lvl="1">
              <a:lnSpc>
                <a:spcPct val="110000"/>
              </a:lnSpc>
            </a:pPr>
            <a:r>
              <a:rPr lang="en-US" altLang="nl-NL" dirty="0">
                <a:cs typeface="Times New Roman" panose="02020603050405020304" pitchFamily="18" charset="0"/>
              </a:rPr>
              <a:t>Inconsistent with other recorded data and thus deleted</a:t>
            </a:r>
          </a:p>
          <a:p>
            <a:pPr lvl="1">
              <a:lnSpc>
                <a:spcPct val="110000"/>
              </a:lnSpc>
            </a:pPr>
            <a:r>
              <a:rPr lang="en-US" altLang="nl-NL" dirty="0">
                <a:cs typeface="Times New Roman" panose="02020603050405020304" pitchFamily="18" charset="0"/>
              </a:rPr>
              <a:t>Data not entered due to misunderstanding</a:t>
            </a:r>
          </a:p>
          <a:p>
            <a:pPr lvl="1">
              <a:lnSpc>
                <a:spcPct val="110000"/>
              </a:lnSpc>
            </a:pPr>
            <a:r>
              <a:rPr lang="en-US" altLang="nl-NL" dirty="0">
                <a:cs typeface="Times New Roman" panose="02020603050405020304" pitchFamily="18" charset="0"/>
              </a:rPr>
              <a:t>Certain data values may not be considered important at the time of entry</a:t>
            </a:r>
          </a:p>
          <a:p>
            <a:pPr>
              <a:lnSpc>
                <a:spcPct val="110000"/>
              </a:lnSpc>
            </a:pPr>
            <a:r>
              <a:rPr lang="en-US" altLang="nl-NL" dirty="0">
                <a:cs typeface="Times New Roman" panose="02020603050405020304" pitchFamily="18" charset="0"/>
              </a:rPr>
              <a:t>Missing data may need to be inferred</a:t>
            </a:r>
          </a:p>
        </p:txBody>
      </p:sp>
      <p:sp>
        <p:nvSpPr>
          <p:cNvPr id="4" name="Slide Number Placeholder 3">
            <a:extLst>
              <a:ext uri="{FF2B5EF4-FFF2-40B4-BE49-F238E27FC236}">
                <a16:creationId xmlns:a16="http://schemas.microsoft.com/office/drawing/2014/main" id="{C102A90D-6740-AD8C-8DA7-40D3B05155BD}"/>
              </a:ext>
            </a:extLst>
          </p:cNvPr>
          <p:cNvSpPr>
            <a:spLocks noGrp="1"/>
          </p:cNvSpPr>
          <p:nvPr>
            <p:ph type="sldNum" sz="quarter" idx="12"/>
          </p:nvPr>
        </p:nvSpPr>
        <p:spPr/>
        <p:txBody>
          <a:bodyPr/>
          <a:lstStyle/>
          <a:p>
            <a:fld id="{F8D8F54C-053C-4394-9990-70DE256B1A6D}" type="slidenum">
              <a:rPr lang="nl-NL" smtClean="0"/>
              <a:t>22</a:t>
            </a:fld>
            <a:endParaRPr lang="nl-NL"/>
          </a:p>
        </p:txBody>
      </p:sp>
    </p:spTree>
    <p:extLst>
      <p:ext uri="{BB962C8B-B14F-4D97-AF65-F5344CB8AC3E}">
        <p14:creationId xmlns:p14="http://schemas.microsoft.com/office/powerpoint/2010/main" val="663169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Handling the Missing Data</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lnSpcReduction="10000"/>
          </a:bodyPr>
          <a:lstStyle/>
          <a:p>
            <a:pPr>
              <a:lnSpc>
                <a:spcPct val="120000"/>
              </a:lnSpc>
            </a:pPr>
            <a:r>
              <a:rPr lang="en-US" altLang="nl-NL" dirty="0">
                <a:cs typeface="Times New Roman" panose="02020603050405020304" pitchFamily="18" charset="0"/>
              </a:rPr>
              <a:t>Ignore the tuple: usually done when class label is missing (for classification problem) – not effective when the % of missing values is large</a:t>
            </a:r>
          </a:p>
          <a:p>
            <a:pPr>
              <a:lnSpc>
                <a:spcPct val="120000"/>
              </a:lnSpc>
            </a:pPr>
            <a:r>
              <a:rPr lang="en-US" altLang="nl-NL" dirty="0">
                <a:cs typeface="Times New Roman" panose="02020603050405020304" pitchFamily="18" charset="0"/>
              </a:rPr>
              <a:t>Fill in the missing value:</a:t>
            </a:r>
          </a:p>
          <a:p>
            <a:pPr lvl="1">
              <a:lnSpc>
                <a:spcPct val="120000"/>
              </a:lnSpc>
            </a:pPr>
            <a:r>
              <a:rPr lang="en-US" altLang="nl-NL" dirty="0">
                <a:cs typeface="Times New Roman" panose="02020603050405020304" pitchFamily="18" charset="0"/>
              </a:rPr>
              <a:t>Manually: tedious + infeasible?</a:t>
            </a:r>
          </a:p>
          <a:p>
            <a:pPr lvl="1">
              <a:lnSpc>
                <a:spcPct val="120000"/>
              </a:lnSpc>
            </a:pPr>
            <a:r>
              <a:rPr lang="en-US" altLang="nl-NL" dirty="0">
                <a:cs typeface="Times New Roman" panose="02020603050405020304" pitchFamily="18" charset="0"/>
              </a:rPr>
              <a:t>Automatically (data imputation) with</a:t>
            </a:r>
          </a:p>
          <a:p>
            <a:pPr lvl="2">
              <a:lnSpc>
                <a:spcPct val="120000"/>
              </a:lnSpc>
            </a:pPr>
            <a:r>
              <a:rPr lang="en-US" altLang="nl-NL" dirty="0">
                <a:cs typeface="Times New Roman" panose="02020603050405020304" pitchFamily="18" charset="0"/>
              </a:rPr>
              <a:t>A global constant : e.g., “unknown”, a new class?! </a:t>
            </a:r>
          </a:p>
          <a:p>
            <a:pPr lvl="2">
              <a:lnSpc>
                <a:spcPct val="120000"/>
              </a:lnSpc>
            </a:pPr>
            <a:r>
              <a:rPr lang="en-US" altLang="nl-NL" dirty="0">
                <a:cs typeface="Times New Roman" panose="02020603050405020304" pitchFamily="18" charset="0"/>
              </a:rPr>
              <a:t>The attribute mean</a:t>
            </a:r>
          </a:p>
          <a:p>
            <a:pPr lvl="2">
              <a:lnSpc>
                <a:spcPct val="120000"/>
              </a:lnSpc>
            </a:pPr>
            <a:r>
              <a:rPr lang="en-US" altLang="nl-NL" dirty="0">
                <a:cs typeface="Times New Roman" panose="02020603050405020304" pitchFamily="18" charset="0"/>
              </a:rPr>
              <a:t>The attribute mean for all samples belonging to the same class: smarter</a:t>
            </a:r>
          </a:p>
          <a:p>
            <a:pPr lvl="2">
              <a:lnSpc>
                <a:spcPct val="120000"/>
              </a:lnSpc>
            </a:pPr>
            <a:r>
              <a:rPr lang="en-US" altLang="nl-NL" dirty="0">
                <a:solidFill>
                  <a:srgbClr val="C00000"/>
                </a:solidFill>
                <a:cs typeface="Times New Roman" panose="02020603050405020304" pitchFamily="18" charset="0"/>
              </a:rPr>
              <a:t>More sophisticated data imputation techniques will be discussed in more details in the upcoming weeks</a:t>
            </a:r>
          </a:p>
        </p:txBody>
      </p:sp>
      <p:sp>
        <p:nvSpPr>
          <p:cNvPr id="4" name="Slide Number Placeholder 3">
            <a:extLst>
              <a:ext uri="{FF2B5EF4-FFF2-40B4-BE49-F238E27FC236}">
                <a16:creationId xmlns:a16="http://schemas.microsoft.com/office/drawing/2014/main" id="{496455DA-C80E-5292-A551-AB48732B61D6}"/>
              </a:ext>
            </a:extLst>
          </p:cNvPr>
          <p:cNvSpPr>
            <a:spLocks noGrp="1"/>
          </p:cNvSpPr>
          <p:nvPr>
            <p:ph type="sldNum" sz="quarter" idx="12"/>
          </p:nvPr>
        </p:nvSpPr>
        <p:spPr/>
        <p:txBody>
          <a:bodyPr/>
          <a:lstStyle/>
          <a:p>
            <a:fld id="{F8D8F54C-053C-4394-9990-70DE256B1A6D}" type="slidenum">
              <a:rPr lang="nl-NL" smtClean="0"/>
              <a:t>23</a:t>
            </a:fld>
            <a:endParaRPr lang="nl-NL"/>
          </a:p>
        </p:txBody>
      </p:sp>
    </p:spTree>
    <p:extLst>
      <p:ext uri="{BB962C8B-B14F-4D97-AF65-F5344CB8AC3E}">
        <p14:creationId xmlns:p14="http://schemas.microsoft.com/office/powerpoint/2010/main" val="769554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11264" y="2715494"/>
            <a:ext cx="8277726" cy="54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Data Cleaning</a:t>
            </a:r>
            <a:endParaRPr lang="nl-NL" b="1"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Text Placeholder 1">
            <a:extLst>
              <a:ext uri="{FF2B5EF4-FFF2-40B4-BE49-F238E27FC236}">
                <a16:creationId xmlns:a16="http://schemas.microsoft.com/office/drawing/2014/main" id="{92F7F081-41A5-4D45-A4DD-33D82E1C5E11}"/>
              </a:ext>
            </a:extLst>
          </p:cNvPr>
          <p:cNvSpPr txBox="1">
            <a:spLocks/>
          </p:cNvSpPr>
          <p:nvPr/>
        </p:nvSpPr>
        <p:spPr>
          <a:xfrm>
            <a:off x="1211264" y="3666839"/>
            <a:ext cx="8277726" cy="54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2- Noisy Data</a:t>
            </a:r>
            <a:endParaRPr lang="nl-NL" b="1" dirty="0"/>
          </a:p>
        </p:txBody>
      </p:sp>
      <p:sp>
        <p:nvSpPr>
          <p:cNvPr id="5" name="Slide Number Placeholder 4">
            <a:extLst>
              <a:ext uri="{FF2B5EF4-FFF2-40B4-BE49-F238E27FC236}">
                <a16:creationId xmlns:a16="http://schemas.microsoft.com/office/drawing/2014/main" id="{AED7753D-2B10-121A-2E16-F50BF540D200}"/>
              </a:ext>
            </a:extLst>
          </p:cNvPr>
          <p:cNvSpPr>
            <a:spLocks noGrp="1"/>
          </p:cNvSpPr>
          <p:nvPr>
            <p:ph type="sldNum" sz="quarter" idx="12"/>
          </p:nvPr>
        </p:nvSpPr>
        <p:spPr/>
        <p:txBody>
          <a:bodyPr/>
          <a:lstStyle/>
          <a:p>
            <a:fld id="{F8D8F54C-053C-4394-9990-70DE256B1A6D}" type="slidenum">
              <a:rPr lang="nl-NL" smtClean="0"/>
              <a:t>24</a:t>
            </a:fld>
            <a:endParaRPr lang="nl-NL"/>
          </a:p>
        </p:txBody>
      </p:sp>
    </p:spTree>
    <p:extLst>
      <p:ext uri="{BB962C8B-B14F-4D97-AF65-F5344CB8AC3E}">
        <p14:creationId xmlns:p14="http://schemas.microsoft.com/office/powerpoint/2010/main" val="3391269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altLang="nl-NL" sz="3200" b="1" dirty="0">
                <a:latin typeface="Times New Roman" panose="02020603050405020304" pitchFamily="18" charset="0"/>
                <a:cs typeface="Times New Roman" panose="02020603050405020304" pitchFamily="18" charset="0"/>
              </a:rPr>
              <a:t>Noisy Data</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9623"/>
            <a:ext cx="10515600" cy="5113252"/>
          </a:xfrm>
        </p:spPr>
        <p:txBody>
          <a:bodyPr>
            <a:normAutofit/>
          </a:bodyPr>
          <a:lstStyle/>
          <a:p>
            <a:r>
              <a:rPr lang="en-US" altLang="nl-NL" dirty="0">
                <a:cs typeface="Times New Roman" panose="02020603050405020304" pitchFamily="18" charset="0"/>
              </a:rPr>
              <a:t>Noise: random error or variance in a measured variable</a:t>
            </a:r>
          </a:p>
          <a:p>
            <a:r>
              <a:rPr lang="en-US" altLang="nl-NL" dirty="0">
                <a:cs typeface="Times New Roman" panose="02020603050405020304" pitchFamily="18" charset="0"/>
              </a:rPr>
              <a:t>Incorrect attribute values may be due to</a:t>
            </a:r>
          </a:p>
          <a:p>
            <a:pPr lvl="1"/>
            <a:r>
              <a:rPr lang="en-US" altLang="nl-NL" dirty="0">
                <a:cs typeface="Times New Roman" panose="02020603050405020304" pitchFamily="18" charset="0"/>
              </a:rPr>
              <a:t>Faulty data collection instruments</a:t>
            </a:r>
          </a:p>
          <a:p>
            <a:pPr lvl="1"/>
            <a:r>
              <a:rPr lang="en-US" altLang="nl-NL" dirty="0">
                <a:cs typeface="Times New Roman" panose="02020603050405020304" pitchFamily="18" charset="0"/>
              </a:rPr>
              <a:t>Data entry problems</a:t>
            </a:r>
          </a:p>
          <a:p>
            <a:pPr lvl="1"/>
            <a:r>
              <a:rPr lang="en-US" altLang="nl-NL" dirty="0">
                <a:cs typeface="Times New Roman" panose="02020603050405020304" pitchFamily="18" charset="0"/>
              </a:rPr>
              <a:t>Data transmission problems</a:t>
            </a:r>
          </a:p>
          <a:p>
            <a:pPr lvl="1"/>
            <a:r>
              <a:rPr lang="en-US" altLang="nl-NL" dirty="0">
                <a:cs typeface="Times New Roman" panose="02020603050405020304" pitchFamily="18" charset="0"/>
              </a:rPr>
              <a:t>Technology limitation</a:t>
            </a:r>
          </a:p>
          <a:p>
            <a:pPr lvl="1"/>
            <a:r>
              <a:rPr lang="en-US" altLang="nl-NL" dirty="0">
                <a:cs typeface="Times New Roman" panose="02020603050405020304" pitchFamily="18" charset="0"/>
              </a:rPr>
              <a:t>Inconsistency in naming convention</a:t>
            </a:r>
            <a:endParaRPr lang="en-US" altLang="nl-NL" dirty="0"/>
          </a:p>
        </p:txBody>
      </p:sp>
      <p:sp>
        <p:nvSpPr>
          <p:cNvPr id="4" name="Slide Number Placeholder 3">
            <a:extLst>
              <a:ext uri="{FF2B5EF4-FFF2-40B4-BE49-F238E27FC236}">
                <a16:creationId xmlns:a16="http://schemas.microsoft.com/office/drawing/2014/main" id="{EB31AE6E-7857-103C-4F05-76AB1DC0DDC4}"/>
              </a:ext>
            </a:extLst>
          </p:cNvPr>
          <p:cNvSpPr>
            <a:spLocks noGrp="1"/>
          </p:cNvSpPr>
          <p:nvPr>
            <p:ph type="sldNum" sz="quarter" idx="12"/>
          </p:nvPr>
        </p:nvSpPr>
        <p:spPr/>
        <p:txBody>
          <a:bodyPr/>
          <a:lstStyle/>
          <a:p>
            <a:fld id="{F8D8F54C-053C-4394-9990-70DE256B1A6D}" type="slidenum">
              <a:rPr lang="nl-NL" smtClean="0"/>
              <a:t>25</a:t>
            </a:fld>
            <a:endParaRPr lang="nl-NL"/>
          </a:p>
        </p:txBody>
      </p:sp>
    </p:spTree>
    <p:extLst>
      <p:ext uri="{BB962C8B-B14F-4D97-AF65-F5344CB8AC3E}">
        <p14:creationId xmlns:p14="http://schemas.microsoft.com/office/powerpoint/2010/main" val="1218226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altLang="nl-NL" sz="3200" b="1" dirty="0">
                <a:latin typeface="Times New Roman" panose="02020603050405020304" pitchFamily="18" charset="0"/>
                <a:cs typeface="Times New Roman" panose="02020603050405020304" pitchFamily="18" charset="0"/>
              </a:rPr>
              <a:t>Handling the Noisy Data</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9623"/>
            <a:ext cx="10515600" cy="5113252"/>
          </a:xfrm>
        </p:spPr>
        <p:txBody>
          <a:bodyPr>
            <a:normAutofit/>
          </a:bodyPr>
          <a:lstStyle/>
          <a:p>
            <a:pPr>
              <a:lnSpc>
                <a:spcPct val="100000"/>
              </a:lnSpc>
            </a:pPr>
            <a:r>
              <a:rPr lang="en-US" altLang="nl-NL" dirty="0">
                <a:cs typeface="Times New Roman" panose="02020603050405020304" pitchFamily="18" charset="0"/>
              </a:rPr>
              <a:t>Binning</a:t>
            </a:r>
          </a:p>
          <a:p>
            <a:pPr lvl="1">
              <a:lnSpc>
                <a:spcPct val="100000"/>
              </a:lnSpc>
            </a:pPr>
            <a:r>
              <a:rPr lang="en-US" altLang="nl-NL" dirty="0">
                <a:cs typeface="Times New Roman" panose="02020603050405020304" pitchFamily="18" charset="0"/>
              </a:rPr>
              <a:t>First sort data and partition into (equal-frequency) bins</a:t>
            </a:r>
          </a:p>
          <a:p>
            <a:pPr lvl="1">
              <a:lnSpc>
                <a:spcPct val="100000"/>
              </a:lnSpc>
            </a:pPr>
            <a:r>
              <a:rPr lang="en-US" altLang="nl-NL" dirty="0">
                <a:cs typeface="Times New Roman" panose="02020603050405020304" pitchFamily="18" charset="0"/>
              </a:rPr>
              <a:t>Then one can smooth by bin means,  smooth by bin median, smooth by bin boundaries, etc.</a:t>
            </a:r>
          </a:p>
          <a:p>
            <a:pPr lvl="2">
              <a:lnSpc>
                <a:spcPct val="100000"/>
              </a:lnSpc>
            </a:pPr>
            <a:r>
              <a:rPr lang="en-US" altLang="nl-NL" sz="2200" dirty="0">
                <a:cs typeface="Times New Roman" panose="02020603050405020304" pitchFamily="18" charset="0"/>
              </a:rPr>
              <a:t>Smoothing by bin means : In smoothing by bin means, each value in a bin is replaced by the mean value of the bin.</a:t>
            </a:r>
          </a:p>
          <a:p>
            <a:pPr lvl="2">
              <a:lnSpc>
                <a:spcPct val="100000"/>
              </a:lnSpc>
            </a:pPr>
            <a:r>
              <a:rPr lang="en-US" altLang="nl-NL" sz="2200" dirty="0">
                <a:cs typeface="Times New Roman" panose="02020603050405020304" pitchFamily="18" charset="0"/>
              </a:rPr>
              <a:t>Smoothing by bin median : In this method each bin value is replaced by its bin median value.</a:t>
            </a:r>
          </a:p>
          <a:p>
            <a:pPr lvl="2">
              <a:lnSpc>
                <a:spcPct val="100000"/>
              </a:lnSpc>
            </a:pPr>
            <a:r>
              <a:rPr lang="en-US" altLang="nl-NL" sz="2200" dirty="0">
                <a:cs typeface="Times New Roman" panose="02020603050405020304" pitchFamily="18" charset="0"/>
              </a:rPr>
              <a:t>Smoothing by bin boundary: In smoothing by bin boundaries, the minimum and maximum values in a given bin are identified as the bin boundaries. Each bin value is then replaced by the closest boundary value.</a:t>
            </a:r>
          </a:p>
        </p:txBody>
      </p:sp>
      <p:sp>
        <p:nvSpPr>
          <p:cNvPr id="4" name="Slide Number Placeholder 3">
            <a:extLst>
              <a:ext uri="{FF2B5EF4-FFF2-40B4-BE49-F238E27FC236}">
                <a16:creationId xmlns:a16="http://schemas.microsoft.com/office/drawing/2014/main" id="{59DAB6CA-5F7A-1AF7-C18E-820BAE36D901}"/>
              </a:ext>
            </a:extLst>
          </p:cNvPr>
          <p:cNvSpPr>
            <a:spLocks noGrp="1"/>
          </p:cNvSpPr>
          <p:nvPr>
            <p:ph type="sldNum" sz="quarter" idx="12"/>
          </p:nvPr>
        </p:nvSpPr>
        <p:spPr/>
        <p:txBody>
          <a:bodyPr/>
          <a:lstStyle/>
          <a:p>
            <a:fld id="{F8D8F54C-053C-4394-9990-70DE256B1A6D}" type="slidenum">
              <a:rPr lang="nl-NL" smtClean="0"/>
              <a:t>26</a:t>
            </a:fld>
            <a:endParaRPr lang="nl-NL"/>
          </a:p>
        </p:txBody>
      </p:sp>
    </p:spTree>
    <p:extLst>
      <p:ext uri="{BB962C8B-B14F-4D97-AF65-F5344CB8AC3E}">
        <p14:creationId xmlns:p14="http://schemas.microsoft.com/office/powerpoint/2010/main" val="3183771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altLang="nl-NL" sz="3200" b="1" dirty="0">
                <a:latin typeface="Times New Roman" panose="02020603050405020304" pitchFamily="18" charset="0"/>
                <a:cs typeface="Times New Roman" panose="02020603050405020304" pitchFamily="18" charset="0"/>
              </a:rPr>
              <a:t>Handling the Noisy Data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9623"/>
            <a:ext cx="10515600" cy="5113252"/>
          </a:xfrm>
        </p:spPr>
        <p:txBody>
          <a:bodyPr>
            <a:normAutofit/>
          </a:bodyPr>
          <a:lstStyle/>
          <a:p>
            <a:r>
              <a:rPr lang="en-US" altLang="nl-NL" dirty="0">
                <a:cs typeface="Times New Roman" panose="02020603050405020304" pitchFamily="18" charset="0"/>
              </a:rPr>
              <a:t>Regression</a:t>
            </a:r>
          </a:p>
          <a:p>
            <a:pPr lvl="1"/>
            <a:r>
              <a:rPr lang="en-US" altLang="nl-NL" dirty="0">
                <a:cs typeface="Times New Roman" panose="02020603050405020304" pitchFamily="18" charset="0"/>
              </a:rPr>
              <a:t>Smooth by fitting the data into regression functions</a:t>
            </a:r>
          </a:p>
          <a:p>
            <a:r>
              <a:rPr lang="en-US" altLang="nl-NL" dirty="0">
                <a:cs typeface="Times New Roman" panose="02020603050405020304" pitchFamily="18" charset="0"/>
              </a:rPr>
              <a:t>Clustering</a:t>
            </a:r>
          </a:p>
          <a:p>
            <a:pPr lvl="1"/>
            <a:r>
              <a:rPr lang="en-US" altLang="nl-NL" dirty="0">
                <a:cs typeface="Times New Roman" panose="02020603050405020304" pitchFamily="18" charset="0"/>
              </a:rPr>
              <a:t>Detect and remove outliers that do not belong to any of the clusters</a:t>
            </a:r>
          </a:p>
          <a:p>
            <a:r>
              <a:rPr lang="en-US" altLang="nl-NL" dirty="0">
                <a:cs typeface="Times New Roman" panose="02020603050405020304" pitchFamily="18" charset="0"/>
              </a:rPr>
              <a:t>Combined computer and human inspection</a:t>
            </a:r>
          </a:p>
          <a:p>
            <a:pPr lvl="1"/>
            <a:r>
              <a:rPr lang="en-US" altLang="nl-NL" dirty="0">
                <a:cs typeface="Times New Roman" panose="02020603050405020304" pitchFamily="18" charset="0"/>
              </a:rPr>
              <a:t>Detect suspicious values and check by human (e.g., deal with possible outliers)</a:t>
            </a:r>
          </a:p>
        </p:txBody>
      </p:sp>
      <p:sp>
        <p:nvSpPr>
          <p:cNvPr id="4" name="Slide Number Placeholder 3">
            <a:extLst>
              <a:ext uri="{FF2B5EF4-FFF2-40B4-BE49-F238E27FC236}">
                <a16:creationId xmlns:a16="http://schemas.microsoft.com/office/drawing/2014/main" id="{6B78C63A-C154-DF4C-FFB9-D9545E2BF3F9}"/>
              </a:ext>
            </a:extLst>
          </p:cNvPr>
          <p:cNvSpPr>
            <a:spLocks noGrp="1"/>
          </p:cNvSpPr>
          <p:nvPr>
            <p:ph type="sldNum" sz="quarter" idx="12"/>
          </p:nvPr>
        </p:nvSpPr>
        <p:spPr/>
        <p:txBody>
          <a:bodyPr/>
          <a:lstStyle/>
          <a:p>
            <a:fld id="{F8D8F54C-053C-4394-9990-70DE256B1A6D}" type="slidenum">
              <a:rPr lang="nl-NL" smtClean="0"/>
              <a:t>27</a:t>
            </a:fld>
            <a:endParaRPr lang="nl-NL"/>
          </a:p>
        </p:txBody>
      </p:sp>
    </p:spTree>
    <p:extLst>
      <p:ext uri="{BB962C8B-B14F-4D97-AF65-F5344CB8AC3E}">
        <p14:creationId xmlns:p14="http://schemas.microsoft.com/office/powerpoint/2010/main" val="2132904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altLang="nl-NL" sz="3200" b="1" dirty="0">
                <a:latin typeface="Times New Roman" panose="02020603050405020304" pitchFamily="18" charset="0"/>
                <a:cs typeface="Times New Roman" panose="02020603050405020304" pitchFamily="18" charset="0"/>
              </a:rPr>
              <a:t>B</a:t>
            </a:r>
            <a:r>
              <a:rPr lang="en-NL" altLang="nl-NL" sz="3200" b="1" dirty="0">
                <a:latin typeface="Times New Roman" panose="02020603050405020304" pitchFamily="18" charset="0"/>
                <a:cs typeface="Times New Roman" panose="02020603050405020304" pitchFamily="18" charset="0"/>
              </a:rPr>
              <a:t>i</a:t>
            </a:r>
            <a:r>
              <a:rPr lang="nl-NL" altLang="nl-NL" sz="3200" b="1" dirty="0">
                <a:latin typeface="Times New Roman" panose="02020603050405020304" pitchFamily="18" charset="0"/>
                <a:cs typeface="Times New Roman" panose="02020603050405020304" pitchFamily="18" charset="0"/>
              </a:rPr>
              <a:t>n</a:t>
            </a:r>
            <a:r>
              <a:rPr lang="en-NL" altLang="nl-NL" sz="3200" b="1" dirty="0">
                <a:latin typeface="Times New Roman" panose="02020603050405020304" pitchFamily="18" charset="0"/>
                <a:cs typeface="Times New Roman" panose="02020603050405020304" pitchFamily="18" charset="0"/>
              </a:rPr>
              <a:t>n</a:t>
            </a:r>
            <a:r>
              <a:rPr lang="nl-NL" altLang="nl-NL" sz="3200" b="1" dirty="0">
                <a:latin typeface="Times New Roman" panose="02020603050405020304" pitchFamily="18" charset="0"/>
                <a:cs typeface="Times New Roman" panose="02020603050405020304" pitchFamily="18" charset="0"/>
              </a:rPr>
              <a:t>i</a:t>
            </a:r>
            <a:r>
              <a:rPr lang="en-NL" altLang="nl-NL" sz="3200" b="1" dirty="0">
                <a:latin typeface="Times New Roman" panose="02020603050405020304" pitchFamily="18" charset="0"/>
                <a:cs typeface="Times New Roman" panose="02020603050405020304" pitchFamily="18" charset="0"/>
              </a:rPr>
              <a:t>n</a:t>
            </a:r>
            <a:r>
              <a:rPr lang="nl-NL" altLang="nl-NL" sz="3200" b="1" dirty="0">
                <a:latin typeface="Times New Roman" panose="02020603050405020304" pitchFamily="18" charset="0"/>
                <a:cs typeface="Times New Roman" panose="02020603050405020304" pitchFamily="18" charset="0"/>
              </a:rPr>
              <a:t>g</a:t>
            </a:r>
            <a:r>
              <a:rPr lang="en-NL" altLang="nl-NL" sz="3200" b="1" dirty="0">
                <a:latin typeface="Times New Roman" panose="02020603050405020304" pitchFamily="18" charset="0"/>
                <a:cs typeface="Times New Roman" panose="02020603050405020304" pitchFamily="18" charset="0"/>
              </a:rPr>
              <a:t> </a:t>
            </a:r>
            <a:r>
              <a:rPr lang="nl-NL" altLang="nl-NL" sz="3200" b="1" dirty="0">
                <a:latin typeface="Times New Roman" panose="02020603050405020304" pitchFamily="18" charset="0"/>
                <a:cs typeface="Times New Roman" panose="02020603050405020304" pitchFamily="18" charset="0"/>
              </a:rPr>
              <a:t>m</a:t>
            </a:r>
            <a:r>
              <a:rPr lang="en-NL" altLang="nl-NL" sz="3200" b="1" dirty="0">
                <a:latin typeface="Times New Roman" panose="02020603050405020304" pitchFamily="18" charset="0"/>
                <a:cs typeface="Times New Roman" panose="02020603050405020304" pitchFamily="18" charset="0"/>
              </a:rPr>
              <a:t>e</a:t>
            </a:r>
            <a:r>
              <a:rPr lang="nl-NL" altLang="nl-NL" sz="3200" b="1" dirty="0">
                <a:latin typeface="Times New Roman" panose="02020603050405020304" pitchFamily="18" charset="0"/>
                <a:cs typeface="Times New Roman" panose="02020603050405020304" pitchFamily="18" charset="0"/>
              </a:rPr>
              <a:t>t</a:t>
            </a:r>
            <a:r>
              <a:rPr lang="en-NL" altLang="nl-NL" sz="3200" b="1" dirty="0">
                <a:latin typeface="Times New Roman" panose="02020603050405020304" pitchFamily="18" charset="0"/>
                <a:cs typeface="Times New Roman" panose="02020603050405020304" pitchFamily="18" charset="0"/>
              </a:rPr>
              <a:t>h</a:t>
            </a:r>
            <a:r>
              <a:rPr lang="nl-NL" altLang="nl-NL" sz="3200" b="1" dirty="0">
                <a:latin typeface="Times New Roman" panose="02020603050405020304" pitchFamily="18" charset="0"/>
                <a:cs typeface="Times New Roman" panose="02020603050405020304" pitchFamily="18" charset="0"/>
              </a:rPr>
              <a:t>o</a:t>
            </a:r>
            <a:r>
              <a:rPr lang="en-NL" altLang="nl-NL" sz="3200" b="1" dirty="0">
                <a:latin typeface="Times New Roman" panose="02020603050405020304" pitchFamily="18" charset="0"/>
                <a:cs typeface="Times New Roman" panose="02020603050405020304" pitchFamily="18" charset="0"/>
              </a:rPr>
              <a:t>d</a:t>
            </a:r>
            <a:r>
              <a:rPr lang="nl-NL" altLang="nl-NL" sz="3200" b="1" dirty="0">
                <a:latin typeface="Times New Roman" panose="02020603050405020304" pitchFamily="18" charset="0"/>
                <a:cs typeface="Times New Roman" panose="02020603050405020304" pitchFamily="18" charset="0"/>
              </a:rPr>
              <a:t>s</a:t>
            </a:r>
            <a:r>
              <a:rPr lang="en-NL" altLang="nl-NL" sz="3200" b="1" dirty="0">
                <a:latin typeface="Times New Roman" panose="02020603050405020304" pitchFamily="18" charset="0"/>
                <a:cs typeface="Times New Roman" panose="02020603050405020304" pitchFamily="18" charset="0"/>
              </a:rPr>
              <a:t> </a:t>
            </a:r>
            <a:r>
              <a:rPr lang="nl-NL" altLang="nl-NL" sz="3200" b="1" dirty="0">
                <a:latin typeface="Times New Roman" panose="02020603050405020304" pitchFamily="18" charset="0"/>
                <a:cs typeface="Times New Roman" panose="02020603050405020304" pitchFamily="18" charset="0"/>
              </a:rPr>
              <a:t>f</a:t>
            </a:r>
            <a:r>
              <a:rPr lang="en-NL" altLang="nl-NL" sz="3200" b="1" dirty="0">
                <a:latin typeface="Times New Roman" panose="02020603050405020304" pitchFamily="18" charset="0"/>
                <a:cs typeface="Times New Roman" panose="02020603050405020304" pitchFamily="18" charset="0"/>
              </a:rPr>
              <a:t>o</a:t>
            </a:r>
            <a:r>
              <a:rPr lang="nl-NL" altLang="nl-NL" sz="3200" b="1" dirty="0">
                <a:latin typeface="Times New Roman" panose="02020603050405020304" pitchFamily="18" charset="0"/>
                <a:cs typeface="Times New Roman" panose="02020603050405020304" pitchFamily="18" charset="0"/>
              </a:rPr>
              <a:t>r</a:t>
            </a:r>
            <a:r>
              <a:rPr lang="en-NL" altLang="nl-NL" sz="3200" b="1" dirty="0">
                <a:latin typeface="Times New Roman" panose="02020603050405020304" pitchFamily="18" charset="0"/>
                <a:cs typeface="Times New Roman" panose="02020603050405020304" pitchFamily="18" charset="0"/>
              </a:rPr>
              <a:t> </a:t>
            </a:r>
            <a:r>
              <a:rPr lang="nl-NL" altLang="nl-NL" sz="3200" b="1" dirty="0">
                <a:latin typeface="Times New Roman" panose="02020603050405020304" pitchFamily="18" charset="0"/>
                <a:cs typeface="Times New Roman" panose="02020603050405020304" pitchFamily="18" charset="0"/>
              </a:rPr>
              <a:t>d</a:t>
            </a:r>
            <a:r>
              <a:rPr lang="en-NL" altLang="nl-NL" sz="3200" b="1" dirty="0">
                <a:latin typeface="Times New Roman" panose="02020603050405020304" pitchFamily="18" charset="0"/>
                <a:cs typeface="Times New Roman" panose="02020603050405020304" pitchFamily="18" charset="0"/>
              </a:rPr>
              <a:t>a</a:t>
            </a:r>
            <a:r>
              <a:rPr lang="nl-NL" altLang="nl-NL" sz="3200" b="1" dirty="0">
                <a:latin typeface="Times New Roman" panose="02020603050405020304" pitchFamily="18" charset="0"/>
                <a:cs typeface="Times New Roman" panose="02020603050405020304" pitchFamily="18" charset="0"/>
              </a:rPr>
              <a:t>t</a:t>
            </a:r>
            <a:r>
              <a:rPr lang="en-NL" altLang="nl-NL" sz="3200" b="1" dirty="0">
                <a:latin typeface="Times New Roman" panose="02020603050405020304" pitchFamily="18" charset="0"/>
                <a:cs typeface="Times New Roman" panose="02020603050405020304" pitchFamily="18" charset="0"/>
              </a:rPr>
              <a:t>a </a:t>
            </a:r>
            <a:r>
              <a:rPr lang="nl-NL" altLang="nl-NL" sz="3200" b="1" dirty="0">
                <a:latin typeface="Times New Roman" panose="02020603050405020304" pitchFamily="18" charset="0"/>
                <a:cs typeface="Times New Roman" panose="02020603050405020304" pitchFamily="18" charset="0"/>
              </a:rPr>
              <a:t>s</a:t>
            </a:r>
            <a:r>
              <a:rPr lang="en-NL" altLang="nl-NL" sz="3200" b="1" dirty="0">
                <a:latin typeface="Times New Roman" panose="02020603050405020304" pitchFamily="18" charset="0"/>
                <a:cs typeface="Times New Roman" panose="02020603050405020304" pitchFamily="18" charset="0"/>
              </a:rPr>
              <a:t>m</a:t>
            </a:r>
            <a:r>
              <a:rPr lang="nl-NL" altLang="nl-NL" sz="3200" b="1" dirty="0">
                <a:latin typeface="Times New Roman" panose="02020603050405020304" pitchFamily="18" charset="0"/>
                <a:cs typeface="Times New Roman" panose="02020603050405020304" pitchFamily="18" charset="0"/>
              </a:rPr>
              <a:t>o</a:t>
            </a:r>
            <a:r>
              <a:rPr lang="en-NL" altLang="nl-NL" sz="3200" b="1" dirty="0">
                <a:latin typeface="Times New Roman" panose="02020603050405020304" pitchFamily="18" charset="0"/>
                <a:cs typeface="Times New Roman" panose="02020603050405020304" pitchFamily="18" charset="0"/>
              </a:rPr>
              <a:t>o</a:t>
            </a:r>
            <a:r>
              <a:rPr lang="nl-NL" altLang="nl-NL" sz="3200" b="1" dirty="0">
                <a:latin typeface="Times New Roman" panose="02020603050405020304" pitchFamily="18" charset="0"/>
                <a:cs typeface="Times New Roman" panose="02020603050405020304" pitchFamily="18" charset="0"/>
              </a:rPr>
              <a:t>t</a:t>
            </a:r>
            <a:r>
              <a:rPr lang="en-NL" altLang="nl-NL" sz="3200" b="1" dirty="0">
                <a:latin typeface="Times New Roman" panose="02020603050405020304" pitchFamily="18" charset="0"/>
                <a:cs typeface="Times New Roman" panose="02020603050405020304" pitchFamily="18" charset="0"/>
              </a:rPr>
              <a:t>h</a:t>
            </a:r>
            <a:r>
              <a:rPr lang="nl-NL" altLang="nl-NL" sz="3200" b="1" dirty="0">
                <a:latin typeface="Times New Roman" panose="02020603050405020304" pitchFamily="18" charset="0"/>
                <a:cs typeface="Times New Roman" panose="02020603050405020304" pitchFamily="18" charset="0"/>
              </a:rPr>
              <a:t>i</a:t>
            </a:r>
            <a:r>
              <a:rPr lang="en-NL" altLang="nl-NL" sz="3200" b="1" dirty="0">
                <a:latin typeface="Times New Roman" panose="02020603050405020304" pitchFamily="18" charset="0"/>
                <a:cs typeface="Times New Roman" panose="02020603050405020304" pitchFamily="18" charset="0"/>
              </a:rPr>
              <a:t>n</a:t>
            </a:r>
            <a:r>
              <a:rPr lang="nl-NL" altLang="nl-NL" sz="3200" b="1" dirty="0">
                <a:latin typeface="Times New Roman" panose="02020603050405020304" pitchFamily="18" charset="0"/>
                <a:cs typeface="Times New Roman" panose="02020603050405020304" pitchFamily="18" charset="0"/>
              </a:rPr>
              <a:t>g</a:t>
            </a:r>
            <a:endParaRPr lang="nl-NL" sz="3200" b="1"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2FE95C55-D6C2-4186-8D96-38D947FD4B67}"/>
              </a:ext>
            </a:extLst>
          </p:cNvPr>
          <p:cNvSpPr txBox="1">
            <a:spLocks noChangeArrowheads="1"/>
          </p:cNvSpPr>
          <p:nvPr/>
        </p:nvSpPr>
        <p:spPr>
          <a:xfrm>
            <a:off x="328474" y="1560270"/>
            <a:ext cx="6606716" cy="5415841"/>
          </a:xfrm>
          <a:prstGeom prst="rect">
            <a:avLst/>
          </a:prstGeom>
        </p:spPr>
        <p:txBody>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US" altLang="nl-NL" sz="2800" dirty="0">
                <a:cs typeface="Times New Roman" panose="02020603050405020304" pitchFamily="18" charset="0"/>
              </a:rPr>
              <a:t>Sorted data for </a:t>
            </a:r>
            <a:r>
              <a:rPr lang="en-NL" altLang="nl-NL" sz="2800" dirty="0">
                <a:cs typeface="Times New Roman" panose="02020603050405020304" pitchFamily="18" charset="0"/>
              </a:rPr>
              <a:t>g</a:t>
            </a:r>
            <a:r>
              <a:rPr lang="nl-NL" altLang="nl-NL" sz="2800" dirty="0">
                <a:cs typeface="Times New Roman" panose="02020603050405020304" pitchFamily="18" charset="0"/>
              </a:rPr>
              <a:t>r</a:t>
            </a:r>
            <a:r>
              <a:rPr lang="en-NL" altLang="nl-NL" sz="2800" dirty="0">
                <a:cs typeface="Times New Roman" panose="02020603050405020304" pitchFamily="18" charset="0"/>
              </a:rPr>
              <a:t>a</a:t>
            </a:r>
            <a:r>
              <a:rPr lang="nl-NL" altLang="nl-NL" sz="2800" dirty="0">
                <a:cs typeface="Times New Roman" panose="02020603050405020304" pitchFamily="18" charset="0"/>
              </a:rPr>
              <a:t>d</a:t>
            </a:r>
            <a:r>
              <a:rPr lang="en-NL" altLang="nl-NL" sz="2800" dirty="0">
                <a:cs typeface="Times New Roman" panose="02020603050405020304" pitchFamily="18" charset="0"/>
              </a:rPr>
              <a:t>e</a:t>
            </a:r>
            <a:r>
              <a:rPr lang="nl-NL" altLang="nl-NL" sz="2800" dirty="0">
                <a:cs typeface="Times New Roman" panose="02020603050405020304" pitchFamily="18" charset="0"/>
              </a:rPr>
              <a:t>s</a:t>
            </a:r>
            <a:r>
              <a:rPr lang="en-US" altLang="nl-NL" sz="2800" dirty="0">
                <a:cs typeface="Times New Roman" panose="02020603050405020304" pitchFamily="18" charset="0"/>
              </a:rPr>
              <a:t> (</a:t>
            </a:r>
            <a:r>
              <a:rPr lang="en-NL" altLang="nl-NL" sz="2800" dirty="0">
                <a:cs typeface="Times New Roman" panose="02020603050405020304" pitchFamily="18" charset="0"/>
              </a:rPr>
              <a:t>out of 50</a:t>
            </a:r>
            <a:r>
              <a:rPr lang="en-US" altLang="nl-NL" sz="2800" dirty="0">
                <a:cs typeface="Times New Roman" panose="02020603050405020304" pitchFamily="18" charset="0"/>
              </a:rPr>
              <a:t>):</a:t>
            </a:r>
            <a:endParaRPr lang="en-NL" altLang="nl-NL" sz="2800" dirty="0">
              <a:cs typeface="Times New Roman" panose="02020603050405020304" pitchFamily="18" charset="0"/>
            </a:endParaRPr>
          </a:p>
          <a:p>
            <a:pPr marL="0" indent="0">
              <a:buNone/>
            </a:pPr>
            <a:r>
              <a:rPr lang="en-US" altLang="nl-NL" sz="2800" dirty="0">
                <a:cs typeface="Times New Roman" panose="02020603050405020304" pitchFamily="18" charset="0"/>
              </a:rPr>
              <a:t>4, 8, 9</a:t>
            </a:r>
            <a:r>
              <a:rPr lang="en-NL" altLang="nl-NL" sz="2800" dirty="0">
                <a:cs typeface="Times New Roman" panose="02020603050405020304" pitchFamily="18" charset="0"/>
              </a:rPr>
              <a:t>, 11</a:t>
            </a:r>
            <a:r>
              <a:rPr lang="en-US" altLang="nl-NL" sz="2800" dirty="0">
                <a:cs typeface="Times New Roman" panose="02020603050405020304" pitchFamily="18" charset="0"/>
              </a:rPr>
              <a:t>, 15, 21, 21, 24,</a:t>
            </a:r>
            <a:r>
              <a:rPr lang="en-NL" altLang="nl-NL" sz="2800" dirty="0">
                <a:cs typeface="Times New Roman" panose="02020603050405020304" pitchFamily="18" charset="0"/>
              </a:rPr>
              <a:t> 24,</a:t>
            </a:r>
            <a:r>
              <a:rPr lang="en-US" altLang="nl-NL" sz="2800" dirty="0">
                <a:cs typeface="Times New Roman" panose="02020603050405020304" pitchFamily="18" charset="0"/>
              </a:rPr>
              <a:t> 25</a:t>
            </a:r>
            <a:r>
              <a:rPr lang="en-NL" altLang="nl-NL" sz="2800" dirty="0">
                <a:cs typeface="Times New Roman" panose="02020603050405020304" pitchFamily="18" charset="0"/>
              </a:rPr>
              <a:t>,26</a:t>
            </a:r>
            <a:r>
              <a:rPr lang="en-US" altLang="nl-NL" sz="2800" dirty="0">
                <a:cs typeface="Times New Roman" panose="02020603050405020304" pitchFamily="18" charset="0"/>
              </a:rPr>
              <a:t>, 28, 29, 34</a:t>
            </a:r>
            <a:r>
              <a:rPr lang="en-NL" altLang="nl-NL" sz="2800" dirty="0">
                <a:cs typeface="Times New Roman" panose="02020603050405020304" pitchFamily="18" charset="0"/>
              </a:rPr>
              <a:t>, 48</a:t>
            </a:r>
            <a:endParaRPr lang="en-US" altLang="nl-NL" sz="2800" dirty="0">
              <a:cs typeface="Times New Roman" panose="02020603050405020304" pitchFamily="18" charset="0"/>
            </a:endParaRPr>
          </a:p>
          <a:p>
            <a:pPr>
              <a:buNone/>
            </a:pPr>
            <a:r>
              <a:rPr lang="en-US" altLang="nl-NL" sz="2800" dirty="0">
                <a:cs typeface="Times New Roman" panose="02020603050405020304" pitchFamily="18" charset="0"/>
              </a:rPr>
              <a:t>Partition into equal-frequency (</a:t>
            </a:r>
            <a:r>
              <a:rPr lang="en-US" altLang="nl-NL" sz="2800" b="1" dirty="0" err="1">
                <a:cs typeface="Times New Roman" panose="02020603050405020304" pitchFamily="18" charset="0"/>
              </a:rPr>
              <a:t>equidepth</a:t>
            </a:r>
            <a:r>
              <a:rPr lang="en-US" altLang="nl-NL" sz="2800" dirty="0">
                <a:cs typeface="Times New Roman" panose="02020603050405020304" pitchFamily="18" charset="0"/>
              </a:rPr>
              <a:t>) bins:</a:t>
            </a:r>
          </a:p>
          <a:p>
            <a:pPr>
              <a:buNone/>
            </a:pPr>
            <a:r>
              <a:rPr lang="en-US" altLang="nl-NL" sz="2800" dirty="0">
                <a:cs typeface="Times New Roman" panose="02020603050405020304" pitchFamily="18" charset="0"/>
              </a:rPr>
              <a:t>      - Bin 1: 4, 8, 9, </a:t>
            </a:r>
            <a:r>
              <a:rPr lang="en-NL" altLang="nl-NL" sz="2800" dirty="0">
                <a:cs typeface="Times New Roman" panose="02020603050405020304" pitchFamily="18" charset="0"/>
              </a:rPr>
              <a:t>11, </a:t>
            </a:r>
            <a:r>
              <a:rPr lang="en-US" altLang="nl-NL" sz="2800" dirty="0">
                <a:cs typeface="Times New Roman" panose="02020603050405020304" pitchFamily="18" charset="0"/>
              </a:rPr>
              <a:t>15</a:t>
            </a:r>
          </a:p>
          <a:p>
            <a:pPr>
              <a:buNone/>
            </a:pPr>
            <a:r>
              <a:rPr lang="en-US" altLang="nl-NL" sz="2800" dirty="0">
                <a:cs typeface="Times New Roman" panose="02020603050405020304" pitchFamily="18" charset="0"/>
              </a:rPr>
              <a:t>      - Bin 2: </a:t>
            </a:r>
            <a:r>
              <a:rPr lang="en-NL" altLang="nl-NL" sz="2800" dirty="0">
                <a:cs typeface="Times New Roman" panose="02020603050405020304" pitchFamily="18" charset="0"/>
              </a:rPr>
              <a:t>21, </a:t>
            </a:r>
            <a:r>
              <a:rPr lang="en-US" altLang="nl-NL" sz="2800" dirty="0">
                <a:cs typeface="Times New Roman" panose="02020603050405020304" pitchFamily="18" charset="0"/>
              </a:rPr>
              <a:t>21, 24, 2</a:t>
            </a:r>
            <a:r>
              <a:rPr lang="en-NL" altLang="nl-NL" sz="2800" dirty="0">
                <a:cs typeface="Times New Roman" panose="02020603050405020304" pitchFamily="18" charset="0"/>
              </a:rPr>
              <a:t>4, 25</a:t>
            </a:r>
            <a:endParaRPr lang="en-US" altLang="nl-NL" sz="2800" dirty="0">
              <a:cs typeface="Times New Roman" panose="02020603050405020304" pitchFamily="18" charset="0"/>
            </a:endParaRPr>
          </a:p>
          <a:p>
            <a:pPr>
              <a:buNone/>
            </a:pPr>
            <a:r>
              <a:rPr lang="en-US" altLang="nl-NL" sz="2800" dirty="0">
                <a:cs typeface="Times New Roman" panose="02020603050405020304" pitchFamily="18" charset="0"/>
              </a:rPr>
              <a:t>      - Bin 3: </a:t>
            </a:r>
            <a:r>
              <a:rPr lang="en-NL" altLang="nl-NL" sz="2800" dirty="0">
                <a:cs typeface="Times New Roman" panose="02020603050405020304" pitchFamily="18" charset="0"/>
              </a:rPr>
              <a:t>26, </a:t>
            </a:r>
            <a:r>
              <a:rPr lang="en-US" altLang="nl-NL" sz="2800" dirty="0">
                <a:cs typeface="Times New Roman" panose="02020603050405020304" pitchFamily="18" charset="0"/>
              </a:rPr>
              <a:t>28, 29, 34</a:t>
            </a:r>
            <a:r>
              <a:rPr lang="en-NL" altLang="nl-NL" sz="2800" dirty="0">
                <a:cs typeface="Times New Roman" panose="02020603050405020304" pitchFamily="18" charset="0"/>
              </a:rPr>
              <a:t>, 48</a:t>
            </a:r>
            <a:endParaRPr lang="en-US" altLang="nl-NL" sz="2800" dirty="0">
              <a:cs typeface="Times New Roman" panose="02020603050405020304" pitchFamily="18" charset="0"/>
            </a:endParaRPr>
          </a:p>
        </p:txBody>
      </p:sp>
      <p:sp>
        <p:nvSpPr>
          <p:cNvPr id="7" name="Rectangle 3">
            <a:extLst>
              <a:ext uri="{FF2B5EF4-FFF2-40B4-BE49-F238E27FC236}">
                <a16:creationId xmlns:a16="http://schemas.microsoft.com/office/drawing/2014/main" id="{55DDAAE4-BFDC-4445-A63A-63B75D08C2CE}"/>
              </a:ext>
            </a:extLst>
          </p:cNvPr>
          <p:cNvSpPr txBox="1">
            <a:spLocks noChangeArrowheads="1"/>
          </p:cNvSpPr>
          <p:nvPr/>
        </p:nvSpPr>
        <p:spPr>
          <a:xfrm>
            <a:off x="6935190" y="1560270"/>
            <a:ext cx="5089491" cy="4758330"/>
          </a:xfrm>
          <a:prstGeom prst="rect">
            <a:avLst/>
          </a:prstGeom>
        </p:spPr>
        <p:txBody>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buNone/>
            </a:pPr>
            <a:r>
              <a:rPr lang="en-US" altLang="nl-NL" sz="2800" dirty="0">
                <a:cs typeface="Times New Roman" panose="02020603050405020304" pitchFamily="18" charset="0"/>
              </a:rPr>
              <a:t>Smoothing by </a:t>
            </a:r>
            <a:r>
              <a:rPr lang="en-US" altLang="nl-NL" sz="2800" b="1" dirty="0">
                <a:cs typeface="Times New Roman" panose="02020603050405020304" pitchFamily="18" charset="0"/>
              </a:rPr>
              <a:t>bin means</a:t>
            </a:r>
            <a:r>
              <a:rPr lang="en-US" altLang="nl-NL" sz="2800" dirty="0">
                <a:cs typeface="Times New Roman" panose="02020603050405020304" pitchFamily="18" charset="0"/>
              </a:rPr>
              <a:t>:</a:t>
            </a:r>
          </a:p>
          <a:p>
            <a:pPr>
              <a:buNone/>
            </a:pPr>
            <a:r>
              <a:rPr lang="en-US" altLang="nl-NL" sz="2800" dirty="0">
                <a:cs typeface="Times New Roman" panose="02020603050405020304" pitchFamily="18" charset="0"/>
              </a:rPr>
              <a:t>      - Bin 1: 9</a:t>
            </a:r>
            <a:r>
              <a:rPr lang="en-NL" altLang="nl-NL" sz="2800" dirty="0">
                <a:cs typeface="Times New Roman" panose="02020603050405020304" pitchFamily="18" charset="0"/>
              </a:rPr>
              <a:t>.4</a:t>
            </a:r>
            <a:r>
              <a:rPr lang="en-US" altLang="nl-NL" sz="2800" dirty="0">
                <a:cs typeface="Times New Roman" panose="02020603050405020304" pitchFamily="18" charset="0"/>
              </a:rPr>
              <a:t>, 9</a:t>
            </a:r>
            <a:r>
              <a:rPr lang="en-NL" altLang="nl-NL" sz="2800" dirty="0">
                <a:cs typeface="Times New Roman" panose="02020603050405020304" pitchFamily="18" charset="0"/>
              </a:rPr>
              <a:t>.4</a:t>
            </a:r>
            <a:r>
              <a:rPr lang="en-US" altLang="nl-NL" sz="2800" dirty="0">
                <a:cs typeface="Times New Roman" panose="02020603050405020304" pitchFamily="18" charset="0"/>
              </a:rPr>
              <a:t>, 9</a:t>
            </a:r>
            <a:r>
              <a:rPr lang="en-NL" altLang="nl-NL" sz="2800" dirty="0">
                <a:cs typeface="Times New Roman" panose="02020603050405020304" pitchFamily="18" charset="0"/>
              </a:rPr>
              <a:t>.4</a:t>
            </a:r>
            <a:r>
              <a:rPr lang="en-US" altLang="nl-NL" sz="2800" dirty="0">
                <a:cs typeface="Times New Roman" panose="02020603050405020304" pitchFamily="18" charset="0"/>
              </a:rPr>
              <a:t>, 9</a:t>
            </a:r>
            <a:r>
              <a:rPr lang="en-NL" altLang="nl-NL" sz="2800" dirty="0">
                <a:cs typeface="Times New Roman" panose="02020603050405020304" pitchFamily="18" charset="0"/>
              </a:rPr>
              <a:t>.4, 9.4</a:t>
            </a:r>
            <a:endParaRPr lang="en-US" altLang="nl-NL" sz="2800" dirty="0">
              <a:cs typeface="Times New Roman" panose="02020603050405020304" pitchFamily="18" charset="0"/>
            </a:endParaRPr>
          </a:p>
          <a:p>
            <a:pPr>
              <a:buNone/>
            </a:pPr>
            <a:r>
              <a:rPr lang="en-US" altLang="nl-NL" sz="2800" dirty="0">
                <a:cs typeface="Times New Roman" panose="02020603050405020304" pitchFamily="18" charset="0"/>
              </a:rPr>
              <a:t>      - Bin 2: 23, 23, 23, 23</a:t>
            </a:r>
            <a:r>
              <a:rPr lang="en-NL" altLang="nl-NL" sz="2800" dirty="0">
                <a:cs typeface="Times New Roman" panose="02020603050405020304" pitchFamily="18" charset="0"/>
              </a:rPr>
              <a:t>, 23</a:t>
            </a:r>
            <a:endParaRPr lang="en-US" altLang="nl-NL" sz="2800" dirty="0">
              <a:cs typeface="Times New Roman" panose="02020603050405020304" pitchFamily="18" charset="0"/>
            </a:endParaRPr>
          </a:p>
          <a:p>
            <a:pPr>
              <a:buNone/>
            </a:pPr>
            <a:r>
              <a:rPr lang="en-US" altLang="nl-NL" sz="2800" dirty="0">
                <a:cs typeface="Times New Roman" panose="02020603050405020304" pitchFamily="18" charset="0"/>
              </a:rPr>
              <a:t>      - Bin 3: </a:t>
            </a:r>
            <a:r>
              <a:rPr lang="en-NL" altLang="nl-NL" sz="2800" dirty="0">
                <a:cs typeface="Times New Roman" panose="02020603050405020304" pitchFamily="18" charset="0"/>
              </a:rPr>
              <a:t>33</a:t>
            </a:r>
            <a:r>
              <a:rPr lang="en-US" altLang="nl-NL" sz="2800" dirty="0">
                <a:cs typeface="Times New Roman" panose="02020603050405020304" pitchFamily="18" charset="0"/>
              </a:rPr>
              <a:t>, </a:t>
            </a:r>
            <a:r>
              <a:rPr lang="en-NL" altLang="nl-NL" sz="2800" dirty="0">
                <a:cs typeface="Times New Roman" panose="02020603050405020304" pitchFamily="18" charset="0"/>
              </a:rPr>
              <a:t>33</a:t>
            </a:r>
            <a:r>
              <a:rPr lang="en-US" altLang="nl-NL" sz="2800" dirty="0">
                <a:cs typeface="Times New Roman" panose="02020603050405020304" pitchFamily="18" charset="0"/>
              </a:rPr>
              <a:t>, </a:t>
            </a:r>
            <a:r>
              <a:rPr lang="en-NL" altLang="nl-NL" sz="2800" dirty="0">
                <a:cs typeface="Times New Roman" panose="02020603050405020304" pitchFamily="18" charset="0"/>
              </a:rPr>
              <a:t>33</a:t>
            </a:r>
            <a:r>
              <a:rPr lang="en-US" altLang="nl-NL" sz="2800" dirty="0">
                <a:cs typeface="Times New Roman" panose="02020603050405020304" pitchFamily="18" charset="0"/>
              </a:rPr>
              <a:t>, </a:t>
            </a:r>
            <a:r>
              <a:rPr lang="en-NL" altLang="nl-NL" sz="2800" dirty="0">
                <a:cs typeface="Times New Roman" panose="02020603050405020304" pitchFamily="18" charset="0"/>
              </a:rPr>
              <a:t>33, 33</a:t>
            </a:r>
            <a:endParaRPr lang="en-US" altLang="nl-NL" sz="2800" dirty="0">
              <a:cs typeface="Times New Roman" panose="02020603050405020304" pitchFamily="18" charset="0"/>
            </a:endParaRPr>
          </a:p>
          <a:p>
            <a:pPr>
              <a:buNone/>
            </a:pPr>
            <a:r>
              <a:rPr lang="en-US" altLang="nl-NL" sz="2800" dirty="0">
                <a:cs typeface="Times New Roman" panose="02020603050405020304" pitchFamily="18" charset="0"/>
              </a:rPr>
              <a:t>Smoothing by </a:t>
            </a:r>
            <a:r>
              <a:rPr lang="en-US" altLang="nl-NL" sz="2800" b="1" dirty="0">
                <a:cs typeface="Times New Roman" panose="02020603050405020304" pitchFamily="18" charset="0"/>
              </a:rPr>
              <a:t>bin boundaries</a:t>
            </a:r>
            <a:r>
              <a:rPr lang="en-US" altLang="nl-NL" sz="2800" dirty="0">
                <a:cs typeface="Times New Roman" panose="02020603050405020304" pitchFamily="18" charset="0"/>
              </a:rPr>
              <a:t>:</a:t>
            </a:r>
          </a:p>
          <a:p>
            <a:pPr>
              <a:buNone/>
            </a:pPr>
            <a:r>
              <a:rPr lang="en-US" altLang="nl-NL" sz="2800" dirty="0">
                <a:cs typeface="Times New Roman" panose="02020603050405020304" pitchFamily="18" charset="0"/>
              </a:rPr>
              <a:t>      - Bin 1: 4, 4, 4, </a:t>
            </a:r>
            <a:r>
              <a:rPr lang="en-NL" altLang="nl-NL" sz="2800" dirty="0">
                <a:cs typeface="Times New Roman" panose="02020603050405020304" pitchFamily="18" charset="0"/>
              </a:rPr>
              <a:t>15, </a:t>
            </a:r>
            <a:r>
              <a:rPr lang="en-US" altLang="nl-NL" sz="2800" dirty="0">
                <a:cs typeface="Times New Roman" panose="02020603050405020304" pitchFamily="18" charset="0"/>
              </a:rPr>
              <a:t>15</a:t>
            </a:r>
          </a:p>
          <a:p>
            <a:pPr>
              <a:buNone/>
            </a:pPr>
            <a:r>
              <a:rPr lang="en-US" altLang="nl-NL" sz="2800" dirty="0">
                <a:cs typeface="Times New Roman" panose="02020603050405020304" pitchFamily="18" charset="0"/>
              </a:rPr>
              <a:t>      - Bin 2: 21, 21, 25, 25</a:t>
            </a:r>
            <a:r>
              <a:rPr lang="en-NL" altLang="nl-NL" sz="2800" dirty="0">
                <a:cs typeface="Times New Roman" panose="02020603050405020304" pitchFamily="18" charset="0"/>
              </a:rPr>
              <a:t>, 25</a:t>
            </a:r>
            <a:endParaRPr lang="en-US" altLang="nl-NL" sz="2800" dirty="0">
              <a:cs typeface="Times New Roman" panose="02020603050405020304" pitchFamily="18" charset="0"/>
            </a:endParaRPr>
          </a:p>
          <a:p>
            <a:pPr>
              <a:buNone/>
            </a:pPr>
            <a:r>
              <a:rPr lang="en-US" altLang="nl-NL" sz="2800" dirty="0">
                <a:cs typeface="Times New Roman" panose="02020603050405020304" pitchFamily="18" charset="0"/>
              </a:rPr>
              <a:t>      - Bin 3: 26, 26, 26, </a:t>
            </a:r>
            <a:r>
              <a:rPr lang="en-NL" altLang="nl-NL" sz="2800" dirty="0">
                <a:cs typeface="Times New Roman" panose="02020603050405020304" pitchFamily="18" charset="0"/>
              </a:rPr>
              <a:t>26, 48</a:t>
            </a:r>
            <a:endParaRPr lang="en-US" altLang="nl-NL" sz="2800" dirty="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86A87F8-BAA4-FE83-82EC-B6B81E03BEBD}"/>
              </a:ext>
            </a:extLst>
          </p:cNvPr>
          <p:cNvSpPr>
            <a:spLocks noGrp="1"/>
          </p:cNvSpPr>
          <p:nvPr>
            <p:ph type="sldNum" sz="quarter" idx="12"/>
          </p:nvPr>
        </p:nvSpPr>
        <p:spPr/>
        <p:txBody>
          <a:bodyPr/>
          <a:lstStyle/>
          <a:p>
            <a:fld id="{F8D8F54C-053C-4394-9990-70DE256B1A6D}" type="slidenum">
              <a:rPr lang="nl-NL" smtClean="0"/>
              <a:t>28</a:t>
            </a:fld>
            <a:endParaRPr lang="nl-NL"/>
          </a:p>
        </p:txBody>
      </p:sp>
    </p:spTree>
    <p:extLst>
      <p:ext uri="{BB962C8B-B14F-4D97-AF65-F5344CB8AC3E}">
        <p14:creationId xmlns:p14="http://schemas.microsoft.com/office/powerpoint/2010/main" val="3951643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11264" y="2715494"/>
            <a:ext cx="8277726" cy="54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Data Cleaning</a:t>
            </a:r>
            <a:endParaRPr lang="nl-NL" b="1"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Text Placeholder 1">
            <a:extLst>
              <a:ext uri="{FF2B5EF4-FFF2-40B4-BE49-F238E27FC236}">
                <a16:creationId xmlns:a16="http://schemas.microsoft.com/office/drawing/2014/main" id="{92F7F081-41A5-4D45-A4DD-33D82E1C5E11}"/>
              </a:ext>
            </a:extLst>
          </p:cNvPr>
          <p:cNvSpPr txBox="1">
            <a:spLocks/>
          </p:cNvSpPr>
          <p:nvPr/>
        </p:nvSpPr>
        <p:spPr>
          <a:xfrm>
            <a:off x="1211264" y="3666839"/>
            <a:ext cx="8277726" cy="54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3- Outliers</a:t>
            </a:r>
            <a:endParaRPr lang="nl-NL" b="1" dirty="0"/>
          </a:p>
        </p:txBody>
      </p:sp>
      <p:sp>
        <p:nvSpPr>
          <p:cNvPr id="5" name="Slide Number Placeholder 4">
            <a:extLst>
              <a:ext uri="{FF2B5EF4-FFF2-40B4-BE49-F238E27FC236}">
                <a16:creationId xmlns:a16="http://schemas.microsoft.com/office/drawing/2014/main" id="{E23913DE-8807-4051-A6B8-AD65A7985B63}"/>
              </a:ext>
            </a:extLst>
          </p:cNvPr>
          <p:cNvSpPr>
            <a:spLocks noGrp="1"/>
          </p:cNvSpPr>
          <p:nvPr>
            <p:ph type="sldNum" sz="quarter" idx="12"/>
          </p:nvPr>
        </p:nvSpPr>
        <p:spPr/>
        <p:txBody>
          <a:bodyPr/>
          <a:lstStyle/>
          <a:p>
            <a:fld id="{F8D8F54C-053C-4394-9990-70DE256B1A6D}" type="slidenum">
              <a:rPr lang="nl-NL" smtClean="0"/>
              <a:t>29</a:t>
            </a:fld>
            <a:endParaRPr lang="nl-NL"/>
          </a:p>
        </p:txBody>
      </p:sp>
    </p:spTree>
    <p:extLst>
      <p:ext uri="{BB962C8B-B14F-4D97-AF65-F5344CB8AC3E}">
        <p14:creationId xmlns:p14="http://schemas.microsoft.com/office/powerpoint/2010/main" val="4188143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9623"/>
            <a:ext cx="10515600" cy="5113252"/>
          </a:xfrm>
        </p:spPr>
        <p:txBody>
          <a:bodyPr>
            <a:normAutofit/>
          </a:bodyPr>
          <a:lstStyle/>
          <a:p>
            <a:r>
              <a:rPr lang="en-US" altLang="nl-NL" dirty="0">
                <a:cs typeface="Times New Roman" panose="02020603050405020304" pitchFamily="18" charset="0"/>
              </a:rPr>
              <a:t>Consider the data points</a:t>
            </a:r>
          </a:p>
          <a:p>
            <a:pPr marL="0" indent="0">
              <a:buNone/>
            </a:pPr>
            <a:r>
              <a:rPr lang="en-US" altLang="nl-NL" dirty="0">
                <a:cs typeface="Times New Roman" panose="02020603050405020304" pitchFamily="18" charset="0"/>
              </a:rPr>
              <a:t>	3, 4, 7, 4, 8, 3, 9, 5, 7, 6, 92</a:t>
            </a:r>
          </a:p>
          <a:p>
            <a:r>
              <a:rPr lang="en-US" altLang="nl-NL" dirty="0">
                <a:cs typeface="Times New Roman" panose="02020603050405020304" pitchFamily="18" charset="0"/>
              </a:rPr>
              <a:t>“92” is suspicious - an </a:t>
            </a:r>
            <a:r>
              <a:rPr lang="en-US" altLang="nl-NL" i="1" dirty="0">
                <a:solidFill>
                  <a:srgbClr val="C00000"/>
                </a:solidFill>
                <a:cs typeface="Times New Roman" panose="02020603050405020304" pitchFamily="18" charset="0"/>
              </a:rPr>
              <a:t>outlier</a:t>
            </a:r>
            <a:endParaRPr lang="en-US" altLang="nl-NL" dirty="0">
              <a:solidFill>
                <a:srgbClr val="C00000"/>
              </a:solidFill>
              <a:cs typeface="Times New Roman" panose="02020603050405020304" pitchFamily="18" charset="0"/>
            </a:endParaRPr>
          </a:p>
          <a:p>
            <a:r>
              <a:rPr lang="en-US" altLang="nl-NL" dirty="0">
                <a:cs typeface="Times New Roman" panose="02020603050405020304" pitchFamily="18" charset="0"/>
              </a:rPr>
              <a:t>Outliers are data or model glitches</a:t>
            </a:r>
            <a:endParaRPr lang="en-US" altLang="nl-NL" sz="2000" dirty="0"/>
          </a:p>
        </p:txBody>
      </p:sp>
      <p:sp>
        <p:nvSpPr>
          <p:cNvPr id="4" name="Rectangle: Rounded Corners 3">
            <a:extLst>
              <a:ext uri="{FF2B5EF4-FFF2-40B4-BE49-F238E27FC236}">
                <a16:creationId xmlns:a16="http://schemas.microsoft.com/office/drawing/2014/main" id="{FD20BEE8-3574-4137-BD70-4DA3B6AA1AA3}"/>
              </a:ext>
            </a:extLst>
          </p:cNvPr>
          <p:cNvSpPr/>
          <p:nvPr/>
        </p:nvSpPr>
        <p:spPr>
          <a:xfrm>
            <a:off x="838200" y="3786927"/>
            <a:ext cx="9638168" cy="2372901"/>
          </a:xfrm>
          <a:prstGeom prst="roundRect">
            <a:avLst/>
          </a:prstGeom>
          <a:solidFill>
            <a:schemeClr val="bg1">
              <a:lumMod val="85000"/>
            </a:schemeClr>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l-NL" sz="2800" dirty="0">
                <a:solidFill>
                  <a:schemeClr val="tx1"/>
                </a:solidFill>
                <a:latin typeface="Times New Roman" panose="02020603050405020304" pitchFamily="18" charset="0"/>
                <a:cs typeface="Times New Roman" panose="02020603050405020304" pitchFamily="18" charset="0"/>
              </a:rPr>
              <a:t>Definition of </a:t>
            </a:r>
            <a:r>
              <a:rPr lang="nl-NL" sz="2800" dirty="0" err="1">
                <a:solidFill>
                  <a:schemeClr val="tx1"/>
                </a:solidFill>
                <a:latin typeface="Times New Roman" panose="02020603050405020304" pitchFamily="18" charset="0"/>
                <a:cs typeface="Times New Roman" panose="02020603050405020304" pitchFamily="18" charset="0"/>
              </a:rPr>
              <a:t>Hawkins</a:t>
            </a:r>
            <a:r>
              <a:rPr lang="nl-NL" sz="2800" dirty="0">
                <a:solidFill>
                  <a:schemeClr val="tx1"/>
                </a:solidFill>
                <a:latin typeface="Times New Roman" panose="02020603050405020304" pitchFamily="18" charset="0"/>
                <a:cs typeface="Times New Roman" panose="02020603050405020304" pitchFamily="18" charset="0"/>
              </a:rPr>
              <a:t> [</a:t>
            </a:r>
            <a:r>
              <a:rPr lang="nl-NL" sz="2200" dirty="0" err="1">
                <a:solidFill>
                  <a:srgbClr val="00B0F0"/>
                </a:solidFill>
                <a:latin typeface="Times New Roman" panose="02020603050405020304" pitchFamily="18" charset="0"/>
                <a:cs typeface="Times New Roman" panose="02020603050405020304" pitchFamily="18" charset="0"/>
              </a:rPr>
              <a:t>Hawkins</a:t>
            </a:r>
            <a:r>
              <a:rPr lang="nl-NL" sz="2200" dirty="0">
                <a:solidFill>
                  <a:srgbClr val="00B0F0"/>
                </a:solidFill>
                <a:latin typeface="Times New Roman" panose="02020603050405020304" pitchFamily="18" charset="0"/>
                <a:cs typeface="Times New Roman" panose="02020603050405020304" pitchFamily="18" charset="0"/>
              </a:rPr>
              <a:t> 1980</a:t>
            </a:r>
            <a:r>
              <a:rPr lang="nl-NL" sz="2800" dirty="0">
                <a:solidFill>
                  <a:schemeClr val="tx1"/>
                </a:solidFill>
                <a:latin typeface="Times New Roman" panose="02020603050405020304" pitchFamily="18" charset="0"/>
                <a:cs typeface="Times New Roman" panose="02020603050405020304" pitchFamily="18" charset="0"/>
              </a:rPr>
              <a:t>]:</a:t>
            </a:r>
          </a:p>
          <a:p>
            <a:r>
              <a:rPr lang="nl-NL" sz="2800" dirty="0">
                <a:solidFill>
                  <a:schemeClr val="tx1"/>
                </a:solidFill>
                <a:latin typeface="Times New Roman" panose="02020603050405020304" pitchFamily="18" charset="0"/>
                <a:cs typeface="Times New Roman" panose="02020603050405020304" pitchFamily="18" charset="0"/>
              </a:rPr>
              <a:t>“An </a:t>
            </a:r>
            <a:r>
              <a:rPr lang="nl-NL" sz="2800" dirty="0" err="1">
                <a:solidFill>
                  <a:schemeClr val="tx1"/>
                </a:solidFill>
                <a:latin typeface="Times New Roman" panose="02020603050405020304" pitchFamily="18" charset="0"/>
                <a:cs typeface="Times New Roman" panose="02020603050405020304" pitchFamily="18" charset="0"/>
              </a:rPr>
              <a:t>outlier</a:t>
            </a:r>
            <a:r>
              <a:rPr lang="nl-NL" sz="2800" dirty="0">
                <a:solidFill>
                  <a:schemeClr val="tx1"/>
                </a:solidFill>
                <a:latin typeface="Times New Roman" panose="02020603050405020304" pitchFamily="18" charset="0"/>
                <a:cs typeface="Times New Roman" panose="02020603050405020304" pitchFamily="18" charset="0"/>
              </a:rPr>
              <a:t> is </a:t>
            </a:r>
            <a:r>
              <a:rPr lang="nl-NL" sz="2800" dirty="0" err="1">
                <a:solidFill>
                  <a:schemeClr val="tx1"/>
                </a:solidFill>
                <a:latin typeface="Times New Roman" panose="02020603050405020304" pitchFamily="18" charset="0"/>
                <a:cs typeface="Times New Roman" panose="02020603050405020304" pitchFamily="18" charset="0"/>
              </a:rPr>
              <a:t>an</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observation</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which</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deviates</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so</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much</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from</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the</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other</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observations</a:t>
            </a:r>
            <a:r>
              <a:rPr lang="nl-NL" sz="2800" dirty="0">
                <a:solidFill>
                  <a:schemeClr val="tx1"/>
                </a:solidFill>
                <a:latin typeface="Times New Roman" panose="02020603050405020304" pitchFamily="18" charset="0"/>
                <a:cs typeface="Times New Roman" panose="02020603050405020304" pitchFamily="18" charset="0"/>
              </a:rPr>
              <a:t> as </a:t>
            </a:r>
            <a:r>
              <a:rPr lang="nl-NL" sz="2800" dirty="0" err="1">
                <a:solidFill>
                  <a:schemeClr val="tx1"/>
                </a:solidFill>
                <a:latin typeface="Times New Roman" panose="02020603050405020304" pitchFamily="18" charset="0"/>
                <a:cs typeface="Times New Roman" panose="02020603050405020304" pitchFamily="18" charset="0"/>
              </a:rPr>
              <a:t>to</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arouse</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suspicions</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that</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it</a:t>
            </a:r>
            <a:r>
              <a:rPr lang="nl-NL" sz="2800" dirty="0">
                <a:solidFill>
                  <a:schemeClr val="tx1"/>
                </a:solidFill>
                <a:latin typeface="Times New Roman" panose="02020603050405020304" pitchFamily="18" charset="0"/>
                <a:cs typeface="Times New Roman" panose="02020603050405020304" pitchFamily="18" charset="0"/>
              </a:rPr>
              <a:t> was </a:t>
            </a:r>
            <a:r>
              <a:rPr lang="nl-NL" sz="2800" dirty="0" err="1">
                <a:solidFill>
                  <a:schemeClr val="tx1"/>
                </a:solidFill>
                <a:latin typeface="Times New Roman" panose="02020603050405020304" pitchFamily="18" charset="0"/>
                <a:cs typeface="Times New Roman" panose="02020603050405020304" pitchFamily="18" charset="0"/>
              </a:rPr>
              <a:t>generated</a:t>
            </a:r>
            <a:r>
              <a:rPr lang="nl-NL" sz="2800" dirty="0">
                <a:solidFill>
                  <a:schemeClr val="tx1"/>
                </a:solidFill>
                <a:latin typeface="Times New Roman" panose="02020603050405020304" pitchFamily="18" charset="0"/>
                <a:cs typeface="Times New Roman" panose="02020603050405020304" pitchFamily="18" charset="0"/>
              </a:rPr>
              <a:t> </a:t>
            </a:r>
            <a:r>
              <a:rPr lang="nl-NL" sz="2800" dirty="0" err="1">
                <a:solidFill>
                  <a:schemeClr val="tx1"/>
                </a:solidFill>
                <a:latin typeface="Times New Roman" panose="02020603050405020304" pitchFamily="18" charset="0"/>
                <a:cs typeface="Times New Roman" panose="02020603050405020304" pitchFamily="18" charset="0"/>
              </a:rPr>
              <a:t>by</a:t>
            </a:r>
            <a:r>
              <a:rPr lang="nl-NL" sz="2800" dirty="0">
                <a:solidFill>
                  <a:schemeClr val="tx1"/>
                </a:solidFill>
                <a:latin typeface="Times New Roman" panose="02020603050405020304" pitchFamily="18" charset="0"/>
                <a:cs typeface="Times New Roman" panose="02020603050405020304" pitchFamily="18" charset="0"/>
              </a:rPr>
              <a:t> a different </a:t>
            </a:r>
            <a:r>
              <a:rPr lang="nl-NL" sz="2800" dirty="0" err="1">
                <a:solidFill>
                  <a:schemeClr val="tx1"/>
                </a:solidFill>
                <a:latin typeface="Times New Roman" panose="02020603050405020304" pitchFamily="18" charset="0"/>
                <a:cs typeface="Times New Roman" panose="02020603050405020304" pitchFamily="18" charset="0"/>
              </a:rPr>
              <a:t>mechanism</a:t>
            </a:r>
            <a:r>
              <a:rPr lang="nl-NL" sz="2800" dirty="0">
                <a:solidFill>
                  <a:schemeClr val="tx1"/>
                </a:solidFill>
                <a:latin typeface="Times New Roman" panose="02020603050405020304" pitchFamily="18" charset="0"/>
                <a:cs typeface="Times New Roman" panose="02020603050405020304" pitchFamily="18" charset="0"/>
              </a:rPr>
              <a:t>”</a:t>
            </a:r>
          </a:p>
          <a:p>
            <a:pPr algn="ctr"/>
            <a:endParaRPr lang="nl-NL" sz="28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F56EF94-F3BF-2EFE-D99D-C69C7A93EC67}"/>
              </a:ext>
            </a:extLst>
          </p:cNvPr>
          <p:cNvSpPr>
            <a:spLocks noGrp="1"/>
          </p:cNvSpPr>
          <p:nvPr>
            <p:ph type="sldNum" sz="quarter" idx="12"/>
          </p:nvPr>
        </p:nvSpPr>
        <p:spPr/>
        <p:txBody>
          <a:bodyPr/>
          <a:lstStyle/>
          <a:p>
            <a:fld id="{F8D8F54C-053C-4394-9990-70DE256B1A6D}" type="slidenum">
              <a:rPr lang="nl-NL" smtClean="0"/>
              <a:t>30</a:t>
            </a:fld>
            <a:endParaRPr lang="nl-NL"/>
          </a:p>
        </p:txBody>
      </p:sp>
    </p:spTree>
    <p:extLst>
      <p:ext uri="{BB962C8B-B14F-4D97-AF65-F5344CB8AC3E}">
        <p14:creationId xmlns:p14="http://schemas.microsoft.com/office/powerpoint/2010/main" val="1252691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a:latin typeface="Times New Roman" panose="02020603050405020304" pitchFamily="18" charset="0"/>
                <a:cs typeface="Times New Roman" panose="02020603050405020304" pitchFamily="18" charset="0"/>
              </a:rPr>
              <a:t>Outliers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204912"/>
            <a:ext cx="10515600" cy="5113252"/>
          </a:xfrm>
        </p:spPr>
        <p:txBody>
          <a:bodyPr>
            <a:noAutofit/>
          </a:bodyPr>
          <a:lstStyle/>
          <a:p>
            <a:r>
              <a:rPr lang="en-US" altLang="nl-NL" dirty="0"/>
              <a:t>Outliers are interesting:  they violate the mechanism that generates the normal data</a:t>
            </a:r>
          </a:p>
          <a:p>
            <a:r>
              <a:rPr lang="en-US" altLang="nl-NL" dirty="0"/>
              <a:t>Outlier detection vs. </a:t>
            </a:r>
            <a:r>
              <a:rPr lang="en-US" altLang="nl-NL" i="1" dirty="0"/>
              <a:t>novelty detection</a:t>
            </a:r>
            <a:r>
              <a:rPr lang="en-US" altLang="nl-NL" dirty="0"/>
              <a:t>: early stage, outlier; but later merged into the model</a:t>
            </a:r>
          </a:p>
          <a:p>
            <a:r>
              <a:rPr lang="en-US" altLang="nl-NL" dirty="0"/>
              <a:t>Applications:</a:t>
            </a:r>
          </a:p>
          <a:p>
            <a:pPr lvl="1"/>
            <a:r>
              <a:rPr lang="en-US" altLang="nl-NL" dirty="0"/>
              <a:t>Credit card fraud detection</a:t>
            </a:r>
          </a:p>
          <a:p>
            <a:pPr lvl="1"/>
            <a:r>
              <a:rPr lang="en-US" altLang="nl-NL" dirty="0"/>
              <a:t>Telecom fraud detection</a:t>
            </a:r>
          </a:p>
          <a:p>
            <a:pPr lvl="1"/>
            <a:r>
              <a:rPr lang="en-US" altLang="nl-NL" dirty="0"/>
              <a:t>Customer segmentation</a:t>
            </a:r>
          </a:p>
          <a:p>
            <a:pPr lvl="1"/>
            <a:r>
              <a:rPr lang="en-US" altLang="nl-NL" dirty="0"/>
              <a:t>Medical analysis</a:t>
            </a:r>
          </a:p>
        </p:txBody>
      </p:sp>
      <p:grpSp>
        <p:nvGrpSpPr>
          <p:cNvPr id="7" name="Group 6">
            <a:extLst>
              <a:ext uri="{FF2B5EF4-FFF2-40B4-BE49-F238E27FC236}">
                <a16:creationId xmlns:a16="http://schemas.microsoft.com/office/drawing/2014/main" id="{7483CDAF-02B4-45BE-8F8B-B2897A59F698}"/>
              </a:ext>
            </a:extLst>
          </p:cNvPr>
          <p:cNvGrpSpPr/>
          <p:nvPr/>
        </p:nvGrpSpPr>
        <p:grpSpPr>
          <a:xfrm>
            <a:off x="9317357" y="4389062"/>
            <a:ext cx="2230064" cy="1819437"/>
            <a:chOff x="5737030" y="4311789"/>
            <a:chExt cx="2230064" cy="1819437"/>
          </a:xfrm>
        </p:grpSpPr>
        <p:pic>
          <p:nvPicPr>
            <p:cNvPr id="8" name="Picture 8">
              <a:extLst>
                <a:ext uri="{FF2B5EF4-FFF2-40B4-BE49-F238E27FC236}">
                  <a16:creationId xmlns:a16="http://schemas.microsoft.com/office/drawing/2014/main" id="{96861EB1-3108-4235-9D2E-8868139E80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970"/>
            <a:stretch/>
          </p:blipFill>
          <p:spPr bwMode="auto">
            <a:xfrm>
              <a:off x="5737030" y="4451651"/>
              <a:ext cx="2230064"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824EEEC0-BE44-46A1-8AC7-B31017926556}"/>
                    </a:ext>
                  </a:extLst>
                </p:cNvPr>
                <p:cNvSpPr/>
                <p:nvPr/>
              </p:nvSpPr>
              <p:spPr>
                <a:xfrm>
                  <a:off x="6942215" y="4311789"/>
                  <a:ext cx="515155" cy="53583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 </m:t>
                        </m:r>
                        <m:r>
                          <a:rPr lang="en-US" sz="3200" b="0" i="1" smtClean="0">
                            <a:solidFill>
                              <a:srgbClr val="C00000"/>
                            </a:solidFill>
                            <a:latin typeface="Cambria Math" panose="02040503050406030204" pitchFamily="18" charset="0"/>
                          </a:rPr>
                          <m:t>𝑂</m:t>
                        </m:r>
                      </m:oMath>
                    </m:oMathPara>
                  </a14:m>
                  <a:endParaRPr lang="nl-NL" sz="3200" dirty="0"/>
                </a:p>
              </p:txBody>
            </p:sp>
          </mc:Choice>
          <mc:Fallback xmlns="">
            <p:sp>
              <p:nvSpPr>
                <p:cNvPr id="9" name="Oval 8">
                  <a:extLst>
                    <a:ext uri="{FF2B5EF4-FFF2-40B4-BE49-F238E27FC236}">
                      <a16:creationId xmlns:a16="http://schemas.microsoft.com/office/drawing/2014/main" id="{824EEEC0-BE44-46A1-8AC7-B31017926556}"/>
                    </a:ext>
                  </a:extLst>
                </p:cNvPr>
                <p:cNvSpPr>
                  <a:spLocks noRot="1" noChangeAspect="1" noMove="1" noResize="1" noEditPoints="1" noAdjustHandles="1" noChangeArrowheads="1" noChangeShapeType="1" noTextEdit="1"/>
                </p:cNvSpPr>
                <p:nvPr/>
              </p:nvSpPr>
              <p:spPr>
                <a:xfrm>
                  <a:off x="6942215" y="4311789"/>
                  <a:ext cx="515155" cy="535834"/>
                </a:xfrm>
                <a:prstGeom prst="ellipse">
                  <a:avLst/>
                </a:prstGeom>
                <a:blipFill>
                  <a:blip r:embed="rId3"/>
                  <a:stretch>
                    <a:fillRect/>
                  </a:stretch>
                </a:blipFill>
                <a:ln>
                  <a:solidFill>
                    <a:schemeClr val="bg1"/>
                  </a:solidFill>
                </a:ln>
              </p:spPr>
              <p:txBody>
                <a:bodyPr/>
                <a:lstStyle/>
                <a:p>
                  <a:r>
                    <a:rPr lang="nl-NL">
                      <a:noFill/>
                    </a:rPr>
                    <a:t> </a:t>
                  </a:r>
                </a:p>
              </p:txBody>
            </p:sp>
          </mc:Fallback>
        </mc:AlternateContent>
      </p:grpSp>
      <p:sp>
        <p:nvSpPr>
          <p:cNvPr id="4" name="Slide Number Placeholder 3">
            <a:extLst>
              <a:ext uri="{FF2B5EF4-FFF2-40B4-BE49-F238E27FC236}">
                <a16:creationId xmlns:a16="http://schemas.microsoft.com/office/drawing/2014/main" id="{B1CE8963-E882-808D-1272-B397F4BFDEB7}"/>
              </a:ext>
            </a:extLst>
          </p:cNvPr>
          <p:cNvSpPr>
            <a:spLocks noGrp="1"/>
          </p:cNvSpPr>
          <p:nvPr>
            <p:ph type="sldNum" sz="quarter" idx="12"/>
          </p:nvPr>
        </p:nvSpPr>
        <p:spPr/>
        <p:txBody>
          <a:bodyPr/>
          <a:lstStyle/>
          <a:p>
            <a:fld id="{F8D8F54C-053C-4394-9990-70DE256B1A6D}" type="slidenum">
              <a:rPr lang="nl-NL" smtClean="0"/>
              <a:t>31</a:t>
            </a:fld>
            <a:endParaRPr lang="nl-NL"/>
          </a:p>
        </p:txBody>
      </p:sp>
    </p:spTree>
    <p:extLst>
      <p:ext uri="{BB962C8B-B14F-4D97-AF65-F5344CB8AC3E}">
        <p14:creationId xmlns:p14="http://schemas.microsoft.com/office/powerpoint/2010/main" val="3414100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Types of Outliers</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204912"/>
                <a:ext cx="10515600" cy="5113252"/>
              </a:xfrm>
            </p:spPr>
            <p:txBody>
              <a:bodyPr>
                <a:noAutofit/>
              </a:bodyPr>
              <a:lstStyle/>
              <a:p>
                <a:r>
                  <a:rPr lang="en-US" altLang="nl-NL" dirty="0"/>
                  <a:t>Three kinds: </a:t>
                </a:r>
                <a:r>
                  <a:rPr lang="en-US" altLang="nl-NL" i="1" dirty="0"/>
                  <a:t>global, contextual</a:t>
                </a:r>
                <a:r>
                  <a:rPr lang="en-US" altLang="nl-NL" dirty="0"/>
                  <a:t> and </a:t>
                </a:r>
                <a:r>
                  <a:rPr lang="en-US" altLang="nl-NL" i="1" dirty="0"/>
                  <a:t>collective </a:t>
                </a:r>
                <a:r>
                  <a:rPr lang="en-US" altLang="nl-NL" dirty="0"/>
                  <a:t>outliers</a:t>
                </a:r>
                <a:endParaRPr lang="en-US" altLang="nl-NL" i="1" dirty="0"/>
              </a:p>
              <a:p>
                <a:r>
                  <a:rPr lang="en-US" altLang="nl-NL" b="1" dirty="0"/>
                  <a:t>Global outlier</a:t>
                </a:r>
                <a:r>
                  <a:rPr lang="en-US" altLang="nl-NL" dirty="0"/>
                  <a:t> (or point anomaly)</a:t>
                </a:r>
              </a:p>
              <a:p>
                <a:pPr lvl="1"/>
                <a:r>
                  <a:rPr lang="en-US" altLang="nl-NL" dirty="0"/>
                  <a:t>Object is a global outlier (</a:t>
                </a:r>
                <a14:m>
                  <m:oMath xmlns:m="http://schemas.openxmlformats.org/officeDocument/2006/math">
                    <m:sSub>
                      <m:sSubPr>
                        <m:ctrlPr>
                          <a:rPr lang="en-US" altLang="nl-NL" b="0" i="1" smtClean="0">
                            <a:latin typeface="Cambria Math" panose="02040503050406030204" pitchFamily="18" charset="0"/>
                          </a:rPr>
                        </m:ctrlPr>
                      </m:sSubPr>
                      <m:e>
                        <m:r>
                          <a:rPr lang="en-US" altLang="nl-NL" b="0" i="1" smtClean="0">
                            <a:latin typeface="Cambria Math" panose="02040503050406030204" pitchFamily="18" charset="0"/>
                          </a:rPr>
                          <m:t>𝑜</m:t>
                        </m:r>
                      </m:e>
                      <m:sub>
                        <m:r>
                          <a:rPr lang="en-US" altLang="nl-NL" b="0" i="1" smtClean="0">
                            <a:latin typeface="Cambria Math" panose="02040503050406030204" pitchFamily="18" charset="0"/>
                          </a:rPr>
                          <m:t>𝑔</m:t>
                        </m:r>
                      </m:sub>
                    </m:sSub>
                  </m:oMath>
                </a14:m>
                <a:r>
                  <a:rPr lang="en-US" altLang="nl-NL" dirty="0"/>
                  <a:t>) if it significantly deviates from the rest of the data set</a:t>
                </a:r>
              </a:p>
              <a:p>
                <a:pPr lvl="1"/>
                <a:r>
                  <a:rPr lang="en-US" altLang="nl-NL" dirty="0"/>
                  <a:t>Ex. Intrusion detection in computer networks</a:t>
                </a:r>
              </a:p>
              <a:p>
                <a:pPr lvl="1"/>
                <a:r>
                  <a:rPr lang="en-US" altLang="nl-NL" dirty="0"/>
                  <a:t>Issue: Find an appropriate measurement of deviation</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83024" y="1204912"/>
                <a:ext cx="10515600" cy="5113252"/>
              </a:xfrm>
              <a:blipFill>
                <a:blip r:embed="rId2"/>
                <a:stretch>
                  <a:fillRect l="-1043" t="-2029"/>
                </a:stretch>
              </a:blipFill>
            </p:spPr>
            <p:txBody>
              <a:bodyPr/>
              <a:lstStyle/>
              <a:p>
                <a:r>
                  <a:rPr lang="nl-NL">
                    <a:noFill/>
                  </a:rPr>
                  <a:t> </a:t>
                </a:r>
              </a:p>
            </p:txBody>
          </p:sp>
        </mc:Fallback>
      </mc:AlternateContent>
      <p:sp>
        <p:nvSpPr>
          <p:cNvPr id="6" name="Speech Bubble: Oval 5">
            <a:extLst>
              <a:ext uri="{FF2B5EF4-FFF2-40B4-BE49-F238E27FC236}">
                <a16:creationId xmlns:a16="http://schemas.microsoft.com/office/drawing/2014/main" id="{A536A6B8-EB23-4E4F-B9DE-B4A33BD2ABE1}"/>
              </a:ext>
            </a:extLst>
          </p:cNvPr>
          <p:cNvSpPr/>
          <p:nvPr/>
        </p:nvSpPr>
        <p:spPr>
          <a:xfrm>
            <a:off x="8680862" y="3442678"/>
            <a:ext cx="3068315" cy="812429"/>
          </a:xfrm>
          <a:prstGeom prst="wedgeEllipseCallout">
            <a:avLst>
              <a:gd name="adj1" fmla="val -72374"/>
              <a:gd name="adj2" fmla="val 10503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nl-NL" sz="2400" dirty="0">
                <a:solidFill>
                  <a:schemeClr val="tx1"/>
                </a:solidFill>
              </a:rPr>
              <a:t>Global Outliers</a:t>
            </a:r>
            <a:endParaRPr lang="nl-NL" dirty="0"/>
          </a:p>
        </p:txBody>
      </p:sp>
      <p:grpSp>
        <p:nvGrpSpPr>
          <p:cNvPr id="8" name="Group 7">
            <a:extLst>
              <a:ext uri="{FF2B5EF4-FFF2-40B4-BE49-F238E27FC236}">
                <a16:creationId xmlns:a16="http://schemas.microsoft.com/office/drawing/2014/main" id="{F67537A8-26F1-427F-9631-B0133FCE7EB8}"/>
              </a:ext>
            </a:extLst>
          </p:cNvPr>
          <p:cNvGrpSpPr/>
          <p:nvPr/>
        </p:nvGrpSpPr>
        <p:grpSpPr>
          <a:xfrm>
            <a:off x="5737030" y="4311789"/>
            <a:ext cx="2230064" cy="1819437"/>
            <a:chOff x="5737030" y="4311789"/>
            <a:chExt cx="2230064" cy="1819437"/>
          </a:xfrm>
        </p:grpSpPr>
        <p:pic>
          <p:nvPicPr>
            <p:cNvPr id="5" name="Picture 8">
              <a:extLst>
                <a:ext uri="{FF2B5EF4-FFF2-40B4-BE49-F238E27FC236}">
                  <a16:creationId xmlns:a16="http://schemas.microsoft.com/office/drawing/2014/main" id="{A4E6A368-E783-4343-9684-751359106A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70"/>
            <a:stretch/>
          </p:blipFill>
          <p:spPr bwMode="auto">
            <a:xfrm>
              <a:off x="5737030" y="4451651"/>
              <a:ext cx="2230064"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A8787AFE-0E5B-46D3-967A-008E024BE864}"/>
                    </a:ext>
                  </a:extLst>
                </p:cNvPr>
                <p:cNvSpPr/>
                <p:nvPr/>
              </p:nvSpPr>
              <p:spPr>
                <a:xfrm>
                  <a:off x="6942215" y="4311789"/>
                  <a:ext cx="515155" cy="53583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 </m:t>
                        </m:r>
                        <m:r>
                          <a:rPr lang="en-US" sz="3200" b="0" i="1" smtClean="0">
                            <a:solidFill>
                              <a:srgbClr val="C00000"/>
                            </a:solidFill>
                            <a:latin typeface="Cambria Math" panose="02040503050406030204" pitchFamily="18" charset="0"/>
                          </a:rPr>
                          <m:t>𝑂</m:t>
                        </m:r>
                      </m:oMath>
                    </m:oMathPara>
                  </a14:m>
                  <a:endParaRPr lang="nl-NL" sz="3200" dirty="0"/>
                </a:p>
              </p:txBody>
            </p:sp>
          </mc:Choice>
          <mc:Fallback xmlns="">
            <p:sp>
              <p:nvSpPr>
                <p:cNvPr id="7" name="Oval 6">
                  <a:extLst>
                    <a:ext uri="{FF2B5EF4-FFF2-40B4-BE49-F238E27FC236}">
                      <a16:creationId xmlns:a16="http://schemas.microsoft.com/office/drawing/2014/main" id="{A8787AFE-0E5B-46D3-967A-008E024BE864}"/>
                    </a:ext>
                  </a:extLst>
                </p:cNvPr>
                <p:cNvSpPr>
                  <a:spLocks noRot="1" noChangeAspect="1" noMove="1" noResize="1" noEditPoints="1" noAdjustHandles="1" noChangeArrowheads="1" noChangeShapeType="1" noTextEdit="1"/>
                </p:cNvSpPr>
                <p:nvPr/>
              </p:nvSpPr>
              <p:spPr>
                <a:xfrm>
                  <a:off x="6942215" y="4311789"/>
                  <a:ext cx="515155" cy="535834"/>
                </a:xfrm>
                <a:prstGeom prst="ellipse">
                  <a:avLst/>
                </a:prstGeom>
                <a:blipFill>
                  <a:blip r:embed="rId4"/>
                  <a:stretch>
                    <a:fillRect/>
                  </a:stretch>
                </a:blipFill>
                <a:ln>
                  <a:solidFill>
                    <a:schemeClr val="bg1"/>
                  </a:solidFill>
                </a:ln>
              </p:spPr>
              <p:txBody>
                <a:bodyPr/>
                <a:lstStyle/>
                <a:p>
                  <a:r>
                    <a:rPr lang="nl-NL">
                      <a:noFill/>
                    </a:rPr>
                    <a:t> </a:t>
                  </a:r>
                </a:p>
              </p:txBody>
            </p:sp>
          </mc:Fallback>
        </mc:AlternateContent>
      </p:grpSp>
      <p:sp>
        <p:nvSpPr>
          <p:cNvPr id="4" name="Slide Number Placeholder 3">
            <a:extLst>
              <a:ext uri="{FF2B5EF4-FFF2-40B4-BE49-F238E27FC236}">
                <a16:creationId xmlns:a16="http://schemas.microsoft.com/office/drawing/2014/main" id="{66F5E79D-C788-2C85-8595-9B6C6A99A33C}"/>
              </a:ext>
            </a:extLst>
          </p:cNvPr>
          <p:cNvSpPr>
            <a:spLocks noGrp="1"/>
          </p:cNvSpPr>
          <p:nvPr>
            <p:ph type="sldNum" sz="quarter" idx="12"/>
          </p:nvPr>
        </p:nvSpPr>
        <p:spPr/>
        <p:txBody>
          <a:bodyPr/>
          <a:lstStyle/>
          <a:p>
            <a:fld id="{F8D8F54C-053C-4394-9990-70DE256B1A6D}" type="slidenum">
              <a:rPr lang="nl-NL" smtClean="0"/>
              <a:t>32</a:t>
            </a:fld>
            <a:endParaRPr lang="nl-NL"/>
          </a:p>
        </p:txBody>
      </p:sp>
    </p:spTree>
    <p:extLst>
      <p:ext uri="{BB962C8B-B14F-4D97-AF65-F5344CB8AC3E}">
        <p14:creationId xmlns:p14="http://schemas.microsoft.com/office/powerpoint/2010/main" val="2981922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Types of Outliers (Cont.)</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9622"/>
                <a:ext cx="10515600" cy="5113252"/>
              </a:xfrm>
            </p:spPr>
            <p:txBody>
              <a:bodyPr>
                <a:noAutofit/>
              </a:bodyPr>
              <a:lstStyle/>
              <a:p>
                <a:r>
                  <a:rPr lang="en-US" altLang="nl-NL" b="1" dirty="0"/>
                  <a:t>Contextual outlier</a:t>
                </a:r>
                <a:r>
                  <a:rPr lang="en-US" altLang="nl-NL" dirty="0"/>
                  <a:t> (or </a:t>
                </a:r>
                <a:r>
                  <a:rPr lang="en-US" altLang="nl-NL" i="1" dirty="0"/>
                  <a:t>conditional outlier</a:t>
                </a:r>
                <a:r>
                  <a:rPr lang="en-US" altLang="nl-NL" dirty="0"/>
                  <a:t>)</a:t>
                </a:r>
              </a:p>
              <a:p>
                <a:pPr lvl="1"/>
                <a:r>
                  <a:rPr lang="en-US" altLang="nl-NL" dirty="0"/>
                  <a:t>Object is </a:t>
                </a:r>
                <a14:m>
                  <m:oMath xmlns:m="http://schemas.openxmlformats.org/officeDocument/2006/math">
                    <m:sSub>
                      <m:sSubPr>
                        <m:ctrlPr>
                          <a:rPr lang="en-US" altLang="nl-NL" b="0" i="1" smtClean="0">
                            <a:latin typeface="Cambria Math" panose="02040503050406030204" pitchFamily="18" charset="0"/>
                          </a:rPr>
                        </m:ctrlPr>
                      </m:sSubPr>
                      <m:e>
                        <m:r>
                          <a:rPr lang="en-US" altLang="nl-NL" b="0" i="1" smtClean="0">
                            <a:latin typeface="Cambria Math" panose="02040503050406030204" pitchFamily="18" charset="0"/>
                          </a:rPr>
                          <m:t>𝑜</m:t>
                        </m:r>
                      </m:e>
                      <m:sub>
                        <m:r>
                          <a:rPr lang="en-US" altLang="nl-NL" b="0" i="1" smtClean="0">
                            <a:latin typeface="Cambria Math" panose="02040503050406030204" pitchFamily="18" charset="0"/>
                          </a:rPr>
                          <m:t>𝑐</m:t>
                        </m:r>
                      </m:sub>
                    </m:sSub>
                  </m:oMath>
                </a14:m>
                <a:r>
                  <a:rPr lang="en-US" altLang="nl-NL" dirty="0"/>
                  <a:t> if it deviates significantly based on a selected context</a:t>
                </a:r>
              </a:p>
              <a:p>
                <a:pPr lvl="1"/>
                <a:r>
                  <a:rPr lang="en-US" altLang="nl-NL" dirty="0"/>
                  <a:t>Ex. 20</a:t>
                </a:r>
                <a:r>
                  <a:rPr lang="en-US" altLang="nl-NL" baseline="30000" dirty="0"/>
                  <a:t>o</a:t>
                </a:r>
                <a:r>
                  <a:rPr lang="en-US" altLang="nl-NL" dirty="0"/>
                  <a:t> C in Utrecht: outlier? (depending on summer or winter?)</a:t>
                </a:r>
              </a:p>
              <a:p>
                <a:pPr lvl="1"/>
                <a:r>
                  <a:rPr lang="en-US" altLang="nl-NL" dirty="0"/>
                  <a:t>Attributes of data objects should be divided into two groups </a:t>
                </a:r>
              </a:p>
              <a:p>
                <a:pPr lvl="2"/>
                <a:r>
                  <a:rPr lang="en-US" altLang="nl-NL" sz="2200" dirty="0"/>
                  <a:t>Contextual attributes: defines the context, e.g., time &amp; location </a:t>
                </a:r>
              </a:p>
              <a:p>
                <a:pPr lvl="2"/>
                <a:r>
                  <a:rPr lang="en-US" altLang="nl-NL" sz="2200" dirty="0"/>
                  <a:t>Behavioral attributes:  characteristics of the object, used in outlier evaluation, e.g., temperature</a:t>
                </a:r>
              </a:p>
              <a:p>
                <a:pPr lvl="1"/>
                <a:r>
                  <a:rPr lang="en-US" altLang="nl-NL" dirty="0"/>
                  <a:t>Can be viewed as a generalization of </a:t>
                </a:r>
                <a:r>
                  <a:rPr lang="en-US" altLang="nl-NL" i="1" dirty="0"/>
                  <a:t>local outliers</a:t>
                </a:r>
                <a:r>
                  <a:rPr lang="en-US" altLang="nl-NL" dirty="0">
                    <a:cs typeface="Arial" panose="020B0604020202020204" pitchFamily="34" charset="0"/>
                  </a:rPr>
                  <a:t>—</a:t>
                </a:r>
                <a:r>
                  <a:rPr lang="en-US" altLang="nl-NL" dirty="0"/>
                  <a:t>whose density significantly deviates from its local area</a:t>
                </a:r>
              </a:p>
              <a:p>
                <a:pPr lvl="1"/>
                <a:r>
                  <a:rPr lang="en-US" altLang="nl-NL" dirty="0"/>
                  <a:t>Issue: How to define or formulate meaningful context?</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379622"/>
                <a:ext cx="10515600" cy="5113252"/>
              </a:xfrm>
              <a:blipFill>
                <a:blip r:embed="rId2"/>
                <a:stretch>
                  <a:fillRect l="-1043" t="-1907"/>
                </a:stretch>
              </a:blipFill>
            </p:spPr>
            <p:txBody>
              <a:bodyPr/>
              <a:lstStyle/>
              <a:p>
                <a:r>
                  <a:rPr lang="nl-NL">
                    <a:noFill/>
                  </a:rPr>
                  <a:t> </a:t>
                </a:r>
              </a:p>
            </p:txBody>
          </p:sp>
        </mc:Fallback>
      </mc:AlternateContent>
      <p:sp>
        <p:nvSpPr>
          <p:cNvPr id="4" name="Slide Number Placeholder 3">
            <a:extLst>
              <a:ext uri="{FF2B5EF4-FFF2-40B4-BE49-F238E27FC236}">
                <a16:creationId xmlns:a16="http://schemas.microsoft.com/office/drawing/2014/main" id="{8E83EB8B-22B1-906C-C09E-A143A091F782}"/>
              </a:ext>
            </a:extLst>
          </p:cNvPr>
          <p:cNvSpPr>
            <a:spLocks noGrp="1"/>
          </p:cNvSpPr>
          <p:nvPr>
            <p:ph type="sldNum" sz="quarter" idx="12"/>
          </p:nvPr>
        </p:nvSpPr>
        <p:spPr/>
        <p:txBody>
          <a:bodyPr/>
          <a:lstStyle/>
          <a:p>
            <a:fld id="{F8D8F54C-053C-4394-9990-70DE256B1A6D}" type="slidenum">
              <a:rPr lang="nl-NL" smtClean="0"/>
              <a:t>33</a:t>
            </a:fld>
            <a:endParaRPr lang="nl-NL"/>
          </a:p>
        </p:txBody>
      </p:sp>
    </p:spTree>
    <p:extLst>
      <p:ext uri="{BB962C8B-B14F-4D97-AF65-F5344CB8AC3E}">
        <p14:creationId xmlns:p14="http://schemas.microsoft.com/office/powerpoint/2010/main" val="654067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Types of Outliers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3" y="1204912"/>
            <a:ext cx="8479917" cy="5113252"/>
          </a:xfrm>
        </p:spPr>
        <p:txBody>
          <a:bodyPr>
            <a:noAutofit/>
          </a:bodyPr>
          <a:lstStyle/>
          <a:p>
            <a:pPr>
              <a:lnSpc>
                <a:spcPct val="110000"/>
              </a:lnSpc>
            </a:pPr>
            <a:r>
              <a:rPr lang="en-US" altLang="nl-NL" b="1" dirty="0"/>
              <a:t>Collective Outliers</a:t>
            </a:r>
          </a:p>
          <a:p>
            <a:pPr lvl="1">
              <a:lnSpc>
                <a:spcPct val="110000"/>
              </a:lnSpc>
            </a:pPr>
            <a:r>
              <a:rPr lang="en-US" altLang="nl-NL" dirty="0"/>
              <a:t>A subset of data objects </a:t>
            </a:r>
            <a:r>
              <a:rPr lang="en-US" altLang="nl-NL" i="1" dirty="0"/>
              <a:t>collectively</a:t>
            </a:r>
            <a:r>
              <a:rPr lang="en-US" altLang="nl-NL" dirty="0"/>
              <a:t> deviate significantly from the whole data set, even if the individual data objects may not be outliers</a:t>
            </a:r>
          </a:p>
          <a:p>
            <a:pPr lvl="1">
              <a:lnSpc>
                <a:spcPct val="110000"/>
              </a:lnSpc>
            </a:pPr>
            <a:r>
              <a:rPr lang="en-US" altLang="nl-NL" dirty="0"/>
              <a:t>Applications: E.g., </a:t>
            </a:r>
            <a:r>
              <a:rPr lang="en-US" altLang="nl-NL" i="1" dirty="0"/>
              <a:t>intrusion detection</a:t>
            </a:r>
            <a:r>
              <a:rPr lang="en-US" altLang="nl-NL" dirty="0"/>
              <a:t>: </a:t>
            </a:r>
          </a:p>
          <a:p>
            <a:pPr lvl="2">
              <a:lnSpc>
                <a:spcPct val="110000"/>
              </a:lnSpc>
            </a:pPr>
            <a:r>
              <a:rPr lang="en-US" altLang="nl-NL" sz="2200" dirty="0"/>
              <a:t>When a number of computers keep sending denial-of-service packages to each other </a:t>
            </a:r>
          </a:p>
          <a:p>
            <a:pPr lvl="1">
              <a:lnSpc>
                <a:spcPct val="110000"/>
              </a:lnSpc>
            </a:pPr>
            <a:r>
              <a:rPr lang="en-US" altLang="nl-NL" dirty="0"/>
              <a:t>Detection of collective outliers</a:t>
            </a:r>
          </a:p>
          <a:p>
            <a:pPr lvl="2">
              <a:lnSpc>
                <a:spcPct val="110000"/>
              </a:lnSpc>
            </a:pPr>
            <a:r>
              <a:rPr lang="en-US" altLang="nl-NL" sz="2200" dirty="0"/>
              <a:t>Consider not only behavior of individual objects, but also that of groups of objects</a:t>
            </a:r>
          </a:p>
          <a:p>
            <a:pPr lvl="2">
              <a:lnSpc>
                <a:spcPct val="110000"/>
              </a:lnSpc>
            </a:pPr>
            <a:r>
              <a:rPr lang="en-US" altLang="nl-NL" sz="2200" dirty="0"/>
              <a:t>Need to have the background knowledge on the relationship among data objects, such as a distance or similarity measure on objects</a:t>
            </a:r>
          </a:p>
        </p:txBody>
      </p:sp>
      <p:pic>
        <p:nvPicPr>
          <p:cNvPr id="4" name="Picture 6">
            <a:extLst>
              <a:ext uri="{FF2B5EF4-FFF2-40B4-BE49-F238E27FC236}">
                <a16:creationId xmlns:a16="http://schemas.microsoft.com/office/drawing/2014/main" id="{426617AE-C9C5-40F0-B7A8-CE1A81869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7707" y="4330862"/>
            <a:ext cx="2628819" cy="2018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a:extLst>
              <a:ext uri="{FF2B5EF4-FFF2-40B4-BE49-F238E27FC236}">
                <a16:creationId xmlns:a16="http://schemas.microsoft.com/office/drawing/2014/main" id="{9460760C-9A2B-4F8D-8543-1BCB2BC2CA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11" r="5744"/>
          <a:stretch/>
        </p:blipFill>
        <p:spPr bwMode="auto">
          <a:xfrm>
            <a:off x="9417707" y="1564568"/>
            <a:ext cx="2624041" cy="2015759"/>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BF84E8E7-2CBE-5087-540D-0FB2B79D1EB3}"/>
              </a:ext>
            </a:extLst>
          </p:cNvPr>
          <p:cNvSpPr>
            <a:spLocks noGrp="1"/>
          </p:cNvSpPr>
          <p:nvPr>
            <p:ph type="sldNum" sz="quarter" idx="12"/>
          </p:nvPr>
        </p:nvSpPr>
        <p:spPr/>
        <p:txBody>
          <a:bodyPr/>
          <a:lstStyle/>
          <a:p>
            <a:fld id="{F8D8F54C-053C-4394-9990-70DE256B1A6D}" type="slidenum">
              <a:rPr lang="nl-NL" smtClean="0"/>
              <a:t>34</a:t>
            </a:fld>
            <a:endParaRPr lang="nl-NL"/>
          </a:p>
        </p:txBody>
      </p:sp>
    </p:spTree>
    <p:extLst>
      <p:ext uri="{BB962C8B-B14F-4D97-AF65-F5344CB8AC3E}">
        <p14:creationId xmlns:p14="http://schemas.microsoft.com/office/powerpoint/2010/main" val="2920067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Challenges of Outlier Detection</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9622"/>
            <a:ext cx="10515600" cy="5113252"/>
          </a:xfrm>
        </p:spPr>
        <p:txBody>
          <a:bodyPr>
            <a:noAutofit/>
          </a:bodyPr>
          <a:lstStyle/>
          <a:p>
            <a:r>
              <a:rPr lang="en-US" altLang="nl-NL" dirty="0"/>
              <a:t>Modeling normal objects and outliers properly</a:t>
            </a:r>
          </a:p>
          <a:p>
            <a:pPr lvl="1"/>
            <a:r>
              <a:rPr lang="en-US" altLang="nl-NL" dirty="0"/>
              <a:t>Hard to enumerate all possible normal behaviors in an application</a:t>
            </a:r>
          </a:p>
          <a:p>
            <a:pPr lvl="1"/>
            <a:r>
              <a:rPr lang="en-US" altLang="nl-NL" dirty="0"/>
              <a:t>The border between normal and outlier objects is often a gray area</a:t>
            </a:r>
          </a:p>
          <a:p>
            <a:r>
              <a:rPr lang="en-US" altLang="nl-NL" dirty="0"/>
              <a:t>Application-specific outlier detection</a:t>
            </a:r>
          </a:p>
          <a:p>
            <a:pPr lvl="1"/>
            <a:r>
              <a:rPr lang="en-US" altLang="nl-NL" dirty="0"/>
              <a:t>Choice of distance measure among objects and the model of relationship among objects are often application-dependent</a:t>
            </a:r>
          </a:p>
          <a:p>
            <a:pPr lvl="1"/>
            <a:r>
              <a:rPr lang="en-US" altLang="nl-NL" dirty="0"/>
              <a:t>E.g., clinical data: a small deviation could be an outlier; while in marketing analysis, larger fluctuations</a:t>
            </a:r>
          </a:p>
          <a:p>
            <a:r>
              <a:rPr lang="en-US" altLang="nl-NL" dirty="0"/>
              <a:t>Handling noise in outlier detection</a:t>
            </a:r>
          </a:p>
          <a:p>
            <a:pPr lvl="1"/>
            <a:r>
              <a:rPr lang="en-US" altLang="nl-NL" dirty="0"/>
              <a:t>Noise may distort the normal objects and blur the distinction between normal objects and outliers.  It may help hide outliers and reduce the effectiveness of outlier detection </a:t>
            </a:r>
          </a:p>
        </p:txBody>
      </p:sp>
      <p:sp>
        <p:nvSpPr>
          <p:cNvPr id="4" name="Slide Number Placeholder 3">
            <a:extLst>
              <a:ext uri="{FF2B5EF4-FFF2-40B4-BE49-F238E27FC236}">
                <a16:creationId xmlns:a16="http://schemas.microsoft.com/office/drawing/2014/main" id="{75BBD77C-2B06-B086-3120-9DA3978D1ED7}"/>
              </a:ext>
            </a:extLst>
          </p:cNvPr>
          <p:cNvSpPr>
            <a:spLocks noGrp="1"/>
          </p:cNvSpPr>
          <p:nvPr>
            <p:ph type="sldNum" sz="quarter" idx="12"/>
          </p:nvPr>
        </p:nvSpPr>
        <p:spPr/>
        <p:txBody>
          <a:bodyPr/>
          <a:lstStyle/>
          <a:p>
            <a:fld id="{F8D8F54C-053C-4394-9990-70DE256B1A6D}" type="slidenum">
              <a:rPr lang="nl-NL" smtClean="0"/>
              <a:t>35</a:t>
            </a:fld>
            <a:endParaRPr lang="nl-NL"/>
          </a:p>
        </p:txBody>
      </p:sp>
    </p:spTree>
    <p:extLst>
      <p:ext uri="{BB962C8B-B14F-4D97-AF65-F5344CB8AC3E}">
        <p14:creationId xmlns:p14="http://schemas.microsoft.com/office/powerpoint/2010/main" val="3515783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Challenges of Outlier Detection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r>
              <a:rPr lang="en-US" altLang="nl-NL" dirty="0"/>
              <a:t>Understandability</a:t>
            </a:r>
          </a:p>
          <a:p>
            <a:pPr lvl="1"/>
            <a:r>
              <a:rPr lang="en-US" altLang="nl-NL" dirty="0"/>
              <a:t>Understand why these are outliers: Justification of the detection</a:t>
            </a:r>
          </a:p>
          <a:p>
            <a:pPr lvl="1"/>
            <a:r>
              <a:rPr lang="en-US" altLang="nl-NL" dirty="0"/>
              <a:t>Specify the degree of an outlier: the unlikelihood of the object being generated by a normal mechanism</a:t>
            </a:r>
          </a:p>
          <a:p>
            <a:r>
              <a:rPr lang="en-US" altLang="nl-NL" dirty="0"/>
              <a:t>A data set may have multiple types of outlier</a:t>
            </a:r>
          </a:p>
          <a:p>
            <a:r>
              <a:rPr lang="en-US" altLang="nl-NL" dirty="0"/>
              <a:t>One object may belong to more than one type of outlier</a:t>
            </a:r>
          </a:p>
          <a:p>
            <a:endParaRPr lang="en-US" altLang="nl-NL" dirty="0"/>
          </a:p>
        </p:txBody>
      </p:sp>
      <p:sp>
        <p:nvSpPr>
          <p:cNvPr id="4" name="Slide Number Placeholder 3">
            <a:extLst>
              <a:ext uri="{FF2B5EF4-FFF2-40B4-BE49-F238E27FC236}">
                <a16:creationId xmlns:a16="http://schemas.microsoft.com/office/drawing/2014/main" id="{42F6B41D-F3A8-3B02-670F-57C8B3D6F6A0}"/>
              </a:ext>
            </a:extLst>
          </p:cNvPr>
          <p:cNvSpPr>
            <a:spLocks noGrp="1"/>
          </p:cNvSpPr>
          <p:nvPr>
            <p:ph type="sldNum" sz="quarter" idx="12"/>
          </p:nvPr>
        </p:nvSpPr>
        <p:spPr/>
        <p:txBody>
          <a:bodyPr/>
          <a:lstStyle/>
          <a:p>
            <a:fld id="{F8D8F54C-053C-4394-9990-70DE256B1A6D}" type="slidenum">
              <a:rPr lang="nl-NL" smtClean="0"/>
              <a:t>36</a:t>
            </a:fld>
            <a:endParaRPr lang="nl-NL"/>
          </a:p>
        </p:txBody>
      </p:sp>
    </p:spTree>
    <p:extLst>
      <p:ext uri="{BB962C8B-B14F-4D97-AF65-F5344CB8AC3E}">
        <p14:creationId xmlns:p14="http://schemas.microsoft.com/office/powerpoint/2010/main" val="694642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Techniques for Single Points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r>
              <a:rPr lang="en-US" altLang="nl-NL" dirty="0"/>
              <a:t>Local vs global approaches</a:t>
            </a:r>
          </a:p>
          <a:p>
            <a:r>
              <a:rPr lang="en-US" altLang="nl-NL" dirty="0"/>
              <a:t>Scoring vs labeling</a:t>
            </a:r>
          </a:p>
          <a:p>
            <a:r>
              <a:rPr lang="en-US" altLang="nl-NL" dirty="0"/>
              <a:t>Many approaches, for example:</a:t>
            </a:r>
          </a:p>
          <a:p>
            <a:pPr lvl="1"/>
            <a:r>
              <a:rPr lang="en-US" altLang="nl-NL" dirty="0"/>
              <a:t>Statistical methods</a:t>
            </a:r>
          </a:p>
          <a:p>
            <a:pPr lvl="1"/>
            <a:r>
              <a:rPr lang="en-US" altLang="nl-NL" dirty="0"/>
              <a:t>Distance based methods</a:t>
            </a:r>
          </a:p>
          <a:p>
            <a:pPr lvl="1"/>
            <a:r>
              <a:rPr lang="en-US" altLang="nl-NL" dirty="0"/>
              <a:t>Density based methods </a:t>
            </a:r>
          </a:p>
          <a:p>
            <a:pPr lvl="1"/>
            <a:r>
              <a:rPr lang="en-US" altLang="nl-NL" dirty="0"/>
              <a:t>Methods based on model fitting </a:t>
            </a:r>
          </a:p>
        </p:txBody>
      </p:sp>
      <p:sp>
        <p:nvSpPr>
          <p:cNvPr id="4" name="Slide Number Placeholder 3">
            <a:extLst>
              <a:ext uri="{FF2B5EF4-FFF2-40B4-BE49-F238E27FC236}">
                <a16:creationId xmlns:a16="http://schemas.microsoft.com/office/drawing/2014/main" id="{29F3946C-8857-9BEA-F6BB-F7306D017A4C}"/>
              </a:ext>
            </a:extLst>
          </p:cNvPr>
          <p:cNvSpPr>
            <a:spLocks noGrp="1"/>
          </p:cNvSpPr>
          <p:nvPr>
            <p:ph type="sldNum" sz="quarter" idx="12"/>
          </p:nvPr>
        </p:nvSpPr>
        <p:spPr/>
        <p:txBody>
          <a:bodyPr/>
          <a:lstStyle/>
          <a:p>
            <a:fld id="{F8D8F54C-053C-4394-9990-70DE256B1A6D}" type="slidenum">
              <a:rPr lang="nl-NL" smtClean="0"/>
              <a:t>37</a:t>
            </a:fld>
            <a:endParaRPr lang="nl-NL"/>
          </a:p>
        </p:txBody>
      </p:sp>
    </p:spTree>
    <p:extLst>
      <p:ext uri="{BB962C8B-B14F-4D97-AF65-F5344CB8AC3E}">
        <p14:creationId xmlns:p14="http://schemas.microsoft.com/office/powerpoint/2010/main" val="4055821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Techniques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r>
              <a:rPr lang="en-US" altLang="nl-NL" dirty="0"/>
              <a:t>Global versus local approaches </a:t>
            </a:r>
          </a:p>
          <a:p>
            <a:pPr lvl="1"/>
            <a:r>
              <a:rPr lang="en-US" altLang="nl-NL" dirty="0"/>
              <a:t>Considers the resolution of the reference set </a:t>
            </a:r>
            <a:r>
              <a:rPr lang="en-US" altLang="nl-NL" dirty="0" err="1"/>
              <a:t>w.r.t.</a:t>
            </a:r>
            <a:r>
              <a:rPr lang="en-US" altLang="nl-NL" dirty="0"/>
              <a:t> which the “</a:t>
            </a:r>
            <a:r>
              <a:rPr lang="en-US" altLang="nl-NL" dirty="0" err="1"/>
              <a:t>outlierness</a:t>
            </a:r>
            <a:r>
              <a:rPr lang="en-US" altLang="nl-NL" dirty="0"/>
              <a:t>” of a particular data object is determined – Global approaches </a:t>
            </a:r>
          </a:p>
          <a:p>
            <a:r>
              <a:rPr lang="en-US" altLang="nl-NL" dirty="0"/>
              <a:t>Global approaches </a:t>
            </a:r>
          </a:p>
          <a:p>
            <a:pPr lvl="1"/>
            <a:r>
              <a:rPr lang="en-US" altLang="nl-NL" dirty="0"/>
              <a:t>The reference set contains all other data objects </a:t>
            </a:r>
          </a:p>
          <a:p>
            <a:pPr lvl="2"/>
            <a:r>
              <a:rPr lang="en-US" altLang="nl-NL" dirty="0"/>
              <a:t>Basic problem: other outliers are also in the reference set and may falsify the results </a:t>
            </a:r>
          </a:p>
          <a:p>
            <a:r>
              <a:rPr lang="en-US" altLang="nl-NL" dirty="0"/>
              <a:t>Local approaches </a:t>
            </a:r>
          </a:p>
          <a:p>
            <a:pPr lvl="1"/>
            <a:r>
              <a:rPr lang="en-US" altLang="nl-NL" dirty="0"/>
              <a:t>The reference contains a (small) subset of data objects </a:t>
            </a:r>
          </a:p>
          <a:p>
            <a:pPr lvl="1"/>
            <a:r>
              <a:rPr lang="en-US" altLang="nl-NL" dirty="0"/>
              <a:t>No assumption on the number of normal mechanisms </a:t>
            </a:r>
          </a:p>
          <a:p>
            <a:pPr lvl="2"/>
            <a:r>
              <a:rPr lang="en-US" altLang="nl-NL" dirty="0"/>
              <a:t>Basic problem: how to choose a proper reference set</a:t>
            </a:r>
          </a:p>
          <a:p>
            <a:r>
              <a:rPr lang="en-US" altLang="nl-NL" dirty="0"/>
              <a:t>Some approaches are somewhat in between</a:t>
            </a:r>
          </a:p>
        </p:txBody>
      </p:sp>
      <p:sp>
        <p:nvSpPr>
          <p:cNvPr id="4" name="Slide Number Placeholder 3">
            <a:extLst>
              <a:ext uri="{FF2B5EF4-FFF2-40B4-BE49-F238E27FC236}">
                <a16:creationId xmlns:a16="http://schemas.microsoft.com/office/drawing/2014/main" id="{C9AB98A3-DD65-8E46-3ED8-86B46A944CB2}"/>
              </a:ext>
            </a:extLst>
          </p:cNvPr>
          <p:cNvSpPr>
            <a:spLocks noGrp="1"/>
          </p:cNvSpPr>
          <p:nvPr>
            <p:ph type="sldNum" sz="quarter" idx="12"/>
          </p:nvPr>
        </p:nvSpPr>
        <p:spPr/>
        <p:txBody>
          <a:bodyPr/>
          <a:lstStyle/>
          <a:p>
            <a:fld id="{F8D8F54C-053C-4394-9990-70DE256B1A6D}" type="slidenum">
              <a:rPr lang="nl-NL" smtClean="0"/>
              <a:t>38</a:t>
            </a:fld>
            <a:endParaRPr lang="nl-NL"/>
          </a:p>
        </p:txBody>
      </p:sp>
    </p:spTree>
    <p:extLst>
      <p:ext uri="{BB962C8B-B14F-4D97-AF65-F5344CB8AC3E}">
        <p14:creationId xmlns:p14="http://schemas.microsoft.com/office/powerpoint/2010/main" val="3380121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Techniques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r>
              <a:rPr lang="en-US" dirty="0">
                <a:cs typeface="Times New Roman" panose="02020603050405020304" pitchFamily="18" charset="0"/>
              </a:rPr>
              <a:t>Labeling versus scoring: c</a:t>
            </a:r>
            <a:r>
              <a:rPr lang="en-US" sz="2600" dirty="0">
                <a:cs typeface="Times New Roman" panose="02020603050405020304" pitchFamily="18" charset="0"/>
              </a:rPr>
              <a:t>onsiders the output of an outlier detection algorithm</a:t>
            </a:r>
          </a:p>
          <a:p>
            <a:pPr lvl="1"/>
            <a:r>
              <a:rPr lang="en-US" sz="2600" dirty="0">
                <a:cs typeface="Times New Roman" panose="02020603050405020304" pitchFamily="18" charset="0"/>
              </a:rPr>
              <a:t>Labeling approaches </a:t>
            </a:r>
          </a:p>
          <a:p>
            <a:pPr lvl="2"/>
            <a:r>
              <a:rPr lang="en-US" sz="2400" dirty="0">
                <a:cs typeface="Times New Roman" panose="02020603050405020304" pitchFamily="18" charset="0"/>
              </a:rPr>
              <a:t>Binary output </a:t>
            </a:r>
          </a:p>
          <a:p>
            <a:pPr lvl="2"/>
            <a:r>
              <a:rPr lang="en-US" sz="2400" dirty="0">
                <a:cs typeface="Times New Roman" panose="02020603050405020304" pitchFamily="18" charset="0"/>
              </a:rPr>
              <a:t>Data objects are labeled either as normal or outlier </a:t>
            </a:r>
          </a:p>
          <a:p>
            <a:pPr lvl="1"/>
            <a:r>
              <a:rPr lang="en-US" sz="2600" dirty="0">
                <a:cs typeface="Times New Roman" panose="02020603050405020304" pitchFamily="18" charset="0"/>
              </a:rPr>
              <a:t>Scoring approaches </a:t>
            </a:r>
          </a:p>
          <a:p>
            <a:pPr lvl="2"/>
            <a:r>
              <a:rPr lang="en-US" sz="2400" dirty="0">
                <a:cs typeface="Times New Roman" panose="02020603050405020304" pitchFamily="18" charset="0"/>
              </a:rPr>
              <a:t>Continuous output </a:t>
            </a:r>
          </a:p>
          <a:p>
            <a:pPr lvl="2"/>
            <a:r>
              <a:rPr lang="en-US" sz="2400" dirty="0">
                <a:cs typeface="Times New Roman" panose="02020603050405020304" pitchFamily="18" charset="0"/>
              </a:rPr>
              <a:t>For each object an outlier score is computed (e.g. the probability for being an outlier)</a:t>
            </a:r>
          </a:p>
          <a:p>
            <a:pPr lvl="2"/>
            <a:r>
              <a:rPr lang="en-US" sz="2400" dirty="0">
                <a:cs typeface="Times New Roman" panose="02020603050405020304" pitchFamily="18" charset="0"/>
              </a:rPr>
              <a:t>Data objects can be sorted according to their scores</a:t>
            </a:r>
            <a:endParaRPr lang="en-US" altLang="nl-NL" sz="2600" dirty="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89AA59D-8A4D-D111-84CC-BEE45C2BF325}"/>
              </a:ext>
            </a:extLst>
          </p:cNvPr>
          <p:cNvSpPr>
            <a:spLocks noGrp="1"/>
          </p:cNvSpPr>
          <p:nvPr>
            <p:ph type="sldNum" sz="quarter" idx="12"/>
          </p:nvPr>
        </p:nvSpPr>
        <p:spPr/>
        <p:txBody>
          <a:bodyPr/>
          <a:lstStyle/>
          <a:p>
            <a:fld id="{F8D8F54C-053C-4394-9990-70DE256B1A6D}" type="slidenum">
              <a:rPr lang="nl-NL" smtClean="0"/>
              <a:t>39</a:t>
            </a:fld>
            <a:endParaRPr lang="nl-NL"/>
          </a:p>
        </p:txBody>
      </p:sp>
    </p:spTree>
    <p:extLst>
      <p:ext uri="{BB962C8B-B14F-4D97-AF65-F5344CB8AC3E}">
        <p14:creationId xmlns:p14="http://schemas.microsoft.com/office/powerpoint/2010/main" val="10847752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Statistical Approaches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r>
              <a:rPr lang="en-US" altLang="nl-NL" dirty="0"/>
              <a:t>Statistical approaches assume that the objects in a data set are generated by a stochastic process (a generative model)</a:t>
            </a:r>
          </a:p>
          <a:p>
            <a:r>
              <a:rPr lang="en-US" altLang="nl-NL" b="1" dirty="0">
                <a:solidFill>
                  <a:srgbClr val="FF0000"/>
                </a:solidFill>
              </a:rPr>
              <a:t>Idea:</a:t>
            </a:r>
            <a:r>
              <a:rPr lang="en-US" altLang="nl-NL" dirty="0"/>
              <a:t> learn a generative model fitting the given data set, and then identify the objects in low probability regions of the model as outliers</a:t>
            </a:r>
          </a:p>
          <a:p>
            <a:r>
              <a:rPr lang="en-US" altLang="nl-NL" dirty="0"/>
              <a:t>Model Estimation: Methods are divided into two categories</a:t>
            </a:r>
          </a:p>
          <a:p>
            <a:pPr lvl="1"/>
            <a:r>
              <a:rPr lang="en-US" altLang="nl-NL" i="1" dirty="0"/>
              <a:t>parametric</a:t>
            </a:r>
            <a:r>
              <a:rPr lang="en-US" altLang="nl-NL" dirty="0"/>
              <a:t> vs. </a:t>
            </a:r>
            <a:r>
              <a:rPr lang="en-US" altLang="nl-NL" i="1" dirty="0"/>
              <a:t>non-parametric</a:t>
            </a:r>
            <a:r>
              <a:rPr lang="en-US" altLang="nl-NL" dirty="0"/>
              <a:t> </a:t>
            </a:r>
          </a:p>
        </p:txBody>
      </p:sp>
      <p:sp>
        <p:nvSpPr>
          <p:cNvPr id="4" name="Slide Number Placeholder 3">
            <a:extLst>
              <a:ext uri="{FF2B5EF4-FFF2-40B4-BE49-F238E27FC236}">
                <a16:creationId xmlns:a16="http://schemas.microsoft.com/office/drawing/2014/main" id="{79628DD1-EED0-CD17-33B7-041684FEDCEB}"/>
              </a:ext>
            </a:extLst>
          </p:cNvPr>
          <p:cNvSpPr>
            <a:spLocks noGrp="1"/>
          </p:cNvSpPr>
          <p:nvPr>
            <p:ph type="sldNum" sz="quarter" idx="12"/>
          </p:nvPr>
        </p:nvSpPr>
        <p:spPr/>
        <p:txBody>
          <a:bodyPr/>
          <a:lstStyle/>
          <a:p>
            <a:fld id="{F8D8F54C-053C-4394-9990-70DE256B1A6D}" type="slidenum">
              <a:rPr lang="nl-NL" smtClean="0"/>
              <a:t>40</a:t>
            </a:fld>
            <a:endParaRPr lang="nl-NL"/>
          </a:p>
        </p:txBody>
      </p:sp>
    </p:spTree>
    <p:extLst>
      <p:ext uri="{BB962C8B-B14F-4D97-AF65-F5344CB8AC3E}">
        <p14:creationId xmlns:p14="http://schemas.microsoft.com/office/powerpoint/2010/main" val="3578433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Statistical Approaches (Cont.)</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r>
              <a:rPr lang="en-US" altLang="nl-NL" dirty="0"/>
              <a:t>Parametric method</a:t>
            </a:r>
          </a:p>
          <a:p>
            <a:pPr lvl="1"/>
            <a:r>
              <a:rPr lang="en-US" altLang="nl-NL" dirty="0"/>
              <a:t>Assumes that the normal data is generated by a specific distribution with parameter </a:t>
            </a:r>
            <a:r>
              <a:rPr lang="el-GR" altLang="nl-NL" dirty="0"/>
              <a:t>θ</a:t>
            </a:r>
            <a:endParaRPr lang="en-US" altLang="nl-NL" dirty="0"/>
          </a:p>
          <a:p>
            <a:pPr lvl="1"/>
            <a:r>
              <a:rPr lang="en-US" altLang="nl-NL" dirty="0"/>
              <a:t>The probability density function of the parametric distribution </a:t>
            </a:r>
            <a:r>
              <a:rPr lang="en-US" altLang="nl-NL" i="1" dirty="0"/>
              <a:t>f</a:t>
            </a:r>
            <a:r>
              <a:rPr lang="en-US" altLang="nl-NL" dirty="0"/>
              <a:t>(</a:t>
            </a:r>
            <a:r>
              <a:rPr lang="en-US" altLang="nl-NL" i="1" dirty="0"/>
              <a:t>x, </a:t>
            </a:r>
            <a:r>
              <a:rPr lang="el-GR" altLang="nl-NL" i="1" dirty="0"/>
              <a:t>θ</a:t>
            </a:r>
            <a:r>
              <a:rPr lang="en-US" altLang="nl-NL" dirty="0"/>
              <a:t>) gives the probability that object </a:t>
            </a:r>
            <a:r>
              <a:rPr lang="en-US" altLang="nl-NL" i="1" dirty="0"/>
              <a:t>x</a:t>
            </a:r>
            <a:r>
              <a:rPr lang="en-US" altLang="nl-NL" dirty="0"/>
              <a:t> is generated by the distribution</a:t>
            </a:r>
          </a:p>
          <a:p>
            <a:pPr lvl="1"/>
            <a:r>
              <a:rPr lang="en-US" altLang="nl-NL" dirty="0"/>
              <a:t>The smaller this value, the more likely x is an outlier</a:t>
            </a:r>
          </a:p>
          <a:p>
            <a:r>
              <a:rPr lang="en-US" altLang="nl-NL" dirty="0"/>
              <a:t>Non-parametric method</a:t>
            </a:r>
          </a:p>
          <a:p>
            <a:pPr lvl="1"/>
            <a:r>
              <a:rPr lang="en-US" altLang="nl-NL" dirty="0"/>
              <a:t>Not assume an a-priori statistical model and determine the model from the input data</a:t>
            </a:r>
          </a:p>
          <a:p>
            <a:pPr lvl="1"/>
            <a:r>
              <a:rPr lang="en-US" altLang="nl-NL" dirty="0"/>
              <a:t>Not completely parameter free but consider the number and nature of the parameters are flexible and not fixed in advance</a:t>
            </a:r>
          </a:p>
          <a:p>
            <a:pPr lvl="1"/>
            <a:r>
              <a:rPr lang="en-US" altLang="nl-NL" dirty="0"/>
              <a:t>Examples: histogram and kernel density estimation</a:t>
            </a:r>
          </a:p>
        </p:txBody>
      </p:sp>
      <p:sp>
        <p:nvSpPr>
          <p:cNvPr id="4" name="Slide Number Placeholder 3">
            <a:extLst>
              <a:ext uri="{FF2B5EF4-FFF2-40B4-BE49-F238E27FC236}">
                <a16:creationId xmlns:a16="http://schemas.microsoft.com/office/drawing/2014/main" id="{02A1E045-DE01-3A41-0054-8C978358BBB2}"/>
              </a:ext>
            </a:extLst>
          </p:cNvPr>
          <p:cNvSpPr>
            <a:spLocks noGrp="1"/>
          </p:cNvSpPr>
          <p:nvPr>
            <p:ph type="sldNum" sz="quarter" idx="12"/>
          </p:nvPr>
        </p:nvSpPr>
        <p:spPr/>
        <p:txBody>
          <a:bodyPr/>
          <a:lstStyle/>
          <a:p>
            <a:fld id="{F8D8F54C-053C-4394-9990-70DE256B1A6D}" type="slidenum">
              <a:rPr lang="nl-NL" smtClean="0"/>
              <a:t>41</a:t>
            </a:fld>
            <a:endParaRPr lang="nl-NL"/>
          </a:p>
        </p:txBody>
      </p:sp>
    </p:spTree>
    <p:extLst>
      <p:ext uri="{BB962C8B-B14F-4D97-AF65-F5344CB8AC3E}">
        <p14:creationId xmlns:p14="http://schemas.microsoft.com/office/powerpoint/2010/main" val="301022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773-53D7-5CDA-341B-E0DA6CB97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538BE-FFBF-283B-B745-5CF5D21EE0BE}"/>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Parametric Statistical Approaches</a:t>
            </a:r>
            <a:endParaRPr lang="nl-NL" sz="32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5BF50BF-038B-3EF3-8DA3-04B7B67784E8}"/>
              </a:ext>
            </a:extLst>
          </p:cNvPr>
          <p:cNvSpPr>
            <a:spLocks noGrp="1"/>
          </p:cNvSpPr>
          <p:nvPr>
            <p:ph type="sldNum" sz="quarter" idx="12"/>
          </p:nvPr>
        </p:nvSpPr>
        <p:spPr/>
        <p:txBody>
          <a:bodyPr/>
          <a:lstStyle/>
          <a:p>
            <a:fld id="{F8D8F54C-053C-4394-9990-70DE256B1A6D}" type="slidenum">
              <a:rPr lang="nl-NL" smtClean="0"/>
              <a:t>42</a:t>
            </a:fld>
            <a:endParaRPr lang="nl-NL"/>
          </a:p>
        </p:txBody>
      </p:sp>
      <p:pic>
        <p:nvPicPr>
          <p:cNvPr id="7" name="Picture 6">
            <a:extLst>
              <a:ext uri="{FF2B5EF4-FFF2-40B4-BE49-F238E27FC236}">
                <a16:creationId xmlns:a16="http://schemas.microsoft.com/office/drawing/2014/main" id="{88C7A920-7C3B-F2C4-D153-19878E2F9C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689" y="1749132"/>
            <a:ext cx="5039605" cy="3359736"/>
          </a:xfrm>
          <a:prstGeom prst="rect">
            <a:avLst/>
          </a:prstGeom>
        </p:spPr>
      </p:pic>
      <p:sp>
        <p:nvSpPr>
          <p:cNvPr id="8" name="Content Placeholder 2">
            <a:extLst>
              <a:ext uri="{FF2B5EF4-FFF2-40B4-BE49-F238E27FC236}">
                <a16:creationId xmlns:a16="http://schemas.microsoft.com/office/drawing/2014/main" id="{8D06974F-1670-BA80-C52C-8C908FA0FBE3}"/>
              </a:ext>
            </a:extLst>
          </p:cNvPr>
          <p:cNvSpPr>
            <a:spLocks noGrp="1"/>
          </p:cNvSpPr>
          <p:nvPr>
            <p:ph idx="1"/>
          </p:nvPr>
        </p:nvSpPr>
        <p:spPr>
          <a:xfrm>
            <a:off x="5071631" y="1620462"/>
            <a:ext cx="6282169" cy="4406265"/>
          </a:xfrm>
        </p:spPr>
        <p:txBody>
          <a:bodyPr>
            <a:normAutofit/>
          </a:bodyPr>
          <a:lstStyle/>
          <a:p>
            <a:pPr>
              <a:lnSpc>
                <a:spcPct val="100000"/>
              </a:lnSpc>
            </a:pPr>
            <a:r>
              <a:rPr lang="en-US" altLang="nl-NL" dirty="0"/>
              <a:t>Detection of univariate outliers based on Normal distribution</a:t>
            </a:r>
          </a:p>
          <a:p>
            <a:pPr>
              <a:lnSpc>
                <a:spcPct val="100000"/>
              </a:lnSpc>
            </a:pPr>
            <a:r>
              <a:rPr lang="en-US" altLang="nl-NL" dirty="0"/>
              <a:t>Univariate data: A data set involving only one attribute or variable</a:t>
            </a:r>
          </a:p>
          <a:p>
            <a:pPr>
              <a:lnSpc>
                <a:spcPct val="100000"/>
              </a:lnSpc>
            </a:pPr>
            <a:r>
              <a:rPr lang="en-US" altLang="nl-NL" dirty="0"/>
              <a:t>Often assume that data are generated from a normal distribution, learn the parameters from the input data, and identify the points with low probability as outliers</a:t>
            </a:r>
          </a:p>
        </p:txBody>
      </p:sp>
    </p:spTree>
    <p:extLst>
      <p:ext uri="{BB962C8B-B14F-4D97-AF65-F5344CB8AC3E}">
        <p14:creationId xmlns:p14="http://schemas.microsoft.com/office/powerpoint/2010/main" val="56915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Parametric Statistical Approaches</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4938542"/>
              </a:xfrm>
            </p:spPr>
            <p:txBody>
              <a:bodyPr>
                <a:noAutofit/>
              </a:bodyPr>
              <a:lstStyle/>
              <a:p>
                <a:pPr>
                  <a:lnSpc>
                    <a:spcPct val="120000"/>
                  </a:lnSpc>
                </a:pPr>
                <a:r>
                  <a:rPr lang="en-US" altLang="nl-NL" sz="2600" dirty="0"/>
                  <a:t>Ex: Avg. temp.: {24.0, 28.9, 28.9, 29.0, 29.0, 29.1, 29.1, 29.2, 29.2, 29.3, 29.4, 29.5}</a:t>
                </a:r>
              </a:p>
              <a:p>
                <a:pPr>
                  <a:lnSpc>
                    <a:spcPct val="120000"/>
                  </a:lnSpc>
                </a:pPr>
                <a:r>
                  <a:rPr lang="en-US" altLang="nl-NL" sz="2600" dirty="0">
                    <a:latin typeface="Arial" panose="020B0604020202020204" pitchFamily="34" charset="0"/>
                  </a:rPr>
                  <a:t>We estimate the following quantities from the sample</a:t>
                </a:r>
              </a:p>
              <a:p>
                <a:pPr marL="457200" lvl="1" indent="914400">
                  <a:lnSpc>
                    <a:spcPct val="120000"/>
                  </a:lnSpc>
                  <a:buNone/>
                </a:pPr>
                <a14:m>
                  <m:oMathPara xmlns:m="http://schemas.openxmlformats.org/officeDocument/2006/math">
                    <m:oMathParaPr>
                      <m:jc m:val="centerGroup"/>
                    </m:oMathParaPr>
                    <m:oMath xmlns:m="http://schemas.openxmlformats.org/officeDocument/2006/math">
                      <m:acc>
                        <m:accPr>
                          <m:chr m:val="̂"/>
                          <m:ctrlPr>
                            <a:rPr lang="en-US" altLang="nl-NL" sz="2600" b="0" i="1" dirty="0" smtClean="0">
                              <a:latin typeface="Cambria Math" panose="02040503050406030204" pitchFamily="18" charset="0"/>
                              <a:ea typeface="Cambria Math" panose="02040503050406030204" pitchFamily="18" charset="0"/>
                            </a:rPr>
                          </m:ctrlPr>
                        </m:accPr>
                        <m:e>
                          <m:r>
                            <a:rPr lang="en-US" altLang="nl-NL" sz="2600" b="0" i="1" dirty="0" smtClean="0">
                              <a:latin typeface="Cambria Math" panose="02040503050406030204" pitchFamily="18" charset="0"/>
                              <a:ea typeface="Cambria Math" panose="02040503050406030204" pitchFamily="18" charset="0"/>
                            </a:rPr>
                            <m:t>𝜇</m:t>
                          </m:r>
                        </m:e>
                      </m:acc>
                      <m:r>
                        <a:rPr lang="en-US" altLang="nl-NL" sz="2600" b="0" i="1" dirty="0" smtClean="0">
                          <a:latin typeface="Cambria Math" panose="02040503050406030204" pitchFamily="18" charset="0"/>
                        </a:rPr>
                        <m:t>=</m:t>
                      </m:r>
                      <m:acc>
                        <m:accPr>
                          <m:chr m:val="̅"/>
                          <m:ctrlPr>
                            <a:rPr lang="en-US" altLang="nl-NL" sz="2600" b="0" i="1" dirty="0" smtClean="0">
                              <a:latin typeface="Cambria Math" panose="02040503050406030204" pitchFamily="18" charset="0"/>
                            </a:rPr>
                          </m:ctrlPr>
                        </m:accPr>
                        <m:e>
                          <m:r>
                            <a:rPr lang="en-US" altLang="nl-NL" sz="2600" b="0" i="1" dirty="0" smtClean="0">
                              <a:latin typeface="Cambria Math" panose="02040503050406030204" pitchFamily="18" charset="0"/>
                            </a:rPr>
                            <m:t>𝑥</m:t>
                          </m:r>
                        </m:e>
                      </m:acc>
                      <m:r>
                        <a:rPr lang="en-US" altLang="nl-NL" sz="2600" b="0" i="1" dirty="0" smtClean="0">
                          <a:latin typeface="Cambria Math" panose="02040503050406030204" pitchFamily="18" charset="0"/>
                        </a:rPr>
                        <m:t>=</m:t>
                      </m:r>
                      <m:f>
                        <m:fPr>
                          <m:ctrlPr>
                            <a:rPr lang="en-US" altLang="nl-NL" sz="2600" i="1" smtClean="0">
                              <a:latin typeface="Cambria Math" panose="02040503050406030204" pitchFamily="18" charset="0"/>
                              <a:ea typeface="Cambria Math" panose="02040503050406030204" pitchFamily="18" charset="0"/>
                            </a:rPr>
                          </m:ctrlPr>
                        </m:fPr>
                        <m:num>
                          <m:r>
                            <a:rPr lang="en-US" altLang="nl-NL" sz="2600" i="1">
                              <a:latin typeface="Cambria Math" panose="02040503050406030204" pitchFamily="18" charset="0"/>
                              <a:ea typeface="Cambria Math" panose="02040503050406030204" pitchFamily="18" charset="0"/>
                            </a:rPr>
                            <m:t>1</m:t>
                          </m:r>
                        </m:num>
                        <m:den>
                          <m:r>
                            <a:rPr lang="en-US" altLang="nl-NL" sz="2600" b="0" i="1" smtClean="0">
                              <a:latin typeface="Cambria Math" panose="02040503050406030204" pitchFamily="18" charset="0"/>
                              <a:ea typeface="Cambria Math" panose="02040503050406030204" pitchFamily="18" charset="0"/>
                            </a:rPr>
                            <m:t>𝑛</m:t>
                          </m:r>
                        </m:den>
                      </m:f>
                      <m:nary>
                        <m:naryPr>
                          <m:chr m:val="∑"/>
                          <m:ctrlPr>
                            <a:rPr lang="en-US" altLang="nl-NL" sz="2600" i="1">
                              <a:latin typeface="Cambria Math" panose="02040503050406030204" pitchFamily="18" charset="0"/>
                              <a:ea typeface="Cambria Math" panose="02040503050406030204" pitchFamily="18" charset="0"/>
                            </a:rPr>
                          </m:ctrlPr>
                        </m:naryPr>
                        <m:sub>
                          <m:r>
                            <m:rPr>
                              <m:brk m:alnAt="23"/>
                            </m:rPr>
                            <a:rPr lang="en-US" altLang="nl-NL" sz="2600" i="1">
                              <a:latin typeface="Cambria Math" panose="02040503050406030204" pitchFamily="18" charset="0"/>
                              <a:ea typeface="Cambria Math" panose="02040503050406030204" pitchFamily="18" charset="0"/>
                            </a:rPr>
                            <m:t>𝑖</m:t>
                          </m:r>
                          <m:r>
                            <a:rPr lang="en-US" altLang="nl-NL" sz="2600" i="1">
                              <a:latin typeface="Cambria Math" panose="02040503050406030204" pitchFamily="18" charset="0"/>
                              <a:ea typeface="Cambria Math" panose="02040503050406030204" pitchFamily="18" charset="0"/>
                            </a:rPr>
                            <m:t>=1</m:t>
                          </m:r>
                        </m:sub>
                        <m:sup>
                          <m:r>
                            <a:rPr lang="en-US" altLang="nl-NL" sz="2600" i="1">
                              <a:latin typeface="Cambria Math" panose="02040503050406030204" pitchFamily="18" charset="0"/>
                              <a:ea typeface="Cambria Math" panose="02040503050406030204" pitchFamily="18" charset="0"/>
                            </a:rPr>
                            <m:t>𝑛</m:t>
                          </m:r>
                        </m:sup>
                        <m:e>
                          <m:sSub>
                            <m:sSubPr>
                              <m:ctrlPr>
                                <a:rPr lang="en-US" altLang="nl-NL" sz="2600" b="0" i="1" smtClean="0">
                                  <a:latin typeface="Cambria Math" panose="02040503050406030204" pitchFamily="18" charset="0"/>
                                  <a:ea typeface="Cambria Math" panose="02040503050406030204" pitchFamily="18" charset="0"/>
                                </a:rPr>
                              </m:ctrlPr>
                            </m:sSubPr>
                            <m:e>
                              <m:r>
                                <a:rPr lang="en-US" altLang="nl-NL" sz="2600" b="0" i="1" smtClean="0">
                                  <a:latin typeface="Cambria Math" panose="02040503050406030204" pitchFamily="18" charset="0"/>
                                  <a:ea typeface="Cambria Math" panose="02040503050406030204" pitchFamily="18" charset="0"/>
                                </a:rPr>
                                <m:t>𝑥</m:t>
                              </m:r>
                            </m:e>
                            <m:sub>
                              <m:r>
                                <a:rPr lang="en-US" altLang="nl-NL" sz="2600" b="0" i="1" smtClean="0">
                                  <a:latin typeface="Cambria Math" panose="02040503050406030204" pitchFamily="18" charset="0"/>
                                  <a:ea typeface="Cambria Math" panose="02040503050406030204" pitchFamily="18" charset="0"/>
                                </a:rPr>
                                <m:t>𝑖</m:t>
                              </m:r>
                            </m:sub>
                          </m:sSub>
                        </m:e>
                      </m:nary>
                      <m:r>
                        <a:rPr lang="en-US" altLang="nl-NL" sz="2600" b="0" i="1" smtClean="0">
                          <a:latin typeface="Cambria Math" panose="02040503050406030204" pitchFamily="18" charset="0"/>
                          <a:ea typeface="Cambria Math" panose="02040503050406030204" pitchFamily="18" charset="0"/>
                        </a:rPr>
                        <m:t>                                </m:t>
                      </m:r>
                      <m:sSup>
                        <m:sSupPr>
                          <m:ctrlPr>
                            <a:rPr lang="en-US" altLang="nl-NL" sz="2600" b="0" i="1" smtClean="0">
                              <a:latin typeface="Cambria Math" panose="02040503050406030204" pitchFamily="18" charset="0"/>
                              <a:ea typeface="Cambria Math" panose="02040503050406030204" pitchFamily="18" charset="0"/>
                            </a:rPr>
                          </m:ctrlPr>
                        </m:sSupPr>
                        <m:e>
                          <m:acc>
                            <m:accPr>
                              <m:chr m:val="̂"/>
                              <m:ctrlPr>
                                <a:rPr lang="en-US" altLang="nl-NL" sz="2600" b="0" i="1" smtClean="0">
                                  <a:latin typeface="Cambria Math" panose="02040503050406030204" pitchFamily="18" charset="0"/>
                                  <a:ea typeface="Cambria Math" panose="02040503050406030204" pitchFamily="18" charset="0"/>
                                </a:rPr>
                              </m:ctrlPr>
                            </m:accPr>
                            <m:e>
                              <m:r>
                                <a:rPr lang="en-US" altLang="nl-NL" sz="2600" b="0" i="1" smtClean="0">
                                  <a:latin typeface="Cambria Math" panose="02040503050406030204" pitchFamily="18" charset="0"/>
                                  <a:ea typeface="Cambria Math" panose="02040503050406030204" pitchFamily="18" charset="0"/>
                                </a:rPr>
                                <m:t>𝜎</m:t>
                              </m:r>
                            </m:e>
                          </m:acc>
                        </m:e>
                        <m:sup>
                          <m:r>
                            <a:rPr lang="en-US" altLang="nl-NL" sz="2600" b="0" i="1" smtClean="0">
                              <a:latin typeface="Cambria Math" panose="02040503050406030204" pitchFamily="18" charset="0"/>
                              <a:ea typeface="Cambria Math" panose="02040503050406030204" pitchFamily="18" charset="0"/>
                            </a:rPr>
                            <m:t>2</m:t>
                          </m:r>
                        </m:sup>
                      </m:sSup>
                      <m:r>
                        <a:rPr lang="en-US" altLang="nl-NL" sz="2600" b="0" i="1" smtClean="0">
                          <a:latin typeface="Cambria Math" panose="02040503050406030204" pitchFamily="18" charset="0"/>
                          <a:ea typeface="Cambria Math" panose="02040503050406030204" pitchFamily="18" charset="0"/>
                        </a:rPr>
                        <m:t>=</m:t>
                      </m:r>
                      <m:f>
                        <m:fPr>
                          <m:ctrlPr>
                            <a:rPr lang="en-US" altLang="nl-NL" sz="2600" i="1">
                              <a:latin typeface="Cambria Math" panose="02040503050406030204" pitchFamily="18" charset="0"/>
                              <a:ea typeface="Cambria Math" panose="02040503050406030204" pitchFamily="18" charset="0"/>
                            </a:rPr>
                          </m:ctrlPr>
                        </m:fPr>
                        <m:num>
                          <m:r>
                            <a:rPr lang="en-US" altLang="nl-NL" sz="2600" i="1">
                              <a:latin typeface="Cambria Math" panose="02040503050406030204" pitchFamily="18" charset="0"/>
                              <a:ea typeface="Cambria Math" panose="02040503050406030204" pitchFamily="18" charset="0"/>
                            </a:rPr>
                            <m:t>1</m:t>
                          </m:r>
                        </m:num>
                        <m:den>
                          <m:r>
                            <a:rPr lang="en-US" altLang="nl-NL" sz="2600" i="1">
                              <a:latin typeface="Cambria Math" panose="02040503050406030204" pitchFamily="18" charset="0"/>
                              <a:ea typeface="Cambria Math" panose="02040503050406030204" pitchFamily="18" charset="0"/>
                            </a:rPr>
                            <m:t>𝑛</m:t>
                          </m:r>
                          <m:r>
                            <a:rPr lang="en-US" altLang="nl-NL" sz="2600" b="0" i="1" smtClean="0">
                              <a:latin typeface="Cambria Math" panose="02040503050406030204" pitchFamily="18" charset="0"/>
                              <a:ea typeface="Cambria Math" panose="02040503050406030204" pitchFamily="18" charset="0"/>
                            </a:rPr>
                            <m:t>−1</m:t>
                          </m:r>
                        </m:den>
                      </m:f>
                      <m:nary>
                        <m:naryPr>
                          <m:chr m:val="∑"/>
                          <m:ctrlPr>
                            <a:rPr lang="en-US" altLang="nl-NL" sz="2600" i="1">
                              <a:latin typeface="Cambria Math" panose="02040503050406030204" pitchFamily="18" charset="0"/>
                              <a:ea typeface="Cambria Math" panose="02040503050406030204" pitchFamily="18" charset="0"/>
                            </a:rPr>
                          </m:ctrlPr>
                        </m:naryPr>
                        <m:sub>
                          <m:r>
                            <m:rPr>
                              <m:brk m:alnAt="23"/>
                            </m:rPr>
                            <a:rPr lang="en-US" altLang="nl-NL" sz="2600" i="1">
                              <a:latin typeface="Cambria Math" panose="02040503050406030204" pitchFamily="18" charset="0"/>
                              <a:ea typeface="Cambria Math" panose="02040503050406030204" pitchFamily="18" charset="0"/>
                            </a:rPr>
                            <m:t>𝑖</m:t>
                          </m:r>
                          <m:r>
                            <a:rPr lang="en-US" altLang="nl-NL" sz="2600" i="1">
                              <a:latin typeface="Cambria Math" panose="02040503050406030204" pitchFamily="18" charset="0"/>
                              <a:ea typeface="Cambria Math" panose="02040503050406030204" pitchFamily="18" charset="0"/>
                            </a:rPr>
                            <m:t>=1</m:t>
                          </m:r>
                        </m:sub>
                        <m:sup>
                          <m:r>
                            <a:rPr lang="en-US" altLang="nl-NL" sz="2600" i="1">
                              <a:latin typeface="Cambria Math" panose="02040503050406030204" pitchFamily="18" charset="0"/>
                              <a:ea typeface="Cambria Math" panose="02040503050406030204" pitchFamily="18" charset="0"/>
                            </a:rPr>
                            <m:t>𝑛</m:t>
                          </m:r>
                        </m:sup>
                        <m:e>
                          <m:sSup>
                            <m:sSupPr>
                              <m:ctrlPr>
                                <a:rPr lang="en-US" altLang="nl-NL" sz="2600" b="0" i="1" smtClean="0">
                                  <a:latin typeface="Cambria Math" panose="02040503050406030204" pitchFamily="18" charset="0"/>
                                  <a:ea typeface="Cambria Math" panose="02040503050406030204" pitchFamily="18" charset="0"/>
                                </a:rPr>
                              </m:ctrlPr>
                            </m:sSupPr>
                            <m:e>
                              <m:d>
                                <m:dPr>
                                  <m:ctrlPr>
                                    <a:rPr lang="en-US" altLang="nl-NL" sz="2600" i="1" smtClean="0">
                                      <a:latin typeface="Cambria Math" panose="02040503050406030204" pitchFamily="18" charset="0"/>
                                      <a:ea typeface="Cambria Math" panose="02040503050406030204" pitchFamily="18" charset="0"/>
                                    </a:rPr>
                                  </m:ctrlPr>
                                </m:dPr>
                                <m:e>
                                  <m:sSub>
                                    <m:sSubPr>
                                      <m:ctrlPr>
                                        <a:rPr lang="en-US" altLang="nl-NL" sz="2600" i="1">
                                          <a:latin typeface="Cambria Math" panose="02040503050406030204" pitchFamily="18" charset="0"/>
                                          <a:ea typeface="Cambria Math" panose="02040503050406030204" pitchFamily="18" charset="0"/>
                                        </a:rPr>
                                      </m:ctrlPr>
                                    </m:sSubPr>
                                    <m:e>
                                      <m:r>
                                        <a:rPr lang="en-US" altLang="nl-NL" sz="2600" i="1">
                                          <a:latin typeface="Cambria Math" panose="02040503050406030204" pitchFamily="18" charset="0"/>
                                          <a:ea typeface="Cambria Math" panose="02040503050406030204" pitchFamily="18" charset="0"/>
                                        </a:rPr>
                                        <m:t>𝑥</m:t>
                                      </m:r>
                                    </m:e>
                                    <m:sub>
                                      <m:r>
                                        <a:rPr lang="en-US" altLang="nl-NL" sz="2600" i="1">
                                          <a:latin typeface="Cambria Math" panose="02040503050406030204" pitchFamily="18" charset="0"/>
                                          <a:ea typeface="Cambria Math" panose="02040503050406030204" pitchFamily="18" charset="0"/>
                                        </a:rPr>
                                        <m:t>𝑖</m:t>
                                      </m:r>
                                    </m:sub>
                                  </m:sSub>
                                  <m:r>
                                    <a:rPr lang="en-US" altLang="nl-NL" sz="2600" b="0" i="1" smtClean="0">
                                      <a:latin typeface="Cambria Math" panose="02040503050406030204" pitchFamily="18" charset="0"/>
                                      <a:ea typeface="Cambria Math" panose="02040503050406030204" pitchFamily="18" charset="0"/>
                                    </a:rPr>
                                    <m:t>−</m:t>
                                  </m:r>
                                  <m:acc>
                                    <m:accPr>
                                      <m:chr m:val="̅"/>
                                      <m:ctrlPr>
                                        <a:rPr lang="en-US" altLang="nl-NL" sz="2600" b="0" i="1" smtClean="0">
                                          <a:latin typeface="Cambria Math" panose="02040503050406030204" pitchFamily="18" charset="0"/>
                                          <a:ea typeface="Cambria Math" panose="02040503050406030204" pitchFamily="18" charset="0"/>
                                        </a:rPr>
                                      </m:ctrlPr>
                                    </m:accPr>
                                    <m:e>
                                      <m:r>
                                        <a:rPr lang="en-US" altLang="nl-NL" sz="2600" b="0" i="1" smtClean="0">
                                          <a:latin typeface="Cambria Math" panose="02040503050406030204" pitchFamily="18" charset="0"/>
                                          <a:ea typeface="Cambria Math" panose="02040503050406030204" pitchFamily="18" charset="0"/>
                                        </a:rPr>
                                        <m:t>𝑥</m:t>
                                      </m:r>
                                    </m:e>
                                  </m:acc>
                                </m:e>
                              </m:d>
                            </m:e>
                            <m:sup>
                              <m:r>
                                <a:rPr lang="en-US" altLang="nl-NL" sz="2600" b="0" i="1" smtClean="0">
                                  <a:latin typeface="Cambria Math" panose="02040503050406030204" pitchFamily="18" charset="0"/>
                                  <a:ea typeface="Cambria Math" panose="02040503050406030204" pitchFamily="18" charset="0"/>
                                </a:rPr>
                                <m:t>2</m:t>
                              </m:r>
                            </m:sup>
                          </m:sSup>
                          <m:r>
                            <a:rPr lang="en-US" altLang="nl-NL" sz="2600" b="0" i="1" smtClean="0">
                              <a:latin typeface="Cambria Math" panose="02040503050406030204" pitchFamily="18" charset="0"/>
                              <a:ea typeface="Cambria Math" panose="02040503050406030204" pitchFamily="18" charset="0"/>
                            </a:rPr>
                            <m:t> </m:t>
                          </m:r>
                        </m:e>
                      </m:nary>
                    </m:oMath>
                  </m:oMathPara>
                </a14:m>
                <a:endParaRPr lang="en-US" altLang="nl-NL" sz="2600" dirty="0"/>
              </a:p>
              <a:p>
                <a:pPr>
                  <a:lnSpc>
                    <a:spcPct val="120000"/>
                  </a:lnSpc>
                </a:pPr>
                <a:r>
                  <a:rPr lang="en-US" altLang="nl-NL" sz="2600" dirty="0">
                    <a:latin typeface="Arial" panose="020B0604020202020204" pitchFamily="34" charset="0"/>
                  </a:rPr>
                  <a:t>For the above data with </a:t>
                </a:r>
                <a14:m>
                  <m:oMath xmlns:m="http://schemas.openxmlformats.org/officeDocument/2006/math">
                    <m:r>
                      <a:rPr lang="en-US" altLang="nl-NL" sz="2600" b="0" i="1" dirty="0" smtClean="0">
                        <a:latin typeface="Cambria Math" panose="02040503050406030204" pitchFamily="18" charset="0"/>
                      </a:rPr>
                      <m:t>𝑛</m:t>
                    </m:r>
                    <m:r>
                      <a:rPr lang="en-US" altLang="nl-NL" sz="2600" b="0" i="1" dirty="0" smtClean="0">
                        <a:latin typeface="Cambria Math" panose="02040503050406030204" pitchFamily="18" charset="0"/>
                      </a:rPr>
                      <m:t> </m:t>
                    </m:r>
                    <m:r>
                      <m:rPr>
                        <m:nor/>
                      </m:rPr>
                      <a:rPr lang="en-US" altLang="nl-NL" sz="2600" dirty="0"/>
                      <m:t>=</m:t>
                    </m:r>
                    <m:r>
                      <m:rPr>
                        <m:nor/>
                      </m:rPr>
                      <a:rPr lang="en-US" altLang="nl-NL" sz="2600" b="0" i="0" dirty="0" smtClean="0"/>
                      <m:t> 12</m:t>
                    </m:r>
                  </m:oMath>
                </a14:m>
                <a:r>
                  <a:rPr lang="en-US" altLang="nl-NL" sz="2600" dirty="0">
                    <a:latin typeface="Arial" panose="020B0604020202020204" pitchFamily="34" charset="0"/>
                  </a:rPr>
                  <a:t>, we have </a:t>
                </a:r>
                <a14:m>
                  <m:oMath xmlns:m="http://schemas.openxmlformats.org/officeDocument/2006/math">
                    <m:acc>
                      <m:accPr>
                        <m:chr m:val="̂"/>
                        <m:ctrlPr>
                          <a:rPr lang="en-US" altLang="nl-NL" sz="2600" i="1" dirty="0">
                            <a:latin typeface="Cambria Math" panose="02040503050406030204" pitchFamily="18" charset="0"/>
                            <a:ea typeface="Cambria Math" panose="02040503050406030204" pitchFamily="18" charset="0"/>
                          </a:rPr>
                        </m:ctrlPr>
                      </m:accPr>
                      <m:e>
                        <m:r>
                          <a:rPr lang="en-US" altLang="nl-NL" sz="2600" i="1" dirty="0">
                            <a:latin typeface="Cambria Math" panose="02040503050406030204" pitchFamily="18" charset="0"/>
                            <a:ea typeface="Cambria Math" panose="02040503050406030204" pitchFamily="18" charset="0"/>
                          </a:rPr>
                          <m:t>𝜇</m:t>
                        </m:r>
                      </m:e>
                    </m:acc>
                    <m:r>
                      <a:rPr lang="en-US" altLang="nl-NL" sz="2600" b="0" i="1" dirty="0" smtClean="0">
                        <a:latin typeface="Cambria Math" panose="02040503050406030204" pitchFamily="18" charset="0"/>
                        <a:ea typeface="Cambria Math" panose="02040503050406030204" pitchFamily="18" charset="0"/>
                      </a:rPr>
                      <m:t>=28.72</m:t>
                    </m:r>
                  </m:oMath>
                </a14:m>
                <a:r>
                  <a:rPr lang="en-US" altLang="nl-NL" sz="2600" dirty="0"/>
                  <a:t> and </a:t>
                </a:r>
                <a14:m>
                  <m:oMath xmlns:m="http://schemas.openxmlformats.org/officeDocument/2006/math">
                    <m:acc>
                      <m:accPr>
                        <m:chr m:val="̂"/>
                        <m:ctrlPr>
                          <a:rPr lang="en-US" altLang="nl-NL" sz="2600" i="1" dirty="0">
                            <a:latin typeface="Cambria Math" panose="02040503050406030204" pitchFamily="18" charset="0"/>
                            <a:ea typeface="Cambria Math" panose="02040503050406030204" pitchFamily="18" charset="0"/>
                          </a:rPr>
                        </m:ctrlPr>
                      </m:accPr>
                      <m:e>
                        <m:r>
                          <a:rPr lang="en-US" altLang="nl-NL" sz="2600" b="0" i="1" dirty="0" smtClean="0">
                            <a:latin typeface="Cambria Math" panose="02040503050406030204" pitchFamily="18" charset="0"/>
                            <a:ea typeface="Cambria Math" panose="02040503050406030204" pitchFamily="18" charset="0"/>
                          </a:rPr>
                          <m:t>𝜎</m:t>
                        </m:r>
                        <m:r>
                          <a:rPr lang="en-US" altLang="nl-NL" sz="2600" b="0" i="1" dirty="0" smtClean="0">
                            <a:latin typeface="Cambria Math" panose="02040503050406030204" pitchFamily="18" charset="0"/>
                            <a:ea typeface="Cambria Math" panose="02040503050406030204" pitchFamily="18" charset="0"/>
                          </a:rPr>
                          <m:t> </m:t>
                        </m:r>
                      </m:e>
                    </m:acc>
                    <m:r>
                      <a:rPr lang="en-US" altLang="nl-NL" sz="2600" i="1" dirty="0">
                        <a:latin typeface="Cambria Math" panose="02040503050406030204" pitchFamily="18" charset="0"/>
                        <a:ea typeface="Cambria Math" panose="02040503050406030204" pitchFamily="18" charset="0"/>
                      </a:rPr>
                      <m:t>=</m:t>
                    </m:r>
                    <m:rad>
                      <m:radPr>
                        <m:degHide m:val="on"/>
                        <m:ctrlPr>
                          <a:rPr lang="en-US" altLang="nl-NL" sz="2600" i="1" dirty="0" smtClean="0">
                            <a:latin typeface="Cambria Math" panose="02040503050406030204" pitchFamily="18" charset="0"/>
                            <a:ea typeface="Cambria Math" panose="02040503050406030204" pitchFamily="18" charset="0"/>
                          </a:rPr>
                        </m:ctrlPr>
                      </m:radPr>
                      <m:deg/>
                      <m:e>
                        <m:r>
                          <a:rPr lang="en-US" altLang="nl-NL" sz="2600" b="0" i="1" dirty="0" smtClean="0">
                            <a:latin typeface="Cambria Math" panose="02040503050406030204" pitchFamily="18" charset="0"/>
                            <a:ea typeface="Cambria Math" panose="02040503050406030204" pitchFamily="18" charset="0"/>
                          </a:rPr>
                          <m:t>2.</m:t>
                        </m:r>
                        <m:r>
                          <a:rPr lang="en-US" altLang="nl-NL" sz="2600" b="0" i="1" dirty="0" smtClean="0">
                            <a:latin typeface="Cambria Math" panose="02040503050406030204" pitchFamily="18" charset="0"/>
                            <a:ea typeface="Cambria Math" panose="02040503050406030204" pitchFamily="18" charset="0"/>
                          </a:rPr>
                          <m:t>24</m:t>
                        </m:r>
                        <m:r>
                          <m:rPr>
                            <m:nor/>
                          </m:rPr>
                          <a:rPr lang="en-US" altLang="nl-NL" sz="2600" dirty="0"/>
                          <m:t> </m:t>
                        </m:r>
                      </m:e>
                    </m:rad>
                    <m:r>
                      <m:rPr>
                        <m:nor/>
                      </m:rPr>
                      <a:rPr lang="en-US" altLang="nl-NL" sz="2600" dirty="0"/>
                      <m:t>= 1.</m:t>
                    </m:r>
                    <m:r>
                      <m:rPr>
                        <m:nor/>
                      </m:rPr>
                      <a:rPr lang="en-US" altLang="nl-NL" sz="2600" b="0" i="0" dirty="0" smtClean="0"/>
                      <m:t>4</m:t>
                    </m:r>
                    <m:r>
                      <m:rPr>
                        <m:nor/>
                      </m:rPr>
                      <a:rPr lang="en-US" altLang="nl-NL" sz="2600" b="0" i="0" dirty="0" smtClean="0"/>
                      <m:t>97</m:t>
                    </m:r>
                  </m:oMath>
                </a14:m>
                <a:r>
                  <a:rPr lang="en-US" altLang="nl-NL" sz="2600" dirty="0">
                    <a:latin typeface="Arial" panose="020B0604020202020204" pitchFamily="34" charset="0"/>
                  </a:rPr>
                  <a:t> Then </a:t>
                </a:r>
                <a14:m>
                  <m:oMath xmlns:m="http://schemas.openxmlformats.org/officeDocument/2006/math">
                    <m:r>
                      <m:rPr>
                        <m:nor/>
                      </m:rPr>
                      <a:rPr lang="en-US" altLang="nl-NL" sz="2600" dirty="0">
                        <a:latin typeface="Arial" panose="020B0604020202020204" pitchFamily="34" charset="0"/>
                      </a:rPr>
                      <m:t>(24 – 28.</m:t>
                    </m:r>
                    <m:r>
                      <m:rPr>
                        <m:nor/>
                      </m:rPr>
                      <a:rPr lang="en-US" altLang="nl-NL" sz="2600" b="0" i="0" dirty="0" smtClean="0">
                        <a:latin typeface="Arial" panose="020B0604020202020204" pitchFamily="34" charset="0"/>
                      </a:rPr>
                      <m:t>72</m:t>
                    </m:r>
                    <m:r>
                      <m:rPr>
                        <m:nor/>
                      </m:rPr>
                      <a:rPr lang="en-US" altLang="nl-NL" sz="2600" dirty="0">
                        <a:latin typeface="Arial" panose="020B0604020202020204" pitchFamily="34" charset="0"/>
                      </a:rPr>
                      <m:t>) /1.</m:t>
                    </m:r>
                    <m:r>
                      <m:rPr>
                        <m:nor/>
                      </m:rPr>
                      <a:rPr lang="en-US" altLang="nl-NL" sz="2600" b="0" i="0" dirty="0" smtClean="0">
                        <a:latin typeface="Arial" panose="020B0604020202020204" pitchFamily="34" charset="0"/>
                      </a:rPr>
                      <m:t>4</m:t>
                    </m:r>
                    <m:r>
                      <m:rPr>
                        <m:nor/>
                      </m:rPr>
                      <a:rPr lang="en-US" altLang="nl-NL" sz="2600" b="0" i="0" dirty="0" smtClean="0">
                        <a:latin typeface="Arial" panose="020B0604020202020204" pitchFamily="34" charset="0"/>
                      </a:rPr>
                      <m:t>97</m:t>
                    </m:r>
                    <m:r>
                      <m:rPr>
                        <m:nor/>
                      </m:rPr>
                      <a:rPr lang="en-US" altLang="nl-NL" sz="2600" dirty="0">
                        <a:latin typeface="Arial" panose="020B0604020202020204" pitchFamily="34" charset="0"/>
                      </a:rPr>
                      <m:t> = – 3.</m:t>
                    </m:r>
                    <m:r>
                      <m:rPr>
                        <m:nor/>
                      </m:rPr>
                      <a:rPr lang="en-US" altLang="nl-NL" sz="2600" b="0" i="0" dirty="0" smtClean="0">
                        <a:latin typeface="Arial" panose="020B0604020202020204" pitchFamily="34" charset="0"/>
                      </a:rPr>
                      <m:t>15</m:t>
                    </m:r>
                    <m:r>
                      <m:rPr>
                        <m:nor/>
                      </m:rPr>
                      <a:rPr lang="en-US" altLang="nl-NL" sz="2600" dirty="0">
                        <a:latin typeface="Arial" panose="020B0604020202020204" pitchFamily="34" charset="0"/>
                      </a:rPr>
                      <m:t> &lt; –3</m:t>
                    </m:r>
                  </m:oMath>
                </a14:m>
                <a:r>
                  <a:rPr lang="en-US" altLang="nl-NL" sz="2600" dirty="0">
                    <a:latin typeface="Arial" panose="020B0604020202020204" pitchFamily="34" charset="0"/>
                  </a:rPr>
                  <a:t>, 24 is an outlier since </a:t>
                </a:r>
                <a:r>
                  <a:rPr lang="en-US" altLang="nl-NL" sz="2600" dirty="0"/>
                  <a:t>for Normal distribution, </a:t>
                </a:r>
                <a14:m>
                  <m:oMath xmlns:m="http://schemas.openxmlformats.org/officeDocument/2006/math">
                    <m:acc>
                      <m:accPr>
                        <m:chr m:val="̂"/>
                        <m:ctrlPr>
                          <a:rPr lang="en-US" altLang="nl-NL" sz="2600" i="1" dirty="0">
                            <a:latin typeface="Cambria Math" panose="02040503050406030204" pitchFamily="18" charset="0"/>
                            <a:ea typeface="Cambria Math" panose="02040503050406030204" pitchFamily="18" charset="0"/>
                          </a:rPr>
                        </m:ctrlPr>
                      </m:accPr>
                      <m:e>
                        <m:r>
                          <a:rPr lang="en-US" altLang="nl-NL" sz="2600" i="1" dirty="0">
                            <a:latin typeface="Cambria Math" panose="02040503050406030204" pitchFamily="18" charset="0"/>
                            <a:ea typeface="Cambria Math" panose="02040503050406030204" pitchFamily="18" charset="0"/>
                          </a:rPr>
                          <m:t>𝜇</m:t>
                        </m:r>
                      </m:e>
                    </m:acc>
                    <m:r>
                      <a:rPr lang="en-US" altLang="nl-NL" sz="2600" i="1" dirty="0" smtClean="0">
                        <a:latin typeface="Cambria Math" panose="02040503050406030204" pitchFamily="18" charset="0"/>
                        <a:ea typeface="Cambria Math" panose="02040503050406030204" pitchFamily="18" charset="0"/>
                      </a:rPr>
                      <m:t>±</m:t>
                    </m:r>
                    <m:r>
                      <a:rPr lang="en-US" altLang="nl-NL" sz="2600" b="0" i="1" dirty="0" smtClean="0">
                        <a:latin typeface="Cambria Math" panose="02040503050406030204" pitchFamily="18" charset="0"/>
                        <a:ea typeface="Cambria Math" panose="02040503050406030204" pitchFamily="18" charset="0"/>
                      </a:rPr>
                      <m:t>3</m:t>
                    </m:r>
                    <m:r>
                      <a:rPr lang="en-US" altLang="nl-NL" sz="2600" b="0" i="1" dirty="0" smtClean="0">
                        <a:latin typeface="Cambria Math" panose="02040503050406030204" pitchFamily="18" charset="0"/>
                        <a:ea typeface="Cambria Math" panose="02040503050406030204" pitchFamily="18" charset="0"/>
                      </a:rPr>
                      <m:t>𝜎</m:t>
                    </m:r>
                  </m:oMath>
                </a14:m>
                <a:r>
                  <a:rPr lang="en-US" altLang="nl-NL" sz="2600" dirty="0"/>
                  <a:t> region contains 99.7% of the data.</a:t>
                </a:r>
              </a:p>
            </p:txBody>
          </p:sp>
        </mc:Choice>
        <mc:Fallback>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83024" y="1379622"/>
                <a:ext cx="10515600" cy="4938542"/>
              </a:xfrm>
              <a:blipFill>
                <a:blip r:embed="rId2"/>
                <a:stretch>
                  <a:fillRect l="-96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A86ED44-E50A-C2A5-FD59-DF4B0E5680A6}"/>
              </a:ext>
            </a:extLst>
          </p:cNvPr>
          <p:cNvSpPr>
            <a:spLocks noGrp="1"/>
          </p:cNvSpPr>
          <p:nvPr>
            <p:ph type="sldNum" sz="quarter" idx="12"/>
          </p:nvPr>
        </p:nvSpPr>
        <p:spPr/>
        <p:txBody>
          <a:bodyPr/>
          <a:lstStyle/>
          <a:p>
            <a:fld id="{F8D8F54C-053C-4394-9990-70DE256B1A6D}" type="slidenum">
              <a:rPr lang="nl-NL" smtClean="0"/>
              <a:t>43</a:t>
            </a:fld>
            <a:endParaRPr lang="nl-NL"/>
          </a:p>
        </p:txBody>
      </p:sp>
    </p:spTree>
    <p:extLst>
      <p:ext uri="{BB962C8B-B14F-4D97-AF65-F5344CB8AC3E}">
        <p14:creationId xmlns:p14="http://schemas.microsoft.com/office/powerpoint/2010/main" val="1784010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Parametric Statistical Approaches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2265278"/>
          </a:xfrm>
        </p:spPr>
        <p:txBody>
          <a:bodyPr>
            <a:noAutofit/>
          </a:bodyPr>
          <a:lstStyle/>
          <a:p>
            <a:pPr>
              <a:lnSpc>
                <a:spcPct val="100000"/>
              </a:lnSpc>
            </a:pPr>
            <a:r>
              <a:rPr lang="en-US" altLang="nl-NL" dirty="0"/>
              <a:t>Assuming data generated by a normal distribution could be sometimes overly simplified</a:t>
            </a:r>
          </a:p>
          <a:p>
            <a:pPr>
              <a:lnSpc>
                <a:spcPct val="100000"/>
              </a:lnSpc>
            </a:pPr>
            <a:r>
              <a:rPr lang="en-US" altLang="nl-NL" dirty="0"/>
              <a:t>Example (data in the figure): The objects between the two clusters cannot be captured as outliers since they are close to the estimated mean</a:t>
            </a:r>
          </a:p>
        </p:txBody>
      </p:sp>
      <p:pic>
        <p:nvPicPr>
          <p:cNvPr id="7" name="Picture 6" descr="A screenshot of a cell phone&#10;&#10;Description automatically generated">
            <a:extLst>
              <a:ext uri="{FF2B5EF4-FFF2-40B4-BE49-F238E27FC236}">
                <a16:creationId xmlns:a16="http://schemas.microsoft.com/office/drawing/2014/main" id="{3C7318A8-5923-46A1-8708-D5BF2AE5FDD7}"/>
              </a:ext>
            </a:extLst>
          </p:cNvPr>
          <p:cNvPicPr>
            <a:picLocks noChangeAspect="1"/>
          </p:cNvPicPr>
          <p:nvPr/>
        </p:nvPicPr>
        <p:blipFill rotWithShape="1">
          <a:blip r:embed="rId2">
            <a:extLst>
              <a:ext uri="{28A0092B-C50C-407E-A947-70E740481C1C}">
                <a14:useLocalDpi xmlns:a14="http://schemas.microsoft.com/office/drawing/2010/main" val="0"/>
              </a:ext>
            </a:extLst>
          </a:blip>
          <a:srcRect l="12671" t="8956" r="4674" b="22843"/>
          <a:stretch/>
        </p:blipFill>
        <p:spPr>
          <a:xfrm>
            <a:off x="6748443" y="4102100"/>
            <a:ext cx="4695005" cy="2390774"/>
          </a:xfrm>
          <a:prstGeom prst="rect">
            <a:avLst/>
          </a:prstGeom>
        </p:spPr>
      </p:pic>
      <p:sp>
        <p:nvSpPr>
          <p:cNvPr id="25" name="Content Placeholder 2">
            <a:extLst>
              <a:ext uri="{FF2B5EF4-FFF2-40B4-BE49-F238E27FC236}">
                <a16:creationId xmlns:a16="http://schemas.microsoft.com/office/drawing/2014/main" id="{3B759A7E-B026-4A89-A9F6-63BBC93C445D}"/>
              </a:ext>
            </a:extLst>
          </p:cNvPr>
          <p:cNvSpPr txBox="1">
            <a:spLocks/>
          </p:cNvSpPr>
          <p:nvPr/>
        </p:nvSpPr>
        <p:spPr>
          <a:xfrm>
            <a:off x="883024" y="3787140"/>
            <a:ext cx="5675667" cy="22652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nl-NL" dirty="0">
                <a:latin typeface="Arial" panose="020B0604020202020204" pitchFamily="34" charset="0"/>
              </a:rPr>
              <a:t>To overcome this problem, assume the normal data is generated by mixture </a:t>
            </a:r>
            <a:r>
              <a:rPr lang="en-US" altLang="nl-NL">
                <a:latin typeface="Arial" panose="020B0604020202020204" pitchFamily="34" charset="0"/>
              </a:rPr>
              <a:t>of Normal </a:t>
            </a:r>
            <a:r>
              <a:rPr lang="en-US" altLang="nl-NL" dirty="0">
                <a:latin typeface="Arial" panose="020B0604020202020204" pitchFamily="34" charset="0"/>
              </a:rPr>
              <a:t>distributions.  </a:t>
            </a:r>
            <a:endParaRPr lang="nl-NL" dirty="0"/>
          </a:p>
        </p:txBody>
      </p:sp>
      <p:sp>
        <p:nvSpPr>
          <p:cNvPr id="4" name="Slide Number Placeholder 3">
            <a:extLst>
              <a:ext uri="{FF2B5EF4-FFF2-40B4-BE49-F238E27FC236}">
                <a16:creationId xmlns:a16="http://schemas.microsoft.com/office/drawing/2014/main" id="{F92E3051-A8EA-D95B-9792-29A748C1E1CE}"/>
              </a:ext>
            </a:extLst>
          </p:cNvPr>
          <p:cNvSpPr>
            <a:spLocks noGrp="1"/>
          </p:cNvSpPr>
          <p:nvPr>
            <p:ph type="sldNum" sz="quarter" idx="12"/>
          </p:nvPr>
        </p:nvSpPr>
        <p:spPr/>
        <p:txBody>
          <a:bodyPr/>
          <a:lstStyle/>
          <a:p>
            <a:fld id="{F8D8F54C-053C-4394-9990-70DE256B1A6D}" type="slidenum">
              <a:rPr lang="nl-NL" smtClean="0"/>
              <a:t>44</a:t>
            </a:fld>
            <a:endParaRPr lang="nl-NL"/>
          </a:p>
        </p:txBody>
      </p:sp>
    </p:spTree>
    <p:extLst>
      <p:ext uri="{BB962C8B-B14F-4D97-AF65-F5344CB8AC3E}">
        <p14:creationId xmlns:p14="http://schemas.microsoft.com/office/powerpoint/2010/main" val="36558557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Parametric Statistical Approaches</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83024" y="1379622"/>
                <a:ext cx="10515600" cy="2265278"/>
              </a:xfrm>
            </p:spPr>
            <p:txBody>
              <a:bodyPr>
                <a:noAutofit/>
              </a:bodyPr>
              <a:lstStyle/>
              <a:p>
                <a:pPr>
                  <a:lnSpc>
                    <a:spcPct val="100000"/>
                  </a:lnSpc>
                </a:pPr>
                <a:r>
                  <a:rPr lang="en-US" altLang="nl-NL" dirty="0">
                    <a:latin typeface="Arial" panose="020B0604020202020204" pitchFamily="34" charset="0"/>
                  </a:rPr>
                  <a:t>For any object o in the data set, the probability that o is generated by the mixture of the three distributions is given by</a:t>
                </a:r>
              </a:p>
              <a:p>
                <a:pPr marL="0" indent="0">
                  <a:lnSpc>
                    <a:spcPct val="100000"/>
                  </a:lnSpc>
                  <a:buNone/>
                </a:pPr>
                <a14:m>
                  <m:oMathPara xmlns:m="http://schemas.openxmlformats.org/officeDocument/2006/math">
                    <m:oMathParaPr>
                      <m:jc m:val="centerGroup"/>
                    </m:oMathParaPr>
                    <m:oMath xmlns:m="http://schemas.openxmlformats.org/officeDocument/2006/math">
                      <m:func>
                        <m:funcPr>
                          <m:ctrlPr>
                            <a:rPr lang="en-US" altLang="nl-NL" b="0" i="1" smtClean="0">
                              <a:latin typeface="Cambria Math" panose="02040503050406030204" pitchFamily="18" charset="0"/>
                            </a:rPr>
                          </m:ctrlPr>
                        </m:funcPr>
                        <m:fName>
                          <m:r>
                            <m:rPr>
                              <m:sty m:val="p"/>
                            </m:rPr>
                            <a:rPr lang="en-US" altLang="nl-NL" b="0" i="0" smtClean="0">
                              <a:latin typeface="Cambria Math" panose="02040503050406030204" pitchFamily="18" charset="0"/>
                            </a:rPr>
                            <m:t>Pr</m:t>
                          </m:r>
                        </m:fName>
                        <m:e>
                          <m:d>
                            <m:dPr>
                              <m:ctrlPr>
                                <a:rPr lang="en-US" altLang="nl-NL" b="0" i="1" smtClean="0">
                                  <a:latin typeface="Cambria Math" panose="02040503050406030204" pitchFamily="18" charset="0"/>
                                </a:rPr>
                              </m:ctrlPr>
                            </m:dPr>
                            <m:e>
                              <m:r>
                                <a:rPr lang="en-US" altLang="nl-NL" b="0" i="1" smtClean="0">
                                  <a:latin typeface="Cambria Math" panose="02040503050406030204" pitchFamily="18" charset="0"/>
                                </a:rPr>
                                <m:t>𝑜</m:t>
                              </m:r>
                            </m:e>
                            <m:e>
                              <m:sSub>
                                <m:sSubPr>
                                  <m:ctrlPr>
                                    <a:rPr lang="en-US" altLang="nl-NL" b="0" i="1" smtClean="0">
                                      <a:latin typeface="Cambria Math" panose="02040503050406030204" pitchFamily="18" charset="0"/>
                                    </a:rPr>
                                  </m:ctrlPr>
                                </m:sSubPr>
                                <m:e>
                                  <m:r>
                                    <m:rPr>
                                      <m:sty m:val="p"/>
                                    </m:rPr>
                                    <a:rPr lang="en-US" altLang="nl-NL" b="0" i="0" smtClean="0">
                                      <a:latin typeface="Cambria Math" panose="02040503050406030204" pitchFamily="18" charset="0"/>
                                    </a:rPr>
                                    <m:t>Θ</m:t>
                                  </m:r>
                                </m:e>
                                <m:sub>
                                  <m:r>
                                    <a:rPr lang="en-US" altLang="nl-NL" b="0" i="1" smtClean="0">
                                      <a:latin typeface="Cambria Math" panose="02040503050406030204" pitchFamily="18" charset="0"/>
                                    </a:rPr>
                                    <m:t>1</m:t>
                                  </m:r>
                                </m:sub>
                              </m:sSub>
                              <m:r>
                                <a:rPr lang="en-US" altLang="nl-NL" b="0" i="1" smtClean="0">
                                  <a:latin typeface="Cambria Math" panose="02040503050406030204" pitchFamily="18" charset="0"/>
                                </a:rPr>
                                <m:t>, </m:t>
                              </m:r>
                              <m:sSub>
                                <m:sSubPr>
                                  <m:ctrlPr>
                                    <a:rPr lang="en-US" altLang="nl-NL" b="0" i="1" smtClean="0">
                                      <a:latin typeface="Cambria Math" panose="02040503050406030204" pitchFamily="18" charset="0"/>
                                    </a:rPr>
                                  </m:ctrlPr>
                                </m:sSubPr>
                                <m:e>
                                  <m:r>
                                    <m:rPr>
                                      <m:sty m:val="p"/>
                                    </m:rPr>
                                    <a:rPr lang="en-US" altLang="nl-NL" b="0" i="0" smtClean="0">
                                      <a:latin typeface="Cambria Math" panose="02040503050406030204" pitchFamily="18" charset="0"/>
                                    </a:rPr>
                                    <m:t>Θ</m:t>
                                  </m:r>
                                </m:e>
                                <m:sub>
                                  <m:r>
                                    <a:rPr lang="en-US" altLang="nl-NL" b="0" i="1" smtClean="0">
                                      <a:latin typeface="Cambria Math" panose="02040503050406030204" pitchFamily="18" charset="0"/>
                                    </a:rPr>
                                    <m:t>2</m:t>
                                  </m:r>
                                </m:sub>
                              </m:sSub>
                              <m:r>
                                <a:rPr lang="en-US" altLang="nl-NL" b="0" i="1" smtClean="0">
                                  <a:latin typeface="Cambria Math" panose="02040503050406030204" pitchFamily="18" charset="0"/>
                                </a:rPr>
                                <m:t>,</m:t>
                              </m:r>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b="0" i="1" smtClean="0">
                                      <a:latin typeface="Cambria Math" panose="02040503050406030204" pitchFamily="18" charset="0"/>
                                    </a:rPr>
                                    <m:t>3</m:t>
                                  </m:r>
                                </m:sub>
                              </m:sSub>
                            </m:e>
                          </m:d>
                        </m:e>
                      </m:func>
                      <m:r>
                        <a:rPr lang="en-US" altLang="nl-NL" b="0" i="1" smtClean="0">
                          <a:latin typeface="Cambria Math" panose="02040503050406030204" pitchFamily="18" charset="0"/>
                        </a:rPr>
                        <m:t>=</m:t>
                      </m:r>
                      <m:sSub>
                        <m:sSubPr>
                          <m:ctrlPr>
                            <a:rPr lang="en-US" altLang="nl-NL" b="0" i="1" smtClean="0">
                              <a:latin typeface="Cambria Math" panose="02040503050406030204" pitchFamily="18" charset="0"/>
                            </a:rPr>
                          </m:ctrlPr>
                        </m:sSubPr>
                        <m:e>
                          <m:r>
                            <a:rPr lang="en-US" altLang="nl-NL" b="0" i="1" smtClean="0">
                              <a:latin typeface="Cambria Math" panose="02040503050406030204" pitchFamily="18" charset="0"/>
                            </a:rPr>
                            <m:t>𝑓</m:t>
                          </m:r>
                        </m:e>
                        <m:sub>
                          <m:sSub>
                            <m:sSubPr>
                              <m:ctrlPr>
                                <a:rPr lang="en-US" altLang="nl-NL" b="0" i="1" smtClean="0">
                                  <a:latin typeface="Cambria Math" panose="02040503050406030204" pitchFamily="18" charset="0"/>
                                </a:rPr>
                              </m:ctrlPr>
                            </m:sSubPr>
                            <m:e>
                              <m:r>
                                <m:rPr>
                                  <m:sty m:val="p"/>
                                </m:rPr>
                                <a:rPr lang="en-US" altLang="nl-NL" b="0" i="0" smtClean="0">
                                  <a:latin typeface="Cambria Math" panose="02040503050406030204" pitchFamily="18" charset="0"/>
                                </a:rPr>
                                <m:t>Θ</m:t>
                              </m:r>
                            </m:e>
                            <m:sub>
                              <m:r>
                                <a:rPr lang="en-US" altLang="nl-NL" b="0" i="1" smtClean="0">
                                  <a:latin typeface="Cambria Math" panose="02040503050406030204" pitchFamily="18" charset="0"/>
                                </a:rPr>
                                <m:t>1</m:t>
                              </m:r>
                            </m:sub>
                          </m:sSub>
                        </m:sub>
                      </m:sSub>
                      <m:d>
                        <m:dPr>
                          <m:ctrlPr>
                            <a:rPr lang="en-US" altLang="nl-NL" b="0" i="1" smtClean="0">
                              <a:latin typeface="Cambria Math" panose="02040503050406030204" pitchFamily="18" charset="0"/>
                            </a:rPr>
                          </m:ctrlPr>
                        </m:dPr>
                        <m:e>
                          <m:r>
                            <a:rPr lang="en-US" altLang="nl-NL" b="0" i="1" smtClean="0">
                              <a:latin typeface="Cambria Math" panose="02040503050406030204" pitchFamily="18" charset="0"/>
                            </a:rPr>
                            <m:t>𝑜</m:t>
                          </m:r>
                        </m:e>
                      </m:d>
                      <m:r>
                        <a:rPr lang="en-US" altLang="nl-NL" b="0" i="1" smtClean="0">
                          <a:latin typeface="Cambria Math" panose="02040503050406030204" pitchFamily="18" charset="0"/>
                        </a:rPr>
                        <m:t>+</m:t>
                      </m:r>
                      <m:sSub>
                        <m:sSubPr>
                          <m:ctrlPr>
                            <a:rPr lang="en-US" altLang="nl-NL" i="1">
                              <a:latin typeface="Cambria Math" panose="02040503050406030204" pitchFamily="18" charset="0"/>
                            </a:rPr>
                          </m:ctrlPr>
                        </m:sSubPr>
                        <m:e>
                          <m:r>
                            <a:rPr lang="en-US" altLang="nl-NL" i="1">
                              <a:latin typeface="Cambria Math" panose="02040503050406030204" pitchFamily="18" charset="0"/>
                            </a:rPr>
                            <m:t>𝑓</m:t>
                          </m:r>
                        </m:e>
                        <m:sub>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b="0" i="1" smtClean="0">
                                  <a:latin typeface="Cambria Math" panose="02040503050406030204" pitchFamily="18" charset="0"/>
                                </a:rPr>
                                <m:t>2</m:t>
                              </m:r>
                            </m:sub>
                          </m:sSub>
                        </m:sub>
                      </m:sSub>
                      <m:d>
                        <m:dPr>
                          <m:ctrlPr>
                            <a:rPr lang="en-US" altLang="nl-NL" i="1">
                              <a:latin typeface="Cambria Math" panose="02040503050406030204" pitchFamily="18" charset="0"/>
                            </a:rPr>
                          </m:ctrlPr>
                        </m:dPr>
                        <m:e>
                          <m:r>
                            <a:rPr lang="en-US" altLang="nl-NL" i="1">
                              <a:latin typeface="Cambria Math" panose="02040503050406030204" pitchFamily="18" charset="0"/>
                            </a:rPr>
                            <m:t>𝑜</m:t>
                          </m:r>
                        </m:e>
                      </m:d>
                      <m:r>
                        <a:rPr lang="en-US" altLang="nl-NL" i="1">
                          <a:latin typeface="Cambria Math" panose="02040503050406030204" pitchFamily="18" charset="0"/>
                        </a:rPr>
                        <m:t>+</m:t>
                      </m:r>
                      <m:sSub>
                        <m:sSubPr>
                          <m:ctrlPr>
                            <a:rPr lang="en-US" altLang="nl-NL" i="1">
                              <a:latin typeface="Cambria Math" panose="02040503050406030204" pitchFamily="18" charset="0"/>
                            </a:rPr>
                          </m:ctrlPr>
                        </m:sSubPr>
                        <m:e>
                          <m:r>
                            <a:rPr lang="en-US" altLang="nl-NL" i="1">
                              <a:latin typeface="Cambria Math" panose="02040503050406030204" pitchFamily="18" charset="0"/>
                            </a:rPr>
                            <m:t>𝑓</m:t>
                          </m:r>
                        </m:e>
                        <m:sub>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b="0" i="1" smtClean="0">
                                  <a:latin typeface="Cambria Math" panose="02040503050406030204" pitchFamily="18" charset="0"/>
                                </a:rPr>
                                <m:t>3</m:t>
                              </m:r>
                            </m:sub>
                          </m:sSub>
                        </m:sub>
                      </m:sSub>
                      <m:d>
                        <m:dPr>
                          <m:ctrlPr>
                            <a:rPr lang="en-US" altLang="nl-NL" i="1">
                              <a:latin typeface="Cambria Math" panose="02040503050406030204" pitchFamily="18" charset="0"/>
                            </a:rPr>
                          </m:ctrlPr>
                        </m:dPr>
                        <m:e>
                          <m:r>
                            <a:rPr lang="en-US" altLang="nl-NL" i="1">
                              <a:latin typeface="Cambria Math" panose="02040503050406030204" pitchFamily="18" charset="0"/>
                            </a:rPr>
                            <m:t>𝑜</m:t>
                          </m:r>
                        </m:e>
                      </m:d>
                    </m:oMath>
                  </m:oMathPara>
                </a14:m>
                <a:endParaRPr lang="en-US" altLang="nl-NL" dirty="0"/>
              </a:p>
              <a:p>
                <a:pPr marL="233363" indent="0">
                  <a:lnSpc>
                    <a:spcPct val="100000"/>
                  </a:lnSpc>
                  <a:buNone/>
                </a:pPr>
                <a:r>
                  <a:rPr lang="en-US" altLang="nl-NL" dirty="0"/>
                  <a:t>where </a:t>
                </a:r>
                <a14:m>
                  <m:oMath xmlns:m="http://schemas.openxmlformats.org/officeDocument/2006/math">
                    <m:sSub>
                      <m:sSubPr>
                        <m:ctrlPr>
                          <a:rPr lang="en-US" altLang="nl-NL" i="1">
                            <a:latin typeface="Cambria Math" panose="02040503050406030204" pitchFamily="18" charset="0"/>
                          </a:rPr>
                        </m:ctrlPr>
                      </m:sSubPr>
                      <m:e>
                        <m:r>
                          <a:rPr lang="en-US" altLang="nl-NL" i="1">
                            <a:latin typeface="Cambria Math" panose="02040503050406030204" pitchFamily="18" charset="0"/>
                          </a:rPr>
                          <m:t>𝑓</m:t>
                        </m:r>
                      </m:e>
                      <m:sub>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i="1">
                                <a:latin typeface="Cambria Math" panose="02040503050406030204" pitchFamily="18" charset="0"/>
                              </a:rPr>
                              <m:t>1</m:t>
                            </m:r>
                          </m:sub>
                        </m:sSub>
                      </m:sub>
                    </m:sSub>
                    <m:d>
                      <m:dPr>
                        <m:ctrlPr>
                          <a:rPr lang="en-US" altLang="nl-NL" i="1">
                            <a:latin typeface="Cambria Math" panose="02040503050406030204" pitchFamily="18" charset="0"/>
                          </a:rPr>
                        </m:ctrlPr>
                      </m:dPr>
                      <m:e>
                        <m:r>
                          <a:rPr lang="en-US" altLang="nl-NL" i="1">
                            <a:latin typeface="Cambria Math" panose="02040503050406030204" pitchFamily="18" charset="0"/>
                          </a:rPr>
                          <m:t>𝑜</m:t>
                        </m:r>
                      </m:e>
                    </m:d>
                    <m:r>
                      <a:rPr lang="en-US" altLang="nl-NL" b="0" i="1" smtClean="0">
                        <a:latin typeface="Cambria Math" panose="02040503050406030204" pitchFamily="18" charset="0"/>
                      </a:rPr>
                      <m:t>,</m:t>
                    </m:r>
                    <m:sSub>
                      <m:sSubPr>
                        <m:ctrlPr>
                          <a:rPr lang="en-US" altLang="nl-NL" i="1">
                            <a:latin typeface="Cambria Math" panose="02040503050406030204" pitchFamily="18" charset="0"/>
                          </a:rPr>
                        </m:ctrlPr>
                      </m:sSubPr>
                      <m:e>
                        <m:r>
                          <a:rPr lang="en-US" altLang="nl-NL" i="1">
                            <a:latin typeface="Cambria Math" panose="02040503050406030204" pitchFamily="18" charset="0"/>
                          </a:rPr>
                          <m:t>𝑓</m:t>
                        </m:r>
                      </m:e>
                      <m:sub>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b="0" i="1" smtClean="0">
                                <a:latin typeface="Cambria Math" panose="02040503050406030204" pitchFamily="18" charset="0"/>
                              </a:rPr>
                              <m:t>2</m:t>
                            </m:r>
                          </m:sub>
                        </m:sSub>
                      </m:sub>
                    </m:sSub>
                    <m:d>
                      <m:dPr>
                        <m:ctrlPr>
                          <a:rPr lang="en-US" altLang="nl-NL" i="1">
                            <a:latin typeface="Cambria Math" panose="02040503050406030204" pitchFamily="18" charset="0"/>
                          </a:rPr>
                        </m:ctrlPr>
                      </m:dPr>
                      <m:e>
                        <m:r>
                          <a:rPr lang="en-US" altLang="nl-NL" i="1">
                            <a:latin typeface="Cambria Math" panose="02040503050406030204" pitchFamily="18" charset="0"/>
                          </a:rPr>
                          <m:t>𝑜</m:t>
                        </m:r>
                      </m:e>
                    </m:d>
                    <m:r>
                      <a:rPr lang="en-US" altLang="nl-NL" b="0" i="1" smtClean="0">
                        <a:latin typeface="Cambria Math" panose="02040503050406030204" pitchFamily="18" charset="0"/>
                      </a:rPr>
                      <m:t>,</m:t>
                    </m:r>
                    <m:sSub>
                      <m:sSubPr>
                        <m:ctrlPr>
                          <a:rPr lang="en-US" altLang="nl-NL" i="1">
                            <a:latin typeface="Cambria Math" panose="02040503050406030204" pitchFamily="18" charset="0"/>
                          </a:rPr>
                        </m:ctrlPr>
                      </m:sSubPr>
                      <m:e>
                        <m:r>
                          <a:rPr lang="en-US" altLang="nl-NL" i="1">
                            <a:latin typeface="Cambria Math" panose="02040503050406030204" pitchFamily="18" charset="0"/>
                          </a:rPr>
                          <m:t>𝑓</m:t>
                        </m:r>
                      </m:e>
                      <m:sub>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b="0" i="1" smtClean="0">
                                <a:latin typeface="Cambria Math" panose="02040503050406030204" pitchFamily="18" charset="0"/>
                              </a:rPr>
                              <m:t>3</m:t>
                            </m:r>
                          </m:sub>
                        </m:sSub>
                      </m:sub>
                    </m:sSub>
                    <m:d>
                      <m:dPr>
                        <m:ctrlPr>
                          <a:rPr lang="en-US" altLang="nl-NL" i="1">
                            <a:latin typeface="Cambria Math" panose="02040503050406030204" pitchFamily="18" charset="0"/>
                          </a:rPr>
                        </m:ctrlPr>
                      </m:dPr>
                      <m:e>
                        <m:r>
                          <a:rPr lang="en-US" altLang="nl-NL" i="1">
                            <a:latin typeface="Cambria Math" panose="02040503050406030204" pitchFamily="18" charset="0"/>
                          </a:rPr>
                          <m:t>𝑜</m:t>
                        </m:r>
                      </m:e>
                    </m:d>
                  </m:oMath>
                </a14:m>
                <a:r>
                  <a:rPr lang="en-US" altLang="nl-NL" dirty="0"/>
                  <a:t>are the probability density functions of </a:t>
                </a:r>
                <a14:m>
                  <m:oMath xmlns:m="http://schemas.openxmlformats.org/officeDocument/2006/math">
                    <m:sSub>
                      <m:sSubPr>
                        <m:ctrlPr>
                          <a:rPr lang="en-US" altLang="nl-NL" b="0" i="1" smtClean="0">
                            <a:latin typeface="Cambria Math" panose="02040503050406030204" pitchFamily="18" charset="0"/>
                          </a:rPr>
                        </m:ctrlPr>
                      </m:sSubPr>
                      <m:e>
                        <m:r>
                          <m:rPr>
                            <m:sty m:val="p"/>
                          </m:rPr>
                          <a:rPr lang="en-US" altLang="nl-NL" b="0" i="0" smtClean="0">
                            <a:latin typeface="Cambria Math" panose="02040503050406030204" pitchFamily="18" charset="0"/>
                          </a:rPr>
                          <m:t>Θ</m:t>
                        </m:r>
                      </m:e>
                      <m:sub>
                        <m:r>
                          <a:rPr lang="en-US" altLang="nl-NL" b="0" i="1" smtClean="0">
                            <a:latin typeface="Cambria Math" panose="02040503050406030204" pitchFamily="18" charset="0"/>
                          </a:rPr>
                          <m:t>1</m:t>
                        </m:r>
                      </m:sub>
                    </m:sSub>
                    <m:r>
                      <a:rPr lang="en-US" altLang="nl-NL" b="0" i="1" smtClean="0">
                        <a:latin typeface="Cambria Math" panose="02040503050406030204" pitchFamily="18" charset="0"/>
                      </a:rPr>
                      <m:t>,</m:t>
                    </m:r>
                    <m:sSub>
                      <m:sSubPr>
                        <m:ctrlPr>
                          <a:rPr lang="en-US" altLang="nl-NL" b="0" i="1" smtClean="0">
                            <a:latin typeface="Cambria Math" panose="02040503050406030204" pitchFamily="18" charset="0"/>
                          </a:rPr>
                        </m:ctrlPr>
                      </m:sSubPr>
                      <m:e>
                        <m:r>
                          <m:rPr>
                            <m:sty m:val="p"/>
                          </m:rPr>
                          <a:rPr lang="en-US" altLang="nl-NL" b="0" i="0" smtClean="0">
                            <a:latin typeface="Cambria Math" panose="02040503050406030204" pitchFamily="18" charset="0"/>
                          </a:rPr>
                          <m:t>Θ</m:t>
                        </m:r>
                      </m:e>
                      <m:sub>
                        <m:r>
                          <a:rPr lang="en-US" altLang="nl-NL" b="0" i="1" smtClean="0">
                            <a:latin typeface="Cambria Math" panose="02040503050406030204" pitchFamily="18" charset="0"/>
                          </a:rPr>
                          <m:t>2</m:t>
                        </m:r>
                      </m:sub>
                    </m:sSub>
                    <m:r>
                      <a:rPr lang="en-US" altLang="nl-NL" b="0" i="1" smtClean="0">
                        <a:latin typeface="Cambria Math" panose="02040503050406030204" pitchFamily="18" charset="0"/>
                      </a:rPr>
                      <m:t>,</m:t>
                    </m:r>
                    <m:sSub>
                      <m:sSubPr>
                        <m:ctrlPr>
                          <a:rPr lang="en-US" altLang="nl-NL" i="1">
                            <a:latin typeface="Cambria Math" panose="02040503050406030204" pitchFamily="18" charset="0"/>
                          </a:rPr>
                        </m:ctrlPr>
                      </m:sSubPr>
                      <m:e>
                        <m:r>
                          <m:rPr>
                            <m:sty m:val="p"/>
                          </m:rPr>
                          <a:rPr lang="en-US" altLang="nl-NL">
                            <a:latin typeface="Cambria Math" panose="02040503050406030204" pitchFamily="18" charset="0"/>
                          </a:rPr>
                          <m:t>Θ</m:t>
                        </m:r>
                      </m:e>
                      <m:sub>
                        <m:r>
                          <a:rPr lang="en-US" altLang="nl-NL" b="0" i="1" smtClean="0">
                            <a:latin typeface="Cambria Math" panose="02040503050406030204" pitchFamily="18" charset="0"/>
                          </a:rPr>
                          <m:t>3</m:t>
                        </m:r>
                      </m:sub>
                    </m:sSub>
                  </m:oMath>
                </a14:m>
                <a:endParaRPr lang="en-US" altLang="nl-NL"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83024" y="1379622"/>
                <a:ext cx="10515600" cy="2265278"/>
              </a:xfrm>
              <a:blipFill>
                <a:blip r:embed="rId2"/>
                <a:stretch>
                  <a:fillRect l="-1086" t="-2778" b="-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3B759A7E-B026-4A89-A9F6-63BBC93C445D}"/>
                  </a:ext>
                </a:extLst>
              </p:cNvPr>
              <p:cNvSpPr txBox="1">
                <a:spLocks/>
              </p:cNvSpPr>
              <p:nvPr/>
            </p:nvSpPr>
            <p:spPr>
              <a:xfrm>
                <a:off x="883024" y="3970654"/>
                <a:ext cx="7308740" cy="25222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nl-NL" dirty="0">
                    <a:latin typeface="Arial" panose="020B0604020202020204" pitchFamily="34" charset="0"/>
                  </a:rPr>
                  <a:t>use EM algorithm to learn the parameters </a:t>
                </a:r>
                <a14:m>
                  <m:oMath xmlns:m="http://schemas.openxmlformats.org/officeDocument/2006/math">
                    <m:sSub>
                      <m:sSubPr>
                        <m:ctrlPr>
                          <a:rPr lang="en-US" altLang="nl-NL" b="0" i="1" smtClean="0">
                            <a:latin typeface="Cambria Math" panose="02040503050406030204" pitchFamily="18" charset="0"/>
                          </a:rPr>
                        </m:ctrlPr>
                      </m:sSubPr>
                      <m:e>
                        <m:r>
                          <a:rPr lang="en-US" altLang="nl-NL" b="0" i="1" smtClean="0">
                            <a:latin typeface="Cambria Math" panose="02040503050406030204" pitchFamily="18" charset="0"/>
                          </a:rPr>
                          <m:t>𝜇</m:t>
                        </m:r>
                      </m:e>
                      <m:sub>
                        <m:r>
                          <a:rPr lang="en-US" altLang="nl-NL" b="0" i="1" smtClean="0">
                            <a:latin typeface="Cambria Math" panose="02040503050406030204" pitchFamily="18" charset="0"/>
                          </a:rPr>
                          <m:t>1</m:t>
                        </m:r>
                      </m:sub>
                    </m:sSub>
                  </m:oMath>
                </a14:m>
                <a:r>
                  <a:rPr lang="en-US" altLang="nl-NL" dirty="0">
                    <a:latin typeface="Arial" panose="020B0604020202020204" pitchFamily="34" charset="0"/>
                  </a:rPr>
                  <a:t>, </a:t>
                </a:r>
                <a14:m>
                  <m:oMath xmlns:m="http://schemas.openxmlformats.org/officeDocument/2006/math">
                    <m:sSub>
                      <m:sSubPr>
                        <m:ctrlPr>
                          <a:rPr lang="en-US" altLang="nl-NL" i="1">
                            <a:latin typeface="Cambria Math" panose="02040503050406030204" pitchFamily="18" charset="0"/>
                          </a:rPr>
                        </m:ctrlPr>
                      </m:sSubPr>
                      <m:e>
                        <m:r>
                          <a:rPr lang="en-US" altLang="nl-NL" b="0" i="1" smtClean="0">
                            <a:latin typeface="Cambria Math" panose="02040503050406030204" pitchFamily="18" charset="0"/>
                          </a:rPr>
                          <m:t>𝜎</m:t>
                        </m:r>
                      </m:e>
                      <m:sub>
                        <m:r>
                          <a:rPr lang="en-US" altLang="nl-NL" i="1">
                            <a:latin typeface="Cambria Math" panose="02040503050406030204" pitchFamily="18" charset="0"/>
                          </a:rPr>
                          <m:t>1</m:t>
                        </m:r>
                      </m:sub>
                    </m:sSub>
                  </m:oMath>
                </a14:m>
                <a:r>
                  <a:rPr lang="en-US" altLang="nl-NL" dirty="0">
                    <a:latin typeface="Arial" panose="020B0604020202020204" pitchFamily="34" charset="0"/>
                  </a:rPr>
                  <a:t>, </a:t>
                </a:r>
                <a14:m>
                  <m:oMath xmlns:m="http://schemas.openxmlformats.org/officeDocument/2006/math">
                    <m:sSub>
                      <m:sSubPr>
                        <m:ctrlPr>
                          <a:rPr lang="en-US" altLang="nl-NL" i="1">
                            <a:latin typeface="Cambria Math" panose="02040503050406030204" pitchFamily="18" charset="0"/>
                          </a:rPr>
                        </m:ctrlPr>
                      </m:sSubPr>
                      <m:e>
                        <m:r>
                          <a:rPr lang="en-US" altLang="nl-NL" i="1">
                            <a:latin typeface="Cambria Math" panose="02040503050406030204" pitchFamily="18" charset="0"/>
                          </a:rPr>
                          <m:t>𝜇</m:t>
                        </m:r>
                      </m:e>
                      <m:sub>
                        <m:r>
                          <a:rPr lang="en-US" altLang="nl-NL" b="0" i="1" smtClean="0">
                            <a:latin typeface="Cambria Math" panose="02040503050406030204" pitchFamily="18" charset="0"/>
                          </a:rPr>
                          <m:t>2</m:t>
                        </m:r>
                      </m:sub>
                    </m:sSub>
                  </m:oMath>
                </a14:m>
                <a:r>
                  <a:rPr lang="en-US" altLang="nl-NL" dirty="0">
                    <a:latin typeface="Arial" panose="020B0604020202020204" pitchFamily="34" charset="0"/>
                  </a:rPr>
                  <a:t>, </a:t>
                </a:r>
                <a14:m>
                  <m:oMath xmlns:m="http://schemas.openxmlformats.org/officeDocument/2006/math">
                    <m:sSub>
                      <m:sSubPr>
                        <m:ctrlPr>
                          <a:rPr lang="en-US" altLang="nl-NL" i="1">
                            <a:latin typeface="Cambria Math" panose="02040503050406030204" pitchFamily="18" charset="0"/>
                          </a:rPr>
                        </m:ctrlPr>
                      </m:sSubPr>
                      <m:e>
                        <m:r>
                          <a:rPr lang="en-US" altLang="nl-NL" i="1">
                            <a:latin typeface="Cambria Math" panose="02040503050406030204" pitchFamily="18" charset="0"/>
                          </a:rPr>
                          <m:t>𝜎</m:t>
                        </m:r>
                      </m:e>
                      <m:sub>
                        <m:r>
                          <a:rPr lang="en-US" altLang="nl-NL" b="0" i="1" smtClean="0">
                            <a:latin typeface="Cambria Math" panose="02040503050406030204" pitchFamily="18" charset="0"/>
                          </a:rPr>
                          <m:t>2</m:t>
                        </m:r>
                      </m:sub>
                    </m:sSub>
                  </m:oMath>
                </a14:m>
                <a:r>
                  <a:rPr lang="en-US" altLang="nl-NL" dirty="0">
                    <a:latin typeface="Arial" panose="020B0604020202020204" pitchFamily="34" charset="0"/>
                  </a:rPr>
                  <a:t>, </a:t>
                </a:r>
                <a14:m>
                  <m:oMath xmlns:m="http://schemas.openxmlformats.org/officeDocument/2006/math">
                    <m:sSub>
                      <m:sSubPr>
                        <m:ctrlPr>
                          <a:rPr lang="en-US" altLang="nl-NL" i="1">
                            <a:latin typeface="Cambria Math" panose="02040503050406030204" pitchFamily="18" charset="0"/>
                          </a:rPr>
                        </m:ctrlPr>
                      </m:sSubPr>
                      <m:e>
                        <m:r>
                          <a:rPr lang="en-US" altLang="nl-NL" i="1">
                            <a:latin typeface="Cambria Math" panose="02040503050406030204" pitchFamily="18" charset="0"/>
                          </a:rPr>
                          <m:t>𝜇</m:t>
                        </m:r>
                      </m:e>
                      <m:sub>
                        <m:r>
                          <a:rPr lang="en-US" altLang="nl-NL" b="0" i="1" smtClean="0">
                            <a:latin typeface="Cambria Math" panose="02040503050406030204" pitchFamily="18" charset="0"/>
                          </a:rPr>
                          <m:t>3</m:t>
                        </m:r>
                      </m:sub>
                    </m:sSub>
                  </m:oMath>
                </a14:m>
                <a:r>
                  <a:rPr lang="en-US" altLang="nl-NL" dirty="0">
                    <a:latin typeface="Arial" panose="020B0604020202020204" pitchFamily="34" charset="0"/>
                  </a:rPr>
                  <a:t>, </a:t>
                </a:r>
                <a14:m>
                  <m:oMath xmlns:m="http://schemas.openxmlformats.org/officeDocument/2006/math">
                    <m:sSub>
                      <m:sSubPr>
                        <m:ctrlPr>
                          <a:rPr lang="en-US" altLang="nl-NL" i="1">
                            <a:latin typeface="Cambria Math" panose="02040503050406030204" pitchFamily="18" charset="0"/>
                          </a:rPr>
                        </m:ctrlPr>
                      </m:sSubPr>
                      <m:e>
                        <m:r>
                          <a:rPr lang="en-US" altLang="nl-NL" i="1">
                            <a:latin typeface="Cambria Math" panose="02040503050406030204" pitchFamily="18" charset="0"/>
                          </a:rPr>
                          <m:t>𝜎</m:t>
                        </m:r>
                      </m:e>
                      <m:sub>
                        <m:r>
                          <a:rPr lang="en-US" altLang="nl-NL" b="0" i="1" smtClean="0">
                            <a:latin typeface="Cambria Math" panose="02040503050406030204" pitchFamily="18" charset="0"/>
                          </a:rPr>
                          <m:t>3</m:t>
                        </m:r>
                      </m:sub>
                    </m:sSub>
                  </m:oMath>
                </a14:m>
                <a:r>
                  <a:rPr lang="en-US" altLang="nl-NL" dirty="0">
                    <a:latin typeface="Arial" panose="020B0604020202020204" pitchFamily="34" charset="0"/>
                  </a:rPr>
                  <a:t> from data</a:t>
                </a:r>
              </a:p>
              <a:p>
                <a:pPr>
                  <a:lnSpc>
                    <a:spcPct val="100000"/>
                  </a:lnSpc>
                </a:pPr>
                <a:r>
                  <a:rPr lang="en-US" altLang="nl-NL" dirty="0">
                    <a:latin typeface="Arial" panose="020B0604020202020204" pitchFamily="34" charset="0"/>
                  </a:rPr>
                  <a:t>An object o is an outlier if it does not belong to any of the main groups of the data</a:t>
                </a:r>
              </a:p>
            </p:txBody>
          </p:sp>
        </mc:Choice>
        <mc:Fallback xmlns="">
          <p:sp>
            <p:nvSpPr>
              <p:cNvPr id="25" name="Content Placeholder 2">
                <a:extLst>
                  <a:ext uri="{FF2B5EF4-FFF2-40B4-BE49-F238E27FC236}">
                    <a16:creationId xmlns:a16="http://schemas.microsoft.com/office/drawing/2014/main" id="{3B759A7E-B026-4A89-A9F6-63BBC93C445D}"/>
                  </a:ext>
                </a:extLst>
              </p:cNvPr>
              <p:cNvSpPr txBox="1">
                <a:spLocks noRot="1" noChangeAspect="1" noMove="1" noResize="1" noEditPoints="1" noAdjustHandles="1" noChangeArrowheads="1" noChangeShapeType="1" noTextEdit="1"/>
              </p:cNvSpPr>
              <p:nvPr/>
            </p:nvSpPr>
            <p:spPr>
              <a:xfrm>
                <a:off x="883024" y="3970654"/>
                <a:ext cx="7308740" cy="2522220"/>
              </a:xfrm>
              <a:prstGeom prst="rect">
                <a:avLst/>
              </a:prstGeom>
              <a:blipFill>
                <a:blip r:embed="rId4"/>
                <a:stretch>
                  <a:fillRect l="-1501" t="-2415" r="-2919"/>
                </a:stretch>
              </a:blipFill>
            </p:spPr>
            <p:txBody>
              <a:bodyPr/>
              <a:lstStyle/>
              <a:p>
                <a:r>
                  <a:rPr lang="nl-NL">
                    <a:noFill/>
                  </a:rPr>
                  <a:t> </a:t>
                </a:r>
              </a:p>
            </p:txBody>
          </p:sp>
        </mc:Fallback>
      </mc:AlternateContent>
      <p:sp>
        <p:nvSpPr>
          <p:cNvPr id="4" name="Slide Number Placeholder 3">
            <a:extLst>
              <a:ext uri="{FF2B5EF4-FFF2-40B4-BE49-F238E27FC236}">
                <a16:creationId xmlns:a16="http://schemas.microsoft.com/office/drawing/2014/main" id="{158A9FB0-4C2A-0E3A-19D9-3E07416EEC20}"/>
              </a:ext>
            </a:extLst>
          </p:cNvPr>
          <p:cNvSpPr>
            <a:spLocks noGrp="1"/>
          </p:cNvSpPr>
          <p:nvPr>
            <p:ph type="sldNum" sz="quarter" idx="12"/>
          </p:nvPr>
        </p:nvSpPr>
        <p:spPr/>
        <p:txBody>
          <a:bodyPr/>
          <a:lstStyle/>
          <a:p>
            <a:fld id="{F8D8F54C-053C-4394-9990-70DE256B1A6D}" type="slidenum">
              <a:rPr lang="nl-NL" smtClean="0"/>
              <a:t>45</a:t>
            </a:fld>
            <a:endParaRPr lang="nl-NL"/>
          </a:p>
        </p:txBody>
      </p:sp>
    </p:spTree>
    <p:extLst>
      <p:ext uri="{BB962C8B-B14F-4D97-AF65-F5344CB8AC3E}">
        <p14:creationId xmlns:p14="http://schemas.microsoft.com/office/powerpoint/2010/main" val="1867136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Non-Parametric Statistical Approaches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4305300" y="1379622"/>
            <a:ext cx="7093324" cy="5113252"/>
          </a:xfrm>
        </p:spPr>
        <p:txBody>
          <a:bodyPr>
            <a:noAutofit/>
          </a:bodyPr>
          <a:lstStyle/>
          <a:p>
            <a:pPr>
              <a:lnSpc>
                <a:spcPct val="120000"/>
              </a:lnSpc>
            </a:pPr>
            <a:r>
              <a:rPr lang="en-US" altLang="nl-NL" sz="2400" dirty="0"/>
              <a:t>The model of normal data is learned from the input data without any </a:t>
            </a:r>
            <a:r>
              <a:rPr lang="en-US" altLang="nl-NL" sz="2400" i="1" dirty="0"/>
              <a:t>a priori</a:t>
            </a:r>
            <a:r>
              <a:rPr lang="en-US" altLang="nl-NL" sz="2400" dirty="0"/>
              <a:t> structure.  </a:t>
            </a:r>
          </a:p>
          <a:p>
            <a:pPr>
              <a:lnSpc>
                <a:spcPct val="120000"/>
              </a:lnSpc>
            </a:pPr>
            <a:r>
              <a:rPr lang="en-US" altLang="nl-NL" sz="2400" dirty="0"/>
              <a:t>Often makes fewer assumptions about the data, and thus can be applicable in more scenarios</a:t>
            </a:r>
          </a:p>
          <a:p>
            <a:pPr>
              <a:lnSpc>
                <a:spcPct val="120000"/>
              </a:lnSpc>
            </a:pPr>
            <a:r>
              <a:rPr lang="en-US" altLang="nl-NL" sz="2400" dirty="0"/>
              <a:t>Outlier detection using histogram:</a:t>
            </a:r>
          </a:p>
          <a:p>
            <a:pPr lvl="1">
              <a:lnSpc>
                <a:spcPct val="120000"/>
              </a:lnSpc>
            </a:pPr>
            <a:r>
              <a:rPr lang="en-US" altLang="nl-NL" sz="2000" dirty="0"/>
              <a:t>Figure shows the histogram of purchase amounts in transactions</a:t>
            </a:r>
          </a:p>
          <a:p>
            <a:pPr lvl="1">
              <a:lnSpc>
                <a:spcPct val="120000"/>
              </a:lnSpc>
            </a:pPr>
            <a:r>
              <a:rPr lang="en-US" altLang="nl-NL" sz="2000" dirty="0"/>
              <a:t>A transaction in the amount of $7,500 is an outlier, since only 0.2% transactions have an amount higher than $5,000</a:t>
            </a:r>
          </a:p>
          <a:p>
            <a:pPr>
              <a:lnSpc>
                <a:spcPct val="120000"/>
              </a:lnSpc>
            </a:pPr>
            <a:r>
              <a:rPr lang="en-US" altLang="nl-NL" sz="2400" dirty="0"/>
              <a:t>Problem: Hard to choose an appropriate bin size for histogram</a:t>
            </a:r>
          </a:p>
        </p:txBody>
      </p:sp>
      <p:pic>
        <p:nvPicPr>
          <p:cNvPr id="4" name="Picture 3">
            <a:extLst>
              <a:ext uri="{FF2B5EF4-FFF2-40B4-BE49-F238E27FC236}">
                <a16:creationId xmlns:a16="http://schemas.microsoft.com/office/drawing/2014/main" id="{B052F4A5-D0DA-4EE6-BD23-3F29058D1870}"/>
              </a:ext>
            </a:extLst>
          </p:cNvPr>
          <p:cNvPicPr>
            <a:picLocks noChangeAspect="1"/>
          </p:cNvPicPr>
          <p:nvPr/>
        </p:nvPicPr>
        <p:blipFill>
          <a:blip r:embed="rId2"/>
          <a:stretch>
            <a:fillRect/>
          </a:stretch>
        </p:blipFill>
        <p:spPr>
          <a:xfrm>
            <a:off x="172925" y="1905000"/>
            <a:ext cx="4003273" cy="3060700"/>
          </a:xfrm>
          <a:prstGeom prst="rect">
            <a:avLst/>
          </a:prstGeom>
        </p:spPr>
      </p:pic>
      <p:sp>
        <p:nvSpPr>
          <p:cNvPr id="5" name="Slide Number Placeholder 4">
            <a:extLst>
              <a:ext uri="{FF2B5EF4-FFF2-40B4-BE49-F238E27FC236}">
                <a16:creationId xmlns:a16="http://schemas.microsoft.com/office/drawing/2014/main" id="{452B1F44-653D-EE7A-B9D6-0D603F38E962}"/>
              </a:ext>
            </a:extLst>
          </p:cNvPr>
          <p:cNvSpPr>
            <a:spLocks noGrp="1"/>
          </p:cNvSpPr>
          <p:nvPr>
            <p:ph type="sldNum" sz="quarter" idx="12"/>
          </p:nvPr>
        </p:nvSpPr>
        <p:spPr/>
        <p:txBody>
          <a:bodyPr/>
          <a:lstStyle/>
          <a:p>
            <a:fld id="{F8D8F54C-053C-4394-9990-70DE256B1A6D}" type="slidenum">
              <a:rPr lang="nl-NL" smtClean="0"/>
              <a:t>46</a:t>
            </a:fld>
            <a:endParaRPr lang="nl-NL"/>
          </a:p>
        </p:txBody>
      </p:sp>
    </p:spTree>
    <p:extLst>
      <p:ext uri="{BB962C8B-B14F-4D97-AF65-F5344CB8AC3E}">
        <p14:creationId xmlns:p14="http://schemas.microsoft.com/office/powerpoint/2010/main" val="21760857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Non-Parametric Statistical Approaches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4305300" y="1379622"/>
            <a:ext cx="7093324" cy="5113252"/>
          </a:xfrm>
        </p:spPr>
        <p:txBody>
          <a:bodyPr>
            <a:noAutofit/>
          </a:bodyPr>
          <a:lstStyle/>
          <a:p>
            <a:pPr>
              <a:lnSpc>
                <a:spcPct val="120000"/>
              </a:lnSpc>
            </a:pPr>
            <a:r>
              <a:rPr lang="en-US" altLang="nl-NL" sz="2400" dirty="0"/>
              <a:t>Problem: Hard to choose an appropriate bin size for histogram</a:t>
            </a:r>
          </a:p>
          <a:p>
            <a:pPr lvl="1">
              <a:lnSpc>
                <a:spcPct val="120000"/>
              </a:lnSpc>
            </a:pPr>
            <a:r>
              <a:rPr lang="en-US" altLang="nl-NL" sz="2000" dirty="0"/>
              <a:t>Too small bin size → normal objects in empty/rare bins, false positive</a:t>
            </a:r>
          </a:p>
          <a:p>
            <a:pPr lvl="1">
              <a:lnSpc>
                <a:spcPct val="120000"/>
              </a:lnSpc>
            </a:pPr>
            <a:r>
              <a:rPr lang="en-US" altLang="nl-NL" sz="2000" dirty="0"/>
              <a:t>Too big bin size → outliers in some frequent bins, false negative </a:t>
            </a:r>
          </a:p>
          <a:p>
            <a:pPr>
              <a:lnSpc>
                <a:spcPct val="120000"/>
              </a:lnSpc>
            </a:pPr>
            <a:r>
              <a:rPr lang="en-US" altLang="nl-NL" sz="2400" dirty="0"/>
              <a:t>Solution: Adopt kernel density estimation to estimate the probability density distribution of the data.  If the estimated density function is high, the object is likely normal.  Otherwise, it is likely an outlier. </a:t>
            </a:r>
          </a:p>
        </p:txBody>
      </p:sp>
      <p:pic>
        <p:nvPicPr>
          <p:cNvPr id="4" name="Picture 3">
            <a:extLst>
              <a:ext uri="{FF2B5EF4-FFF2-40B4-BE49-F238E27FC236}">
                <a16:creationId xmlns:a16="http://schemas.microsoft.com/office/drawing/2014/main" id="{B052F4A5-D0DA-4EE6-BD23-3F29058D1870}"/>
              </a:ext>
            </a:extLst>
          </p:cNvPr>
          <p:cNvPicPr>
            <a:picLocks noChangeAspect="1"/>
          </p:cNvPicPr>
          <p:nvPr/>
        </p:nvPicPr>
        <p:blipFill>
          <a:blip r:embed="rId2"/>
          <a:stretch>
            <a:fillRect/>
          </a:stretch>
        </p:blipFill>
        <p:spPr>
          <a:xfrm>
            <a:off x="172925" y="1905000"/>
            <a:ext cx="4003273" cy="3060700"/>
          </a:xfrm>
          <a:prstGeom prst="rect">
            <a:avLst/>
          </a:prstGeom>
        </p:spPr>
      </p:pic>
      <p:sp>
        <p:nvSpPr>
          <p:cNvPr id="5" name="Slide Number Placeholder 4">
            <a:extLst>
              <a:ext uri="{FF2B5EF4-FFF2-40B4-BE49-F238E27FC236}">
                <a16:creationId xmlns:a16="http://schemas.microsoft.com/office/drawing/2014/main" id="{35726AFE-D742-DD69-DCF7-90B784EFD795}"/>
              </a:ext>
            </a:extLst>
          </p:cNvPr>
          <p:cNvSpPr>
            <a:spLocks noGrp="1"/>
          </p:cNvSpPr>
          <p:nvPr>
            <p:ph type="sldNum" sz="quarter" idx="12"/>
          </p:nvPr>
        </p:nvSpPr>
        <p:spPr/>
        <p:txBody>
          <a:bodyPr/>
          <a:lstStyle/>
          <a:p>
            <a:fld id="{F8D8F54C-053C-4394-9990-70DE256B1A6D}" type="slidenum">
              <a:rPr lang="nl-NL" smtClean="0"/>
              <a:t>47</a:t>
            </a:fld>
            <a:endParaRPr lang="nl-NL"/>
          </a:p>
        </p:txBody>
      </p:sp>
    </p:spTree>
    <p:extLst>
      <p:ext uri="{BB962C8B-B14F-4D97-AF65-F5344CB8AC3E}">
        <p14:creationId xmlns:p14="http://schemas.microsoft.com/office/powerpoint/2010/main" val="7734535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Distance-Based Approaches</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558800" y="1379622"/>
                <a:ext cx="10839824" cy="5113252"/>
              </a:xfrm>
            </p:spPr>
            <p:txBody>
              <a:bodyPr>
                <a:noAutofit/>
              </a:bodyPr>
              <a:lstStyle/>
              <a:p>
                <a:r>
                  <a:rPr lang="en-US" dirty="0">
                    <a:cs typeface="Times New Roman" panose="02020603050405020304" pitchFamily="18" charset="0"/>
                  </a:rPr>
                  <a:t>General Idea</a:t>
                </a:r>
              </a:p>
              <a:p>
                <a:pPr lvl="1"/>
                <a:r>
                  <a:rPr lang="en-US" dirty="0">
                    <a:cs typeface="Times New Roman" panose="02020603050405020304" pitchFamily="18" charset="0"/>
                  </a:rPr>
                  <a:t>Judge a point based on the distance(s) to its neighbors </a:t>
                </a:r>
              </a:p>
              <a:p>
                <a:pPr lvl="1"/>
                <a:r>
                  <a:rPr lang="en-US" dirty="0">
                    <a:cs typeface="Times New Roman" panose="02020603050405020304" pitchFamily="18" charset="0"/>
                  </a:rPr>
                  <a:t>Several variants proposed </a:t>
                </a:r>
              </a:p>
              <a:p>
                <a:r>
                  <a:rPr lang="en-US" dirty="0">
                    <a:cs typeface="Times New Roman" panose="02020603050405020304" pitchFamily="18" charset="0"/>
                  </a:rPr>
                  <a:t>Basic Assumption</a:t>
                </a:r>
              </a:p>
              <a:p>
                <a:pPr lvl="1"/>
                <a:r>
                  <a:rPr lang="en-US" dirty="0">
                    <a:cs typeface="Times New Roman" panose="02020603050405020304" pitchFamily="18" charset="0"/>
                  </a:rPr>
                  <a:t>Normal data objects have a dense neighborhood</a:t>
                </a:r>
              </a:p>
              <a:p>
                <a:pPr lvl="1"/>
                <a:r>
                  <a:rPr lang="en-US" dirty="0">
                    <a:cs typeface="Times New Roman" panose="02020603050405020304" pitchFamily="18" charset="0"/>
                  </a:rPr>
                  <a:t>Outliers are far apart from their neighbors, i.e., have a less dense neighborhood</a:t>
                </a:r>
              </a:p>
              <a:p>
                <a:r>
                  <a:rPr lang="en-US" altLang="nl-NL" sz="2600" dirty="0">
                    <a:cs typeface="Times New Roman" panose="02020603050405020304" pitchFamily="18" charset="0"/>
                  </a:rPr>
                  <a:t>Example: </a:t>
                </a:r>
                <a14:m>
                  <m:oMath xmlns:m="http://schemas.openxmlformats.org/officeDocument/2006/math">
                    <m:r>
                      <a:rPr lang="en-US" altLang="nl-NL" sz="2600" i="1">
                        <a:latin typeface="Cambria Math" panose="02040503050406030204" pitchFamily="18" charset="0"/>
                        <a:cs typeface="Times New Roman" panose="02020603050405020304" pitchFamily="18" charset="0"/>
                      </a:rPr>
                      <m:t>𝐷𝐵</m:t>
                    </m:r>
                    <m:r>
                      <a:rPr lang="en-US" altLang="nl-NL" sz="2600" i="1">
                        <a:latin typeface="Cambria Math" panose="02040503050406030204" pitchFamily="18" charset="0"/>
                        <a:cs typeface="Times New Roman" panose="02020603050405020304" pitchFamily="18" charset="0"/>
                      </a:rPr>
                      <m:t>(</m:t>
                    </m:r>
                    <m:r>
                      <a:rPr lang="en-US" altLang="nl-NL" sz="2600" i="1">
                        <a:latin typeface="Cambria Math" panose="02040503050406030204" pitchFamily="18" charset="0"/>
                        <a:cs typeface="Times New Roman" panose="02020603050405020304" pitchFamily="18" charset="0"/>
                      </a:rPr>
                      <m:t>𝜖</m:t>
                    </m:r>
                    <m:r>
                      <a:rPr lang="en-US" altLang="nl-NL" sz="2600" i="1">
                        <a:latin typeface="Cambria Math" panose="02040503050406030204" pitchFamily="18" charset="0"/>
                        <a:cs typeface="Times New Roman" panose="02020603050405020304" pitchFamily="18" charset="0"/>
                      </a:rPr>
                      <m:t>, </m:t>
                    </m:r>
                    <m:r>
                      <a:rPr lang="en-US" altLang="nl-NL" sz="2600" i="1">
                        <a:latin typeface="Cambria Math" panose="02040503050406030204" pitchFamily="18" charset="0"/>
                        <a:cs typeface="Times New Roman" panose="02020603050405020304" pitchFamily="18" charset="0"/>
                      </a:rPr>
                      <m:t>𝜋</m:t>
                    </m:r>
                    <m:r>
                      <a:rPr lang="en-US" altLang="nl-NL" sz="2600" i="1">
                        <a:latin typeface="Cambria Math" panose="02040503050406030204" pitchFamily="18" charset="0"/>
                        <a:cs typeface="Times New Roman" panose="02020603050405020304" pitchFamily="18" charset="0"/>
                      </a:rPr>
                      <m:t>)</m:t>
                    </m:r>
                  </m:oMath>
                </a14:m>
                <a:r>
                  <a:rPr lang="en-US" altLang="nl-NL" sz="2600" dirty="0">
                    <a:cs typeface="Times New Roman" panose="02020603050405020304" pitchFamily="18" charset="0"/>
                  </a:rPr>
                  <a:t>-Outliers</a:t>
                </a:r>
              </a:p>
              <a:p>
                <a:pPr lvl="1"/>
                <a:r>
                  <a:rPr lang="en-US" altLang="nl-NL" dirty="0">
                    <a:cs typeface="Times New Roman" panose="02020603050405020304" pitchFamily="18" charset="0"/>
                  </a:rPr>
                  <a:t>Idea: given a radius </a:t>
                </a:r>
                <a14:m>
                  <m:oMath xmlns:m="http://schemas.openxmlformats.org/officeDocument/2006/math">
                    <m:r>
                      <a:rPr lang="en-US" altLang="nl-NL" i="1">
                        <a:latin typeface="Cambria Math" panose="02040503050406030204" pitchFamily="18" charset="0"/>
                        <a:cs typeface="Times New Roman" panose="02020603050405020304" pitchFamily="18" charset="0"/>
                      </a:rPr>
                      <m:t>𝜖</m:t>
                    </m:r>
                  </m:oMath>
                </a14:m>
                <a:r>
                  <a:rPr lang="en-US" altLang="nl-NL" dirty="0">
                    <a:cs typeface="Times New Roman" panose="02020603050405020304" pitchFamily="18" charset="0"/>
                  </a:rPr>
                  <a:t> and a percentage </a:t>
                </a:r>
                <a14:m>
                  <m:oMath xmlns:m="http://schemas.openxmlformats.org/officeDocument/2006/math">
                    <m:r>
                      <a:rPr lang="en-US" altLang="nl-NL" i="1">
                        <a:latin typeface="Cambria Math" panose="02040503050406030204" pitchFamily="18" charset="0"/>
                        <a:cs typeface="Times New Roman" panose="02020603050405020304" pitchFamily="18" charset="0"/>
                      </a:rPr>
                      <m:t>𝜋</m:t>
                    </m:r>
                  </m:oMath>
                </a14:m>
                <a:r>
                  <a:rPr lang="en-US" altLang="nl-NL" dirty="0">
                    <a:cs typeface="Times New Roman" panose="02020603050405020304" pitchFamily="18" charset="0"/>
                  </a:rPr>
                  <a:t>, a data point </a:t>
                </a:r>
                <a14:m>
                  <m:oMath xmlns:m="http://schemas.openxmlformats.org/officeDocument/2006/math">
                    <m:r>
                      <a:rPr lang="en-US" altLang="nl-NL" i="1">
                        <a:latin typeface="Cambria Math" panose="02040503050406030204" pitchFamily="18" charset="0"/>
                        <a:cs typeface="Times New Roman" panose="02020603050405020304" pitchFamily="18" charset="0"/>
                      </a:rPr>
                      <m:t>𝑥</m:t>
                    </m:r>
                  </m:oMath>
                </a14:m>
                <a:r>
                  <a:rPr lang="en-US" altLang="nl-NL" dirty="0">
                    <a:cs typeface="Times New Roman" panose="02020603050405020304" pitchFamily="18" charset="0"/>
                  </a:rPr>
                  <a:t> is considered outlier if the ratio of all other data points that have distance less than </a:t>
                </a:r>
                <a14:m>
                  <m:oMath xmlns:m="http://schemas.openxmlformats.org/officeDocument/2006/math">
                    <m:r>
                      <a:rPr lang="en-US" altLang="nl-NL" i="1">
                        <a:latin typeface="Cambria Math" panose="02040503050406030204" pitchFamily="18" charset="0"/>
                        <a:cs typeface="Times New Roman" panose="02020603050405020304" pitchFamily="18" charset="0"/>
                      </a:rPr>
                      <m:t>𝜖</m:t>
                    </m:r>
                  </m:oMath>
                </a14:m>
                <a:r>
                  <a:rPr lang="en-US" altLang="nl-NL" dirty="0">
                    <a:cs typeface="Times New Roman" panose="02020603050405020304" pitchFamily="18" charset="0"/>
                  </a:rPr>
                  <a:t> to </a:t>
                </a:r>
                <a14:m>
                  <m:oMath xmlns:m="http://schemas.openxmlformats.org/officeDocument/2006/math">
                    <m:r>
                      <a:rPr lang="en-US" altLang="nl-NL" i="1">
                        <a:latin typeface="Cambria Math" panose="02040503050406030204" pitchFamily="18" charset="0"/>
                        <a:cs typeface="Times New Roman" panose="02020603050405020304" pitchFamily="18" charset="0"/>
                      </a:rPr>
                      <m:t>𝑥</m:t>
                    </m:r>
                  </m:oMath>
                </a14:m>
                <a:r>
                  <a:rPr lang="en-US" altLang="nl-NL" dirty="0">
                    <a:cs typeface="Times New Roman" panose="02020603050405020304" pitchFamily="18" charset="0"/>
                  </a:rPr>
                  <a:t> to the total size of the dataset is less than </a:t>
                </a:r>
                <a14:m>
                  <m:oMath xmlns:m="http://schemas.openxmlformats.org/officeDocument/2006/math">
                    <m:r>
                      <a:rPr lang="en-US" altLang="nl-NL" i="1">
                        <a:latin typeface="Cambria Math" panose="02040503050406030204" pitchFamily="18" charset="0"/>
                        <a:cs typeface="Times New Roman" panose="02020603050405020304" pitchFamily="18" charset="0"/>
                      </a:rPr>
                      <m:t>𝜋</m:t>
                    </m:r>
                  </m:oMath>
                </a14:m>
                <a:r>
                  <a:rPr lang="en-US" altLang="nl-NL" dirty="0">
                    <a:cs typeface="Times New Roman" panose="02020603050405020304" pitchFamily="18" charset="0"/>
                  </a:rPr>
                  <a:t> </a:t>
                </a:r>
              </a:p>
              <a:p>
                <a:pPr lvl="1"/>
                <a14:m>
                  <m:oMath xmlns:m="http://schemas.openxmlformats.org/officeDocument/2006/math">
                    <m:r>
                      <a:rPr lang="en-US" altLang="nl-NL" i="1">
                        <a:latin typeface="Cambria Math" panose="02040503050406030204" pitchFamily="18" charset="0"/>
                        <a:cs typeface="Times New Roman" panose="02020603050405020304" pitchFamily="18" charset="0"/>
                      </a:rPr>
                      <m:t>𝑜𝑢𝑡𝑙𝑖𝑒𝑟𝑠</m:t>
                    </m:r>
                    <m:d>
                      <m:dPr>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𝜖</m:t>
                        </m:r>
                        <m:r>
                          <a:rPr lang="en-US" altLang="nl-NL">
                            <a:latin typeface="Cambria Math" panose="02040503050406030204" pitchFamily="18" charset="0"/>
                            <a:cs typeface="Times New Roman" panose="02020603050405020304" pitchFamily="18" charset="0"/>
                          </a:rPr>
                          <m:t>, </m:t>
                        </m:r>
                        <m:r>
                          <a:rPr lang="en-US" altLang="nl-NL" i="1">
                            <a:latin typeface="Cambria Math" panose="02040503050406030204" pitchFamily="18" charset="0"/>
                            <a:cs typeface="Times New Roman" panose="02020603050405020304" pitchFamily="18" charset="0"/>
                          </a:rPr>
                          <m:t>𝜋</m:t>
                        </m:r>
                      </m:e>
                    </m:d>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 |</m:t>
                    </m:r>
                    <m:f>
                      <m:fPr>
                        <m:ctrlPr>
                          <a:rPr lang="en-US" altLang="nl-NL" i="1">
                            <a:latin typeface="Cambria Math" panose="02040503050406030204" pitchFamily="18" charset="0"/>
                            <a:cs typeface="Times New Roman" panose="02020603050405020304" pitchFamily="18" charset="0"/>
                          </a:rPr>
                        </m:ctrlPr>
                      </m:fPr>
                      <m:num>
                        <m:d>
                          <m:dPr>
                            <m:begChr m:val="|"/>
                            <m:endChr m:val="|"/>
                            <m:ctrlPr>
                              <a:rPr lang="en-US" altLang="nl-NL" i="1">
                                <a:latin typeface="Cambria Math" panose="02040503050406030204" pitchFamily="18" charset="0"/>
                                <a:cs typeface="Times New Roman" panose="02020603050405020304" pitchFamily="18" charset="0"/>
                              </a:rPr>
                            </m:ctrlPr>
                          </m:dPr>
                          <m:e>
                            <m:d>
                              <m:dPr>
                                <m:begChr m:val="{"/>
                                <m:endChr m:val="}"/>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𝑦</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𝐷𝐵</m:t>
                                </m:r>
                                <m:r>
                                  <a:rPr lang="en-US" altLang="nl-NL" i="1">
                                    <a:latin typeface="Cambria Math" panose="02040503050406030204" pitchFamily="18" charset="0"/>
                                    <a:cs typeface="Times New Roman" panose="02020603050405020304" pitchFamily="18" charset="0"/>
                                  </a:rPr>
                                  <m:t> | </m:t>
                                </m:r>
                                <m:r>
                                  <a:rPr lang="en-US" altLang="nl-NL" i="1">
                                    <a:latin typeface="Cambria Math" panose="02040503050406030204" pitchFamily="18" charset="0"/>
                                    <a:cs typeface="Times New Roman" panose="02020603050405020304" pitchFamily="18" charset="0"/>
                                  </a:rPr>
                                  <m:t>𝑑𝑖𝑠𝑡</m:t>
                                </m:r>
                                <m:d>
                                  <m:dPr>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𝑦</m:t>
                                    </m:r>
                                  </m:e>
                                </m:d>
                                <m:r>
                                  <a:rPr lang="en-US" altLang="nl-NL" i="1">
                                    <a:latin typeface="Cambria Math" panose="02040503050406030204" pitchFamily="18" charset="0"/>
                                    <a:cs typeface="Times New Roman" panose="02020603050405020304" pitchFamily="18" charset="0"/>
                                  </a:rPr>
                                  <m:t>&lt;</m:t>
                                </m:r>
                                <m:r>
                                  <a:rPr lang="en-US" altLang="nl-NL" i="1">
                                    <a:latin typeface="Cambria Math" panose="02040503050406030204" pitchFamily="18" charset="0"/>
                                    <a:cs typeface="Times New Roman" panose="02020603050405020304" pitchFamily="18" charset="0"/>
                                  </a:rPr>
                                  <m:t>𝜖</m:t>
                                </m:r>
                              </m:e>
                            </m:d>
                          </m:e>
                        </m:d>
                      </m:num>
                      <m:den>
                        <m:d>
                          <m:dPr>
                            <m:begChr m:val="|"/>
                            <m:endChr m:val="|"/>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𝐷𝐵</m:t>
                            </m:r>
                          </m:e>
                        </m:d>
                      </m:den>
                    </m:f>
                    <m:r>
                      <a:rPr lang="en-US" altLang="nl-NL" b="0" i="1" smtClean="0">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𝜋</m:t>
                    </m:r>
                  </m:oMath>
                </a14:m>
                <a:endParaRPr lang="en-US" altLang="nl-NL" sz="2400"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558800" y="1379622"/>
                <a:ext cx="10839824" cy="5113252"/>
              </a:xfrm>
              <a:blipFill>
                <a:blip r:embed="rId2"/>
                <a:stretch>
                  <a:fillRect l="-1054" t="-198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7EE6C3B-C060-259E-C1BE-FF623E31C032}"/>
              </a:ext>
            </a:extLst>
          </p:cNvPr>
          <p:cNvSpPr>
            <a:spLocks noGrp="1"/>
          </p:cNvSpPr>
          <p:nvPr>
            <p:ph type="sldNum" sz="quarter" idx="12"/>
          </p:nvPr>
        </p:nvSpPr>
        <p:spPr/>
        <p:txBody>
          <a:bodyPr/>
          <a:lstStyle/>
          <a:p>
            <a:fld id="{F8D8F54C-053C-4394-9990-70DE256B1A6D}" type="slidenum">
              <a:rPr lang="nl-NL" smtClean="0"/>
              <a:t>48</a:t>
            </a:fld>
            <a:endParaRPr lang="nl-NL"/>
          </a:p>
        </p:txBody>
      </p:sp>
    </p:spTree>
    <p:extLst>
      <p:ext uri="{BB962C8B-B14F-4D97-AF65-F5344CB8AC3E}">
        <p14:creationId xmlns:p14="http://schemas.microsoft.com/office/powerpoint/2010/main" val="259756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Density-Based Approaches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558800" y="1379622"/>
            <a:ext cx="10839824" cy="5113252"/>
          </a:xfrm>
        </p:spPr>
        <p:txBody>
          <a:bodyPr>
            <a:noAutofit/>
          </a:bodyPr>
          <a:lstStyle/>
          <a:p>
            <a:r>
              <a:rPr lang="en-US" dirty="0">
                <a:cs typeface="Times New Roman" panose="02020603050405020304" pitchFamily="18" charset="0"/>
              </a:rPr>
              <a:t>General Idea</a:t>
            </a:r>
          </a:p>
          <a:p>
            <a:pPr lvl="1"/>
            <a:r>
              <a:rPr lang="en-US" dirty="0">
                <a:cs typeface="Times New Roman" panose="02020603050405020304" pitchFamily="18" charset="0"/>
              </a:rPr>
              <a:t>Compare the density around a point with the density around its local neighbors </a:t>
            </a:r>
          </a:p>
          <a:p>
            <a:pPr lvl="1"/>
            <a:r>
              <a:rPr lang="en-US" dirty="0">
                <a:cs typeface="Times New Roman" panose="02020603050405020304" pitchFamily="18" charset="0"/>
              </a:rPr>
              <a:t>The relative density of a point compared to its neighbors is computed as an outlier score </a:t>
            </a:r>
          </a:p>
          <a:p>
            <a:pPr lvl="1"/>
            <a:r>
              <a:rPr lang="en-US" dirty="0">
                <a:cs typeface="Times New Roman" panose="02020603050405020304" pitchFamily="18" charset="0"/>
              </a:rPr>
              <a:t>Approaches essentially differ in how to estimate density</a:t>
            </a:r>
          </a:p>
          <a:p>
            <a:r>
              <a:rPr lang="en-US" dirty="0">
                <a:cs typeface="Times New Roman" panose="02020603050405020304" pitchFamily="18" charset="0"/>
              </a:rPr>
              <a:t>Basic Assumption</a:t>
            </a:r>
          </a:p>
          <a:p>
            <a:pPr lvl="1"/>
            <a:r>
              <a:rPr lang="en-US" dirty="0">
                <a:cs typeface="Times New Roman" panose="02020603050405020304" pitchFamily="18" charset="0"/>
              </a:rPr>
              <a:t>The density around a normal data object is similar to the density around its neighbors </a:t>
            </a:r>
          </a:p>
          <a:p>
            <a:pPr lvl="1"/>
            <a:r>
              <a:rPr lang="en-US" dirty="0">
                <a:cs typeface="Times New Roman" panose="02020603050405020304" pitchFamily="18" charset="0"/>
              </a:rPr>
              <a:t>The density around an outlier is considerably different to the density around its neighbors </a:t>
            </a:r>
          </a:p>
        </p:txBody>
      </p:sp>
      <p:sp>
        <p:nvSpPr>
          <p:cNvPr id="4" name="Slide Number Placeholder 3">
            <a:extLst>
              <a:ext uri="{FF2B5EF4-FFF2-40B4-BE49-F238E27FC236}">
                <a16:creationId xmlns:a16="http://schemas.microsoft.com/office/drawing/2014/main" id="{A734D90A-14C9-B103-47E3-110F0DDC7750}"/>
              </a:ext>
            </a:extLst>
          </p:cNvPr>
          <p:cNvSpPr>
            <a:spLocks noGrp="1"/>
          </p:cNvSpPr>
          <p:nvPr>
            <p:ph type="sldNum" sz="quarter" idx="12"/>
          </p:nvPr>
        </p:nvSpPr>
        <p:spPr/>
        <p:txBody>
          <a:bodyPr/>
          <a:lstStyle/>
          <a:p>
            <a:fld id="{F8D8F54C-053C-4394-9990-70DE256B1A6D}" type="slidenum">
              <a:rPr lang="nl-NL" smtClean="0"/>
              <a:t>49</a:t>
            </a:fld>
            <a:endParaRPr lang="nl-NL"/>
          </a:p>
        </p:txBody>
      </p:sp>
    </p:spTree>
    <p:extLst>
      <p:ext uri="{BB962C8B-B14F-4D97-AF65-F5344CB8AC3E}">
        <p14:creationId xmlns:p14="http://schemas.microsoft.com/office/powerpoint/2010/main" val="10215230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Density-Based Approaches (Cont.)</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558800" y="1379622"/>
                <a:ext cx="8414248" cy="5113252"/>
              </a:xfrm>
            </p:spPr>
            <p:txBody>
              <a:bodyPr>
                <a:noAutofit/>
              </a:bodyPr>
              <a:lstStyle/>
              <a:p>
                <a:r>
                  <a:rPr lang="en-US" dirty="0">
                    <a:cs typeface="Times New Roman" panose="02020603050405020304" pitchFamily="18" charset="0"/>
                  </a:rPr>
                  <a:t>Local outlier factor (LOF): </a:t>
                </a:r>
              </a:p>
              <a:p>
                <a:pPr lvl="1"/>
                <a:r>
                  <a:rPr lang="en-US" dirty="0">
                    <a:cs typeface="Times New Roman" panose="02020603050405020304" pitchFamily="18" charset="0"/>
                  </a:rPr>
                  <a:t>Quantifies the local density of a data point, with the use of a neighborhood of size k </a:t>
                </a:r>
              </a:p>
              <a:p>
                <a:pPr lvl="1"/>
                <a:r>
                  <a:rPr lang="en-US" dirty="0">
                    <a:cs typeface="Times New Roman" panose="02020603050405020304" pitchFamily="18" charset="0"/>
                  </a:rPr>
                  <a:t>Introduces a smoothing parameter: Reachability-Distance RD</a:t>
                </a:r>
              </a:p>
              <a:p>
                <a:pPr marL="274320" lvl="1" indent="0">
                  <a:buNone/>
                </a:pPr>
                <a14:m>
                  <m:oMathPara xmlns:m="http://schemas.openxmlformats.org/officeDocument/2006/math">
                    <m:oMathParaPr>
                      <m:jc m:val="centerGroup"/>
                    </m:oMathParaPr>
                    <m:oMath xmlns:m="http://schemas.openxmlformats.org/officeDocument/2006/math">
                      <m:r>
                        <a:rPr lang="en-US" altLang="nl-NL" i="1">
                          <a:latin typeface="Cambria Math" panose="02040503050406030204" pitchFamily="18" charset="0"/>
                          <a:cs typeface="Times New Roman" panose="02020603050405020304" pitchFamily="18" charset="0"/>
                        </a:rPr>
                        <m:t>𝑅</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𝐷</m:t>
                          </m:r>
                        </m:e>
                        <m:sub>
                          <m:r>
                            <a:rPr lang="en-US" altLang="nl-NL" i="1">
                              <a:latin typeface="Cambria Math" panose="02040503050406030204" pitchFamily="18" charset="0"/>
                              <a:cs typeface="Times New Roman" panose="02020603050405020304" pitchFamily="18" charset="0"/>
                            </a:rPr>
                            <m:t>𝑘</m:t>
                          </m:r>
                        </m:sub>
                      </m:sSub>
                      <m:d>
                        <m:dPr>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𝑦</m:t>
                          </m:r>
                        </m:e>
                      </m:d>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𝑚𝑎𝑥</m:t>
                      </m:r>
                      <m:d>
                        <m:dPr>
                          <m:begChr m:val="{"/>
                          <m:endChr m:val="}"/>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𝐾𝑑𝑖𝑠𝑡</m:t>
                          </m:r>
                          <m:d>
                            <m:dPr>
                              <m:ctrlPr>
                                <a:rPr lang="en-US" altLang="nl-NL" i="1">
                                  <a:latin typeface="Cambria Math" panose="02040503050406030204" pitchFamily="18" charset="0"/>
                                  <a:cs typeface="Times New Roman" panose="02020603050405020304" pitchFamily="18" charset="0"/>
                                </a:rPr>
                              </m:ctrlPr>
                            </m:dPr>
                            <m:e>
                              <m:r>
                                <a:rPr lang="en-US" altLang="nl-NL" b="0" i="1" smtClean="0">
                                  <a:latin typeface="Cambria Math" panose="02040503050406030204" pitchFamily="18" charset="0"/>
                                  <a:cs typeface="Times New Roman" panose="02020603050405020304" pitchFamily="18" charset="0"/>
                                </a:rPr>
                                <m:t>𝑦</m:t>
                              </m:r>
                            </m:e>
                          </m:d>
                          <m:r>
                            <a:rPr lang="en-US" altLang="nl-NL" i="1">
                              <a:latin typeface="Cambria Math" panose="02040503050406030204" pitchFamily="18" charset="0"/>
                              <a:cs typeface="Times New Roman" panose="02020603050405020304" pitchFamily="18" charset="0"/>
                            </a:rPr>
                            <m:t>, </m:t>
                          </m:r>
                          <m:r>
                            <a:rPr lang="en-US" altLang="nl-NL" i="1">
                              <a:latin typeface="Cambria Math" panose="02040503050406030204" pitchFamily="18" charset="0"/>
                              <a:cs typeface="Times New Roman" panose="02020603050405020304" pitchFamily="18" charset="0"/>
                            </a:rPr>
                            <m:t>𝑑𝑖𝑠𝑡</m:t>
                          </m:r>
                          <m:d>
                            <m:dPr>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𝑦</m:t>
                              </m:r>
                            </m:e>
                          </m:d>
                        </m:e>
                      </m:d>
                    </m:oMath>
                  </m:oMathPara>
                </a14:m>
                <a:endParaRPr lang="en-US" altLang="nl-NL" dirty="0">
                  <a:cs typeface="Times New Roman" panose="02020603050405020304" pitchFamily="18" charset="0"/>
                </a:endParaRPr>
              </a:p>
              <a:p>
                <a:pPr marL="274320" lvl="1" indent="0">
                  <a:buNone/>
                </a:pPr>
                <a14:m>
                  <m:oMath xmlns:m="http://schemas.openxmlformats.org/officeDocument/2006/math">
                    <m:r>
                      <a:rPr lang="en-US" altLang="nl-NL" i="1">
                        <a:latin typeface="Cambria Math" panose="02040503050406030204" pitchFamily="18" charset="0"/>
                        <a:cs typeface="Times New Roman" panose="02020603050405020304" pitchFamily="18" charset="0"/>
                      </a:rPr>
                      <m:t>𝐾𝑑𝑖𝑠𝑡</m:t>
                    </m:r>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𝛼</m:t>
                    </m:r>
                    <m:r>
                      <a:rPr lang="en-US" altLang="nl-NL" i="1">
                        <a:latin typeface="Cambria Math" panose="02040503050406030204" pitchFamily="18" charset="0"/>
                        <a:cs typeface="Times New Roman" panose="02020603050405020304" pitchFamily="18" charset="0"/>
                      </a:rPr>
                      <m:t>)</m:t>
                    </m:r>
                  </m:oMath>
                </a14:m>
                <a:r>
                  <a:rPr lang="en-US" dirty="0">
                    <a:cs typeface="Times New Roman" panose="02020603050405020304" pitchFamily="18" charset="0"/>
                  </a:rPr>
                  <a:t> is the distance to the K-</a:t>
                </a:r>
                <a:r>
                  <a:rPr lang="en-US" dirty="0" err="1">
                    <a:cs typeface="Times New Roman" panose="02020603050405020304" pitchFamily="18" charset="0"/>
                  </a:rPr>
                  <a:t>th</a:t>
                </a:r>
                <a:r>
                  <a:rPr lang="en-US" dirty="0">
                    <a:cs typeface="Times New Roman" panose="02020603050405020304" pitchFamily="18" charset="0"/>
                  </a:rPr>
                  <a:t> neighbor of </a:t>
                </a:r>
                <a14:m>
                  <m:oMath xmlns:m="http://schemas.openxmlformats.org/officeDocument/2006/math">
                    <m:r>
                      <a:rPr lang="en-US" altLang="nl-NL" b="0" i="1" smtClean="0">
                        <a:latin typeface="Cambria Math" panose="02040503050406030204" pitchFamily="18" charset="0"/>
                        <a:cs typeface="Times New Roman" panose="02020603050405020304" pitchFamily="18" charset="0"/>
                      </a:rPr>
                      <m:t>𝛼</m:t>
                    </m:r>
                  </m:oMath>
                </a14:m>
                <a:endParaRPr lang="en-US" dirty="0">
                  <a:cs typeface="Times New Roman" panose="02020603050405020304" pitchFamily="18" charset="0"/>
                </a:endParaRPr>
              </a:p>
              <a:p>
                <a:pPr lvl="1"/>
                <a:r>
                  <a:rPr lang="en-US" dirty="0">
                    <a:cs typeface="Times New Roman" panose="02020603050405020304" pitchFamily="18" charset="0"/>
                  </a:rPr>
                  <a:t>Local reachability distance (LRD) of a data point </a:t>
                </a:r>
                <a14:m>
                  <m:oMath xmlns:m="http://schemas.openxmlformats.org/officeDocument/2006/math">
                    <m:r>
                      <a:rPr lang="en-US" i="1">
                        <a:latin typeface="Cambria Math" panose="02040503050406030204" pitchFamily="18" charset="0"/>
                      </a:rPr>
                      <m:t>𝑥</m:t>
                    </m:r>
                  </m:oMath>
                </a14:m>
                <a:r>
                  <a:rPr lang="en-US" dirty="0">
                    <a:cs typeface="Times New Roman" panose="02020603050405020304" pitchFamily="18" charset="0"/>
                  </a:rPr>
                  <a:t>  is:</a:t>
                </a:r>
              </a:p>
              <a:p>
                <a:pPr marL="274320" lvl="1" indent="0">
                  <a:buNone/>
                </a:pPr>
                <a14:m>
                  <m:oMathPara xmlns:m="http://schemas.openxmlformats.org/officeDocument/2006/math">
                    <m:oMathParaPr>
                      <m:jc m:val="centerGroup"/>
                    </m:oMathParaPr>
                    <m:oMath xmlns:m="http://schemas.openxmlformats.org/officeDocument/2006/math">
                      <m:r>
                        <a:rPr lang="en-US" altLang="nl-NL" i="1">
                          <a:latin typeface="Cambria Math" panose="02040503050406030204" pitchFamily="18" charset="0"/>
                          <a:cs typeface="Times New Roman" panose="02020603050405020304" pitchFamily="18" charset="0"/>
                        </a:rPr>
                        <m:t>𝐿𝑅</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𝐷</m:t>
                          </m:r>
                        </m:e>
                        <m:sub>
                          <m:r>
                            <a:rPr lang="en-US" altLang="nl-NL" i="1">
                              <a:latin typeface="Cambria Math" panose="02040503050406030204" pitchFamily="18" charset="0"/>
                              <a:cs typeface="Times New Roman" panose="02020603050405020304" pitchFamily="18" charset="0"/>
                            </a:rPr>
                            <m:t>𝑘</m:t>
                          </m:r>
                        </m:sub>
                      </m:sSub>
                      <m:d>
                        <m:dPr>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𝑥</m:t>
                          </m:r>
                        </m:e>
                      </m:d>
                      <m:r>
                        <a:rPr lang="en-US" altLang="nl-NL" i="1">
                          <a:latin typeface="Cambria Math" panose="02040503050406030204" pitchFamily="18" charset="0"/>
                          <a:cs typeface="Times New Roman" panose="02020603050405020304" pitchFamily="18" charset="0"/>
                        </a:rPr>
                        <m:t>=1/</m:t>
                      </m:r>
                      <m:d>
                        <m:dPr>
                          <m:ctrlPr>
                            <a:rPr lang="en-US" altLang="nl-NL" i="1">
                              <a:latin typeface="Cambria Math" panose="02040503050406030204" pitchFamily="18" charset="0"/>
                              <a:cs typeface="Times New Roman" panose="02020603050405020304" pitchFamily="18" charset="0"/>
                            </a:rPr>
                          </m:ctrlPr>
                        </m:dPr>
                        <m:e>
                          <m:f>
                            <m:fPr>
                              <m:ctrlPr>
                                <a:rPr lang="en-US" altLang="nl-NL" i="1">
                                  <a:latin typeface="Cambria Math" panose="02040503050406030204" pitchFamily="18" charset="0"/>
                                  <a:cs typeface="Times New Roman" panose="02020603050405020304" pitchFamily="18" charset="0"/>
                                </a:rPr>
                              </m:ctrlPr>
                            </m:fPr>
                            <m:num>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𝑦</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𝑘𝑁𝑁</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sub>
                                <m:sup/>
                                <m:e>
                                  <m:r>
                                    <a:rPr lang="en-US" altLang="nl-NL" i="1">
                                      <a:latin typeface="Cambria Math" panose="02040503050406030204" pitchFamily="18" charset="0"/>
                                      <a:cs typeface="Times New Roman" panose="02020603050405020304" pitchFamily="18" charset="0"/>
                                    </a:rPr>
                                    <m:t>𝑅</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𝐷</m:t>
                                      </m:r>
                                    </m:e>
                                    <m:sub>
                                      <m:r>
                                        <a:rPr lang="en-US" altLang="nl-NL" i="1">
                                          <a:latin typeface="Cambria Math" panose="02040503050406030204" pitchFamily="18" charset="0"/>
                                          <a:cs typeface="Times New Roman" panose="02020603050405020304" pitchFamily="18" charset="0"/>
                                        </a:rPr>
                                        <m:t>𝑘</m:t>
                                      </m:r>
                                    </m:sub>
                                  </m:sSub>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𝑦</m:t>
                                  </m:r>
                                  <m:r>
                                    <a:rPr lang="en-US" altLang="nl-NL" i="1">
                                      <a:latin typeface="Cambria Math" panose="02040503050406030204" pitchFamily="18" charset="0"/>
                                      <a:cs typeface="Times New Roman" panose="02020603050405020304" pitchFamily="18" charset="0"/>
                                    </a:rPr>
                                    <m:t>)</m:t>
                                  </m:r>
                                </m:e>
                              </m:nary>
                            </m:num>
                            <m:den>
                              <m:r>
                                <a:rPr lang="en-US" altLang="nl-NL" i="1">
                                  <a:latin typeface="Cambria Math" panose="02040503050406030204" pitchFamily="18" charset="0"/>
                                  <a:cs typeface="Times New Roman" panose="02020603050405020304" pitchFamily="18" charset="0"/>
                                </a:rPr>
                                <m:t>𝑘</m:t>
                              </m:r>
                            </m:den>
                          </m:f>
                        </m:e>
                      </m:d>
                    </m:oMath>
                  </m:oMathPara>
                </a14:m>
                <a:endParaRPr lang="en-US" dirty="0">
                  <a:cs typeface="Times New Roman" panose="02020603050405020304" pitchFamily="18" charset="0"/>
                </a:endParaRPr>
              </a:p>
              <a:p>
                <a:pPr lvl="1"/>
                <a:r>
                  <a:rPr lang="en-US" dirty="0">
                    <a:cs typeface="Times New Roman" panose="02020603050405020304" pitchFamily="18" charset="0"/>
                  </a:rPr>
                  <a:t>The LOF is computed as </a:t>
                </a:r>
              </a:p>
              <a:p>
                <a:pPr marL="274320" lvl="1" indent="0">
                  <a:buNone/>
                </a:pPr>
                <a14:m>
                  <m:oMathPara xmlns:m="http://schemas.openxmlformats.org/officeDocument/2006/math">
                    <m:oMathParaPr>
                      <m:jc m:val="centerGroup"/>
                    </m:oMathParaPr>
                    <m:oMath xmlns:m="http://schemas.openxmlformats.org/officeDocument/2006/math">
                      <m:r>
                        <a:rPr lang="en-US" altLang="nl-NL" i="1">
                          <a:latin typeface="Cambria Math" panose="02040503050406030204" pitchFamily="18" charset="0"/>
                          <a:cs typeface="Times New Roman" panose="02020603050405020304" pitchFamily="18" charset="0"/>
                        </a:rPr>
                        <m:t>𝐿𝑂</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𝐹</m:t>
                          </m:r>
                        </m:e>
                        <m:sub>
                          <m:r>
                            <a:rPr lang="en-US" altLang="nl-NL" i="1">
                              <a:latin typeface="Cambria Math" panose="02040503050406030204" pitchFamily="18" charset="0"/>
                              <a:cs typeface="Times New Roman" panose="02020603050405020304" pitchFamily="18" charset="0"/>
                            </a:rPr>
                            <m:t>𝑘</m:t>
                          </m:r>
                        </m:sub>
                      </m:sSub>
                      <m:d>
                        <m:dPr>
                          <m:ctrlPr>
                            <a:rPr lang="en-US" altLang="nl-NL" i="1">
                              <a:latin typeface="Cambria Math" panose="02040503050406030204" pitchFamily="18" charset="0"/>
                              <a:cs typeface="Times New Roman" panose="02020603050405020304" pitchFamily="18" charset="0"/>
                            </a:rPr>
                          </m:ctrlPr>
                        </m:dPr>
                        <m:e>
                          <m:r>
                            <a:rPr lang="en-US" altLang="nl-NL" i="1">
                              <a:latin typeface="Cambria Math" panose="02040503050406030204" pitchFamily="18" charset="0"/>
                              <a:cs typeface="Times New Roman" panose="02020603050405020304" pitchFamily="18" charset="0"/>
                            </a:rPr>
                            <m:t>𝑥</m:t>
                          </m:r>
                        </m:e>
                      </m:d>
                      <m:r>
                        <a:rPr lang="en-US" altLang="nl-NL" i="1">
                          <a:latin typeface="Cambria Math" panose="02040503050406030204" pitchFamily="18" charset="0"/>
                          <a:cs typeface="Times New Roman" panose="02020603050405020304" pitchFamily="18" charset="0"/>
                        </a:rPr>
                        <m:t>=</m:t>
                      </m:r>
                      <m:d>
                        <m:dPr>
                          <m:ctrlPr>
                            <a:rPr lang="en-US" altLang="nl-NL" i="1">
                              <a:latin typeface="Cambria Math" panose="02040503050406030204" pitchFamily="18" charset="0"/>
                              <a:cs typeface="Times New Roman" panose="02020603050405020304" pitchFamily="18" charset="0"/>
                            </a:rPr>
                          </m:ctrlPr>
                        </m:dPr>
                        <m:e>
                          <m:f>
                            <m:fPr>
                              <m:ctrlPr>
                                <a:rPr lang="en-US" altLang="nl-NL" i="1">
                                  <a:latin typeface="Cambria Math" panose="02040503050406030204" pitchFamily="18" charset="0"/>
                                  <a:cs typeface="Times New Roman" panose="02020603050405020304" pitchFamily="18" charset="0"/>
                                </a:rPr>
                              </m:ctrlPr>
                            </m:fPr>
                            <m:num>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𝑦</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𝑘𝑁𝑁</m:t>
                                  </m:r>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sub>
                                <m:sup/>
                                <m:e>
                                  <m:f>
                                    <m:fPr>
                                      <m:ctrlPr>
                                        <a:rPr lang="en-US" altLang="nl-NL" i="1">
                                          <a:latin typeface="Cambria Math" panose="02040503050406030204" pitchFamily="18" charset="0"/>
                                          <a:cs typeface="Times New Roman" panose="02020603050405020304" pitchFamily="18" charset="0"/>
                                        </a:rPr>
                                      </m:ctrlPr>
                                    </m:fPr>
                                    <m:num>
                                      <m:r>
                                        <a:rPr lang="en-US" altLang="nl-NL" i="1">
                                          <a:latin typeface="Cambria Math" panose="02040503050406030204" pitchFamily="18" charset="0"/>
                                          <a:cs typeface="Times New Roman" panose="02020603050405020304" pitchFamily="18" charset="0"/>
                                        </a:rPr>
                                        <m:t>𝐿𝑅</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𝐷</m:t>
                                          </m:r>
                                        </m:e>
                                        <m:sub>
                                          <m:r>
                                            <a:rPr lang="en-US" altLang="nl-NL" i="1">
                                              <a:latin typeface="Cambria Math" panose="02040503050406030204" pitchFamily="18" charset="0"/>
                                              <a:cs typeface="Times New Roman" panose="02020603050405020304" pitchFamily="18" charset="0"/>
                                            </a:rPr>
                                            <m:t>𝑘</m:t>
                                          </m:r>
                                        </m:sub>
                                      </m:sSub>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𝑦</m:t>
                                      </m:r>
                                      <m:r>
                                        <a:rPr lang="en-US" altLang="nl-NL" i="1">
                                          <a:latin typeface="Cambria Math" panose="02040503050406030204" pitchFamily="18" charset="0"/>
                                          <a:cs typeface="Times New Roman" panose="02020603050405020304" pitchFamily="18" charset="0"/>
                                        </a:rPr>
                                        <m:t>)</m:t>
                                      </m:r>
                                    </m:num>
                                    <m:den>
                                      <m:r>
                                        <a:rPr lang="en-US" altLang="nl-NL" i="1">
                                          <a:latin typeface="Cambria Math" panose="02040503050406030204" pitchFamily="18" charset="0"/>
                                          <a:cs typeface="Times New Roman" panose="02020603050405020304" pitchFamily="18" charset="0"/>
                                        </a:rPr>
                                        <m:t>𝐿𝑅</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𝐷</m:t>
                                          </m:r>
                                        </m:e>
                                        <m:sub>
                                          <m:r>
                                            <a:rPr lang="en-US" altLang="nl-NL" i="1">
                                              <a:latin typeface="Cambria Math" panose="02040503050406030204" pitchFamily="18" charset="0"/>
                                              <a:cs typeface="Times New Roman" panose="02020603050405020304" pitchFamily="18" charset="0"/>
                                            </a:rPr>
                                            <m:t>𝑘</m:t>
                                          </m:r>
                                        </m:sub>
                                      </m:sSub>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𝑥</m:t>
                                      </m:r>
                                      <m:r>
                                        <a:rPr lang="en-US" altLang="nl-NL" i="1">
                                          <a:latin typeface="Cambria Math" panose="02040503050406030204" pitchFamily="18" charset="0"/>
                                          <a:cs typeface="Times New Roman" panose="02020603050405020304" pitchFamily="18" charset="0"/>
                                        </a:rPr>
                                        <m:t>)</m:t>
                                      </m:r>
                                    </m:den>
                                  </m:f>
                                </m:e>
                              </m:nary>
                            </m:num>
                            <m:den>
                              <m:r>
                                <a:rPr lang="en-US" altLang="nl-NL" i="1">
                                  <a:latin typeface="Cambria Math" panose="02040503050406030204" pitchFamily="18" charset="0"/>
                                  <a:cs typeface="Times New Roman" panose="02020603050405020304" pitchFamily="18" charset="0"/>
                                </a:rPr>
                                <m:t>𝑘</m:t>
                              </m:r>
                            </m:den>
                          </m:f>
                        </m:e>
                      </m:d>
                    </m:oMath>
                  </m:oMathPara>
                </a14:m>
                <a:endParaRPr lang="en-US"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558800" y="1379622"/>
                <a:ext cx="8414248" cy="5113252"/>
              </a:xfrm>
              <a:blipFill>
                <a:blip r:embed="rId2"/>
                <a:stretch>
                  <a:fillRect l="-1357" t="-1980" r="-754" b="-99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8A1B64BA-A30C-43D4-9CCB-F558C915BEE5}"/>
              </a:ext>
            </a:extLst>
          </p:cNvPr>
          <p:cNvPicPr>
            <a:picLocks noChangeAspect="1"/>
          </p:cNvPicPr>
          <p:nvPr/>
        </p:nvPicPr>
        <p:blipFill>
          <a:blip r:embed="rId3"/>
          <a:stretch>
            <a:fillRect/>
          </a:stretch>
        </p:blipFill>
        <p:spPr>
          <a:xfrm>
            <a:off x="8973048" y="1974760"/>
            <a:ext cx="2765803" cy="2584540"/>
          </a:xfrm>
          <a:prstGeom prst="rect">
            <a:avLst/>
          </a:prstGeom>
        </p:spPr>
      </p:pic>
      <p:sp>
        <p:nvSpPr>
          <p:cNvPr id="5" name="Slide Number Placeholder 4">
            <a:extLst>
              <a:ext uri="{FF2B5EF4-FFF2-40B4-BE49-F238E27FC236}">
                <a16:creationId xmlns:a16="http://schemas.microsoft.com/office/drawing/2014/main" id="{8A55E43C-7C2E-1C33-EC21-52CEBA2949CA}"/>
              </a:ext>
            </a:extLst>
          </p:cNvPr>
          <p:cNvSpPr>
            <a:spLocks noGrp="1"/>
          </p:cNvSpPr>
          <p:nvPr>
            <p:ph type="sldNum" sz="quarter" idx="12"/>
          </p:nvPr>
        </p:nvSpPr>
        <p:spPr/>
        <p:txBody>
          <a:bodyPr/>
          <a:lstStyle/>
          <a:p>
            <a:fld id="{F8D8F54C-053C-4394-9990-70DE256B1A6D}" type="slidenum">
              <a:rPr lang="nl-NL" smtClean="0"/>
              <a:t>50</a:t>
            </a:fld>
            <a:endParaRPr lang="nl-NL"/>
          </a:p>
        </p:txBody>
      </p:sp>
    </p:spTree>
    <p:extLst>
      <p:ext uri="{BB962C8B-B14F-4D97-AF65-F5344CB8AC3E}">
        <p14:creationId xmlns:p14="http://schemas.microsoft.com/office/powerpoint/2010/main" val="323521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1014496"/>
          </a:xfrm>
        </p:spPr>
        <p:txBody>
          <a:bodyPr>
            <a:noAutofit/>
          </a:bodyPr>
          <a:lstStyle/>
          <a:p>
            <a:r>
              <a:rPr lang="en-US" sz="3200" b="1" dirty="0">
                <a:latin typeface="Times New Roman" panose="02020603050405020304" pitchFamily="18" charset="0"/>
                <a:cs typeface="Times New Roman" panose="02020603050405020304" pitchFamily="18" charset="0"/>
              </a:rPr>
              <a:t>Outlier Detection – Model-Based Approaches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558800" y="1379622"/>
            <a:ext cx="10839824" cy="5113252"/>
          </a:xfrm>
        </p:spPr>
        <p:txBody>
          <a:bodyPr>
            <a:noAutofit/>
          </a:bodyPr>
          <a:lstStyle/>
          <a:p>
            <a:r>
              <a:rPr lang="en-US" altLang="nl-NL" dirty="0">
                <a:cs typeface="Times New Roman" panose="02020603050405020304" pitchFamily="18" charset="0"/>
              </a:rPr>
              <a:t>Models summarize general trends in data </a:t>
            </a:r>
          </a:p>
          <a:p>
            <a:pPr lvl="1"/>
            <a:r>
              <a:rPr lang="en-US" altLang="nl-NL" dirty="0">
                <a:cs typeface="Times New Roman" panose="02020603050405020304" pitchFamily="18" charset="0"/>
              </a:rPr>
              <a:t>More complex than simple aggregates </a:t>
            </a:r>
          </a:p>
          <a:p>
            <a:pPr lvl="1"/>
            <a:r>
              <a:rPr lang="en-US" altLang="nl-NL" dirty="0">
                <a:cs typeface="Times New Roman" panose="02020603050405020304" pitchFamily="18" charset="0"/>
              </a:rPr>
              <a:t>E.g. linear regression, logistic regression</a:t>
            </a:r>
          </a:p>
          <a:p>
            <a:r>
              <a:rPr lang="en-US" altLang="nl-NL" dirty="0">
                <a:cs typeface="Times New Roman" panose="02020603050405020304" pitchFamily="18" charset="0"/>
              </a:rPr>
              <a:t>Data points that do not conform to the fitting model are </a:t>
            </a:r>
            <a:r>
              <a:rPr lang="en-US" altLang="nl-NL" i="1" dirty="0">
                <a:solidFill>
                  <a:srgbClr val="0000FF"/>
                </a:solidFill>
                <a:cs typeface="Times New Roman" panose="02020603050405020304" pitchFamily="18" charset="0"/>
              </a:rPr>
              <a:t>potential outliers</a:t>
            </a:r>
            <a:r>
              <a:rPr lang="en-US" altLang="nl-NL" dirty="0">
                <a:cs typeface="Times New Roman" panose="02020603050405020304" pitchFamily="18" charset="0"/>
              </a:rPr>
              <a:t> </a:t>
            </a:r>
          </a:p>
          <a:p>
            <a:r>
              <a:rPr lang="en-US" altLang="nl-NL" dirty="0">
                <a:cs typeface="Times New Roman" panose="02020603050405020304" pitchFamily="18" charset="0"/>
              </a:rPr>
              <a:t>Goodness of fit tests</a:t>
            </a:r>
          </a:p>
          <a:p>
            <a:pPr lvl="1"/>
            <a:r>
              <a:rPr lang="en-US" altLang="nl-NL" dirty="0">
                <a:cs typeface="Times New Roman" panose="02020603050405020304" pitchFamily="18" charset="0"/>
              </a:rPr>
              <a:t>Check suitableness of model to data</a:t>
            </a:r>
          </a:p>
          <a:p>
            <a:pPr lvl="1"/>
            <a:r>
              <a:rPr lang="en-US" altLang="nl-NL" dirty="0">
                <a:cs typeface="Times New Roman" panose="02020603050405020304" pitchFamily="18" charset="0"/>
              </a:rPr>
              <a:t>Verify validity of assumptions</a:t>
            </a:r>
          </a:p>
          <a:p>
            <a:pPr lvl="1"/>
            <a:r>
              <a:rPr lang="en-US" altLang="nl-NL" dirty="0">
                <a:cs typeface="Times New Roman" panose="02020603050405020304" pitchFamily="18" charset="0"/>
              </a:rPr>
              <a:t>Data rich enough to answer analysis/business question?</a:t>
            </a:r>
          </a:p>
        </p:txBody>
      </p:sp>
      <p:sp>
        <p:nvSpPr>
          <p:cNvPr id="4" name="Slide Number Placeholder 3">
            <a:extLst>
              <a:ext uri="{FF2B5EF4-FFF2-40B4-BE49-F238E27FC236}">
                <a16:creationId xmlns:a16="http://schemas.microsoft.com/office/drawing/2014/main" id="{2268649B-07D2-2F11-B9C9-91A45C729BB2}"/>
              </a:ext>
            </a:extLst>
          </p:cNvPr>
          <p:cNvSpPr>
            <a:spLocks noGrp="1"/>
          </p:cNvSpPr>
          <p:nvPr>
            <p:ph type="sldNum" sz="quarter" idx="12"/>
          </p:nvPr>
        </p:nvSpPr>
        <p:spPr/>
        <p:txBody>
          <a:bodyPr/>
          <a:lstStyle/>
          <a:p>
            <a:fld id="{F8D8F54C-053C-4394-9990-70DE256B1A6D}" type="slidenum">
              <a:rPr lang="nl-NL" smtClean="0"/>
              <a:t>51</a:t>
            </a:fld>
            <a:endParaRPr lang="nl-NL"/>
          </a:p>
        </p:txBody>
      </p:sp>
    </p:spTree>
    <p:extLst>
      <p:ext uri="{BB962C8B-B14F-4D97-AF65-F5344CB8AC3E}">
        <p14:creationId xmlns:p14="http://schemas.microsoft.com/office/powerpoint/2010/main" val="5040984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2.966.784 afbeeldingen voor Inpakken: afbeeldingen, stockfoto's en  vectoren | Shutterstock">
            <a:extLst>
              <a:ext uri="{FF2B5EF4-FFF2-40B4-BE49-F238E27FC236}">
                <a16:creationId xmlns:a16="http://schemas.microsoft.com/office/drawing/2014/main" id="{9558914C-6874-25D6-F6CC-00E5360298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366" b="13785"/>
          <a:stretch/>
        </p:blipFill>
        <p:spPr bwMode="auto">
          <a:xfrm>
            <a:off x="1155556" y="637762"/>
            <a:ext cx="9889765" cy="3579308"/>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4">
            <a:extLst>
              <a:ext uri="{FF2B5EF4-FFF2-40B4-BE49-F238E27FC236}">
                <a16:creationId xmlns:a16="http://schemas.microsoft.com/office/drawing/2014/main" id="{C45A49BA-F1EE-4748-AA1D-3967F9097D38}"/>
              </a:ext>
            </a:extLst>
          </p:cNvPr>
          <p:cNvSpPr txBox="1">
            <a:spLocks/>
          </p:cNvSpPr>
          <p:nvPr/>
        </p:nvSpPr>
        <p:spPr>
          <a:xfrm>
            <a:off x="6734649" y="4750698"/>
            <a:ext cx="4310672" cy="1463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Summarize what you learned today in 2-minutes</a:t>
            </a:r>
            <a:endParaRPr lang="en-US" altLang="en-US" dirty="0"/>
          </a:p>
        </p:txBody>
      </p:sp>
      <p:sp>
        <p:nvSpPr>
          <p:cNvPr id="2" name="Slide Number Placeholder 1">
            <a:extLst>
              <a:ext uri="{FF2B5EF4-FFF2-40B4-BE49-F238E27FC236}">
                <a16:creationId xmlns:a16="http://schemas.microsoft.com/office/drawing/2014/main" id="{86BB15B7-A8DF-D902-B13E-FC4EE6E9AB4C}"/>
              </a:ext>
            </a:extLst>
          </p:cNvPr>
          <p:cNvSpPr>
            <a:spLocks noGrp="1"/>
          </p:cNvSpPr>
          <p:nvPr>
            <p:ph type="sldNum" sz="quarter" idx="12"/>
          </p:nvPr>
        </p:nvSpPr>
        <p:spPr/>
        <p:txBody>
          <a:bodyPr/>
          <a:lstStyle/>
          <a:p>
            <a:fld id="{F8D8F54C-053C-4394-9990-70DE256B1A6D}" type="slidenum">
              <a:rPr lang="nl-NL" smtClean="0"/>
              <a:t>52</a:t>
            </a:fld>
            <a:endParaRPr lang="nl-NL"/>
          </a:p>
        </p:txBody>
      </p:sp>
    </p:spTree>
    <p:extLst>
      <p:ext uri="{BB962C8B-B14F-4D97-AF65-F5344CB8AC3E}">
        <p14:creationId xmlns:p14="http://schemas.microsoft.com/office/powerpoint/2010/main" val="21816913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itle 1"/>
          <p:cNvSpPr>
            <a:spLocks noGrp="1"/>
          </p:cNvSpPr>
          <p:nvPr>
            <p:ph type="title"/>
          </p:nvPr>
        </p:nvSpPr>
        <p:spPr/>
        <p:txBody>
          <a:bodyPr/>
          <a:lstStyle/>
          <a:p>
            <a:r>
              <a:rPr lang="en-US" altLang="en-US" dirty="0"/>
              <a:t>Next lecture</a:t>
            </a:r>
          </a:p>
        </p:txBody>
      </p:sp>
      <p:sp>
        <p:nvSpPr>
          <p:cNvPr id="227331" name="Content Placeholder 2"/>
          <p:cNvSpPr>
            <a:spLocks noGrp="1"/>
          </p:cNvSpPr>
          <p:nvPr>
            <p:ph idx="1"/>
          </p:nvPr>
        </p:nvSpPr>
        <p:spPr/>
        <p:txBody>
          <a:bodyPr/>
          <a:lstStyle/>
          <a:p>
            <a:r>
              <a:rPr lang="en-US" altLang="en-US" dirty="0"/>
              <a:t>Process Discovery</a:t>
            </a:r>
          </a:p>
          <a:p>
            <a:r>
              <a:rPr lang="en-US" altLang="en-US" dirty="0"/>
              <a:t>Conformance Checking</a:t>
            </a:r>
          </a:p>
        </p:txBody>
      </p:sp>
      <p:pic>
        <p:nvPicPr>
          <p:cNvPr id="2" name="Picture 1">
            <a:extLst>
              <a:ext uri="{FF2B5EF4-FFF2-40B4-BE49-F238E27FC236}">
                <a16:creationId xmlns:a16="http://schemas.microsoft.com/office/drawing/2014/main" id="{961C2856-CB3D-D34B-9F1D-8E5B8802DB98}"/>
              </a:ext>
            </a:extLst>
          </p:cNvPr>
          <p:cNvPicPr>
            <a:picLocks noChangeAspect="1"/>
          </p:cNvPicPr>
          <p:nvPr/>
        </p:nvPicPr>
        <p:blipFill>
          <a:blip r:embed="rId3"/>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E00E04EA-A26C-E447-A8E6-CA04C1B6E839}"/>
              </a:ext>
            </a:extLst>
          </p:cNvPr>
          <p:cNvSpPr>
            <a:spLocks noGrp="1"/>
          </p:cNvSpPr>
          <p:nvPr>
            <p:ph type="sldNum" sz="quarter" idx="12"/>
          </p:nvPr>
        </p:nvSpPr>
        <p:spPr/>
        <p:txBody>
          <a:bodyPr/>
          <a:lstStyle/>
          <a:p>
            <a:fld id="{5E3B494A-3097-014D-8BD6-D19A16CE616C}" type="slidenum">
              <a:rPr lang="x-none" smtClean="0"/>
              <a:t>53</a:t>
            </a:fld>
            <a:endParaRPr lang="x-none"/>
          </a:p>
        </p:txBody>
      </p:sp>
    </p:spTree>
    <p:extLst>
      <p:ext uri="{BB962C8B-B14F-4D97-AF65-F5344CB8AC3E}">
        <p14:creationId xmlns:p14="http://schemas.microsoft.com/office/powerpoint/2010/main" val="1557177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793235904ECB429D95AFCF930B613A" ma:contentTypeVersion="5" ma:contentTypeDescription="Create a new document." ma:contentTypeScope="" ma:versionID="4c390286563cacde125c37b699801796">
  <xsd:schema xmlns:xsd="http://www.w3.org/2001/XMLSchema" xmlns:xs="http://www.w3.org/2001/XMLSchema" xmlns:p="http://schemas.microsoft.com/office/2006/metadata/properties" xmlns:ns3="5032e021-b0cf-43e6-828a-5b682824f23c" xmlns:ns4="ef284efa-1316-4307-b1a8-b157427e4237" targetNamespace="http://schemas.microsoft.com/office/2006/metadata/properties" ma:root="true" ma:fieldsID="8c9c49ab243af388e89cdf0ba7aaaf48" ns3:_="" ns4:_="">
    <xsd:import namespace="5032e021-b0cf-43e6-828a-5b682824f23c"/>
    <xsd:import namespace="ef284efa-1316-4307-b1a8-b157427e423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2e021-b0cf-43e6-828a-5b682824f2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284efa-1316-4307-b1a8-b157427e423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FE0A5C-9604-4B3E-8F9E-98072B6B9F48}">
  <ds:schemaRefs>
    <ds:schemaRef ds:uri="http://schemas.microsoft.com/sharepoint/v3/contenttype/forms"/>
  </ds:schemaRefs>
</ds:datastoreItem>
</file>

<file path=customXml/itemProps2.xml><?xml version="1.0" encoding="utf-8"?>
<ds:datastoreItem xmlns:ds="http://schemas.openxmlformats.org/officeDocument/2006/customXml" ds:itemID="{E27FB234-31BD-4786-8167-C9B3AC2407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32e021-b0cf-43e6-828a-5b682824f23c"/>
    <ds:schemaRef ds:uri="ef284efa-1316-4307-b1a8-b157427e42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73D4E-B70B-4136-B747-E79AAA180FB8}">
  <ds:schemaRefs>
    <ds:schemaRef ds:uri="http://purl.org/dc/terms/"/>
    <ds:schemaRef ds:uri="ef284efa-1316-4307-b1a8-b157427e4237"/>
    <ds:schemaRef ds:uri="http://purl.org/dc/dcmitype/"/>
    <ds:schemaRef ds:uri="http://schemas.microsoft.com/office/infopath/2007/PartnerControls"/>
    <ds:schemaRef ds:uri="5032e021-b0cf-43e6-828a-5b682824f23c"/>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1534</TotalTime>
  <Words>3180</Words>
  <Application>Microsoft Macintosh PowerPoint</Application>
  <PresentationFormat>Widescreen</PresentationFormat>
  <Paragraphs>425</Paragraphs>
  <Slides>53</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60" baseType="lpstr">
      <vt:lpstr>Arial</vt:lpstr>
      <vt:lpstr>Calibri</vt:lpstr>
      <vt:lpstr>Calibri Light</vt:lpstr>
      <vt:lpstr>Cambria Math</vt:lpstr>
      <vt:lpstr>Times New Roman</vt:lpstr>
      <vt:lpstr>Office Theme</vt:lpstr>
      <vt:lpstr>Acrobat Document</vt:lpstr>
      <vt:lpstr>PowerPoint Presentation</vt:lpstr>
      <vt:lpstr>Topics for Today</vt:lpstr>
      <vt:lpstr>PowerPoint Presentation</vt:lpstr>
      <vt:lpstr>For Exercise</vt:lpstr>
      <vt:lpstr>Data Science Process</vt:lpstr>
      <vt:lpstr>CRISP-DM</vt:lpstr>
      <vt:lpstr>Why data preparation? </vt:lpstr>
      <vt:lpstr>Why data preparation? </vt:lpstr>
      <vt:lpstr>Data preparation: An Overview</vt:lpstr>
      <vt:lpstr>PowerPoint Presentation</vt:lpstr>
      <vt:lpstr>Data Quality Issues</vt:lpstr>
      <vt:lpstr>Data Quality </vt:lpstr>
      <vt:lpstr>Data Quality (Cont.)</vt:lpstr>
      <vt:lpstr>Example</vt:lpstr>
      <vt:lpstr>Data Quality (Cont.)</vt:lpstr>
      <vt:lpstr>Examples of Data Quality metrics</vt:lpstr>
      <vt:lpstr>PowerPoint Presentation</vt:lpstr>
      <vt:lpstr>Data Cleaning</vt:lpstr>
      <vt:lpstr>Data Cleaning (Cont.)</vt:lpstr>
      <vt:lpstr>PowerPoint Presentation</vt:lpstr>
      <vt:lpstr>PowerPoint Presentation</vt:lpstr>
      <vt:lpstr>Incomplete (Missing) Data</vt:lpstr>
      <vt:lpstr>Handling the Missing Data</vt:lpstr>
      <vt:lpstr>PowerPoint Presentation</vt:lpstr>
      <vt:lpstr>Noisy Data</vt:lpstr>
      <vt:lpstr>Handling the Noisy Data</vt:lpstr>
      <vt:lpstr>Handling the Noisy Data (Cont.)</vt:lpstr>
      <vt:lpstr>Binning methods for data smoothing</vt:lpstr>
      <vt:lpstr>PowerPoint Presentation</vt:lpstr>
      <vt:lpstr>Outliers</vt:lpstr>
      <vt:lpstr>Outliers (Cont.)</vt:lpstr>
      <vt:lpstr>Types of Outliers</vt:lpstr>
      <vt:lpstr>Types of Outliers (Cont.)</vt:lpstr>
      <vt:lpstr>Types of Outliers (Cont.)</vt:lpstr>
      <vt:lpstr>Challenges of Outlier Detection</vt:lpstr>
      <vt:lpstr>Challenges of Outlier Detection (Cont.)</vt:lpstr>
      <vt:lpstr>Outlier Detection Techniques for Single Points</vt:lpstr>
      <vt:lpstr>Outlier Detection Techniques (Cont.)</vt:lpstr>
      <vt:lpstr>Outlier Detection Techniques (Cont.)</vt:lpstr>
      <vt:lpstr>Outlier Detection – Statistical Approaches</vt:lpstr>
      <vt:lpstr>Outlier Detection – Statistical Approaches (Cont.)</vt:lpstr>
      <vt:lpstr>Outlier Detection – Parametric Statistical Approaches</vt:lpstr>
      <vt:lpstr>Outlier Detection – Parametric Statistical Approaches</vt:lpstr>
      <vt:lpstr>Outlier Detection – Parametric Statistical Approaches</vt:lpstr>
      <vt:lpstr>Outlier Detection – Parametric Statistical Approaches</vt:lpstr>
      <vt:lpstr>Outlier Detection – Non-Parametric Statistical Approaches</vt:lpstr>
      <vt:lpstr>Outlier Detection – Non-Parametric Statistical Approaches</vt:lpstr>
      <vt:lpstr>Outlier Detection – Distance-Based Approaches</vt:lpstr>
      <vt:lpstr>Outlier Detection – Density-Based Approaches</vt:lpstr>
      <vt:lpstr>Outlier Detection – Density-Based Approaches (Cont.)</vt:lpstr>
      <vt:lpstr>Outlier Detection – Model-Based Approaches</vt:lpstr>
      <vt:lpstr>PowerPoint Presentation</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Qahtan, A.A.A. (Hakim)</dc:creator>
  <cp:lastModifiedBy>Qahtan, A. (Hakim)</cp:lastModifiedBy>
  <cp:revision>203</cp:revision>
  <cp:lastPrinted>2024-09-23T15:24:15Z</cp:lastPrinted>
  <dcterms:created xsi:type="dcterms:W3CDTF">2020-02-17T15:53:26Z</dcterms:created>
  <dcterms:modified xsi:type="dcterms:W3CDTF">2025-10-04T23:40:26Z</dcterms:modified>
</cp:coreProperties>
</file>