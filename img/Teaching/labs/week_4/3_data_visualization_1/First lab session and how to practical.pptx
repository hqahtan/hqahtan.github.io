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283" r:id="rId4"/>
    <p:sldId id="280" r:id="rId5"/>
    <p:sldId id="310" r:id="rId6"/>
    <p:sldId id="311" r:id="rId7"/>
    <p:sldId id="307" r:id="rId8"/>
    <p:sldId id="318" r:id="rId9"/>
    <p:sldId id="309" r:id="rId10"/>
    <p:sldId id="2285" r:id="rId11"/>
    <p:sldId id="258" r:id="rId12"/>
    <p:sldId id="2286" r:id="rId13"/>
    <p:sldId id="314" r:id="rId14"/>
    <p:sldId id="2287" r:id="rId15"/>
    <p:sldId id="319" r:id="rId16"/>
    <p:sldId id="315" r:id="rId17"/>
    <p:sldId id="317" r:id="rId18"/>
    <p:sldId id="320" r:id="rId19"/>
    <p:sldId id="2284" r:id="rId2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5T07:19:43.540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0,'814'0,"-790"2,-1 1,0 1,0 1,37 12,30 7,-8-13,2-3,-1-4,91-8,-22 1,1288 3,-1430-1,0-1,0 1,0-2,0 0,0 0,0 0,-1-2,16-8,42-15,-61 27,-1 0,0 0,0 0,1 1,-1 0,0 0,1 0,-1 0,0 1,0 0,1 0,4 2,80 35,-69-27,0-2,0 0,1-2,0 0,1-2,41 6,69 6,-87-9,56 1,500-7,-287-4,-285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03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24575,'2083'0'0,"-2069"1"0,-1 1 0,1 0 0,-1 1 0,0 1 0,0 0 0,0 1 0,14 7 0,-9-4 0,0-1 0,34 9 0,6-9 0,0-2 0,1-3 0,69-6 0,-3 0 0,369 5 0,-483-2 0,1-1 0,-1 0 0,0-1 0,1 0 0,-1 0 0,-1-1 0,1-1 0,13-7 0,-12 6 0,1 0 0,0 0 0,1 1 0,0 1 0,19-4 0,12 5-268,62 3 0,-85 0-561,8 1-5997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04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24575,'26'0'0,"-10"-1"0,1 0 0,-1 2 0,1 0 0,-1 0 0,0 2 0,0 0 0,0 1 0,0 0 0,21 10 0,120 68 0,66 32 0,-187-102 0,-24-8 0,0 0 0,0 0 0,-1 1 0,22 13 0,-31-17 0,-1 0 0,1 0 0,-1 1 0,1-1 0,-1 0 0,0 0 0,0 1 0,1-1 0,-1 1 0,0-1 0,0 1 0,-1-1 0,1 1 0,0 0 0,0-1 0,-1 1 0,1 0 0,-1 0 0,0 0 0,1-1 0,-1 1 0,0 0 0,0 0 0,0 0 0,0-1 0,0 1 0,-1 0 0,1 0 0,-1 0 0,1-1 0,-1 1 0,1 0 0,-1-1 0,0 1 0,0 0 0,0-1 0,0 1 0,0-1 0,-2 3 0,-7 8 0,-1-1 0,0 0 0,-1-1 0,0 0 0,0-1 0,-1 0 0,-17 8 0,9-5 0,2 1 0,-21 17 0,-35 27 76,54-43-556,0 1-1,-32 32 1,34-26-6346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49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1779 39 24575,'-35'0'0,"0"-2"0,1-2 0,-49-11 0,31 7 0,1 2 0,-1 3 0,-85 4 0,50 1 0,76-1 0,0 0 0,0 1 0,1 0 0,-1 1 0,0 0 0,1 1 0,-18 8 0,-67 44 0,-30 38 0,83-65 0,-51 47 0,65-45 0,2 0 0,1 1 0,2 1 0,-21 39 0,41-67 0,-6 15 0,0 0 0,1 0 0,1 1 0,1 0 0,-5 30 0,-16 51 0,-14 2 0,-18 51 0,52-131 0,1 1 0,1 0 0,1 0 0,-2 39 0,6-8 0,2-21 0,-3 1 0,-1 0 0,-1 0 0,-2-1 0,-1 0 0,-15 45 0,13-54 0,1 1 0,2 1 0,0-1 0,2 1 0,1 0 0,1 32 0,-2 38 0,-27 48 0,21-90 0,-17 61 0,14-72 0,2 1 0,-7 74 0,18 55 0,-3 39 0,-14-105 0,8-72 0,-3 64 0,10-62 0,-1-1 0,-16 75 0,3-47 0,2 0 0,3 1 0,-2 108 0,14-82 0,1-41 0,-3 1 0,-2-1 0,-14 86 0,8-86 0,2 0 0,2 0 0,4 68 0,-4 62 0,-13-97 0,12-63 0,0 0 0,-2 27 0,7 58 0,2-78 0,-2 0 0,-1-1 0,-1 1 0,-11 52 0,8-58 42,0 1-1,-1 41 1,5-42-539,-1 1 1,-8 34-1,2-36-6329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0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24575,'4'3'0,"0"0"0,0 0 0,-1 0 0,1 0 0,-1 1 0,0 0 0,0-1 0,0 1 0,-1 0 0,1 0 0,2 8 0,84 163 0,-84-165 0,1-1 0,0 0 0,1 0 0,0-1 0,11 11 0,-9-10 0,0 1 0,-1 0 0,10 15 0,-4 0 0,-7-12 0,0 1 0,2-1 0,-1-1 0,15 17 0,-23-29 0,1 1 0,-1-1 0,0 0 0,1 1 0,-1-1 0,1 0 0,-1 1 0,0-1 0,1 0 0,-1 0 0,1 1 0,-1-1 0,1 0 0,-1 0 0,1 0 0,-1 0 0,1 0 0,-1 0 0,0 0 0,1 1 0,-1-1 0,1 0 0,-1-1 0,1 1 0,-1 0 0,1 0 0,-1 0 0,1 0 0,-1 0 0,1 0 0,-1-1 0,1 1 0,-1 0 0,1 0 0,-1-1 0,0 1 0,1 0 0,-1 0 0,0-1 0,1 1 0,-1-1 0,0 1 0,1 0 0,-1-1 0,0 1 0,1-1 0,-1 1 0,0-1 0,0 0 0,11-30 0,-8 21 0,6-12 0,0 1 0,1 0 0,1 1 0,1 0 0,0 0 0,2 2 0,0-1 0,21-19 0,-27 32 0,1 0 0,0 1 0,0 0 0,1 0 0,11-4 0,32-16 0,-39 17 0,1 1 0,-1 0 0,1 1 0,31-7 0,34-15 0,-50 15-103,-24 12 29,0-1 0,0 0 0,0-1-1,0 0 1,-1 0 0,1 0 0,-1 0-1,1-1 1,-1 0 0,-1 0 0,1-1-1,0 1 1,-1-1 0,0 0-1,0 0 1,4-8 0,1-10-6752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6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24575,'6'0'0,"7"0"0,9 0 0,6 0 0,4 0 0,-4 12 0,1 4 0,-6-1-8191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7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24575,'12'0'0,"9"0"0,9 0 0,3 0 0,4 0 0,0 0 0,1 0 0,-1 0 0,-6 12 0,-2 4 0,-1-1 0,-5-3-8191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7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24575,'12'0'0,"10"0"0,8 0 0,3 0 0,4 0 0,0 0 0,1 0 0,-1 0 0,-6 12 0,-3 4 0,-5-1-8191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8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24575,'6'0'0,"8"0"0,8 0 0,5 0 0,5 0 0,3 0 0,1 0 0,1 0 0,-6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2:57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1485 0 24575,'3'1'0,"0"-1"0,0 1 0,0 0 0,-1 0 0,1 0 0,0 0 0,0 0 0,-1 1 0,1-1 0,-1 1 0,1 0 0,-1 0 0,1 0 0,-1 0 0,0 0 0,0 0 0,0 0 0,0 1 0,-1-1 0,1 1 0,-1-1 0,1 1 0,-1 0 0,0 0 0,0 0 0,0-1 0,0 1 0,-1 0 0,1 4 0,3 13 0,-1 1 0,0-1 0,-1 22 0,-2-37 0,2 30 0,-2 0 0,-6 48 0,3-70 0,1 0 0,-2 0 0,1-1 0,-2 0 0,0 0 0,0 0 0,-1 0 0,-1-1 0,-12 18 0,-23 30 0,25-33 0,-1-1 0,-29 31 0,44-54 0,-19 19 0,2 1 0,-33 46 0,32-38 0,-1-2 0,-1 0 0,-38 34 0,8 1 0,45-50 0,-2-1 0,0 0 0,0 0 0,-1-1 0,-13 9 0,-33 30 0,44-37 0,0-1 0,0-1 0,-2 0 0,-22 13 0,17-12 0,1 1 0,0 1 0,1 1 0,1 0 0,-23 26 0,19-19 0,-1 0 0,-29 20 0,36-33 0,0-1 0,-1 0 0,0-1 0,0-1 0,0-1 0,-1 0 0,0-1 0,0-1 0,-22 2 0,-52 12 0,6 3 0,52-14 0,1 2 0,0 1 0,1 1 0,-55 27 0,39-15-1365,24-14-5461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3:00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0 24575,'1'54'0,"-1"51"0,-1-95 0,0-1 0,-1 1 0,0-1 0,0 1 0,-1-1 0,-1 0 0,1 0 0,-8 12 0,-8 10 0,-53 96 0,71-126 0,0 1 0,0 0 0,0-1 0,0 1 0,0 0 0,1 0 0,-1 0 0,1-1 0,-1 1 0,1 0 0,0 0 0,0 0 0,0 0 0,0 0 0,0 0 0,0 0 0,0-1 0,1 1 0,-1 0 0,1 0 0,-1 0 0,1 0 0,0-1 0,-1 1 0,1 0 0,0-1 0,0 1 0,1 0 0,-1-1 0,0 0 0,0 1 0,1-1 0,-1 0 0,1 1 0,-1-1 0,1 0 0,-1 0 0,1 0 0,2 1 0,8 2 0,-1 0 0,1 0 0,1-1 0,-1-1 0,15 2 0,7 1 0,160 54 0,-177-55-273,-1 0 0,0 1 0,0 1 0,22 12 0,-20-6-6553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1159DD-8E3A-4E5B-94F3-2C463B318E9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D5743-FA1C-4EF1-8B15-D085DA8AD3B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D1603CA-E0EB-4C7E-9913-AEA36A117DC5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C623DF-71D1-4D56-B2ED-F09B7276F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EA282FE-243D-46E9-8DBD-2879346656D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5EAE9-8A66-41EC-815F-7973D056CFD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99639-55D3-485B-BD02-D8BB410FDDF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FD4072C2-61A7-4011-81A8-90D25028E4C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47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an R script or a </a:t>
            </a:r>
            <a:r>
              <a:rPr lang="en-US" dirty="0" err="1"/>
              <a:t>qmd</a:t>
            </a:r>
            <a:r>
              <a:rPr lang="en-US" dirty="0"/>
              <a:t> file. </a:t>
            </a:r>
            <a:r>
              <a:rPr lang="en-US" dirty="0" err="1"/>
              <a:t>Rmd</a:t>
            </a:r>
            <a:r>
              <a:rPr lang="en-US" dirty="0"/>
              <a:t> only if they already know how to work with that (and then still </a:t>
            </a:r>
            <a:r>
              <a:rPr lang="en-US" dirty="0" err="1"/>
              <a:t>qmd</a:t>
            </a:r>
            <a:r>
              <a:rPr lang="en-US" dirty="0"/>
              <a:t> is better because it’s the successor).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D208C-49A7-4905-A0F1-F13051F7657A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0513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3540-B32D-46D3-8A00-AC8948711C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69567-F111-47AE-872D-2CFF051B60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3C000-A2E4-4F21-BFDA-30B3CB211E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52EB6F-F01A-4C7F-8837-494AA6F5600D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3F97F-4B2A-4920-A849-387B61F5B9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C54A-FB31-44A8-8692-2F0A1070466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B9929F-084D-4E07-ACED-BED149780F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2711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80C4-B5E2-46DC-ADC0-D6C557EC958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68E1A-522F-4D6F-860D-C8047D74E38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7576-2994-42F5-AA45-C0D455651C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41FCA5-6C9D-48F9-858C-EAF4952FFB00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E8E3-CAFB-4C04-9B1A-AA7F6E36BB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E07C4-0230-4131-AC81-D9A0666870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9C6A3C-F0DE-4587-B6A6-8E7EE78CBA8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9848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824A-05C5-4F78-BD21-1605B7FD7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C134A-D0E5-4A39-92B5-7734670FB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FCF32-2B36-4AA2-8E0D-4B25DE0DFE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9E7514-152E-4C65-9651-D19642D7E55C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9D001-46B6-498C-A127-096E8E36EE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A5A3-958C-4DF8-BB35-1FE5BCC531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B6D386-3FA7-4CC8-B32B-C4D73DDCC5D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76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2DE1-CAB8-4ABA-8F3B-B0471A4962B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FEBA-FABD-4A22-99B7-F6732EBE2E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36175-3FE7-49EF-A0DA-CDD1501475E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76EE0-CF86-4E3E-B1AB-D880EE061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2B03DF-B078-440C-ABC1-115D1F362B78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7BDC1-4FF2-42AC-8F6D-DFD9310B33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4C9A-8708-4E6F-9E45-820BC2E98A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F393FD-3DF8-42A5-A8FA-A2BF771A37E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23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4D1E-CDD8-40B0-8055-433F1CDFE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23DB5-474F-4F7F-86B8-462E7571A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7EADC-8ACC-47D1-A0CC-53E314C5013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31E8-EB75-428F-ACAF-D019895796E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C596C-DE5E-4BA0-8BD9-E0555E4DB52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8B078-B553-4CC2-9691-9CA862EF47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948724-37EA-469B-8ACD-BD155539800E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111F6-7239-4273-A090-67FDD2D97E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007E5-88A4-4C84-9A6B-BA27790EC0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4BEE48-1C25-40B6-AE13-9BE115420C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66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75EA-C5BB-49E3-A7CB-3CDF5692E4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26EA4-C3DB-4EBB-9B75-37F28C227B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A18A16-F1AD-4500-8ABF-A49673BC476C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D739B-620B-4FC7-8C7C-436452377E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C5685-31DB-4D15-A371-92CB77CB97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2D5E88-FC20-4906-A394-9A34973A14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01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E9D22-4F00-4EE0-B7B0-422A8BD80F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B92B84-8FAE-43D9-8D8A-6E4BE2F733B6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52F5F-3A4D-49DA-9207-47165B44C0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782FC-5AF5-4376-A793-DFD8C88F0C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4ACD8D-4760-40C1-A03F-2AB959AC94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02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5227-3650-4BE5-928E-B8F065EEA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82FD-96C7-458F-B658-355287FE77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504B-4CF0-4F23-9961-1B6EA9DA90E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F869E-68A4-4740-869B-FF45DFCCB34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27A4E3-BE7C-4F18-BDF9-48672C247F0A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A7771-215E-4C76-A2A8-2ED7AD2682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D1387-4226-4FDF-91FF-F320AC9B9A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65267D-83F7-4B9F-BBD4-9A4596A6A63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07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0ACC-BF7D-4F50-9C92-D7737697E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85E16-9FCC-4D42-89FD-B4B663DBF2A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52121-155B-4DAF-BBBD-B10A86F3DB4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2D9F2-865D-41A7-A136-E02DD60A9F6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E98F98-FAC1-4257-AE64-62F41D2CE614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EED4B-F2B8-44D8-A31B-C48F01E4F4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A8D40-9E49-44F7-8F5D-59740800C3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48D8A2-74D8-442D-94C6-6912883BE7D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77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6F42-F256-4D34-85D3-0E65D07A19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C3520-607E-4D7D-8917-F602459E29D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D9E15-154B-4753-AD3D-2453AD9B1C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92B8EF-51BF-451E-8853-3192661CB532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8E49F-2407-4872-BBE9-9F94721E39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9EE0-5C82-4BC2-B69D-DEED5FE44C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8320DF-69DC-4D5D-BA7C-727CD9A1572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45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294B2-FD52-4021-968C-126C9430674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47CAD-1132-4AEF-A919-14BEF0CD207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049A-0302-482F-91D1-C051B82991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4687C2-DC16-4038-9B1F-C825568F6269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A094E-A02F-4B22-AB90-9AB6592C0E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FEBE-D085-4598-AE2B-AA774741BA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F4BC80-48B4-4EAB-AAEB-9F4F8AD0735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46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7590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1526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9386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892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9195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32399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7320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88179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0939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3922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59698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672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10BCE-8C57-47C5-93D2-77A66D0D1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33111-9254-45A2-85C8-1D148F665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23FE-8F58-4E7C-8ABA-EAFB897033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B18FF1D-8D7C-4B61-8FC7-67D805AFEAF6}" type="datetime1">
              <a:rPr lang="en-GB"/>
              <a:pPr lvl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AD92E-EB7F-4EDD-A8BA-6E41F7FA7EE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7734-5447-4810-ABF9-4AD0CF8E5A0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3C4C76D-D1C5-4B7E-B9C9-BC66F5CDE924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2F29F-60CE-435D-911D-C4361140EDDE}" type="datetimeFigureOut">
              <a:rPr lang="nl-NL" smtClean="0"/>
              <a:t>25-9-2024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423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image" Target="../media/image11.jpeg"/><Relationship Id="rId3" Type="http://schemas.openxmlformats.org/officeDocument/2006/relationships/hyperlink" Target="mailto:d.l.oberski@uu.nl" TargetMode="External"/><Relationship Id="rId21" Type="http://schemas.openxmlformats.org/officeDocument/2006/relationships/hyperlink" Target="mailto:t.b.volker@uu.nl" TargetMode="External"/><Relationship Id="rId7" Type="http://schemas.openxmlformats.org/officeDocument/2006/relationships/image" Target="../media/image3.jpeg"/><Relationship Id="rId12" Type="http://schemas.openxmlformats.org/officeDocument/2006/relationships/hyperlink" Target="mailto:o.togay@uu.nl" TargetMode="External"/><Relationship Id="rId17" Type="http://schemas.openxmlformats.org/officeDocument/2006/relationships/hyperlink" Target="mailto:timo_kuil@hotmail.com" TargetMode="External"/><Relationship Id="rId2" Type="http://schemas.openxmlformats.org/officeDocument/2006/relationships/hyperlink" Target="mailto:e.vankesteren1@uu.nl" TargetMode="External"/><Relationship Id="rId16" Type="http://schemas.openxmlformats.org/officeDocument/2006/relationships/image" Target="../media/image10.jpeg"/><Relationship Id="rId20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.shafieekamalabad@uu.nl" TargetMode="External"/><Relationship Id="rId11" Type="http://schemas.openxmlformats.org/officeDocument/2006/relationships/hyperlink" Target="mailto:e.candellone@uu.nl" TargetMode="External"/><Relationship Id="rId5" Type="http://schemas.openxmlformats.org/officeDocument/2006/relationships/hyperlink" Target="mailto:a.bagheri@uu.nl" TargetMode="External"/><Relationship Id="rId15" Type="http://schemas.openxmlformats.org/officeDocument/2006/relationships/image" Target="../media/image9.jpeg"/><Relationship Id="rId10" Type="http://schemas.openxmlformats.org/officeDocument/2006/relationships/image" Target="../media/image6.jpeg"/><Relationship Id="rId19" Type="http://schemas.openxmlformats.org/officeDocument/2006/relationships/hyperlink" Target="mailto:h.i.oberman@uu.nl" TargetMode="External"/><Relationship Id="rId4" Type="http://schemas.openxmlformats.org/officeDocument/2006/relationships/hyperlink" Target="mailto:j.j.teijema@uu.nl" TargetMode="External"/><Relationship Id="rId9" Type="http://schemas.openxmlformats.org/officeDocument/2006/relationships/image" Target="../media/image5.jpeg"/><Relationship Id="rId1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learning.com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lab.com/gbuvn1/opinion-polling-graph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ss.onlinelibrary.wiley.com/doi/epdf/10.1111/1740-9713.01574" TargetMode="External"/><Relationship Id="rId2" Type="http://schemas.openxmlformats.org/officeDocument/2006/relationships/hyperlink" Target="https://dh2017.adho.org/abstracts/079/079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nfomdwr.nl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4ds.hadley.nz/workflow-scripts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18" Type="http://schemas.openxmlformats.org/officeDocument/2006/relationships/customXml" Target="../ink/ink7.xml"/><Relationship Id="rId3" Type="http://schemas.openxmlformats.org/officeDocument/2006/relationships/image" Target="../media/image24.png"/><Relationship Id="rId21" Type="http://schemas.openxmlformats.org/officeDocument/2006/relationships/image" Target="../media/image16.png"/><Relationship Id="rId7" Type="http://schemas.openxmlformats.org/officeDocument/2006/relationships/customXml" Target="../ink/ink2.xml"/><Relationship Id="rId12" Type="http://schemas.openxmlformats.org/officeDocument/2006/relationships/customXml" Target="../ink/ink4.xml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6.png"/><Relationship Id="rId5" Type="http://schemas.openxmlformats.org/officeDocument/2006/relationships/customXml" Target="../ink/ink1.xml"/><Relationship Id="rId15" Type="http://schemas.openxmlformats.org/officeDocument/2006/relationships/image" Target="../media/image130.png"/><Relationship Id="rId23" Type="http://schemas.openxmlformats.org/officeDocument/2006/relationships/image" Target="../media/image170.png"/><Relationship Id="rId10" Type="http://schemas.openxmlformats.org/officeDocument/2006/relationships/image" Target="../media/image10.png"/><Relationship Id="rId19" Type="http://schemas.openxmlformats.org/officeDocument/2006/relationships/image" Target="../media/image15.png"/><Relationship Id="rId4" Type="http://schemas.openxmlformats.org/officeDocument/2006/relationships/image" Target="../media/image25.png"/><Relationship Id="rId9" Type="http://schemas.openxmlformats.org/officeDocument/2006/relationships/customXml" Target="../ink/ink3.xml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7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customXml" Target="../ink/ink11.xml"/><Relationship Id="rId4" Type="http://schemas.openxmlformats.org/officeDocument/2006/relationships/image" Target="../media/image19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407508" y="5754848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Methodology &amp; Statistics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8655DD4-3369-FAE5-ACF6-6470C90486B9}"/>
              </a:ext>
            </a:extLst>
          </p:cNvPr>
          <p:cNvSpPr txBox="1"/>
          <p:nvPr/>
        </p:nvSpPr>
        <p:spPr>
          <a:xfrm>
            <a:off x="557180" y="1083733"/>
            <a:ext cx="22317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Erik-Jan</a:t>
            </a:r>
          </a:p>
          <a:p>
            <a:r>
              <a:rPr lang="en-US" sz="1600" dirty="0">
                <a:latin typeface="Fira Sans" panose="020B0503050000020004" pitchFamily="34" charset="0"/>
                <a:hlinkClick r:id="rId2"/>
              </a:rPr>
              <a:t>e.vankesteren1@uu.nl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C4645C-2A7D-D8A9-29F7-C7CFC93954E2}"/>
              </a:ext>
            </a:extLst>
          </p:cNvPr>
          <p:cNvSpPr txBox="1"/>
          <p:nvPr/>
        </p:nvSpPr>
        <p:spPr>
          <a:xfrm>
            <a:off x="4785019" y="1083733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Daniel</a:t>
            </a:r>
          </a:p>
          <a:p>
            <a:r>
              <a:rPr lang="en-US" sz="1600" dirty="0">
                <a:latin typeface="Fira Sans" panose="020B0503050000020004" pitchFamily="34" charset="0"/>
                <a:hlinkClick r:id="rId3"/>
              </a:rPr>
              <a:t>d.l.oberski@uu.nl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A76F81-2A96-1E38-CFA3-584355BFE35A}"/>
              </a:ext>
            </a:extLst>
          </p:cNvPr>
          <p:cNvSpPr txBox="1"/>
          <p:nvPr/>
        </p:nvSpPr>
        <p:spPr>
          <a:xfrm>
            <a:off x="2771598" y="3822129"/>
            <a:ext cx="17796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Jelle</a:t>
            </a:r>
          </a:p>
          <a:p>
            <a:r>
              <a:rPr lang="en-US" sz="1600" dirty="0">
                <a:latin typeface="Fira Sans" panose="020B0503050000020004" pitchFamily="34" charset="0"/>
                <a:hlinkClick r:id="rId4"/>
              </a:rPr>
              <a:t>j.j.teijema@uu.nl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1C87C8-6004-715C-6F81-6D91F084D2D0}"/>
              </a:ext>
            </a:extLst>
          </p:cNvPr>
          <p:cNvSpPr txBox="1"/>
          <p:nvPr/>
        </p:nvSpPr>
        <p:spPr>
          <a:xfrm>
            <a:off x="2771598" y="1083733"/>
            <a:ext cx="17299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Ayoub</a:t>
            </a:r>
          </a:p>
          <a:p>
            <a:r>
              <a:rPr lang="en-US" sz="1600" dirty="0">
                <a:latin typeface="Fira Sans" panose="020B0503050000020004" pitchFamily="34" charset="0"/>
                <a:hlinkClick r:id="rId5"/>
              </a:rPr>
              <a:t>a.bagheri@uu.nl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0BA69B-C664-1F67-63D1-5BB51AAF26E0}"/>
              </a:ext>
            </a:extLst>
          </p:cNvPr>
          <p:cNvSpPr txBox="1"/>
          <p:nvPr/>
        </p:nvSpPr>
        <p:spPr>
          <a:xfrm>
            <a:off x="6772221" y="3825857"/>
            <a:ext cx="247375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Mahdi</a:t>
            </a:r>
          </a:p>
          <a:p>
            <a:r>
              <a:rPr lang="en-US" sz="1400" dirty="0">
                <a:latin typeface="Fira Sans" panose="020B0503050000020004" pitchFamily="34" charset="0"/>
                <a:hlinkClick r:id="rId6"/>
              </a:rPr>
              <a:t>m.shafieekamalabad@uu.nl</a:t>
            </a:r>
            <a:endParaRPr lang="en-US" sz="1400" dirty="0">
              <a:latin typeface="Fira Sans" panose="020B05030500000200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A2132F-6E4A-1480-1AE7-2349AB050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019" y="1789472"/>
            <a:ext cx="1461670" cy="176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BBE0C1AA-FC21-150F-F0B5-3F13103D8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50" b="16750"/>
          <a:stretch/>
        </p:blipFill>
        <p:spPr bwMode="auto">
          <a:xfrm>
            <a:off x="651778" y="1834139"/>
            <a:ext cx="1714057" cy="17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2E01320-DB6F-80C1-9F5E-3B3F91CF8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6" r="10286"/>
          <a:stretch/>
        </p:blipFill>
        <p:spPr bwMode="auto">
          <a:xfrm>
            <a:off x="6884529" y="4547355"/>
            <a:ext cx="1645150" cy="164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9C63331A-6860-ADDC-6442-6EE7381E3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849" y="4555772"/>
            <a:ext cx="1645151" cy="164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44E381D-AE17-47FC-DBA2-638B6E2A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60" y="-19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&amp;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Science team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63CA2-79B0-616D-481E-5E8910642E65}"/>
              </a:ext>
            </a:extLst>
          </p:cNvPr>
          <p:cNvSpPr txBox="1"/>
          <p:nvPr/>
        </p:nvSpPr>
        <p:spPr>
          <a:xfrm>
            <a:off x="651778" y="3798225"/>
            <a:ext cx="20649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Elena</a:t>
            </a:r>
          </a:p>
          <a:p>
            <a:r>
              <a:rPr lang="en-US" sz="1600" dirty="0">
                <a:latin typeface="Fira Sans" panose="020B0503050000020004" pitchFamily="34" charset="0"/>
                <a:hlinkClick r:id="rId11"/>
              </a:rPr>
              <a:t>e.candellone@uu.nl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F5107F-6629-0880-47F7-7CDABB1E8F3E}"/>
              </a:ext>
            </a:extLst>
          </p:cNvPr>
          <p:cNvSpPr txBox="1"/>
          <p:nvPr/>
        </p:nvSpPr>
        <p:spPr>
          <a:xfrm>
            <a:off x="4818547" y="3802974"/>
            <a:ext cx="15472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Özgür </a:t>
            </a:r>
          </a:p>
          <a:p>
            <a:r>
              <a:rPr lang="en-US" sz="1600" dirty="0">
                <a:latin typeface="Fira Sans" panose="020B0503050000020004" pitchFamily="34" charset="0"/>
                <a:hlinkClick r:id="rId12"/>
              </a:rPr>
              <a:t>o.togay@uu.nl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4D528293-6FF2-C4C9-0ACA-8C6D0FC1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61689" y="4555772"/>
            <a:ext cx="1645151" cy="164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25191DB-E0B8-490E-273A-EB5D9C3AF2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99"/>
          <a:stretch/>
        </p:blipFill>
        <p:spPr bwMode="auto">
          <a:xfrm>
            <a:off x="706853" y="4544957"/>
            <a:ext cx="1453663" cy="164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74151DAE-9F1C-965B-709F-6FB360F87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451" y="1834139"/>
            <a:ext cx="1538256" cy="17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CEE8F63-73EE-5A14-7860-BB197030D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048" y="1789472"/>
            <a:ext cx="1758724" cy="175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0E22C3-E3B9-2B5B-EEF4-3744867B2BC3}"/>
              </a:ext>
            </a:extLst>
          </p:cNvPr>
          <p:cNvSpPr txBox="1"/>
          <p:nvPr/>
        </p:nvSpPr>
        <p:spPr>
          <a:xfrm>
            <a:off x="6550178" y="1081586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Timo</a:t>
            </a:r>
          </a:p>
          <a:p>
            <a:r>
              <a:rPr lang="en-US" sz="1600" dirty="0">
                <a:latin typeface="Fira Sans" panose="020B0503050000020004" pitchFamily="34" charset="0"/>
                <a:hlinkClick r:id="rId17"/>
              </a:rPr>
              <a:t>timo_kuil@hotmail.com</a:t>
            </a:r>
            <a:endParaRPr lang="en-US" sz="1600" dirty="0">
              <a:latin typeface="Fira Sans" panose="020B05030500000200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784CACD-67C7-FBEB-C362-F20C5DB2D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68" y="1789472"/>
            <a:ext cx="1740351" cy="174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DB7422-A1D1-E597-4F3E-DE4894321176}"/>
              </a:ext>
            </a:extLst>
          </p:cNvPr>
          <p:cNvSpPr txBox="1"/>
          <p:nvPr/>
        </p:nvSpPr>
        <p:spPr>
          <a:xfrm>
            <a:off x="8939800" y="1079439"/>
            <a:ext cx="2036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Hanne</a:t>
            </a:r>
          </a:p>
          <a:p>
            <a:r>
              <a:rPr lang="en-US" sz="1600" dirty="0">
                <a:latin typeface="Fira Sans" panose="020B0503050000020004" pitchFamily="34" charset="0"/>
                <a:hlinkClick r:id="rId19"/>
              </a:rPr>
              <a:t>h.i.oberman@uu.nl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E5E25F3-EE47-F359-4CAE-51D5DE76C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0402" y="4544909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CA807D-D299-4680-DBBC-E009E36AB324}"/>
              </a:ext>
            </a:extLst>
          </p:cNvPr>
          <p:cNvSpPr txBox="1"/>
          <p:nvPr/>
        </p:nvSpPr>
        <p:spPr>
          <a:xfrm>
            <a:off x="9269500" y="3757043"/>
            <a:ext cx="1790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Thom</a:t>
            </a:r>
          </a:p>
          <a:p>
            <a:r>
              <a:rPr lang="en-US" sz="1600" dirty="0">
                <a:latin typeface="Fira Sans" panose="020B0503050000020004" pitchFamily="34" charset="0"/>
                <a:hlinkClick r:id="rId21"/>
              </a:rPr>
              <a:t>t.b.volker@uu.nl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194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2924-5681-42CB-B4E0-7327958D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Data Visualization - examples</a:t>
            </a:r>
          </a:p>
        </p:txBody>
      </p:sp>
    </p:spTree>
    <p:extLst>
      <p:ext uri="{BB962C8B-B14F-4D97-AF65-F5344CB8AC3E}">
        <p14:creationId xmlns:p14="http://schemas.microsoft.com/office/powerpoint/2010/main" val="631915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40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How do wages differ?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F8F60-3566-4992-A3E5-92B9B2086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446" y="1690688"/>
            <a:ext cx="6129000" cy="43766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A4ECAA-C899-4365-8E52-FC921D70B603}"/>
              </a:ext>
            </a:extLst>
          </p:cNvPr>
          <p:cNvSpPr txBox="1"/>
          <p:nvPr/>
        </p:nvSpPr>
        <p:spPr>
          <a:xfrm>
            <a:off x="3691393" y="619228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https://www.statlearning.com/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2373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40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Predicting the outcome of the 2021 Dutch 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B5D43-D453-4E59-865F-44F263B397A7}"/>
              </a:ext>
            </a:extLst>
          </p:cNvPr>
          <p:cNvSpPr txBox="1"/>
          <p:nvPr/>
        </p:nvSpPr>
        <p:spPr>
          <a:xfrm>
            <a:off x="2231112" y="6211381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https://gitlab.com/gbuvn1/opinion-polling-graph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0715BA-EF8E-458D-BF53-E44E63D0A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453" y="1658031"/>
            <a:ext cx="7912359" cy="446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67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309" y="367979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40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Deep Learning techniques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2AB5C-6A57-4DBB-8FC3-460CFB5AEC5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6</a:t>
            </a:fld>
            <a:endParaRPr lang="en-US"/>
          </a:p>
        </p:txBody>
      </p:sp>
      <p:pic>
        <p:nvPicPr>
          <p:cNvPr id="2050" name="Picture 2" descr="Frontiers | Applications of Deep Learning to Neuro-Imaging Techniques">
            <a:extLst>
              <a:ext uri="{FF2B5EF4-FFF2-40B4-BE49-F238E27FC236}">
                <a16:creationId xmlns:a16="http://schemas.microsoft.com/office/drawing/2014/main" id="{B9BEA1A0-9052-DDBB-070E-0F067A14C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412" y="1816648"/>
            <a:ext cx="6460503" cy="484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03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309" y="640655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40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Who was the best Friend?</a:t>
            </a:r>
            <a:endParaRPr lang="en-GB" sz="4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1BB541-5F56-42C0-ADE7-9CC0F8FACA89}"/>
              </a:ext>
            </a:extLst>
          </p:cNvPr>
          <p:cNvSpPr txBox="1"/>
          <p:nvPr/>
        </p:nvSpPr>
        <p:spPr>
          <a:xfrm>
            <a:off x="474309" y="1830576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1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  <a:hlinkClick r:id="rId2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0" cap="none" spc="0" baseline="0" dirty="0">
                <a:solidFill>
                  <a:srgbClr val="7F7F7F"/>
                </a:solidFill>
                <a:uFillTx/>
                <a:latin typeface="Fira Sans" pitchFamily="34"/>
                <a:ea typeface="Fira Code" pitchFamily="49"/>
                <a:hlinkClick r:id="rId3"/>
              </a:rPr>
              <a:t>https://rss.onlinelibrary.wiley.com/doi/epdf/10.1111/1740-9713.01574</a:t>
            </a:r>
            <a:endParaRPr lang="en-GB" sz="1600" b="1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6ADA12-419B-4DDE-8C8B-437845910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453" y="1298458"/>
            <a:ext cx="4572809" cy="304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9C65C-29F9-4955-A04C-C5E66248D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64" y="2822256"/>
            <a:ext cx="6312018" cy="36483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2AB5C-6A57-4DBB-8FC3-460CFB5AEC5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9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470" y="937119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40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Automatic detection of ICD10 codes in cardiology discharge letters</a:t>
            </a:r>
            <a:endParaRPr lang="en-GB" sz="4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1BB541-5F56-42C0-ADE7-9CC0F8FACA89}"/>
              </a:ext>
            </a:extLst>
          </p:cNvPr>
          <p:cNvSpPr txBox="1"/>
          <p:nvPr/>
        </p:nvSpPr>
        <p:spPr>
          <a:xfrm>
            <a:off x="628470" y="2103441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  <a:hlinkClick r:id="" action="ppaction://noaction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i="0" u="none" strike="noStrike" kern="0" cap="none" spc="0" baseline="0" dirty="0">
                <a:solidFill>
                  <a:srgbClr val="7F7F7F"/>
                </a:solidFill>
                <a:uFillTx/>
                <a:latin typeface="Fira Sans" pitchFamily="34"/>
                <a:ea typeface="Fira Code" pitchFamily="49"/>
                <a:hlinkClick r:id="" action="ppaction://noaction"/>
              </a:rPr>
              <a:t>https://www.nature.com/articles/s41746-021-00404-9</a:t>
            </a:r>
            <a:endParaRPr lang="en-GB" sz="100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B8F0A-E60F-40DE-86CB-213FFA71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224" y="2435611"/>
            <a:ext cx="3799317" cy="4189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8D6EA7-4F8E-4E75-BCE5-53DAE1A0E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410" y="2696217"/>
            <a:ext cx="3478343" cy="39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3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3"/>
          <p:cNvSpPr/>
          <p:nvPr/>
        </p:nvSpPr>
        <p:spPr>
          <a:xfrm>
            <a:off x="620640" y="1342080"/>
            <a:ext cx="11307960" cy="23601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/>
              </a:rPr>
              <a:t>How to do R </a:t>
            </a:r>
            <a:r>
              <a:rPr lang="en-US" sz="3600" b="1" strike="noStrike" spc="-1" dirty="0" err="1">
                <a:solidFill>
                  <a:srgbClr val="000000"/>
                </a:solidFill>
                <a:latin typeface="Times New Roman"/>
              </a:rPr>
              <a:t>practicals</a:t>
            </a:r>
            <a:endParaRPr lang="en-GB" sz="3600" b="0" strike="noStrike" spc="-1" dirty="0">
              <a:latin typeface="Calibri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2897280" y="3702960"/>
            <a:ext cx="6400440" cy="119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Schedule for the R </a:t>
            </a:r>
            <a:r>
              <a:rPr lang="en-GB" sz="4400" spc="-1" dirty="0" err="1">
                <a:solidFill>
                  <a:srgbClr val="000000"/>
                </a:solidFill>
                <a:latin typeface="+mj-lt"/>
              </a:rPr>
              <a:t>practicals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90400" y="170172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Attendance</a:t>
            </a:r>
            <a:r>
              <a:rPr lang="nl-NL" sz="280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is </a:t>
            </a:r>
            <a:r>
              <a:rPr lang="nl-NL" sz="280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mandatory</a:t>
            </a:r>
            <a:endParaRPr lang="nl-NL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In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each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session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: 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Q&amp;A time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lecture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, short intro time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practical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Working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on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today’s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practical (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working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together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is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allowed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/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encouraged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~20 minutes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discussion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Answers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will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be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online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during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discussion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How to do R </a:t>
            </a:r>
            <a:r>
              <a:rPr lang="en-GB" sz="4400" spc="-1" dirty="0" err="1">
                <a:solidFill>
                  <a:srgbClr val="000000"/>
                </a:solidFill>
                <a:latin typeface="+mj-lt"/>
              </a:rPr>
              <a:t>practicals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90400" y="170172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R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practicals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are on 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  <a:hlinkClick r:id="rId2"/>
              </a:rPr>
              <a:t>https://infomdwr.nl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(like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always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!)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Sometimes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they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need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some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additional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data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What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steps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take? </a:t>
            </a:r>
            <a:endParaRPr lang="nl-NL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024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Step 1: Create a folder with R project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90399" y="1690200"/>
            <a:ext cx="10762921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Our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suggestion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: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either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One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folder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course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an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R project (.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Rproj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file)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Subfolder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each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practical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.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Rmd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, .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qmd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, or .R file (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depending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on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your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preference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Data folder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all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data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all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practicals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OR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One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folder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.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Rproj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file per practical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Data folder per practical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if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needed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075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A547-7349-FE21-D29E-CFD067E4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87106-2AA4-B532-D872-9E0F68C10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769" y="801264"/>
            <a:ext cx="3096057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0F4FFC-7898-4BE5-FE5A-C3AEB802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9" y="2465310"/>
            <a:ext cx="4963218" cy="3591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80DC8D-98C6-43EC-2E53-D50984509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892" y="2465310"/>
            <a:ext cx="5039428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49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A547-7349-FE21-D29E-CFD067E4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all file paths are relative!</a:t>
            </a:r>
            <a:endParaRPr lang="en-NL" dirty="0"/>
          </a:p>
        </p:txBody>
      </p:sp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61422688-ED45-6E39-F72C-37E528D68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25" y="708772"/>
            <a:ext cx="10648950" cy="53396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5D22C9-D36E-1BEE-C0AC-9FDEDED9571A}"/>
              </a:ext>
            </a:extLst>
          </p:cNvPr>
          <p:cNvSpPr txBox="1"/>
          <p:nvPr/>
        </p:nvSpPr>
        <p:spPr>
          <a:xfrm>
            <a:off x="5187651" y="5772661"/>
            <a:ext cx="6232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/>
              <a:t>For more info see R4DS chapter 7 </a:t>
            </a:r>
            <a:r>
              <a:rPr lang="en-NL" sz="2400" dirty="0">
                <a:hlinkClick r:id="rId3"/>
              </a:rPr>
              <a:t>https://r4ds.hadley.nz/workflow-scripts</a:t>
            </a:r>
            <a:r>
              <a:rPr lang="en-US" sz="2400" dirty="0"/>
              <a:t> 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211803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Step 2: </a:t>
            </a:r>
            <a:r>
              <a:rPr lang="en-GB" sz="4400" spc="-1" dirty="0" err="1">
                <a:solidFill>
                  <a:srgbClr val="000000"/>
                </a:solidFill>
                <a:latin typeface="+mj-lt"/>
              </a:rPr>
              <a:t>qmd</a:t>
            </a:r>
            <a:r>
              <a:rPr lang="en-GB" sz="4400" spc="-1" dirty="0">
                <a:solidFill>
                  <a:srgbClr val="000000"/>
                </a:solidFill>
                <a:latin typeface="+mj-lt"/>
              </a:rPr>
              <a:t> or .R file (or .</a:t>
            </a:r>
            <a:r>
              <a:rPr lang="en-GB" sz="4400" spc="-1" dirty="0" err="1">
                <a:solidFill>
                  <a:srgbClr val="000000"/>
                </a:solidFill>
                <a:latin typeface="+mj-lt"/>
              </a:rPr>
              <a:t>rmd</a:t>
            </a:r>
            <a:r>
              <a:rPr lang="en-GB" sz="4400" spc="-1" dirty="0">
                <a:solidFill>
                  <a:srgbClr val="000000"/>
                </a:solidFill>
                <a:latin typeface="+mj-lt"/>
              </a:rPr>
              <a:t>)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D6F737-5F28-C0C7-BDC2-B5C6A3F7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0" y="1525440"/>
            <a:ext cx="5458587" cy="2105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0D5C2D-F8EF-1EA7-D54E-86CBB8B27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065" y="1525440"/>
            <a:ext cx="4982270" cy="44297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0F58F1-5770-59B5-5A0F-2C65B65C24C9}"/>
                  </a:ext>
                </a:extLst>
              </p14:cNvPr>
              <p14:cNvContentPartPr/>
              <p14:nvPr/>
            </p14:nvContentPartPr>
            <p14:xfrm>
              <a:off x="3955810" y="2590740"/>
              <a:ext cx="1738800" cy="51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0F58F1-5770-59B5-5A0F-2C65B65C24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02170" y="2482740"/>
                <a:ext cx="1846440" cy="26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3DFE83B-15CC-8DC1-29AF-998011E81E1D}"/>
              </a:ext>
            </a:extLst>
          </p:cNvPr>
          <p:cNvGrpSpPr/>
          <p:nvPr/>
        </p:nvGrpSpPr>
        <p:grpSpPr>
          <a:xfrm>
            <a:off x="5162530" y="2539260"/>
            <a:ext cx="1493640" cy="230040"/>
            <a:chOff x="5162530" y="2539260"/>
            <a:chExt cx="1493640" cy="2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E97348-11F3-BAEB-EA03-D9DF72A0CCFD}"/>
                    </a:ext>
                  </a:extLst>
                </p14:cNvPr>
                <p14:cNvContentPartPr/>
                <p14:nvPr/>
              </p14:nvContentPartPr>
              <p14:xfrm>
                <a:off x="5162530" y="2615220"/>
                <a:ext cx="1306800" cy="2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E97348-11F3-BAEB-EA03-D9DF72A0CCF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44530" y="2597580"/>
                  <a:ext cx="1342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80415BD-F16F-BDE0-7772-3189580B5DEB}"/>
                    </a:ext>
                  </a:extLst>
                </p14:cNvPr>
                <p14:cNvContentPartPr/>
                <p14:nvPr/>
              </p14:nvContentPartPr>
              <p14:xfrm>
                <a:off x="6394450" y="2539260"/>
                <a:ext cx="261720" cy="230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80415BD-F16F-BDE0-7772-3189580B5DE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76450" y="2521260"/>
                  <a:ext cx="297360" cy="2656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A3D4D9F2-E8DB-B069-E6FC-658665DC8B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079" y="4273967"/>
            <a:ext cx="5458587" cy="168121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0F6361F5-0FCD-9A34-954D-41CE96BF8707}"/>
              </a:ext>
            </a:extLst>
          </p:cNvPr>
          <p:cNvGrpSpPr/>
          <p:nvPr/>
        </p:nvGrpSpPr>
        <p:grpSpPr>
          <a:xfrm>
            <a:off x="3302050" y="2259180"/>
            <a:ext cx="749520" cy="1904760"/>
            <a:chOff x="3302050" y="2259180"/>
            <a:chExt cx="749520" cy="19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9BFE901-AEF7-A2EB-176F-134847C2EEC2}"/>
                    </a:ext>
                  </a:extLst>
                </p14:cNvPr>
                <p14:cNvContentPartPr/>
                <p14:nvPr/>
              </p14:nvContentPartPr>
              <p14:xfrm>
                <a:off x="3410770" y="2259180"/>
                <a:ext cx="640800" cy="1848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9BFE901-AEF7-A2EB-176F-134847C2EE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92770" y="2241540"/>
                  <a:ext cx="676440" cy="18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AD50D5-6E9D-0702-5B3B-6F5A9CBFA107}"/>
                    </a:ext>
                  </a:extLst>
                </p14:cNvPr>
                <p14:cNvContentPartPr/>
                <p14:nvPr/>
              </p14:nvContentPartPr>
              <p14:xfrm>
                <a:off x="3302050" y="3989340"/>
                <a:ext cx="318600" cy="174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AD50D5-6E9D-0702-5B3B-6F5A9CBFA10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84050" y="3971700"/>
                  <a:ext cx="35424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EAEB28B-6E8D-7ED8-D2C2-4B6ACC68E5AD}"/>
              </a:ext>
            </a:extLst>
          </p:cNvPr>
          <p:cNvGrpSpPr/>
          <p:nvPr/>
        </p:nvGrpSpPr>
        <p:grpSpPr>
          <a:xfrm>
            <a:off x="4101970" y="3517740"/>
            <a:ext cx="798120" cy="33120"/>
            <a:chOff x="4101970" y="3517740"/>
            <a:chExt cx="798120" cy="3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63AF47-FF07-4D9C-DBFF-3F39B6D8E21F}"/>
                    </a:ext>
                  </a:extLst>
                </p14:cNvPr>
                <p14:cNvContentPartPr/>
                <p14:nvPr/>
              </p14:nvContentPartPr>
              <p14:xfrm>
                <a:off x="4101970" y="3517740"/>
                <a:ext cx="65520" cy="15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63AF47-FF07-4D9C-DBFF-3F39B6D8E2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84330" y="3500100"/>
                  <a:ext cx="101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348341-AF06-11F2-11BA-8B71C898009D}"/>
                    </a:ext>
                  </a:extLst>
                </p14:cNvPr>
                <p14:cNvContentPartPr/>
                <p14:nvPr/>
              </p14:nvContentPartPr>
              <p14:xfrm>
                <a:off x="4241650" y="3530340"/>
                <a:ext cx="128880" cy="20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348341-AF06-11F2-11BA-8B71C898009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24010" y="3512700"/>
                  <a:ext cx="164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39E086F-8D91-D1E4-1E98-23245545C1AE}"/>
                    </a:ext>
                  </a:extLst>
                </p14:cNvPr>
                <p14:cNvContentPartPr/>
                <p14:nvPr/>
              </p14:nvContentPartPr>
              <p14:xfrm>
                <a:off x="4508410" y="3517740"/>
                <a:ext cx="118080" cy="15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39E086F-8D91-D1E4-1E98-23245545C1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0410" y="3500100"/>
                  <a:ext cx="153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25EED3F-6485-5A54-D0DC-065CDE1104AD}"/>
                    </a:ext>
                  </a:extLst>
                </p14:cNvPr>
                <p14:cNvContentPartPr/>
                <p14:nvPr/>
              </p14:nvContentPartPr>
              <p14:xfrm>
                <a:off x="4813330" y="3517740"/>
                <a:ext cx="867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25EED3F-6485-5A54-D0DC-065CDE1104A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95330" y="3500100"/>
                  <a:ext cx="1224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54005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Step 3: Open the practical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90400" y="1690200"/>
            <a:ext cx="4212646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Click on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url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in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browser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Follow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along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and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type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your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answers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in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your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chosen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file type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1BAB8-EB5E-EAF5-6AE9-9E316CFB0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61" y="2060472"/>
            <a:ext cx="6602965" cy="361041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38DA258-8FA6-CA0D-213A-817EF01D1C7C}"/>
              </a:ext>
            </a:extLst>
          </p:cNvPr>
          <p:cNvGrpSpPr/>
          <p:nvPr/>
        </p:nvGrpSpPr>
        <p:grpSpPr>
          <a:xfrm>
            <a:off x="10799770" y="4737060"/>
            <a:ext cx="606240" cy="639720"/>
            <a:chOff x="10799770" y="4737060"/>
            <a:chExt cx="606240" cy="63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0FAEFD-ECCD-B57A-6BA2-DC13A96E8397}"/>
                    </a:ext>
                  </a:extLst>
                </p14:cNvPr>
                <p14:cNvContentPartPr/>
                <p14:nvPr/>
              </p14:nvContentPartPr>
              <p14:xfrm>
                <a:off x="10844770" y="4737060"/>
                <a:ext cx="561240" cy="557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0FAEFD-ECCD-B57A-6BA2-DC13A96E839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826770" y="4719060"/>
                  <a:ext cx="59688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1509F-41DA-8453-FC37-A6D3E829708C}"/>
                    </a:ext>
                  </a:extLst>
                </p14:cNvPr>
                <p14:cNvContentPartPr/>
                <p14:nvPr/>
              </p14:nvContentPartPr>
              <p14:xfrm>
                <a:off x="10799770" y="5156100"/>
                <a:ext cx="167400" cy="22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1509F-41DA-8453-FC37-A6D3E829708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782130" y="5138100"/>
                  <a:ext cx="203040" cy="256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652353A-8DB4-3614-AAF6-87BB33041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060" y="1683945"/>
            <a:ext cx="6400950" cy="37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95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380" y="276642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Any questions?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0612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2924-5681-42CB-B4E0-7327958D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Data visualization using </a:t>
            </a:r>
            <a:r>
              <a:rPr lang="en-US" sz="4000" b="1" dirty="0"/>
              <a:t>ggplot2</a:t>
            </a:r>
          </a:p>
        </p:txBody>
      </p:sp>
    </p:spTree>
    <p:extLst>
      <p:ext uri="{BB962C8B-B14F-4D97-AF65-F5344CB8AC3E}">
        <p14:creationId xmlns:p14="http://schemas.microsoft.com/office/powerpoint/2010/main" val="699983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</TotalTime>
  <Words>440</Words>
  <Application>Microsoft Office PowerPoint</Application>
  <PresentationFormat>Widescreen</PresentationFormat>
  <Paragraphs>77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Fira Sans</vt:lpstr>
      <vt:lpstr>Times New Roman</vt:lpstr>
      <vt:lpstr>Office Theme</vt:lpstr>
      <vt:lpstr>1_Office Theme</vt:lpstr>
      <vt:lpstr>PowerPoint Presentation</vt:lpstr>
      <vt:lpstr>Social &amp; Behavioural Science team</vt:lpstr>
      <vt:lpstr>Data Visualization - examples</vt:lpstr>
      <vt:lpstr>How do wages differ?</vt:lpstr>
      <vt:lpstr>Predicting the outcome of the 2021 Dutch election</vt:lpstr>
      <vt:lpstr>Deep Learning techniques</vt:lpstr>
      <vt:lpstr>Who was the best Friend?</vt:lpstr>
      <vt:lpstr>Automatic detection of ICD10 codes in cardiology discharge letters</vt:lpstr>
      <vt:lpstr>PowerPoint Presentation</vt:lpstr>
      <vt:lpstr>PowerPoint Presentation</vt:lpstr>
      <vt:lpstr>PowerPoint Presentation</vt:lpstr>
      <vt:lpstr>PowerPoint Presentation</vt:lpstr>
      <vt:lpstr>Step 1</vt:lpstr>
      <vt:lpstr>Now all file paths are relative!</vt:lpstr>
      <vt:lpstr>PowerPoint Presentation</vt:lpstr>
      <vt:lpstr>PowerPoint Presentation</vt:lpstr>
      <vt:lpstr>PowerPoint Presentation</vt:lpstr>
      <vt:lpstr>Data visualization using ggplot2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Ayoub Bagheri</dc:creator>
  <cp:lastModifiedBy>Bagheri, A. (Ayoub)</cp:lastModifiedBy>
  <cp:revision>43</cp:revision>
  <dcterms:created xsi:type="dcterms:W3CDTF">2020-09-17T14:27:00Z</dcterms:created>
  <dcterms:modified xsi:type="dcterms:W3CDTF">2024-09-25T08:22:46Z</dcterms:modified>
</cp:coreProperties>
</file>