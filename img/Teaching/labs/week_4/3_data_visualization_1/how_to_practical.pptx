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2"/>
  </p:notesMasterIdLst>
  <p:sldIdLst>
    <p:sldId id="256" r:id="rId3"/>
    <p:sldId id="258" r:id="rId4"/>
    <p:sldId id="309" r:id="rId5"/>
    <p:sldId id="314" r:id="rId6"/>
    <p:sldId id="318" r:id="rId7"/>
    <p:sldId id="319" r:id="rId8"/>
    <p:sldId id="315" r:id="rId9"/>
    <p:sldId id="317" r:id="rId10"/>
    <p:sldId id="320" r:id="rId11"/>
  </p:sldIdLst>
  <p:sldSz cx="12192000" cy="6858000"/>
  <p:notesSz cx="7559675" cy="10691813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9-25T07:19:43.540"/>
    </inkml:context>
    <inkml:brush xml:id="br0">
      <inkml:brushProperty name="width" value="0.3" units="cm"/>
      <inkml:brushProperty name="height" value="0.6" units="cm"/>
      <inkml:brushProperty name="color" value="#E6E6E6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0,'814'0,"-790"2,-1 1,0 1,0 1,37 12,30 7,-8-13,2-3,-1-4,91-8,-22 1,1288 3,-1430-1,0-1,0 1,0-2,0 0,0 0,0 0,-1-2,16-8,42-15,-61 27,-1 0,0 0,0 0,1 1,-1 0,0 0,1 0,-1 0,0 1,0 0,1 0,4 2,80 35,-69-27,0-2,0 0,1-2,0 0,1-2,41 6,69 6,-87-9,56 1,500-7,-287-4,-285 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5T07:20:03.8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 24575,'2083'0'0,"-2069"1"0,-1 1 0,1 0 0,-1 1 0,0 1 0,0 0 0,0 1 0,14 7 0,-9-4 0,0-1 0,34 9 0,6-9 0,0-2 0,1-3 0,69-6 0,-3 0 0,369 5 0,-483-2 0,1-1 0,-1 0 0,0-1 0,1 0 0,-1 0 0,-1-1 0,1-1 0,13-7 0,-12 6 0,1 0 0,0 0 0,1 1 0,0 1 0,19-4 0,12 5-268,62 3 0,-85 0-561,8 1-5997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5T07:20:04.6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 24575,'26'0'0,"-10"-1"0,1 0 0,-1 2 0,1 0 0,-1 0 0,0 2 0,0 0 0,0 1 0,0 0 0,21 10 0,120 68 0,66 32 0,-187-102 0,-24-8 0,0 0 0,0 0 0,-1 1 0,22 13 0,-31-17 0,-1 0 0,1 0 0,-1 1 0,1-1 0,-1 0 0,0 0 0,0 1 0,1-1 0,-1 1 0,0-1 0,0 1 0,-1-1 0,1 1 0,0 0 0,0-1 0,-1 1 0,1 0 0,-1 0 0,0 0 0,1-1 0,-1 1 0,0 0 0,0 0 0,0 0 0,0-1 0,0 1 0,-1 0 0,1 0 0,-1 0 0,1-1 0,-1 1 0,1 0 0,-1-1 0,0 1 0,0 0 0,0-1 0,0 1 0,0-1 0,-2 3 0,-7 8 0,-1-1 0,0 0 0,-1-1 0,0 0 0,0-1 0,-1 0 0,-17 8 0,9-5 0,2 1 0,-21 17 0,-35 27 76,54-43-556,0 1-1,-32 32 1,34-26-6346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5T07:20:49.4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1779 39 24575,'-35'0'0,"0"-2"0,1-2 0,-49-11 0,31 7 0,1 2 0,-1 3 0,-85 4 0,50 1 0,76-1 0,0 0 0,0 1 0,1 0 0,-1 1 0,0 0 0,1 1 0,-18 8 0,-67 44 0,-30 38 0,83-65 0,-51 47 0,65-45 0,2 0 0,1 1 0,2 1 0,-21 39 0,41-67 0,-6 15 0,0 0 0,1 0 0,1 1 0,1 0 0,-5 30 0,-16 51 0,-14 2 0,-18 51 0,52-131 0,1 1 0,1 0 0,1 0 0,-2 39 0,6-8 0,2-21 0,-3 1 0,-1 0 0,-1 0 0,-2-1 0,-1 0 0,-15 45 0,13-54 0,1 1 0,2 1 0,0-1 0,2 1 0,1 0 0,1 32 0,-2 38 0,-27 48 0,21-90 0,-17 61 0,14-72 0,2 1 0,-7 74 0,18 55 0,-3 39 0,-14-105 0,8-72 0,-3 64 0,10-62 0,-1-1 0,-16 75 0,3-47 0,2 0 0,3 1 0,-2 108 0,14-82 0,1-41 0,-3 1 0,-2-1 0,-14 86 0,8-86 0,2 0 0,2 0 0,4 68 0,-4 62 0,-13-97 0,12-63 0,0 0 0,-2 27 0,7 58 0,2-78 0,-2 0 0,-1-1 0,-1 1 0,-11 52 0,8-58 42,0 1-1,-1 41 1,5-42-539,-1 1 1,-8 34-1,2-36-6329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5T07:20:50.8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31 24575,'4'3'0,"0"0"0,0 0 0,-1 0 0,1 0 0,-1 1 0,0 0 0,0-1 0,0 1 0,-1 0 0,1 0 0,2 8 0,84 163 0,-84-165 0,1-1 0,0 0 0,1 0 0,0-1 0,11 11 0,-9-10 0,0 1 0,-1 0 0,10 15 0,-4 0 0,-7-12 0,0 1 0,2-1 0,-1-1 0,15 17 0,-23-29 0,1 1 0,-1-1 0,0 0 0,1 1 0,-1-1 0,1 0 0,-1 1 0,0-1 0,1 0 0,-1 0 0,1 1 0,-1-1 0,1 0 0,-1 0 0,1 0 0,-1 0 0,1 0 0,-1 0 0,0 0 0,1 1 0,-1-1 0,1 0 0,-1-1 0,1 1 0,-1 0 0,1 0 0,-1 0 0,1 0 0,-1 0 0,1 0 0,-1-1 0,1 1 0,-1 0 0,1 0 0,-1-1 0,0 1 0,1 0 0,-1 0 0,0-1 0,1 1 0,-1-1 0,0 1 0,1 0 0,-1-1 0,0 1 0,1-1 0,-1 1 0,0-1 0,0 0 0,11-30 0,-8 21 0,6-12 0,0 1 0,1 0 0,1 1 0,1 0 0,0 0 0,2 2 0,0-1 0,21-19 0,-27 32 0,1 0 0,0 1 0,0 0 0,1 0 0,11-4 0,32-16 0,-39 17 0,1 1 0,-1 0 0,1 1 0,31-7 0,34-15 0,-50 15-103,-24 12 29,0-1 0,0 0 0,0-1-1,0 0 1,-1 0 0,1 0 0,-1 0-1,1-1 1,-1 0 0,-1 0 0,1-1-1,0 1 1,-1-1 0,0 0-1,0 0 1,4-8 0,1-10-6752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5T07:20:56.3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24575,'6'0'0,"7"0"0,9 0 0,6 0 0,4 0 0,-4 12 0,1 4 0,-6-1-8191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5T07:20:57.2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24575,'12'0'0,"9"0"0,9 0 0,3 0 0,4 0 0,0 0 0,1 0 0,-1 0 0,-6 12 0,-2 4 0,-1-1 0,-5-3-8191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5T07:20:57.9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24575,'12'0'0,"10"0"0,8 0 0,3 0 0,4 0 0,0 0 0,1 0 0,-1 0 0,-6 12 0,-3 4 0,-5-1-8191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5T07:20:58.5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24575,'6'0'0,"8"0"0,8 0 0,5 0 0,5 0 0,3 0 0,1 0 0,1 0 0,-6 0-8191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5T07:22:57.9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1485 0 24575,'3'1'0,"0"-1"0,0 1 0,0 0 0,-1 0 0,1 0 0,0 0 0,0 0 0,-1 1 0,1-1 0,-1 1 0,1 0 0,-1 0 0,1 0 0,-1 0 0,0 0 0,0 0 0,0 0 0,0 1 0,-1-1 0,1 1 0,-1-1 0,1 1 0,-1 0 0,0 0 0,0 0 0,0-1 0,0 1 0,-1 0 0,1 4 0,3 13 0,-1 1 0,0-1 0,-1 22 0,-2-37 0,2 30 0,-2 0 0,-6 48 0,3-70 0,1 0 0,-2 0 0,1-1 0,-2 0 0,0 0 0,0 0 0,-1 0 0,-1-1 0,-12 18 0,-23 30 0,25-33 0,-1-1 0,-29 31 0,44-54 0,-19 19 0,2 1 0,-33 46 0,32-38 0,-1-2 0,-1 0 0,-38 34 0,8 1 0,45-50 0,-2-1 0,0 0 0,0 0 0,-1-1 0,-13 9 0,-33 30 0,44-37 0,0-1 0,0-1 0,-2 0 0,-22 13 0,17-12 0,1 1 0,0 1 0,1 1 0,1 0 0,-23 26 0,19-19 0,-1 0 0,-29 20 0,36-33 0,0-1 0,-1 0 0,0-1 0,0-1 0,0-1 0,-1 0 0,0-1 0,0-1 0,-22 2 0,-52 12 0,6 3 0,52-14 0,1 2 0,0 1 0,1 1 0,-55 27 0,39-15-1365,24-14-5461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5T07:23:00.7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128 0 24575,'1'54'0,"-1"51"0,-1-95 0,0-1 0,-1 1 0,0-1 0,0 1 0,-1-1 0,-1 0 0,1 0 0,-8 12 0,-8 10 0,-53 96 0,71-126 0,0 1 0,0 0 0,0-1 0,0 1 0,0 0 0,1 0 0,-1 0 0,1-1 0,-1 1 0,1 0 0,0 0 0,0 0 0,0 0 0,0 0 0,0 0 0,0 0 0,0-1 0,1 1 0,-1 0 0,1 0 0,-1 0 0,1 0 0,0-1 0,-1 1 0,1 0 0,0-1 0,0 1 0,1 0 0,-1-1 0,0 0 0,0 1 0,1-1 0,-1 0 0,1 1 0,-1-1 0,1 0 0,-1 0 0,1 0 0,2 1 0,8 2 0,-1 0 0,1 0 0,1-1 0,-1-1 0,15 2 0,7 1 0,160 54 0,-177-55-273,-1 0 0,0 1 0,0 1 0,22 12 0,-20-6-6553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2CEA12-E8AF-493D-800A-34556F0DFA6A}" type="datetimeFigureOut">
              <a:rPr lang="en-NL" smtClean="0"/>
              <a:t>25/09/2023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AD208C-49A7-4905-A0F1-F13051F7657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47632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 an R script or a </a:t>
            </a:r>
            <a:r>
              <a:rPr lang="en-US" dirty="0" err="1"/>
              <a:t>qmd</a:t>
            </a:r>
            <a:r>
              <a:rPr lang="en-US" dirty="0"/>
              <a:t> file. </a:t>
            </a:r>
            <a:r>
              <a:rPr lang="en-US" dirty="0" err="1"/>
              <a:t>Rmd</a:t>
            </a:r>
            <a:r>
              <a:rPr lang="en-US" dirty="0"/>
              <a:t> only if they already know how to work with that (and then still </a:t>
            </a:r>
            <a:r>
              <a:rPr lang="en-US" dirty="0" err="1"/>
              <a:t>qmd</a:t>
            </a:r>
            <a:r>
              <a:rPr lang="en-US" dirty="0"/>
              <a:t> is better because it’s the successor).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AD208C-49A7-4905-A0F1-F13051F7657A}" type="slidenum">
              <a:rPr lang="en-NL" smtClean="0"/>
              <a:t>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105133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Calibri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6000" b="0" strike="noStrike" spc="-1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lang="nl-NL" sz="6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GB" sz="2400" b="0" strike="noStrike" spc="-1">
              <a:latin typeface="Calibri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7222683-6DFA-4C3B-A511-2C8C3E38A1B4}" type="slidenum">
              <a:rPr lang="nl-NL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en-GB" sz="1200" b="0" strike="noStrike" spc="-1">
              <a:latin typeface="Calibri"/>
            </a:endParaRPr>
          </a:p>
        </p:txBody>
      </p:sp>
      <p:pic>
        <p:nvPicPr>
          <p:cNvPr id="3" name="Afbeelding 9"/>
          <p:cNvPicPr/>
          <p:nvPr/>
        </p:nvPicPr>
        <p:blipFill>
          <a:blip r:embed="rId14"/>
          <a:stretch/>
        </p:blipFill>
        <p:spPr>
          <a:xfrm>
            <a:off x="-271800" y="6069600"/>
            <a:ext cx="2624040" cy="1040760"/>
          </a:xfrm>
          <a:prstGeom prst="rect">
            <a:avLst/>
          </a:prstGeom>
          <a:ln>
            <a:noFill/>
          </a:ln>
        </p:spPr>
      </p:pic>
      <p:sp>
        <p:nvSpPr>
          <p:cNvPr id="4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8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20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8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18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lang="nl-NL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Second level</a:t>
            </a:r>
            <a:endParaRPr lang="nl-NL" sz="2400" b="0" strike="noStrike" spc="-1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Third level</a:t>
            </a:r>
            <a:endParaRPr lang="nl-NL" sz="2000" b="0" strike="noStrike" spc="-1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Fourth level</a:t>
            </a:r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Fifth level</a:t>
            </a:r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GB" sz="2400" b="0" strike="noStrike" spc="-1">
              <a:latin typeface="Calibri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E750C92-6ED6-48DD-8390-24E50FBBC894}" type="slidenum">
              <a:rPr lang="nl-NL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en-GB" sz="1200" b="0" strike="noStrike" spc="-1">
              <a:latin typeface="Calibri"/>
            </a:endParaRPr>
          </a:p>
        </p:txBody>
      </p:sp>
      <p:pic>
        <p:nvPicPr>
          <p:cNvPr id="45" name="Afbeelding 9"/>
          <p:cNvPicPr/>
          <p:nvPr/>
        </p:nvPicPr>
        <p:blipFill>
          <a:blip r:embed="rId14"/>
          <a:stretch/>
        </p:blipFill>
        <p:spPr>
          <a:xfrm>
            <a:off x="-271800" y="6069600"/>
            <a:ext cx="2624040" cy="1040760"/>
          </a:xfrm>
          <a:prstGeom prst="rect">
            <a:avLst/>
          </a:prstGeom>
          <a:ln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infomdwr.nl/" TargetMode="Externa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r4ds.hadley.nz/workflow-scripts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2.png"/><Relationship Id="rId18" Type="http://schemas.openxmlformats.org/officeDocument/2006/relationships/customXml" Target="../ink/ink7.xml"/><Relationship Id="rId3" Type="http://schemas.openxmlformats.org/officeDocument/2006/relationships/image" Target="../media/image6.png"/><Relationship Id="rId21" Type="http://schemas.openxmlformats.org/officeDocument/2006/relationships/image" Target="../media/image16.png"/><Relationship Id="rId7" Type="http://schemas.openxmlformats.org/officeDocument/2006/relationships/customXml" Target="../ink/ink2.xml"/><Relationship Id="rId12" Type="http://schemas.openxmlformats.org/officeDocument/2006/relationships/customXml" Target="../ink/ink4.xml"/><Relationship Id="rId17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6" Type="http://schemas.openxmlformats.org/officeDocument/2006/relationships/customXml" Target="../ink/ink6.xml"/><Relationship Id="rId20" Type="http://schemas.openxmlformats.org/officeDocument/2006/relationships/customXml" Target="../ink/ink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png"/><Relationship Id="rId11" Type="http://schemas.openxmlformats.org/officeDocument/2006/relationships/image" Target="../media/image11.png"/><Relationship Id="rId5" Type="http://schemas.openxmlformats.org/officeDocument/2006/relationships/customXml" Target="../ink/ink1.xml"/><Relationship Id="rId15" Type="http://schemas.openxmlformats.org/officeDocument/2006/relationships/image" Target="../media/image13.png"/><Relationship Id="rId23" Type="http://schemas.openxmlformats.org/officeDocument/2006/relationships/image" Target="../media/image17.png"/><Relationship Id="rId10" Type="http://schemas.openxmlformats.org/officeDocument/2006/relationships/image" Target="../media/image10.png"/><Relationship Id="rId19" Type="http://schemas.openxmlformats.org/officeDocument/2006/relationships/image" Target="../media/image15.png"/><Relationship Id="rId4" Type="http://schemas.openxmlformats.org/officeDocument/2006/relationships/image" Target="../media/image7.png"/><Relationship Id="rId9" Type="http://schemas.openxmlformats.org/officeDocument/2006/relationships/customXml" Target="../ink/ink3.xml"/><Relationship Id="rId14" Type="http://schemas.openxmlformats.org/officeDocument/2006/relationships/customXml" Target="../ink/ink5.xml"/><Relationship Id="rId22" Type="http://schemas.openxmlformats.org/officeDocument/2006/relationships/customXml" Target="../ink/ink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7" Type="http://schemas.openxmlformats.org/officeDocument/2006/relationships/image" Target="../media/image2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0.png"/><Relationship Id="rId5" Type="http://schemas.openxmlformats.org/officeDocument/2006/relationships/customXml" Target="../ink/ink11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CustomShape 2"/>
          <p:cNvSpPr/>
          <p:nvPr/>
        </p:nvSpPr>
        <p:spPr>
          <a:xfrm>
            <a:off x="2407680" y="5754960"/>
            <a:ext cx="7376760" cy="866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Times New Roman"/>
              </a:rPr>
              <a:t>Department of Methodology &amp; Statistics</a:t>
            </a:r>
            <a:endParaRPr lang="en-GB" sz="2000" b="0" strike="noStrike" spc="-1">
              <a:latin typeface="Calibri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Times New Roman"/>
              </a:rPr>
              <a:t>Utrecht University</a:t>
            </a:r>
            <a:endParaRPr lang="en-GB" sz="2000" b="0" strike="noStrike" spc="-1">
              <a:latin typeface="Calibri"/>
            </a:endParaRPr>
          </a:p>
        </p:txBody>
      </p:sp>
      <p:sp>
        <p:nvSpPr>
          <p:cNvPr id="84" name="CustomShape 3"/>
          <p:cNvSpPr/>
          <p:nvPr/>
        </p:nvSpPr>
        <p:spPr>
          <a:xfrm>
            <a:off x="620640" y="1342080"/>
            <a:ext cx="11307960" cy="236016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strike="noStrike" spc="-1" dirty="0">
                <a:solidFill>
                  <a:srgbClr val="000000"/>
                </a:solidFill>
                <a:latin typeface="Times New Roman"/>
              </a:rPr>
              <a:t>Data Wrangling and Data Analysis</a:t>
            </a:r>
            <a:endParaRPr lang="en-GB" sz="3600" b="0" strike="noStrike" spc="-1" dirty="0">
              <a:latin typeface="Calibri"/>
            </a:endParaRPr>
          </a:p>
          <a:p>
            <a:pPr algn="ctr">
              <a:lnSpc>
                <a:spcPct val="100000"/>
              </a:lnSpc>
            </a:pPr>
            <a:r>
              <a:rPr lang="en-US" sz="3600" b="1" strike="noStrike" spc="-1" dirty="0">
                <a:solidFill>
                  <a:srgbClr val="000000"/>
                </a:solidFill>
                <a:latin typeface="Times New Roman"/>
              </a:rPr>
              <a:t>How to do R </a:t>
            </a:r>
            <a:r>
              <a:rPr lang="en-US" sz="3600" b="1" strike="noStrike" spc="-1" dirty="0" err="1">
                <a:solidFill>
                  <a:srgbClr val="000000"/>
                </a:solidFill>
                <a:latin typeface="Times New Roman"/>
              </a:rPr>
              <a:t>practicals</a:t>
            </a:r>
            <a:endParaRPr lang="en-GB" sz="3600" b="0" strike="noStrike" spc="-1" dirty="0">
              <a:latin typeface="Calibri"/>
            </a:endParaRPr>
          </a:p>
        </p:txBody>
      </p:sp>
      <p:sp>
        <p:nvSpPr>
          <p:cNvPr id="85" name="CustomShape 4"/>
          <p:cNvSpPr/>
          <p:nvPr/>
        </p:nvSpPr>
        <p:spPr>
          <a:xfrm>
            <a:off x="2897280" y="3702960"/>
            <a:ext cx="6400440" cy="1199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NL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GB" sz="4400" spc="-1" dirty="0">
                <a:solidFill>
                  <a:srgbClr val="000000"/>
                </a:solidFill>
                <a:latin typeface="+mj-lt"/>
              </a:rPr>
              <a:t>Schedule for the R </a:t>
            </a:r>
            <a:r>
              <a:rPr lang="en-GB" sz="4400" spc="-1" dirty="0" err="1">
                <a:solidFill>
                  <a:srgbClr val="000000"/>
                </a:solidFill>
                <a:latin typeface="+mj-lt"/>
              </a:rPr>
              <a:t>practicals</a:t>
            </a:r>
            <a:endParaRPr lang="nl-NL" sz="4400" strike="noStrike" spc="-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89" name="TextShape 2"/>
          <p:cNvSpPr txBox="1"/>
          <p:nvPr/>
        </p:nvSpPr>
        <p:spPr>
          <a:xfrm>
            <a:off x="590400" y="170172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marL="457200" indent="-457200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</a:pPr>
            <a:r>
              <a:rPr lang="nl-NL" sz="2800" b="0" strike="noStrike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Three practical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sessions</a:t>
            </a:r>
            <a:r>
              <a:rPr lang="nl-NL" sz="2800" b="0" strike="noStrike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per week: </a:t>
            </a:r>
            <a:r>
              <a:rPr lang="nl-NL" sz="2800" b="1" strike="noStrike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Monday</a:t>
            </a:r>
            <a:r>
              <a:rPr lang="nl-NL" sz="2800" b="0" strike="noStrike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, </a:t>
            </a:r>
            <a:r>
              <a:rPr lang="nl-NL" sz="2800" b="1" strike="noStrike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Tuesday</a:t>
            </a:r>
            <a:r>
              <a:rPr lang="nl-NL" sz="2800" b="0" strike="noStrike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, </a:t>
            </a:r>
            <a:r>
              <a:rPr lang="nl-NL" sz="2800" b="1" strike="noStrike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Wednesday</a:t>
            </a:r>
            <a:endParaRPr lang="nl-NL" sz="2800" b="1" strike="noStrike" spc="-1" dirty="0">
              <a:solidFill>
                <a:srgbClr val="000000"/>
              </a:solidFill>
              <a:latin typeface="+mj-lt"/>
              <a:cs typeface="Calibri" panose="020F0502020204030204" pitchFamily="34" charset="0"/>
            </a:endParaRPr>
          </a:p>
          <a:p>
            <a:pPr marL="457200" indent="-457200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</a:pPr>
            <a:r>
              <a:rPr lang="nl-NL" sz="2800" strike="noStrike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Attendance</a:t>
            </a:r>
            <a:r>
              <a:rPr lang="nl-NL" sz="2800" strike="noStrike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is </a:t>
            </a:r>
            <a:r>
              <a:rPr lang="nl-NL" sz="2800" strike="noStrike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mandatory</a:t>
            </a:r>
            <a:endParaRPr lang="nl-NL" sz="2800" b="0" strike="noStrike" spc="-1" dirty="0">
              <a:solidFill>
                <a:srgbClr val="000000"/>
              </a:solidFill>
              <a:latin typeface="+mj-lt"/>
              <a:cs typeface="Calibri" panose="020F0502020204030204" pitchFamily="34" charset="0"/>
            </a:endParaRPr>
          </a:p>
          <a:p>
            <a:pPr marL="457200" indent="-457200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</a:pP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In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each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session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: </a:t>
            </a:r>
          </a:p>
          <a:p>
            <a:pPr marL="914400" lvl="1" indent="-457200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</a:pP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Q&amp;A time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for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the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lecture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, short intro time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for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practical</a:t>
            </a:r>
          </a:p>
          <a:p>
            <a:pPr marL="914400" lvl="1" indent="-457200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</a:pP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Working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on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today’s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practical (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working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together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is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allowed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/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encouraged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)</a:t>
            </a:r>
          </a:p>
          <a:p>
            <a:pPr marL="914400" lvl="1" indent="-457200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</a:pP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~20 minutes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discussion</a:t>
            </a:r>
            <a:endParaRPr lang="nl-NL" sz="2800" spc="-1" dirty="0">
              <a:solidFill>
                <a:srgbClr val="000000"/>
              </a:solidFill>
              <a:latin typeface="+mj-lt"/>
              <a:cs typeface="Calibri" panose="020F0502020204030204" pitchFamily="34" charset="0"/>
            </a:endParaRPr>
          </a:p>
          <a:p>
            <a:pPr marL="457200" indent="-457200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</a:pP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Answers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will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be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online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during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discussion</a:t>
            </a:r>
            <a:endParaRPr lang="nl-NL" sz="2800" spc="-1" dirty="0">
              <a:solidFill>
                <a:srgbClr val="000000"/>
              </a:solidFill>
              <a:latin typeface="+mj-lt"/>
              <a:cs typeface="Calibri" panose="020F0502020204030204" pitchFamily="34" charset="0"/>
            </a:endParaRPr>
          </a:p>
          <a:p>
            <a:pPr marL="914400" lvl="1" indent="-457200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</a:pPr>
            <a:endParaRPr lang="nl-NL" sz="2800" spc="-1" dirty="0">
              <a:solidFill>
                <a:srgbClr val="000000"/>
              </a:solidFill>
              <a:latin typeface="+mj-lt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GB" sz="4400" spc="-1" dirty="0">
                <a:solidFill>
                  <a:srgbClr val="000000"/>
                </a:solidFill>
                <a:latin typeface="+mj-lt"/>
              </a:rPr>
              <a:t>How to do R </a:t>
            </a:r>
            <a:r>
              <a:rPr lang="en-GB" sz="4400" spc="-1" dirty="0" err="1">
                <a:solidFill>
                  <a:srgbClr val="000000"/>
                </a:solidFill>
                <a:latin typeface="+mj-lt"/>
              </a:rPr>
              <a:t>practicals</a:t>
            </a:r>
            <a:endParaRPr lang="nl-NL" sz="4400" strike="noStrike" spc="-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89" name="TextShape 2"/>
          <p:cNvSpPr txBox="1"/>
          <p:nvPr/>
        </p:nvSpPr>
        <p:spPr>
          <a:xfrm>
            <a:off x="590400" y="170172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marL="457200" indent="-457200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</a:pPr>
            <a:r>
              <a:rPr lang="nl-NL" sz="2800" b="0" strike="noStrike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R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practicals</a:t>
            </a:r>
            <a:r>
              <a:rPr lang="nl-NL" sz="2800" b="0" strike="noStrike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are on </a:t>
            </a:r>
            <a:r>
              <a:rPr lang="nl-NL" sz="2800" b="0" strike="noStrike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  <a:hlinkClick r:id="rId2"/>
              </a:rPr>
              <a:t>https://infomdwr.nl</a:t>
            </a:r>
            <a:r>
              <a:rPr lang="nl-NL" sz="2800" b="0" strike="noStrike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(like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always</a:t>
            </a:r>
            <a:r>
              <a:rPr lang="nl-NL" sz="2800" b="0" strike="noStrike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!)</a:t>
            </a:r>
            <a:endParaRPr lang="nl-NL" sz="2800" spc="-1" dirty="0">
              <a:solidFill>
                <a:srgbClr val="000000"/>
              </a:solidFill>
              <a:latin typeface="+mj-lt"/>
              <a:cs typeface="Calibri" panose="020F0502020204030204" pitchFamily="34" charset="0"/>
            </a:endParaRPr>
          </a:p>
          <a:p>
            <a:pPr marL="457200" indent="-457200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</a:pPr>
            <a:r>
              <a:rPr lang="nl-NL" sz="2800" b="0" strike="noStrike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Sometimes</a:t>
            </a:r>
            <a:r>
              <a:rPr lang="nl-NL" sz="2800" b="0" strike="noStrike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they</a:t>
            </a:r>
            <a:r>
              <a:rPr lang="nl-NL" sz="2800" b="0" strike="noStrike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need</a:t>
            </a:r>
            <a:r>
              <a:rPr lang="nl-NL" sz="2800" b="0" strike="noStrike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some</a:t>
            </a:r>
            <a:r>
              <a:rPr lang="nl-NL" sz="2800" b="0" strike="noStrike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additional</a:t>
            </a:r>
            <a:r>
              <a:rPr lang="nl-NL" sz="2800" b="0" strike="noStrike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data</a:t>
            </a:r>
          </a:p>
          <a:p>
            <a:pPr marL="457200" indent="-457200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</a:pPr>
            <a:endParaRPr lang="nl-NL" sz="2800" spc="-1" dirty="0">
              <a:solidFill>
                <a:srgbClr val="000000"/>
              </a:solidFill>
              <a:latin typeface="+mj-lt"/>
              <a:cs typeface="Calibri" panose="020F0502020204030204" pitchFamily="34" charset="0"/>
            </a:endParaRPr>
          </a:p>
          <a:p>
            <a:pPr marL="457200" indent="-457200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</a:pPr>
            <a:endParaRPr lang="nl-NL" sz="2800" spc="-1" dirty="0">
              <a:solidFill>
                <a:srgbClr val="000000"/>
              </a:solidFill>
              <a:latin typeface="+mj-lt"/>
              <a:cs typeface="Calibri" panose="020F0502020204030204" pitchFamily="34" charset="0"/>
            </a:endParaRPr>
          </a:p>
          <a:p>
            <a:pPr marL="457200" indent="-457200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</a:pPr>
            <a:endParaRPr lang="nl-NL" sz="2800" spc="-1" dirty="0">
              <a:solidFill>
                <a:srgbClr val="000000"/>
              </a:solidFill>
              <a:latin typeface="+mj-lt"/>
              <a:cs typeface="Calibri" panose="020F0502020204030204" pitchFamily="34" charset="0"/>
            </a:endParaRPr>
          </a:p>
          <a:p>
            <a:pPr marL="457200" indent="-457200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</a:pP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What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steps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to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take? </a:t>
            </a:r>
            <a:endParaRPr lang="nl-NL" sz="2800" b="0" strike="noStrike" spc="-1" dirty="0">
              <a:solidFill>
                <a:srgbClr val="000000"/>
              </a:solidFill>
              <a:latin typeface="+mj-lt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9024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GB" sz="4400" spc="-1" dirty="0">
                <a:solidFill>
                  <a:srgbClr val="000000"/>
                </a:solidFill>
                <a:latin typeface="+mj-lt"/>
              </a:rPr>
              <a:t>Step 1: Create a folder with R project</a:t>
            </a:r>
            <a:endParaRPr lang="nl-NL" sz="4400" strike="noStrike" spc="-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89" name="TextShape 2"/>
          <p:cNvSpPr txBox="1"/>
          <p:nvPr/>
        </p:nvSpPr>
        <p:spPr>
          <a:xfrm>
            <a:off x="590399" y="1690200"/>
            <a:ext cx="10762921" cy="435096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marL="457200" indent="-457200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</a:pP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Our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suggestion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: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either</a:t>
            </a:r>
            <a:endParaRPr lang="nl-NL" sz="2800" spc="-1" dirty="0">
              <a:solidFill>
                <a:srgbClr val="000000"/>
              </a:solidFill>
              <a:latin typeface="+mj-lt"/>
              <a:cs typeface="Calibri" panose="020F0502020204030204" pitchFamily="34" charset="0"/>
            </a:endParaRPr>
          </a:p>
          <a:p>
            <a:pPr marL="914400" lvl="1" indent="-457200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</a:pP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One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folder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for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the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course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with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an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R project (.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Rproj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file)</a:t>
            </a:r>
          </a:p>
          <a:p>
            <a:pPr marL="914400" lvl="1" indent="-457200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</a:pP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Subfolder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for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each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practical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with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.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Rmd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, .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qmd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, or .R file (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depending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on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your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preference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)</a:t>
            </a:r>
          </a:p>
          <a:p>
            <a:pPr marL="914400" lvl="1" indent="-457200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</a:pP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Data folder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with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all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data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for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all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practicals</a:t>
            </a:r>
            <a:endParaRPr lang="nl-NL" sz="2800" spc="-1" dirty="0">
              <a:solidFill>
                <a:srgbClr val="000000"/>
              </a:solidFill>
              <a:latin typeface="+mj-lt"/>
              <a:cs typeface="Calibri" panose="020F0502020204030204" pitchFamily="34" charset="0"/>
            </a:endParaRPr>
          </a:p>
          <a:p>
            <a:pPr marL="457200" indent="-457200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</a:pP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OR</a:t>
            </a:r>
          </a:p>
          <a:p>
            <a:pPr marL="914400" lvl="1" indent="-457200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</a:pP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One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folder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with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.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Rproj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file per practical</a:t>
            </a:r>
          </a:p>
          <a:p>
            <a:pPr marL="914400" lvl="1" indent="-457200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</a:pP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Data folder per practical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if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needed</a:t>
            </a:r>
            <a:endParaRPr lang="nl-NL" sz="2800" spc="-1" dirty="0">
              <a:solidFill>
                <a:srgbClr val="000000"/>
              </a:solidFill>
              <a:latin typeface="+mj-lt"/>
              <a:cs typeface="Calibri" panose="020F0502020204030204" pitchFamily="34" charset="0"/>
            </a:endParaRPr>
          </a:p>
          <a:p>
            <a:pPr marL="914400" lvl="1" indent="-457200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</a:pPr>
            <a:endParaRPr lang="nl-NL" sz="2800" spc="-1" dirty="0">
              <a:solidFill>
                <a:srgbClr val="000000"/>
              </a:solidFill>
              <a:latin typeface="+mj-lt"/>
              <a:cs typeface="Calibri" panose="020F0502020204030204" pitchFamily="34" charset="0"/>
            </a:endParaRPr>
          </a:p>
          <a:p>
            <a:pPr marL="914400" lvl="1" indent="-457200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</a:pPr>
            <a:endParaRPr lang="nl-NL" sz="2800" spc="-1" dirty="0">
              <a:solidFill>
                <a:srgbClr val="000000"/>
              </a:solidFill>
              <a:latin typeface="+mj-lt"/>
              <a:cs typeface="Calibri" panose="020F0502020204030204" pitchFamily="34" charset="0"/>
            </a:endParaRPr>
          </a:p>
          <a:p>
            <a:pPr marL="914400" lvl="1" indent="-457200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</a:pPr>
            <a:endParaRPr lang="nl-NL" sz="2800" spc="-1" dirty="0">
              <a:solidFill>
                <a:srgbClr val="000000"/>
              </a:solidFill>
              <a:latin typeface="+mj-lt"/>
              <a:cs typeface="Calibri" panose="020F0502020204030204" pitchFamily="34" charset="0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nl-NL" sz="2800" spc="-1" dirty="0">
              <a:solidFill>
                <a:srgbClr val="000000"/>
              </a:solidFill>
              <a:latin typeface="+mj-lt"/>
              <a:cs typeface="Calibri" panose="020F0502020204030204" pitchFamily="34" charset="0"/>
            </a:endParaRPr>
          </a:p>
          <a:p>
            <a:pPr marL="457200" indent="-457200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</a:pPr>
            <a:endParaRPr lang="nl-NL" sz="2800" b="0" strike="noStrike" spc="-1" dirty="0">
              <a:solidFill>
                <a:srgbClr val="000000"/>
              </a:solidFill>
              <a:latin typeface="+mj-lt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3075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7A547-7349-FE21-D29E-CFD067E43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087106-2AA4-B532-D872-9E0F68C102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6769" y="801264"/>
            <a:ext cx="3096057" cy="12288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0F4FFC-7898-4BE5-FE5A-C3AEB8028F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79" y="2465310"/>
            <a:ext cx="4963218" cy="35914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680DC8D-98C6-43EC-2E53-D509845094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3892" y="2465310"/>
            <a:ext cx="5039428" cy="3648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349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7A547-7349-FE21-D29E-CFD067E43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all file paths are relative!</a:t>
            </a:r>
            <a:endParaRPr lang="en-NL" dirty="0"/>
          </a:p>
        </p:txBody>
      </p:sp>
      <p:pic>
        <p:nvPicPr>
          <p:cNvPr id="8" name="Picture 7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61422688-ED45-6E39-F72C-37E528D68E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825" y="708772"/>
            <a:ext cx="10648950" cy="533968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E5D22C9-D36E-1BEE-C0AC-9FDEDED9571A}"/>
              </a:ext>
            </a:extLst>
          </p:cNvPr>
          <p:cNvSpPr txBox="1"/>
          <p:nvPr/>
        </p:nvSpPr>
        <p:spPr>
          <a:xfrm>
            <a:off x="5187651" y="5772661"/>
            <a:ext cx="62325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400" dirty="0"/>
              <a:t>For more info see R4DS chapter 7 </a:t>
            </a:r>
            <a:r>
              <a:rPr lang="en-NL" sz="2400" dirty="0">
                <a:hlinkClick r:id="rId3"/>
              </a:rPr>
              <a:t>https://r4ds.hadley.nz/workflow-scripts</a:t>
            </a:r>
            <a:r>
              <a:rPr lang="en-US" sz="2400" dirty="0"/>
              <a:t> </a:t>
            </a:r>
            <a:endParaRPr lang="en-NL" sz="2400" dirty="0"/>
          </a:p>
        </p:txBody>
      </p:sp>
    </p:spTree>
    <p:extLst>
      <p:ext uri="{BB962C8B-B14F-4D97-AF65-F5344CB8AC3E}">
        <p14:creationId xmlns:p14="http://schemas.microsoft.com/office/powerpoint/2010/main" val="2118034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GB" sz="4400" spc="-1" dirty="0">
                <a:solidFill>
                  <a:srgbClr val="000000"/>
                </a:solidFill>
                <a:latin typeface="+mj-lt"/>
              </a:rPr>
              <a:t>Step 2: </a:t>
            </a:r>
            <a:r>
              <a:rPr lang="en-GB" sz="4400" spc="-1" dirty="0" err="1">
                <a:solidFill>
                  <a:srgbClr val="000000"/>
                </a:solidFill>
                <a:latin typeface="+mj-lt"/>
              </a:rPr>
              <a:t>qmd</a:t>
            </a:r>
            <a:r>
              <a:rPr lang="en-GB" sz="4400" spc="-1" dirty="0">
                <a:solidFill>
                  <a:srgbClr val="000000"/>
                </a:solidFill>
                <a:latin typeface="+mj-lt"/>
              </a:rPr>
              <a:t> or .R file (or .</a:t>
            </a:r>
            <a:r>
              <a:rPr lang="en-GB" sz="4400" spc="-1" dirty="0" err="1">
                <a:solidFill>
                  <a:srgbClr val="000000"/>
                </a:solidFill>
                <a:latin typeface="+mj-lt"/>
              </a:rPr>
              <a:t>rmd</a:t>
            </a:r>
            <a:r>
              <a:rPr lang="en-GB" sz="4400" spc="-1" dirty="0">
                <a:solidFill>
                  <a:srgbClr val="000000"/>
                </a:solidFill>
                <a:latin typeface="+mj-lt"/>
              </a:rPr>
              <a:t>)</a:t>
            </a:r>
            <a:endParaRPr lang="nl-NL" sz="4400" strike="noStrike" spc="-1" dirty="0">
              <a:solidFill>
                <a:srgbClr val="000000"/>
              </a:solidFill>
              <a:latin typeface="+mj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D6F737-5F28-C0C7-BDC2-B5C6A3F7EF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80" y="1525440"/>
            <a:ext cx="5458587" cy="21053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B0D5C2D-F8EF-1EA7-D54E-86CBB8B27B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9065" y="1525440"/>
            <a:ext cx="4982270" cy="442974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30F58F1-5770-59B5-5A0F-2C65B65C24C9}"/>
                  </a:ext>
                </a:extLst>
              </p14:cNvPr>
              <p14:cNvContentPartPr/>
              <p14:nvPr/>
            </p14:nvContentPartPr>
            <p14:xfrm>
              <a:off x="3955810" y="2590740"/>
              <a:ext cx="1738800" cy="518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30F58F1-5770-59B5-5A0F-2C65B65C24C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902170" y="2482740"/>
                <a:ext cx="1846440" cy="267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03DFE83B-15CC-8DC1-29AF-998011E81E1D}"/>
              </a:ext>
            </a:extLst>
          </p:cNvPr>
          <p:cNvGrpSpPr/>
          <p:nvPr/>
        </p:nvGrpSpPr>
        <p:grpSpPr>
          <a:xfrm>
            <a:off x="5162530" y="2539260"/>
            <a:ext cx="1493640" cy="230040"/>
            <a:chOff x="5162530" y="2539260"/>
            <a:chExt cx="1493640" cy="23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5E97348-11F3-BAEB-EA03-D9DF72A0CCFD}"/>
                    </a:ext>
                  </a:extLst>
                </p14:cNvPr>
                <p14:cNvContentPartPr/>
                <p14:nvPr/>
              </p14:nvContentPartPr>
              <p14:xfrm>
                <a:off x="5162530" y="2615220"/>
                <a:ext cx="1306800" cy="291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5E97348-11F3-BAEB-EA03-D9DF72A0CCF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144530" y="2597580"/>
                  <a:ext cx="13424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80415BD-F16F-BDE0-7772-3189580B5DEB}"/>
                    </a:ext>
                  </a:extLst>
                </p14:cNvPr>
                <p14:cNvContentPartPr/>
                <p14:nvPr/>
              </p14:nvContentPartPr>
              <p14:xfrm>
                <a:off x="6394450" y="2539260"/>
                <a:ext cx="261720" cy="2300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80415BD-F16F-BDE0-7772-3189580B5DE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376450" y="2521260"/>
                  <a:ext cx="297360" cy="26568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A3D4D9F2-E8DB-B069-E6FC-658665DC8B5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8079" y="4273967"/>
            <a:ext cx="5458587" cy="1681216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0F6361F5-0FCD-9A34-954D-41CE96BF8707}"/>
              </a:ext>
            </a:extLst>
          </p:cNvPr>
          <p:cNvGrpSpPr/>
          <p:nvPr/>
        </p:nvGrpSpPr>
        <p:grpSpPr>
          <a:xfrm>
            <a:off x="3302050" y="2259180"/>
            <a:ext cx="749520" cy="1904760"/>
            <a:chOff x="3302050" y="2259180"/>
            <a:chExt cx="749520" cy="190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9BFE901-AEF7-A2EB-176F-134847C2EEC2}"/>
                    </a:ext>
                  </a:extLst>
                </p14:cNvPr>
                <p14:cNvContentPartPr/>
                <p14:nvPr/>
              </p14:nvContentPartPr>
              <p14:xfrm>
                <a:off x="3410770" y="2259180"/>
                <a:ext cx="640800" cy="18489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9BFE901-AEF7-A2EB-176F-134847C2EEC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392770" y="2241540"/>
                  <a:ext cx="676440" cy="18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FAD50D5-6E9D-0702-5B3B-6F5A9CBFA107}"/>
                    </a:ext>
                  </a:extLst>
                </p14:cNvPr>
                <p14:cNvContentPartPr/>
                <p14:nvPr/>
              </p14:nvContentPartPr>
              <p14:xfrm>
                <a:off x="3302050" y="3989340"/>
                <a:ext cx="318600" cy="1746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FAD50D5-6E9D-0702-5B3B-6F5A9CBFA10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284050" y="3971700"/>
                  <a:ext cx="354240" cy="21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EAEB28B-6E8D-7ED8-D2C2-4B6ACC68E5AD}"/>
              </a:ext>
            </a:extLst>
          </p:cNvPr>
          <p:cNvGrpSpPr/>
          <p:nvPr/>
        </p:nvGrpSpPr>
        <p:grpSpPr>
          <a:xfrm>
            <a:off x="4101970" y="3517740"/>
            <a:ext cx="798120" cy="33120"/>
            <a:chOff x="4101970" y="3517740"/>
            <a:chExt cx="798120" cy="3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E63AF47-FF07-4D9C-DBFF-3F39B6D8E21F}"/>
                    </a:ext>
                  </a:extLst>
                </p14:cNvPr>
                <p14:cNvContentPartPr/>
                <p14:nvPr/>
              </p14:nvContentPartPr>
              <p14:xfrm>
                <a:off x="4101970" y="3517740"/>
                <a:ext cx="65520" cy="158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E63AF47-FF07-4D9C-DBFF-3F39B6D8E21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084330" y="3500100"/>
                  <a:ext cx="10116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4348341-AF06-11F2-11BA-8B71C898009D}"/>
                    </a:ext>
                  </a:extLst>
                </p14:cNvPr>
                <p14:cNvContentPartPr/>
                <p14:nvPr/>
              </p14:nvContentPartPr>
              <p14:xfrm>
                <a:off x="4241650" y="3530340"/>
                <a:ext cx="128880" cy="205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4348341-AF06-11F2-11BA-8B71C898009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224010" y="3512700"/>
                  <a:ext cx="1645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39E086F-8D91-D1E4-1E98-23245545C1AE}"/>
                    </a:ext>
                  </a:extLst>
                </p14:cNvPr>
                <p14:cNvContentPartPr/>
                <p14:nvPr/>
              </p14:nvContentPartPr>
              <p14:xfrm>
                <a:off x="4508410" y="3517740"/>
                <a:ext cx="118080" cy="158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39E086F-8D91-D1E4-1E98-23245545C1A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90410" y="3500100"/>
                  <a:ext cx="15372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25EED3F-6485-5A54-D0DC-065CDE1104AD}"/>
                    </a:ext>
                  </a:extLst>
                </p14:cNvPr>
                <p14:cNvContentPartPr/>
                <p14:nvPr/>
              </p14:nvContentPartPr>
              <p14:xfrm>
                <a:off x="4813330" y="3517740"/>
                <a:ext cx="86760" cy="3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25EED3F-6485-5A54-D0DC-065CDE1104A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795330" y="3500100"/>
                  <a:ext cx="122400" cy="36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54005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GB" sz="4400" spc="-1" dirty="0">
                <a:solidFill>
                  <a:srgbClr val="000000"/>
                </a:solidFill>
                <a:latin typeface="+mj-lt"/>
              </a:rPr>
              <a:t>Step 3: Open the practical</a:t>
            </a:r>
            <a:endParaRPr lang="nl-NL" sz="4400" strike="noStrike" spc="-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89" name="TextShape 2"/>
          <p:cNvSpPr txBox="1"/>
          <p:nvPr/>
        </p:nvSpPr>
        <p:spPr>
          <a:xfrm>
            <a:off x="590400" y="1690200"/>
            <a:ext cx="4212646" cy="435096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marL="914400" lvl="1" indent="-457200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</a:pPr>
            <a:endParaRPr lang="nl-NL" sz="2800" spc="-1" dirty="0">
              <a:solidFill>
                <a:srgbClr val="000000"/>
              </a:solidFill>
              <a:latin typeface="+mj-lt"/>
              <a:cs typeface="Calibri" panose="020F0502020204030204" pitchFamily="34" charset="0"/>
            </a:endParaRPr>
          </a:p>
          <a:p>
            <a:pPr marL="457200" indent="-457200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</a:pP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Click on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the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url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in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the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browser</a:t>
            </a:r>
          </a:p>
          <a:p>
            <a:pPr marL="457200" indent="-457200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</a:pP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Follow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along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and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type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your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answers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in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your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chosen</a:t>
            </a:r>
            <a:r>
              <a:rPr lang="nl-NL" sz="2800" spc="-1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file type</a:t>
            </a:r>
          </a:p>
          <a:p>
            <a:pPr marL="457200" indent="-457200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</a:pPr>
            <a:endParaRPr lang="nl-NL" sz="2800" b="0" strike="noStrike" spc="-1" dirty="0">
              <a:solidFill>
                <a:srgbClr val="000000"/>
              </a:solidFill>
              <a:latin typeface="+mj-lt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81BAB8-EB5E-EAF5-6AE9-9E316CFB0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4461" y="2060472"/>
            <a:ext cx="6602965" cy="3610415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938DA258-8FA6-CA0D-213A-817EF01D1C7C}"/>
              </a:ext>
            </a:extLst>
          </p:cNvPr>
          <p:cNvGrpSpPr/>
          <p:nvPr/>
        </p:nvGrpSpPr>
        <p:grpSpPr>
          <a:xfrm>
            <a:off x="10799770" y="4737060"/>
            <a:ext cx="606240" cy="639720"/>
            <a:chOff x="10799770" y="4737060"/>
            <a:chExt cx="606240" cy="63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40FAEFD-ECCD-B57A-6BA2-DC13A96E8397}"/>
                    </a:ext>
                  </a:extLst>
                </p14:cNvPr>
                <p14:cNvContentPartPr/>
                <p14:nvPr/>
              </p14:nvContentPartPr>
              <p14:xfrm>
                <a:off x="10844770" y="4737060"/>
                <a:ext cx="561240" cy="5572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40FAEFD-ECCD-B57A-6BA2-DC13A96E839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0826770" y="4719060"/>
                  <a:ext cx="596880" cy="59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F51509F-41DA-8453-FC37-A6D3E829708C}"/>
                    </a:ext>
                  </a:extLst>
                </p14:cNvPr>
                <p14:cNvContentPartPr/>
                <p14:nvPr/>
              </p14:nvContentPartPr>
              <p14:xfrm>
                <a:off x="10799770" y="5156100"/>
                <a:ext cx="167400" cy="2206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F51509F-41DA-8453-FC37-A6D3E829708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782130" y="5138100"/>
                  <a:ext cx="203040" cy="25632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8652353A-8DB4-3614-AAF6-87BB33041F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5060" y="1683945"/>
            <a:ext cx="6400950" cy="376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695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Shape 1"/>
          <p:cNvSpPr txBox="1"/>
          <p:nvPr/>
        </p:nvSpPr>
        <p:spPr>
          <a:xfrm>
            <a:off x="838380" y="276642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GB" sz="4400" spc="-1" dirty="0">
                <a:solidFill>
                  <a:srgbClr val="000000"/>
                </a:solidFill>
                <a:latin typeface="+mj-lt"/>
              </a:rPr>
              <a:t>Any questions?</a:t>
            </a:r>
            <a:endParaRPr lang="nl-NL" sz="4400" strike="noStrike" spc="-1" dirty="0">
              <a:solidFill>
                <a:srgbClr val="00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10612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272</Words>
  <Application>Microsoft Office PowerPoint</Application>
  <PresentationFormat>Widescreen</PresentationFormat>
  <Paragraphs>41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Calibri</vt:lpstr>
      <vt:lpstr>Calibri Light</vt:lpstr>
      <vt:lpstr>Symbol</vt:lpstr>
      <vt:lpstr>Times New Roman</vt:lpstr>
      <vt:lpstr>Wingdings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Step 1</vt:lpstr>
      <vt:lpstr>Now all file paths are relative!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Kesteren, E. van (Erik-Jan)</dc:creator>
  <dc:description/>
  <cp:lastModifiedBy>Kesteren, E. van (Erik-Jan)</cp:lastModifiedBy>
  <cp:revision>44</cp:revision>
  <dcterms:created xsi:type="dcterms:W3CDTF">2020-03-31T13:53:26Z</dcterms:created>
  <dcterms:modified xsi:type="dcterms:W3CDTF">2023-09-25T07:34:37Z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Widescreen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52</vt:i4>
  </property>
</Properties>
</file>