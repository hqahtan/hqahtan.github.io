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312" r:id="rId4"/>
    <p:sldId id="341" r:id="rId5"/>
    <p:sldId id="342" r:id="rId6"/>
  </p:sldIdLst>
  <p:sldSz cx="12192000" cy="6858000"/>
  <p:notesSz cx="7559675" cy="10691813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60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nl-NL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GB" sz="2400" b="0" strike="noStrike" spc="-1"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7222683-6DFA-4C3B-A511-2C8C3E38A1B4}" type="slidenum">
              <a:rPr lang="nl-NL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GB" sz="1200" b="0" strike="noStrike" spc="-1">
              <a:latin typeface="Calibri"/>
            </a:endParaRPr>
          </a:p>
        </p:txBody>
      </p:sp>
      <p:pic>
        <p:nvPicPr>
          <p:cNvPr id="3" name="Afbeelding 9"/>
          <p:cNvPicPr/>
          <p:nvPr/>
        </p:nvPicPr>
        <p:blipFill>
          <a:blip r:embed="rId14"/>
          <a:stretch/>
        </p:blipFill>
        <p:spPr>
          <a:xfrm>
            <a:off x="-271800" y="6069600"/>
            <a:ext cx="2624040" cy="1040760"/>
          </a:xfrm>
          <a:prstGeom prst="rect">
            <a:avLst/>
          </a:prstGeom>
          <a:ln>
            <a:noFill/>
          </a:ln>
        </p:spPr>
      </p:pic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nl-NL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level</a:t>
            </a:r>
            <a:endParaRPr lang="nl-NL" sz="24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level</a:t>
            </a:r>
            <a:endParaRPr lang="nl-NL" sz="20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level</a:t>
            </a:r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Fifth level</a:t>
            </a:r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GB" sz="2400" b="0" strike="noStrike" spc="-1"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E750C92-6ED6-48DD-8390-24E50FBBC894}" type="slidenum">
              <a:rPr lang="nl-NL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GB" sz="1200" b="0" strike="noStrike" spc="-1">
              <a:latin typeface="Calibri"/>
            </a:endParaRPr>
          </a:p>
        </p:txBody>
      </p:sp>
      <p:pic>
        <p:nvPicPr>
          <p:cNvPr id="45" name="Afbeelding 9"/>
          <p:cNvPicPr/>
          <p:nvPr/>
        </p:nvPicPr>
        <p:blipFill>
          <a:blip r:embed="rId14"/>
          <a:stretch/>
        </p:blipFill>
        <p:spPr>
          <a:xfrm>
            <a:off x="-271800" y="6069600"/>
            <a:ext cx="2624040" cy="1040760"/>
          </a:xfrm>
          <a:prstGeom prst="rect">
            <a:avLst/>
          </a:prstGeom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ustomShape 2"/>
          <p:cNvSpPr/>
          <p:nvPr/>
        </p:nvSpPr>
        <p:spPr>
          <a:xfrm>
            <a:off x="2407680" y="5754960"/>
            <a:ext cx="7376760" cy="86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Department of Methodology &amp; Statistics</a:t>
            </a:r>
            <a:endParaRPr lang="en-GB" sz="2000" b="0" strike="noStrike" spc="-1"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Utrecht University</a:t>
            </a:r>
            <a:endParaRPr lang="en-GB" sz="2000" b="0" strike="noStrike" spc="-1">
              <a:latin typeface="Calibri"/>
            </a:endParaRPr>
          </a:p>
        </p:txBody>
      </p:sp>
      <p:sp>
        <p:nvSpPr>
          <p:cNvPr id="84" name="CustomShape 3"/>
          <p:cNvSpPr/>
          <p:nvPr/>
        </p:nvSpPr>
        <p:spPr>
          <a:xfrm>
            <a:off x="620640" y="1342080"/>
            <a:ext cx="11307960" cy="236016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000000"/>
                </a:solidFill>
                <a:latin typeface="Times New Roman"/>
              </a:rPr>
              <a:t>Data Wrangling and Data Analysis</a:t>
            </a:r>
            <a:endParaRPr lang="en-GB" sz="3600" b="0" strike="noStrike" spc="-1" dirty="0">
              <a:latin typeface="Calibri"/>
            </a:endParaRPr>
          </a:p>
          <a:p>
            <a:pPr algn="ctr"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000000"/>
                </a:solidFill>
                <a:latin typeface="Times New Roman"/>
              </a:rPr>
              <a:t>Missing </a:t>
            </a:r>
            <a:r>
              <a:rPr lang="en-US" sz="3600" b="1" strike="noStrike" spc="-1">
                <a:solidFill>
                  <a:srgbClr val="000000"/>
                </a:solidFill>
                <a:latin typeface="Times New Roman"/>
              </a:rPr>
              <a:t>Data Example</a:t>
            </a:r>
            <a:endParaRPr lang="en-GB" sz="3600" b="0" strike="noStrike" spc="-1" dirty="0">
              <a:latin typeface="Calibri"/>
            </a:endParaRPr>
          </a:p>
        </p:txBody>
      </p:sp>
      <p:sp>
        <p:nvSpPr>
          <p:cNvPr id="85" name="CustomShape 4"/>
          <p:cNvSpPr/>
          <p:nvPr/>
        </p:nvSpPr>
        <p:spPr>
          <a:xfrm>
            <a:off x="2897280" y="3702960"/>
            <a:ext cx="6400440" cy="119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838080" y="365040"/>
            <a:ext cx="670572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GB" sz="4400" strike="noStrike" spc="-1" dirty="0">
                <a:solidFill>
                  <a:srgbClr val="000000"/>
                </a:solidFill>
                <a:latin typeface="+mj-lt"/>
              </a:rPr>
              <a:t>Small missing data example</a:t>
            </a:r>
            <a:endParaRPr lang="nl-NL" sz="4400" strike="noStrike" spc="-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582651" y="2000250"/>
            <a:ext cx="6491249" cy="4040910"/>
          </a:xfrm>
          <a:prstGeom prst="rect">
            <a:avLst/>
          </a:prstGeom>
          <a:noFill/>
          <a:ln>
            <a:noFill/>
          </a:ln>
        </p:spPr>
        <p:txBody>
          <a:bodyPr>
            <a:normAutofit lnSpcReduction="10000"/>
          </a:bodyPr>
          <a:lstStyle/>
          <a:p>
            <a:pPr algn="ctr">
              <a:spcBef>
                <a:spcPts val="1001"/>
              </a:spcBef>
            </a:pPr>
            <a:r>
              <a:rPr lang="en-US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A satellite orbits the sun, measuring each 5 minutes the intensity of solar flares Y and sending it to earth.</a:t>
            </a:r>
          </a:p>
          <a:p>
            <a:pPr algn="ctr">
              <a:spcBef>
                <a:spcPts val="1001"/>
              </a:spcBef>
            </a:pPr>
            <a:endParaRPr lang="en-US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algn="ctr">
              <a:spcBef>
                <a:spcPts val="1001"/>
              </a:spcBef>
            </a:pPr>
            <a:r>
              <a:rPr lang="en-US" spc="-1" dirty="0">
                <a:solidFill>
                  <a:srgbClr val="000000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Y = [.5, 0, 0, .1, 0, 20, 25, 19, 8, .3, 0, ...]</a:t>
            </a:r>
          </a:p>
          <a:p>
            <a:pPr algn="ctr">
              <a:spcBef>
                <a:spcPts val="1001"/>
              </a:spcBef>
            </a:pPr>
            <a:endParaRPr lang="en-US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algn="ctr">
              <a:spcBef>
                <a:spcPts val="1001"/>
              </a:spcBef>
            </a:pPr>
            <a:r>
              <a:rPr lang="en-US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Researchers want to make use of this data but they notice something strange…</a:t>
            </a:r>
          </a:p>
          <a:p>
            <a:pPr marL="457200" indent="-457200" algn="ctr">
              <a:spcBef>
                <a:spcPts val="1001"/>
              </a:spcBef>
              <a:buFont typeface="Arial" panose="020B0604020202020204" pitchFamily="34" charset="0"/>
              <a:buChar char="•"/>
            </a:pPr>
            <a:endParaRPr lang="en-US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</p:txBody>
      </p:sp>
      <p:pic>
        <p:nvPicPr>
          <p:cNvPr id="3" name="Picture 2" descr="A picture containing outdoor, telescope, antenna&#10;&#10;Description automatically generated">
            <a:extLst>
              <a:ext uri="{FF2B5EF4-FFF2-40B4-BE49-F238E27FC236}">
                <a16:creationId xmlns:a16="http://schemas.microsoft.com/office/drawing/2014/main" id="{30A35C00-1F29-D73C-0D9E-2E06FB93C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305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838080" y="365040"/>
            <a:ext cx="670572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GB" sz="4400" strike="noStrike" spc="-1" dirty="0">
                <a:solidFill>
                  <a:srgbClr val="000000"/>
                </a:solidFill>
                <a:latin typeface="+mj-lt"/>
              </a:rPr>
              <a:t>Small missing data example</a:t>
            </a:r>
            <a:endParaRPr lang="nl-NL" sz="4400" strike="noStrike" spc="-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582651" y="2063750"/>
            <a:ext cx="6491249" cy="397741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2500" lnSpcReduction="10000"/>
          </a:bodyPr>
          <a:lstStyle/>
          <a:p>
            <a:pPr algn="ctr">
              <a:lnSpc>
                <a:spcPct val="110000"/>
              </a:lnSpc>
              <a:spcBef>
                <a:spcPts val="1001"/>
              </a:spcBef>
            </a:pPr>
            <a:r>
              <a:rPr lang="en-US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A bug in the software of the satellite has created a wrongly measured 24-hour spike in solar flare activity each 2^32 milliseconds (about 50 days). </a:t>
            </a:r>
          </a:p>
          <a:p>
            <a:pPr algn="ctr">
              <a:lnSpc>
                <a:spcPct val="110000"/>
              </a:lnSpc>
              <a:spcBef>
                <a:spcPts val="1001"/>
              </a:spcBef>
            </a:pPr>
            <a:endParaRPr lang="en-US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algn="ctr">
              <a:lnSpc>
                <a:spcPct val="110000"/>
              </a:lnSpc>
              <a:spcBef>
                <a:spcPts val="1001"/>
              </a:spcBef>
            </a:pPr>
            <a:r>
              <a:rPr lang="en-US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Those values have to be thrown away.</a:t>
            </a:r>
          </a:p>
          <a:p>
            <a:pPr algn="ctr">
              <a:lnSpc>
                <a:spcPct val="110000"/>
              </a:lnSpc>
              <a:spcBef>
                <a:spcPts val="1001"/>
              </a:spcBef>
            </a:pPr>
            <a:endParaRPr lang="en-US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algn="ctr">
              <a:lnSpc>
                <a:spcPct val="110000"/>
              </a:lnSpc>
              <a:spcBef>
                <a:spcPts val="1001"/>
              </a:spcBef>
            </a:pPr>
            <a:r>
              <a:rPr lang="en-US" sz="2800" b="1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What is the missingness mechanism?</a:t>
            </a:r>
          </a:p>
        </p:txBody>
      </p:sp>
      <p:pic>
        <p:nvPicPr>
          <p:cNvPr id="3" name="Picture 2" descr="A picture containing outdoor, telescope, antenna&#10;&#10;Description automatically generated">
            <a:extLst>
              <a:ext uri="{FF2B5EF4-FFF2-40B4-BE49-F238E27FC236}">
                <a16:creationId xmlns:a16="http://schemas.microsoft.com/office/drawing/2014/main" id="{30A35C00-1F29-D73C-0D9E-2E06FB93C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571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838080" y="365040"/>
            <a:ext cx="670572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GB" sz="4400" strike="noStrike" spc="-1" dirty="0">
                <a:solidFill>
                  <a:srgbClr val="000000"/>
                </a:solidFill>
                <a:latin typeface="+mj-lt"/>
              </a:rPr>
              <a:t>Small missing data example</a:t>
            </a:r>
            <a:endParaRPr lang="nl-NL" sz="4400" strike="noStrike" spc="-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582651" y="2609850"/>
            <a:ext cx="6491249" cy="343131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lang="en-US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Discuss!</a:t>
            </a: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endParaRPr lang="en-US" sz="2800" b="1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lang="en-US" sz="2800" b="1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NDD? SDD? UDD?</a:t>
            </a:r>
          </a:p>
        </p:txBody>
      </p:sp>
      <p:pic>
        <p:nvPicPr>
          <p:cNvPr id="3" name="Picture 2" descr="A picture containing outdoor, telescope, antenna&#10;&#10;Description automatically generated">
            <a:extLst>
              <a:ext uri="{FF2B5EF4-FFF2-40B4-BE49-F238E27FC236}">
                <a16:creationId xmlns:a16="http://schemas.microsoft.com/office/drawing/2014/main" id="{30A35C00-1F29-D73C-0D9E-2E06FB93C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931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141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Arial</vt:lpstr>
      <vt:lpstr>Calibri</vt:lpstr>
      <vt:lpstr>Calibri Light</vt:lpstr>
      <vt:lpstr>Consolas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Kesteren, E. van (Erik-Jan)</dc:creator>
  <dc:description/>
  <cp:lastModifiedBy>Kesteren, E. van (Erik-Jan)</cp:lastModifiedBy>
  <cp:revision>57</cp:revision>
  <dcterms:created xsi:type="dcterms:W3CDTF">2020-03-31T13:53:26Z</dcterms:created>
  <dcterms:modified xsi:type="dcterms:W3CDTF">2022-10-14T11:52:45Z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52</vt:i4>
  </property>
</Properties>
</file>